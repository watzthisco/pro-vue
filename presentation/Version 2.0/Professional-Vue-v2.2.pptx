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5" r:id="rId1"/>
  </p:sldMasterIdLst>
  <p:notesMasterIdLst>
    <p:notesMasterId r:id="rId310"/>
  </p:notesMasterIdLst>
  <p:handoutMasterIdLst>
    <p:handoutMasterId r:id="rId311"/>
  </p:handoutMasterIdLst>
  <p:sldIdLst>
    <p:sldId id="511" r:id="rId2"/>
    <p:sldId id="256" r:id="rId3"/>
    <p:sldId id="512" r:id="rId4"/>
    <p:sldId id="1715" r:id="rId5"/>
    <p:sldId id="699" r:id="rId6"/>
    <p:sldId id="700" r:id="rId7"/>
    <p:sldId id="706" r:id="rId8"/>
    <p:sldId id="514" r:id="rId9"/>
    <p:sldId id="999" r:id="rId10"/>
    <p:sldId id="1000" r:id="rId11"/>
    <p:sldId id="849" r:id="rId12"/>
    <p:sldId id="278" r:id="rId13"/>
    <p:sldId id="1655" r:id="rId14"/>
    <p:sldId id="259" r:id="rId15"/>
    <p:sldId id="1611" r:id="rId16"/>
    <p:sldId id="281" r:id="rId17"/>
    <p:sldId id="1010" r:id="rId18"/>
    <p:sldId id="282" r:id="rId19"/>
    <p:sldId id="283" r:id="rId20"/>
    <p:sldId id="808" r:id="rId21"/>
    <p:sldId id="517" r:id="rId22"/>
    <p:sldId id="518" r:id="rId23"/>
    <p:sldId id="831" r:id="rId24"/>
    <p:sldId id="857" r:id="rId25"/>
    <p:sldId id="1014" r:id="rId26"/>
    <p:sldId id="1656" r:id="rId27"/>
    <p:sldId id="1713" r:id="rId28"/>
    <p:sldId id="1728" r:id="rId29"/>
    <p:sldId id="1015" r:id="rId30"/>
    <p:sldId id="832" r:id="rId31"/>
    <p:sldId id="1645" r:id="rId32"/>
    <p:sldId id="519" r:id="rId33"/>
    <p:sldId id="520" r:id="rId34"/>
    <p:sldId id="827" r:id="rId35"/>
    <p:sldId id="898" r:id="rId36"/>
    <p:sldId id="998" r:id="rId37"/>
    <p:sldId id="899" r:id="rId38"/>
    <p:sldId id="911" r:id="rId39"/>
    <p:sldId id="709" r:id="rId40"/>
    <p:sldId id="708" r:id="rId41"/>
    <p:sldId id="828" r:id="rId42"/>
    <p:sldId id="741" r:id="rId43"/>
    <p:sldId id="1729" r:id="rId44"/>
    <p:sldId id="1730" r:id="rId45"/>
    <p:sldId id="713" r:id="rId46"/>
    <p:sldId id="521" r:id="rId47"/>
    <p:sldId id="842" r:id="rId48"/>
    <p:sldId id="843" r:id="rId49"/>
    <p:sldId id="535" r:id="rId50"/>
    <p:sldId id="1013" r:id="rId51"/>
    <p:sldId id="536" r:id="rId52"/>
    <p:sldId id="537" r:id="rId53"/>
    <p:sldId id="445" r:id="rId54"/>
    <p:sldId id="538" r:id="rId55"/>
    <p:sldId id="845" r:id="rId56"/>
    <p:sldId id="1646" r:id="rId57"/>
    <p:sldId id="1714" r:id="rId58"/>
    <p:sldId id="553" r:id="rId59"/>
    <p:sldId id="554" r:id="rId60"/>
    <p:sldId id="722" r:id="rId61"/>
    <p:sldId id="723" r:id="rId62"/>
    <p:sldId id="724" r:id="rId63"/>
    <p:sldId id="556" r:id="rId64"/>
    <p:sldId id="847" r:id="rId65"/>
    <p:sldId id="1657" r:id="rId66"/>
    <p:sldId id="1638" r:id="rId67"/>
    <p:sldId id="1658" r:id="rId68"/>
    <p:sldId id="1659" r:id="rId69"/>
    <p:sldId id="1660" r:id="rId70"/>
    <p:sldId id="264" r:id="rId71"/>
    <p:sldId id="446" r:id="rId72"/>
    <p:sldId id="643" r:id="rId73"/>
    <p:sldId id="644" r:id="rId74"/>
    <p:sldId id="645" r:id="rId75"/>
    <p:sldId id="646" r:id="rId76"/>
    <p:sldId id="647" r:id="rId77"/>
    <p:sldId id="648" r:id="rId78"/>
    <p:sldId id="649" r:id="rId79"/>
    <p:sldId id="650" r:id="rId80"/>
    <p:sldId id="651" r:id="rId81"/>
    <p:sldId id="1712" r:id="rId82"/>
    <p:sldId id="838" r:id="rId83"/>
    <p:sldId id="560" r:id="rId84"/>
    <p:sldId id="840" r:id="rId85"/>
    <p:sldId id="841" r:id="rId86"/>
    <p:sldId id="848" r:id="rId87"/>
    <p:sldId id="284" r:id="rId88"/>
    <p:sldId id="1727" r:id="rId89"/>
    <p:sldId id="1003" r:id="rId90"/>
    <p:sldId id="1726" r:id="rId91"/>
    <p:sldId id="1725" r:id="rId92"/>
    <p:sldId id="1724" r:id="rId93"/>
    <p:sldId id="274" r:id="rId94"/>
    <p:sldId id="852" r:id="rId95"/>
    <p:sldId id="277" r:id="rId96"/>
    <p:sldId id="853" r:id="rId97"/>
    <p:sldId id="303" r:id="rId98"/>
    <p:sldId id="1007" r:id="rId99"/>
    <p:sldId id="1008" r:id="rId100"/>
    <p:sldId id="1009" r:id="rId101"/>
    <p:sldId id="1004" r:id="rId102"/>
    <p:sldId id="1005" r:id="rId103"/>
    <p:sldId id="854" r:id="rId104"/>
    <p:sldId id="307" r:id="rId105"/>
    <p:sldId id="308" r:id="rId106"/>
    <p:sldId id="310" r:id="rId107"/>
    <p:sldId id="309" r:id="rId108"/>
    <p:sldId id="1017" r:id="rId109"/>
    <p:sldId id="1018" r:id="rId110"/>
    <p:sldId id="1691" r:id="rId111"/>
    <p:sldId id="1642" r:id="rId112"/>
    <p:sldId id="1643" r:id="rId113"/>
    <p:sldId id="1644" r:id="rId114"/>
    <p:sldId id="330" r:id="rId115"/>
    <p:sldId id="1692" r:id="rId116"/>
    <p:sldId id="1701" r:id="rId117"/>
    <p:sldId id="1022" r:id="rId118"/>
    <p:sldId id="1023" r:id="rId119"/>
    <p:sldId id="321" r:id="rId120"/>
    <p:sldId id="1024" r:id="rId121"/>
    <p:sldId id="1693" r:id="rId122"/>
    <p:sldId id="312" r:id="rId123"/>
    <p:sldId id="1639" r:id="rId124"/>
    <p:sldId id="1001" r:id="rId125"/>
    <p:sldId id="272" r:id="rId126"/>
    <p:sldId id="333" r:id="rId127"/>
    <p:sldId id="334" r:id="rId128"/>
    <p:sldId id="273" r:id="rId129"/>
    <p:sldId id="311" r:id="rId130"/>
    <p:sldId id="313" r:id="rId131"/>
    <p:sldId id="1016" r:id="rId132"/>
    <p:sldId id="290" r:id="rId133"/>
    <p:sldId id="1694" r:id="rId134"/>
    <p:sldId id="297" r:id="rId135"/>
    <p:sldId id="298" r:id="rId136"/>
    <p:sldId id="299" r:id="rId137"/>
    <p:sldId id="851" r:id="rId138"/>
    <p:sldId id="1661" r:id="rId139"/>
    <p:sldId id="345" r:id="rId140"/>
    <p:sldId id="1682" r:id="rId141"/>
    <p:sldId id="1695" r:id="rId142"/>
    <p:sldId id="1640" r:id="rId143"/>
    <p:sldId id="1641" r:id="rId144"/>
    <p:sldId id="1667" r:id="rId145"/>
    <p:sldId id="1668" r:id="rId146"/>
    <p:sldId id="1669" r:id="rId147"/>
    <p:sldId id="1670" r:id="rId148"/>
    <p:sldId id="1671" r:id="rId149"/>
    <p:sldId id="1672" r:id="rId150"/>
    <p:sldId id="1673" r:id="rId151"/>
    <p:sldId id="1674" r:id="rId152"/>
    <p:sldId id="1675" r:id="rId153"/>
    <p:sldId id="1676" r:id="rId154"/>
    <p:sldId id="1696" r:id="rId155"/>
    <p:sldId id="331" r:id="rId156"/>
    <p:sldId id="332" r:id="rId157"/>
    <p:sldId id="1002" r:id="rId158"/>
    <p:sldId id="335" r:id="rId159"/>
    <p:sldId id="336" r:id="rId160"/>
    <p:sldId id="337" r:id="rId161"/>
    <p:sldId id="338" r:id="rId162"/>
    <p:sldId id="1697" r:id="rId163"/>
    <p:sldId id="339" r:id="rId164"/>
    <p:sldId id="1006" r:id="rId165"/>
    <p:sldId id="340" r:id="rId166"/>
    <p:sldId id="341" r:id="rId167"/>
    <p:sldId id="1681" r:id="rId168"/>
    <p:sldId id="1677" r:id="rId169"/>
    <p:sldId id="1716" r:id="rId170"/>
    <p:sldId id="1678" r:id="rId171"/>
    <p:sldId id="1679" r:id="rId172"/>
    <p:sldId id="343" r:id="rId173"/>
    <p:sldId id="344" r:id="rId174"/>
    <p:sldId id="1680" r:id="rId175"/>
    <p:sldId id="346" r:id="rId176"/>
    <p:sldId id="1683" r:id="rId177"/>
    <p:sldId id="349" r:id="rId178"/>
    <p:sldId id="1686" r:id="rId179"/>
    <p:sldId id="1687" r:id="rId180"/>
    <p:sldId id="1688" r:id="rId181"/>
    <p:sldId id="1685" r:id="rId182"/>
    <p:sldId id="1689" r:id="rId183"/>
    <p:sldId id="1698" r:id="rId184"/>
    <p:sldId id="351" r:id="rId185"/>
    <p:sldId id="1647" r:id="rId186"/>
    <p:sldId id="1648" r:id="rId187"/>
    <p:sldId id="1649" r:id="rId188"/>
    <p:sldId id="1652" r:id="rId189"/>
    <p:sldId id="1653" r:id="rId190"/>
    <p:sldId id="1654" r:id="rId191"/>
    <p:sldId id="1650" r:id="rId192"/>
    <p:sldId id="1699" r:id="rId193"/>
    <p:sldId id="352" r:id="rId194"/>
    <p:sldId id="353" r:id="rId195"/>
    <p:sldId id="658" r:id="rId196"/>
    <p:sldId id="659" r:id="rId197"/>
    <p:sldId id="660" r:id="rId198"/>
    <p:sldId id="661" r:id="rId199"/>
    <p:sldId id="662" r:id="rId200"/>
    <p:sldId id="355" r:id="rId201"/>
    <p:sldId id="356" r:id="rId202"/>
    <p:sldId id="357" r:id="rId203"/>
    <p:sldId id="358" r:id="rId204"/>
    <p:sldId id="1690" r:id="rId205"/>
    <p:sldId id="359" r:id="rId206"/>
    <p:sldId id="360" r:id="rId207"/>
    <p:sldId id="361" r:id="rId208"/>
    <p:sldId id="1706" r:id="rId209"/>
    <p:sldId id="362" r:id="rId210"/>
    <p:sldId id="363" r:id="rId211"/>
    <p:sldId id="1702" r:id="rId212"/>
    <p:sldId id="391" r:id="rId213"/>
    <p:sldId id="392" r:id="rId214"/>
    <p:sldId id="1710" r:id="rId215"/>
    <p:sldId id="1711" r:id="rId216"/>
    <p:sldId id="1704" r:id="rId217"/>
    <p:sldId id="1703" r:id="rId218"/>
    <p:sldId id="406" r:id="rId219"/>
    <p:sldId id="561" r:id="rId220"/>
    <p:sldId id="750" r:id="rId221"/>
    <p:sldId id="751" r:id="rId222"/>
    <p:sldId id="562" r:id="rId223"/>
    <p:sldId id="752" r:id="rId224"/>
    <p:sldId id="753" r:id="rId225"/>
    <p:sldId id="754" r:id="rId226"/>
    <p:sldId id="563" r:id="rId227"/>
    <p:sldId id="761" r:id="rId228"/>
    <p:sldId id="564" r:id="rId229"/>
    <p:sldId id="565" r:id="rId230"/>
    <p:sldId id="473" r:id="rId231"/>
    <p:sldId id="566" r:id="rId232"/>
    <p:sldId id="567" r:id="rId233"/>
    <p:sldId id="568" r:id="rId234"/>
    <p:sldId id="569" r:id="rId235"/>
    <p:sldId id="570" r:id="rId236"/>
    <p:sldId id="571" r:id="rId237"/>
    <p:sldId id="448" r:id="rId238"/>
    <p:sldId id="449" r:id="rId239"/>
    <p:sldId id="791" r:id="rId240"/>
    <p:sldId id="792" r:id="rId241"/>
    <p:sldId id="795" r:id="rId242"/>
    <p:sldId id="796" r:id="rId243"/>
    <p:sldId id="794" r:id="rId244"/>
    <p:sldId id="797" r:id="rId245"/>
    <p:sldId id="798" r:id="rId246"/>
    <p:sldId id="756" r:id="rId247"/>
    <p:sldId id="757" r:id="rId248"/>
    <p:sldId id="1709" r:id="rId249"/>
    <p:sldId id="474" r:id="rId250"/>
    <p:sldId id="409" r:id="rId251"/>
    <p:sldId id="575" r:id="rId252"/>
    <p:sldId id="428" r:id="rId253"/>
    <p:sldId id="1717" r:id="rId254"/>
    <p:sldId id="1718" r:id="rId255"/>
    <p:sldId id="1719" r:id="rId256"/>
    <p:sldId id="1720" r:id="rId257"/>
    <p:sldId id="1721" r:id="rId258"/>
    <p:sldId id="1722" r:id="rId259"/>
    <p:sldId id="430" r:id="rId260"/>
    <p:sldId id="1723" r:id="rId261"/>
    <p:sldId id="1705" r:id="rId262"/>
    <p:sldId id="590" r:id="rId263"/>
    <p:sldId id="591" r:id="rId264"/>
    <p:sldId id="467" r:id="rId265"/>
    <p:sldId id="468" r:id="rId266"/>
    <p:sldId id="816" r:id="rId267"/>
    <p:sldId id="817" r:id="rId268"/>
    <p:sldId id="818" r:id="rId269"/>
    <p:sldId id="470" r:id="rId270"/>
    <p:sldId id="471" r:id="rId271"/>
    <p:sldId id="301" r:id="rId272"/>
    <p:sldId id="478" r:id="rId273"/>
    <p:sldId id="480" r:id="rId274"/>
    <p:sldId id="481" r:id="rId275"/>
    <p:sldId id="482" r:id="rId276"/>
    <p:sldId id="483" r:id="rId277"/>
    <p:sldId id="484" r:id="rId278"/>
    <p:sldId id="485" r:id="rId279"/>
    <p:sldId id="721" r:id="rId280"/>
    <p:sldId id="493" r:id="rId281"/>
    <p:sldId id="666" r:id="rId282"/>
    <p:sldId id="302" r:id="rId283"/>
    <p:sldId id="300" r:id="rId284"/>
    <p:sldId id="487" r:id="rId285"/>
    <p:sldId id="486" r:id="rId286"/>
    <p:sldId id="488" r:id="rId287"/>
    <p:sldId id="819" r:id="rId288"/>
    <p:sldId id="768" r:id="rId289"/>
    <p:sldId id="555" r:id="rId290"/>
    <p:sldId id="497" r:id="rId291"/>
    <p:sldId id="498" r:id="rId292"/>
    <p:sldId id="499" r:id="rId293"/>
    <p:sldId id="500" r:id="rId294"/>
    <p:sldId id="501" r:id="rId295"/>
    <p:sldId id="502" r:id="rId296"/>
    <p:sldId id="503" r:id="rId297"/>
    <p:sldId id="504" r:id="rId298"/>
    <p:sldId id="505" r:id="rId299"/>
    <p:sldId id="506" r:id="rId300"/>
    <p:sldId id="508" r:id="rId301"/>
    <p:sldId id="769" r:id="rId302"/>
    <p:sldId id="770" r:id="rId303"/>
    <p:sldId id="771" r:id="rId304"/>
    <p:sldId id="772" r:id="rId305"/>
    <p:sldId id="773" r:id="rId306"/>
    <p:sldId id="774" r:id="rId307"/>
    <p:sldId id="820" r:id="rId308"/>
    <p:sldId id="736" r:id="rId30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050A0E-7B66-5A48-8CFA-B665A53A6A76}">
          <p14:sldIdLst>
            <p14:sldId id="511"/>
            <p14:sldId id="256"/>
            <p14:sldId id="512"/>
            <p14:sldId id="1715"/>
            <p14:sldId id="699"/>
            <p14:sldId id="700"/>
            <p14:sldId id="706"/>
            <p14:sldId id="514"/>
            <p14:sldId id="999"/>
            <p14:sldId id="1000"/>
            <p14:sldId id="849"/>
            <p14:sldId id="278"/>
            <p14:sldId id="1655"/>
            <p14:sldId id="259"/>
            <p14:sldId id="1611"/>
            <p14:sldId id="281"/>
            <p14:sldId id="1010"/>
            <p14:sldId id="282"/>
            <p14:sldId id="283"/>
          </p14:sldIdLst>
        </p14:section>
        <p14:section name="Vue Quickstart" id="{77B3DB39-654D-1D4C-B222-84775226D246}">
          <p14:sldIdLst>
            <p14:sldId id="808"/>
            <p14:sldId id="517"/>
            <p14:sldId id="518"/>
            <p14:sldId id="831"/>
            <p14:sldId id="857"/>
            <p14:sldId id="1014"/>
            <p14:sldId id="1656"/>
            <p14:sldId id="1713"/>
            <p14:sldId id="1728"/>
            <p14:sldId id="1015"/>
            <p14:sldId id="832"/>
            <p14:sldId id="1645"/>
          </p14:sldIdLst>
        </p14:section>
        <p14:section name="Node.js" id="{E3607AB8-7E3F-994C-8053-84E21242FF6B}">
          <p14:sldIdLst>
            <p14:sldId id="519"/>
            <p14:sldId id="520"/>
            <p14:sldId id="827"/>
            <p14:sldId id="898"/>
            <p14:sldId id="998"/>
            <p14:sldId id="899"/>
            <p14:sldId id="911"/>
            <p14:sldId id="709"/>
            <p14:sldId id="708"/>
            <p14:sldId id="828"/>
            <p14:sldId id="741"/>
            <p14:sldId id="1729"/>
            <p14:sldId id="1730"/>
            <p14:sldId id="713"/>
            <p14:sldId id="521"/>
          </p14:sldIdLst>
        </p14:section>
        <p14:section name="Tooling" id="{E799AF48-300E-2744-AE4C-756FDE827D1C}">
          <p14:sldIdLst>
            <p14:sldId id="842"/>
            <p14:sldId id="843"/>
            <p14:sldId id="535"/>
            <p14:sldId id="1013"/>
            <p14:sldId id="536"/>
            <p14:sldId id="537"/>
            <p14:sldId id="445"/>
            <p14:sldId id="538"/>
            <p14:sldId id="845"/>
            <p14:sldId id="1646"/>
            <p14:sldId id="1714"/>
            <p14:sldId id="553"/>
            <p14:sldId id="554"/>
            <p14:sldId id="722"/>
            <p14:sldId id="723"/>
            <p14:sldId id="724"/>
            <p14:sldId id="556"/>
            <p14:sldId id="847"/>
            <p14:sldId id="1657"/>
            <p14:sldId id="1638"/>
            <p14:sldId id="1658"/>
            <p14:sldId id="1659"/>
            <p14:sldId id="1660"/>
            <p14:sldId id="264"/>
            <p14:sldId id="446"/>
            <p14:sldId id="643"/>
            <p14:sldId id="644"/>
            <p14:sldId id="645"/>
            <p14:sldId id="646"/>
            <p14:sldId id="647"/>
            <p14:sldId id="648"/>
            <p14:sldId id="649"/>
            <p14:sldId id="650"/>
            <p14:sldId id="651"/>
            <p14:sldId id="1712"/>
            <p14:sldId id="838"/>
            <p14:sldId id="560"/>
            <p14:sldId id="840"/>
            <p14:sldId id="841"/>
          </p14:sldIdLst>
        </p14:section>
        <p14:section name="Fundamentals of Vue.js" id="{5BBB167B-8391-2C48-B126-73D625715FA9}">
          <p14:sldIdLst>
            <p14:sldId id="848"/>
            <p14:sldId id="284"/>
            <p14:sldId id="1727"/>
            <p14:sldId id="1003"/>
            <p14:sldId id="1726"/>
            <p14:sldId id="1725"/>
            <p14:sldId id="1724"/>
            <p14:sldId id="274"/>
            <p14:sldId id="852"/>
            <p14:sldId id="277"/>
            <p14:sldId id="853"/>
            <p14:sldId id="303"/>
            <p14:sldId id="1007"/>
            <p14:sldId id="1008"/>
            <p14:sldId id="1009"/>
            <p14:sldId id="1004"/>
            <p14:sldId id="1005"/>
            <p14:sldId id="854"/>
            <p14:sldId id="307"/>
            <p14:sldId id="308"/>
            <p14:sldId id="310"/>
            <p14:sldId id="309"/>
            <p14:sldId id="1017"/>
            <p14:sldId id="1018"/>
            <p14:sldId id="1691"/>
            <p14:sldId id="1642"/>
            <p14:sldId id="1643"/>
            <p14:sldId id="1644"/>
            <p14:sldId id="330"/>
            <p14:sldId id="1692"/>
            <p14:sldId id="1701"/>
            <p14:sldId id="1022"/>
            <p14:sldId id="1023"/>
            <p14:sldId id="321"/>
            <p14:sldId id="1024"/>
            <p14:sldId id="1693"/>
            <p14:sldId id="312"/>
            <p14:sldId id="1639"/>
            <p14:sldId id="1001"/>
            <p14:sldId id="272"/>
            <p14:sldId id="333"/>
            <p14:sldId id="334"/>
            <p14:sldId id="273"/>
            <p14:sldId id="311"/>
            <p14:sldId id="313"/>
            <p14:sldId id="1016"/>
            <p14:sldId id="290"/>
            <p14:sldId id="1694"/>
            <p14:sldId id="297"/>
            <p14:sldId id="298"/>
            <p14:sldId id="299"/>
            <p14:sldId id="851"/>
            <p14:sldId id="1661"/>
            <p14:sldId id="345"/>
            <p14:sldId id="1682"/>
            <p14:sldId id="1695"/>
            <p14:sldId id="1640"/>
            <p14:sldId id="1641"/>
            <p14:sldId id="1667"/>
            <p14:sldId id="1668"/>
            <p14:sldId id="1669"/>
            <p14:sldId id="1670"/>
            <p14:sldId id="1671"/>
            <p14:sldId id="1672"/>
            <p14:sldId id="1673"/>
            <p14:sldId id="1674"/>
            <p14:sldId id="1675"/>
            <p14:sldId id="1676"/>
            <p14:sldId id="1696"/>
            <p14:sldId id="331"/>
            <p14:sldId id="332"/>
            <p14:sldId id="1002"/>
            <p14:sldId id="335"/>
            <p14:sldId id="336"/>
            <p14:sldId id="337"/>
            <p14:sldId id="338"/>
            <p14:sldId id="1697"/>
          </p14:sldIdLst>
        </p14:section>
        <p14:section name="Vue Components" id="{49F0A072-3364-914D-AE8A-CF4BF10C9F2C}">
          <p14:sldIdLst>
            <p14:sldId id="339"/>
            <p14:sldId id="1006"/>
            <p14:sldId id="340"/>
            <p14:sldId id="341"/>
            <p14:sldId id="1681"/>
            <p14:sldId id="1677"/>
            <p14:sldId id="1716"/>
            <p14:sldId id="1678"/>
            <p14:sldId id="1679"/>
            <p14:sldId id="343"/>
            <p14:sldId id="344"/>
            <p14:sldId id="1680"/>
            <p14:sldId id="346"/>
            <p14:sldId id="1683"/>
            <p14:sldId id="349"/>
            <p14:sldId id="1686"/>
            <p14:sldId id="1687"/>
            <p14:sldId id="1688"/>
            <p14:sldId id="1685"/>
            <p14:sldId id="1689"/>
            <p14:sldId id="1698"/>
            <p14:sldId id="351"/>
            <p14:sldId id="1647"/>
            <p14:sldId id="1648"/>
            <p14:sldId id="1649"/>
            <p14:sldId id="1652"/>
            <p14:sldId id="1653"/>
            <p14:sldId id="1654"/>
            <p14:sldId id="1650"/>
            <p14:sldId id="1699"/>
          </p14:sldIdLst>
        </p14:section>
        <p14:section name="Vuex" id="{710FAF74-7526-7241-A0AC-499E00CFF50A}">
          <p14:sldIdLst>
            <p14:sldId id="352"/>
            <p14:sldId id="353"/>
            <p14:sldId id="658"/>
            <p14:sldId id="659"/>
            <p14:sldId id="660"/>
            <p14:sldId id="661"/>
            <p14:sldId id="662"/>
            <p14:sldId id="355"/>
            <p14:sldId id="356"/>
            <p14:sldId id="357"/>
            <p14:sldId id="358"/>
            <p14:sldId id="1690"/>
            <p14:sldId id="359"/>
            <p14:sldId id="360"/>
            <p14:sldId id="361"/>
            <p14:sldId id="1706"/>
            <p14:sldId id="362"/>
            <p14:sldId id="363"/>
            <p14:sldId id="1702"/>
          </p14:sldIdLst>
        </p14:section>
        <p14:section name="Single Page Applications" id="{ED507FE0-AE25-1B4A-8EAD-2772886D21E1}">
          <p14:sldIdLst>
            <p14:sldId id="391"/>
            <p14:sldId id="392"/>
            <p14:sldId id="1710"/>
            <p14:sldId id="1711"/>
            <p14:sldId id="1704"/>
            <p14:sldId id="1703"/>
          </p14:sldIdLst>
        </p14:section>
        <p14:section name="Testing" id="{40461C12-B808-F34E-8DFF-B2EDB0D6F06A}">
          <p14:sldIdLst>
            <p14:sldId id="406"/>
            <p14:sldId id="561"/>
            <p14:sldId id="750"/>
            <p14:sldId id="751"/>
            <p14:sldId id="562"/>
            <p14:sldId id="752"/>
            <p14:sldId id="753"/>
            <p14:sldId id="754"/>
            <p14:sldId id="563"/>
            <p14:sldId id="761"/>
            <p14:sldId id="564"/>
            <p14:sldId id="565"/>
            <p14:sldId id="473"/>
            <p14:sldId id="566"/>
            <p14:sldId id="567"/>
            <p14:sldId id="568"/>
            <p14:sldId id="569"/>
            <p14:sldId id="570"/>
            <p14:sldId id="571"/>
            <p14:sldId id="448"/>
            <p14:sldId id="449"/>
            <p14:sldId id="791"/>
            <p14:sldId id="792"/>
            <p14:sldId id="795"/>
            <p14:sldId id="796"/>
            <p14:sldId id="794"/>
            <p14:sldId id="797"/>
            <p14:sldId id="798"/>
            <p14:sldId id="756"/>
            <p14:sldId id="757"/>
            <p14:sldId id="1709"/>
            <p14:sldId id="474"/>
            <p14:sldId id="409"/>
            <p14:sldId id="575"/>
          </p14:sldIdLst>
        </p14:section>
        <p14:section name="Transitions and Animation" id="{20852C64-EA2C-234F-BB41-3639254DC5A6}">
          <p14:sldIdLst>
            <p14:sldId id="428"/>
            <p14:sldId id="1717"/>
            <p14:sldId id="1718"/>
            <p14:sldId id="1719"/>
            <p14:sldId id="1720"/>
            <p14:sldId id="1721"/>
            <p14:sldId id="1722"/>
            <p14:sldId id="430"/>
            <p14:sldId id="1723"/>
            <p14:sldId id="1705"/>
          </p14:sldIdLst>
        </p14:section>
        <p14:section name="Modern JavaScript" id="{59853FE4-C631-314D-9A32-D5D208F07764}">
          <p14:sldIdLst>
            <p14:sldId id="590"/>
            <p14:sldId id="591"/>
            <p14:sldId id="467"/>
            <p14:sldId id="468"/>
            <p14:sldId id="816"/>
            <p14:sldId id="817"/>
            <p14:sldId id="818"/>
            <p14:sldId id="470"/>
            <p14:sldId id="471"/>
            <p14:sldId id="301"/>
            <p14:sldId id="478"/>
            <p14:sldId id="480"/>
            <p14:sldId id="481"/>
            <p14:sldId id="482"/>
            <p14:sldId id="483"/>
            <p14:sldId id="484"/>
            <p14:sldId id="485"/>
            <p14:sldId id="721"/>
            <p14:sldId id="493"/>
            <p14:sldId id="666"/>
            <p14:sldId id="302"/>
            <p14:sldId id="300"/>
            <p14:sldId id="487"/>
            <p14:sldId id="486"/>
            <p14:sldId id="488"/>
            <p14:sldId id="819"/>
            <p14:sldId id="768"/>
            <p14:sldId id="555"/>
            <p14:sldId id="497"/>
            <p14:sldId id="498"/>
            <p14:sldId id="499"/>
            <p14:sldId id="500"/>
            <p14:sldId id="501"/>
            <p14:sldId id="502"/>
            <p14:sldId id="503"/>
            <p14:sldId id="504"/>
            <p14:sldId id="505"/>
            <p14:sldId id="506"/>
            <p14:sldId id="508"/>
            <p14:sldId id="769"/>
            <p14:sldId id="770"/>
            <p14:sldId id="771"/>
            <p14:sldId id="772"/>
            <p14:sldId id="773"/>
            <p14:sldId id="774"/>
            <p14:sldId id="820"/>
          </p14:sldIdLst>
        </p14:section>
        <p14:section name="Copyright and Credits" id="{505EFFCD-B504-7545-881A-CE0A128F6255}">
          <p14:sldIdLst>
            <p14:sldId id="73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li Holland" initials=""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03" autoAdjust="0"/>
    <p:restoredTop sz="86445" autoAdjust="0"/>
  </p:normalViewPr>
  <p:slideViewPr>
    <p:cSldViewPr snapToGrid="0" snapToObjects="1">
      <p:cViewPr varScale="1">
        <p:scale>
          <a:sx n="108" d="100"/>
          <a:sy n="108" d="100"/>
        </p:scale>
        <p:origin x="2224" y="184"/>
      </p:cViewPr>
      <p:guideLst>
        <p:guide orient="horz" pos="2160"/>
        <p:guide pos="2880"/>
      </p:guideLst>
    </p:cSldViewPr>
  </p:slideViewPr>
  <p:outlineViewPr>
    <p:cViewPr>
      <p:scale>
        <a:sx n="20" d="100"/>
        <a:sy n="20" d="100"/>
      </p:scale>
      <p:origin x="0" y="-1660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 r:id="rId118" collapse="1"/>
      <p:sld r:id="rId119" collapse="1"/>
      <p:sld r:id="rId120" collapse="1"/>
      <p:sld r:id="rId121" collapse="1"/>
      <p:sld r:id="rId122" collapse="1"/>
      <p:sld r:id="rId123" collapse="1"/>
      <p:sld r:id="rId124" collapse="1"/>
      <p:sld r:id="rId125" collapse="1"/>
      <p:sld r:id="rId126" collapse="1"/>
      <p:sld r:id="rId127" collapse="1"/>
      <p:sld r:id="rId128" collapse="1"/>
      <p:sld r:id="rId129" collapse="1"/>
      <p:sld r:id="rId130" collapse="1"/>
      <p:sld r:id="rId131" collapse="1"/>
      <p:sld r:id="rId132" collapse="1"/>
      <p:sld r:id="rId133" collapse="1"/>
      <p:sld r:id="rId134" collapse="1"/>
      <p:sld r:id="rId135" collapse="1"/>
      <p:sld r:id="rId136" collapse="1"/>
      <p:sld r:id="rId137" collapse="1"/>
      <p:sld r:id="rId138" collapse="1"/>
      <p:sld r:id="rId139" collapse="1"/>
      <p:sld r:id="rId140" collapse="1"/>
      <p:sld r:id="rId141" collapse="1"/>
      <p:sld r:id="rId142" collapse="1"/>
      <p:sld r:id="rId143" collapse="1"/>
      <p:sld r:id="rId144" collapse="1"/>
      <p:sld r:id="rId145" collapse="1"/>
      <p:sld r:id="rId146" collapse="1"/>
      <p:sld r:id="rId147" collapse="1"/>
      <p:sld r:id="rId148" collapse="1"/>
      <p:sld r:id="rId149" collapse="1"/>
      <p:sld r:id="rId150" collapse="1"/>
      <p:sld r:id="rId151" collapse="1"/>
      <p:sld r:id="rId152" collapse="1"/>
      <p:sld r:id="rId153" collapse="1"/>
      <p:sld r:id="rId154" collapse="1"/>
      <p:sld r:id="rId155" collapse="1"/>
      <p:sld r:id="rId156" collapse="1"/>
      <p:sld r:id="rId157" collapse="1"/>
      <p:sld r:id="rId158" collapse="1"/>
      <p:sld r:id="rId159" collapse="1"/>
      <p:sld r:id="rId160" collapse="1"/>
      <p:sld r:id="rId161" collapse="1"/>
      <p:sld r:id="rId162" collapse="1"/>
      <p:sld r:id="rId163" collapse="1"/>
      <p:sld r:id="rId164" collapse="1"/>
      <p:sld r:id="rId165" collapse="1"/>
      <p:sld r:id="rId166" collapse="1"/>
      <p:sld r:id="rId167" collapse="1"/>
      <p:sld r:id="rId168" collapse="1"/>
      <p:sld r:id="rId169" collapse="1"/>
      <p:sld r:id="rId170" collapse="1"/>
      <p:sld r:id="rId171" collapse="1"/>
      <p:sld r:id="rId172" collapse="1"/>
      <p:sld r:id="rId173" collapse="1"/>
      <p:sld r:id="rId174" collapse="1"/>
      <p:sld r:id="rId175" collapse="1"/>
      <p:sld r:id="rId176" collapse="1"/>
      <p:sld r:id="rId177" collapse="1"/>
      <p:sld r:id="rId178" collapse="1"/>
      <p:sld r:id="rId179" collapse="1"/>
      <p:sld r:id="rId180" collapse="1"/>
      <p:sld r:id="rId181" collapse="1"/>
      <p:sld r:id="rId182" collapse="1"/>
      <p:sld r:id="rId183" collapse="1"/>
      <p:sld r:id="rId184" collapse="1"/>
      <p:sld r:id="rId185" collapse="1"/>
      <p:sld r:id="rId186" collapse="1"/>
      <p:sld r:id="rId187" collapse="1"/>
      <p:sld r:id="rId188" collapse="1"/>
      <p:sld r:id="rId189" collapse="1"/>
      <p:sld r:id="rId190" collapse="1"/>
      <p:sld r:id="rId191" collapse="1"/>
      <p:sld r:id="rId192" collapse="1"/>
      <p:sld r:id="rId193" collapse="1"/>
      <p:sld r:id="rId194" collapse="1"/>
      <p:sld r:id="rId195" collapse="1"/>
      <p:sld r:id="rId196" collapse="1"/>
      <p:sld r:id="rId197" collapse="1"/>
      <p:sld r:id="rId198" collapse="1"/>
      <p:sld r:id="rId199" collapse="1"/>
      <p:sld r:id="rId200" collapse="1"/>
      <p:sld r:id="rId201" collapse="1"/>
      <p:sld r:id="rId202" collapse="1"/>
      <p:sld r:id="rId203" collapse="1"/>
      <p:sld r:id="rId204" collapse="1"/>
      <p:sld r:id="rId205" collapse="1"/>
      <p:sld r:id="rId206" collapse="1"/>
      <p:sld r:id="rId207" collapse="1"/>
      <p:sld r:id="rId208" collapse="1"/>
      <p:sld r:id="rId209" collapse="1"/>
      <p:sld r:id="rId210" collapse="1"/>
      <p:sld r:id="rId211" collapse="1"/>
      <p:sld r:id="rId212" collapse="1"/>
      <p:sld r:id="rId213" collapse="1"/>
      <p:sld r:id="rId214" collapse="1"/>
      <p:sld r:id="rId215" collapse="1"/>
      <p:sld r:id="rId216" collapse="1"/>
      <p:sld r:id="rId217" collapse="1"/>
      <p:sld r:id="rId218" collapse="1"/>
      <p:sld r:id="rId219" collapse="1"/>
      <p:sld r:id="rId220" collapse="1"/>
      <p:sld r:id="rId221" collapse="1"/>
      <p:sld r:id="rId222" collapse="1"/>
      <p:sld r:id="rId223" collapse="1"/>
      <p:sld r:id="rId224" collapse="1"/>
      <p:sld r:id="rId225" collapse="1"/>
      <p:sld r:id="rId226" collapse="1"/>
      <p:sld r:id="rId227" collapse="1"/>
      <p:sld r:id="rId228" collapse="1"/>
      <p:sld r:id="rId229" collapse="1"/>
      <p:sld r:id="rId230" collapse="1"/>
      <p:sld r:id="rId231" collapse="1"/>
      <p:sld r:id="rId232" collapse="1"/>
      <p:sld r:id="rId233" collapse="1"/>
      <p:sld r:id="rId234" collapse="1"/>
      <p:sld r:id="rId235" collapse="1"/>
      <p:sld r:id="rId236" collapse="1"/>
      <p:sld r:id="rId237" collapse="1"/>
      <p:sld r:id="rId238" collapse="1"/>
      <p:sld r:id="rId239" collapse="1"/>
      <p:sld r:id="rId240" collapse="1"/>
      <p:sld r:id="rId241" collapse="1"/>
      <p:sld r:id="rId242" collapse="1"/>
      <p:sld r:id="rId243" collapse="1"/>
      <p:sld r:id="rId244" collapse="1"/>
      <p:sld r:id="rId245" collapse="1"/>
      <p:sld r:id="rId246" collapse="1"/>
      <p:sld r:id="rId247" collapse="1"/>
      <p:sld r:id="rId248" collapse="1"/>
      <p:sld r:id="rId249" collapse="1"/>
      <p:sld r:id="rId250" collapse="1"/>
      <p:sld r:id="rId251" collapse="1"/>
      <p:sld r:id="rId252" collapse="1"/>
      <p:sld r:id="rId253" collapse="1"/>
      <p:sld r:id="rId254" collapse="1"/>
      <p:sld r:id="rId255" collapse="1"/>
      <p:sld r:id="rId256" collapse="1"/>
      <p:sld r:id="rId257" collapse="1"/>
      <p:sld r:id="rId258" collapse="1"/>
      <p:sld r:id="rId259" collapse="1"/>
      <p:sld r:id="rId260" collapse="1"/>
      <p:sld r:id="rId261" collapse="1"/>
      <p:sld r:id="rId262" collapse="1"/>
      <p:sld r:id="rId263" collapse="1"/>
      <p:sld r:id="rId264" collapse="1"/>
      <p:sld r:id="rId265" collapse="1"/>
      <p:sld r:id="rId266" collapse="1"/>
      <p:sld r:id="rId267" collapse="1"/>
      <p:sld r:id="rId268" collapse="1"/>
      <p:sld r:id="rId269" collapse="1"/>
      <p:sld r:id="rId270" collapse="1"/>
      <p:sld r:id="rId271" collapse="1"/>
      <p:sld r:id="rId272" collapse="1"/>
      <p:sld r:id="rId273" collapse="1"/>
      <p:sld r:id="rId274" collapse="1"/>
      <p:sld r:id="rId275" collapse="1"/>
      <p:sld r:id="rId276" collapse="1"/>
      <p:sld r:id="rId277" collapse="1"/>
      <p:sld r:id="rId278" collapse="1"/>
      <p:sld r:id="rId279" collapse="1"/>
      <p:sld r:id="rId280" collapse="1"/>
      <p:sld r:id="rId281" collapse="1"/>
      <p:sld r:id="rId282" collapse="1"/>
      <p:sld r:id="rId283" collapse="1"/>
      <p:sld r:id="rId284" collapse="1"/>
      <p:sld r:id="rId285" collapse="1"/>
      <p:sld r:id="rId286" collapse="1"/>
      <p:sld r:id="rId287" collapse="1"/>
      <p:sld r:id="rId288" collapse="1"/>
    </p:sldLst>
  </p:outlineViewPr>
  <p:notesTextViewPr>
    <p:cViewPr>
      <p:scale>
        <a:sx n="100" d="100"/>
        <a:sy n="100" d="100"/>
      </p:scale>
      <p:origin x="0" y="0"/>
    </p:cViewPr>
  </p:notesTextViewPr>
  <p:sorterViewPr>
    <p:cViewPr varScale="1">
      <p:scale>
        <a:sx n="100" d="100"/>
        <a:sy n="100" d="100"/>
      </p:scale>
      <p:origin x="0" y="20000"/>
    </p:cViewPr>
  </p:sorterViewPr>
  <p:notesViewPr>
    <p:cSldViewPr snapToGrid="0" snapToObjects="1">
      <p:cViewPr varScale="1">
        <p:scale>
          <a:sx n="66" d="100"/>
          <a:sy n="66" d="100"/>
        </p:scale>
        <p:origin x="-3632" y="-12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theme" Target="theme/theme1.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tableStyles" Target="tableStyle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notesMaster" Target="notesMasters/notesMaster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handoutMaster" Target="handoutMasters/handoutMaster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commentAuthors" Target="commentAuthor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viewProps" Target="viewProps.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_rels/viewProps.xml.rels><?xml version="1.0" encoding="UTF-8" standalone="yes"?>
<Relationships xmlns="http://schemas.openxmlformats.org/package/2006/relationships"><Relationship Id="rId117" Type="http://schemas.openxmlformats.org/officeDocument/2006/relationships/slide" Target="slides/slide127.xml"/><Relationship Id="rId21" Type="http://schemas.openxmlformats.org/officeDocument/2006/relationships/slide" Target="slides/slide21.xml"/><Relationship Id="rId63" Type="http://schemas.openxmlformats.org/officeDocument/2006/relationships/slide" Target="slides/slide68.xml"/><Relationship Id="rId159" Type="http://schemas.openxmlformats.org/officeDocument/2006/relationships/slide" Target="slides/slide170.xml"/><Relationship Id="rId170" Type="http://schemas.openxmlformats.org/officeDocument/2006/relationships/slide" Target="slides/slide181.xml"/><Relationship Id="rId226" Type="http://schemas.openxmlformats.org/officeDocument/2006/relationships/slide" Target="slides/slide239.xml"/><Relationship Id="rId268" Type="http://schemas.openxmlformats.org/officeDocument/2006/relationships/slide" Target="slides/slide288.xml"/><Relationship Id="rId32" Type="http://schemas.openxmlformats.org/officeDocument/2006/relationships/slide" Target="slides/slide34.xml"/><Relationship Id="rId74" Type="http://schemas.openxmlformats.org/officeDocument/2006/relationships/slide" Target="slides/slide79.xml"/><Relationship Id="rId128" Type="http://schemas.openxmlformats.org/officeDocument/2006/relationships/slide" Target="slides/slide138.xml"/><Relationship Id="rId5" Type="http://schemas.openxmlformats.org/officeDocument/2006/relationships/slide" Target="slides/slide5.xml"/><Relationship Id="rId181" Type="http://schemas.openxmlformats.org/officeDocument/2006/relationships/slide" Target="slides/slide192.xml"/><Relationship Id="rId237" Type="http://schemas.openxmlformats.org/officeDocument/2006/relationships/slide" Target="slides/slide251.xml"/><Relationship Id="rId279" Type="http://schemas.openxmlformats.org/officeDocument/2006/relationships/slide" Target="slides/slide299.xml"/><Relationship Id="rId43" Type="http://schemas.openxmlformats.org/officeDocument/2006/relationships/slide" Target="slides/slide47.xml"/><Relationship Id="rId139" Type="http://schemas.openxmlformats.org/officeDocument/2006/relationships/slide" Target="slides/slide149.xml"/><Relationship Id="rId85" Type="http://schemas.openxmlformats.org/officeDocument/2006/relationships/slide" Target="slides/slide95.xml"/><Relationship Id="rId150" Type="http://schemas.openxmlformats.org/officeDocument/2006/relationships/slide" Target="slides/slide160.xml"/><Relationship Id="rId171" Type="http://schemas.openxmlformats.org/officeDocument/2006/relationships/slide" Target="slides/slide182.xml"/><Relationship Id="rId192" Type="http://schemas.openxmlformats.org/officeDocument/2006/relationships/slide" Target="slides/slide203.xml"/><Relationship Id="rId206" Type="http://schemas.openxmlformats.org/officeDocument/2006/relationships/slide" Target="slides/slide219.xml"/><Relationship Id="rId227" Type="http://schemas.openxmlformats.org/officeDocument/2006/relationships/slide" Target="slides/slide240.xml"/><Relationship Id="rId248" Type="http://schemas.openxmlformats.org/officeDocument/2006/relationships/slide" Target="slides/slide268.xml"/><Relationship Id="rId269" Type="http://schemas.openxmlformats.org/officeDocument/2006/relationships/slide" Target="slides/slide289.xml"/><Relationship Id="rId12" Type="http://schemas.openxmlformats.org/officeDocument/2006/relationships/slide" Target="slides/slide12.xml"/><Relationship Id="rId33" Type="http://schemas.openxmlformats.org/officeDocument/2006/relationships/slide" Target="slides/slide35.xml"/><Relationship Id="rId108" Type="http://schemas.openxmlformats.org/officeDocument/2006/relationships/slide" Target="slides/slide118.xml"/><Relationship Id="rId129" Type="http://schemas.openxmlformats.org/officeDocument/2006/relationships/slide" Target="slides/slide139.xml"/><Relationship Id="rId280" Type="http://schemas.openxmlformats.org/officeDocument/2006/relationships/slide" Target="slides/slide300.xml"/><Relationship Id="rId54" Type="http://schemas.openxmlformats.org/officeDocument/2006/relationships/slide" Target="slides/slide59.xml"/><Relationship Id="rId75" Type="http://schemas.openxmlformats.org/officeDocument/2006/relationships/slide" Target="slides/slide80.xml"/><Relationship Id="rId96" Type="http://schemas.openxmlformats.org/officeDocument/2006/relationships/slide" Target="slides/slide106.xml"/><Relationship Id="rId140" Type="http://schemas.openxmlformats.org/officeDocument/2006/relationships/slide" Target="slides/slide150.xml"/><Relationship Id="rId161" Type="http://schemas.openxmlformats.org/officeDocument/2006/relationships/slide" Target="slides/slide172.xml"/><Relationship Id="rId182" Type="http://schemas.openxmlformats.org/officeDocument/2006/relationships/slide" Target="slides/slide193.xml"/><Relationship Id="rId217" Type="http://schemas.openxmlformats.org/officeDocument/2006/relationships/slide" Target="slides/slide230.xml"/><Relationship Id="rId6" Type="http://schemas.openxmlformats.org/officeDocument/2006/relationships/slide" Target="slides/slide6.xml"/><Relationship Id="rId238" Type="http://schemas.openxmlformats.org/officeDocument/2006/relationships/slide" Target="slides/slide252.xml"/><Relationship Id="rId259" Type="http://schemas.openxmlformats.org/officeDocument/2006/relationships/slide" Target="slides/slide279.xml"/><Relationship Id="rId23" Type="http://schemas.openxmlformats.org/officeDocument/2006/relationships/slide" Target="slides/slide23.xml"/><Relationship Id="rId119" Type="http://schemas.openxmlformats.org/officeDocument/2006/relationships/slide" Target="slides/slide129.xml"/><Relationship Id="rId270" Type="http://schemas.openxmlformats.org/officeDocument/2006/relationships/slide" Target="slides/slide290.xml"/><Relationship Id="rId44" Type="http://schemas.openxmlformats.org/officeDocument/2006/relationships/slide" Target="slides/slide48.xml"/><Relationship Id="rId65" Type="http://schemas.openxmlformats.org/officeDocument/2006/relationships/slide" Target="slides/slide70.xml"/><Relationship Id="rId86" Type="http://schemas.openxmlformats.org/officeDocument/2006/relationships/slide" Target="slides/slide96.xml"/><Relationship Id="rId130" Type="http://schemas.openxmlformats.org/officeDocument/2006/relationships/slide" Target="slides/slide140.xml"/><Relationship Id="rId151" Type="http://schemas.openxmlformats.org/officeDocument/2006/relationships/slide" Target="slides/slide161.xml"/><Relationship Id="rId172" Type="http://schemas.openxmlformats.org/officeDocument/2006/relationships/slide" Target="slides/slide183.xml"/><Relationship Id="rId193" Type="http://schemas.openxmlformats.org/officeDocument/2006/relationships/slide" Target="slides/slide204.xml"/><Relationship Id="rId207" Type="http://schemas.openxmlformats.org/officeDocument/2006/relationships/slide" Target="slides/slide220.xml"/><Relationship Id="rId228" Type="http://schemas.openxmlformats.org/officeDocument/2006/relationships/slide" Target="slides/slide241.xml"/><Relationship Id="rId249" Type="http://schemas.openxmlformats.org/officeDocument/2006/relationships/slide" Target="slides/slide269.xml"/><Relationship Id="rId13" Type="http://schemas.openxmlformats.org/officeDocument/2006/relationships/slide" Target="slides/slide13.xml"/><Relationship Id="rId109" Type="http://schemas.openxmlformats.org/officeDocument/2006/relationships/slide" Target="slides/slide119.xml"/><Relationship Id="rId260" Type="http://schemas.openxmlformats.org/officeDocument/2006/relationships/slide" Target="slides/slide280.xml"/><Relationship Id="rId281" Type="http://schemas.openxmlformats.org/officeDocument/2006/relationships/slide" Target="slides/slide301.xml"/><Relationship Id="rId34" Type="http://schemas.openxmlformats.org/officeDocument/2006/relationships/slide" Target="slides/slide36.xml"/><Relationship Id="rId55" Type="http://schemas.openxmlformats.org/officeDocument/2006/relationships/slide" Target="slides/slide60.xml"/><Relationship Id="rId76" Type="http://schemas.openxmlformats.org/officeDocument/2006/relationships/slide" Target="slides/slide82.xml"/><Relationship Id="rId97" Type="http://schemas.openxmlformats.org/officeDocument/2006/relationships/slide" Target="slides/slide107.xml"/><Relationship Id="rId120" Type="http://schemas.openxmlformats.org/officeDocument/2006/relationships/slide" Target="slides/slide130.xml"/><Relationship Id="rId141" Type="http://schemas.openxmlformats.org/officeDocument/2006/relationships/slide" Target="slides/slide151.xml"/><Relationship Id="rId7" Type="http://schemas.openxmlformats.org/officeDocument/2006/relationships/slide" Target="slides/slide7.xml"/><Relationship Id="rId162" Type="http://schemas.openxmlformats.org/officeDocument/2006/relationships/slide" Target="slides/slide173.xml"/><Relationship Id="rId183" Type="http://schemas.openxmlformats.org/officeDocument/2006/relationships/slide" Target="slides/slide194.xml"/><Relationship Id="rId218" Type="http://schemas.openxmlformats.org/officeDocument/2006/relationships/slide" Target="slides/slide231.xml"/><Relationship Id="rId239" Type="http://schemas.openxmlformats.org/officeDocument/2006/relationships/slide" Target="slides/slide259.xml"/><Relationship Id="rId250" Type="http://schemas.openxmlformats.org/officeDocument/2006/relationships/slide" Target="slides/slide270.xml"/><Relationship Id="rId271" Type="http://schemas.openxmlformats.org/officeDocument/2006/relationships/slide" Target="slides/slide291.xml"/><Relationship Id="rId24" Type="http://schemas.openxmlformats.org/officeDocument/2006/relationships/slide" Target="slides/slide24.xml"/><Relationship Id="rId45" Type="http://schemas.openxmlformats.org/officeDocument/2006/relationships/slide" Target="slides/slide49.xml"/><Relationship Id="rId66" Type="http://schemas.openxmlformats.org/officeDocument/2006/relationships/slide" Target="slides/slide71.xml"/><Relationship Id="rId87" Type="http://schemas.openxmlformats.org/officeDocument/2006/relationships/slide" Target="slides/slide97.xml"/><Relationship Id="rId110" Type="http://schemas.openxmlformats.org/officeDocument/2006/relationships/slide" Target="slides/slide120.xml"/><Relationship Id="rId131" Type="http://schemas.openxmlformats.org/officeDocument/2006/relationships/slide" Target="slides/slide141.xml"/><Relationship Id="rId152" Type="http://schemas.openxmlformats.org/officeDocument/2006/relationships/slide" Target="slides/slide162.xml"/><Relationship Id="rId173" Type="http://schemas.openxmlformats.org/officeDocument/2006/relationships/slide" Target="slides/slide184.xml"/><Relationship Id="rId194" Type="http://schemas.openxmlformats.org/officeDocument/2006/relationships/slide" Target="slides/slide205.xml"/><Relationship Id="rId208" Type="http://schemas.openxmlformats.org/officeDocument/2006/relationships/slide" Target="slides/slide221.xml"/><Relationship Id="rId229" Type="http://schemas.openxmlformats.org/officeDocument/2006/relationships/slide" Target="slides/slide242.xml"/><Relationship Id="rId240" Type="http://schemas.openxmlformats.org/officeDocument/2006/relationships/slide" Target="slides/slide260.xml"/><Relationship Id="rId261" Type="http://schemas.openxmlformats.org/officeDocument/2006/relationships/slide" Target="slides/slide281.xml"/><Relationship Id="rId14" Type="http://schemas.openxmlformats.org/officeDocument/2006/relationships/slide" Target="slides/slide14.xml"/><Relationship Id="rId35" Type="http://schemas.openxmlformats.org/officeDocument/2006/relationships/slide" Target="slides/slide37.xml"/><Relationship Id="rId56" Type="http://schemas.openxmlformats.org/officeDocument/2006/relationships/slide" Target="slides/slide61.xml"/><Relationship Id="rId77" Type="http://schemas.openxmlformats.org/officeDocument/2006/relationships/slide" Target="slides/slide83.xml"/><Relationship Id="rId100" Type="http://schemas.openxmlformats.org/officeDocument/2006/relationships/slide" Target="slides/slide110.xml"/><Relationship Id="rId282" Type="http://schemas.openxmlformats.org/officeDocument/2006/relationships/slide" Target="slides/slide302.xml"/><Relationship Id="rId8" Type="http://schemas.openxmlformats.org/officeDocument/2006/relationships/slide" Target="slides/slide8.xml"/><Relationship Id="rId98" Type="http://schemas.openxmlformats.org/officeDocument/2006/relationships/slide" Target="slides/slide108.xml"/><Relationship Id="rId121" Type="http://schemas.openxmlformats.org/officeDocument/2006/relationships/slide" Target="slides/slide131.xml"/><Relationship Id="rId142" Type="http://schemas.openxmlformats.org/officeDocument/2006/relationships/slide" Target="slides/slide152.xml"/><Relationship Id="rId163" Type="http://schemas.openxmlformats.org/officeDocument/2006/relationships/slide" Target="slides/slide174.xml"/><Relationship Id="rId184" Type="http://schemas.openxmlformats.org/officeDocument/2006/relationships/slide" Target="slides/slide195.xml"/><Relationship Id="rId219" Type="http://schemas.openxmlformats.org/officeDocument/2006/relationships/slide" Target="slides/slide232.xml"/><Relationship Id="rId230" Type="http://schemas.openxmlformats.org/officeDocument/2006/relationships/slide" Target="slides/slide243.xml"/><Relationship Id="rId251" Type="http://schemas.openxmlformats.org/officeDocument/2006/relationships/slide" Target="slides/slide271.xml"/><Relationship Id="rId25" Type="http://schemas.openxmlformats.org/officeDocument/2006/relationships/slide" Target="slides/slide25.xml"/><Relationship Id="rId46" Type="http://schemas.openxmlformats.org/officeDocument/2006/relationships/slide" Target="slides/slide50.xml"/><Relationship Id="rId67" Type="http://schemas.openxmlformats.org/officeDocument/2006/relationships/slide" Target="slides/slide72.xml"/><Relationship Id="rId272" Type="http://schemas.openxmlformats.org/officeDocument/2006/relationships/slide" Target="slides/slide292.xml"/><Relationship Id="rId88" Type="http://schemas.openxmlformats.org/officeDocument/2006/relationships/slide" Target="slides/slide98.xml"/><Relationship Id="rId111" Type="http://schemas.openxmlformats.org/officeDocument/2006/relationships/slide" Target="slides/slide121.xml"/><Relationship Id="rId132" Type="http://schemas.openxmlformats.org/officeDocument/2006/relationships/slide" Target="slides/slide142.xml"/><Relationship Id="rId153" Type="http://schemas.openxmlformats.org/officeDocument/2006/relationships/slide" Target="slides/slide163.xml"/><Relationship Id="rId174" Type="http://schemas.openxmlformats.org/officeDocument/2006/relationships/slide" Target="slides/slide185.xml"/><Relationship Id="rId195" Type="http://schemas.openxmlformats.org/officeDocument/2006/relationships/slide" Target="slides/slide206.xml"/><Relationship Id="rId209" Type="http://schemas.openxmlformats.org/officeDocument/2006/relationships/slide" Target="slides/slide222.xml"/><Relationship Id="rId220" Type="http://schemas.openxmlformats.org/officeDocument/2006/relationships/slide" Target="slides/slide233.xml"/><Relationship Id="rId241" Type="http://schemas.openxmlformats.org/officeDocument/2006/relationships/slide" Target="slides/slide261.xml"/><Relationship Id="rId15" Type="http://schemas.openxmlformats.org/officeDocument/2006/relationships/slide" Target="slides/slide15.xml"/><Relationship Id="rId36" Type="http://schemas.openxmlformats.org/officeDocument/2006/relationships/slide" Target="slides/slide38.xml"/><Relationship Id="rId57" Type="http://schemas.openxmlformats.org/officeDocument/2006/relationships/slide" Target="slides/slide62.xml"/><Relationship Id="rId262" Type="http://schemas.openxmlformats.org/officeDocument/2006/relationships/slide" Target="slides/slide282.xml"/><Relationship Id="rId283" Type="http://schemas.openxmlformats.org/officeDocument/2006/relationships/slide" Target="slides/slide303.xml"/><Relationship Id="rId78" Type="http://schemas.openxmlformats.org/officeDocument/2006/relationships/slide" Target="slides/slide84.xml"/><Relationship Id="rId99" Type="http://schemas.openxmlformats.org/officeDocument/2006/relationships/slide" Target="slides/slide109.xml"/><Relationship Id="rId101" Type="http://schemas.openxmlformats.org/officeDocument/2006/relationships/slide" Target="slides/slide111.xml"/><Relationship Id="rId122" Type="http://schemas.openxmlformats.org/officeDocument/2006/relationships/slide" Target="slides/slide132.xml"/><Relationship Id="rId143" Type="http://schemas.openxmlformats.org/officeDocument/2006/relationships/slide" Target="slides/slide153.xml"/><Relationship Id="rId164" Type="http://schemas.openxmlformats.org/officeDocument/2006/relationships/slide" Target="slides/slide175.xml"/><Relationship Id="rId185" Type="http://schemas.openxmlformats.org/officeDocument/2006/relationships/slide" Target="slides/slide196.xml"/><Relationship Id="rId9" Type="http://schemas.openxmlformats.org/officeDocument/2006/relationships/slide" Target="slides/slide9.xml"/><Relationship Id="rId210" Type="http://schemas.openxmlformats.org/officeDocument/2006/relationships/slide" Target="slides/slide223.xml"/><Relationship Id="rId26" Type="http://schemas.openxmlformats.org/officeDocument/2006/relationships/slide" Target="slides/slide26.xml"/><Relationship Id="rId231" Type="http://schemas.openxmlformats.org/officeDocument/2006/relationships/slide" Target="slides/slide244.xml"/><Relationship Id="rId252" Type="http://schemas.openxmlformats.org/officeDocument/2006/relationships/slide" Target="slides/slide272.xml"/><Relationship Id="rId273" Type="http://schemas.openxmlformats.org/officeDocument/2006/relationships/slide" Target="slides/slide293.xml"/><Relationship Id="rId47" Type="http://schemas.openxmlformats.org/officeDocument/2006/relationships/slide" Target="slides/slide51.xml"/><Relationship Id="rId68" Type="http://schemas.openxmlformats.org/officeDocument/2006/relationships/slide" Target="slides/slide73.xml"/><Relationship Id="rId89" Type="http://schemas.openxmlformats.org/officeDocument/2006/relationships/slide" Target="slides/slide99.xml"/><Relationship Id="rId112" Type="http://schemas.openxmlformats.org/officeDocument/2006/relationships/slide" Target="slides/slide122.xml"/><Relationship Id="rId133" Type="http://schemas.openxmlformats.org/officeDocument/2006/relationships/slide" Target="slides/slide143.xml"/><Relationship Id="rId154" Type="http://schemas.openxmlformats.org/officeDocument/2006/relationships/slide" Target="slides/slide164.xml"/><Relationship Id="rId175" Type="http://schemas.openxmlformats.org/officeDocument/2006/relationships/slide" Target="slides/slide186.xml"/><Relationship Id="rId196" Type="http://schemas.openxmlformats.org/officeDocument/2006/relationships/slide" Target="slides/slide207.xml"/><Relationship Id="rId200" Type="http://schemas.openxmlformats.org/officeDocument/2006/relationships/slide" Target="slides/slide211.xml"/><Relationship Id="rId16" Type="http://schemas.openxmlformats.org/officeDocument/2006/relationships/slide" Target="slides/slide16.xml"/><Relationship Id="rId221" Type="http://schemas.openxmlformats.org/officeDocument/2006/relationships/slide" Target="slides/slide234.xml"/><Relationship Id="rId242" Type="http://schemas.openxmlformats.org/officeDocument/2006/relationships/slide" Target="slides/slide262.xml"/><Relationship Id="rId263" Type="http://schemas.openxmlformats.org/officeDocument/2006/relationships/slide" Target="slides/slide283.xml"/><Relationship Id="rId284" Type="http://schemas.openxmlformats.org/officeDocument/2006/relationships/slide" Target="slides/slide304.xml"/><Relationship Id="rId37" Type="http://schemas.openxmlformats.org/officeDocument/2006/relationships/slide" Target="slides/slide39.xml"/><Relationship Id="rId58" Type="http://schemas.openxmlformats.org/officeDocument/2006/relationships/slide" Target="slides/slide63.xml"/><Relationship Id="rId79" Type="http://schemas.openxmlformats.org/officeDocument/2006/relationships/slide" Target="slides/slide85.xml"/><Relationship Id="rId102" Type="http://schemas.openxmlformats.org/officeDocument/2006/relationships/slide" Target="slides/slide112.xml"/><Relationship Id="rId123" Type="http://schemas.openxmlformats.org/officeDocument/2006/relationships/slide" Target="slides/slide133.xml"/><Relationship Id="rId144" Type="http://schemas.openxmlformats.org/officeDocument/2006/relationships/slide" Target="slides/slide154.xml"/><Relationship Id="rId90" Type="http://schemas.openxmlformats.org/officeDocument/2006/relationships/slide" Target="slides/slide100.xml"/><Relationship Id="rId165" Type="http://schemas.openxmlformats.org/officeDocument/2006/relationships/slide" Target="slides/slide176.xml"/><Relationship Id="rId186" Type="http://schemas.openxmlformats.org/officeDocument/2006/relationships/slide" Target="slides/slide197.xml"/><Relationship Id="rId211" Type="http://schemas.openxmlformats.org/officeDocument/2006/relationships/slide" Target="slides/slide224.xml"/><Relationship Id="rId232" Type="http://schemas.openxmlformats.org/officeDocument/2006/relationships/slide" Target="slides/slide245.xml"/><Relationship Id="rId253" Type="http://schemas.openxmlformats.org/officeDocument/2006/relationships/slide" Target="slides/slide273.xml"/><Relationship Id="rId274" Type="http://schemas.openxmlformats.org/officeDocument/2006/relationships/slide" Target="slides/slide294.xml"/><Relationship Id="rId27" Type="http://schemas.openxmlformats.org/officeDocument/2006/relationships/slide" Target="slides/slide29.xml"/><Relationship Id="rId48" Type="http://schemas.openxmlformats.org/officeDocument/2006/relationships/slide" Target="slides/slide52.xml"/><Relationship Id="rId69" Type="http://schemas.openxmlformats.org/officeDocument/2006/relationships/slide" Target="slides/slide74.xml"/><Relationship Id="rId113" Type="http://schemas.openxmlformats.org/officeDocument/2006/relationships/slide" Target="slides/slide123.xml"/><Relationship Id="rId134" Type="http://schemas.openxmlformats.org/officeDocument/2006/relationships/slide" Target="slides/slide144.xml"/><Relationship Id="rId80" Type="http://schemas.openxmlformats.org/officeDocument/2006/relationships/slide" Target="slides/slide86.xml"/><Relationship Id="rId155" Type="http://schemas.openxmlformats.org/officeDocument/2006/relationships/slide" Target="slides/slide165.xml"/><Relationship Id="rId176" Type="http://schemas.openxmlformats.org/officeDocument/2006/relationships/slide" Target="slides/slide187.xml"/><Relationship Id="rId197" Type="http://schemas.openxmlformats.org/officeDocument/2006/relationships/slide" Target="slides/slide208.xml"/><Relationship Id="rId201" Type="http://schemas.openxmlformats.org/officeDocument/2006/relationships/slide" Target="slides/slide212.xml"/><Relationship Id="rId222" Type="http://schemas.openxmlformats.org/officeDocument/2006/relationships/slide" Target="slides/slide235.xml"/><Relationship Id="rId243" Type="http://schemas.openxmlformats.org/officeDocument/2006/relationships/slide" Target="slides/slide263.xml"/><Relationship Id="rId264" Type="http://schemas.openxmlformats.org/officeDocument/2006/relationships/slide" Target="slides/slide284.xml"/><Relationship Id="rId285" Type="http://schemas.openxmlformats.org/officeDocument/2006/relationships/slide" Target="slides/slide305.xml"/><Relationship Id="rId17" Type="http://schemas.openxmlformats.org/officeDocument/2006/relationships/slide" Target="slides/slide17.xml"/><Relationship Id="rId38" Type="http://schemas.openxmlformats.org/officeDocument/2006/relationships/slide" Target="slides/slide40.xml"/><Relationship Id="rId59" Type="http://schemas.openxmlformats.org/officeDocument/2006/relationships/slide" Target="slides/slide64.xml"/><Relationship Id="rId103" Type="http://schemas.openxmlformats.org/officeDocument/2006/relationships/slide" Target="slides/slide113.xml"/><Relationship Id="rId124" Type="http://schemas.openxmlformats.org/officeDocument/2006/relationships/slide" Target="slides/slide134.xml"/><Relationship Id="rId70" Type="http://schemas.openxmlformats.org/officeDocument/2006/relationships/slide" Target="slides/slide75.xml"/><Relationship Id="rId91" Type="http://schemas.openxmlformats.org/officeDocument/2006/relationships/slide" Target="slides/slide101.xml"/><Relationship Id="rId145" Type="http://schemas.openxmlformats.org/officeDocument/2006/relationships/slide" Target="slides/slide155.xml"/><Relationship Id="rId166" Type="http://schemas.openxmlformats.org/officeDocument/2006/relationships/slide" Target="slides/slide177.xml"/><Relationship Id="rId187" Type="http://schemas.openxmlformats.org/officeDocument/2006/relationships/slide" Target="slides/slide198.xml"/><Relationship Id="rId1" Type="http://schemas.openxmlformats.org/officeDocument/2006/relationships/slide" Target="slides/slide1.xml"/><Relationship Id="rId212" Type="http://schemas.openxmlformats.org/officeDocument/2006/relationships/slide" Target="slides/slide225.xml"/><Relationship Id="rId233" Type="http://schemas.openxmlformats.org/officeDocument/2006/relationships/slide" Target="slides/slide246.xml"/><Relationship Id="rId254" Type="http://schemas.openxmlformats.org/officeDocument/2006/relationships/slide" Target="slides/slide274.xml"/><Relationship Id="rId28" Type="http://schemas.openxmlformats.org/officeDocument/2006/relationships/slide" Target="slides/slide30.xml"/><Relationship Id="rId49" Type="http://schemas.openxmlformats.org/officeDocument/2006/relationships/slide" Target="slides/slide53.xml"/><Relationship Id="rId114" Type="http://schemas.openxmlformats.org/officeDocument/2006/relationships/slide" Target="slides/slide124.xml"/><Relationship Id="rId275" Type="http://schemas.openxmlformats.org/officeDocument/2006/relationships/slide" Target="slides/slide295.xml"/><Relationship Id="rId60" Type="http://schemas.openxmlformats.org/officeDocument/2006/relationships/slide" Target="slides/slide65.xml"/><Relationship Id="rId81" Type="http://schemas.openxmlformats.org/officeDocument/2006/relationships/slide" Target="slides/slide87.xml"/><Relationship Id="rId135" Type="http://schemas.openxmlformats.org/officeDocument/2006/relationships/slide" Target="slides/slide145.xml"/><Relationship Id="rId156" Type="http://schemas.openxmlformats.org/officeDocument/2006/relationships/slide" Target="slides/slide166.xml"/><Relationship Id="rId177" Type="http://schemas.openxmlformats.org/officeDocument/2006/relationships/slide" Target="slides/slide188.xml"/><Relationship Id="rId198" Type="http://schemas.openxmlformats.org/officeDocument/2006/relationships/slide" Target="slides/slide209.xml"/><Relationship Id="rId202" Type="http://schemas.openxmlformats.org/officeDocument/2006/relationships/slide" Target="slides/slide213.xml"/><Relationship Id="rId223" Type="http://schemas.openxmlformats.org/officeDocument/2006/relationships/slide" Target="slides/slide236.xml"/><Relationship Id="rId244" Type="http://schemas.openxmlformats.org/officeDocument/2006/relationships/slide" Target="slides/slide264.xml"/><Relationship Id="rId18" Type="http://schemas.openxmlformats.org/officeDocument/2006/relationships/slide" Target="slides/slide18.xml"/><Relationship Id="rId39" Type="http://schemas.openxmlformats.org/officeDocument/2006/relationships/slide" Target="slides/slide41.xml"/><Relationship Id="rId265" Type="http://schemas.openxmlformats.org/officeDocument/2006/relationships/slide" Target="slides/slide285.xml"/><Relationship Id="rId286" Type="http://schemas.openxmlformats.org/officeDocument/2006/relationships/slide" Target="slides/slide306.xml"/><Relationship Id="rId50" Type="http://schemas.openxmlformats.org/officeDocument/2006/relationships/slide" Target="slides/slide54.xml"/><Relationship Id="rId104" Type="http://schemas.openxmlformats.org/officeDocument/2006/relationships/slide" Target="slides/slide114.xml"/><Relationship Id="rId125" Type="http://schemas.openxmlformats.org/officeDocument/2006/relationships/slide" Target="slides/slide135.xml"/><Relationship Id="rId146" Type="http://schemas.openxmlformats.org/officeDocument/2006/relationships/slide" Target="slides/slide156.xml"/><Relationship Id="rId167" Type="http://schemas.openxmlformats.org/officeDocument/2006/relationships/slide" Target="slides/slide178.xml"/><Relationship Id="rId188" Type="http://schemas.openxmlformats.org/officeDocument/2006/relationships/slide" Target="slides/slide199.xml"/><Relationship Id="rId71" Type="http://schemas.openxmlformats.org/officeDocument/2006/relationships/slide" Target="slides/slide76.xml"/><Relationship Id="rId92" Type="http://schemas.openxmlformats.org/officeDocument/2006/relationships/slide" Target="slides/slide102.xml"/><Relationship Id="rId213" Type="http://schemas.openxmlformats.org/officeDocument/2006/relationships/slide" Target="slides/slide226.xml"/><Relationship Id="rId234" Type="http://schemas.openxmlformats.org/officeDocument/2006/relationships/slide" Target="slides/slide247.xml"/><Relationship Id="rId2" Type="http://schemas.openxmlformats.org/officeDocument/2006/relationships/slide" Target="slides/slide2.xml"/><Relationship Id="rId29" Type="http://schemas.openxmlformats.org/officeDocument/2006/relationships/slide" Target="slides/slide31.xml"/><Relationship Id="rId255" Type="http://schemas.openxmlformats.org/officeDocument/2006/relationships/slide" Target="slides/slide275.xml"/><Relationship Id="rId276" Type="http://schemas.openxmlformats.org/officeDocument/2006/relationships/slide" Target="slides/slide296.xml"/><Relationship Id="rId40" Type="http://schemas.openxmlformats.org/officeDocument/2006/relationships/slide" Target="slides/slide42.xml"/><Relationship Id="rId115" Type="http://schemas.openxmlformats.org/officeDocument/2006/relationships/slide" Target="slides/slide125.xml"/><Relationship Id="rId136" Type="http://schemas.openxmlformats.org/officeDocument/2006/relationships/slide" Target="slides/slide146.xml"/><Relationship Id="rId157" Type="http://schemas.openxmlformats.org/officeDocument/2006/relationships/slide" Target="slides/slide167.xml"/><Relationship Id="rId178" Type="http://schemas.openxmlformats.org/officeDocument/2006/relationships/slide" Target="slides/slide189.xml"/><Relationship Id="rId61" Type="http://schemas.openxmlformats.org/officeDocument/2006/relationships/slide" Target="slides/slide66.xml"/><Relationship Id="rId82" Type="http://schemas.openxmlformats.org/officeDocument/2006/relationships/slide" Target="slides/slide89.xml"/><Relationship Id="rId199" Type="http://schemas.openxmlformats.org/officeDocument/2006/relationships/slide" Target="slides/slide210.xml"/><Relationship Id="rId203" Type="http://schemas.openxmlformats.org/officeDocument/2006/relationships/slide" Target="slides/slide216.xml"/><Relationship Id="rId19" Type="http://schemas.openxmlformats.org/officeDocument/2006/relationships/slide" Target="slides/slide19.xml"/><Relationship Id="rId224" Type="http://schemas.openxmlformats.org/officeDocument/2006/relationships/slide" Target="slides/slide237.xml"/><Relationship Id="rId245" Type="http://schemas.openxmlformats.org/officeDocument/2006/relationships/slide" Target="slides/slide265.xml"/><Relationship Id="rId266" Type="http://schemas.openxmlformats.org/officeDocument/2006/relationships/slide" Target="slides/slide286.xml"/><Relationship Id="rId287" Type="http://schemas.openxmlformats.org/officeDocument/2006/relationships/slide" Target="slides/slide307.xml"/><Relationship Id="rId30" Type="http://schemas.openxmlformats.org/officeDocument/2006/relationships/slide" Target="slides/slide32.xml"/><Relationship Id="rId105" Type="http://schemas.openxmlformats.org/officeDocument/2006/relationships/slide" Target="slides/slide115.xml"/><Relationship Id="rId126" Type="http://schemas.openxmlformats.org/officeDocument/2006/relationships/slide" Target="slides/slide136.xml"/><Relationship Id="rId147" Type="http://schemas.openxmlformats.org/officeDocument/2006/relationships/slide" Target="slides/slide157.xml"/><Relationship Id="rId168" Type="http://schemas.openxmlformats.org/officeDocument/2006/relationships/slide" Target="slides/slide179.xml"/><Relationship Id="rId51" Type="http://schemas.openxmlformats.org/officeDocument/2006/relationships/slide" Target="slides/slide55.xml"/><Relationship Id="rId72" Type="http://schemas.openxmlformats.org/officeDocument/2006/relationships/slide" Target="slides/slide77.xml"/><Relationship Id="rId93" Type="http://schemas.openxmlformats.org/officeDocument/2006/relationships/slide" Target="slides/slide103.xml"/><Relationship Id="rId189" Type="http://schemas.openxmlformats.org/officeDocument/2006/relationships/slide" Target="slides/slide200.xml"/><Relationship Id="rId3" Type="http://schemas.openxmlformats.org/officeDocument/2006/relationships/slide" Target="slides/slide3.xml"/><Relationship Id="rId214" Type="http://schemas.openxmlformats.org/officeDocument/2006/relationships/slide" Target="slides/slide227.xml"/><Relationship Id="rId235" Type="http://schemas.openxmlformats.org/officeDocument/2006/relationships/slide" Target="slides/slide248.xml"/><Relationship Id="rId256" Type="http://schemas.openxmlformats.org/officeDocument/2006/relationships/slide" Target="slides/slide276.xml"/><Relationship Id="rId277" Type="http://schemas.openxmlformats.org/officeDocument/2006/relationships/slide" Target="slides/slide297.xml"/><Relationship Id="rId116" Type="http://schemas.openxmlformats.org/officeDocument/2006/relationships/slide" Target="slides/slide126.xml"/><Relationship Id="rId137" Type="http://schemas.openxmlformats.org/officeDocument/2006/relationships/slide" Target="slides/slide147.xml"/><Relationship Id="rId158" Type="http://schemas.openxmlformats.org/officeDocument/2006/relationships/slide" Target="slides/slide168.xml"/><Relationship Id="rId20" Type="http://schemas.openxmlformats.org/officeDocument/2006/relationships/slide" Target="slides/slide20.xml"/><Relationship Id="rId41" Type="http://schemas.openxmlformats.org/officeDocument/2006/relationships/slide" Target="slides/slide45.xml"/><Relationship Id="rId62" Type="http://schemas.openxmlformats.org/officeDocument/2006/relationships/slide" Target="slides/slide67.xml"/><Relationship Id="rId83" Type="http://schemas.openxmlformats.org/officeDocument/2006/relationships/slide" Target="slides/slide93.xml"/><Relationship Id="rId179" Type="http://schemas.openxmlformats.org/officeDocument/2006/relationships/slide" Target="slides/slide190.xml"/><Relationship Id="rId190" Type="http://schemas.openxmlformats.org/officeDocument/2006/relationships/slide" Target="slides/slide201.xml"/><Relationship Id="rId204" Type="http://schemas.openxmlformats.org/officeDocument/2006/relationships/slide" Target="slides/slide217.xml"/><Relationship Id="rId225" Type="http://schemas.openxmlformats.org/officeDocument/2006/relationships/slide" Target="slides/slide238.xml"/><Relationship Id="rId246" Type="http://schemas.openxmlformats.org/officeDocument/2006/relationships/slide" Target="slides/slide266.xml"/><Relationship Id="rId267" Type="http://schemas.openxmlformats.org/officeDocument/2006/relationships/slide" Target="slides/slide287.xml"/><Relationship Id="rId288" Type="http://schemas.openxmlformats.org/officeDocument/2006/relationships/slide" Target="slides/slide308.xml"/><Relationship Id="rId106" Type="http://schemas.openxmlformats.org/officeDocument/2006/relationships/slide" Target="slides/slide116.xml"/><Relationship Id="rId127" Type="http://schemas.openxmlformats.org/officeDocument/2006/relationships/slide" Target="slides/slide137.xml"/><Relationship Id="rId10" Type="http://schemas.openxmlformats.org/officeDocument/2006/relationships/slide" Target="slides/slide10.xml"/><Relationship Id="rId31" Type="http://schemas.openxmlformats.org/officeDocument/2006/relationships/slide" Target="slides/slide33.xml"/><Relationship Id="rId52" Type="http://schemas.openxmlformats.org/officeDocument/2006/relationships/slide" Target="slides/slide56.xml"/><Relationship Id="rId73" Type="http://schemas.openxmlformats.org/officeDocument/2006/relationships/slide" Target="slides/slide78.xml"/><Relationship Id="rId94" Type="http://schemas.openxmlformats.org/officeDocument/2006/relationships/slide" Target="slides/slide104.xml"/><Relationship Id="rId148" Type="http://schemas.openxmlformats.org/officeDocument/2006/relationships/slide" Target="slides/slide158.xml"/><Relationship Id="rId169" Type="http://schemas.openxmlformats.org/officeDocument/2006/relationships/slide" Target="slides/slide180.xml"/><Relationship Id="rId4" Type="http://schemas.openxmlformats.org/officeDocument/2006/relationships/slide" Target="slides/slide4.xml"/><Relationship Id="rId180" Type="http://schemas.openxmlformats.org/officeDocument/2006/relationships/slide" Target="slides/slide191.xml"/><Relationship Id="rId215" Type="http://schemas.openxmlformats.org/officeDocument/2006/relationships/slide" Target="slides/slide228.xml"/><Relationship Id="rId236" Type="http://schemas.openxmlformats.org/officeDocument/2006/relationships/slide" Target="slides/slide250.xml"/><Relationship Id="rId257" Type="http://schemas.openxmlformats.org/officeDocument/2006/relationships/slide" Target="slides/slide277.xml"/><Relationship Id="rId278" Type="http://schemas.openxmlformats.org/officeDocument/2006/relationships/slide" Target="slides/slide298.xml"/><Relationship Id="rId42" Type="http://schemas.openxmlformats.org/officeDocument/2006/relationships/slide" Target="slides/slide46.xml"/><Relationship Id="rId84" Type="http://schemas.openxmlformats.org/officeDocument/2006/relationships/slide" Target="slides/slide94.xml"/><Relationship Id="rId138" Type="http://schemas.openxmlformats.org/officeDocument/2006/relationships/slide" Target="slides/slide148.xml"/><Relationship Id="rId191" Type="http://schemas.openxmlformats.org/officeDocument/2006/relationships/slide" Target="slides/slide202.xml"/><Relationship Id="rId205" Type="http://schemas.openxmlformats.org/officeDocument/2006/relationships/slide" Target="slides/slide218.xml"/><Relationship Id="rId247" Type="http://schemas.openxmlformats.org/officeDocument/2006/relationships/slide" Target="slides/slide267.xml"/><Relationship Id="rId107" Type="http://schemas.openxmlformats.org/officeDocument/2006/relationships/slide" Target="slides/slide117.xml"/><Relationship Id="rId11" Type="http://schemas.openxmlformats.org/officeDocument/2006/relationships/slide" Target="slides/slide11.xml"/><Relationship Id="rId53" Type="http://schemas.openxmlformats.org/officeDocument/2006/relationships/slide" Target="slides/slide58.xml"/><Relationship Id="rId149" Type="http://schemas.openxmlformats.org/officeDocument/2006/relationships/slide" Target="slides/slide159.xml"/><Relationship Id="rId95" Type="http://schemas.openxmlformats.org/officeDocument/2006/relationships/slide" Target="slides/slide105.xml"/><Relationship Id="rId160" Type="http://schemas.openxmlformats.org/officeDocument/2006/relationships/slide" Target="slides/slide171.xml"/><Relationship Id="rId216" Type="http://schemas.openxmlformats.org/officeDocument/2006/relationships/slide" Target="slides/slide229.xml"/><Relationship Id="rId258" Type="http://schemas.openxmlformats.org/officeDocument/2006/relationships/slide" Target="slides/slide278.xml"/><Relationship Id="rId22" Type="http://schemas.openxmlformats.org/officeDocument/2006/relationships/slide" Target="slides/slide22.xml"/><Relationship Id="rId64" Type="http://schemas.openxmlformats.org/officeDocument/2006/relationships/slide" Target="slides/slide69.xml"/><Relationship Id="rId118" Type="http://schemas.openxmlformats.org/officeDocument/2006/relationships/slide" Target="slides/slide12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AE4713-A14D-5F4D-8515-B8A9D80C0FA1}" type="doc">
      <dgm:prSet loTypeId="urn:microsoft.com/office/officeart/2005/8/layout/cycle1" loCatId="" qsTypeId="urn:microsoft.com/office/officeart/2005/8/quickstyle/simple4#1" qsCatId="simple" csTypeId="urn:microsoft.com/office/officeart/2005/8/colors/accent1_2#1" csCatId="accent1" phldr="1"/>
      <dgm:spPr/>
      <dgm:t>
        <a:bodyPr/>
        <a:lstStyle/>
        <a:p>
          <a:endParaRPr lang="en-US"/>
        </a:p>
      </dgm:t>
    </dgm:pt>
    <dgm:pt modelId="{F28DB5D7-F285-3F4B-B878-157244510558}">
      <dgm:prSet phldrT="[Text]"/>
      <dgm:spPr/>
      <dgm:t>
        <a:bodyPr/>
        <a:lstStyle/>
        <a:p>
          <a:r>
            <a:rPr lang="en-US" dirty="0"/>
            <a:t>network and disk</a:t>
          </a:r>
        </a:p>
      </dgm:t>
    </dgm:pt>
    <dgm:pt modelId="{DA4BA29C-6C88-9142-9C8C-3201C9ACCF38}" type="parTrans" cxnId="{FD6CF22B-14D8-4947-AFEE-30ACC24DC09E}">
      <dgm:prSet/>
      <dgm:spPr/>
      <dgm:t>
        <a:bodyPr/>
        <a:lstStyle/>
        <a:p>
          <a:endParaRPr lang="en-US"/>
        </a:p>
      </dgm:t>
    </dgm:pt>
    <dgm:pt modelId="{D5349DB9-A4AC-D640-8244-ED278EE2901D}" type="sibTrans" cxnId="{FD6CF22B-14D8-4947-AFEE-30ACC24DC09E}">
      <dgm:prSet/>
      <dgm:spPr/>
      <dgm:t>
        <a:bodyPr/>
        <a:lstStyle/>
        <a:p>
          <a:endParaRPr lang="en-US"/>
        </a:p>
      </dgm:t>
    </dgm:pt>
    <dgm:pt modelId="{155997DD-D07F-804B-85DA-31C602C5D93A}">
      <dgm:prSet phldrT="[Text]"/>
      <dgm:spPr/>
      <dgm:t>
        <a:bodyPr/>
        <a:lstStyle/>
        <a:p>
          <a:r>
            <a:rPr lang="en-US" dirty="0"/>
            <a:t>setImmediate</a:t>
          </a:r>
        </a:p>
      </dgm:t>
    </dgm:pt>
    <dgm:pt modelId="{F0E5A37C-E517-524A-A3EF-7B0CD70D2439}" type="parTrans" cxnId="{C85BE93F-6E19-784E-9BF0-998128C58093}">
      <dgm:prSet/>
      <dgm:spPr/>
      <dgm:t>
        <a:bodyPr/>
        <a:lstStyle/>
        <a:p>
          <a:endParaRPr lang="en-US"/>
        </a:p>
      </dgm:t>
    </dgm:pt>
    <dgm:pt modelId="{01A70314-9B8D-E044-ACEC-40EDB78DB002}" type="sibTrans" cxnId="{C85BE93F-6E19-784E-9BF0-998128C58093}">
      <dgm:prSet/>
      <dgm:spPr/>
      <dgm:t>
        <a:bodyPr/>
        <a:lstStyle/>
        <a:p>
          <a:endParaRPr lang="en-US"/>
        </a:p>
      </dgm:t>
    </dgm:pt>
    <dgm:pt modelId="{28B0D35F-8576-874C-A46C-4821A8C5A41B}">
      <dgm:prSet phldrT="[Text]"/>
      <dgm:spPr/>
      <dgm:t>
        <a:bodyPr/>
        <a:lstStyle/>
        <a:p>
          <a:r>
            <a:rPr lang="en-US" dirty="0"/>
            <a:t>poll</a:t>
          </a:r>
        </a:p>
      </dgm:t>
    </dgm:pt>
    <dgm:pt modelId="{8E75C821-F364-5F41-BDAB-6D91C7154C8A}" type="parTrans" cxnId="{C4E2647C-B717-474C-8FB0-FB4D95A01158}">
      <dgm:prSet/>
      <dgm:spPr/>
      <dgm:t>
        <a:bodyPr/>
        <a:lstStyle/>
        <a:p>
          <a:endParaRPr lang="en-US"/>
        </a:p>
      </dgm:t>
    </dgm:pt>
    <dgm:pt modelId="{B52F71EE-39E9-044A-9ED0-4EEAE9B1791F}" type="sibTrans" cxnId="{C4E2647C-B717-474C-8FB0-FB4D95A01158}">
      <dgm:prSet/>
      <dgm:spPr/>
      <dgm:t>
        <a:bodyPr/>
        <a:lstStyle/>
        <a:p>
          <a:endParaRPr lang="en-US"/>
        </a:p>
      </dgm:t>
    </dgm:pt>
    <dgm:pt modelId="{4F1F535F-2062-FC40-8531-D34ABC69472F}">
      <dgm:prSet phldrT="[Text]"/>
      <dgm:spPr/>
      <dgm:t>
        <a:bodyPr/>
        <a:lstStyle/>
        <a:p>
          <a:r>
            <a:rPr lang="en-US" dirty="0"/>
            <a:t>timers</a:t>
          </a:r>
        </a:p>
      </dgm:t>
    </dgm:pt>
    <dgm:pt modelId="{14A26D67-9B51-D040-A938-9FF9D2754B26}" type="parTrans" cxnId="{C0BD07F2-FDFA-964C-8D2F-9B48515AF1AD}">
      <dgm:prSet/>
      <dgm:spPr/>
      <dgm:t>
        <a:bodyPr/>
        <a:lstStyle/>
        <a:p>
          <a:endParaRPr lang="en-US"/>
        </a:p>
      </dgm:t>
    </dgm:pt>
    <dgm:pt modelId="{C66780AF-F254-FE45-B16F-D2D8364E88B3}" type="sibTrans" cxnId="{C0BD07F2-FDFA-964C-8D2F-9B48515AF1AD}">
      <dgm:prSet/>
      <dgm:spPr/>
      <dgm:t>
        <a:bodyPr/>
        <a:lstStyle/>
        <a:p>
          <a:endParaRPr lang="en-US"/>
        </a:p>
      </dgm:t>
    </dgm:pt>
    <dgm:pt modelId="{3EB05BCB-5792-174F-90C4-4DAAEDD5D2D6}">
      <dgm:prSet phldrT="[Text]"/>
      <dgm:spPr/>
      <dgm:t>
        <a:bodyPr/>
        <a:lstStyle/>
        <a:p>
          <a:r>
            <a:rPr lang="en-US" dirty="0"/>
            <a:t>"close" events</a:t>
          </a:r>
        </a:p>
      </dgm:t>
    </dgm:pt>
    <dgm:pt modelId="{A3BA7DEE-4846-0948-B5D7-1F063EEF4A6C}" type="parTrans" cxnId="{5737CC00-98E0-9B4C-8AB5-C6F0D2DB7EA8}">
      <dgm:prSet/>
      <dgm:spPr/>
      <dgm:t>
        <a:bodyPr/>
        <a:lstStyle/>
        <a:p>
          <a:endParaRPr lang="en-US"/>
        </a:p>
      </dgm:t>
    </dgm:pt>
    <dgm:pt modelId="{E49D4D70-E1B0-D843-884A-AEE9DCD194CA}" type="sibTrans" cxnId="{5737CC00-98E0-9B4C-8AB5-C6F0D2DB7EA8}">
      <dgm:prSet/>
      <dgm:spPr/>
      <dgm:t>
        <a:bodyPr/>
        <a:lstStyle/>
        <a:p>
          <a:endParaRPr lang="en-US"/>
        </a:p>
      </dgm:t>
    </dgm:pt>
    <dgm:pt modelId="{F9B1A25C-2D54-6E41-AF10-99FC4E7A164A}" type="pres">
      <dgm:prSet presAssocID="{38AE4713-A14D-5F4D-8515-B8A9D80C0FA1}" presName="cycle" presStyleCnt="0">
        <dgm:presLayoutVars>
          <dgm:dir/>
          <dgm:resizeHandles val="exact"/>
        </dgm:presLayoutVars>
      </dgm:prSet>
      <dgm:spPr/>
    </dgm:pt>
    <dgm:pt modelId="{22E24D20-6978-DD47-A0D0-22CBE9777431}" type="pres">
      <dgm:prSet presAssocID="{4F1F535F-2062-FC40-8531-D34ABC69472F}" presName="dummy" presStyleCnt="0"/>
      <dgm:spPr/>
    </dgm:pt>
    <dgm:pt modelId="{5155E0D3-CC8A-B344-BA23-96B7FA7B0EFC}" type="pres">
      <dgm:prSet presAssocID="{4F1F535F-2062-FC40-8531-D34ABC69472F}" presName="node" presStyleLbl="revTx" presStyleIdx="0" presStyleCnt="5">
        <dgm:presLayoutVars>
          <dgm:bulletEnabled val="1"/>
        </dgm:presLayoutVars>
      </dgm:prSet>
      <dgm:spPr/>
    </dgm:pt>
    <dgm:pt modelId="{7228B475-E14C-9A4D-BD1E-D8DB72D86042}" type="pres">
      <dgm:prSet presAssocID="{C66780AF-F254-FE45-B16F-D2D8364E88B3}" presName="sibTrans" presStyleLbl="node1" presStyleIdx="0" presStyleCnt="5"/>
      <dgm:spPr/>
    </dgm:pt>
    <dgm:pt modelId="{74D26A3E-9692-404A-8AE6-160E9BE2BCEC}" type="pres">
      <dgm:prSet presAssocID="{F28DB5D7-F285-3F4B-B878-157244510558}" presName="dummy" presStyleCnt="0"/>
      <dgm:spPr/>
    </dgm:pt>
    <dgm:pt modelId="{55BE9641-4269-7A42-A910-426D9752779E}" type="pres">
      <dgm:prSet presAssocID="{F28DB5D7-F285-3F4B-B878-157244510558}" presName="node" presStyleLbl="revTx" presStyleIdx="1" presStyleCnt="5">
        <dgm:presLayoutVars>
          <dgm:bulletEnabled val="1"/>
        </dgm:presLayoutVars>
      </dgm:prSet>
      <dgm:spPr/>
    </dgm:pt>
    <dgm:pt modelId="{E00A5B7E-655F-8D48-AB4D-83474E764B63}" type="pres">
      <dgm:prSet presAssocID="{D5349DB9-A4AC-D640-8244-ED278EE2901D}" presName="sibTrans" presStyleLbl="node1" presStyleIdx="1" presStyleCnt="5"/>
      <dgm:spPr/>
    </dgm:pt>
    <dgm:pt modelId="{735FCADB-5A6F-0240-A073-ECB7AF53C1BD}" type="pres">
      <dgm:prSet presAssocID="{28B0D35F-8576-874C-A46C-4821A8C5A41B}" presName="dummy" presStyleCnt="0"/>
      <dgm:spPr/>
    </dgm:pt>
    <dgm:pt modelId="{33332993-8BA3-9740-BFAB-E56887F9E07D}" type="pres">
      <dgm:prSet presAssocID="{28B0D35F-8576-874C-A46C-4821A8C5A41B}" presName="node" presStyleLbl="revTx" presStyleIdx="2" presStyleCnt="5">
        <dgm:presLayoutVars>
          <dgm:bulletEnabled val="1"/>
        </dgm:presLayoutVars>
      </dgm:prSet>
      <dgm:spPr/>
    </dgm:pt>
    <dgm:pt modelId="{3651F450-6242-7541-B3F5-8A05C060CCBE}" type="pres">
      <dgm:prSet presAssocID="{B52F71EE-39E9-044A-9ED0-4EEAE9B1791F}" presName="sibTrans" presStyleLbl="node1" presStyleIdx="2" presStyleCnt="5"/>
      <dgm:spPr/>
    </dgm:pt>
    <dgm:pt modelId="{95FC53FE-6A29-3441-9531-D1D1D42D7409}" type="pres">
      <dgm:prSet presAssocID="{155997DD-D07F-804B-85DA-31C602C5D93A}" presName="dummy" presStyleCnt="0"/>
      <dgm:spPr/>
    </dgm:pt>
    <dgm:pt modelId="{35216850-AF9F-5B43-A90C-968B72138B8E}" type="pres">
      <dgm:prSet presAssocID="{155997DD-D07F-804B-85DA-31C602C5D93A}" presName="node" presStyleLbl="revTx" presStyleIdx="3" presStyleCnt="5">
        <dgm:presLayoutVars>
          <dgm:bulletEnabled val="1"/>
        </dgm:presLayoutVars>
      </dgm:prSet>
      <dgm:spPr/>
    </dgm:pt>
    <dgm:pt modelId="{50D65BF5-C8A3-554C-8CCA-99E7C86827B0}" type="pres">
      <dgm:prSet presAssocID="{01A70314-9B8D-E044-ACEC-40EDB78DB002}" presName="sibTrans" presStyleLbl="node1" presStyleIdx="3" presStyleCnt="5"/>
      <dgm:spPr/>
    </dgm:pt>
    <dgm:pt modelId="{8ABD426E-8C22-6A4E-A3A3-7AD733703762}" type="pres">
      <dgm:prSet presAssocID="{3EB05BCB-5792-174F-90C4-4DAAEDD5D2D6}" presName="dummy" presStyleCnt="0"/>
      <dgm:spPr/>
    </dgm:pt>
    <dgm:pt modelId="{AD59D848-B221-AA45-9720-A73F27E3AFF6}" type="pres">
      <dgm:prSet presAssocID="{3EB05BCB-5792-174F-90C4-4DAAEDD5D2D6}" presName="node" presStyleLbl="revTx" presStyleIdx="4" presStyleCnt="5">
        <dgm:presLayoutVars>
          <dgm:bulletEnabled val="1"/>
        </dgm:presLayoutVars>
      </dgm:prSet>
      <dgm:spPr/>
    </dgm:pt>
    <dgm:pt modelId="{D5D0369E-C7DC-5042-B0BE-3610AD682C2E}" type="pres">
      <dgm:prSet presAssocID="{E49D4D70-E1B0-D843-884A-AEE9DCD194CA}" presName="sibTrans" presStyleLbl="node1" presStyleIdx="4" presStyleCnt="5"/>
      <dgm:spPr/>
    </dgm:pt>
  </dgm:ptLst>
  <dgm:cxnLst>
    <dgm:cxn modelId="{5737CC00-98E0-9B4C-8AB5-C6F0D2DB7EA8}" srcId="{38AE4713-A14D-5F4D-8515-B8A9D80C0FA1}" destId="{3EB05BCB-5792-174F-90C4-4DAAEDD5D2D6}" srcOrd="4" destOrd="0" parTransId="{A3BA7DEE-4846-0948-B5D7-1F063EEF4A6C}" sibTransId="{E49D4D70-E1B0-D843-884A-AEE9DCD194CA}"/>
    <dgm:cxn modelId="{660DDD1C-78E1-704E-9218-C1BE54B8F0BD}" type="presOf" srcId="{E49D4D70-E1B0-D843-884A-AEE9DCD194CA}" destId="{D5D0369E-C7DC-5042-B0BE-3610AD682C2E}" srcOrd="0" destOrd="0" presId="urn:microsoft.com/office/officeart/2005/8/layout/cycle1"/>
    <dgm:cxn modelId="{8665F721-5975-BB41-A976-A72D0C5C6DAF}" type="presOf" srcId="{28B0D35F-8576-874C-A46C-4821A8C5A41B}" destId="{33332993-8BA3-9740-BFAB-E56887F9E07D}" srcOrd="0" destOrd="0" presId="urn:microsoft.com/office/officeart/2005/8/layout/cycle1"/>
    <dgm:cxn modelId="{C9C13C28-CB0A-BC4B-B809-8FD4CD7E4F67}" type="presOf" srcId="{4F1F535F-2062-FC40-8531-D34ABC69472F}" destId="{5155E0D3-CC8A-B344-BA23-96B7FA7B0EFC}" srcOrd="0" destOrd="0" presId="urn:microsoft.com/office/officeart/2005/8/layout/cycle1"/>
    <dgm:cxn modelId="{FD6CF22B-14D8-4947-AFEE-30ACC24DC09E}" srcId="{38AE4713-A14D-5F4D-8515-B8A9D80C0FA1}" destId="{F28DB5D7-F285-3F4B-B878-157244510558}" srcOrd="1" destOrd="0" parTransId="{DA4BA29C-6C88-9142-9C8C-3201C9ACCF38}" sibTransId="{D5349DB9-A4AC-D640-8244-ED278EE2901D}"/>
    <dgm:cxn modelId="{5517A52E-AF4F-214D-9908-C482AEF22CC8}" type="presOf" srcId="{C66780AF-F254-FE45-B16F-D2D8364E88B3}" destId="{7228B475-E14C-9A4D-BD1E-D8DB72D86042}" srcOrd="0" destOrd="0" presId="urn:microsoft.com/office/officeart/2005/8/layout/cycle1"/>
    <dgm:cxn modelId="{D2594D3C-2F8A-AC40-AF37-399AEC00D836}" type="presOf" srcId="{B52F71EE-39E9-044A-9ED0-4EEAE9B1791F}" destId="{3651F450-6242-7541-B3F5-8A05C060CCBE}" srcOrd="0" destOrd="0" presId="urn:microsoft.com/office/officeart/2005/8/layout/cycle1"/>
    <dgm:cxn modelId="{C85BE93F-6E19-784E-9BF0-998128C58093}" srcId="{38AE4713-A14D-5F4D-8515-B8A9D80C0FA1}" destId="{155997DD-D07F-804B-85DA-31C602C5D93A}" srcOrd="3" destOrd="0" parTransId="{F0E5A37C-E517-524A-A3EF-7B0CD70D2439}" sibTransId="{01A70314-9B8D-E044-ACEC-40EDB78DB002}"/>
    <dgm:cxn modelId="{83379F66-C98B-DA4A-8428-B25C486AD841}" type="presOf" srcId="{155997DD-D07F-804B-85DA-31C602C5D93A}" destId="{35216850-AF9F-5B43-A90C-968B72138B8E}" srcOrd="0" destOrd="0" presId="urn:microsoft.com/office/officeart/2005/8/layout/cycle1"/>
    <dgm:cxn modelId="{5DBD086C-9DA8-1844-A77E-E37971A3A9C8}" type="presOf" srcId="{D5349DB9-A4AC-D640-8244-ED278EE2901D}" destId="{E00A5B7E-655F-8D48-AB4D-83474E764B63}" srcOrd="0" destOrd="0" presId="urn:microsoft.com/office/officeart/2005/8/layout/cycle1"/>
    <dgm:cxn modelId="{C4E2647C-B717-474C-8FB0-FB4D95A01158}" srcId="{38AE4713-A14D-5F4D-8515-B8A9D80C0FA1}" destId="{28B0D35F-8576-874C-A46C-4821A8C5A41B}" srcOrd="2" destOrd="0" parTransId="{8E75C821-F364-5F41-BDAB-6D91C7154C8A}" sibTransId="{B52F71EE-39E9-044A-9ED0-4EEAE9B1791F}"/>
    <dgm:cxn modelId="{91B2E084-F5CD-3342-B831-7BBAE13CFEBF}" type="presOf" srcId="{3EB05BCB-5792-174F-90C4-4DAAEDD5D2D6}" destId="{AD59D848-B221-AA45-9720-A73F27E3AFF6}" srcOrd="0" destOrd="0" presId="urn:microsoft.com/office/officeart/2005/8/layout/cycle1"/>
    <dgm:cxn modelId="{EA923188-0C6D-EF41-A2F9-2142EA64369E}" type="presOf" srcId="{F28DB5D7-F285-3F4B-B878-157244510558}" destId="{55BE9641-4269-7A42-A910-426D9752779E}" srcOrd="0" destOrd="0" presId="urn:microsoft.com/office/officeart/2005/8/layout/cycle1"/>
    <dgm:cxn modelId="{0EC684A0-1FE2-CE42-88B4-FA0404796F88}" type="presOf" srcId="{01A70314-9B8D-E044-ACEC-40EDB78DB002}" destId="{50D65BF5-C8A3-554C-8CCA-99E7C86827B0}" srcOrd="0" destOrd="0" presId="urn:microsoft.com/office/officeart/2005/8/layout/cycle1"/>
    <dgm:cxn modelId="{F65BF4CC-F41F-4E4A-8948-0D70B79F1386}" type="presOf" srcId="{38AE4713-A14D-5F4D-8515-B8A9D80C0FA1}" destId="{F9B1A25C-2D54-6E41-AF10-99FC4E7A164A}" srcOrd="0" destOrd="0" presId="urn:microsoft.com/office/officeart/2005/8/layout/cycle1"/>
    <dgm:cxn modelId="{C0BD07F2-FDFA-964C-8D2F-9B48515AF1AD}" srcId="{38AE4713-A14D-5F4D-8515-B8A9D80C0FA1}" destId="{4F1F535F-2062-FC40-8531-D34ABC69472F}" srcOrd="0" destOrd="0" parTransId="{14A26D67-9B51-D040-A938-9FF9D2754B26}" sibTransId="{C66780AF-F254-FE45-B16F-D2D8364E88B3}"/>
    <dgm:cxn modelId="{2D445F5E-413A-B64C-A317-537B3226BA3B}" type="presParOf" srcId="{F9B1A25C-2D54-6E41-AF10-99FC4E7A164A}" destId="{22E24D20-6978-DD47-A0D0-22CBE9777431}" srcOrd="0" destOrd="0" presId="urn:microsoft.com/office/officeart/2005/8/layout/cycle1"/>
    <dgm:cxn modelId="{FD0D5487-77E3-7948-89DB-6B1C63E6EA03}" type="presParOf" srcId="{F9B1A25C-2D54-6E41-AF10-99FC4E7A164A}" destId="{5155E0D3-CC8A-B344-BA23-96B7FA7B0EFC}" srcOrd="1" destOrd="0" presId="urn:microsoft.com/office/officeart/2005/8/layout/cycle1"/>
    <dgm:cxn modelId="{B0B448DD-5D7A-9F40-A48F-5661731A6E84}" type="presParOf" srcId="{F9B1A25C-2D54-6E41-AF10-99FC4E7A164A}" destId="{7228B475-E14C-9A4D-BD1E-D8DB72D86042}" srcOrd="2" destOrd="0" presId="urn:microsoft.com/office/officeart/2005/8/layout/cycle1"/>
    <dgm:cxn modelId="{BC227C2D-2084-FD46-AB03-6999EA984F43}" type="presParOf" srcId="{F9B1A25C-2D54-6E41-AF10-99FC4E7A164A}" destId="{74D26A3E-9692-404A-8AE6-160E9BE2BCEC}" srcOrd="3" destOrd="0" presId="urn:microsoft.com/office/officeart/2005/8/layout/cycle1"/>
    <dgm:cxn modelId="{727B67CA-EFF1-D44E-A910-E76F035894EB}" type="presParOf" srcId="{F9B1A25C-2D54-6E41-AF10-99FC4E7A164A}" destId="{55BE9641-4269-7A42-A910-426D9752779E}" srcOrd="4" destOrd="0" presId="urn:microsoft.com/office/officeart/2005/8/layout/cycle1"/>
    <dgm:cxn modelId="{9459E5BE-928D-6D45-A6DE-D716E7F288FB}" type="presParOf" srcId="{F9B1A25C-2D54-6E41-AF10-99FC4E7A164A}" destId="{E00A5B7E-655F-8D48-AB4D-83474E764B63}" srcOrd="5" destOrd="0" presId="urn:microsoft.com/office/officeart/2005/8/layout/cycle1"/>
    <dgm:cxn modelId="{F78C4D3A-A49C-AE4C-A5C3-F2D1EF5A5495}" type="presParOf" srcId="{F9B1A25C-2D54-6E41-AF10-99FC4E7A164A}" destId="{735FCADB-5A6F-0240-A073-ECB7AF53C1BD}" srcOrd="6" destOrd="0" presId="urn:microsoft.com/office/officeart/2005/8/layout/cycle1"/>
    <dgm:cxn modelId="{2CB52238-FBBB-8247-A4D2-BD34DB7332F7}" type="presParOf" srcId="{F9B1A25C-2D54-6E41-AF10-99FC4E7A164A}" destId="{33332993-8BA3-9740-BFAB-E56887F9E07D}" srcOrd="7" destOrd="0" presId="urn:microsoft.com/office/officeart/2005/8/layout/cycle1"/>
    <dgm:cxn modelId="{18922DF6-06AC-4740-A9DB-C20E3338332C}" type="presParOf" srcId="{F9B1A25C-2D54-6E41-AF10-99FC4E7A164A}" destId="{3651F450-6242-7541-B3F5-8A05C060CCBE}" srcOrd="8" destOrd="0" presId="urn:microsoft.com/office/officeart/2005/8/layout/cycle1"/>
    <dgm:cxn modelId="{CB337491-62B5-2D47-BDB5-5CF5C5BC32FE}" type="presParOf" srcId="{F9B1A25C-2D54-6E41-AF10-99FC4E7A164A}" destId="{95FC53FE-6A29-3441-9531-D1D1D42D7409}" srcOrd="9" destOrd="0" presId="urn:microsoft.com/office/officeart/2005/8/layout/cycle1"/>
    <dgm:cxn modelId="{75C527E4-3AF3-F54F-BCE3-60A78797EFD5}" type="presParOf" srcId="{F9B1A25C-2D54-6E41-AF10-99FC4E7A164A}" destId="{35216850-AF9F-5B43-A90C-968B72138B8E}" srcOrd="10" destOrd="0" presId="urn:microsoft.com/office/officeart/2005/8/layout/cycle1"/>
    <dgm:cxn modelId="{BE2DBD7B-AD3B-4345-8E60-D51768807B2C}" type="presParOf" srcId="{F9B1A25C-2D54-6E41-AF10-99FC4E7A164A}" destId="{50D65BF5-C8A3-554C-8CCA-99E7C86827B0}" srcOrd="11" destOrd="0" presId="urn:microsoft.com/office/officeart/2005/8/layout/cycle1"/>
    <dgm:cxn modelId="{1B15E4E5-50AD-1A4B-A3B9-41A34571606F}" type="presParOf" srcId="{F9B1A25C-2D54-6E41-AF10-99FC4E7A164A}" destId="{8ABD426E-8C22-6A4E-A3A3-7AD733703762}" srcOrd="12" destOrd="0" presId="urn:microsoft.com/office/officeart/2005/8/layout/cycle1"/>
    <dgm:cxn modelId="{FBB0377D-DB66-0349-8CB9-BF8A397EA732}" type="presParOf" srcId="{F9B1A25C-2D54-6E41-AF10-99FC4E7A164A}" destId="{AD59D848-B221-AA45-9720-A73F27E3AFF6}" srcOrd="13" destOrd="0" presId="urn:microsoft.com/office/officeart/2005/8/layout/cycle1"/>
    <dgm:cxn modelId="{4A1B0133-3284-C742-BDAC-BDFCB064AD8A}" type="presParOf" srcId="{F9B1A25C-2D54-6E41-AF10-99FC4E7A164A}" destId="{D5D0369E-C7DC-5042-B0BE-3610AD682C2E}"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5E0D3-CC8A-B344-BA23-96B7FA7B0EFC}">
      <dsp:nvSpPr>
        <dsp:cNvPr id="0" name=""/>
        <dsp:cNvSpPr/>
      </dsp:nvSpPr>
      <dsp:spPr>
        <a:xfrm>
          <a:off x="430345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timers</a:t>
          </a:r>
        </a:p>
      </dsp:txBody>
      <dsp:txXfrm>
        <a:off x="4303458" y="35013"/>
        <a:ext cx="1190494" cy="1190494"/>
      </dsp:txXfrm>
    </dsp:sp>
    <dsp:sp modelId="{7228B475-E14C-9A4D-BD1E-D8DB72D86042}">
      <dsp:nvSpPr>
        <dsp:cNvPr id="0" name=""/>
        <dsp:cNvSpPr/>
      </dsp:nvSpPr>
      <dsp:spPr>
        <a:xfrm>
          <a:off x="1500292" y="248"/>
          <a:ext cx="4466896" cy="4466896"/>
        </a:xfrm>
        <a:prstGeom prst="circularArrow">
          <a:avLst>
            <a:gd name="adj1" fmla="val 5197"/>
            <a:gd name="adj2" fmla="val 335686"/>
            <a:gd name="adj3" fmla="val 21294167"/>
            <a:gd name="adj4" fmla="val 19765428"/>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5BE9641-4269-7A42-A910-426D9752779E}">
      <dsp:nvSpPr>
        <dsp:cNvPr id="0" name=""/>
        <dsp:cNvSpPr/>
      </dsp:nvSpPr>
      <dsp:spPr>
        <a:xfrm>
          <a:off x="5023446"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network and disk</a:t>
          </a:r>
        </a:p>
      </dsp:txBody>
      <dsp:txXfrm>
        <a:off x="5023446" y="2250908"/>
        <a:ext cx="1190494" cy="1190494"/>
      </dsp:txXfrm>
    </dsp:sp>
    <dsp:sp modelId="{E00A5B7E-655F-8D48-AB4D-83474E764B63}">
      <dsp:nvSpPr>
        <dsp:cNvPr id="0" name=""/>
        <dsp:cNvSpPr/>
      </dsp:nvSpPr>
      <dsp:spPr>
        <a:xfrm>
          <a:off x="1500292" y="248"/>
          <a:ext cx="4466896" cy="4466896"/>
        </a:xfrm>
        <a:prstGeom prst="circularArrow">
          <a:avLst>
            <a:gd name="adj1" fmla="val 5197"/>
            <a:gd name="adj2" fmla="val 335686"/>
            <a:gd name="adj3" fmla="val 4015657"/>
            <a:gd name="adj4" fmla="val 2252552"/>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3332993-8BA3-9740-BFAB-E56887F9E07D}">
      <dsp:nvSpPr>
        <dsp:cNvPr id="0" name=""/>
        <dsp:cNvSpPr/>
      </dsp:nvSpPr>
      <dsp:spPr>
        <a:xfrm>
          <a:off x="3138493" y="3620406"/>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poll</a:t>
          </a:r>
        </a:p>
      </dsp:txBody>
      <dsp:txXfrm>
        <a:off x="3138493" y="3620406"/>
        <a:ext cx="1190494" cy="1190494"/>
      </dsp:txXfrm>
    </dsp:sp>
    <dsp:sp modelId="{3651F450-6242-7541-B3F5-8A05C060CCBE}">
      <dsp:nvSpPr>
        <dsp:cNvPr id="0" name=""/>
        <dsp:cNvSpPr/>
      </dsp:nvSpPr>
      <dsp:spPr>
        <a:xfrm>
          <a:off x="1500292" y="248"/>
          <a:ext cx="4466896" cy="4466896"/>
        </a:xfrm>
        <a:prstGeom prst="circularArrow">
          <a:avLst>
            <a:gd name="adj1" fmla="val 5197"/>
            <a:gd name="adj2" fmla="val 335686"/>
            <a:gd name="adj3" fmla="val 8211762"/>
            <a:gd name="adj4" fmla="val 644865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5216850-AF9F-5B43-A90C-968B72138B8E}">
      <dsp:nvSpPr>
        <dsp:cNvPr id="0" name=""/>
        <dsp:cNvSpPr/>
      </dsp:nvSpPr>
      <dsp:spPr>
        <a:xfrm>
          <a:off x="1253541"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setImmediate</a:t>
          </a:r>
        </a:p>
      </dsp:txBody>
      <dsp:txXfrm>
        <a:off x="1253541" y="2250908"/>
        <a:ext cx="1190494" cy="1190494"/>
      </dsp:txXfrm>
    </dsp:sp>
    <dsp:sp modelId="{50D65BF5-C8A3-554C-8CCA-99E7C86827B0}">
      <dsp:nvSpPr>
        <dsp:cNvPr id="0" name=""/>
        <dsp:cNvSpPr/>
      </dsp:nvSpPr>
      <dsp:spPr>
        <a:xfrm>
          <a:off x="1500292" y="248"/>
          <a:ext cx="4466896" cy="4466896"/>
        </a:xfrm>
        <a:prstGeom prst="circularArrow">
          <a:avLst>
            <a:gd name="adj1" fmla="val 5197"/>
            <a:gd name="adj2" fmla="val 335686"/>
            <a:gd name="adj3" fmla="val 12298886"/>
            <a:gd name="adj4" fmla="val 1077014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D59D848-B221-AA45-9720-A73F27E3AFF6}">
      <dsp:nvSpPr>
        <dsp:cNvPr id="0" name=""/>
        <dsp:cNvSpPr/>
      </dsp:nvSpPr>
      <dsp:spPr>
        <a:xfrm>
          <a:off x="197352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"close" events</a:t>
          </a:r>
        </a:p>
      </dsp:txBody>
      <dsp:txXfrm>
        <a:off x="1973528" y="35013"/>
        <a:ext cx="1190494" cy="1190494"/>
      </dsp:txXfrm>
    </dsp:sp>
    <dsp:sp modelId="{D5D0369E-C7DC-5042-B0BE-3610AD682C2E}">
      <dsp:nvSpPr>
        <dsp:cNvPr id="0" name=""/>
        <dsp:cNvSpPr/>
      </dsp:nvSpPr>
      <dsp:spPr>
        <a:xfrm>
          <a:off x="1500292" y="248"/>
          <a:ext cx="4466896" cy="4466896"/>
        </a:xfrm>
        <a:prstGeom prst="circularArrow">
          <a:avLst>
            <a:gd name="adj1" fmla="val 5197"/>
            <a:gd name="adj2" fmla="val 335686"/>
            <a:gd name="adj3" fmla="val 16866643"/>
            <a:gd name="adj4" fmla="val 15197671"/>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4FF009-9F88-194D-A2AD-FA18CB0F2480}" type="datetime1">
              <a:rPr lang="en-US" smtClean="0"/>
              <a:t>10/9/26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25DA05-135C-B149-9A52-79297AF95183}" type="slidenum">
              <a:rPr lang="en-US" smtClean="0"/>
              <a:t>‹#›</a:t>
            </a:fld>
            <a:endParaRPr lang="en-US"/>
          </a:p>
        </p:txBody>
      </p:sp>
    </p:spTree>
    <p:extLst>
      <p:ext uri="{BB962C8B-B14F-4D97-AF65-F5344CB8AC3E}">
        <p14:creationId xmlns:p14="http://schemas.microsoft.com/office/powerpoint/2010/main" val="6795731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5864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TIMING:</a:t>
            </a:r>
            <a:r>
              <a:rPr dirty="0"/>
              <a:t> Day 1, 8:30. Have this slide up while people arrive.</a:t>
            </a:r>
            <a:endParaRPr lang="en-US" dirty="0"/>
          </a:p>
          <a:p>
            <a:r>
              <a:rPr b="1" dirty="0"/>
              <a:t>DO:</a:t>
            </a:r>
            <a:r>
              <a:rPr dirty="0"/>
              <a:t> Before class starts, confirm every student can run `node -v` and sees 20.19+ or 22.12+. Vite 8 will refuse to start on anything older, and fixing Node versions mid-lab costs far more time than doing it now.</a:t>
            </a:r>
          </a:p>
          <a:p>
            <a:r>
              <a:rPr b="1" dirty="0"/>
              <a:t>DO:</a:t>
            </a:r>
            <a:r>
              <a:rPr dirty="0"/>
              <a:t> Put the repo URL somewhere visible (chat or whiteboard): https://</a:t>
            </a:r>
            <a:r>
              <a:rPr dirty="0" err="1"/>
              <a:t>github.com</a:t>
            </a:r>
            <a:r>
              <a:rPr dirty="0"/>
              <a:t>/</a:t>
            </a:r>
            <a:r>
              <a:rPr dirty="0" err="1"/>
              <a:t>watzthisco</a:t>
            </a:r>
            <a:r>
              <a:rPr dirty="0"/>
              <a:t>/pro-</a:t>
            </a:r>
            <a:r>
              <a:rPr dirty="0" err="1"/>
              <a:t>vue</a:t>
            </a:r>
            <a:r>
              <a:rPr dirty="0"/>
              <a:t> — the solutions folder has a finished version of every lab, so nobody gets permanently stuck.</a:t>
            </a:r>
          </a:p>
          <a:p>
            <a:r>
              <a:rPr b="1" dirty="0"/>
              <a:t>SAY:</a:t>
            </a:r>
            <a:r>
              <a:rPr dirty="0"/>
              <a:t> Welcome to Professional </a:t>
            </a:r>
            <a:r>
              <a:rPr dirty="0" err="1"/>
              <a:t>Vue.js</a:t>
            </a:r>
            <a:r>
              <a:rPr dirty="0"/>
              <a:t> Development. Over the next three days we'll go from "what is Vue?" to a working, tested, routed, store-backed single-page app built on the current Vue 3 toolchain.</a:t>
            </a:r>
          </a:p>
        </p:txBody>
      </p:sp>
      <p:sp>
        <p:nvSpPr>
          <p:cNvPr id="4" name="Slide Number Placeholder 3"/>
          <p:cNvSpPr>
            <a:spLocks noGrp="1"/>
          </p:cNvSpPr>
          <p:nvPr>
            <p:ph type="sldNum" sz="quarter" idx="10"/>
          </p:nvPr>
        </p:nvSpPr>
        <p:spPr/>
        <p:txBody>
          <a:bodyPr/>
          <a:lstStyle/>
          <a:p>
            <a:fld id="{71770EAF-1B7F-084E-BE5F-E1B515CBCD96}" type="slidenum">
              <a:rPr lang="en-US" smtClean="0"/>
              <a:t>1</a:t>
            </a:fld>
            <a:endParaRPr lang="en-US" dirty="0"/>
          </a:p>
        </p:txBody>
      </p:sp>
    </p:spTree>
    <p:extLst>
      <p:ext uri="{BB962C8B-B14F-4D97-AF65-F5344CB8AC3E}">
        <p14:creationId xmlns:p14="http://schemas.microsoft.com/office/powerpoint/2010/main" val="367031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60 minutes for this part, including Labs 01 and 02.</a:t>
            </a:r>
          </a:p>
          <a:p>
            <a:r>
              <a:rPr b="1"/>
              <a:t>SAY:</a:t>
            </a:r>
            <a:r>
              <a:t> We'll start with introductions and the schedule, then look at what Vue is and why it's designed the way it is, and finish by scaffolding a real Vite project you'll keep building on for the rest of the course.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Before we touch any code, let's get to know each other and set expectations for how the days will run.</a:t>
            </a:r>
            <a:endParaRPr lang="en-US" dirty="0"/>
          </a:p>
          <a:p>
            <a:r>
              <a:rPr b="1"/>
              <a:t>TIP:</a:t>
            </a:r>
            <a:r>
              <a:t> Keep this part brisk (10-15 minutes total). The introductions on slide 5 are where you learn what this group needs; take notes on JavaScript levels so you know how much of the optional JavaScript review appendix to use.</a:t>
            </a:r>
          </a:p>
        </p:txBody>
      </p:sp>
      <p:sp>
        <p:nvSpPr>
          <p:cNvPr id="4" name="Slide Number Placeholder 3"/>
          <p:cNvSpPr>
            <a:spLocks noGrp="1"/>
          </p:cNvSpPr>
          <p:nvPr>
            <p:ph type="sldNum" sz="quarter" idx="10"/>
          </p:nvPr>
        </p:nvSpPr>
        <p:spPr/>
        <p:txBody>
          <a:bodyPr/>
          <a:lstStyle/>
          <a:p>
            <a:fld id="{71770EAF-1B7F-084E-BE5F-E1B515CBCD96}" type="slidenum">
              <a:rPr lang="en-US" smtClean="0"/>
              <a:t>3</a:t>
            </a:fld>
            <a:endParaRPr lang="en-US" dirty="0"/>
          </a:p>
        </p:txBody>
      </p:sp>
    </p:spTree>
    <p:extLst>
      <p:ext uri="{BB962C8B-B14F-4D97-AF65-F5344CB8AC3E}">
        <p14:creationId xmlns:p14="http://schemas.microsoft.com/office/powerpoint/2010/main" val="2940319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minute or two about yourself. The point isn't the resume; it's to tell the class you write and teach this material for a living, so questions that go beyond the slides are welcome.</a:t>
            </a:r>
            <a:endParaRPr lang="en-US" dirty="0"/>
          </a:p>
          <a:p>
            <a:r>
              <a:rPr b="1"/>
              <a:t>TIP:</a:t>
            </a:r>
            <a:r>
              <a:t> Mention that you'll be live-coding demos and that mistakes during demos are part of the lesson: reading error messages out loud is one of the most useful things students can watch.</a:t>
            </a:r>
          </a:p>
        </p:txBody>
      </p:sp>
      <p:sp>
        <p:nvSpPr>
          <p:cNvPr id="4" name="Slide Number Placeholder 3"/>
          <p:cNvSpPr>
            <a:spLocks noGrp="1"/>
          </p:cNvSpPr>
          <p:nvPr>
            <p:ph type="sldNum" sz="quarter" idx="5"/>
          </p:nvPr>
        </p:nvSpPr>
        <p:spPr/>
        <p:txBody>
          <a:bodyPr/>
          <a:lstStyle/>
          <a:p>
            <a:fld id="{01283FAC-A721-45A3-BBDE-EAF2B09B7CD9}" type="slidenum">
              <a:rPr lang="en-US" smtClean="0"/>
              <a:t>4</a:t>
            </a:fld>
            <a:endParaRPr lang="en-US"/>
          </a:p>
        </p:txBody>
      </p:sp>
    </p:spTree>
    <p:extLst>
      <p:ext uri="{BB962C8B-B14F-4D97-AF65-F5344CB8AC3E}">
        <p14:creationId xmlns:p14="http://schemas.microsoft.com/office/powerpoint/2010/main" val="2028558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DO:</a:t>
            </a:r>
            <a:r>
              <a:t> Go around the room (or the call). Ask everyone to answer every question.</a:t>
            </a:r>
            <a:endParaRPr lang="en-US" dirty="0"/>
          </a:p>
          <a:p>
            <a:r>
              <a:rPr b="1"/>
              <a:t>DO:</a:t>
            </a:r>
            <a:r>
              <a:t> Write down each person's JavaScript level and their "what do you want to know" answer. Use them to decide:</a:t>
            </a:r>
          </a:p>
          <a:p>
            <a:r>
              <a:t>- How much of the JavaScript review appendix (slides 262-307) to use, and when.</a:t>
            </a:r>
          </a:p>
          <a:p>
            <a:r>
              <a:t>- Which topics deserve extra time (people often ask about testing, state management, or migrating from Vue 2).</a:t>
            </a:r>
          </a:p>
          <a:p>
            <a:r>
              <a:rPr b="1"/>
              <a:t>TIP:</a:t>
            </a:r>
            <a:r>
              <a:t> If someone mentions a Vue 2 codebase, promise to call out "what changed from Vue 2" as we go. The slides flag those differences throughout.</a:t>
            </a:r>
          </a:p>
        </p:txBody>
      </p:sp>
      <p:sp>
        <p:nvSpPr>
          <p:cNvPr id="4" name="Slide Number Placeholder 3"/>
          <p:cNvSpPr>
            <a:spLocks noGrp="1"/>
          </p:cNvSpPr>
          <p:nvPr>
            <p:ph type="sldNum" sz="quarter" idx="10"/>
          </p:nvPr>
        </p:nvSpPr>
        <p:spPr/>
        <p:txBody>
          <a:bodyPr/>
          <a:lstStyle/>
          <a:p>
            <a:fld id="{71770EAF-1B7F-084E-BE5F-E1B515CBCD96}" type="slidenum">
              <a:rPr lang="en-US" smtClean="0"/>
              <a:t>5</a:t>
            </a:fld>
            <a:endParaRPr lang="en-US" dirty="0"/>
          </a:p>
        </p:txBody>
      </p:sp>
    </p:spTree>
    <p:extLst>
      <p:ext uri="{BB962C8B-B14F-4D97-AF65-F5344CB8AC3E}">
        <p14:creationId xmlns:p14="http://schemas.microsoft.com/office/powerpoint/2010/main" val="4064437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rough plan. We'll take breaks at natural stopping points, which may shift by a few minutes depending on where we are in a lab.</a:t>
            </a:r>
            <a:endParaRPr lang="en-US" dirty="0"/>
          </a:p>
          <a:p>
            <a:r>
              <a:rPr b="1"/>
              <a:t>DO:</a:t>
            </a:r>
            <a:r>
              <a:t> Adjust the times and time zone on this slide for your class before you start. (The original said "CMT"; if you're teaching on Central Time, CT is the usual abbreviation.)</a:t>
            </a:r>
          </a:p>
          <a:p>
            <a:r>
              <a:rPr b="1"/>
              <a:t>TIP:</a:t>
            </a:r>
            <a:r>
              <a:t> Labs are where most of the learning happens. If a lab is running long, it's usually better to shorten the next lecture than to cut the lab off.</a:t>
            </a:r>
          </a:p>
        </p:txBody>
      </p:sp>
      <p:sp>
        <p:nvSpPr>
          <p:cNvPr id="4" name="Slide Number Placeholder 3"/>
          <p:cNvSpPr>
            <a:spLocks noGrp="1"/>
          </p:cNvSpPr>
          <p:nvPr>
            <p:ph type="sldNum" sz="quarter" idx="10"/>
          </p:nvPr>
        </p:nvSpPr>
        <p:spPr/>
        <p:txBody>
          <a:bodyPr/>
          <a:lstStyle/>
          <a:p>
            <a:fld id="{71770EAF-1B7F-084E-BE5F-E1B515CBCD96}" type="slidenum">
              <a:rPr lang="en-US" smtClean="0"/>
              <a:t>6</a:t>
            </a:fld>
            <a:endParaRPr lang="en-US" dirty="0"/>
          </a:p>
        </p:txBody>
      </p:sp>
    </p:spTree>
    <p:extLst>
      <p:ext uri="{BB962C8B-B14F-4D97-AF65-F5344CB8AC3E}">
        <p14:creationId xmlns:p14="http://schemas.microsoft.com/office/powerpoint/2010/main" val="397308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Day 1 is the foundation: the tooling every modern front-end project runs on, and your first components. Day 2 is core Vue: templates, directives, reactivity, events, lifecycle, forms. Day 3 is building real applications: components in depth, composables, Pinia, routing, talking to an API, and testing.</a:t>
            </a:r>
            <a:endParaRPr lang="en-US" dirty="0"/>
          </a:p>
          <a:p>
            <a:r>
              <a:rPr b="1"/>
              <a:t>SAY:</a:t>
            </a:r>
            <a:r>
              <a:t> The whole time we'll be building one app, a clone of Medium called Conduit, so each lab adds a feature to something real rather than a throwaway exercise.</a:t>
            </a:r>
          </a:p>
          <a:p>
            <a:r>
              <a:rPr b="1"/>
              <a:t>TIP:</a:t>
            </a:r>
            <a:r>
              <a:t> If this is a shorter class, say so here and tell students which parts you'll cover lightly (usually the Node/npm/tooling material and the JavaScript review).</a:t>
            </a:r>
          </a:p>
        </p:txBody>
      </p:sp>
      <p:sp>
        <p:nvSpPr>
          <p:cNvPr id="4" name="Slide Number Placeholder 3"/>
          <p:cNvSpPr>
            <a:spLocks noGrp="1"/>
          </p:cNvSpPr>
          <p:nvPr>
            <p:ph type="sldNum" sz="quarter" idx="10"/>
          </p:nvPr>
        </p:nvSpPr>
        <p:spPr/>
        <p:txBody>
          <a:bodyPr/>
          <a:lstStyle/>
          <a:p>
            <a:fld id="{71770EAF-1B7F-084E-BE5F-E1B515CBCD96}" type="slidenum">
              <a:rPr lang="en-US" smtClean="0"/>
              <a:t>7</a:t>
            </a:fld>
            <a:endParaRPr lang="en-US" dirty="0"/>
          </a:p>
        </p:txBody>
      </p:sp>
    </p:spTree>
    <p:extLst>
      <p:ext uri="{BB962C8B-B14F-4D97-AF65-F5344CB8AC3E}">
        <p14:creationId xmlns:p14="http://schemas.microsoft.com/office/powerpoint/2010/main" val="151978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Vue code is modern JavaScript. Almost every Vue file uses arrow functions, destructuring, modules and async/await, so students who are shaky on these will struggle with the Vue syntax for reasons that have nothing to do with Vue.</a:t>
            </a:r>
            <a:endParaRPr lang="en-US" dirty="0"/>
          </a:p>
          <a:p>
            <a:r>
              <a:rPr b="1"/>
              <a:t>SAY:</a:t>
            </a:r>
            <a:r>
              <a:t> ES2015 was the huge release that turned JavaScript into the language we use now. Since then, a smaller version comes out every June, named for the year.</a:t>
            </a:r>
          </a:p>
          <a:p>
            <a:r>
              <a:rPr b="1"/>
              <a:t>SAY:</a:t>
            </a:r>
            <a:r>
              <a:t> You'll see optional chaining (`?.`) and nullish coalescing (`??`) constantly in Vue code. For example, `article.author?.username ?? 'anonymous'`.</a:t>
            </a:r>
          </a:p>
          <a:p>
            <a:r>
              <a:rPr b="1"/>
              <a:t>DO:</a:t>
            </a:r>
            <a:r>
              <a:t> Based on the introductions, decide now whether to teach parts of the JavaScript review appendix (slides 262-307) before Day 2. A good trigger: if more than one person rated themselves a JavaScript beginner, do the arrow function, destructuring, modules and promises slides at the end of Day 1.</a:t>
            </a:r>
          </a:p>
        </p:txBody>
      </p:sp>
      <p:sp>
        <p:nvSpPr>
          <p:cNvPr id="4" name="Slide Number Placeholder 3"/>
          <p:cNvSpPr>
            <a:spLocks noGrp="1"/>
          </p:cNvSpPr>
          <p:nvPr>
            <p:ph type="sldNum" sz="quarter" idx="10"/>
          </p:nvPr>
        </p:nvSpPr>
        <p:spPr/>
        <p:txBody>
          <a:bodyPr/>
          <a:lstStyle/>
          <a:p>
            <a:fld id="{71770EAF-1B7F-084E-BE5F-E1B515CBCD96}" type="slidenum">
              <a:rPr lang="en-US" smtClean="0"/>
              <a:t>8</a:t>
            </a:fld>
            <a:endParaRPr lang="en-US" dirty="0"/>
          </a:p>
        </p:txBody>
      </p:sp>
    </p:spTree>
    <p:extLst>
      <p:ext uri="{BB962C8B-B14F-4D97-AF65-F5344CB8AC3E}">
        <p14:creationId xmlns:p14="http://schemas.microsoft.com/office/powerpoint/2010/main" val="1229478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b="1"/>
              <a:t>KEY POINT:</a:t>
            </a:r>
            <a:r>
              <a:t> The thing that makes Vue different from other front-end frameworks is its philosophy of incremental adoption.</a:t>
            </a:r>
          </a:p>
          <a:p>
            <a:r>
              <a:rPr b="1"/>
              <a:t>SAY:</a:t>
            </a:r>
            <a:r>
              <a:t> You don't have to buy into an entire ecosystem to start using Vue. You can drop it into an existing page with a script tag and enhance one widget. As your needs grow, the same Vue scales up to a full build with single-file components, routing, a store and tests. The official tools for each of those layers come from the Vue team, so they fit together.</a:t>
            </a:r>
          </a:p>
          <a:p>
            <a:r>
              <a:rPr b="1"/>
              <a:t>ASK:</a:t>
            </a:r>
            <a:r>
              <a:t> Who here is adding Vue to an existing app, and who is starting something new? Both are common, and Vue handles both well.</a:t>
            </a:r>
          </a:p>
        </p:txBody>
      </p:sp>
      <p:sp>
        <p:nvSpPr>
          <p:cNvPr id="4" name="Slide Number Placeholder 3"/>
          <p:cNvSpPr>
            <a:spLocks noGrp="1"/>
          </p:cNvSpPr>
          <p:nvPr>
            <p:ph type="sldNum" sz="quarter" idx="5"/>
          </p:nvPr>
        </p:nvSpPr>
        <p:spPr/>
        <p:txBody>
          <a:bodyPr/>
          <a:lstStyle/>
          <a:p>
            <a:fld id="{71770EAF-1B7F-084E-BE5F-E1B515CBCD96}" type="slidenum">
              <a:rPr lang="en-US" smtClean="0"/>
              <a:t>9</a:t>
            </a:fld>
            <a:endParaRPr lang="en-US" dirty="0"/>
          </a:p>
        </p:txBody>
      </p:sp>
    </p:spTree>
    <p:extLst>
      <p:ext uri="{BB962C8B-B14F-4D97-AF65-F5344CB8AC3E}">
        <p14:creationId xmlns:p14="http://schemas.microsoft.com/office/powerpoint/2010/main" val="463042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b="1"/>
              <a:t>SAY:</a:t>
            </a:r>
            <a:r>
              <a:t> "Reactive" in front-end development means the page changes in response to changes in data. Every modern view library does this; the differences are in how.</a:t>
            </a:r>
          </a:p>
          <a:p>
            <a:r>
              <a:rPr b="1"/>
              <a:t>SAY:</a:t>
            </a:r>
            <a:r>
              <a:t> Think of a spreadsheet. If cell C1 is =A1+B1 and you change A1, C1 updates by itself. You declared the relationship once, and the spreadsheet maintains it. Vue does the same thing for your page: the template declares how the page depends on state, and Vue keeps the page in sync.</a:t>
            </a:r>
          </a:p>
          <a:p>
            <a:r>
              <a:rPr b="1"/>
              <a:t>KEY POINT:</a:t>
            </a:r>
            <a:r>
              <a:t> In Vue, reactivity is automatic and fine-grained. Vue records which state each component reads while rendering. When that state changes, Vue re-renders only those components. In React, by contrast, you call a setter function and React re-renders the component and its children.</a:t>
            </a:r>
          </a:p>
          <a:p>
            <a:r>
              <a:rPr b="1"/>
              <a:t>TRANSITION:</a:t>
            </a:r>
            <a:r>
              <a:t> Next, a bit of history on where Vue came from.</a:t>
            </a:r>
          </a:p>
        </p:txBody>
      </p:sp>
      <p:sp>
        <p:nvSpPr>
          <p:cNvPr id="4" name="Slide Number Placeholder 3"/>
          <p:cNvSpPr>
            <a:spLocks noGrp="1"/>
          </p:cNvSpPr>
          <p:nvPr>
            <p:ph type="sldNum" sz="quarter" idx="5"/>
          </p:nvPr>
        </p:nvSpPr>
        <p:spPr/>
        <p:txBody>
          <a:bodyPr/>
          <a:lstStyle/>
          <a:p>
            <a:fld id="{71770EAF-1B7F-084E-BE5F-E1B515CBCD96}" type="slidenum">
              <a:rPr lang="en-US" smtClean="0"/>
              <a:t>10</a:t>
            </a:fld>
            <a:endParaRPr lang="en-US" dirty="0"/>
          </a:p>
        </p:txBody>
      </p:sp>
    </p:spTree>
    <p:extLst>
      <p:ext uri="{BB962C8B-B14F-4D97-AF65-F5344CB8AC3E}">
        <p14:creationId xmlns:p14="http://schemas.microsoft.com/office/powerpoint/2010/main" val="399499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Evan You liked AngularJS's templates and data binding, but found the framework heavy. Vue started as "the good parts, lightweight".</a:t>
            </a:r>
            <a:endParaRPr lang="en-US" dirty="0"/>
          </a:p>
          <a:p>
            <a:r>
              <a:rPr b="1"/>
              <a:t>KEY POINT:</a:t>
            </a:r>
            <a:r>
              <a:t> Vue 2 is end of life. It gets no security fixes unless you pay for extended support. Everything in this course is Vue 3. If students maintain a Vue 2 app, the "Vue 2" notes on many slides will help them migrate.</a:t>
            </a:r>
          </a:p>
          <a:p>
            <a:r>
              <a:rPr b="1"/>
              <a:t>IF ASKED:</a:t>
            </a:r>
            <a:r>
              <a:t> What is Vapor Mode? It's an alternative compilation strategy, opt-in per component, that compiles templates to direct DOM operations instead of a virtual DOM. Your component code stays the same; it's a performance option. As of fall 2026, Vue 3.6 is still a release candidate, so we're using Vue 3.5 in class. Check the Vue blog for the current status.</a:t>
            </a:r>
          </a:p>
        </p:txBody>
      </p:sp>
      <p:sp>
        <p:nvSpPr>
          <p:cNvPr id="4" name="Slide Number Placeholder 3"/>
          <p:cNvSpPr>
            <a:spLocks noGrp="1"/>
          </p:cNvSpPr>
          <p:nvPr>
            <p:ph type="sldNum" sz="quarter" idx="5"/>
          </p:nvPr>
        </p:nvSpPr>
        <p:spPr/>
        <p:txBody>
          <a:bodyPr/>
          <a:lstStyle/>
          <a:p>
            <a:fld id="{71770EAF-1B7F-084E-BE5F-E1B515CBCD96}" type="slidenum">
              <a:rPr lang="en-US" smtClean="0"/>
              <a:t>11</a:t>
            </a:fld>
            <a:endParaRPr lang="en-US" dirty="0"/>
          </a:p>
        </p:txBody>
      </p:sp>
    </p:spTree>
    <p:extLst>
      <p:ext uri="{BB962C8B-B14F-4D97-AF65-F5344CB8AC3E}">
        <p14:creationId xmlns:p14="http://schemas.microsoft.com/office/powerpoint/2010/main" val="1320841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Vue sits between React and Angular. Like Angular, it has templates, directives and official solutions for routing and state. Like React, it's small, component-focused, and stays out of your way.</a:t>
            </a:r>
          </a:p>
          <a:p>
            <a:r>
              <a:rPr b="1"/>
              <a:t>SAY:</a:t>
            </a:r>
            <a:r>
              <a:t> "Tree-shaken" means the build removes code you never import. If you never use &lt;Transition&gt;, its code never reaches your users.</a:t>
            </a:r>
          </a:p>
          <a:p>
            <a:r>
              <a:rPr b="1"/>
              <a:t>IF ASKED:</a:t>
            </a:r>
            <a:r>
              <a:t> Is Vue used in big companies? Yes. Vue is widely used in production (GitLab, Alibaba, Nintendo and many others have publicly used it). The independent governance means no single company can change its direction.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historical snapshot, and the versions are old, but the shape of it still holds: Vue has always been one of the smaller full-featured frameworks. Preact and Inferno are smaller because they do much less.</a:t>
            </a:r>
            <a:endParaRPr lang="en-US" dirty="0"/>
          </a:p>
          <a:p>
            <a:r>
              <a:rPr b="1"/>
              <a:t>KEY POINT:</a:t>
            </a:r>
            <a:r>
              <a:t> Bundle size matters most on mobile and slow networks. More important than the framework's size is what you add on top, and Vite's tree-shaking keeps unused framework features out of your bundle.</a:t>
            </a:r>
          </a:p>
          <a:p>
            <a:r>
              <a:rPr b="1"/>
              <a:t>IF ASKED:</a:t>
            </a:r>
            <a:r>
              <a:t> Current numbers? Measure your own app's build. `npm run build` prints the size of every chunk, gzipped, at the end. That's the number that matters.</a:t>
            </a:r>
          </a:p>
        </p:txBody>
      </p:sp>
      <p:sp>
        <p:nvSpPr>
          <p:cNvPr id="4" name="Slide Number Placeholder 3"/>
          <p:cNvSpPr>
            <a:spLocks noGrp="1"/>
          </p:cNvSpPr>
          <p:nvPr>
            <p:ph type="sldNum" sz="quarter" idx="5"/>
          </p:nvPr>
        </p:nvSpPr>
        <p:spPr/>
        <p:txBody>
          <a:bodyPr/>
          <a:lstStyle/>
          <a:p>
            <a:fld id="{71770EAF-1B7F-084E-BE5F-E1B515CBCD96}" type="slidenum">
              <a:rPr lang="en-US" smtClean="0"/>
              <a:t>13</a:t>
            </a:fld>
            <a:endParaRPr lang="en-US" dirty="0"/>
          </a:p>
        </p:txBody>
      </p:sp>
    </p:spTree>
    <p:extLst>
      <p:ext uri="{BB962C8B-B14F-4D97-AF65-F5344CB8AC3E}">
        <p14:creationId xmlns:p14="http://schemas.microsoft.com/office/powerpoint/2010/main" val="3416396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Vue and Angular give you two-way binding: bind an input to a variable and the two stay in sync in both directions. React is one-way: you write an onChange handler that calls a setter.</a:t>
            </a:r>
            <a:endParaRPr lang="en-US" dirty="0"/>
          </a:p>
          <a:p>
            <a:r>
              <a:rPr b="1"/>
              <a:t>SAY:</a:t>
            </a:r>
            <a:r>
              <a:t> Under the hood, Vue's v-model is a shortcut for exactly what React makes you write by hand: bind the value, listen for input. We'll see that on the forms slides.</a:t>
            </a:r>
          </a:p>
          <a:p>
            <a:r>
              <a:rPr b="1"/>
              <a:t>SAY:</a:t>
            </a:r>
            <a:r>
              <a:t> Vue and Angular give you directives, special attributes like v-if and v-for. React uses plain JavaScript expressions inside JSX instead.</a:t>
            </a:r>
          </a:p>
          <a:p>
            <a:r>
              <a:rPr b="1"/>
              <a:t>KEY POINT:</a:t>
            </a:r>
            <a:r>
              <a:t> The big convergence: all three frameworks moved toward the same idea, putting related logic together in functions you can extract and reuse. If you know React hooks, Vue's Composition API will feel familiar, minus the rules about dependency arrays.</a:t>
            </a:r>
          </a:p>
        </p:txBody>
      </p:sp>
      <p:sp>
        <p:nvSpPr>
          <p:cNvPr id="4" name="Slide Number Placeholder 3"/>
          <p:cNvSpPr>
            <a:spLocks noGrp="1"/>
          </p:cNvSpPr>
          <p:nvPr>
            <p:ph type="sldNum" sz="quarter" idx="5"/>
          </p:nvPr>
        </p:nvSpPr>
        <p:spPr/>
        <p:txBody>
          <a:bodyPr/>
          <a:lstStyle/>
          <a:p>
            <a:fld id="{12E01897-90C6-7B4B-BE5D-608DBB750E0D}" type="slidenum">
              <a:rPr lang="en-US" smtClean="0"/>
              <a:t>14</a:t>
            </a:fld>
            <a:endParaRPr lang="en-US" dirty="0"/>
          </a:p>
        </p:txBody>
      </p:sp>
    </p:spTree>
    <p:extLst>
      <p:ext uri="{BB962C8B-B14F-4D97-AF65-F5344CB8AC3E}">
        <p14:creationId xmlns:p14="http://schemas.microsoft.com/office/powerpoint/2010/main" val="283672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demos/hello-world.html directly in the browser (double-click it, or drag it into a browser window). No server needed.</a:t>
            </a:r>
          </a:p>
          <a:p>
            <a:r>
              <a:rPr b="1"/>
              <a:t>DO:</a:t>
            </a:r>
            <a:r>
              <a:t> Open DevTools &gt; Console and type `Vue.version` to show that the global build loaded.</a:t>
            </a:r>
          </a:p>
          <a:p>
            <a:r>
              <a:rPr b="1"/>
              <a:t>DO:</a:t>
            </a:r>
            <a:r>
              <a:t> Change the message in the file, reload, and show the update. Then point out the three moving parts:</a:t>
            </a:r>
          </a:p>
          <a:p>
            <a:r>
              <a:t>1. The script tag loads Vue's global build, which puts a `Vue` object on window.</a:t>
            </a:r>
          </a:p>
          <a:p>
            <a:r>
              <a:t>2. `createApp()` creates an application from a root component.</a:t>
            </a:r>
          </a:p>
          <a:p>
            <a:r>
              <a:t>3. `.mount('#app')` tells Vue where on the page to render it.</a:t>
            </a:r>
          </a:p>
          <a:p>
            <a:r>
              <a:rPr b="1"/>
              <a:t>SAY:</a:t>
            </a:r>
            <a:r>
              <a:t> `setup()` is where Composition API state lives. `ref('Hello Vue!')` creates a reactive value. Whatever setup returns is available to the template.</a:t>
            </a:r>
          </a:p>
          <a:p>
            <a:r>
              <a:rPr b="1"/>
              <a:t>KEY POINT:</a:t>
            </a:r>
            <a:r>
              <a:t> This is "progressive" in action: one script tag, no tooling. Later today we'll do the same thing with Vite and single-file components, which is how real projects are built.</a:t>
            </a:r>
          </a:p>
          <a:p>
            <a:r>
              <a:rPr b="1"/>
              <a:t>IF ASKED:</a:t>
            </a:r>
            <a:r>
              <a:t> Why `template:` as a string? The global build includes the template compiler, so it can compile templates in the browser. In a Vite project, templates are compiled at build time and the compiler isn't shipped to users.</a:t>
            </a:r>
          </a:p>
        </p:txBody>
      </p:sp>
      <p:sp>
        <p:nvSpPr>
          <p:cNvPr id="4" name="Slide Number Placeholder 3"/>
          <p:cNvSpPr>
            <a:spLocks noGrp="1"/>
          </p:cNvSpPr>
          <p:nvPr>
            <p:ph type="sldNum" sz="quarter" idx="5"/>
          </p:nvPr>
        </p:nvSpPr>
        <p:spPr/>
        <p:txBody>
          <a:bodyPr/>
          <a:lstStyle/>
          <a:p>
            <a:fld id="{01283FAC-A721-45A3-BBDE-EAF2B09B7CD9}" type="slidenum">
              <a:rPr lang="en-US" smtClean="0"/>
              <a:t>15</a:t>
            </a:fld>
            <a:endParaRPr lang="en-US" dirty="0"/>
          </a:p>
        </p:txBody>
      </p:sp>
    </p:spTree>
    <p:extLst>
      <p:ext uri="{BB962C8B-B14F-4D97-AF65-F5344CB8AC3E}">
        <p14:creationId xmlns:p14="http://schemas.microsoft.com/office/powerpoint/2010/main" val="2532357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browser's DOM is slow to touch, mostly because every change can trigger layout and repaint. A virtual DOM is a plain JavaScript tree that describes what the page should look like. Creating and comparing these objects is cheap.</a:t>
            </a:r>
          </a:p>
          <a:p>
            <a:r>
              <a:rPr b="1"/>
              <a:t>SAY:</a:t>
            </a:r>
            <a:r>
              <a:t> Walk through the diagram: on the left is the new virtual DOM after a state change; on the right is the current real DOM. The library diffs the two, sees that only the img node is different (highlighted), and patches just that node.</a:t>
            </a:r>
          </a:p>
          <a:p>
            <a:r>
              <a:rPr b="1"/>
              <a:t>KEY POINT:</a:t>
            </a:r>
            <a:r>
              <a:t> You never touch the virtual DOM directly. You change state; Vue figures out the minimum set of DOM updates.</a:t>
            </a:r>
          </a:p>
          <a:p>
            <a:r>
              <a:rPr b="1"/>
              <a:t>TRANSITION:</a:t>
            </a:r>
            <a:r>
              <a:t> Vue's virtual DOM has a few tricks other frameworks don't, which is the next slide.</a:t>
            </a:r>
          </a:p>
        </p:txBody>
      </p:sp>
      <p:sp>
        <p:nvSpPr>
          <p:cNvPr id="4" name="Slide Number Placeholder 3"/>
          <p:cNvSpPr>
            <a:spLocks noGrp="1"/>
          </p:cNvSpPr>
          <p:nvPr>
            <p:ph type="sldNum" sz="quarter" idx="5"/>
          </p:nvPr>
        </p:nvSpPr>
        <p:spPr/>
        <p:txBody>
          <a:bodyPr/>
          <a:lstStyle/>
          <a:p>
            <a:fld id="{71770EAF-1B7F-084E-BE5F-E1B515CBCD96}" type="slidenum">
              <a:rPr lang="en-US" smtClean="0"/>
              <a:t>16</a:t>
            </a:fld>
            <a:endParaRPr lang="en-US" dirty="0"/>
          </a:p>
        </p:txBody>
      </p:sp>
    </p:spTree>
    <p:extLst>
      <p:ext uri="{BB962C8B-B14F-4D97-AF65-F5344CB8AC3E}">
        <p14:creationId xmlns:p14="http://schemas.microsoft.com/office/powerpoint/2010/main" val="134189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Vue combines a virtual DOM with a compiler. Because templates are more constrained than arbitrary JSX, Vue's compiler can analyze them and mark which nodes are static and which are dynamic. At runtime, Vue skips everything static.</a:t>
            </a:r>
          </a:p>
          <a:p>
            <a:r>
              <a:rPr b="1"/>
              <a:t>SAY:</a:t>
            </a:r>
            <a:r>
              <a:t> The second advantage is dependency tracking. When a component renders, Vue records which reactive values it read. Later, when one of those values changes, Vue re-renders exactly the components that read it, and no others. In React you often reach for memo() or useMemo() to get the same effect; in Vue it's the default.</a:t>
            </a:r>
          </a:p>
          <a:p>
            <a:r>
              <a:rPr b="1"/>
              <a:t>IF ASKED:</a:t>
            </a:r>
            <a:r>
              <a:t> Is the virtual DOM going away? Vapor Mode (Vue 3.6, still a release candidate) is an opt-in way to compile components without a virtual DOM. The regular virtual DOM mode isn't going anywhere, and the two can be mixed.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 don't need to memorize this. The reason it's here: when you search for Vue answers, check the date and version. A Stack Overflow answer from 2019 is almost certainly Vue 2 and may not work.</a:t>
            </a:r>
            <a:endParaRPr lang="en-US" dirty="0"/>
          </a:p>
          <a:p>
            <a:r>
              <a:rPr b="1"/>
              <a:t>KEY POINT:</a:t>
            </a:r>
            <a:r>
              <a:t> This course uses Vue 3.5 with `&lt;script setup&gt;`. If you see `export default { data() {...} }` in an example, that's the Options API. It still works in Vue 3 but isn't what we'll write.</a:t>
            </a:r>
          </a:p>
          <a:p>
            <a:r>
              <a:rPr b="1"/>
              <a:t>TIP:</a:t>
            </a:r>
            <a:r>
              <a:t> Ask students to run `npm ls vue` in their project later today to see exactly which version they have.</a:t>
            </a:r>
          </a:p>
        </p:txBody>
      </p:sp>
      <p:sp>
        <p:nvSpPr>
          <p:cNvPr id="4" name="Slide Number Placeholder 3"/>
          <p:cNvSpPr>
            <a:spLocks noGrp="1"/>
          </p:cNvSpPr>
          <p:nvPr>
            <p:ph type="sldNum" sz="quarter" idx="5"/>
          </p:nvPr>
        </p:nvSpPr>
        <p:spPr/>
        <p:txBody>
          <a:bodyPr/>
          <a:lstStyle/>
          <a:p>
            <a:fld id="{71770EAF-1B7F-084E-BE5F-E1B515CBCD96}" type="slidenum">
              <a:rPr lang="en-US" smtClean="0"/>
              <a:t>18</a:t>
            </a:fld>
            <a:endParaRPr lang="en-US" dirty="0"/>
          </a:p>
        </p:txBody>
      </p:sp>
    </p:spTree>
    <p:extLst>
      <p:ext uri="{BB962C8B-B14F-4D97-AF65-F5344CB8AC3E}">
        <p14:creationId xmlns:p14="http://schemas.microsoft.com/office/powerpoint/2010/main" val="4260427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These are the changes you'll feel most if you've used Vue 2.</a:t>
            </a:r>
          </a:p>
          <a:p>
            <a:r>
              <a:t>- Proxy reactivity: Vue 2 couldn't see when you added a new property to an object or set an array item by index, so you had to call Vue.set. Vue 3 wraps your data in a JavaScript Proxy, which intercepts every read and write, so those caveats are gone.</a:t>
            </a:r>
          </a:p>
          <a:p>
            <a:r>
              <a:t>- The Composition API lets you organize code by feature instead of by option type, and reuse logic with plain functions called composables. That replaces mixins.</a:t>
            </a:r>
          </a:p>
          <a:p>
            <a:r>
              <a:t>- Teleport is great for modals and tooltips: the component logic stays where it is, but the markup renders under &lt;body&gt;.</a:t>
            </a:r>
          </a:p>
          <a:p>
            <a:r>
              <a:t>- Removed features: filters became methods or computed properties; the event-bus pattern ($on/$off) is replaced by stores or provide/inject.</a:t>
            </a:r>
          </a:p>
          <a:p>
            <a:r>
              <a:rPr b="1"/>
              <a:t>IF ASKED:</a:t>
            </a:r>
            <a:r>
              <a:t> Is the Options API deprecated? No. It's fully supported in Vue 3. The Composition API is what new code and the docs default to, and it's what we'll use.</a:t>
            </a:r>
          </a:p>
        </p:txBody>
      </p:sp>
      <p:sp>
        <p:nvSpPr>
          <p:cNvPr id="4" name="Slide Number Placeholder 3"/>
          <p:cNvSpPr>
            <a:spLocks noGrp="1"/>
          </p:cNvSpPr>
          <p:nvPr>
            <p:ph type="sldNum" sz="quarter" idx="5"/>
          </p:nvPr>
        </p:nvSpPr>
        <p:spPr/>
        <p:txBody>
          <a:bodyPr/>
          <a:lstStyle/>
          <a:p>
            <a:fld id="{71770EAF-1B7F-084E-BE5F-E1B515CBCD96}" type="slidenum">
              <a:rPr lang="en-US" smtClean="0"/>
              <a:t>19</a:t>
            </a:fld>
            <a:endParaRPr lang="en-US" dirty="0"/>
          </a:p>
        </p:txBody>
      </p:sp>
    </p:spTree>
    <p:extLst>
      <p:ext uri="{BB962C8B-B14F-4D97-AF65-F5344CB8AC3E}">
        <p14:creationId xmlns:p14="http://schemas.microsoft.com/office/powerpoint/2010/main" val="2456482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45 minutes including Labs 01 and 02.</a:t>
            </a:r>
            <a:endParaRPr lang="en-US" dirty="0"/>
          </a:p>
          <a:p>
            <a:r>
              <a:rPr b="1"/>
              <a:t>SAY:</a:t>
            </a:r>
            <a:r>
              <a:t> Now let's get you set up with an editor and a real project. By the end of this module every one of you should have the Conduit project running locally with hot reloading.</a:t>
            </a:r>
          </a:p>
        </p:txBody>
      </p:sp>
      <p:sp>
        <p:nvSpPr>
          <p:cNvPr id="4" name="Slide Number Placeholder 3"/>
          <p:cNvSpPr>
            <a:spLocks noGrp="1"/>
          </p:cNvSpPr>
          <p:nvPr>
            <p:ph type="sldNum" sz="quarter" idx="10"/>
          </p:nvPr>
        </p:nvSpPr>
        <p:spPr/>
        <p:txBody>
          <a:bodyPr/>
          <a:lstStyle/>
          <a:p>
            <a:fld id="{71770EAF-1B7F-084E-BE5F-E1B515CBCD96}" type="slidenum">
              <a:rPr lang="en-US" smtClean="0"/>
              <a:t>20</a:t>
            </a:fld>
            <a:endParaRPr lang="en-US" dirty="0"/>
          </a:p>
        </p:txBody>
      </p:sp>
    </p:spTree>
    <p:extLst>
      <p:ext uri="{BB962C8B-B14F-4D97-AF65-F5344CB8AC3E}">
        <p14:creationId xmlns:p14="http://schemas.microsoft.com/office/powerpoint/2010/main" val="2376833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 can use any editor you like. We'll use VS Code because it's free, popular, and has first-class support from the Vue team through the Vue - Official extension.</a:t>
            </a:r>
            <a:endParaRPr lang="en-US" dirty="0"/>
          </a:p>
          <a:p>
            <a:r>
              <a:rPr b="1"/>
              <a:t>KEY POINT:</a:t>
            </a:r>
            <a:r>
              <a:t> "Volar" is the name of the Vue language server. Vue - Official in VS Code, WebStorm's built-in Vue support, and the Neovim/Zed plugins all use it, so you get the same features everywhere.</a:t>
            </a:r>
          </a:p>
          <a:p>
            <a:r>
              <a:rPr b="1"/>
              <a:t>WATCH FOR:</a:t>
            </a:r>
            <a:r>
              <a:t> Students with the old Vetur extension installed. Vetur was for Vue 2 and is deprecated. Running Vetur and Vue - Official together produces duplicate or contradictory errors. Have them disable Vetur.</a:t>
            </a:r>
          </a:p>
        </p:txBody>
      </p:sp>
      <p:sp>
        <p:nvSpPr>
          <p:cNvPr id="4" name="Slide Number Placeholder 3"/>
          <p:cNvSpPr>
            <a:spLocks noGrp="1"/>
          </p:cNvSpPr>
          <p:nvPr>
            <p:ph type="sldNum" sz="quarter" idx="10"/>
          </p:nvPr>
        </p:nvSpPr>
        <p:spPr/>
        <p:txBody>
          <a:bodyPr/>
          <a:lstStyle/>
          <a:p>
            <a:fld id="{71770EAF-1B7F-084E-BE5F-E1B515CBCD96}" type="slidenum">
              <a:rPr lang="en-US" smtClean="0"/>
              <a:t>21</a:t>
            </a:fld>
            <a:endParaRPr lang="en-US" dirty="0"/>
          </a:p>
        </p:txBody>
      </p:sp>
    </p:spTree>
    <p:extLst>
      <p:ext uri="{BB962C8B-B14F-4D97-AF65-F5344CB8AC3E}">
        <p14:creationId xmlns:p14="http://schemas.microsoft.com/office/powerpoint/2010/main" val="1238490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15 minutes. Students who already have VS Code can skip straight to the extensions.</a:t>
            </a:r>
            <a:endParaRPr lang="en-US" dirty="0"/>
          </a:p>
          <a:p>
            <a:r>
              <a:rPr b="1"/>
              <a:t>LAB TIPS:</a:t>
            </a:r>
          </a:p>
          <a:p>
            <a:r>
              <a:t>- If you're on locked-down machines, VS Code and Node may need to be pre-installed. Check before class.</a:t>
            </a:r>
          </a:p>
          <a:p>
            <a:r>
              <a:t>- Students using another editor can skip this lab; nothing else in the course depends on VS Code.</a:t>
            </a:r>
          </a:p>
          <a:p>
            <a:r>
              <a:rPr b="1"/>
              <a:t>WATCH FOR:</a:t>
            </a:r>
            <a:r>
              <a:t> Vetur. If a student sees duplicate errors in .vue files later, the cause is almost always Vetur and Vue - Official both running.</a:t>
            </a:r>
          </a:p>
          <a:p>
            <a:r>
              <a:rPr b="1"/>
              <a:t>TRANSITION:</a:t>
            </a:r>
            <a:r>
              <a:t> While people finish, introduce Vite on the next slide.</a:t>
            </a:r>
          </a:p>
        </p:txBody>
      </p:sp>
      <p:sp>
        <p:nvSpPr>
          <p:cNvPr id="4" name="Slide Number Placeholder 3"/>
          <p:cNvSpPr>
            <a:spLocks noGrp="1"/>
          </p:cNvSpPr>
          <p:nvPr>
            <p:ph type="sldNum" sz="quarter" idx="10"/>
          </p:nvPr>
        </p:nvSpPr>
        <p:spPr/>
        <p:txBody>
          <a:bodyPr/>
          <a:lstStyle/>
          <a:p>
            <a:fld id="{71770EAF-1B7F-084E-BE5F-E1B515CBCD96}" type="slidenum">
              <a:rPr lang="en-US" smtClean="0"/>
              <a:t>22</a:t>
            </a:fld>
            <a:endParaRPr lang="en-US" dirty="0"/>
          </a:p>
        </p:txBody>
      </p:sp>
    </p:spTree>
    <p:extLst>
      <p:ext uri="{BB962C8B-B14F-4D97-AF65-F5344CB8AC3E}">
        <p14:creationId xmlns:p14="http://schemas.microsoft.com/office/powerpoint/2010/main" val="3594174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b="1"/>
              <a:t>SAY:</a:t>
            </a:r>
            <a:r>
              <a:t> Vite (French for "fast", pronounced "veet") is the build tool for Vue projects today. It does two jobs:</a:t>
            </a:r>
          </a:p>
          <a:p>
            <a:r>
              <a:t>1. In development, it's a dev server. Instead of bundling your whole app before showing anything, it serves each file to the browser as an ES module when the browser asks for it. Startup is nearly instant no matter how large the app gets.</a:t>
            </a:r>
          </a:p>
          <a:p>
            <a:r>
              <a:t>2. For production, it bundles everything into optimized files.</a:t>
            </a:r>
          </a:p>
          <a:p>
            <a:r>
              <a:rPr b="1"/>
              <a:t>KEY POINT:</a:t>
            </a:r>
            <a:r>
              <a:t> Hot module replacement means when you save a component, Vite swaps in just that module, and the page updates without a full reload and without losing state. You'll see this in Lab 02.</a:t>
            </a:r>
          </a:p>
          <a:p>
            <a:r>
              <a:rPr b="1"/>
              <a:t>BACKGROUND:</a:t>
            </a:r>
            <a:r>
              <a:t> Before Vite 8, Vite used esbuild for dev-time transforms and Rollup for production builds. Vite 8 (released March 12, 2026) replaced both with Rolldown, a Rust bundler, plus the Oxc compiler toolchain. You'll still see esbuild and Rollup in older articles and in Vite 7 projects. Your Vite config mostly doesn't care which is used.</a:t>
            </a:r>
          </a:p>
          <a:p>
            <a:r>
              <a:rPr b="1"/>
              <a:t>IF ASKED:</a:t>
            </a:r>
            <a:r>
              <a:t> What about Vue CLI? It was webpack-based, and it's in maintenance mode and end of life. If you have a Vue CLI project, the migration to Vite is mostly moving index.html to the root and replacing vue.config.js with vite.config.js.</a:t>
            </a:r>
          </a:p>
        </p:txBody>
      </p:sp>
      <p:sp>
        <p:nvSpPr>
          <p:cNvPr id="4" name="Slide Number Placeholder 3"/>
          <p:cNvSpPr>
            <a:spLocks noGrp="1"/>
          </p:cNvSpPr>
          <p:nvPr>
            <p:ph type="sldNum" sz="quarter" idx="5"/>
          </p:nvPr>
        </p:nvSpPr>
        <p:spPr/>
        <p:txBody>
          <a:bodyPr/>
          <a:lstStyle/>
          <a:p>
            <a:fld id="{71770EAF-1B7F-084E-BE5F-E1B515CBCD96}" type="slidenum">
              <a:rPr lang="en-US" smtClean="0"/>
              <a:t>23</a:t>
            </a:fld>
            <a:endParaRPr lang="en-US" dirty="0"/>
          </a:p>
        </p:txBody>
      </p:sp>
    </p:spTree>
    <p:extLst>
      <p:ext uri="{BB962C8B-B14F-4D97-AF65-F5344CB8AC3E}">
        <p14:creationId xmlns:p14="http://schemas.microsoft.com/office/powerpoint/2010/main" val="2824291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b="1"/>
              <a:t>SAY:</a:t>
            </a:r>
            <a:r>
              <a:t> `npm create vue@latest` downloads the official scaffolding tool, create-vue, runs it, and throws it away. There's nothing to install globally and nothing to keep up to date.</a:t>
            </a:r>
            <a:endParaRPr lang="en-US" dirty="0"/>
          </a:p>
          <a:p>
            <a:r>
              <a:rPr b="1"/>
              <a:t>SAY:</a:t>
            </a:r>
            <a:r>
              <a:t> Walk through the scripts: dev runs the dev server; build creates production files in dist/; preview serves the dist folder locally so you can test the production build before you deploy it.</a:t>
            </a:r>
          </a:p>
          <a:p>
            <a:r>
              <a:rPr b="1"/>
              <a:t>KEY POINT:</a:t>
            </a:r>
            <a:r>
              <a:t> In Lab 02 we'll say yes only to Vitest, ESLint and Prettier. We'll add Vue Router and Pinia by hand later so you can see exactly what each one contributes.</a:t>
            </a:r>
          </a:p>
          <a:p>
            <a:r>
              <a:rPr b="1"/>
              <a:t>WATCH FOR:</a:t>
            </a:r>
            <a:r>
              <a:t> If `npm create vue@latest` fails with a syntax error or an engine warning, the student's Node.js is too old. Vite 8 needs Node 20.19+ or 22.12+.</a:t>
            </a:r>
          </a:p>
        </p:txBody>
      </p:sp>
      <p:sp>
        <p:nvSpPr>
          <p:cNvPr id="4" name="Slide Number Placeholder 3"/>
          <p:cNvSpPr>
            <a:spLocks noGrp="1"/>
          </p:cNvSpPr>
          <p:nvPr>
            <p:ph type="sldNum" sz="quarter" idx="5"/>
          </p:nvPr>
        </p:nvSpPr>
        <p:spPr/>
        <p:txBody>
          <a:bodyPr/>
          <a:lstStyle/>
          <a:p>
            <a:fld id="{71770EAF-1B7F-084E-BE5F-E1B515CBCD96}" type="slidenum">
              <a:rPr lang="en-US" smtClean="0"/>
              <a:t>24</a:t>
            </a:fld>
            <a:endParaRPr lang="en-US" dirty="0"/>
          </a:p>
        </p:txBody>
      </p:sp>
    </p:spTree>
    <p:extLst>
      <p:ext uri="{BB962C8B-B14F-4D97-AF65-F5344CB8AC3E}">
        <p14:creationId xmlns:p14="http://schemas.microsoft.com/office/powerpoint/2010/main" val="237824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30 minutes, including the Vite and create-vue lecture.</a:t>
            </a:r>
          </a:p>
          <a:p>
            <a:r>
              <a:rPr b="1"/>
              <a:t>LAB TIPS:</a:t>
            </a:r>
          </a:p>
          <a:p>
            <a:r>
              <a:t>- The prompts: TypeScript No, JSX No, Router No, Pinia No, Vitest Yes, E2E No, Linter Yes, Prettier Yes. Don't install experimental features. Don't skip the example code.</a:t>
            </a:r>
          </a:p>
          <a:p>
            <a:r>
              <a:t>- Have students keep `npm run dev` running in its own terminal tab for the rest of the day. Many "my changes don't show up" problems are a stopped dev server.</a:t>
            </a:r>
          </a:p>
          <a:p>
            <a:r>
              <a:rPr b="1"/>
              <a:t>COMMON PROBLEMS:</a:t>
            </a:r>
          </a:p>
          <a:p>
            <a:r>
              <a:t>- Node too old: create-vue or Vite errors out. Fix: install the current LTS of Node.js.</a:t>
            </a:r>
          </a:p>
          <a:p>
            <a:r>
              <a:t>- Port 5173 in use: Vite picks the next free port and prints it. Use the URL Vite prints.</a:t>
            </a:r>
          </a:p>
          <a:p>
            <a:r>
              <a:t>- Corporate proxy or firewall blocking registry.npmjs.org: npm install hangs or 403s. Check `npm config get registry` and the proxy settings.</a:t>
            </a:r>
          </a:p>
          <a:p>
            <a:r>
              <a:rPr b="1"/>
              <a:t>DEBRIEF:</a:t>
            </a:r>
            <a:r>
              <a:t> Point out that index.html lives in the project root, not public/. It's the entry point, and it loads /src/main.js with a type="module" script tag. That's Vite's design: the HTML file is the start of the module graph.</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Once you have a Vue project, you'll want Vue DevTools. It adds a Vue panel to the browser's developer tools where you can see your component tree, select a component, and inspect or even edit its props and state live.</a:t>
            </a:r>
            <a:endParaRPr lang="en-US" dirty="0"/>
          </a:p>
          <a:p>
            <a:r>
              <a:rPr b="1"/>
              <a:t>DEMO:</a:t>
            </a:r>
            <a:r>
              <a:t> With your Conduit project running, open the browser DevTools, find the Vue tab, select the App component and expand its children. Then show the in-page option: create-vue can add vite-plugin-vue-devtools, which puts a small Vue logo at the bottom of the page that opens the same tools without installing an extension.</a:t>
            </a:r>
          </a:p>
          <a:p>
            <a:r>
              <a:rPr b="1"/>
              <a:t>TIP:</a:t>
            </a:r>
            <a:r>
              <a:t> Students in locked-down corporate browsers often can't install extensions. The Vite plugin is the workaround: `npm install -D vite-plugin-vue-devtools`, then add `vueDevTools()` to the plugins array in vite.config.js.</a:t>
            </a:r>
          </a:p>
          <a:p>
            <a:r>
              <a:rPr b="1"/>
              <a:t>WATCH FOR:</a:t>
            </a:r>
            <a:r>
              <a:t> The extension's icon stays grey on pages that aren't using Vue or are a production build. That's normal.</a:t>
            </a:r>
          </a:p>
        </p:txBody>
      </p:sp>
      <p:sp>
        <p:nvSpPr>
          <p:cNvPr id="4" name="Slide Number Placeholder 3"/>
          <p:cNvSpPr>
            <a:spLocks noGrp="1"/>
          </p:cNvSpPr>
          <p:nvPr>
            <p:ph type="sldNum" sz="quarter" idx="5"/>
          </p:nvPr>
        </p:nvSpPr>
        <p:spPr/>
        <p:txBody>
          <a:bodyPr/>
          <a:lstStyle/>
          <a:p>
            <a:fld id="{71770EAF-1B7F-084E-BE5F-E1B515CBCD96}" type="slidenum">
              <a:rPr lang="en-US" smtClean="0"/>
              <a:t>26</a:t>
            </a:fld>
            <a:endParaRPr lang="en-US" dirty="0"/>
          </a:p>
        </p:txBody>
      </p:sp>
    </p:spTree>
    <p:extLst>
      <p:ext uri="{BB962C8B-B14F-4D97-AF65-F5344CB8AC3E}">
        <p14:creationId xmlns:p14="http://schemas.microsoft.com/office/powerpoint/2010/main" val="2751346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this class we're building a real-world application based on Conduit, an open-source clone of Medium.com. The RealWorld project publishes the same app spec and API for dozens of front-end and back-end frameworks, so there's a real API to talk to.</a:t>
            </a:r>
          </a:p>
          <a:p>
            <a:r>
              <a:rPr b="1"/>
              <a:t>DO:</a:t>
            </a:r>
            <a:r>
              <a:t> Before the next lab, show a running instance. The lab guide links to https://vue3-realworld-example-app-mutoe.vercel.app. Click around: the global feed, tags, an article page, sign in and sign up. Tell students that by the end of Day 3 their app will do most of this.</a:t>
            </a:r>
          </a:p>
          <a:p>
            <a:r>
              <a:rPr b="1"/>
              <a:t>NOTE:</a:t>
            </a:r>
            <a:r>
              <a:t> The earlier version of these notes pointed at conduit.watzthis.com; use whichever instance is working on the day and make sure the URL in the lab guide matches.</a:t>
            </a:r>
          </a:p>
        </p:txBody>
      </p:sp>
      <p:sp>
        <p:nvSpPr>
          <p:cNvPr id="4" name="Slide Number Placeholder 3"/>
          <p:cNvSpPr>
            <a:spLocks noGrp="1"/>
          </p:cNvSpPr>
          <p:nvPr>
            <p:ph type="sldNum" sz="quarter" idx="5"/>
          </p:nvPr>
        </p:nvSpPr>
        <p:spPr/>
        <p:txBody>
          <a:bodyPr/>
          <a:lstStyle/>
          <a:p>
            <a:fld id="{71770EAF-1B7F-084E-BE5F-E1B515CBCD96}" type="slidenum">
              <a:rPr lang="en-US" smtClean="0"/>
              <a:t>27</a:t>
            </a:fld>
            <a:endParaRPr lang="en-US"/>
          </a:p>
        </p:txBody>
      </p:sp>
    </p:spTree>
    <p:extLst>
      <p:ext uri="{BB962C8B-B14F-4D97-AF65-F5344CB8AC3E}">
        <p14:creationId xmlns:p14="http://schemas.microsoft.com/office/powerpoint/2010/main" val="3556013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A Vue single-file component (SFC) is a .vue file with up to three blocks: script, template, style. Everything about one piece of UI lives in one file.</a:t>
            </a:r>
          </a:p>
          <a:p>
            <a:r>
              <a:rPr b="1"/>
              <a:t>SAY:</a:t>
            </a:r>
            <a:r>
              <a:t> Walk through the example:</a:t>
            </a:r>
          </a:p>
          <a:p>
            <a:r>
              <a:t>- In &lt;script setup&gt;, `ref(0)` creates reactive state. Anything declared at the top level is automatically available to the template.</a:t>
            </a:r>
          </a:p>
          <a:p>
            <a:r>
              <a:t>- In the template, `@click="count++"` listens for clicks, and `{{ count }}` displays the value. When count changes, the button re-renders.</a:t>
            </a:r>
          </a:p>
          <a:p>
            <a:r>
              <a:t>- `scoped` on the style tag means these styles only apply to this component's elements. Vue does this by adding a unique data attribute to the elements and the CSS selectors.</a:t>
            </a:r>
          </a:p>
          <a:p>
            <a:r>
              <a:rPr b="1"/>
              <a:t>ASK:</a:t>
            </a:r>
            <a:r>
              <a:t> What's the component's name? Answer: whatever the file is called. If this is Counter.vue, you use it as &lt;Counter /&gt;.</a:t>
            </a:r>
          </a:p>
          <a:p>
            <a:r>
              <a:rPr b="1"/>
              <a:t>SAY:</a:t>
            </a:r>
            <a:r>
              <a:t> Browsers can't read .vue files. The Vite plugin compiles each SFC to a plain JavaScript module at build time (or on request during dev).</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Labs 03 and 04 together take about 60 minutes.</a:t>
            </a:r>
          </a:p>
          <a:p>
            <a:r>
              <a:rPr b="1"/>
              <a:t>SAY:</a:t>
            </a:r>
            <a:r>
              <a:t> Although you can use Vue with a script tag, as we just did, real projects are built from components. In this lab you'll write your first one: the page header.</a:t>
            </a:r>
          </a:p>
          <a:p>
            <a:r>
              <a:rPr b="1"/>
              <a:t>LAB TIPS:</a:t>
            </a:r>
          </a:p>
          <a:p>
            <a:r>
              <a:t>- Remind students to include the .vue extension in imports: './components/TheHeader.vue'. Vite won't resolve extensionless .vue imports.</a:t>
            </a:r>
          </a:p>
          <a:p>
            <a:r>
              <a:t>- Bootstrap's CSS link goes in index.html in the project root. Bootstrap 5 has no jQuery dependency.</a:t>
            </a:r>
          </a:p>
          <a:p>
            <a:r>
              <a:rPr b="1"/>
              <a:t>COMMON PROBLEMS:</a:t>
            </a:r>
          </a:p>
          <a:p>
            <a:r>
              <a:t>- Check the lab guide: one step shows `import TheHeader from './components/PageHeader.vue'`, but the file students create is TheHeader.vue. Tell students to import './components/TheHeader.vue'.</a:t>
            </a:r>
          </a:p>
          <a:p>
            <a:r>
              <a:t>- A blank page usually means an import error. Have students open the browser console, where Vite shows the exact file and line.</a:t>
            </a:r>
          </a:p>
          <a:p>
            <a:r>
              <a:t>- ESLint's vue/multi-word-component-names rule complains about single-word names like Header.vue. That's why we use TheHeader, HomeContent and TheFooter.</a:t>
            </a:r>
          </a:p>
        </p:txBody>
      </p:sp>
      <p:sp>
        <p:nvSpPr>
          <p:cNvPr id="4" name="Slide Number Placeholder 3"/>
          <p:cNvSpPr>
            <a:spLocks noGrp="1"/>
          </p:cNvSpPr>
          <p:nvPr>
            <p:ph type="sldNum" sz="quarter" idx="5"/>
          </p:nvPr>
        </p:nvSpPr>
        <p:spPr/>
        <p:txBody>
          <a:bodyPr/>
          <a:lstStyle/>
          <a:p>
            <a:fld id="{71770EAF-1B7F-084E-BE5F-E1B515CBCD96}" type="slidenum">
              <a:rPr lang="en-US" smtClean="0"/>
              <a:t>29</a:t>
            </a:fld>
            <a:endParaRPr lang="en-US"/>
          </a:p>
        </p:txBody>
      </p:sp>
    </p:spTree>
    <p:extLst>
      <p:ext uri="{BB962C8B-B14F-4D97-AF65-F5344CB8AC3E}">
        <p14:creationId xmlns:p14="http://schemas.microsoft.com/office/powerpoint/2010/main" val="3774006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this lab you'll get more practice creating components before we dive into what's happening behind the scenes with the tooling.</a:t>
            </a:r>
          </a:p>
          <a:p>
            <a:r>
              <a:rPr b="1"/>
              <a:t>LAB TIPS:</a:t>
            </a:r>
          </a:p>
          <a:p>
            <a:r>
              <a:t>- Encourage students to try writing the HomeContent markup from the screenshot before copying the solution. It's good practice in breaking a design into elements.</a:t>
            </a:r>
          </a:p>
          <a:p>
            <a:r>
              <a:t>- It's fine if it's ugly at this point. Styling comes in Lab 12.</a:t>
            </a:r>
          </a:p>
          <a:p>
            <a:r>
              <a:rPr b="1"/>
              <a:t>WATCH FOR:</a:t>
            </a:r>
            <a:r>
              <a:t> Students forgetting to remove the HelloWorld and TheWelcome imports from App.vue. ESLint will flag the unused imports.</a:t>
            </a:r>
          </a:p>
          <a:p>
            <a:r>
              <a:rPr b="1"/>
              <a:t>DEBRIEF:</a:t>
            </a:r>
            <a:r>
              <a:t> Ask: how many components does the page have now? (App, TheHeader, HomeContent, TheFooter.) Draw the tree on the whiteboard. You'll keep extending this tree all week.</a:t>
            </a:r>
          </a:p>
        </p:txBody>
      </p:sp>
      <p:sp>
        <p:nvSpPr>
          <p:cNvPr id="4" name="Slide Number Placeholder 3"/>
          <p:cNvSpPr>
            <a:spLocks noGrp="1"/>
          </p:cNvSpPr>
          <p:nvPr>
            <p:ph type="sldNum" sz="quarter" idx="5"/>
          </p:nvPr>
        </p:nvSpPr>
        <p:spPr/>
        <p:txBody>
          <a:bodyPr/>
          <a:lstStyle/>
          <a:p>
            <a:fld id="{71770EAF-1B7F-084E-BE5F-E1B515CBCD96}" type="slidenum">
              <a:rPr lang="en-US" smtClean="0"/>
              <a:t>30</a:t>
            </a:fld>
            <a:endParaRPr lang="en-US"/>
          </a:p>
        </p:txBody>
      </p:sp>
    </p:spTree>
    <p:extLst>
      <p:ext uri="{BB962C8B-B14F-4D97-AF65-F5344CB8AC3E}">
        <p14:creationId xmlns:p14="http://schemas.microsoft.com/office/powerpoint/2010/main" val="1419162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20 minutes, right after lunch.</a:t>
            </a:r>
          </a:p>
          <a:p>
            <a:r>
              <a:rPr b="1"/>
              <a:t>SAY:</a:t>
            </a:r>
            <a:r>
              <a:t> We'll write tests from the very beginning, so testing is a habit rather than an afterthought. These first tests are simple smoke tests: does the component mount without throwing? We'll go much deeper into Vitest on Day 3.</a:t>
            </a:r>
          </a:p>
          <a:p>
            <a:r>
              <a:rPr b="1"/>
              <a:t>LAB TIPS:</a:t>
            </a:r>
          </a:p>
          <a:p>
            <a:r>
              <a:t>- `@/` in imports is an alias for src, configured in vite.config.js by create-vue.</a:t>
            </a:r>
          </a:p>
          <a:p>
            <a:r>
              <a:t>- If jsdom isn't installed: `npm install --save-dev jsdom`.</a:t>
            </a:r>
          </a:p>
          <a:p>
            <a:r>
              <a:t>- Make sure the `include` pattern in the test config matches where students put their files (tests/**/*.spec.js).</a:t>
            </a:r>
          </a:p>
          <a:p>
            <a:r>
              <a:rPr b="1"/>
              <a:t>COMMON PROBLEMS:</a:t>
            </a:r>
          </a:p>
          <a:p>
            <a:r>
              <a:t>- "document is not defined": the test environment isn't set to jsdom.</a:t>
            </a:r>
          </a:p>
          <a:p>
            <a:r>
              <a:t>- No tests found: the include pattern doesn't match the file name or folder.</a:t>
            </a:r>
          </a:p>
          <a:p>
            <a:r>
              <a:rPr b="1"/>
              <a:t>DEBRIEF:</a:t>
            </a:r>
            <a:r>
              <a:t> Show that Vitest's watch mode re-runs only the tests related to the file you saved. That fast feedback is the whole point of using Vite's test runner.</a:t>
            </a:r>
          </a:p>
        </p:txBody>
      </p:sp>
      <p:sp>
        <p:nvSpPr>
          <p:cNvPr id="4" name="Slide Number Placeholder 3"/>
          <p:cNvSpPr>
            <a:spLocks noGrp="1"/>
          </p:cNvSpPr>
          <p:nvPr>
            <p:ph type="sldNum" sz="quarter" idx="5"/>
          </p:nvPr>
        </p:nvSpPr>
        <p:spPr/>
        <p:txBody>
          <a:bodyPr/>
          <a:lstStyle/>
          <a:p>
            <a:fld id="{71770EAF-1B7F-084E-BE5F-E1B515CBCD96}" type="slidenum">
              <a:rPr lang="en-US" smtClean="0"/>
              <a:t>31</a:t>
            </a:fld>
            <a:endParaRPr lang="en-US"/>
          </a:p>
        </p:txBody>
      </p:sp>
    </p:spTree>
    <p:extLst>
      <p:ext uri="{BB962C8B-B14F-4D97-AF65-F5344CB8AC3E}">
        <p14:creationId xmlns:p14="http://schemas.microsoft.com/office/powerpoint/2010/main" val="29636473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40 minutes, including Lab 06.</a:t>
            </a:r>
          </a:p>
          <a:p>
            <a:r>
              <a:rPr b="1"/>
              <a:t>SAY:</a:t>
            </a:r>
            <a:r>
              <a:t> Behind modern JavaScript development is Node.js. It runs the scripts we use for linting, testing, previewing and building applications. You don't need to become a Node developer to use Vue, but understanding what Node is and how npm works will make the tooling much less mysterious.</a:t>
            </a:r>
          </a:p>
          <a:p>
            <a:r>
              <a:rPr b="1"/>
              <a:t>TIP:</a:t>
            </a:r>
            <a:r>
              <a:t> If the class is experienced with Node, move quickly through slides 33-45 and spend the time on the labs.</a:t>
            </a:r>
          </a:p>
        </p:txBody>
      </p:sp>
      <p:sp>
        <p:nvSpPr>
          <p:cNvPr id="4" name="Slide Number Placeholder 3"/>
          <p:cNvSpPr>
            <a:spLocks noGrp="1"/>
          </p:cNvSpPr>
          <p:nvPr>
            <p:ph type="sldNum" sz="quarter" idx="10"/>
          </p:nvPr>
        </p:nvSpPr>
        <p:spPr/>
        <p:txBody>
          <a:bodyPr/>
          <a:lstStyle/>
          <a:p>
            <a:fld id="{71770EAF-1B7F-084E-BE5F-E1B515CBCD96}" type="slidenum">
              <a:rPr lang="en-US" smtClean="0"/>
              <a:t>32</a:t>
            </a:fld>
            <a:endParaRPr lang="en-US" dirty="0"/>
          </a:p>
        </p:txBody>
      </p:sp>
    </p:spTree>
    <p:extLst>
      <p:ext uri="{BB962C8B-B14F-4D97-AF65-F5344CB8AC3E}">
        <p14:creationId xmlns:p14="http://schemas.microsoft.com/office/powerpoint/2010/main" val="28371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a:t>SAY:</a:t>
            </a:r>
            <a:r>
              <a:t> Node started its life as a way to run JavaScript on the server. It has also become the platform for almost all front-end development tooling.</a:t>
            </a:r>
          </a:p>
          <a:p>
            <a:r>
              <a:rPr b="1"/>
              <a:t>SAY:</a:t>
            </a:r>
            <a:r>
              <a:t> Node takes the V8 engine from Chrome and adds things browsers don't have, like access to the file system, networking and processes, and removes things only browsers have, like the DOM and window.</a:t>
            </a:r>
          </a:p>
          <a:p>
            <a:r>
              <a:rPr b="1"/>
              <a:t>KEY POINT:</a:t>
            </a:r>
            <a:r>
              <a:t> "Non-blocking" is the big idea. When Node asks for a file or a network response, it doesn't wait. It registers a callback, keeps running other code, and handles the result when it arrives. That's how one thread can serve thousands of connections.</a:t>
            </a:r>
          </a:p>
          <a:p>
            <a:r>
              <a:rPr b="1"/>
              <a:t>ASK:</a:t>
            </a:r>
            <a:r>
              <a:t> Has anyone written a Node script before? If several have, move faster through the next few slides.</a:t>
            </a:r>
          </a:p>
        </p:txBody>
      </p:sp>
      <p:sp>
        <p:nvSpPr>
          <p:cNvPr id="4" name="Slide Number Placeholder 3"/>
          <p:cNvSpPr>
            <a:spLocks noGrp="1"/>
          </p:cNvSpPr>
          <p:nvPr>
            <p:ph type="sldNum" sz="quarter" idx="10"/>
          </p:nvPr>
        </p:nvSpPr>
        <p:spPr/>
        <p:txBody>
          <a:bodyPr/>
          <a:lstStyle/>
          <a:p>
            <a:fld id="{71770EAF-1B7F-084E-BE5F-E1B515CBCD96}" type="slidenum">
              <a:rPr lang="en-US" smtClean="0"/>
              <a:t>33</a:t>
            </a:fld>
            <a:endParaRPr lang="en-US" dirty="0"/>
          </a:p>
        </p:txBody>
      </p:sp>
    </p:spTree>
    <p:extLst>
      <p:ext uri="{BB962C8B-B14F-4D97-AF65-F5344CB8AC3E}">
        <p14:creationId xmlns:p14="http://schemas.microsoft.com/office/powerpoint/2010/main" val="165053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Traditional servers like Apache historically used a thread per request. Each thread costs memory, and most of the time those threads are just waiting for a database or a disk.</a:t>
            </a:r>
          </a:p>
          <a:p>
            <a:r>
              <a:rPr b="1"/>
              <a:t>SAY:</a:t>
            </a:r>
            <a:r>
              <a:t> Node uses one thread and an event loop. Instead of waiting, it hands off the slow work (file reads, network calls) to the operating system and moves on. When the work finishes, a callback is queued and the event loop runs it.</a:t>
            </a:r>
          </a:p>
          <a:p>
            <a:r>
              <a:rPr b="1"/>
              <a:t>SAY:</a:t>
            </a:r>
            <a:r>
              <a:t> The analogy: a restaurant where one waiter takes everyone's orders and hands them to the kitchen, rather than one waiter per table who stands at the kitchen door until the food is ready.</a:t>
            </a:r>
          </a:p>
          <a:p>
            <a:r>
              <a:rPr b="1"/>
              <a:t>WATCH FOR:</a:t>
            </a:r>
            <a:r>
              <a:t> The phrase "no buffering" can be misleading. Node does use buffers internally; the point is that it streams data in chunks rather than waiting to accumulate the whole thing.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event loop is a loop that runs for the life of your program. Each time around it checks queues of callbacks that are ready to run: timers that have expired, I/O that has completed, and so on.</a:t>
            </a:r>
            <a:endParaRPr lang="en-US" dirty="0"/>
          </a:p>
          <a:p>
            <a:r>
              <a:rPr b="1"/>
              <a:t>SAY:</a:t>
            </a:r>
            <a:r>
              <a:t> That's why a Node script that only does `console.log('hi')` exits immediately (there's nothing pending), but a script that starts a server keeps running (the server is waiting for connections, so there's always something pending).</a:t>
            </a:r>
          </a:p>
          <a:p>
            <a:r>
              <a:rPr b="1"/>
              <a:t>KEY POINT:</a:t>
            </a:r>
            <a:r>
              <a:t> The same idea applies in the browser. A long-running synchronous loop blocks everything, including clicks and rendering. That's why we use async/await for anything slow.</a:t>
            </a:r>
          </a:p>
        </p:txBody>
      </p:sp>
    </p:spTree>
    <p:extLst>
      <p:ext uri="{BB962C8B-B14F-4D97-AF65-F5344CB8AC3E}">
        <p14:creationId xmlns:p14="http://schemas.microsoft.com/office/powerpoint/2010/main" val="1269097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NOTE:</a:t>
            </a:r>
            <a:r>
              <a:t> This slide repeats slide 34 on purpose, as a recap before the event loop phases. If you're short on time, skip it.</a:t>
            </a:r>
          </a:p>
          <a:p>
            <a:r>
              <a:rPr b="1"/>
              <a:t>ASK:</a:t>
            </a:r>
            <a:r>
              <a:t> Now that you've seen the event loop, how does a single thread handle thousands of connections? (Answer: it never waits; slow work is handed to the OS, and the loop runs the callbacks as results come back.)</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 won't need these phases day to day, but they explain some surprising ordering.</a:t>
            </a:r>
            <a:endParaRPr lang="en-US" dirty="0"/>
          </a:p>
          <a:p>
            <a:r>
              <a:rPr b="1"/>
              <a:t>SAY:</a:t>
            </a:r>
            <a:r>
              <a:t> The one most people trip on: `setTimeout(fn, 0)` vs `setImmediate(fn)`. From the main module the order isn't guaranteed; inside an I/O callback, setImmediate always runs first, because check comes right after poll.</a:t>
            </a:r>
          </a:p>
          <a:p>
            <a:r>
              <a:rPr b="1"/>
              <a:t>KEY POINT:</a:t>
            </a:r>
            <a:r>
              <a:t> Promise callbacks (`.then`, and the code after `await`) are microtasks. They run as soon as the current callback finishes, before the event loop moves to the next callback or phase. That's why `Promise.resolve().then(...)` runs before `setTimeout(..., 0)`.</a:t>
            </a:r>
          </a:p>
          <a:p>
            <a:r>
              <a:t>DEMO (optional): In the Node REPL:</a:t>
            </a:r>
          </a:p>
          <a:p>
            <a:r>
              <a:t>setTimeout(() =&gt; console.log('timeout'), 0); Promise.resolve().then(() =&gt; console.log('promise')); console.log('sync')</a:t>
            </a:r>
          </a:p>
          <a:p>
            <a:r>
              <a:t>Output: sync, promise, timeout.</a:t>
            </a:r>
          </a:p>
          <a:p>
            <a:r>
              <a:rPr b="1"/>
              <a:t>NOTE:</a:t>
            </a:r>
            <a:r>
              <a:t> Older docs call phase 2 "I/O callbacks". The current Node docs call it "pending callbacks".</a:t>
            </a:r>
          </a:p>
        </p:txBody>
      </p:sp>
    </p:spTree>
    <p:extLst>
      <p:ext uri="{BB962C8B-B14F-4D97-AF65-F5344CB8AC3E}">
        <p14:creationId xmlns:p14="http://schemas.microsoft.com/office/powerpoint/2010/main" val="24439296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Here's the loop visually. Trace one turn: timers, then pending I/O callbacks (network and disk), then poll for new events, then setImmediate callbacks in the check phase, then close events, then back around to timers.</a:t>
            </a:r>
            <a:endParaRPr lang="en-US" dirty="0"/>
          </a:p>
          <a:p>
            <a:r>
              <a:rPr b="1"/>
              <a:t>SAY:</a:t>
            </a:r>
            <a:r>
              <a:t> If nothing is left in any queue and nothing is pending (no open server, no timers), Node exits.</a:t>
            </a:r>
          </a:p>
          <a:p>
            <a:r>
              <a:rPr b="1"/>
              <a:t>TRANSITION:</a:t>
            </a:r>
            <a:r>
              <a:t> Node's event-driven style shows up in its APIs too. The most basic example is EventEmitter.</a:t>
            </a:r>
          </a:p>
        </p:txBody>
      </p:sp>
    </p:spTree>
    <p:extLst>
      <p:ext uri="{BB962C8B-B14F-4D97-AF65-F5344CB8AC3E}">
        <p14:creationId xmlns:p14="http://schemas.microsoft.com/office/powerpoint/2010/main" val="16982266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An EventEmitter is a publish/subscribe object. `on()` subscribes a listener to a named event; `emit()` fires the event and calls every listener synchronously, passing along any extra arguments.</a:t>
            </a:r>
            <a:endParaRPr lang="en-US" dirty="0"/>
          </a:p>
          <a:p>
            <a:r>
              <a:rPr b="1"/>
              <a:t>SAY:</a:t>
            </a:r>
            <a:r>
              <a:t> Much of Node is built on it: HTTP servers emit 'request', streams emit 'data' and 'end', processes emit 'exit'.</a:t>
            </a:r>
          </a:p>
          <a:p>
            <a:r>
              <a:rPr b="1"/>
              <a:t>DEMO:</a:t>
            </a:r>
            <a:r>
              <a:t> demos/node-basics/event-emitter.js. Run `node event-emitter.js` from that folder.</a:t>
            </a:r>
          </a:p>
          <a:p>
            <a:r>
              <a:rPr b="1"/>
              <a:t>KEY POINT:</a:t>
            </a:r>
            <a:r>
              <a:t> Vue components emit events in a very similar way, with `emit('name', payload)` in the child and `@name` in the parent. We'll see that on Day 2.</a:t>
            </a:r>
          </a:p>
          <a:p>
            <a:r>
              <a:rPr b="1"/>
              <a:t>NOTE:</a:t>
            </a:r>
            <a:r>
              <a:t> The original slide used `require("events")`. It's updated to ES module syntax to match the rest of the course; both work.</a:t>
            </a:r>
          </a:p>
        </p:txBody>
      </p:sp>
      <p:sp>
        <p:nvSpPr>
          <p:cNvPr id="4" name="Slide Number Placeholder 3"/>
          <p:cNvSpPr>
            <a:spLocks noGrp="1"/>
          </p:cNvSpPr>
          <p:nvPr>
            <p:ph type="sldNum" sz="quarter" idx="10"/>
          </p:nvPr>
        </p:nvSpPr>
        <p:spPr/>
        <p:txBody>
          <a:bodyPr/>
          <a:lstStyle/>
          <a:p>
            <a:fld id="{71770EAF-1B7F-084E-BE5F-E1B515CBCD96}" type="slidenum">
              <a:rPr lang="en-US" smtClean="0"/>
              <a:t>39</a:t>
            </a:fld>
            <a:endParaRPr lang="en-US" dirty="0"/>
          </a:p>
        </p:txBody>
      </p:sp>
    </p:spTree>
    <p:extLst>
      <p:ext uri="{BB962C8B-B14F-4D97-AF65-F5344CB8AC3E}">
        <p14:creationId xmlns:p14="http://schemas.microsoft.com/office/powerpoint/2010/main" val="4057290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complete web server. `createServer` takes a callback that runs once per request; `listen` starts the server and calls its callback once it's ready.</a:t>
            </a:r>
            <a:endParaRPr lang="en-US" dirty="0"/>
          </a:p>
          <a:p>
            <a:r>
              <a:rPr b="1"/>
              <a:t>SAY:</a:t>
            </a:r>
            <a:r>
              <a:t> Notice the event-driven style: we don't loop waiting for requests. We hand Node a function, and Node calls it whenever a request arrives.</a:t>
            </a:r>
          </a:p>
          <a:p>
            <a:r>
              <a:rPr b="1"/>
              <a:t>DEMO:</a:t>
            </a:r>
            <a:r>
              <a:t> demos/node-basics/server.js. Run `node server.js`, open http://127.0.0.1:3000, then press Ctrl+C to stop it. Point out that the program keeps running until you stop it, because the server keeps the event loop busy.</a:t>
            </a:r>
          </a:p>
          <a:p>
            <a:r>
              <a:rPr b="1"/>
              <a:t>KEY POINT:</a:t>
            </a:r>
            <a:r>
              <a:t> `node:http` is the built-in module. The `node:` prefix makes it clear it's built in and can't be shadowed by an npm package with the same name. Students will write this exact server in Lab 08.</a:t>
            </a:r>
          </a:p>
        </p:txBody>
      </p:sp>
      <p:sp>
        <p:nvSpPr>
          <p:cNvPr id="4" name="Slide Number Placeholder 3"/>
          <p:cNvSpPr>
            <a:spLocks noGrp="1"/>
          </p:cNvSpPr>
          <p:nvPr>
            <p:ph type="sldNum" sz="quarter" idx="10"/>
          </p:nvPr>
        </p:nvSpPr>
        <p:spPr/>
        <p:txBody>
          <a:bodyPr/>
          <a:lstStyle/>
          <a:p>
            <a:fld id="{71770EAF-1B7F-084E-BE5F-E1B515CBCD96}" type="slidenum">
              <a:rPr lang="en-US" smtClean="0"/>
              <a:t>40</a:t>
            </a:fld>
            <a:endParaRPr lang="en-US" dirty="0"/>
          </a:p>
        </p:txBody>
      </p:sp>
    </p:spTree>
    <p:extLst>
      <p:ext uri="{BB962C8B-B14F-4D97-AF65-F5344CB8AC3E}">
        <p14:creationId xmlns:p14="http://schemas.microsoft.com/office/powerpoint/2010/main" val="5565396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JavaScript didn't have a module system until ES2015, so Node invented one: CommonJS. You'll still see it in older Node code and many npm packages: `const x = require('x')` and `module.exports = ...`.</a:t>
            </a:r>
            <a:endParaRPr lang="en-US" dirty="0"/>
          </a:p>
          <a:p>
            <a:r>
              <a:rPr b="1"/>
              <a:t>KEY POINT:</a:t>
            </a:r>
            <a:r>
              <a:t> Browsers don't understand require(). Modern code, including everything in a Vite project, uses ES modules: import and export. Node supports both, which is what the next three slides are about.</a:t>
            </a:r>
          </a:p>
        </p:txBody>
      </p:sp>
    </p:spTree>
    <p:extLst>
      <p:ext uri="{BB962C8B-B14F-4D97-AF65-F5344CB8AC3E}">
        <p14:creationId xmlns:p14="http://schemas.microsoft.com/office/powerpoint/2010/main" val="17656971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circle.js adds a function to its exports object. foo.js requires the file and gets that object back.</a:t>
            </a:r>
            <a:endParaRPr lang="en-US" dirty="0"/>
          </a:p>
          <a:p>
            <a:r>
              <a:rPr b="1"/>
              <a:t>SAY:</a:t>
            </a:r>
            <a:r>
              <a:t> require() is synchronous: it reads, runs and returns the module immediately. That works on a server reading from local disk, but it's one reason it was never adopted by browsers.</a:t>
            </a:r>
          </a:p>
          <a:p>
            <a:r>
              <a:rPr b="1"/>
              <a:t>TRANSITION:</a:t>
            </a:r>
            <a:r>
              <a:t> Here's the same pair of files written as ES modules.</a:t>
            </a:r>
          </a:p>
        </p:txBody>
      </p:sp>
      <p:sp>
        <p:nvSpPr>
          <p:cNvPr id="4" name="Slide Number Placeholder 3"/>
          <p:cNvSpPr>
            <a:spLocks noGrp="1"/>
          </p:cNvSpPr>
          <p:nvPr>
            <p:ph type="sldNum" sz="quarter" idx="10"/>
          </p:nvPr>
        </p:nvSpPr>
        <p:spPr/>
        <p:txBody>
          <a:bodyPr/>
          <a:lstStyle/>
          <a:p>
            <a:fld id="{71770EAF-1B7F-084E-BE5F-E1B515CBCD96}" type="slidenum">
              <a:rPr lang="en-US" smtClean="0"/>
              <a:t>42</a:t>
            </a:fld>
            <a:endParaRPr lang="en-US" dirty="0"/>
          </a:p>
        </p:txBody>
      </p:sp>
    </p:spTree>
    <p:extLst>
      <p:ext uri="{BB962C8B-B14F-4D97-AF65-F5344CB8AC3E}">
        <p14:creationId xmlns:p14="http://schemas.microsoft.com/office/powerpoint/2010/main" val="904018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a:spLocks noGrp="1"/>
          </p:cNvSpPr>
          <p:nvPr>
            <p:ph type="body" idx="1"/>
          </p:nvPr>
        </p:nvSpPr>
        <p:spPr/>
        <p:txBody>
          <a:bodyPr/>
          <a:lstStyle/>
          <a:p>
            <a:r>
              <a:rPr b="1"/>
              <a:t>SAY:</a:t>
            </a:r>
            <a:r>
              <a:t> ES modules are the standard JavaScript module system. Named exports are imported with braces using the exported name. A module can also have one default export, imported without braces: `import App from './App.vue'`.</a:t>
            </a:r>
          </a:p>
          <a:p>
            <a:r>
              <a:rPr b="1"/>
              <a:t>KEY POINT:</a:t>
            </a:r>
            <a:r>
              <a:t> Imports are static: they're at the top level and can be analyzed without running the code. That's what makes tree-shaking possible, because the bundler can see exactly which exports are used.</a:t>
            </a:r>
          </a:p>
          <a:p>
            <a:r>
              <a:rPr b="1"/>
              <a:t>SAY:</a:t>
            </a:r>
            <a:r>
              <a:t> This rewrites the CommonJS circle example. To run it in Node, configure Node as shown on the next slide.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a:spLocks noGrp="1"/>
          </p:cNvSpPr>
          <p:nvPr>
            <p:ph type="body" idx="1"/>
          </p:nvPr>
        </p:nvSpPr>
        <p:spPr/>
        <p:txBody>
          <a:bodyPr/>
          <a:lstStyle/>
          <a:p>
            <a:r>
              <a:rPr b="1"/>
              <a:t>SAY:</a:t>
            </a:r>
            <a:r>
              <a:t> Put package.json beside foo.js and circle.js. The nearest package.json above a .js file controls how Node interprets it. Add the type field to the existing JSON; don't replace the whole file.</a:t>
            </a:r>
          </a:p>
          <a:p>
            <a:r>
              <a:rPr b="1"/>
              <a:t>SAY:</a:t>
            </a:r>
            <a:r>
              <a:t> Alternatively rename both files to .mjs and update the import to ./circle.mjs. The .mjs and .cjs extensions select ES modules or CommonJS regardless of the type field.</a:t>
            </a:r>
          </a:p>
          <a:p>
            <a:r>
              <a:rPr b="1"/>
              <a:t>KEY POINT:</a:t>
            </a:r>
            <a:r>
              <a:t> Native Node ES modules require file extensions in relative imports. Bundlers like Vite are more forgiving for .js files, but we'll still write .vue extensions in every import.</a:t>
            </a:r>
          </a:p>
          <a:p>
            <a:r>
              <a:rPr b="1"/>
              <a:t>SAY:</a:t>
            </a:r>
            <a:r>
              <a:t> create-vue projects already have "type": "module" in package.json, which is why vite.config.js and eslint.config.js can use import.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Even if your app never runs on a Node server, your development workflow runs on Node. Every `npm run` command you type in this course launches a Node program.</a:t>
            </a:r>
            <a:endParaRPr lang="en-US" dirty="0"/>
          </a:p>
          <a:p>
            <a:r>
              <a:rPr b="1"/>
              <a:t>NOTE:</a:t>
            </a:r>
            <a:r>
              <a:t> The original slide listed PhantomJS, a headless browser that was abandoned in 2018. Playwright and Puppeteer are the current equivalents.</a:t>
            </a:r>
          </a:p>
          <a:p>
            <a:r>
              <a:rPr b="1"/>
              <a:t>TRANSITION:</a:t>
            </a:r>
            <a:r>
              <a:t> Time to get hands-on with Node and npm.</a:t>
            </a:r>
          </a:p>
        </p:txBody>
      </p:sp>
      <p:sp>
        <p:nvSpPr>
          <p:cNvPr id="4" name="Slide Number Placeholder 3"/>
          <p:cNvSpPr>
            <a:spLocks noGrp="1"/>
          </p:cNvSpPr>
          <p:nvPr>
            <p:ph type="sldNum" sz="quarter" idx="10"/>
          </p:nvPr>
        </p:nvSpPr>
        <p:spPr/>
        <p:txBody>
          <a:bodyPr/>
          <a:lstStyle/>
          <a:p>
            <a:fld id="{71770EAF-1B7F-084E-BE5F-E1B515CBCD96}" type="slidenum">
              <a:rPr lang="en-US" smtClean="0"/>
              <a:t>45</a:t>
            </a:fld>
            <a:endParaRPr lang="en-US" dirty="0"/>
          </a:p>
        </p:txBody>
      </p:sp>
    </p:spTree>
    <p:extLst>
      <p:ext uri="{BB962C8B-B14F-4D97-AF65-F5344CB8AC3E}">
        <p14:creationId xmlns:p14="http://schemas.microsoft.com/office/powerpoint/2010/main" val="40478815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25 minutes.</a:t>
            </a:r>
            <a:endParaRPr lang="en-US" dirty="0"/>
          </a:p>
          <a:p>
            <a:r>
              <a:rPr b="1"/>
              <a:t>LAB TIPS:</a:t>
            </a:r>
          </a:p>
          <a:p>
            <a:r>
              <a:t>- Students work in labs/lab06 from the course repo.</a:t>
            </a:r>
          </a:p>
          <a:p>
            <a:r>
              <a:t>- To exit the REPL: Ctrl+D (Mac/Linux), Ctrl+Z then Enter (Windows), or Ctrl+C twice anywhere.</a:t>
            </a:r>
          </a:p>
          <a:p>
            <a:r>
              <a:t>- The `??` in `process.argv[2] ?? 'World'` is nullish coalescing: use the default only when the value is null or undefined.</a:t>
            </a:r>
          </a:p>
          <a:p>
            <a:r>
              <a:rPr b="1"/>
              <a:t>COMMON PROBLEMS:</a:t>
            </a:r>
          </a:p>
          <a:p>
            <a:r>
              <a:t>- 'node' is not recognized: Node isn't on the PATH. On Windows, closing and reopening the terminal after installing usually fixes it.</a:t>
            </a:r>
          </a:p>
          <a:p>
            <a:r>
              <a:t>- Permission errors on `npm update -g`: don't use sudo. Recommend a Node version manager (nvm, fnm, or Volta).</a:t>
            </a:r>
          </a:p>
          <a:p>
            <a:r>
              <a:rPr b="1"/>
              <a:t>DEBRIEF:</a:t>
            </a:r>
            <a:r>
              <a:t> Ask: what's the difference between the REPL and running a file? When would you use each?</a:t>
            </a:r>
          </a:p>
        </p:txBody>
      </p:sp>
      <p:sp>
        <p:nvSpPr>
          <p:cNvPr id="4" name="Slide Number Placeholder 3"/>
          <p:cNvSpPr>
            <a:spLocks noGrp="1"/>
          </p:cNvSpPr>
          <p:nvPr>
            <p:ph type="sldNum" sz="quarter" idx="10"/>
          </p:nvPr>
        </p:nvSpPr>
        <p:spPr/>
        <p:txBody>
          <a:bodyPr/>
          <a:lstStyle/>
          <a:p>
            <a:fld id="{71770EAF-1B7F-084E-BE5F-E1B515CBCD96}" type="slidenum">
              <a:rPr lang="en-US" smtClean="0"/>
              <a:t>46</a:t>
            </a:fld>
            <a:endParaRPr lang="en-US" dirty="0"/>
          </a:p>
        </p:txBody>
      </p:sp>
    </p:spTree>
    <p:extLst>
      <p:ext uri="{BB962C8B-B14F-4D97-AF65-F5344CB8AC3E}">
        <p14:creationId xmlns:p14="http://schemas.microsoft.com/office/powerpoint/2010/main" val="1138621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75 minutes for this part, including Labs 07-09.</a:t>
            </a:r>
          </a:p>
          <a:p>
            <a:r>
              <a:rPr b="1"/>
              <a:t>SAY:</a:t>
            </a:r>
            <a:r>
              <a:t> For the next few labs, we'll work in separate folders outside the Conduit project, so we can see each fundamental tool on its own before it's hidden inside a create-vue project.</a:t>
            </a:r>
          </a:p>
        </p:txBody>
      </p:sp>
      <p:sp>
        <p:nvSpPr>
          <p:cNvPr id="4" name="Slide Number Placeholder 3"/>
          <p:cNvSpPr>
            <a:spLocks noGrp="1"/>
          </p:cNvSpPr>
          <p:nvPr>
            <p:ph type="sldNum" sz="quarter" idx="5"/>
          </p:nvPr>
        </p:nvSpPr>
        <p:spPr/>
        <p:txBody>
          <a:bodyPr/>
          <a:lstStyle/>
          <a:p>
            <a:fld id="{71770EAF-1B7F-084E-BE5F-E1B515CBCD96}" type="slidenum">
              <a:rPr lang="en-US" smtClean="0"/>
              <a:t>47</a:t>
            </a:fld>
            <a:endParaRPr lang="en-US"/>
          </a:p>
        </p:txBody>
      </p:sp>
    </p:spTree>
    <p:extLst>
      <p:ext uri="{BB962C8B-B14F-4D97-AF65-F5344CB8AC3E}">
        <p14:creationId xmlns:p14="http://schemas.microsoft.com/office/powerpoint/2010/main" val="17062515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tool we'll look at serves one of these goals.</a:t>
            </a:r>
          </a:p>
          <a:p>
            <a:r>
              <a:t>- Version control: git, plus a .gitignore that keeps node_modules and dist out of the repo.</a:t>
            </a:r>
          </a:p>
          <a:p>
            <a:r>
              <a:t>- Automation: npm scripts, so `npm run lint` or `npm test` does the same thing for everyone.</a:t>
            </a:r>
          </a:p>
          <a:p>
            <a:r>
              <a:t>- Reproducible builds: package.json plus package-lock.json, so a new developer or a CI server gets exactly the same dependency versions.</a:t>
            </a:r>
          </a:p>
          <a:p>
            <a:r>
              <a:t>- TDD: Vitest in watch mode re-running tests on every save.</a:t>
            </a:r>
          </a:p>
          <a:p>
            <a:r>
              <a:rPr b="1"/>
              <a:t>ASK:</a:t>
            </a:r>
            <a:r>
              <a:t> Who has had "it works on my machine" problems? Most of them come from missing automation or non-reproducible dependencies.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npm is three things: a command-line tool, a public registry of over two million packages, and the website for browsing that registry.</a:t>
            </a:r>
            <a:endParaRPr lang="en-US" b="0" dirty="0"/>
          </a:p>
          <a:p>
            <a:r>
              <a:rPr b="1"/>
              <a:t>KEY POINT:</a:t>
            </a:r>
            <a:r>
              <a:t> npm ships with Node. To update npm, the normal approach is to install a newer Node, rather than updating npm on its own.</a:t>
            </a:r>
          </a:p>
          <a:p>
            <a:r>
              <a:rPr b="1"/>
              <a:t>SAY:</a:t>
            </a:r>
            <a:r>
              <a:t> `npm create vue@latest`, which we used earlier, is shorthand for running the create-vue package with npx.</a:t>
            </a:r>
          </a:p>
        </p:txBody>
      </p:sp>
      <p:sp>
        <p:nvSpPr>
          <p:cNvPr id="4" name="Slide Number Placeholder 3"/>
          <p:cNvSpPr>
            <a:spLocks noGrp="1"/>
          </p:cNvSpPr>
          <p:nvPr>
            <p:ph type="sldNum" sz="quarter" idx="10"/>
          </p:nvPr>
        </p:nvSpPr>
        <p:spPr/>
        <p:txBody>
          <a:bodyPr/>
          <a:lstStyle/>
          <a:p>
            <a:fld id="{71770EAF-1B7F-084E-BE5F-E1B515CBCD96}" type="slidenum">
              <a:rPr lang="en-US" smtClean="0"/>
              <a:t>49</a:t>
            </a:fld>
            <a:endParaRPr lang="en-US" dirty="0"/>
          </a:p>
        </p:txBody>
      </p:sp>
    </p:spTree>
    <p:extLst>
      <p:ext uri="{BB962C8B-B14F-4D97-AF65-F5344CB8AC3E}">
        <p14:creationId xmlns:p14="http://schemas.microsoft.com/office/powerpoint/2010/main" val="25681122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You'll run into these in the wild. pnpm in particular is popular for monorepos and is what Vue's own repository uses.</a:t>
            </a:r>
          </a:p>
          <a:p>
            <a:r>
              <a:rPr b="1"/>
              <a:t>KEY POINT:</a:t>
            </a:r>
            <a:r>
              <a:t> Pick one per project and stick with it. The lockfile tells you which: package-lock.json (npm), yarn.lock, pnpm-lock.yaml, or bun.lock. Mixing them causes confusing version differences.</a:t>
            </a:r>
          </a:p>
          <a:p>
            <a:r>
              <a:rPr b="1"/>
              <a:t>SAY:</a:t>
            </a:r>
            <a:r>
              <a:t> In this course we use npm because it's already installed everywhere.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npm stores information about your project, and the packages it uses, in package.json. `npm init` creates one by asking you a few questions.</a:t>
            </a:r>
            <a:endParaRPr lang="en-US" dirty="0"/>
          </a:p>
          <a:p>
            <a:r>
              <a:rPr b="1"/>
              <a:t>LAB TIPS:</a:t>
            </a:r>
          </a:p>
          <a:p>
            <a:r>
              <a:t>- `npm init -y` accepts all the defaults if students want to skip the questions.</a:t>
            </a:r>
          </a:p>
          <a:p>
            <a:r>
              <a:t>- Git Bash on Windows sometimes hangs after the last npm init question. Ctrl+C is safe; package.json has already been written.</a:t>
            </a:r>
          </a:p>
          <a:p>
            <a:r>
              <a:rPr b="1"/>
              <a:t>KEY POINT:</a:t>
            </a:r>
            <a:r>
              <a:t> pre and post scripts: if you define prebuild, npm runs it automatically before build. Lab 09 uses this to run the linter before the tests.</a:t>
            </a:r>
          </a:p>
          <a:p>
            <a:r>
              <a:rPr b="1"/>
              <a:t>DEBRIEF:</a:t>
            </a:r>
            <a:r>
              <a:t> Ask why the build fails when the test script exits with 1. (npm stops at the first script that exits with a non-zero code. That's exactly what you want in CI.)</a:t>
            </a:r>
          </a:p>
        </p:txBody>
      </p:sp>
      <p:sp>
        <p:nvSpPr>
          <p:cNvPr id="4" name="Slide Number Placeholder 3"/>
          <p:cNvSpPr>
            <a:spLocks noGrp="1"/>
          </p:cNvSpPr>
          <p:nvPr>
            <p:ph type="sldNum" sz="quarter" idx="10"/>
          </p:nvPr>
        </p:nvSpPr>
        <p:spPr/>
        <p:txBody>
          <a:bodyPr/>
          <a:lstStyle/>
          <a:p>
            <a:fld id="{71770EAF-1B7F-084E-BE5F-E1B515CBCD96}" type="slidenum">
              <a:rPr lang="en-US" smtClean="0"/>
              <a:t>51</a:t>
            </a:fld>
            <a:endParaRPr lang="en-US" dirty="0"/>
          </a:p>
        </p:txBody>
      </p:sp>
    </p:spTree>
    <p:extLst>
      <p:ext uri="{BB962C8B-B14F-4D97-AF65-F5344CB8AC3E}">
        <p14:creationId xmlns:p14="http://schemas.microsoft.com/office/powerpoint/2010/main" val="27108349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node_modules is often huge: hundreds of packages, because each dependency has its own dependencies. That's normal.</a:t>
            </a:r>
          </a:p>
          <a:p>
            <a:r>
              <a:rPr b="1"/>
              <a:t>KEY POINT:</a:t>
            </a:r>
            <a:r>
              <a:t> node_modules is disposable. When something is mysteriously broken, deleting node_modules and running `npm install` (or `npm ci`) is a legitimate fix. Make sure it's in .gitignore; create-vue does this for you.</a:t>
            </a:r>
          </a:p>
          <a:p>
            <a:r>
              <a:rPr b="1"/>
              <a:t>WATCH FOR:</a:t>
            </a:r>
            <a:r>
              <a:t> Students running `npm install` in the wrong folder. That creates a stray package.json and node_modules somewhere unexpected, and then "cannot find module" errors in the real project.</a:t>
            </a:r>
          </a:p>
          <a:p>
            <a:r>
              <a:rPr b="1"/>
              <a:t>NOTE:</a:t>
            </a:r>
            <a:r>
              <a:t> Old versions of npm created very deep nested folders that broke Windows' path length limit. Modern npm flattens node_modules, so that's rarely an issue now.</a:t>
            </a:r>
          </a:p>
        </p:txBody>
      </p:sp>
      <p:sp>
        <p:nvSpPr>
          <p:cNvPr id="4" name="Slide Number Placeholder 3"/>
          <p:cNvSpPr>
            <a:spLocks noGrp="1"/>
          </p:cNvSpPr>
          <p:nvPr>
            <p:ph type="sldNum" sz="quarter" idx="10"/>
          </p:nvPr>
        </p:nvSpPr>
        <p:spPr/>
        <p:txBody>
          <a:bodyPr/>
          <a:lstStyle/>
          <a:p>
            <a:fld id="{71770EAF-1B7F-084E-BE5F-E1B515CBCD96}" type="slidenum">
              <a:rPr lang="en-US" smtClean="0"/>
              <a:t>52</a:t>
            </a:fld>
            <a:endParaRPr lang="en-US" dirty="0"/>
          </a:p>
        </p:txBody>
      </p:sp>
    </p:spTree>
    <p:extLst>
      <p:ext uri="{BB962C8B-B14F-4D97-AF65-F5344CB8AC3E}">
        <p14:creationId xmlns:p14="http://schemas.microsoft.com/office/powerpoint/2010/main" val="20868373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Semantic versioning: MAJOR changes can break your code; MINOR adds features without breaking anything; PATCH fixes bugs.</a:t>
            </a:r>
            <a:endParaRPr lang="en-US" dirty="0"/>
          </a:p>
          <a:p>
            <a:r>
              <a:rPr b="1"/>
              <a:t>SAY:</a:t>
            </a:r>
            <a:r>
              <a:t> The range operators in package.json:</a:t>
            </a:r>
          </a:p>
          <a:p>
            <a:r>
              <a:t>- `~3.5.13` allows patch updates only: 3.5.x.</a:t>
            </a:r>
          </a:p>
          <a:p>
            <a:r>
              <a:t>- `^3.5.13` allows minor and patch updates: 3.x.x. This is npm's default.</a:t>
            </a:r>
          </a:p>
          <a:p>
            <a:r>
              <a:t>- `*` allows any version. Never use it.</a:t>
            </a:r>
          </a:p>
          <a:p>
            <a:r>
              <a:rPr b="1"/>
              <a:t>KEY POINT:</a:t>
            </a:r>
            <a:r>
              <a:t> The lockfile (package-lock.json) records the exact version that was installed. package.json says what's allowed; the lockfile says what you actually got. Commit both.</a:t>
            </a:r>
          </a:p>
          <a:p>
            <a:r>
              <a:rPr b="1"/>
              <a:t>ASK:</a:t>
            </a:r>
            <a:r>
              <a:t> If package.json says "vue": "^3.5.0" and Vue 4.0 comes out, will npm install it? (No. The caret never crosses a major version.)</a:t>
            </a:r>
          </a:p>
        </p:txBody>
      </p:sp>
      <p:sp>
        <p:nvSpPr>
          <p:cNvPr id="4" name="Slide Number Placeholder 3"/>
          <p:cNvSpPr>
            <a:spLocks noGrp="1"/>
          </p:cNvSpPr>
          <p:nvPr>
            <p:ph type="sldNum" sz="quarter" idx="10"/>
          </p:nvPr>
        </p:nvSpPr>
        <p:spPr/>
        <p:txBody>
          <a:bodyPr/>
          <a:lstStyle/>
          <a:p>
            <a:fld id="{71770EAF-1B7F-084E-BE5F-E1B515CBCD96}" type="slidenum">
              <a:rPr lang="en-US" smtClean="0"/>
              <a:t>53</a:t>
            </a:fld>
            <a:endParaRPr lang="en-US" dirty="0"/>
          </a:p>
        </p:txBody>
      </p:sp>
    </p:spTree>
    <p:extLst>
      <p:ext uri="{BB962C8B-B14F-4D97-AF65-F5344CB8AC3E}">
        <p14:creationId xmlns:p14="http://schemas.microsoft.com/office/powerpoint/2010/main" val="11377162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Plain `npm install` with no package name installs everything listed in package.json. With a name, it installs that package and adds it to package.json.</a:t>
            </a:r>
            <a:endParaRPr lang="en-US" dirty="0"/>
          </a:p>
          <a:p>
            <a:r>
              <a:rPr b="1"/>
              <a:t>KEY POINT:</a:t>
            </a:r>
            <a:r>
              <a:t> The dependencies vs devDependencies split matters for libraries and servers. For a Vite front-end app, everything ends up bundled anyway, but by convention build and test tools (vite, vitest, eslint) go in devDependencies and runtime libraries (vue, pinia, vue-router, axios) go in dependencies.</a:t>
            </a:r>
          </a:p>
          <a:p>
            <a:r>
              <a:rPr b="1"/>
              <a:t>SAY:</a:t>
            </a:r>
            <a:r>
              <a:t> `npm ci` deletes node_modules and installs exactly what's in the lockfile, failing if package.json and the lockfile disagree. That's what you want on a build server.</a:t>
            </a:r>
          </a:p>
          <a:p>
            <a:r>
              <a:rPr b="1"/>
              <a:t>NOTE:</a:t>
            </a:r>
            <a:r>
              <a:t> `--save-optional` (optionalDependencies) still exists but is rarely used in front-end projects, so it's dropped from the slide.</a:t>
            </a:r>
          </a:p>
        </p:txBody>
      </p:sp>
      <p:sp>
        <p:nvSpPr>
          <p:cNvPr id="4" name="Slide Number Placeholder 3"/>
          <p:cNvSpPr>
            <a:spLocks noGrp="1"/>
          </p:cNvSpPr>
          <p:nvPr>
            <p:ph type="sldNum" sz="quarter" idx="10"/>
          </p:nvPr>
        </p:nvSpPr>
        <p:spPr/>
        <p:txBody>
          <a:bodyPr/>
          <a:lstStyle/>
          <a:p>
            <a:fld id="{71770EAF-1B7F-084E-BE5F-E1B515CBCD96}" type="slidenum">
              <a:rPr lang="en-US" smtClean="0"/>
              <a:t>54</a:t>
            </a:fld>
            <a:endParaRPr lang="en-US" dirty="0"/>
          </a:p>
        </p:txBody>
      </p:sp>
    </p:spTree>
    <p:extLst>
      <p:ext uri="{BB962C8B-B14F-4D97-AF65-F5344CB8AC3E}">
        <p14:creationId xmlns:p14="http://schemas.microsoft.com/office/powerpoint/2010/main" val="10898462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DO:</a:t>
            </a:r>
            <a:r>
              <a:t> Open the Conduit project's package.json and walk through it live. That makes this slide concrete.</a:t>
            </a:r>
          </a:p>
          <a:p>
            <a:r>
              <a:rPr b="1"/>
              <a:t>SAY:</a:t>
            </a:r>
            <a:r>
              <a:t> Point out:</a:t>
            </a:r>
          </a:p>
          <a:p>
            <a:r>
              <a:t>- `"private": true`, which stops you accidentally publishing your app to npm.</a:t>
            </a:r>
          </a:p>
          <a:p>
            <a:r>
              <a:t>- `"type": "module"`, which makes .js files ES modules.</a:t>
            </a:r>
          </a:p>
          <a:p>
            <a:r>
              <a:t>- The scripts create-vue wrote: dev, build, preview, test:unit, lint, format.</a:t>
            </a:r>
          </a:p>
          <a:p>
            <a:r>
              <a:t>- `engines`, which documents the Node version the project needs.</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the server from slide 40. Writing it yourself makes the event-driven model concrete: your callback runs once for each request.</a:t>
            </a:r>
          </a:p>
          <a:p>
            <a:r>
              <a:rPr b="1"/>
              <a:t>LAB TIPS:</a:t>
            </a:r>
          </a:p>
          <a:p>
            <a:r>
              <a:t>- The template literal in console.log uses backticks, not single quotes. That's the most common typo in this lab.</a:t>
            </a:r>
          </a:p>
          <a:p>
            <a:r>
              <a:t>- To return HTML, change the Content-Type header to text/html.</a:t>
            </a:r>
          </a:p>
          <a:p>
            <a:r>
              <a:rPr b="1"/>
              <a:t>COMMON PROBLEMS:</a:t>
            </a:r>
          </a:p>
          <a:p>
            <a:r>
              <a:t>- "Cannot use import statement outside a module": "type": "module" is missing from package.json.</a:t>
            </a:r>
          </a:p>
          <a:p>
            <a:r>
              <a:t>- EADDRINUSE: something is already on port 3000, often their own server from a previous run. Stop it with Ctrl+C or change the port.</a:t>
            </a:r>
          </a:p>
          <a:p>
            <a:r>
              <a:rPr b="1"/>
              <a:t>DEBRIEF:</a:t>
            </a:r>
            <a:r>
              <a:t> Ask why the program doesn't exit like the scripts in Lab 06. (The listening server keeps the event loop alive.)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DEMO:</a:t>
            </a:r>
            <a:r>
              <a:rPr dirty="0"/>
              <a:t> Build demos/Vue-Starter from scratch in an empty folder, or open the finished version and walk through it:</a:t>
            </a:r>
          </a:p>
          <a:p>
            <a:r>
              <a:rPr dirty="0"/>
              <a:t>1. `</a:t>
            </a:r>
            <a:r>
              <a:rPr dirty="0" err="1"/>
              <a:t>npm</a:t>
            </a:r>
            <a:r>
              <a:rPr dirty="0"/>
              <a:t> </a:t>
            </a:r>
            <a:r>
              <a:rPr dirty="0" err="1"/>
              <a:t>init</a:t>
            </a:r>
            <a:r>
              <a:rPr dirty="0"/>
              <a:t> -y`, then install </a:t>
            </a:r>
            <a:r>
              <a:rPr dirty="0" err="1"/>
              <a:t>vue</a:t>
            </a:r>
            <a:r>
              <a:rPr dirty="0"/>
              <a:t>, </a:t>
            </a:r>
            <a:r>
              <a:rPr dirty="0" err="1"/>
              <a:t>vite</a:t>
            </a:r>
            <a:r>
              <a:rPr dirty="0"/>
              <a:t> and @</a:t>
            </a:r>
            <a:r>
              <a:rPr dirty="0" err="1"/>
              <a:t>vitejs</a:t>
            </a:r>
            <a:r>
              <a:rPr dirty="0"/>
              <a:t>/plugin-</a:t>
            </a:r>
            <a:r>
              <a:rPr dirty="0" err="1"/>
              <a:t>vue</a:t>
            </a:r>
            <a:r>
              <a:rPr dirty="0"/>
              <a:t>. Add "type": "module" to </a:t>
            </a:r>
            <a:r>
              <a:rPr dirty="0" err="1"/>
              <a:t>package.json</a:t>
            </a:r>
            <a:r>
              <a:rPr dirty="0"/>
              <a:t>.</a:t>
            </a:r>
          </a:p>
          <a:p>
            <a:r>
              <a:rPr dirty="0"/>
              <a:t>2. </a:t>
            </a:r>
            <a:r>
              <a:rPr dirty="0" err="1"/>
              <a:t>index.html</a:t>
            </a:r>
            <a:r>
              <a:rPr dirty="0"/>
              <a:t> in the root, with &lt;div id="app"&gt; and &lt;script type="module" </a:t>
            </a:r>
            <a:r>
              <a:rPr dirty="0" err="1"/>
              <a:t>src</a:t>
            </a:r>
            <a:r>
              <a:rPr dirty="0"/>
              <a:t>="/</a:t>
            </a:r>
            <a:r>
              <a:rPr dirty="0" err="1"/>
              <a:t>src</a:t>
            </a:r>
            <a:r>
              <a:rPr dirty="0"/>
              <a:t>/</a:t>
            </a:r>
            <a:r>
              <a:rPr dirty="0" err="1"/>
              <a:t>main.js</a:t>
            </a:r>
            <a:r>
              <a:rPr dirty="0"/>
              <a:t>"&gt;.</a:t>
            </a:r>
          </a:p>
          <a:p>
            <a:r>
              <a:rPr dirty="0"/>
              <a:t>3. </a:t>
            </a:r>
            <a:r>
              <a:rPr dirty="0" err="1"/>
              <a:t>vite.config.js</a:t>
            </a:r>
            <a:r>
              <a:rPr dirty="0"/>
              <a:t> exporting </a:t>
            </a:r>
            <a:r>
              <a:rPr dirty="0" err="1"/>
              <a:t>defineConfig</a:t>
            </a:r>
            <a:r>
              <a:rPr dirty="0"/>
              <a:t>({ plugins: [</a:t>
            </a:r>
            <a:r>
              <a:rPr dirty="0" err="1"/>
              <a:t>vue</a:t>
            </a:r>
            <a:r>
              <a:rPr dirty="0"/>
              <a:t>()] }).</a:t>
            </a:r>
          </a:p>
          <a:p>
            <a:r>
              <a:rPr dirty="0"/>
              <a:t>4. </a:t>
            </a:r>
            <a:r>
              <a:rPr dirty="0" err="1"/>
              <a:t>src</a:t>
            </a:r>
            <a:r>
              <a:rPr dirty="0"/>
              <a:t>/</a:t>
            </a:r>
            <a:r>
              <a:rPr dirty="0" err="1"/>
              <a:t>main.js</a:t>
            </a:r>
            <a:r>
              <a:rPr dirty="0"/>
              <a:t>: </a:t>
            </a:r>
            <a:r>
              <a:rPr dirty="0" err="1"/>
              <a:t>createApp</a:t>
            </a:r>
            <a:r>
              <a:rPr dirty="0"/>
              <a:t>(App).mount('#app').</a:t>
            </a:r>
          </a:p>
          <a:p>
            <a:r>
              <a:rPr dirty="0"/>
              <a:t>5. </a:t>
            </a:r>
            <a:r>
              <a:rPr dirty="0" err="1"/>
              <a:t>src</a:t>
            </a:r>
            <a:r>
              <a:rPr dirty="0"/>
              <a:t>/</a:t>
            </a:r>
            <a:r>
              <a:rPr dirty="0" err="1"/>
              <a:t>App.vue</a:t>
            </a:r>
            <a:r>
              <a:rPr dirty="0"/>
              <a:t> with a ref and a template.</a:t>
            </a:r>
          </a:p>
          <a:p>
            <a:r>
              <a:rPr dirty="0"/>
              <a:t>6. `</a:t>
            </a:r>
            <a:r>
              <a:rPr dirty="0" err="1"/>
              <a:t>npx</a:t>
            </a:r>
            <a:r>
              <a:rPr dirty="0"/>
              <a:t> </a:t>
            </a:r>
            <a:r>
              <a:rPr dirty="0" err="1"/>
              <a:t>vite</a:t>
            </a:r>
            <a:r>
              <a:rPr dirty="0"/>
              <a:t>` (or </a:t>
            </a:r>
            <a:r>
              <a:rPr dirty="0" err="1"/>
              <a:t>npm</a:t>
            </a:r>
            <a:r>
              <a:rPr dirty="0"/>
              <a:t> run dev).</a:t>
            </a:r>
          </a:p>
          <a:p>
            <a:r>
              <a:rPr b="1" dirty="0"/>
              <a:t>KEY POINT:</a:t>
            </a:r>
            <a:r>
              <a:rPr dirty="0"/>
              <a:t> create-</a:t>
            </a:r>
            <a:r>
              <a:rPr dirty="0" err="1"/>
              <a:t>vue</a:t>
            </a:r>
            <a:r>
              <a:rPr dirty="0"/>
              <a:t> generated all of this plus linting and testing. Seeing the minimum makes it clear what each piece does, and that there's no magic.</a:t>
            </a:r>
          </a:p>
          <a:p>
            <a:r>
              <a:rPr b="1" dirty="0"/>
              <a:t>NOTE:</a:t>
            </a:r>
            <a:r>
              <a:rPr dirty="0"/>
              <a:t> The old notes linked to a </a:t>
            </a:r>
            <a:r>
              <a:rPr dirty="0" err="1"/>
              <a:t>freeCodeCamp</a:t>
            </a:r>
            <a:r>
              <a:rPr dirty="0"/>
              <a:t> article that used webpack. That approach is obsolete; the Vite version above is the current equivalent.</a:t>
            </a:r>
          </a:p>
        </p:txBody>
      </p:sp>
      <p:sp>
        <p:nvSpPr>
          <p:cNvPr id="4" name="Slide Number Placeholder 3"/>
          <p:cNvSpPr>
            <a:spLocks noGrp="1"/>
          </p:cNvSpPr>
          <p:nvPr>
            <p:ph type="sldNum" sz="quarter" idx="5"/>
          </p:nvPr>
        </p:nvSpPr>
        <p:spPr/>
        <p:txBody>
          <a:bodyPr/>
          <a:lstStyle/>
          <a:p>
            <a:fld id="{71770EAF-1B7F-084E-BE5F-E1B515CBCD96}" type="slidenum">
              <a:rPr lang="en-US" smtClean="0"/>
              <a:t>57</a:t>
            </a:fld>
            <a:endParaRPr lang="en-US"/>
          </a:p>
        </p:txBody>
      </p:sp>
    </p:spTree>
    <p:extLst>
      <p:ext uri="{BB962C8B-B14F-4D97-AF65-F5344CB8AC3E}">
        <p14:creationId xmlns:p14="http://schemas.microsoft.com/office/powerpoint/2010/main" val="16641646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20 minutes including Lab 09.</a:t>
            </a:r>
            <a:endParaRPr lang="en-US" dirty="0"/>
          </a:p>
          <a:p>
            <a:r>
              <a:rPr b="1"/>
              <a:t>SAY:</a:t>
            </a:r>
            <a:r>
              <a:t> Static code analysis means examining code without running it. Linters catch bugs (an undefined variable, an unused import, a == that should be ===) and enforce consistent style, before the code ever reaches a browser.</a:t>
            </a:r>
          </a:p>
        </p:txBody>
      </p:sp>
      <p:sp>
        <p:nvSpPr>
          <p:cNvPr id="4" name="Slide Number Placeholder 3"/>
          <p:cNvSpPr>
            <a:spLocks noGrp="1"/>
          </p:cNvSpPr>
          <p:nvPr>
            <p:ph type="sldNum" sz="quarter" idx="10"/>
          </p:nvPr>
        </p:nvSpPr>
        <p:spPr/>
        <p:txBody>
          <a:bodyPr/>
          <a:lstStyle/>
          <a:p>
            <a:fld id="{71770EAF-1B7F-084E-BE5F-E1B515CBCD96}" type="slidenum">
              <a:rPr lang="en-US" smtClean="0"/>
              <a:t>58</a:t>
            </a:fld>
            <a:endParaRPr lang="en-US" dirty="0"/>
          </a:p>
        </p:txBody>
      </p:sp>
    </p:spTree>
    <p:extLst>
      <p:ext uri="{BB962C8B-B14F-4D97-AF65-F5344CB8AC3E}">
        <p14:creationId xmlns:p14="http://schemas.microsoft.com/office/powerpoint/2010/main" val="4919873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Linting tools look at your code for errors and bad practices.</a:t>
            </a:r>
          </a:p>
          <a:p>
            <a:r>
              <a:rPr b="1"/>
              <a:t>BACKGROUND:</a:t>
            </a:r>
            <a:r>
              <a:t> The first JavaScript linter was JSLint, created by Douglas Crockford. It flagged many style choices Crockford disliked, with little configuration. JSHint was created to give more control. ESLint came next and won because everything is a pluggable rule, with plugins for Vue, React, TypeScript, accessibility and more.</a:t>
            </a:r>
          </a:p>
          <a:p>
            <a:r>
              <a:rPr b="1"/>
              <a:t>KEY POINT:</a:t>
            </a:r>
            <a:r>
              <a:t> Linters and formatters do different jobs. Prettier decides where line breaks and quotes go; ESLint finds problems. create-vue sets them up to work together, with Prettier owning formatting and ESLint's style rules turned off where they'd conflict.</a:t>
            </a:r>
          </a:p>
          <a:p>
            <a:r>
              <a:rPr b="1"/>
              <a:t>SAY:</a:t>
            </a:r>
            <a:r>
              <a:t> The Rust-based tools (Biome, oxlint) are much faster, which matters in very large codebases. oxlint comes from the same Oxc project that Vite 8 now uses for transforms.</a:t>
            </a:r>
          </a:p>
        </p:txBody>
      </p:sp>
      <p:sp>
        <p:nvSpPr>
          <p:cNvPr id="4" name="Slide Number Placeholder 3"/>
          <p:cNvSpPr>
            <a:spLocks noGrp="1"/>
          </p:cNvSpPr>
          <p:nvPr>
            <p:ph type="sldNum" sz="quarter" idx="10"/>
          </p:nvPr>
        </p:nvSpPr>
        <p:spPr/>
        <p:txBody>
          <a:bodyPr/>
          <a:lstStyle/>
          <a:p>
            <a:fld id="{71770EAF-1B7F-084E-BE5F-E1B515CBCD96}" type="slidenum">
              <a:rPr lang="en-US" smtClean="0"/>
              <a:t>59</a:t>
            </a:fld>
            <a:endParaRPr lang="en-US" dirty="0"/>
          </a:p>
        </p:txBody>
      </p:sp>
    </p:spTree>
    <p:extLst>
      <p:ext uri="{BB962C8B-B14F-4D97-AF65-F5344CB8AC3E}">
        <p14:creationId xmlns:p14="http://schemas.microsoft.com/office/powerpoint/2010/main" val="449203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Configuration comments are useful for one-off exceptions. The most common is `// eslint-disable-next-line no-console` on a line where you really do want console.log.</a:t>
            </a:r>
            <a:endParaRPr lang="en-US" dirty="0"/>
          </a:p>
          <a:p>
            <a:r>
              <a:rPr b="1"/>
              <a:t>KEY POINT:</a:t>
            </a:r>
            <a:r>
              <a:t> If students find ESLint tutorials online, most still show the old .eslintrc format. It doesn't work in ESLint 10. Look for "flat config" or eslint.config.js.</a:t>
            </a:r>
          </a:p>
          <a:p>
            <a:r>
              <a:rPr b="1"/>
              <a:t>SAY:</a:t>
            </a:r>
            <a:r>
              <a:t> Flat config is just a JavaScript module exporting an array of config objects. ESLint applies every object whose `files` pattern matches the file being linted, in order, so later entries override earlier ones. That's simpler to reason about than the old cascading .eslintrc files.</a:t>
            </a:r>
          </a:p>
        </p:txBody>
      </p:sp>
      <p:sp>
        <p:nvSpPr>
          <p:cNvPr id="4" name="Slide Number Placeholder 3"/>
          <p:cNvSpPr>
            <a:spLocks noGrp="1"/>
          </p:cNvSpPr>
          <p:nvPr>
            <p:ph type="sldNum" sz="quarter" idx="10"/>
          </p:nvPr>
        </p:nvSpPr>
        <p:spPr/>
        <p:txBody>
          <a:bodyPr/>
          <a:lstStyle/>
          <a:p>
            <a:fld id="{71770EAF-1B7F-084E-BE5F-E1B515CBCD96}" type="slidenum">
              <a:rPr lang="en-US" smtClean="0"/>
              <a:t>60</a:t>
            </a:fld>
            <a:endParaRPr lang="en-US" dirty="0"/>
          </a:p>
        </p:txBody>
      </p:sp>
    </p:spTree>
    <p:extLst>
      <p:ext uri="{BB962C8B-B14F-4D97-AF65-F5344CB8AC3E}">
        <p14:creationId xmlns:p14="http://schemas.microsoft.com/office/powerpoint/2010/main" val="11129209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object in the flat config array can have these keys.</a:t>
            </a:r>
            <a:endParaRPr lang="en-US" dirty="0"/>
          </a:p>
          <a:p>
            <a:r>
              <a:t>- languageOptions tells the parser what JavaScript to expect. `globals` stops ESLint from reporting `window` or `document` as undefined in browser code; the `globals` package provides ready-made sets like globals.browser and globals.node.</a:t>
            </a:r>
          </a:p>
          <a:p>
            <a:r>
              <a:t>- files and ignores pick which files an object applies to. An object containing only `ignores` works like the old .eslintignore.</a:t>
            </a:r>
          </a:p>
          <a:p>
            <a:r>
              <a:t>- plugins are imported with a normal import statement, so there's no more guessing about package names.</a:t>
            </a:r>
          </a:p>
          <a:p>
            <a:r>
              <a:t>- rules is where you turn individual checks on or off.</a:t>
            </a:r>
          </a:p>
          <a:p>
            <a:r>
              <a:rPr b="1"/>
              <a:t>DO:</a:t>
            </a:r>
            <a:r>
              <a:t> Open the Conduit project's eslint.config.js and show the real thing: the Vue plugin's recommended config, the Prettier compatibility config, and the files and ignores entries.</a:t>
            </a:r>
          </a:p>
        </p:txBody>
      </p:sp>
      <p:sp>
        <p:nvSpPr>
          <p:cNvPr id="4" name="Slide Number Placeholder 3"/>
          <p:cNvSpPr>
            <a:spLocks noGrp="1"/>
          </p:cNvSpPr>
          <p:nvPr>
            <p:ph type="sldNum" sz="quarter" idx="10"/>
          </p:nvPr>
        </p:nvSpPr>
        <p:spPr/>
        <p:txBody>
          <a:bodyPr/>
          <a:lstStyle/>
          <a:p>
            <a:fld id="{71770EAF-1B7F-084E-BE5F-E1B515CBCD96}" type="slidenum">
              <a:rPr lang="en-US" smtClean="0"/>
              <a:t>61</a:t>
            </a:fld>
            <a:endParaRPr lang="en-US" dirty="0"/>
          </a:p>
        </p:txBody>
      </p:sp>
    </p:spTree>
    <p:extLst>
      <p:ext uri="{BB962C8B-B14F-4D97-AF65-F5344CB8AC3E}">
        <p14:creationId xmlns:p14="http://schemas.microsoft.com/office/powerpoint/2010/main" val="2791185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rule's value is either a level, or an array of the level followed by options. `quotes: ['error', 'double']` means "require double quotes, and treat violations as errors".</a:t>
            </a:r>
            <a:endParaRPr lang="en-US" dirty="0"/>
          </a:p>
          <a:p>
            <a:r>
              <a:rPr b="1"/>
              <a:t>KEY POINT:</a:t>
            </a:r>
            <a:r>
              <a:t> The difference between warn and error matters in automation. ESLint's exit code is non-zero only for errors, so an error will fail a CI build or an npm script chain, and a warning won't. In Lab 09 we'll set no-console to warn so console.log is flagged but doesn't block the build.</a:t>
            </a:r>
          </a:p>
          <a:p>
            <a:r>
              <a:rPr b="1"/>
              <a:t>TIP:</a:t>
            </a:r>
            <a:r>
              <a:t> `npx eslint --fix .` automatically fixes many rule violations, like quotes and semicolons.</a:t>
            </a:r>
          </a:p>
        </p:txBody>
      </p:sp>
      <p:sp>
        <p:nvSpPr>
          <p:cNvPr id="4" name="Slide Number Placeholder 3"/>
          <p:cNvSpPr>
            <a:spLocks noGrp="1"/>
          </p:cNvSpPr>
          <p:nvPr>
            <p:ph type="sldNum" sz="quarter" idx="10"/>
          </p:nvPr>
        </p:nvSpPr>
        <p:spPr/>
        <p:txBody>
          <a:bodyPr/>
          <a:lstStyle/>
          <a:p>
            <a:fld id="{71770EAF-1B7F-084E-BE5F-E1B515CBCD96}" type="slidenum">
              <a:rPr lang="en-US" smtClean="0"/>
              <a:t>62</a:t>
            </a:fld>
            <a:endParaRPr lang="en-US" dirty="0"/>
          </a:p>
        </p:txBody>
      </p:sp>
    </p:spTree>
    <p:extLst>
      <p:ext uri="{BB962C8B-B14F-4D97-AF65-F5344CB8AC3E}">
        <p14:creationId xmlns:p14="http://schemas.microsoft.com/office/powerpoint/2010/main" val="1810958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20 minutes.</a:t>
            </a:r>
            <a:endParaRPr lang="en-US" dirty="0"/>
          </a:p>
          <a:p>
            <a:r>
              <a:rPr b="1"/>
              <a:t>LAB TIPS:</a:t>
            </a:r>
          </a:p>
          <a:p>
            <a:r>
              <a:t>- Students work in labs/lab09, which contains a javascript.js file with deliberate problems.</a:t>
            </a:r>
          </a:p>
          <a:p>
            <a:r>
              <a:t>- Make sure package.json has "type": "module" (or students name the config eslint.config.mjs). Otherwise `import` in the config fails.</a:t>
            </a:r>
          </a:p>
          <a:p>
            <a:r>
              <a:t>- The lint script is simply "eslint ." There's no --ext flag in ESLint 10; the `files` pattern in the config decides what gets linted.</a:t>
            </a:r>
          </a:p>
          <a:p>
            <a:r>
              <a:rPr b="1"/>
              <a:t>COMMON PROBLEMS:</a:t>
            </a:r>
          </a:p>
          <a:p>
            <a:r>
              <a:t>- linebreak-style errors on every line for Windows users: set it to 'windows', or turn it off.</a:t>
            </a:r>
          </a:p>
          <a:p>
            <a:r>
              <a:t>- "No files matching the pattern": the `files` glob doesn't match. Check for typos in '**/*.js'.</a:t>
            </a:r>
          </a:p>
          <a:p>
            <a:r>
              <a:rPr b="1"/>
              <a:t>DEBRIEF:</a:t>
            </a:r>
            <a:r>
              <a:t> Show the result: `npm run build` now lints, then tests, then builds, and stops at the first failure. That's the automation and reproducibility from the "Why have tooling?" slide.</a:t>
            </a:r>
          </a:p>
        </p:txBody>
      </p:sp>
      <p:sp>
        <p:nvSpPr>
          <p:cNvPr id="4" name="Slide Number Placeholder 3"/>
          <p:cNvSpPr>
            <a:spLocks noGrp="1"/>
          </p:cNvSpPr>
          <p:nvPr>
            <p:ph type="sldNum" sz="quarter" idx="10"/>
          </p:nvPr>
        </p:nvSpPr>
        <p:spPr/>
        <p:txBody>
          <a:bodyPr/>
          <a:lstStyle/>
          <a:p>
            <a:fld id="{71770EAF-1B7F-084E-BE5F-E1B515CBCD96}" type="slidenum">
              <a:rPr lang="en-US" smtClean="0"/>
              <a:t>63</a:t>
            </a:fld>
            <a:endParaRPr lang="en-US" dirty="0"/>
          </a:p>
        </p:txBody>
      </p:sp>
    </p:spTree>
    <p:extLst>
      <p:ext uri="{BB962C8B-B14F-4D97-AF65-F5344CB8AC3E}">
        <p14:creationId xmlns:p14="http://schemas.microsoft.com/office/powerpoint/2010/main" val="38709212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transpiler is a compiler that translates one version of a language into another, for example modern JavaScript into older JavaScript. Also TypeScript into JavaScript, or JSX into function calls.</a:t>
            </a:r>
          </a:p>
          <a:p>
            <a:r>
              <a:rPr b="1"/>
              <a:t>SAY:</a:t>
            </a:r>
            <a:r>
              <a:t> Today, evergreen browsers support almost all modern JavaScript, so transpiling matters less than it did in 2016. The main jobs now are stripping TypeScript types, compiling .vue files, and handling the newest syntax.</a:t>
            </a:r>
          </a:p>
          <a:p>
            <a:r>
              <a:rPr b="1"/>
              <a:t>DO:</a:t>
            </a:r>
            <a:r>
              <a:t> Open caniuse.com and look up something students care about, such as "optional chaining" or "CSS nesting", to show the support tables.</a:t>
            </a:r>
          </a:p>
          <a:p>
            <a:r>
              <a:rPr b="1"/>
              <a:t>IF ASKED:</a:t>
            </a:r>
            <a:r>
              <a:t> What about really old browsers? Vite's official @vitejs/plugin-legacy generates a second, transpiled and polyfilled bundle for browsers without native ES module support.</a:t>
            </a:r>
          </a:p>
          <a:p>
            <a:r>
              <a:rPr b="1"/>
              <a:t>NOTE:</a:t>
            </a:r>
            <a:r>
              <a:t> This slide used to say esbuild handles the syntax. That was true through Vite 7. Vite 8 (March 2026) uses Oxc for transforms and Rolldown for bundling.</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compatibility table, originally by kangax, shows every JavaScript feature against every browser and transpiler. Green is supported, red is not.</a:t>
            </a:r>
          </a:p>
          <a:p>
            <a:r>
              <a:rPr b="1"/>
              <a:t>SAY:</a:t>
            </a:r>
            <a:r>
              <a:t> The point to make: support used to be very patchy, which is why every project needed Babel. Today the modern browser columns are almost entirely green, which is why Vite defaults to only light transformation.</a:t>
            </a:r>
          </a:p>
          <a:p>
            <a:r>
              <a:rPr b="1"/>
              <a:t>TIP:</a:t>
            </a:r>
            <a:r>
              <a:t> For day-to-day questions, caniuse.com and the browser compatibility table at the bottom of every MDN reference page are easier to read.</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Babel is still widely used, especially in older webpack projects and React Native, and it's where new JavaScript proposals usually get their first implementation.</a:t>
            </a:r>
            <a:endParaRPr lang="en-US" dirty="0"/>
          </a:p>
          <a:p>
            <a:r>
              <a:rPr b="1"/>
              <a:t>SAY:</a:t>
            </a:r>
            <a:r>
              <a:t> esbuild showed that rewriting tooling in a compiled language could make it dramatically faster. Vite adopted it early. Oxc continues that trend in Rust, and Vite 8 uses it together with the Rolldown bundler.</a:t>
            </a:r>
          </a:p>
          <a:p>
            <a:r>
              <a:rPr b="1"/>
              <a:t>KEY POINT:</a:t>
            </a:r>
            <a:r>
              <a:t> In a Vite project you configure Vite, and Vite configures the transformer. Students only need to know these names so they recognize them in error messages and articles.</a:t>
            </a:r>
          </a:p>
          <a:p>
            <a:r>
              <a:rPr b="1"/>
              <a:t>WATCH FOR:</a:t>
            </a:r>
            <a:r>
              <a:t> Old Vue CLI projects have a babel.config.js. In a Vite project it does nothing unless a plugin explicitly uses Babel. (The demos/Vue-Starter folder still has an old .babelrc.js; it's unused and can be deleted.)</a:t>
            </a:r>
          </a:p>
        </p:txBody>
      </p:sp>
      <p:sp>
        <p:nvSpPr>
          <p:cNvPr id="4" name="Slide Number Placeholder 3"/>
          <p:cNvSpPr>
            <a:spLocks noGrp="1"/>
          </p:cNvSpPr>
          <p:nvPr>
            <p:ph type="sldNum" sz="quarter" idx="10"/>
          </p:nvPr>
        </p:nvSpPr>
        <p:spPr/>
        <p:txBody>
          <a:bodyPr/>
          <a:lstStyle/>
          <a:p>
            <a:fld id="{71770EAF-1B7F-084E-BE5F-E1B515CBCD96}" type="slidenum">
              <a:rPr lang="en-US" smtClean="0"/>
              <a:t>66</a:t>
            </a:fld>
            <a:endParaRPr lang="en-US" dirty="0"/>
          </a:p>
        </p:txBody>
      </p:sp>
    </p:spTree>
    <p:extLst>
      <p:ext uri="{BB962C8B-B14F-4D97-AF65-F5344CB8AC3E}">
        <p14:creationId xmlns:p14="http://schemas.microsoft.com/office/powerpoint/2010/main" val="1947894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Here's what a transpiler does to some ES2015 code when targeting ES5:</a:t>
            </a:r>
            <a:endParaRPr lang="en-US" dirty="0"/>
          </a:p>
          <a:p>
            <a:r>
              <a:t>- `let` becomes `var`. (The transpiler also checks that this doesn't change behavior, renaming variables if needed.)</a:t>
            </a:r>
          </a:p>
          <a:p>
            <a:r>
              <a:t>- The arrow function becomes a function expression. It even gets a name, myFunc, so it shows up properly in stack traces.</a:t>
            </a:r>
          </a:p>
          <a:p>
            <a:r>
              <a:t>- The shorthand property `{ myProp }` becomes `{ myProp: myProp }`.</a:t>
            </a:r>
          </a:p>
          <a:p>
            <a:r>
              <a:t>- "use strict" is added, because ES modules are always strict.</a:t>
            </a:r>
          </a:p>
          <a:p>
            <a:r>
              <a:t>DEMO (optional): Paste the left side into the Babel REPL at babeljs.io/repl with the ES5 preset to show this live.</a:t>
            </a:r>
          </a:p>
        </p:txBody>
      </p:sp>
      <p:sp>
        <p:nvSpPr>
          <p:cNvPr id="4" name="Slide Number Placeholder 3"/>
          <p:cNvSpPr>
            <a:spLocks noGrp="1"/>
          </p:cNvSpPr>
          <p:nvPr>
            <p:ph type="sldNum" sz="quarter" idx="5"/>
          </p:nvPr>
        </p:nvSpPr>
        <p:spPr/>
        <p:txBody>
          <a:bodyPr/>
          <a:lstStyle/>
          <a:p>
            <a:fld id="{71770EAF-1B7F-084E-BE5F-E1B515CBCD96}" type="slidenum">
              <a:rPr lang="en-US" smtClean="0"/>
              <a:t>67</a:t>
            </a:fld>
            <a:endParaRPr lang="en-US" dirty="0"/>
          </a:p>
        </p:txBody>
      </p:sp>
    </p:spTree>
    <p:extLst>
      <p:ext uri="{BB962C8B-B14F-4D97-AF65-F5344CB8AC3E}">
        <p14:creationId xmlns:p14="http://schemas.microsoft.com/office/powerpoint/2010/main" val="26902229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Why bundle at all? A large app can have thousands of modules. Loading each over its own HTTP request in production would be slow, so bundlers combine them into a few optimized files, remove unused code (tree-shaking), split the code into chunks that load on demand, and minify it.</a:t>
            </a:r>
            <a:endParaRPr lang="en-US" dirty="0"/>
          </a:p>
          <a:p>
            <a:r>
              <a:rPr b="1"/>
              <a:t>KEY POINT:</a:t>
            </a:r>
            <a:r>
              <a:t> Vite's trick is to skip bundling in development, where serving native ES modules is fast enough, and bundle only for production.</a:t>
            </a:r>
          </a:p>
          <a:p>
            <a:r>
              <a:rPr b="1"/>
              <a:t>SAY:</a:t>
            </a:r>
            <a:r>
              <a:t> Before Vite 8, that meant two different tools (esbuild in dev, Rollup in prod), which occasionally behaved differently. Rolldown replaces both, so dev and production now go through the same engine.</a:t>
            </a:r>
          </a:p>
        </p:txBody>
      </p:sp>
      <p:sp>
        <p:nvSpPr>
          <p:cNvPr id="4" name="Slide Number Placeholder 3"/>
          <p:cNvSpPr>
            <a:spLocks noGrp="1"/>
          </p:cNvSpPr>
          <p:nvPr>
            <p:ph type="sldNum" sz="quarter" idx="10"/>
          </p:nvPr>
        </p:nvSpPr>
        <p:spPr/>
        <p:txBody>
          <a:bodyPr/>
          <a:lstStyle/>
          <a:p>
            <a:fld id="{71770EAF-1B7F-084E-BE5F-E1B515CBCD96}" type="slidenum">
              <a:rPr lang="en-US" smtClean="0"/>
              <a:t>68</a:t>
            </a:fld>
            <a:endParaRPr lang="en-US" dirty="0"/>
          </a:p>
        </p:txBody>
      </p:sp>
    </p:spTree>
    <p:extLst>
      <p:ext uri="{BB962C8B-B14F-4D97-AF65-F5344CB8AC3E}">
        <p14:creationId xmlns:p14="http://schemas.microsoft.com/office/powerpoint/2010/main" val="40151963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When you open the dev server URL, the browser requests index.html, which has a script type="module" tag pointing at /src/main.js. Main.js imports App.vue, so the browser requests App.vue, and Vite compiles it to JavaScript on the fly and sends it back. And so on down the import tree.</a:t>
            </a:r>
            <a:endParaRPr lang="en-US" dirty="0"/>
          </a:p>
          <a:p>
            <a:r>
              <a:rPr b="1"/>
              <a:t>SAY:</a:t>
            </a:r>
            <a:r>
              <a:t> Dependencies in node_modules get special treatment. A package like lodash-es can be hundreds of tiny files, so Vite pre-bundles each dependency into one file the first time you run the dev server, and caches it in node_modules/.vite.</a:t>
            </a:r>
          </a:p>
          <a:p>
            <a:r>
              <a:rPr b="1"/>
              <a:t>DEMO:</a:t>
            </a:r>
            <a:r>
              <a:t> In the Conduit project, open DevTools &gt; Network, reload, and filter by JS. Show App.vue, TheHeader.vue etc. being requested individually. Then run `npm run build` and show the few hashed files in dist/assets.</a:t>
            </a:r>
          </a:p>
          <a:p>
            <a:r>
              <a:rPr b="1"/>
              <a:t>WATCH FOR:</a:t>
            </a:r>
            <a:r>
              <a:t> If dependencies behave strangely after an install or upgrade, delete node_modules/.vite (or run `npx vite --force`) to rebuild the pre-bundle cache.</a:t>
            </a:r>
          </a:p>
        </p:txBody>
      </p:sp>
      <p:sp>
        <p:nvSpPr>
          <p:cNvPr id="4" name="Slide Number Placeholder 3"/>
          <p:cNvSpPr>
            <a:spLocks noGrp="1"/>
          </p:cNvSpPr>
          <p:nvPr>
            <p:ph type="sldNum" sz="quarter" idx="10"/>
          </p:nvPr>
        </p:nvSpPr>
        <p:spPr/>
        <p:txBody>
          <a:bodyPr/>
          <a:lstStyle/>
          <a:p>
            <a:fld id="{71770EAF-1B7F-084E-BE5F-E1B515CBCD96}" type="slidenum">
              <a:rPr lang="en-US" smtClean="0"/>
              <a:t>69</a:t>
            </a:fld>
            <a:endParaRPr lang="en-US" dirty="0"/>
          </a:p>
        </p:txBody>
      </p:sp>
    </p:spTree>
    <p:extLst>
      <p:ext uri="{BB962C8B-B14F-4D97-AF65-F5344CB8AC3E}">
        <p14:creationId xmlns:p14="http://schemas.microsoft.com/office/powerpoint/2010/main" val="35025299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15 minutes. This is a review for most developers; move faster if the group is experienced.</a:t>
            </a:r>
            <a:endParaRPr lang="en-US" dirty="0"/>
          </a:p>
          <a:p>
            <a:r>
              <a:rPr b="1"/>
              <a:t>SAY:</a:t>
            </a:r>
            <a:r>
              <a:t> Vue's job is to manage the DOM for you. To appreciate what it's doing, and to debug it when something goes wrong, you need a clear picture of what the DOM is.</a:t>
            </a:r>
          </a:p>
        </p:txBody>
      </p:sp>
      <p:sp>
        <p:nvSpPr>
          <p:cNvPr id="4" name="Slide Number Placeholder 3"/>
          <p:cNvSpPr>
            <a:spLocks noGrp="1"/>
          </p:cNvSpPr>
          <p:nvPr>
            <p:ph type="sldNum" sz="quarter" idx="10"/>
          </p:nvPr>
        </p:nvSpPr>
        <p:spPr/>
        <p:txBody>
          <a:bodyPr/>
          <a:lstStyle/>
          <a:p>
            <a:fld id="{71770EAF-1B7F-084E-BE5F-E1B515CBCD96}" type="slidenum">
              <a:rPr lang="en-US" smtClean="0"/>
              <a:t>70</a:t>
            </a:fld>
            <a:endParaRPr lang="en-US" dirty="0"/>
          </a:p>
        </p:txBody>
      </p:sp>
    </p:spTree>
    <p:extLst>
      <p:ext uri="{BB962C8B-B14F-4D97-AF65-F5344CB8AC3E}">
        <p14:creationId xmlns:p14="http://schemas.microsoft.com/office/powerpoint/2010/main" val="11758207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When the browser loads HTML, it parses it into a tree of objects in memory: the Document Object Model. The window object is at the top; the document is inside it; and inside the document are the html, head and body elements and everything nested in them.</a:t>
            </a:r>
            <a:endParaRPr lang="en-US" dirty="0"/>
          </a:p>
          <a:p>
            <a:r>
              <a:rPr b="1"/>
              <a:t>KEY POINT:</a:t>
            </a:r>
            <a:r>
              <a:t> The DOM is not the HTML source. It's a live object model. JavaScript (and browser extensions, and Vue) can change it after the page loads, and DevTools' Elements panel shows the DOM, not the original source.</a:t>
            </a:r>
          </a:p>
          <a:p>
            <a:r>
              <a:rPr b="1"/>
              <a:t>DEMO:</a:t>
            </a:r>
            <a:r>
              <a:t> Open DevTools on any page, select an element in the Elements panel, then type `$0` in the console. That's a reference to the selected DOM node. Try `$0.textContent = 'Hello'`.</a:t>
            </a:r>
          </a:p>
        </p:txBody>
      </p:sp>
      <p:sp>
        <p:nvSpPr>
          <p:cNvPr id="4" name="Slide Number Placeholder 3"/>
          <p:cNvSpPr>
            <a:spLocks noGrp="1"/>
          </p:cNvSpPr>
          <p:nvPr>
            <p:ph type="sldNum" sz="quarter" idx="10"/>
          </p:nvPr>
        </p:nvSpPr>
        <p:spPr/>
        <p:txBody>
          <a:bodyPr/>
          <a:lstStyle/>
          <a:p>
            <a:fld id="{71770EAF-1B7F-084E-BE5F-E1B515CBCD96}" type="slidenum">
              <a:rPr lang="en-US" smtClean="0"/>
              <a:t>71</a:t>
            </a:fld>
            <a:endParaRPr lang="en-US" dirty="0"/>
          </a:p>
        </p:txBody>
      </p:sp>
    </p:spTree>
    <p:extLst>
      <p:ext uri="{BB962C8B-B14F-4D97-AF65-F5344CB8AC3E}">
        <p14:creationId xmlns:p14="http://schemas.microsoft.com/office/powerpoint/2010/main" val="11352310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Everything in the DOM tree is a node, but there are different kinds. Elements are the tags. Text nodes hold the text between tags, including whitespace. Comments are nodes too.</a:t>
            </a:r>
            <a:endParaRPr lang="en-US" dirty="0"/>
          </a:p>
          <a:p>
            <a:r>
              <a:rPr b="1"/>
              <a:t>SAY:</a:t>
            </a:r>
            <a:r>
              <a:t> This matters in Vue in one place you'll see this week: a component with a v-if that's false renders a comment node as a placeholder. If you inspect the DOM and see `&lt;!--v-if--&gt;`, that's what it is.</a:t>
            </a:r>
          </a:p>
        </p:txBody>
      </p:sp>
      <p:sp>
        <p:nvSpPr>
          <p:cNvPr id="4" name="Slide Number Placeholder 3"/>
          <p:cNvSpPr>
            <a:spLocks noGrp="1"/>
          </p:cNvSpPr>
          <p:nvPr>
            <p:ph type="sldNum" sz="quarter" idx="10"/>
          </p:nvPr>
        </p:nvSpPr>
        <p:spPr/>
        <p:txBody>
          <a:bodyPr/>
          <a:lstStyle/>
          <a:p>
            <a:fld id="{71770EAF-1B7F-084E-BE5F-E1B515CBCD96}" type="slidenum">
              <a:rPr lang="en-US" smtClean="0"/>
              <a:t>72</a:t>
            </a:fld>
            <a:endParaRPr lang="en-US" dirty="0"/>
          </a:p>
        </p:txBody>
      </p:sp>
    </p:spTree>
    <p:extLst>
      <p:ext uri="{BB962C8B-B14F-4D97-AF65-F5344CB8AC3E}">
        <p14:creationId xmlns:p14="http://schemas.microsoft.com/office/powerpoint/2010/main" val="32287277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Anything that can have an event listener attached implements EventTarget. That's every element, the document, and the window, plus non-DOM things like XMLHttpRequest and WebSocket.</a:t>
            </a:r>
            <a:endParaRPr lang="en-US" dirty="0"/>
          </a:p>
          <a:p>
            <a:r>
              <a:rPr b="1"/>
              <a:t>KEY POINT:</a:t>
            </a:r>
            <a:r>
              <a:t> Vue's @click is a thin layer over addEventListener. Vue adds the listener when the element is created and removes it when the element is destroyed, so you don't leak listeners.</a:t>
            </a:r>
          </a:p>
        </p:txBody>
      </p:sp>
      <p:sp>
        <p:nvSpPr>
          <p:cNvPr id="4" name="Slide Number Placeholder 3"/>
          <p:cNvSpPr>
            <a:spLocks noGrp="1"/>
          </p:cNvSpPr>
          <p:nvPr>
            <p:ph type="sldNum" sz="quarter" idx="10"/>
          </p:nvPr>
        </p:nvSpPr>
        <p:spPr/>
        <p:txBody>
          <a:bodyPr/>
          <a:lstStyle/>
          <a:p>
            <a:fld id="{71770EAF-1B7F-084E-BE5F-E1B515CBCD96}" type="slidenum">
              <a:rPr lang="en-US" smtClean="0"/>
              <a:t>73</a:t>
            </a:fld>
            <a:endParaRPr lang="en-US" dirty="0"/>
          </a:p>
        </p:txBody>
      </p:sp>
    </p:spTree>
    <p:extLst>
      <p:ext uri="{BB962C8B-B14F-4D97-AF65-F5344CB8AC3E}">
        <p14:creationId xmlns:p14="http://schemas.microsoft.com/office/powerpoint/2010/main" val="107072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sample of the events elements can receive. You'll use click, input, submit, keydown and the focus events most often in Vue.</a:t>
            </a:r>
            <a:endParaRPr lang="en-US" dirty="0"/>
          </a:p>
          <a:p>
            <a:r>
              <a:rPr b="1"/>
              <a:t>TIP:</a:t>
            </a:r>
            <a:r>
              <a:t> mouseenter/mouseleave don't bubble and fire only for the element itself; mouseover/mouseout bubble and fire again for each child. That difference causes a lot of flickering-hover bugs.</a:t>
            </a:r>
          </a:p>
          <a:p>
            <a:r>
              <a:rPr b="1"/>
              <a:t>SAY:</a:t>
            </a:r>
            <a:r>
              <a:t> For text inputs, listen to `input` (fires on every change) rather than `keyup` (misses paste and autocomplete). Vue's v-model uses `input` for exactly this reason.</a:t>
            </a:r>
          </a:p>
          <a:p>
            <a:r>
              <a:rPr b="1"/>
              <a:t>NOTE:</a:t>
            </a:r>
            <a:r>
              <a:t> The original slide listed `unload`. It's deprecated and browsers are removing it; use `pagehide` or `visibilitychange` instead.</a:t>
            </a:r>
          </a:p>
        </p:txBody>
      </p:sp>
      <p:sp>
        <p:nvSpPr>
          <p:cNvPr id="4" name="Slide Number Placeholder 3"/>
          <p:cNvSpPr>
            <a:spLocks noGrp="1"/>
          </p:cNvSpPr>
          <p:nvPr>
            <p:ph type="sldNum" sz="quarter" idx="10"/>
          </p:nvPr>
        </p:nvSpPr>
        <p:spPr/>
        <p:txBody>
          <a:bodyPr/>
          <a:lstStyle/>
          <a:p>
            <a:fld id="{71770EAF-1B7F-084E-BE5F-E1B515CBCD96}" type="slidenum">
              <a:rPr lang="en-US" smtClean="0"/>
              <a:t>74</a:t>
            </a:fld>
            <a:endParaRPr lang="en-US" dirty="0"/>
          </a:p>
        </p:txBody>
      </p:sp>
    </p:spTree>
    <p:extLst>
      <p:ext uri="{BB962C8B-B14F-4D97-AF65-F5344CB8AC3E}">
        <p14:creationId xmlns:p14="http://schemas.microsoft.com/office/powerpoint/2010/main" val="27123433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There are hundreds of event types. MDN's event reference is the place to look them up. Each entry says which interface fires it, whether it bubbles, and whether it can be cancelled with preventDefault().</a:t>
            </a:r>
            <a:endParaRPr lang="en-US" dirty="0"/>
          </a:p>
          <a:p>
            <a:r>
              <a:rPr b="1"/>
              <a:t>KEY POINT:</a:t>
            </a:r>
            <a:r>
              <a:t> `submit` on a form is the one we'll use most. Listen for submit on the form, not click on the button, so pressing Enter works too.</a:t>
            </a:r>
          </a:p>
        </p:txBody>
      </p:sp>
      <p:sp>
        <p:nvSpPr>
          <p:cNvPr id="4" name="Slide Number Placeholder 3"/>
          <p:cNvSpPr>
            <a:spLocks noGrp="1"/>
          </p:cNvSpPr>
          <p:nvPr>
            <p:ph type="sldNum" sz="quarter" idx="10"/>
          </p:nvPr>
        </p:nvSpPr>
        <p:spPr/>
        <p:txBody>
          <a:bodyPr/>
          <a:lstStyle/>
          <a:p>
            <a:fld id="{71770EAF-1B7F-084E-BE5F-E1B515CBCD96}" type="slidenum">
              <a:rPr lang="en-US" smtClean="0"/>
              <a:t>75</a:t>
            </a:fld>
            <a:endParaRPr lang="en-US" dirty="0"/>
          </a:p>
        </p:txBody>
      </p:sp>
    </p:spTree>
    <p:extLst>
      <p:ext uri="{BB962C8B-B14F-4D97-AF65-F5344CB8AC3E}">
        <p14:creationId xmlns:p14="http://schemas.microsoft.com/office/powerpoint/2010/main" val="349707668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These are the properties and methods you'll reach for most when working with the DOM directly.</a:t>
            </a:r>
            <a:endParaRPr lang="en-US" dirty="0"/>
          </a:p>
          <a:p>
            <a:r>
              <a:rPr b="1"/>
              <a:t>KEY POINT:</a:t>
            </a:r>
            <a:r>
              <a:t> innerHTML parses a string as HTML. That's an XSS risk if the string comes from users. textContent sets plain text and is safe. Vue's {{ }} interpolation uses the safe text approach; v-html uses innerHTML, which is why the docs warn about it.</a:t>
            </a:r>
          </a:p>
          <a:p>
            <a:r>
              <a:rPr b="1"/>
              <a:t>NOTE:</a:t>
            </a:r>
            <a:r>
              <a:t> getElementById is a method of document, not of individual elements, so it's listed with document here.</a:t>
            </a:r>
          </a:p>
        </p:txBody>
      </p:sp>
      <p:sp>
        <p:nvSpPr>
          <p:cNvPr id="4" name="Slide Number Placeholder 3"/>
          <p:cNvSpPr>
            <a:spLocks noGrp="1"/>
          </p:cNvSpPr>
          <p:nvPr>
            <p:ph type="sldNum" sz="quarter" idx="10"/>
          </p:nvPr>
        </p:nvSpPr>
        <p:spPr/>
        <p:txBody>
          <a:bodyPr/>
          <a:lstStyle/>
          <a:p>
            <a:fld id="{71770EAF-1B7F-084E-BE5F-E1B515CBCD96}" type="slidenum">
              <a:rPr lang="en-US" smtClean="0"/>
              <a:t>76</a:t>
            </a:fld>
            <a:endParaRPr lang="en-US" dirty="0"/>
          </a:p>
        </p:txBody>
      </p:sp>
    </p:spTree>
    <p:extLst>
      <p:ext uri="{BB962C8B-B14F-4D97-AF65-F5344CB8AC3E}">
        <p14:creationId xmlns:p14="http://schemas.microsoft.com/office/powerpoint/2010/main" val="26116248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the imperative way: find the element, then change it. Each step is an instruction you write.</a:t>
            </a:r>
            <a:endParaRPr lang="en-US" dirty="0"/>
          </a:p>
          <a:p>
            <a:r>
              <a:rPr b="1"/>
              <a:t>SAY:</a:t>
            </a:r>
            <a:r>
              <a:t> For one element, this is fine. Now imagine keeping a list of 100 items in sync with an array that changes: finding the right element, inserting, removing, reordering. That bookkeeping is what frameworks automate.</a:t>
            </a:r>
          </a:p>
          <a:p>
            <a:r>
              <a:rPr b="1"/>
              <a:t>NOTE:</a:t>
            </a:r>
            <a:r>
              <a:t> The original slide called getElementById without `document.`, which would throw. Fixed here, and changed to textContent since we're setting plain text.</a:t>
            </a:r>
          </a:p>
          <a:p>
            <a:r>
              <a:rPr b="1"/>
              <a:t>TRANSITION:</a:t>
            </a:r>
            <a:r>
              <a:t> Let's compare the same task in plain DOM code, jQuery, React and Vue.</a:t>
            </a:r>
          </a:p>
        </p:txBody>
      </p:sp>
      <p:sp>
        <p:nvSpPr>
          <p:cNvPr id="4" name="Slide Number Placeholder 3"/>
          <p:cNvSpPr>
            <a:spLocks noGrp="1"/>
          </p:cNvSpPr>
          <p:nvPr>
            <p:ph type="sldNum" sz="quarter" idx="10"/>
          </p:nvPr>
        </p:nvSpPr>
        <p:spPr/>
        <p:txBody>
          <a:bodyPr/>
          <a:lstStyle/>
          <a:p>
            <a:fld id="{71770EAF-1B7F-084E-BE5F-E1B515CBCD96}" type="slidenum">
              <a:rPr lang="en-US" smtClean="0"/>
              <a:t>77</a:t>
            </a:fld>
            <a:endParaRPr lang="en-US" dirty="0"/>
          </a:p>
        </p:txBody>
      </p:sp>
    </p:spTree>
    <p:extLst>
      <p:ext uri="{BB962C8B-B14F-4D97-AF65-F5344CB8AC3E}">
        <p14:creationId xmlns:p14="http://schemas.microsoft.com/office/powerpoint/2010/main" val="27345262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querySelectorAll takes any CSS selector and returns a NodeList of matches. Here we update the first song.</a:t>
            </a:r>
            <a:endParaRPr lang="en-US" dirty="0"/>
          </a:p>
          <a:p>
            <a:r>
              <a:rPr b="1"/>
              <a:t>ASK:</a:t>
            </a:r>
            <a:r>
              <a:t> What happens if the array of songs changes and we need four list items? (We have to create an li, set its text and class, and append it ourselves. The HTML and the data drift apart unless we keep them in sync by hand.)</a:t>
            </a:r>
          </a:p>
        </p:txBody>
      </p:sp>
      <p:sp>
        <p:nvSpPr>
          <p:cNvPr id="4" name="Slide Number Placeholder 3"/>
          <p:cNvSpPr>
            <a:spLocks noGrp="1"/>
          </p:cNvSpPr>
          <p:nvPr>
            <p:ph type="sldNum" sz="quarter" idx="10"/>
          </p:nvPr>
        </p:nvSpPr>
        <p:spPr/>
        <p:txBody>
          <a:bodyPr/>
          <a:lstStyle/>
          <a:p>
            <a:fld id="{71770EAF-1B7F-084E-BE5F-E1B515CBCD96}" type="slidenum">
              <a:rPr lang="en-US" smtClean="0"/>
              <a:t>78</a:t>
            </a:fld>
            <a:endParaRPr lang="en-US" dirty="0"/>
          </a:p>
        </p:txBody>
      </p:sp>
    </p:spTree>
    <p:extLst>
      <p:ext uri="{BB962C8B-B14F-4D97-AF65-F5344CB8AC3E}">
        <p14:creationId xmlns:p14="http://schemas.microsoft.com/office/powerpoint/2010/main" val="415536377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jQuery made DOM code shorter and smoothed over browser differences that were huge in 2006. But it's the same imperative model: you still find elements and change them, step by step.</a:t>
            </a:r>
            <a:endParaRPr lang="en-US" dirty="0"/>
          </a:p>
          <a:p>
            <a:r>
              <a:rPr b="1"/>
              <a:t>SAY:</a:t>
            </a:r>
            <a:r>
              <a:t> Today, querySelectorAll, classList and fetch cover most of what jQuery was used for, so new projects rarely include it.</a:t>
            </a:r>
          </a:p>
        </p:txBody>
      </p:sp>
      <p:sp>
        <p:nvSpPr>
          <p:cNvPr id="4" name="Slide Number Placeholder 3"/>
          <p:cNvSpPr>
            <a:spLocks noGrp="1"/>
          </p:cNvSpPr>
          <p:nvPr>
            <p:ph type="sldNum" sz="quarter" idx="10"/>
          </p:nvPr>
        </p:nvSpPr>
        <p:spPr/>
        <p:txBody>
          <a:bodyPr/>
          <a:lstStyle/>
          <a:p>
            <a:fld id="{71770EAF-1B7F-084E-BE5F-E1B515CBCD96}" type="slidenum">
              <a:rPr lang="en-US" smtClean="0"/>
              <a:t>79</a:t>
            </a:fld>
            <a:endParaRPr lang="en-US" dirty="0"/>
          </a:p>
        </p:txBody>
      </p:sp>
    </p:spTree>
    <p:extLst>
      <p:ext uri="{BB962C8B-B14F-4D97-AF65-F5344CB8AC3E}">
        <p14:creationId xmlns:p14="http://schemas.microsoft.com/office/powerpoint/2010/main" val="10301029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This is the declarative model. You don't say "change the first li". You describe what the list should look like for any array of songs, and React works out the DOM updates.</a:t>
            </a:r>
            <a:endParaRPr lang="en-US"/>
          </a:p>
          <a:p>
            <a:r>
              <a:rPr b="1"/>
              <a:t>SAY:</a:t>
            </a:r>
            <a:r>
              <a:t> In React, the template is JSX: JavaScript with HTML-like syntax. Lists are made with array.map(), and each item needs a key so React can track it.</a:t>
            </a:r>
          </a:p>
          <a:p>
            <a:r>
              <a:rPr b="1"/>
              <a:t>NOTE:</a:t>
            </a:r>
            <a:r>
              <a:t> The original slide rendered a single song prop. Updated to map over an array so it compares directly with the Vue version on the next slide.</a:t>
            </a:r>
          </a:p>
        </p:txBody>
      </p:sp>
      <p:sp>
        <p:nvSpPr>
          <p:cNvPr id="4" name="Slide Number Placeholder 3"/>
          <p:cNvSpPr>
            <a:spLocks noGrp="1"/>
          </p:cNvSpPr>
          <p:nvPr>
            <p:ph type="sldNum" sz="quarter" idx="10"/>
          </p:nvPr>
        </p:nvSpPr>
        <p:spPr/>
        <p:txBody>
          <a:bodyPr/>
          <a:lstStyle/>
          <a:p>
            <a:fld id="{71770EAF-1B7F-084E-BE5F-E1B515CBCD96}" type="slidenum">
              <a:rPr lang="en-US" smtClean="0"/>
              <a:t>80</a:t>
            </a:fld>
            <a:endParaRPr lang="en-US"/>
          </a:p>
        </p:txBody>
      </p:sp>
    </p:spTree>
    <p:extLst>
      <p:ext uri="{BB962C8B-B14F-4D97-AF65-F5344CB8AC3E}">
        <p14:creationId xmlns:p14="http://schemas.microsoft.com/office/powerpoint/2010/main" val="40070288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Vue is declarative too, but the template stays HTML. v-for repeats the li once per song; :key gives each one an identity; {{ song.title }} outputs the text.</a:t>
            </a:r>
            <a:endParaRPr lang="en-US" dirty="0"/>
          </a:p>
          <a:p>
            <a:r>
              <a:rPr b="1"/>
              <a:t>ASK:</a:t>
            </a:r>
            <a:r>
              <a:t> What do we have to do to add a fourth song to the page? (Push to the array: songs.value.push({ title: 'New Song' }). Vue updates the list.)</a:t>
            </a:r>
          </a:p>
          <a:p>
            <a:r>
              <a:t>DEMO (optional): Paste this into a copy of demos/hello-world.html (using the template in the HTML instead of a template string) and push a song from the console.</a:t>
            </a:r>
          </a:p>
          <a:p>
            <a:r>
              <a:rPr b="1"/>
              <a:t>KEY POINT:</a:t>
            </a:r>
            <a:r>
              <a:t> Compare the four approaches: DOM and jQuery are imperative (do this, then this); React and Vue are declarative (here's what it should look like). The declarative approach is why frameworks scale to large UIs.</a:t>
            </a:r>
          </a:p>
        </p:txBody>
      </p:sp>
      <p:sp>
        <p:nvSpPr>
          <p:cNvPr id="4" name="Slide Number Placeholder 3"/>
          <p:cNvSpPr>
            <a:spLocks noGrp="1"/>
          </p:cNvSpPr>
          <p:nvPr>
            <p:ph type="sldNum" sz="quarter" idx="5"/>
          </p:nvPr>
        </p:nvSpPr>
        <p:spPr/>
        <p:txBody>
          <a:bodyPr/>
          <a:lstStyle/>
          <a:p>
            <a:fld id="{71770EAF-1B7F-084E-BE5F-E1B515CBCD96}" type="slidenum">
              <a:rPr lang="en-US" smtClean="0"/>
              <a:t>81</a:t>
            </a:fld>
            <a:endParaRPr lang="en-US"/>
          </a:p>
        </p:txBody>
      </p:sp>
    </p:spTree>
    <p:extLst>
      <p:ext uri="{BB962C8B-B14F-4D97-AF65-F5344CB8AC3E}">
        <p14:creationId xmlns:p14="http://schemas.microsoft.com/office/powerpoint/2010/main" val="23198430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25 minutes including Lab 10. This is the last module of Day 1.</a:t>
            </a:r>
          </a:p>
          <a:p>
            <a:r>
              <a:rPr b="1"/>
              <a:t>SAY:</a:t>
            </a:r>
            <a:r>
              <a:t> You'll spend a lot of your development time in the browser's developer tools. Let's make sure everyone knows their way around them, and then add the Vue-specific tools on top.</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SAY:</a:t>
            </a:r>
            <a:r>
              <a:rPr dirty="0"/>
              <a:t> Chrome and Edge share the same Chromium </a:t>
            </a:r>
            <a:r>
              <a:rPr dirty="0" err="1"/>
              <a:t>DevTools</a:t>
            </a:r>
            <a:r>
              <a:rPr dirty="0"/>
              <a:t>; Firefox and Safari have their own, with the same core panels. We'll use Chrome or Edge in class because the Vue </a:t>
            </a:r>
            <a:r>
              <a:rPr dirty="0" err="1"/>
              <a:t>DevTools</a:t>
            </a:r>
            <a:r>
              <a:rPr dirty="0"/>
              <a:t> extension supports them well.</a:t>
            </a:r>
            <a:endParaRPr lang="en-US" dirty="0"/>
          </a:p>
          <a:p>
            <a:r>
              <a:rPr b="1" dirty="0"/>
              <a:t>DEMO:</a:t>
            </a:r>
            <a:r>
              <a:rPr dirty="0"/>
              <a:t> Quick tour on the Conduit dev server:</a:t>
            </a:r>
          </a:p>
          <a:p>
            <a:r>
              <a:rPr dirty="0"/>
              <a:t>1. Elements: select an element, edit a CSS value live.</a:t>
            </a:r>
          </a:p>
          <a:p>
            <a:r>
              <a:rPr dirty="0"/>
              <a:t>2. Console: show an error message link that jumps to the source.</a:t>
            </a:r>
          </a:p>
          <a:p>
            <a:r>
              <a:rPr dirty="0"/>
              <a:t>3. Sources: open </a:t>
            </a:r>
            <a:r>
              <a:rPr dirty="0" err="1"/>
              <a:t>src</a:t>
            </a:r>
            <a:r>
              <a:rPr dirty="0"/>
              <a:t>/components/</a:t>
            </a:r>
            <a:r>
              <a:rPr dirty="0" err="1"/>
              <a:t>TheHeader.vue</a:t>
            </a:r>
            <a:r>
              <a:rPr dirty="0"/>
              <a:t> (Vite serves the original files, so they're easy to find) and set a breakpoint.</a:t>
            </a:r>
          </a:p>
          <a:p>
            <a:r>
              <a:rPr dirty="0"/>
              <a:t>4. Network: reload and show the module requests.</a:t>
            </a:r>
          </a:p>
          <a:p>
            <a:r>
              <a:rPr b="1" dirty="0"/>
              <a:t>TIP:</a:t>
            </a:r>
            <a:r>
              <a:rPr dirty="0"/>
              <a:t> The `debugger;` statement in your code pauses execution there whenever </a:t>
            </a:r>
            <a:r>
              <a:rPr dirty="0" err="1"/>
              <a:t>DevTools</a:t>
            </a:r>
            <a:r>
              <a:rPr dirty="0"/>
              <a:t> is open. It's often faster than finding the line in Sources.</a:t>
            </a:r>
          </a:p>
        </p:txBody>
      </p:sp>
      <p:sp>
        <p:nvSpPr>
          <p:cNvPr id="4" name="Slide Number Placeholder 3"/>
          <p:cNvSpPr>
            <a:spLocks noGrp="1"/>
          </p:cNvSpPr>
          <p:nvPr>
            <p:ph type="sldNum" sz="quarter" idx="10"/>
          </p:nvPr>
        </p:nvSpPr>
        <p:spPr/>
        <p:txBody>
          <a:bodyPr/>
          <a:lstStyle/>
          <a:p>
            <a:fld id="{71770EAF-1B7F-084E-BE5F-E1B515CBCD96}" type="slidenum">
              <a:rPr lang="en-US" smtClean="0"/>
              <a:t>83</a:t>
            </a:fld>
            <a:endParaRPr lang="en-US"/>
          </a:p>
        </p:txBody>
      </p:sp>
    </p:spTree>
    <p:extLst>
      <p:ext uri="{BB962C8B-B14F-4D97-AF65-F5344CB8AC3E}">
        <p14:creationId xmlns:p14="http://schemas.microsoft.com/office/powerpoint/2010/main" val="5513465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the second time we've seen Vue DevTools. Now we'll use them for real in Lab 10.</a:t>
            </a:r>
          </a:p>
          <a:p>
            <a:r>
              <a:rPr b="1"/>
              <a:t>DEMO:</a:t>
            </a:r>
            <a:r>
              <a:t> Select a component in the Vue panel, then go to the Console and type `$vm`. That's the selected component instance. In the component tree, hover over a component to highlight it on the page.</a:t>
            </a:r>
          </a:p>
          <a:p>
            <a:r>
              <a:rPr b="1"/>
              <a:t>WATCH FOR:</a:t>
            </a:r>
            <a:r>
              <a:t> If the Vue tab doesn't appear, close and reopen DevTools, or reload the page with DevTools open. Extensions also need permission for localhost pages in some browsers.</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20 minutes; the last lab of Day 1.</a:t>
            </a:r>
          </a:p>
          <a:p>
            <a:r>
              <a:rPr b="1"/>
              <a:t>LAB TIPS:</a:t>
            </a:r>
          </a:p>
          <a:p>
            <a:r>
              <a:t>- The lab refers to src/components/Header.vue in one step. Students named theirs TheHeader.vue; any component works.</a:t>
            </a:r>
          </a:p>
          <a:p>
            <a:r>
              <a:t>- Breakpoints in .vue files: Vite provides source maps, so the code shown is the original SFC, not the compiled output.</a:t>
            </a:r>
          </a:p>
          <a:p>
            <a:r>
              <a:rPr b="1"/>
              <a:t>COMMON PROBLEMS:</a:t>
            </a:r>
          </a:p>
          <a:p>
            <a:r>
              <a:t>- Can't install extensions (corporate policy): use vite-plugin-vue-devtools instead.</a:t>
            </a:r>
          </a:p>
          <a:p>
            <a:r>
              <a:t>- Nothing happens at the breakpoint: the line doesn't run on page load. Pick a line in &lt;script setup&gt;, which runs every time the component is created.</a:t>
            </a:r>
          </a:p>
          <a:p>
            <a:r>
              <a:rPr b="1"/>
              <a:t>DEBRIEF:</a:t>
            </a:r>
            <a:r>
              <a:t> End of Day 1. Recap: Node and npm, Vite, linting, testing, and three components. Tomorrow starts with a review quiz (quiz/day1.txt), then core Vue features.</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Day 2 starts with Review 1 (Labs 01-10, quiz/day1.txt) from 8:30 to 9:00, then this part.</a:t>
            </a:r>
          </a:p>
          <a:p>
            <a:r>
              <a:rPr b="1"/>
              <a:t>SAY:</a:t>
            </a:r>
            <a:r>
              <a:t> Yesterday was about the tooling and project structure. Today is the heart of Vue: how templates work, how reactivity works, and how components handle events and data over their lifetime. Seven labs, all building on Conduit.</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9:00-9:45: this lecture block (through slide 109), then Lab 11.</a:t>
            </a:r>
          </a:p>
          <a:p>
            <a:r>
              <a:rPr b="1"/>
              <a:t>SAY:</a:t>
            </a:r>
            <a:r>
              <a:t> We'll start with the two ways to write Vue components, then how an app is created, then template syntax and directives.</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Options API is how Vue 2 components were written: one object with a data function, a computed object, a methods object, and so on. It's easy to learn, but in a large component, one feature (say, search) ends up split across data, computed, watch and methods, mixed with every other feature.</a:t>
            </a:r>
          </a:p>
          <a:p>
            <a:r>
              <a:rPr b="1"/>
              <a:t>SAY:</a:t>
            </a:r>
            <a:r>
              <a:t> The Composition API puts everything for one feature together, and when you want to reuse that feature you move it into a function, called a composable. We'll write one on Day 3.</a:t>
            </a:r>
          </a:p>
          <a:p>
            <a:r>
              <a:rPr b="1"/>
              <a:t>DO:</a:t>
            </a:r>
            <a:r>
              <a:t> If anyone works on a Vue 2 or Options API codebase, show a side-by-side on the whiteboard:</a:t>
            </a:r>
          </a:p>
          <a:p>
            <a:r>
              <a:t>  Options: data() { return { count: 0 } }, methods: { inc() { this.count++ } }</a:t>
            </a:r>
          </a:p>
          <a:p>
            <a:r>
              <a:t>  Composition: const count = ref(0); function inc() { count.value++ }</a:t>
            </a:r>
          </a:p>
          <a:p>
            <a:r>
              <a:rPr b="1"/>
              <a:t>KEY POINT:</a:t>
            </a:r>
            <a:r>
              <a:t> No `this` in the Composition API. That's one of the biggest differences, and it removes a whole class of bugs.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typical main.js. createApp takes the root component; you install plugins with app.use(); then mount() renders the root component into the element matching the selector.</a:t>
            </a:r>
          </a:p>
          <a:p>
            <a:r>
              <a:rPr b="1"/>
              <a:t>KEY POINT:</a:t>
            </a:r>
            <a:r>
              <a:t> mount() should be last. Plugins and global components registered after mounting won't be available to the first render.</a:t>
            </a:r>
          </a:p>
          <a:p>
            <a:r>
              <a:rPr b="1"/>
              <a:t>SAY:</a:t>
            </a:r>
            <a:r>
              <a:t> In Vue 2, plugins were installed globally with Vue.use(), which leaked between apps and between tests. In Vue 3 everything is per app.</a:t>
            </a:r>
          </a:p>
          <a:p>
            <a:r>
              <a:rPr b="1"/>
              <a:t>SAY:</a:t>
            </a:r>
            <a:r>
              <a:t> Your Conduit main.js is simpler right now: just createApp(App).mount('#app'). We'll add Pinia in Lab 20 and the router in Lab 21.</a:t>
            </a:r>
          </a:p>
          <a:p>
            <a:r>
              <a:rPr b="1"/>
              <a:t>NOTE:</a:t>
            </a:r>
            <a:r>
              <a:t> The original notes described a root instance created with `new Vue`. That's Vue 2; the description is updated.</a:t>
            </a:r>
          </a:p>
        </p:txBody>
      </p:sp>
      <p:sp>
        <p:nvSpPr>
          <p:cNvPr id="4" name="Slide Number Placeholder 3"/>
          <p:cNvSpPr>
            <a:spLocks noGrp="1"/>
          </p:cNvSpPr>
          <p:nvPr>
            <p:ph type="sldNum" sz="quarter" idx="5"/>
          </p:nvPr>
        </p:nvSpPr>
        <p:spPr/>
        <p:txBody>
          <a:bodyPr/>
          <a:lstStyle/>
          <a:p>
            <a:fld id="{71770EAF-1B7F-084E-BE5F-E1B515CBCD96}" type="slidenum">
              <a:rPr lang="en-US" smtClean="0"/>
              <a:t>89</a:t>
            </a:fld>
            <a:endParaRPr lang="en-US"/>
          </a:p>
        </p:txBody>
      </p:sp>
    </p:spTree>
    <p:extLst>
      <p:ext uri="{BB962C8B-B14F-4D97-AF65-F5344CB8AC3E}">
        <p14:creationId xmlns:p14="http://schemas.microsoft.com/office/powerpoint/2010/main" val="352293600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&lt;script setup&gt; is compile-time syntax. The SFC compiler turns this block into the setup() function of a normal component, and makes everything declared at the top level available to the template. That's why you don't return anything.</a:t>
            </a:r>
          </a:p>
          <a:p>
            <a:r>
              <a:rPr b="1"/>
              <a:t>KEY POINT:</a:t>
            </a:r>
            <a:r>
              <a:t> Imported components are usable in the template immediately. Importing ArticleList is all it takes to use &lt;ArticleList /&gt; below.</a:t>
            </a:r>
          </a:p>
          <a:p>
            <a:r>
              <a:rPr b="1"/>
              <a:t>ASK:</a:t>
            </a:r>
            <a:r>
              <a:t> In the template, would you write {{ count.value }} or {{ count }}? (Just {{ count }}. Refs are unwrapped automatically in templates. In script you need .value.)</a:t>
            </a:r>
          </a:p>
          <a:p>
            <a:r>
              <a:rPr b="1"/>
              <a:t>SAY:</a:t>
            </a:r>
            <a:r>
              <a:t> The code inside &lt;script setup&gt; runs once each time a component instance is created, which makes it the equivalent of the old created hook.</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Why does ref need .value? JavaScript can't intercept reads and writes of a plain variable. Vue can only track a value if it's a property of an object. So ref wraps your value in an object with a value property, and Vue watches that property.</a:t>
            </a:r>
          </a:p>
          <a:p>
            <a:r>
              <a:rPr b="1"/>
              <a:t>SAY:</a:t>
            </a:r>
            <a:r>
              <a:t> computed() takes a function. Vue runs it, remembers which refs it read, and caches the result. The next time you read it, you get the cached value, unless one of those refs has changed.</a:t>
            </a:r>
          </a:p>
          <a:p>
            <a:r>
              <a:rPr b="1"/>
              <a:t>KEY POINT:</a:t>
            </a:r>
            <a:r>
              <a:t> reactive() is fine for objects, but has two traps: you can't put a primitive in it, and destructuring it breaks reactivity. ref has neither problem, which is why the Vue docs now recommend ref as the default. We'll see the destructuring trap on slide 131.</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b="1"/>
              <a:t>SAY:</a:t>
            </a:r>
            <a:r>
              <a:t> Compiler macros look like functions, but they're instructions to the SFC compiler. At build time, the compiler reads them and turns them into the component's props, emits and so on. They don't exist at runtime.</a:t>
            </a:r>
          </a:p>
          <a:p>
            <a:r>
              <a:rPr b="1"/>
              <a:t>KEY POINT:</a:t>
            </a:r>
            <a:r>
              <a:t> Because they're handled by the compiler, you must not import them. `import { defineProps } from 'vue'` produces a warning. And they only work at the top level of &lt;script setup&gt;, not inside functions.</a:t>
            </a:r>
          </a:p>
          <a:p>
            <a:r>
              <a:rPr b="1"/>
              <a:t>DEMO:</a:t>
            </a:r>
            <a:r>
              <a:t> demos/compiler-macros/macro-demos. Run `npm install` then `npm run dev`. Walk through src/components/MacroCounter.vue, which uses every macro with TypeScript:</a:t>
            </a:r>
          </a:p>
          <a:p>
            <a:r>
              <a:t>- withDefaults(defineProps&lt;Props&gt;(), { count: 0 }) for typed props with defaults,</a:t>
            </a:r>
          </a:p>
          <a:p>
            <a:r>
              <a:t>- defineEmits with a typed event signature,</a:t>
            </a:r>
          </a:p>
          <a:p>
            <a:r>
              <a:t>- defineModel&lt;boolean&gt;,</a:t>
            </a:r>
          </a:p>
          <a:p>
            <a:r>
              <a:t>- defineOptions to set the component name and inheritAttrs,</a:t>
            </a:r>
          </a:p>
          <a:p>
            <a:r>
              <a:t>- defineExpose to let App.vue call focusInput() through a template ref.</a:t>
            </a:r>
          </a:p>
          <a:p>
            <a:r>
              <a:t>In App.vue, show the template ref and onMounted calling counter.value?.focusInput().</a:t>
            </a:r>
          </a:p>
          <a:p>
            <a:r>
              <a:rPr b="1"/>
              <a:t>TIP:</a:t>
            </a:r>
            <a:r>
              <a:t> If students don't use TypeScript, mention that the same macros work in plain JavaScript with the runtime object syntax: defineProps({ title: String }).</a:t>
            </a:r>
          </a:p>
        </p:txBody>
      </p:sp>
    </p:spTree>
    <p:extLst>
      <p:ext uri="{BB962C8B-B14F-4D97-AF65-F5344CB8AC3E}">
        <p14:creationId xmlns:p14="http://schemas.microsoft.com/office/powerpoint/2010/main" val="22202803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app object returned by createApp is where app-wide configuration lives.</a:t>
            </a:r>
          </a:p>
          <a:p>
            <a:r>
              <a:t>- app.component registers a component everywhere, without importing it. Use sparingly; slide 170 explains why.</a:t>
            </a:r>
          </a:p>
          <a:p>
            <a:r>
              <a:t>- app.directive registers a custom directive, like v-focus.</a:t>
            </a:r>
          </a:p>
          <a:p>
            <a:r>
              <a:t>- app.provide makes a value available to any component via inject(). It's how plugins like the router expose themselves to components.</a:t>
            </a:r>
          </a:p>
          <a:p>
            <a:r>
              <a:t>- app.config.errorHandler is a single place to catch errors thrown in any component: perfect for sending errors to a logging service.</a:t>
            </a:r>
          </a:p>
          <a:p>
            <a:r>
              <a:rPr b="1"/>
              <a:t>KEY POINT:</a:t>
            </a:r>
            <a:r>
              <a:t> Each of these returns the app, so they can be chained: createApp(App).use(pinia).use(router).mount('#app').</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Templates are where Vue looks most different from plain JavaScript. They're valid HTML with a few additions: double-curly interpolation, and attributes starting with v-, :, @ or #.</a:t>
            </a:r>
          </a:p>
          <a:p>
            <a:r>
              <a:rPr b="1"/>
              <a:t>NOTE:</a:t>
            </a:r>
            <a:r>
              <a:t> This divider used to show a &lt;script setup&gt; snippet that wasn't about templates; it's been removed to keep the focus on template syntax.</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template is not HTML that Vue fills in with string replacement. The compiler turns it into a JavaScript render function that creates virtual DOM nodes. That's how Vue can optimize it: it knows the structure in advance.</a:t>
            </a:r>
            <a:endParaRPr lang="en-US" dirty="0"/>
          </a:p>
          <a:p>
            <a:r>
              <a:rPr b="1"/>
              <a:t>SAY:</a:t>
            </a:r>
            <a:r>
              <a:t> Render functions and JSX are an escape hatch for unusual cases, like component libraries that generate markup dynamically. You won't need them for application code.</a:t>
            </a:r>
          </a:p>
          <a:p>
            <a:r>
              <a:t>DEMO (optional): Paste a small template into the Vue SFC Playground (play.vuejs.org) and open the JS tab to show the compiled render function.</a:t>
            </a:r>
          </a:p>
        </p:txBody>
      </p:sp>
      <p:sp>
        <p:nvSpPr>
          <p:cNvPr id="4" name="Slide Number Placeholder 3"/>
          <p:cNvSpPr>
            <a:spLocks noGrp="1"/>
          </p:cNvSpPr>
          <p:nvPr>
            <p:ph type="sldNum" sz="quarter" idx="5"/>
          </p:nvPr>
        </p:nvSpPr>
        <p:spPr/>
        <p:txBody>
          <a:bodyPr/>
          <a:lstStyle/>
          <a:p>
            <a:fld id="{71770EAF-1B7F-084E-BE5F-E1B515CBCD96}" type="slidenum">
              <a:rPr lang="en-US" smtClean="0"/>
              <a:t>95</a:t>
            </a:fld>
            <a:endParaRPr lang="en-US" dirty="0"/>
          </a:p>
        </p:txBody>
      </p:sp>
    </p:spTree>
    <p:extLst>
      <p:ext uri="{BB962C8B-B14F-4D97-AF65-F5344CB8AC3E}">
        <p14:creationId xmlns:p14="http://schemas.microsoft.com/office/powerpoint/2010/main" val="219955275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Interpolation always escapes HTML. If info is '&lt;b&gt;hi&lt;/b&gt;', the user sees the angle brackets on screen. That's a security feature: user-entered content can't inject markup.</a:t>
            </a:r>
          </a:p>
          <a:p>
            <a:r>
              <a:rPr b="1"/>
              <a:t>SAY:</a:t>
            </a:r>
            <a:r>
              <a:t> v-html sets innerHTML instead. Use it for HTML you trust, such as content from your own CMS that you've sanitized, never for anything a user typed.</a:t>
            </a:r>
          </a:p>
          <a:p>
            <a:r>
              <a:rPr b="1"/>
              <a:t>DEMO:</a:t>
            </a:r>
            <a:r>
              <a:t> demos/output-raw-html/index.html. Open it in the browser. The first line shows the HTML tags as text; the second renders red text. Then open js/index.js and point out the security comment.</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Anything that produces a value works in a template: math, ternaries, method calls, template literals. Statements don't: `{{ if (ok) { ... } }}` won't compile; use v-if or a ternary instead.</a:t>
            </a:r>
          </a:p>
          <a:p>
            <a:r>
              <a:rPr b="1"/>
              <a:t>KEY POINT:</a:t>
            </a:r>
            <a:r>
              <a:t> If an expression gets long, it belongs in a computed property, where it has a name, is cached, and can be tested.</a:t>
            </a:r>
          </a:p>
          <a:p>
            <a:r>
              <a:rPr b="1"/>
              <a:t>NOTE:</a:t>
            </a:r>
            <a:r>
              <a:t> The original slide had `{{ counter++ }}`, which modifies state during rendering and triggers an infinite update loop warning, and `{{ loggedIn ? &lt;LogOut /&gt; : &lt;LogIn /&gt; }}`, which is JSX and won't compile in a Vue template. Both were replaced. To switch between components, use v-if/v-else or &lt;component :is="..."&gt;.</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Directives are how templates express behavior: conditionals, loops, bindings and events. The value is a JavaScript expression evaluated against the component's state.</a:t>
            </a:r>
            <a:endParaRPr lang="en-US" dirty="0"/>
          </a:p>
          <a:p>
            <a:r>
              <a:rPr b="1"/>
              <a:t>SAY:</a:t>
            </a:r>
            <a:r>
              <a:t> Over the next few slides: directive arguments (the part after a colon), modifiers (the parts after dots), and the built-in directives. Then shorthands, which you'll see far more often than the long forms.</a:t>
            </a:r>
          </a:p>
        </p:txBody>
      </p:sp>
      <p:sp>
        <p:nvSpPr>
          <p:cNvPr id="4" name="Slide Number Placeholder 3"/>
          <p:cNvSpPr>
            <a:spLocks noGrp="1"/>
          </p:cNvSpPr>
          <p:nvPr>
            <p:ph type="sldNum" sz="quarter" idx="5"/>
          </p:nvPr>
        </p:nvSpPr>
        <p:spPr/>
        <p:txBody>
          <a:bodyPr/>
          <a:lstStyle/>
          <a:p>
            <a:fld id="{71770EAF-1B7F-084E-BE5F-E1B515CBCD96}" type="slidenum">
              <a:rPr lang="en-US" smtClean="0"/>
              <a:t>98</a:t>
            </a:fld>
            <a:endParaRPr lang="en-US" dirty="0"/>
          </a:p>
        </p:txBody>
      </p:sp>
    </p:spTree>
    <p:extLst>
      <p:ext uri="{BB962C8B-B14F-4D97-AF65-F5344CB8AC3E}">
        <p14:creationId xmlns:p14="http://schemas.microsoft.com/office/powerpoint/2010/main" val="385409934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argument tells the directive what to act on. For v-on it's the event; for v-bind it's the attribute or prop.</a:t>
            </a:r>
          </a:p>
          <a:p>
            <a:r>
              <a:rPr b="1"/>
              <a:t>SAY:</a:t>
            </a:r>
            <a:r>
              <a:t> Dynamic arguments, in square brackets, are evaluated as expressions. They're rare in application code but handy in reusable components.</a:t>
            </a:r>
          </a:p>
          <a:p>
            <a:r>
              <a:rPr b="1"/>
              <a:t>TRANSITION:</a:t>
            </a:r>
            <a:r>
              <a:t> The full anatomy of a directive is `v-name:argument.modifier="expression"`. Next: modifiers.</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Without .prevent, submitting a form makes the browser navigate, which reloads your single-page app and loses all its state. In plain JavaScript you'd call event.preventDefault() in the handler. The modifier keeps that DOM detail out of your function.</a:t>
            </a:r>
            <a:endParaRPr lang="en-US" dirty="0"/>
          </a:p>
          <a:p>
            <a:r>
              <a:rPr b="1"/>
              <a:t>KEY POINT:</a:t>
            </a:r>
            <a:r>
              <a:t> Anatomy recap: v-on (directive) : submit (argument) .prevent (modifier) = "doSomething" (expression).</a:t>
            </a:r>
          </a:p>
          <a:p>
            <a:r>
              <a:rPr b="1"/>
              <a:t>SAY:</a:t>
            </a:r>
            <a:r>
              <a:t> We'll see the full list of event modifiers on slide 137, and v-model's modifiers (.trim, .number, .lazy) in the forms section.</a:t>
            </a:r>
          </a:p>
        </p:txBody>
      </p:sp>
      <p:sp>
        <p:nvSpPr>
          <p:cNvPr id="4" name="Slide Number Placeholder 3"/>
          <p:cNvSpPr>
            <a:spLocks noGrp="1"/>
          </p:cNvSpPr>
          <p:nvPr>
            <p:ph type="sldNum" sz="quarter" idx="5"/>
          </p:nvPr>
        </p:nvSpPr>
        <p:spPr/>
        <p:txBody>
          <a:bodyPr/>
          <a:lstStyle/>
          <a:p>
            <a:fld id="{71770EAF-1B7F-084E-BE5F-E1B515CBCD96}" type="slidenum">
              <a:rPr lang="en-US" smtClean="0"/>
              <a:t>100</a:t>
            </a:fld>
            <a:endParaRPr lang="en-US" dirty="0"/>
          </a:p>
        </p:txBody>
      </p:sp>
    </p:spTree>
    <p:extLst>
      <p:ext uri="{BB962C8B-B14F-4D97-AF65-F5344CB8AC3E}">
        <p14:creationId xmlns:p14="http://schemas.microsoft.com/office/powerpoint/2010/main" val="20745949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left column is what you'll use every day. The right column comes up occasionally.</a:t>
            </a:r>
            <a:endParaRPr lang="en-US" dirty="0"/>
          </a:p>
          <a:p>
            <a:r>
              <a:t>- v-once renders an element once and then treats it as static. v-memo skips re-rendering unless listed values change; it's a performance tool for huge lists.</a:t>
            </a:r>
          </a:p>
          <a:p>
            <a:r>
              <a:t>- v-pre skips compilation for an element, handy for showing literal {{ }} in documentation.</a:t>
            </a:r>
          </a:p>
          <a:p>
            <a:r>
              <a:t>- v-cloak hides un-compiled templates when you use Vue from a CDN, to avoid a flash of {{ }} on page load.</a:t>
            </a:r>
          </a:p>
        </p:txBody>
      </p:sp>
      <p:sp>
        <p:nvSpPr>
          <p:cNvPr id="4" name="Slide Number Placeholder 3"/>
          <p:cNvSpPr>
            <a:spLocks noGrp="1"/>
          </p:cNvSpPr>
          <p:nvPr>
            <p:ph type="sldNum" sz="quarter" idx="5"/>
          </p:nvPr>
        </p:nvSpPr>
        <p:spPr/>
        <p:txBody>
          <a:bodyPr/>
          <a:lstStyle/>
          <a:p>
            <a:fld id="{71770EAF-1B7F-084E-BE5F-E1B515CBCD96}" type="slidenum">
              <a:rPr lang="en-US" smtClean="0"/>
              <a:t>101</a:t>
            </a:fld>
            <a:endParaRPr lang="en-US" dirty="0"/>
          </a:p>
        </p:txBody>
      </p:sp>
    </p:spTree>
    <p:extLst>
      <p:ext uri="{BB962C8B-B14F-4D97-AF65-F5344CB8AC3E}">
        <p14:creationId xmlns:p14="http://schemas.microsoft.com/office/powerpoint/2010/main" val="292477046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custom directive is an object with lifecycle hooks that receive the DOM element. Use one when you need to do something directly to an element, like focusing it, measuring it, or attaching a third-party library.</a:t>
            </a:r>
            <a:endParaRPr lang="en-US" dirty="0"/>
          </a:p>
          <a:p>
            <a:r>
              <a:rPr b="1"/>
              <a:t>SAY:</a:t>
            </a:r>
            <a:r>
              <a:t> The naming convention does the registration: any camelCase variable starting with v in &lt;script setup&gt; becomes a directive. vFocus becomes v-focus.</a:t>
            </a:r>
          </a:p>
          <a:p>
            <a:r>
              <a:rPr b="1"/>
              <a:t>SAY:</a:t>
            </a:r>
            <a:r>
              <a:t> To use a directive across the app, register it with app.directive('focus', vFocus) in main.js.</a:t>
            </a:r>
          </a:p>
          <a:p>
            <a:r>
              <a:rPr b="1"/>
              <a:t>IF ASKED:</a:t>
            </a:r>
            <a:r>
              <a:t> The available hooks are created, beforeMount, mounted, beforeUpdate, updated, beforeUnmount and unmounted. Each receives (el, binding), where binding.value is the expression's value.</a:t>
            </a:r>
          </a:p>
        </p:txBody>
      </p:sp>
      <p:sp>
        <p:nvSpPr>
          <p:cNvPr id="4" name="Slide Number Placeholder 3"/>
          <p:cNvSpPr>
            <a:spLocks noGrp="1"/>
          </p:cNvSpPr>
          <p:nvPr>
            <p:ph type="sldNum" sz="quarter" idx="5"/>
          </p:nvPr>
        </p:nvSpPr>
        <p:spPr/>
        <p:txBody>
          <a:bodyPr/>
          <a:lstStyle/>
          <a:p>
            <a:fld id="{71770EAF-1B7F-084E-BE5F-E1B515CBCD96}" type="slidenum">
              <a:rPr lang="en-US" smtClean="0"/>
              <a:t>102</a:t>
            </a:fld>
            <a:endParaRPr lang="en-US" dirty="0"/>
          </a:p>
        </p:txBody>
      </p:sp>
    </p:spTree>
    <p:extLst>
      <p:ext uri="{BB962C8B-B14F-4D97-AF65-F5344CB8AC3E}">
        <p14:creationId xmlns:p14="http://schemas.microsoft.com/office/powerpoint/2010/main" val="126129333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v-for uses `item in items` syntax, and creates one element per item. Inside the loop, `song` is available to that element and everything inside it.</a:t>
            </a:r>
          </a:p>
          <a:p>
            <a:r>
              <a:rPr b="1"/>
              <a:t>SAY:</a:t>
            </a:r>
            <a:r>
              <a:t> You can also get the index: v-for="(song, index) in songs".</a:t>
            </a:r>
          </a:p>
          <a:p>
            <a:r>
              <a:rPr b="1"/>
              <a:t>ASK:</a:t>
            </a:r>
            <a:r>
              <a:t> What happens on the page if we call songs.value.push({ id: 3, title: 'Rocket Man' })? (A new li appears. Vue 3 tracks all array mutations.)</a:t>
            </a:r>
          </a:p>
          <a:p>
            <a:r>
              <a:rPr b="1"/>
              <a:t>TRANSITION:</a:t>
            </a:r>
            <a:r>
              <a:t> The :key attribute is important enough to get its own slide.</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Without keys, when the array changes, Vue patches elements in place by position. That's fast, but if elements have internal state (an input's text, a component's state, a running transition), the state stays at the old position while the data moves, and you see the wrong state on the wrong item.</a:t>
            </a:r>
          </a:p>
          <a:p>
            <a:r>
              <a:rPr b="1"/>
              <a:t>KEY POINT:</a:t>
            </a:r>
            <a:r>
              <a:t> Why not the index? If you delete item 0, every item's index shifts by one. Vue thinks item 1 is now item 0, and so on. That's the same bug as no key at all.</a:t>
            </a:r>
          </a:p>
          <a:p>
            <a:r>
              <a:t>DEMO (optional, two minutes): Render a list where each item has an &lt;input&gt;. Type into the first input, then remove the first item. With :key="index", the typed text jumps to the next item. With :key="item.id", it disappears with its item.</a:t>
            </a:r>
          </a:p>
          <a:p>
            <a:r>
              <a:rPr b="1"/>
              <a:t>WATCH FOR:</a:t>
            </a:r>
            <a:r>
              <a:t> ESLint's vue/require-v-for-key rule will flag a missing key. Students will hit it in Lab 11.</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Three forms:</a:t>
            </a:r>
          </a:p>
          <a:p>
            <a:r>
              <a:t>- Arrays: optionally with the index as a second variable.</a:t>
            </a:r>
          </a:p>
          <a:p>
            <a:r>
              <a:t>- Objects: the first variable is the value, the second is the key (and a third is the index).</a:t>
            </a:r>
          </a:p>
          <a:p>
            <a:r>
              <a:t>- Numbers: `n in 5` counts from 1 to 5.</a:t>
            </a:r>
          </a:p>
          <a:p>
            <a:r>
              <a:rPr b="1"/>
              <a:t>KEY POINT:</a:t>
            </a:r>
            <a:r>
              <a:t> When you need several elements per item without a wrapper element, put v-for on a &lt;template&gt;. The template tag itself doesn't render.</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object in the array becomes one li. The template reads song.title from each.</a:t>
            </a:r>
          </a:p>
          <a:p>
            <a:r>
              <a:rPr b="1"/>
              <a:t>ASK:</a:t>
            </a:r>
            <a:r>
              <a:t> How would you show the songs in reverse alphabetical order without changing the original array? (A computed property: computed(() =&gt; [...songs.value].sort(...).reverse()). Don't sort in the template; sort() mutates the array.)</a:t>
            </a:r>
          </a:p>
          <a:p>
            <a:r>
              <a:rPr b="1"/>
              <a:t>NOTE:</a:t>
            </a:r>
            <a:r>
              <a:t> The original slide used Options-API style data and omitted the key; both updated.</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first variable is the property's value, the second is its name. Order follows Object.keys(), which is insertion order for string keys.</a:t>
            </a:r>
          </a:p>
          <a:p>
            <a:r>
              <a:rPr b="1"/>
              <a:t>SAY:</a:t>
            </a:r>
            <a:r>
              <a:t> This is handy for rendering things like a details panel from an object, but most lists you render will be arrays.</a:t>
            </a:r>
          </a:p>
          <a:p>
            <a:r>
              <a:rPr b="1"/>
              <a:t>NOTE:</a:t>
            </a:r>
            <a:r>
              <a:t> The original slide's result said "Joe Doe", but the data says Smith. Fixed, and the key is now shown too.</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v-if adds and removes elements from the DOM entirely. When the condition is false, the element doesn't exist; when it becomes true, Vue creates it (and any components inside it run their setup and mounted hooks).</a:t>
            </a:r>
          </a:p>
          <a:p>
            <a:r>
              <a:rPr b="1"/>
              <a:t>WATCH FOR:</a:t>
            </a:r>
            <a:r>
              <a:t> v-if with v-for on the same element. In Vue 3, v-if is evaluated first, so it can't see the loop variable. That's the opposite of Vue 2. Filter the list with a computed property instead, or wrap with &lt;template v-for&gt; and put v-if on the inner element.</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Both hide things, but differently. v-if removes the element from the DOM. v-show keeps it and sets display: none.</a:t>
            </a:r>
          </a:p>
          <a:p>
            <a:r>
              <a:rPr b="1"/>
              <a:t>KEY POINT:</a:t>
            </a:r>
            <a:r>
              <a:t> Rule of thumb: use v-show for things that toggle often (menus, tabs, accordions), and v-if for things that rarely change or that shouldn't exist at all when hidden (content for logged-in users, expensive components).</a:t>
            </a:r>
          </a:p>
          <a:p>
            <a:r>
              <a:rPr b="1"/>
              <a:t>SAY:</a:t>
            </a:r>
            <a:r>
              <a:t> With v-show, child components keep their state while hidden, because they're never destroyed. With v-if, they're recreated from scratch each time.</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45 minutes.</a:t>
            </a:r>
          </a:p>
          <a:p>
            <a:r>
              <a:rPr b="1"/>
              <a:t>SAY:</a:t>
            </a:r>
            <a:r>
              <a:t> The first step in building a Vue UI is a static version: the right components, rendering hard-coded data. Once the structure is right, we'll add interactivity and a real API.</a:t>
            </a:r>
          </a:p>
          <a:p>
            <a:r>
              <a:rPr b="1"/>
              <a:t>LAB TIPS:</a:t>
            </a:r>
          </a:p>
          <a:p>
            <a:r>
              <a:t>- Copy articles.json from labs/lab11 into src/json.</a:t>
            </a:r>
          </a:p>
          <a:p>
            <a:r>
              <a:t>- The component tree is now App &gt; HomeContent &gt; GlobalFeed &gt; ArticleList &gt; ArticlePreview (many). Draw it on the board.</a:t>
            </a:r>
          </a:p>
          <a:p>
            <a:r>
              <a:t>- Remind students: in the template it's articles.length; in script it's articles.value.</a:t>
            </a:r>
          </a:p>
          <a:p>
            <a:r>
              <a:rPr b="1"/>
              <a:t>COMMON PROBLEMS:</a:t>
            </a:r>
          </a:p>
          <a:p>
            <a:r>
              <a:t>- Missing .vue extension in an import.</a:t>
            </a:r>
          </a:p>
          <a:p>
            <a:r>
              <a:t>- defineProps imported from vue (it shouldn't be).</a:t>
            </a:r>
          </a:p>
          <a:p>
            <a:r>
              <a:t>- vue/require-v-for-key lint error: they forgot :key.</a:t>
            </a:r>
          </a:p>
          <a:p>
            <a:r>
              <a:t>- A tests failure for ArticlePreview: it requires an article prop, so the test has to pass one with mount(ArticlePreview, { props: { article: {...} } }).</a:t>
            </a:r>
          </a:p>
          <a:p>
            <a:r>
              <a:rPr b="1"/>
              <a:t>DEBRIEF:</a:t>
            </a:r>
            <a:r>
              <a:t> Ask how data gets from ArticleList to each ArticlePreview. (Props: :article="article".) Props are covered in depth on Day 3.</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Object syntax: each key is a class name; the class is applied when the value is truthy. Class names with dashes need quotes.</a:t>
            </a:r>
          </a:p>
          <a:p>
            <a:r>
              <a:rPr b="1"/>
              <a:t>SAY:</a:t>
            </a:r>
            <a:r>
              <a:t> Array syntax: each entry is a class name (or an object). Useful when class names come from variables.</a:t>
            </a:r>
          </a:p>
          <a:p>
            <a:r>
              <a:rPr b="1"/>
              <a:t>KEY POINT:</a:t>
            </a:r>
            <a:r>
              <a:t> A static class="btn" and a bound :class can be on the same element; Vue combines them. That's exactly what Lab 14 does: class="btn btn-sm" plus :class="{ 'btn-primary': favorited }".</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When the logic gets more complex than a simple flag, move it to a computed property. The template stays readable, and the logic has a name.</a:t>
            </a:r>
          </a:p>
          <a:p>
            <a:r>
              <a:rPr b="1"/>
              <a:t>SAY:</a:t>
            </a:r>
            <a:r>
              <a:t> A common pattern is a computed property that returns a whole class object: const classes = computed(() =&gt; ({ active: isActive.value, 'text-danger': hasError.value })), then :class="classes".</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:style works like :class, but with CSS properties. Property names can be camelCase (fontSize) or quoted kebab-case ('font-size'). Vue adds vendor prefixes when needed.</a:t>
            </a:r>
          </a:p>
          <a:p>
            <a:r>
              <a:rPr b="1"/>
              <a:t>KEY POINT:</a:t>
            </a:r>
            <a:r>
              <a:t> Prefer classes for anything static or reusable. Use :style for values that are truly dynamic, like a computed width, a user-chosen color, or a font size. Lab 15 does exactly that, binding the article font size with :style.</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demos/output-raw-html/index.html in the browser.</a:t>
            </a:r>
          </a:p>
          <a:p>
            <a:r>
              <a:t>1. Point out the two paragraphs: the mustache version shows the literal &lt;span style="color:red"&gt; markup; the v-html version shows red text.</a:t>
            </a:r>
          </a:p>
          <a:p>
            <a:r>
              <a:t>2. Open js/index.js and show the single ref holding the HTML string.</a:t>
            </a:r>
          </a:p>
          <a:p>
            <a:r>
              <a:t>3. In DevTools Elements, show that the second span contains a real child element, while the first contains a text node.</a:t>
            </a:r>
          </a:p>
          <a:p>
            <a:r>
              <a:rPr b="1"/>
              <a:t>ASK:</a:t>
            </a:r>
            <a:r>
              <a:t> Why doesn't Vue render HTML from {{ }} by default? (Security. If the string came from a user, rendering it as HTML would let them inject scripts: cross-site scripting.)</a:t>
            </a:r>
          </a:p>
          <a:p>
            <a:r>
              <a:rPr b="1"/>
              <a:t>TIP:</a:t>
            </a:r>
            <a:r>
              <a:t> If you need to show user content with formatting, render Markdown with a library and sanitize the output (for example, DOMPurify) before using v-html.</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25 minutes.</a:t>
            </a:r>
          </a:p>
          <a:p>
            <a:r>
              <a:rPr b="1"/>
              <a:t>SAY:</a:t>
            </a:r>
            <a:r>
              <a:t> Scoped styles let each component carry its own CSS without leaking into the rest of the app.</a:t>
            </a:r>
          </a:p>
          <a:p>
            <a:r>
              <a:rPr b="1"/>
              <a:t>DEBRIEF:</a:t>
            </a:r>
            <a:r>
              <a:t> Have students inspect an element in HomeContent in DevTools. They'll see an attribute like data-v-7ba5bd90 on each element, and selectors like .banner[data-v-7ba5bd90] in the Styles pane. That's how Vue scopes CSS: unique attributes, not shadow DOM.</a:t>
            </a:r>
          </a:p>
          <a:p>
            <a:r>
              <a:rPr b="1"/>
              <a:t>WATCH FOR:</a:t>
            </a:r>
            <a:r>
              <a:t> Scoped styles don't reach into child components' elements, except the child's root element. To style inside a child, use :deep(.selector) in the parent's scoped CSS.</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11:30-11:45 lecture, then Lab 13 until lunch.</a:t>
            </a:r>
          </a:p>
          <a:p>
            <a:r>
              <a:rPr b="1"/>
              <a:t>SAY:</a:t>
            </a:r>
            <a:r>
              <a:t> Here's the whole idea in four lines. fullName is derived from two refs. Change either name, and fullName updates. Read fullName ten times without changing anything, and the function runs once.</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Compare this to the template expression on slide 97: same logic, but now it has a name, it's cached, and the template is just {{ reversedMessage }}.</a:t>
            </a:r>
          </a:p>
          <a:p>
            <a:r>
              <a:rPr b="1"/>
              <a:t>KEY POINT:</a:t>
            </a:r>
            <a:r>
              <a:t> Vue tracks dependencies automatically. You never list them, unlike React's useMemo dependency array. Whatever reactive values the getter reads become its dependencies, every time it runs.</a:t>
            </a:r>
          </a:p>
          <a:p>
            <a:r>
              <a:rPr b="1"/>
              <a:t>ASK:</a:t>
            </a:r>
            <a:r>
              <a:t> If message changes, when does the getter run? (Not immediately. The computed is marked dirty and runs the next time something reads it. Computed properties are lazy.)</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 could get the same output with a function, {{ reverseMessage() }}. The difference: a function in the template runs on every re-render of the component, even if message didn't change. A computed property only re-runs when its inputs change.</a:t>
            </a:r>
          </a:p>
          <a:p>
            <a:r>
              <a:rPr b="1"/>
              <a:t>SAY:</a:t>
            </a:r>
            <a:r>
              <a:t> Computed vs watch: if you want a value derived from other values, use computed. If you want to do something (call an API, write to localStorage) when a value changes, use watch.</a:t>
            </a:r>
          </a:p>
          <a:p>
            <a:r>
              <a:rPr b="1"/>
              <a:t>WATCH FOR:</a:t>
            </a:r>
            <a:r>
              <a:t> Side effects in a computed getter, like pushing to an array or calling fetch. They'll run at unpredictable times (or not at all, if nothing reads the computed), and can cause infinite update loops.</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demos/filter-with-computed-property/index.html.</a:t>
            </a:r>
            <a:endParaRPr lang="en-US" dirty="0"/>
          </a:p>
          <a:p>
            <a:r>
              <a:t>1. Type "a" to filter, then "2" to filter by age. Click Name and Age to sort; click again to reverse.</a:t>
            </a:r>
          </a:p>
          <a:p>
            <a:r>
              <a:t>2. Open js/index.js. Walk through filterIt:</a:t>
            </a:r>
          </a:p>
          <a:p>
            <a:r>
              <a:t>   - it reads searchDetails, people, reverse and sortKey, so it re-runs when any of them changes;</a:t>
            </a:r>
          </a:p>
          <a:p>
            <a:r>
              <a:t>   - it filters, then copies the array with [...matches] before sorting, because sort() mutates in place;</a:t>
            </a:r>
          </a:p>
          <a:p>
            <a:r>
              <a:t>   - sortBy() only changes sortKey and reverse; it doesn't touch the list. The computed does the rest.</a:t>
            </a:r>
          </a:p>
          <a:p>
            <a:r>
              <a:t>3. Add console.log('filtering') at the top of the computed. Show that it logs once per keystroke, not once per render.</a:t>
            </a:r>
          </a:p>
          <a:p>
            <a:r>
              <a:rPr b="1"/>
              <a:t>KEY POINT:</a:t>
            </a:r>
            <a:r>
              <a:t> This is the exact pattern students build in Lab 17 for the Conduit article filter, and extract into a composable in Lab 19.</a:t>
            </a:r>
          </a:p>
        </p:txBody>
      </p:sp>
      <p:sp>
        <p:nvSpPr>
          <p:cNvPr id="4" name="Slide Number Placeholder 3"/>
          <p:cNvSpPr>
            <a:spLocks noGrp="1"/>
          </p:cNvSpPr>
          <p:nvPr>
            <p:ph type="sldNum" sz="quarter" idx="5"/>
          </p:nvPr>
        </p:nvSpPr>
        <p:spPr/>
        <p:txBody>
          <a:bodyPr/>
          <a:lstStyle/>
          <a:p>
            <a:fld id="{71770EAF-1B7F-084E-BE5F-E1B515CBCD96}" type="slidenum">
              <a:rPr lang="en-US" smtClean="0"/>
              <a:t>119</a:t>
            </a:fld>
            <a:endParaRPr lang="en-US" dirty="0"/>
          </a:p>
        </p:txBody>
      </p:sp>
    </p:spTree>
    <p:extLst>
      <p:ext uri="{BB962C8B-B14F-4D97-AF65-F5344CB8AC3E}">
        <p14:creationId xmlns:p14="http://schemas.microsoft.com/office/powerpoint/2010/main" val="144196504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writable computed lets you assign to a derived value, and the setter decides how to update the underlying state. Here, assigning a full name splits it and updates both refs; then the getter recomputes from them.</a:t>
            </a:r>
          </a:p>
          <a:p>
            <a:r>
              <a:rPr b="1"/>
              <a:t>SAY:</a:t>
            </a:r>
            <a:r>
              <a:t> The most common real use is with v-model: binding an input to a computed with get/set, for example to format or validate as the user types, or to bind v-model to a store value.</a:t>
            </a:r>
          </a:p>
          <a:p>
            <a:r>
              <a:rPr b="1"/>
              <a:t>KEY POINT:</a:t>
            </a:r>
            <a:r>
              <a:t> The setter should update the source refs, never the computed itself.</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15 minutes, before lunch.</a:t>
            </a:r>
          </a:p>
          <a:p>
            <a:r>
              <a:rPr b="1"/>
              <a:t>LAB TIPS:</a:t>
            </a:r>
          </a:p>
          <a:p>
            <a:r>
              <a:t>- In the template, write article; in script, write props.article. Students need const props = defineProps(...) to read props in script.</a:t>
            </a:r>
          </a:p>
          <a:p>
            <a:r>
              <a:t>- For the date challenge: new Date(props.article.createdAt).toLocaleDateString(), inside a computed.</a:t>
            </a:r>
          </a:p>
          <a:p>
            <a:r>
              <a:rPr b="1"/>
              <a:t>WATCH FOR:</a:t>
            </a:r>
            <a:r>
              <a:t> Destructuring props, e.g. const { article } = defineProps(...). In Vue 3.5+, destructured props are reactive when used in the template or in computed()/watch() getters, but passing them into plain functions loses reactivity. To keep it simple, stick with props.article in this course.</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After lunch, 1:00-1:20 lecture, then Lab 14.</a:t>
            </a:r>
          </a:p>
          <a:p>
            <a:r>
              <a:rPr b="1"/>
              <a:t>SAY:</a:t>
            </a:r>
            <a:r>
              <a:t> Welcome back. This section is about how Vue tracks state: refs, reactive objects, data binding, and a few traps to avoid.</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Here's what happens when a component renders: Vue sets "the current component" as the active effect, runs the render function, and every ref or reactive property that gets read registers that component as a subscriber. When one of those values changes, Vue schedules a re-render for its subscribers.</a:t>
            </a:r>
            <a:endParaRPr lang="en-US" dirty="0"/>
          </a:p>
          <a:p>
            <a:r>
              <a:rPr b="1"/>
              <a:t>KEY POINT:</a:t>
            </a:r>
            <a:r>
              <a:t> Updates are batched. If you change five refs in the same function, the component re-renders once, on the next tick, not five times. To wait for the DOM to update, use `await nextTick()`.</a:t>
            </a:r>
          </a:p>
          <a:p>
            <a:r>
              <a:rPr b="1"/>
              <a:t>IF ASKED:</a:t>
            </a:r>
            <a:r>
              <a:t> Is a ref holding an object deeply reactive? Yes. ref(obj) wraps the object in reactive() internally, so nested properties are tracked. Use shallowRef if you deliberately want only .value reassignment tracked, for example with large immutable data.</a:t>
            </a:r>
          </a:p>
        </p:txBody>
      </p:sp>
      <p:sp>
        <p:nvSpPr>
          <p:cNvPr id="4" name="Slide Number Placeholder 3"/>
          <p:cNvSpPr>
            <a:spLocks noGrp="1"/>
          </p:cNvSpPr>
          <p:nvPr>
            <p:ph type="sldNum" sz="quarter" idx="5"/>
          </p:nvPr>
        </p:nvSpPr>
        <p:spPr/>
        <p:txBody>
          <a:bodyPr/>
          <a:lstStyle/>
          <a:p>
            <a:fld id="{01283FAC-A721-45A3-BBDE-EAF2B09B7CD9}" type="slidenum">
              <a:rPr lang="en-US" smtClean="0"/>
              <a:t>123</a:t>
            </a:fld>
            <a:endParaRPr lang="en-US" dirty="0"/>
          </a:p>
        </p:txBody>
      </p:sp>
    </p:spTree>
    <p:extLst>
      <p:ext uri="{BB962C8B-B14F-4D97-AF65-F5344CB8AC3E}">
        <p14:creationId xmlns:p14="http://schemas.microsoft.com/office/powerpoint/2010/main" val="284456944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One-way binding: the value flows from your state into the DOM. If the user could change the element, your state wouldn't know.</a:t>
            </a:r>
          </a:p>
          <a:p>
            <a:r>
              <a:rPr b="1"/>
              <a:t>SAY:</a:t>
            </a:r>
            <a:r>
              <a:t> Two-way binding: also flows back. When the user types, v-model updates the ref.</a:t>
            </a:r>
          </a:p>
          <a:p>
            <a:r>
              <a:rPr b="1"/>
              <a:t>KEY POINT:</a:t>
            </a:r>
            <a:r>
              <a:t> Components use one-way data flow for props: parent to child only. v-model on a component is two-way by convention, implemented with a prop plus an event. We'll see that on Day 3.</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v-bind binds an attribute to an expression. Walk through the examples:</a:t>
            </a:r>
          </a:p>
          <a:p>
            <a:r>
              <a:t>- A simple binding.</a:t>
            </a:r>
          </a:p>
          <a:p>
            <a:r>
              <a:t>- A dynamic attribute name in square brackets.</a:t>
            </a:r>
          </a:p>
          <a:p>
            <a:r>
              <a:t>- Any expression, including string concatenation (a template literal works too).</a:t>
            </a:r>
          </a:p>
          <a:p>
            <a:r>
              <a:t>- v-bind with no argument and an object binds all its keys as attributes. Useful for passing a bag of props through.</a:t>
            </a:r>
          </a:p>
          <a:p>
            <a:r>
              <a:t>- Since Vue 3.4, if the attribute and the variable have the same name, you can leave off the value: :id is the same as :id="id".</a:t>
            </a:r>
          </a:p>
          <a:p>
            <a:r>
              <a:rPr b="1"/>
              <a:t>KEY POINT:</a:t>
            </a:r>
            <a:r>
              <a:t> Without v-bind, the attribute value is a literal string. src="imageSrc" sets the src to the text "imageSrc".</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By default, a checkbox's v-model is true or false, and a radio or option's value is the string in its value attribute.</a:t>
            </a:r>
          </a:p>
          <a:p>
            <a:r>
              <a:rPr b="1"/>
              <a:t>SAY:</a:t>
            </a:r>
            <a:r>
              <a:t> true-value and false-value change what a checkbox writes. Binding :value lets a radio or option set a number, an object, or any other value, which is handy when the choice is a record from your data rather than a string.</a:t>
            </a:r>
          </a:p>
          <a:p>
            <a:r>
              <a:rPr b="1"/>
              <a:t>TRANSITION:</a:t>
            </a:r>
            <a:r>
              <a:t> We'll see all of these in action in the forms demos later today.</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v-model is the Vue feature people coming from React notice first. Let's look at how it works and the few places reactivity can still surprise you.</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Type in the input and the paragraph updates instantly; change message in code and the input updates.</a:t>
            </a:r>
          </a:p>
          <a:p>
            <a:r>
              <a:rPr b="1"/>
              <a:t>KEY POINT:</a:t>
            </a:r>
            <a:r>
              <a:t> The state is always the source of truth. If you write &lt;input v-model="name" value="Bob"&gt;, the "Bob" is ignored. Set the initial value in the ref: const name = ref('Bob').</a:t>
            </a:r>
          </a:p>
          <a:p>
            <a:r>
              <a:rPr b="1"/>
              <a:t>SAY:</a:t>
            </a:r>
            <a:r>
              <a:t> v-model also handles details like IME composition for Chinese and Japanese input, where it waits for the composition to finish before updating.</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If you used Vue 2, forget everything you learned about array caveats. In Vue 3 you can mutate arrays any way you like.</a:t>
            </a:r>
          </a:p>
          <a:p>
            <a:r>
              <a:rPr b="1"/>
              <a:t>SAY:</a:t>
            </a:r>
            <a:r>
              <a:t> Non-mutating methods (filter, map, slice, concat, toSorted) return a new array. Assign the result back to the ref: items.value = items.value.filter(...). Vue is efficient about re-rendering a replaced array, especially with good keys.</a:t>
            </a:r>
          </a:p>
          <a:p>
            <a:r>
              <a:rPr b="1"/>
              <a:t>WATCH FOR:</a:t>
            </a:r>
            <a:r>
              <a:t> Calling sort() or reverse() on a prop or a store array inside a computed or template. Those methods mutate in place. Use toSorted()/toReversed() or copy first with [...arr].</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of these has the same root cause: Vue can only track reads and writes that go through a ref or a reactive proxy. As soon as you have a plain copy of a value, Vue can't see it.</a:t>
            </a:r>
          </a:p>
          <a:p>
            <a:r>
              <a:t>- `const { count } = state` copies the number out of the proxy. count is now just 0.</a:t>
            </a:r>
          </a:p>
          <a:p>
            <a:r>
              <a:t>- `let state = reactive({...}); state = reactive({...})` makes a new proxy, but the template and watchers are still subscribed to the old one. With ref you'd write state.value = {...}, which works.</a:t>
            </a:r>
          </a:p>
          <a:p>
            <a:r>
              <a:t>- `count = 5` instead of `count.value = 5` replaces the ref with a number. (const prevents this, which is one reason to always declare refs with const.)</a:t>
            </a:r>
          </a:p>
          <a:p>
            <a:r>
              <a:t>- A function receiving props.title gets a string. If you need it to stay live, pass a getter: () =&gt; props.title, or toRef(props, 'title').</a:t>
            </a:r>
          </a:p>
          <a:p>
            <a:r>
              <a:rPr b="1"/>
              <a:t>TRANSITION:</a:t>
            </a:r>
            <a:r>
              <a:t> The next slide shows the destructuring fix.</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toRefs() converts each property of a reactive object into a ref that points back at the original object. Reading or writing count.value reads or writes state.count.</a:t>
            </a:r>
          </a:p>
          <a:p>
            <a:r>
              <a:rPr b="1"/>
              <a:t>KEY POINT:</a:t>
            </a:r>
            <a:r>
              <a:t> This is the rule you'll meet again on Day 3: a Pinia store is a reactive object, so `const { articles } = store` breaks, and `const { articles } = storeToRefs(store)` works.</a:t>
            </a:r>
          </a:p>
          <a:p>
            <a:r>
              <a:rPr b="1"/>
              <a:t>TIP:</a:t>
            </a:r>
            <a:r>
              <a:t> Composables return plain objects of refs for exactly this reason: so the caller can destructure them freely.</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colon is just shorthand for v-bind:. They compile to the same thing. The style guide recommends using the shorthand consistently.</a:t>
            </a:r>
          </a:p>
          <a:p>
            <a:r>
              <a:rPr b="1"/>
              <a:t>SAY:</a:t>
            </a:r>
            <a:r>
              <a:t> Combined with the event shorthand @ (coming up on slide 138) and the slot shorthand # (slide 182), these are the three symbols to recognize in Vue templates.</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40 minutes.</a:t>
            </a:r>
          </a:p>
          <a:p>
            <a:r>
              <a:rPr b="1"/>
              <a:t>SAY:</a:t>
            </a:r>
            <a:r>
              <a:t> This lab combines three things from this morning: refs for state, a function to change state, and class binding to show the state.</a:t>
            </a:r>
          </a:p>
          <a:p>
            <a:r>
              <a:rPr b="1"/>
              <a:t>KEY POINT:</a:t>
            </a:r>
            <a:r>
              <a:t> Each ArticlePreview gets its own favorited ref, because &lt;script setup&gt; runs separately for each instance. That's what the data() function was for in the Options API.</a:t>
            </a:r>
          </a:p>
          <a:p>
            <a:r>
              <a:rPr b="1"/>
              <a:t>LAB TIPS:</a:t>
            </a:r>
          </a:p>
          <a:p>
            <a:r>
              <a:t>- toggleFavorite must use .value: favorited.value = !favorited.value.</a:t>
            </a:r>
          </a:p>
          <a:p>
            <a:r>
              <a:t>- Bootstrap 5 uses float-end, not Bootstrap 4's float-right.</a:t>
            </a:r>
          </a:p>
          <a:p>
            <a:r>
              <a:rPr b="1"/>
              <a:t>COMMON PROBLEMS:</a:t>
            </a:r>
          </a:p>
          <a:p>
            <a:r>
              <a:t>- @click="toggleFavorite()" and @click="toggleFavorite" both work. The first is an inline call; the second passes the event to the function.</a:t>
            </a:r>
          </a:p>
          <a:p>
            <a:r>
              <a:t>- Forgetting .value in script, so the button never changes.</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v-on:click, or @click, listens for clicks. The value can be a statement to run, or a function to call.</a:t>
            </a:r>
          </a:p>
          <a:p>
            <a:r>
              <a:rPr b="1"/>
              <a:t>SAY:</a:t>
            </a:r>
            <a:r>
              <a:t> Notice there's no .value in the template: counter += 1 works because refs are unwrapped in templates, for assignments too.</a:t>
            </a:r>
          </a:p>
          <a:p>
            <a:r>
              <a:rPr b="1"/>
              <a:t>KEY POINT:</a:t>
            </a:r>
            <a:r>
              <a:t> You never call addEventListener or removeEventListener. Vue handles both, so there are no listener leaks.</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An inline handler is any JavaScript statement. It's ideal for a one-liner like count++ or calling a function with arguments.</a:t>
            </a:r>
          </a:p>
          <a:p>
            <a:r>
              <a:rPr b="1"/>
              <a:t>SAY:</a:t>
            </a:r>
            <a:r>
              <a:t> When you call a function with your own arguments, you lose the automatic event argument. $event is a special variable that holds the native DOM event in inline handlers, so you can pass it along. An inline arrow function does the same thing.</a:t>
            </a:r>
          </a:p>
          <a:p>
            <a:r>
              <a:rPr b="1"/>
              <a:t>KEY POINT:</a:t>
            </a:r>
            <a:r>
              <a:t> If the handler is more than one short statement, move it into a function in &lt;script setup&gt;. That's the next slide.</a:t>
            </a:r>
          </a:p>
          <a:p>
            <a:r>
              <a:rPr b="1"/>
              <a:t>NOTE:</a:t>
            </a:r>
            <a:r>
              <a:t> This slide previously had no example.</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@click="greet" passes a reference to the function. Vue calls it with the DOM event as the first argument. Here, event.target.tagName shows "BUTTON".</a:t>
            </a:r>
            <a:endParaRPr lang="en-US" dirty="0"/>
          </a:p>
          <a:p>
            <a:r>
              <a:rPr b="1"/>
              <a:t>SAY:</a:t>
            </a:r>
            <a:r>
              <a:t> @click="greet()" would call it with no arguments, so event would be undefined. That's why the function checks if (event).</a:t>
            </a:r>
          </a:p>
          <a:p>
            <a:r>
              <a:rPr b="1"/>
              <a:t>KEY POINT:</a:t>
            </a:r>
            <a:r>
              <a:t> In the Options API these went in a methods object and used this. In &lt;script setup&gt; they're plain functions, and state is reached through refs, not this.</a:t>
            </a:r>
          </a:p>
        </p:txBody>
      </p:sp>
      <p:sp>
        <p:nvSpPr>
          <p:cNvPr id="4" name="Slide Number Placeholder 3"/>
          <p:cNvSpPr>
            <a:spLocks noGrp="1"/>
          </p:cNvSpPr>
          <p:nvPr>
            <p:ph type="sldNum" sz="quarter" idx="5"/>
          </p:nvPr>
        </p:nvSpPr>
        <p:spPr/>
        <p:txBody>
          <a:bodyPr/>
          <a:lstStyle/>
          <a:p>
            <a:fld id="{71770EAF-1B7F-084E-BE5F-E1B515CBCD96}" type="slidenum">
              <a:rPr lang="en-US" smtClean="0"/>
              <a:t>136</a:t>
            </a:fld>
            <a:endParaRPr lang="en-US"/>
          </a:p>
        </p:txBody>
      </p:sp>
    </p:spTree>
    <p:extLst>
      <p:ext uri="{BB962C8B-B14F-4D97-AF65-F5344CB8AC3E}">
        <p14:creationId xmlns:p14="http://schemas.microsoft.com/office/powerpoint/2010/main" val="207294695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Modifiers keep your handler focused on what to do, not on DOM plumbing.</a:t>
            </a:r>
          </a:p>
          <a:p>
            <a:r>
              <a:t>- .stop: the click doesn't bubble to parent elements. Useful for a delete button inside a clickable card.</a:t>
            </a:r>
          </a:p>
          <a:p>
            <a:r>
              <a:t>- .prevent: no default browser action. Most common on form submit and on links handled by JavaScript.</a:t>
            </a:r>
          </a:p>
          <a:p>
            <a:r>
              <a:t>- .self: ignore events that bubbled from children. Good for closing a modal when clicking the backdrop but not the dialog.</a:t>
            </a:r>
          </a:p>
          <a:p>
            <a:r>
              <a:t>- .capture: handle the event on the way down rather than on the way up.</a:t>
            </a:r>
          </a:p>
          <a:p>
            <a:r>
              <a:t>- .once: the listener removes itself after the first call.</a:t>
            </a:r>
          </a:p>
          <a:p>
            <a:r>
              <a:t>- .passive: for scroll and touch listeners; lets the browser scroll without waiting for your handler.</a:t>
            </a:r>
          </a:p>
          <a:p>
            <a:r>
              <a:rPr b="1"/>
              <a:t>SAY:</a:t>
            </a:r>
            <a:r>
              <a:t> There are also key modifiers (.enter, .esc, .tab, .up, .down) and system modifiers (.ctrl, .shift, .alt, .meta), plus .exact.</a:t>
            </a:r>
          </a:p>
          <a:p>
            <a:r>
              <a:rPr b="1"/>
              <a:t>WATCH FOR:</a:t>
            </a:r>
            <a:r>
              <a:t> Don't combine .passive and .prevent; the browser ignores preventDefault in a passive listener.</a:t>
            </a:r>
          </a:p>
        </p:txBody>
      </p:sp>
      <p:sp>
        <p:nvSpPr>
          <p:cNvPr id="4" name="Slide Number Placeholder 3"/>
          <p:cNvSpPr>
            <a:spLocks noGrp="1"/>
          </p:cNvSpPr>
          <p:nvPr>
            <p:ph type="sldNum" sz="quarter" idx="5"/>
          </p:nvPr>
        </p:nvSpPr>
        <p:spPr/>
        <p:txBody>
          <a:bodyPr/>
          <a:lstStyle/>
          <a:p>
            <a:fld id="{71770EAF-1B7F-084E-BE5F-E1B515CBCD96}" type="slidenum">
              <a:rPr lang="en-US" smtClean="0"/>
              <a:t>137</a:t>
            </a:fld>
            <a:endParaRPr lang="en-US" dirty="0"/>
          </a:p>
        </p:txBody>
      </p:sp>
    </p:spTree>
    <p:extLst>
      <p:ext uri="{BB962C8B-B14F-4D97-AF65-F5344CB8AC3E}">
        <p14:creationId xmlns:p14="http://schemas.microsoft.com/office/powerpoint/2010/main" val="261237495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 is shorthand for v-on:. Like the colon for v-bind, it's what you'll see in almost all Vue code.</a:t>
            </a:r>
          </a:p>
          <a:p>
            <a:r>
              <a:rPr b="1"/>
              <a:t>SAY:</a:t>
            </a:r>
            <a:r>
              <a:t> Dynamic event names in square brackets are rare, but useful in generic wrapper components.</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This is the "events flow up" half of "props down, events up". A child can't change its parent's state directly. Instead it emits an event, and the parent decides what to do.</a:t>
            </a:r>
            <a:endParaRPr lang="en-US" dirty="0"/>
          </a:p>
          <a:p>
            <a:r>
              <a:rPr b="1"/>
              <a:t>SAY:</a:t>
            </a:r>
            <a:r>
              <a:t> defineEmits declares which events the component can emit, and returns the emit function. Calling emit('enlarge-text') notifies any parent listening with @enlarge-text.</a:t>
            </a:r>
          </a:p>
          <a:p>
            <a:r>
              <a:rPr b="1"/>
              <a:t>SAY:</a:t>
            </a:r>
            <a:r>
              <a:t> Declaring events matters more in Vue 3. If the parent listens for an event the child didn't declare, Vue treats @enlarge-text as a native listener on the child's root element. With a click event, that can make the handler fire twice.</a:t>
            </a:r>
          </a:p>
          <a:p>
            <a:r>
              <a:rPr b="1"/>
              <a:t>SAY:</a:t>
            </a:r>
            <a:r>
              <a:t> Event names: declare and emit in kebab-case or camelCase; listen with @enlarge-text in templates. Vue normalizes between the two.</a:t>
            </a:r>
          </a:p>
        </p:txBody>
      </p:sp>
      <p:sp>
        <p:nvSpPr>
          <p:cNvPr id="4" name="Slide Number Placeholder 3"/>
          <p:cNvSpPr>
            <a:spLocks noGrp="1"/>
          </p:cNvSpPr>
          <p:nvPr>
            <p:ph type="sldNum" sz="quarter" idx="5"/>
          </p:nvPr>
        </p:nvSpPr>
        <p:spPr/>
        <p:txBody>
          <a:bodyPr/>
          <a:lstStyle/>
          <a:p>
            <a:fld id="{71770EAF-1B7F-084E-BE5F-E1B515CBCD96}" type="slidenum">
              <a:rPr lang="en-US" smtClean="0"/>
              <a:t>139</a:t>
            </a:fld>
            <a:endParaRPr lang="en-US" dirty="0"/>
          </a:p>
        </p:txBody>
      </p:sp>
    </p:spTree>
    <p:extLst>
      <p:ext uri="{BB962C8B-B14F-4D97-AF65-F5344CB8AC3E}">
        <p14:creationId xmlns:p14="http://schemas.microsoft.com/office/powerpoint/2010/main" val="58055725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Now the child decides how much to enlarge the text by, and passes it along. In an inline handler, the first payload argument is available as $event. With a function reference, the payload arrives as the function's arguments.</a:t>
            </a:r>
          </a:p>
          <a:p>
            <a:r>
              <a:rPr b="1"/>
              <a:t>KEY POINT:</a:t>
            </a:r>
            <a:r>
              <a:t> Component events don't bubble. Only the direct parent can listen. If a deeply nested component needs to talk to a distant one, that's a sign you need shared state: a Pinia store, coming on Day 3.</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40 minutes.</a:t>
            </a:r>
          </a:p>
          <a:p>
            <a:r>
              <a:rPr b="1"/>
              <a:t>SAY:</a:t>
            </a:r>
            <a:r>
              <a:t> State lives in the parent (ArticleList); the child (ArticlePreview) only asks for a change. That's props down, events up.</a:t>
            </a:r>
          </a:p>
          <a:p>
            <a:r>
              <a:rPr b="1"/>
              <a:t>LAB TIPS:</a:t>
            </a:r>
          </a:p>
          <a:p>
            <a:r>
              <a:t>- The style binding is :style="{ fontSize: articleFontSize + 'em' }".</a:t>
            </a:r>
          </a:p>
          <a:p>
            <a:r>
              <a:t>- For Shrink Text, emit a second event, or emit enlarge-text with a negative payload. Discuss which is cleaner.</a:t>
            </a:r>
          </a:p>
          <a:p>
            <a:r>
              <a:rPr b="1"/>
              <a:t>COMMON PROBLEMS:</a:t>
            </a:r>
          </a:p>
          <a:p>
            <a:r>
              <a:t>- Using $emit in &lt;script setup&gt;: it's not available there. Use the emit function returned by defineEmits. ($emit does work in the template.)</a:t>
            </a:r>
          </a:p>
          <a:p>
            <a:r>
              <a:t>- The challenge (only the description grows): move the :style binding inside ArticlePreview onto the description element, and pass the size as a prop.</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3:30 block: watchers and lifecycle, then Lab 16.</a:t>
            </a:r>
          </a:p>
          <a:p>
            <a:r>
              <a:rPr b="1"/>
              <a:t>SAY:</a:t>
            </a:r>
            <a:r>
              <a:t> A watcher runs a callback whenever its source changes. Here, whenever the question changes and ends with a question mark, it fetches an answer.</a:t>
            </a:r>
          </a:p>
          <a:p>
            <a:r>
              <a:rPr b="1"/>
              <a:t>KEY POINT:</a:t>
            </a:r>
            <a:r>
              <a:t> computed is for deriving a value; watch is for doing something: calling an API, writing to localStorage, updating the document title, logging.</a:t>
            </a:r>
          </a:p>
          <a:p>
            <a:r>
              <a:rPr b="1"/>
              <a:t>SAY:</a:t>
            </a:r>
            <a:r>
              <a:t> The source can be a ref, a reactive object, a getter function, or an array of these. To watch a property of a reactive object or a prop, use a getter: watch(() =&gt; props.id, ...).</a:t>
            </a:r>
          </a:p>
          <a:p>
            <a:r>
              <a:rPr b="1"/>
              <a:t>IF ASKED:</a:t>
            </a:r>
            <a:r>
              <a:t> What about race conditions, if an older request finishes after a newer one? The callback receives a third argument, onCleanup (or call onWatcherCleanup() in 3.5+), to cancel the previous request.</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watch is explicit: you say exactly what to watch, and get old and new values. Use it when you need the previous value, or want precise control over what triggers the callback.</a:t>
            </a:r>
          </a:p>
          <a:p>
            <a:r>
              <a:rPr b="1"/>
              <a:t>SAY:</a:t>
            </a:r>
            <a:r>
              <a:t> watchEffect is automatic: it runs immediately, records what it read, and re-runs when any of those change, like a computed property that produces a side effect instead of a value.</a:t>
            </a:r>
          </a:p>
          <a:p>
            <a:r>
              <a:rPr b="1"/>
              <a:t>KEY POINT:</a:t>
            </a:r>
            <a:r>
              <a:t> Watchers created synchronously in &lt;script setup&gt; are stopped automatically when the component unmounts. A watcher created later, inside an async callback for example, is not, and you must call the returned stop function yourself.</a:t>
            </a:r>
          </a:p>
          <a:p>
            <a:r>
              <a:rPr b="1"/>
              <a:t>NOTE:</a:t>
            </a:r>
            <a:r>
              <a:t> The numbering on this slide was broken in the previous version; it's now two columns.</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Every component goes through the same lifecycle: it's created (setup runs), mounted (inserted into the DOM), updated (re-rendered as state changes, any number of times), and unmounted (removed).</a:t>
            </a:r>
          </a:p>
          <a:p>
            <a:r>
              <a:rPr b="1"/>
              <a:t>DO:</a:t>
            </a:r>
            <a:r>
              <a:t> Walk through the diagram: setup, then the template is compiled (if needed), onBeforeMount, the initial render and DOM insertion, onMounted. Then the update loop: state change, onBeforeUpdate, re-render and patch, onUpdated. Finally, when the component is removed: onBeforeUnmount, onUnmounted.</a:t>
            </a:r>
          </a:p>
          <a:p>
            <a:r>
              <a:rPr b="1"/>
              <a:t>SAY:</a:t>
            </a:r>
            <a:r>
              <a:t> onActivated and onDeactivated are for components inside &lt;KeepAlive&gt;, which caches components instead of destroying them. onErrorCaptured catches errors thrown by descendants.</a:t>
            </a:r>
          </a:p>
          <a:p>
            <a:r>
              <a:rPr b="1"/>
              <a:t>TRANSITION:</a:t>
            </a:r>
            <a:r>
              <a:t> Let's go through the main hooks one at a time.</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the Options API, beforeCreate and created were hooks. In the Composition API, setup itself is the creation phase, so those hooks aren't needed.</a:t>
            </a:r>
          </a:p>
          <a:p>
            <a:r>
              <a:rPr b="1"/>
              <a:t>KEY POINT:</a:t>
            </a:r>
            <a:r>
              <a:t> Starting a request in setup gets it going as early as possible, before the component renders. Show a loading state in the template until the data arrives.</a:t>
            </a:r>
          </a:p>
          <a:p>
            <a:r>
              <a:rPr b="1"/>
              <a:t>WATCH FOR:</a:t>
            </a:r>
            <a:r>
              <a:t> Don't touch the DOM here (document.querySelector or template refs), because it doesn't exist yet. That's what onMounted is for.</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Honestly, you'll almost never use this one. Anything you'd do here can usually go directly in setup.</a:t>
            </a:r>
          </a:p>
          <a:p>
            <a:r>
              <a:rPr b="1"/>
              <a:t>SAY:</a:t>
            </a:r>
            <a:r>
              <a:t> It's in the API mostly for symmetry with the Options API, and for library authors.</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onMounted is the most-used hook. It's where you can safely touch the DOM. A template ref is a ref whose name matches a ref="..." attribute in the template; after mounting, its .value is the DOM element (or the child component instance).</a:t>
            </a:r>
          </a:p>
          <a:p>
            <a:r>
              <a:rPr b="1"/>
              <a:t>SAY:</a:t>
            </a:r>
            <a:r>
              <a:t> It's also a common place to fetch data, which is what Lab 16 does. Either setup or onMounted works; onMounted guarantees it only runs in the browser, which matters for server-side rendering.</a:t>
            </a:r>
          </a:p>
          <a:p>
            <a:r>
              <a:rPr b="1"/>
              <a:t>ASK:</a:t>
            </a:r>
            <a:r>
              <a:t> If App contains HomeContent, which contains ArticleList, which component's onMounted runs first? (ArticleList. Children mount first, so the parent's onMounted can rely on its children's DOM.)</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Think of a chat window. Before new messages render, you record whether the user was scrolled to the bottom. After the update (next slide), you decide whether to scroll down to the new message.</a:t>
            </a:r>
            <a:endParaRPr lang="en-US" dirty="0"/>
          </a:p>
          <a:p>
            <a:r>
              <a:rPr b="1"/>
              <a:t>SAY:</a:t>
            </a:r>
            <a:r>
              <a:t> It's safe to modify state here; it won't cause an extra render.</a:t>
            </a:r>
          </a:p>
        </p:txBody>
      </p:sp>
      <p:sp>
        <p:nvSpPr>
          <p:cNvPr id="4" name="Slide Number Placeholder 3"/>
          <p:cNvSpPr>
            <a:spLocks noGrp="1"/>
          </p:cNvSpPr>
          <p:nvPr>
            <p:ph type="sldNum" sz="quarter" idx="5"/>
          </p:nvPr>
        </p:nvSpPr>
        <p:spPr/>
        <p:txBody>
          <a:bodyPr/>
          <a:lstStyle/>
          <a:p>
            <a:fld id="{71770EAF-1B7F-084E-BE5F-E1B515CBCD96}" type="slidenum">
              <a:rPr lang="en-US" smtClean="0"/>
              <a:t>148</a:t>
            </a:fld>
            <a:endParaRPr lang="en-US" dirty="0"/>
          </a:p>
        </p:txBody>
      </p:sp>
    </p:spTree>
    <p:extLst>
      <p:ext uri="{BB962C8B-B14F-4D97-AF65-F5344CB8AC3E}">
        <p14:creationId xmlns:p14="http://schemas.microsoft.com/office/powerpoint/2010/main" val="227039165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onUpdated runs after any re-render of this component, for any reason. That's why it's a blunt tool. If you care about one specific value changing, use watch with { flush: 'post' }, which runs after the DOM updates but only for that value.</a:t>
            </a:r>
          </a:p>
          <a:p>
            <a:r>
              <a:rPr b="1"/>
              <a:t>WATCH FOR:</a:t>
            </a:r>
            <a:r>
              <a:t> Changing state inside onUpdated triggers another update, which triggers onUpdated again: an infinite loop, and Vue will warn about it.</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When a component is removed (v-if becomes false, the route changes), Vue cleans up everything it set up: listeners in templates, watchers, computed properties, child components. But it can't know about a setInterval you started or a listener you added to window.</a:t>
            </a:r>
          </a:p>
          <a:p>
            <a:r>
              <a:rPr b="1"/>
              <a:t>KEY POINT:</a:t>
            </a:r>
            <a:r>
              <a:t> Every "start" in onMounted should have a matching "stop" in onBeforeUnmount or onUnmounted. Forgetting this is the most common source of memory leaks in single-page apps, because the page never reloads.</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difference between the two unmount hooks: in onBeforeUnmount the DOM still exists, so you can read from it or let a library detach itself cleanly. In onUnmounted, it's gone.</a:t>
            </a:r>
          </a:p>
          <a:p>
            <a:r>
              <a:rPr b="1"/>
              <a:t>TRANSITION:</a:t>
            </a:r>
            <a:r>
              <a:t> Let's see a complete example of setup and cleanup.</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timer component. The interval starts when the component appears and is cleared when it's removed.</a:t>
            </a:r>
          </a:p>
          <a:p>
            <a:r>
              <a:rPr b="1"/>
              <a:t>ASK:</a:t>
            </a:r>
            <a:r>
              <a:t> What happens if we delete the onUnmounted line, and the component is shown and hidden ten times with v-if? (Ten intervals keep running forever, each updating a ref nobody displays. That's a leak.)</a:t>
            </a:r>
          </a:p>
          <a:p>
            <a:r>
              <a:rPr b="1"/>
              <a:t>SAY:</a:t>
            </a:r>
            <a:r>
              <a:t> Notice timer is a plain let, not a ref. It doesn't need to be reactive: the template never displays it.</a:t>
            </a:r>
          </a:p>
          <a:p>
            <a:r>
              <a:rPr b="1"/>
              <a:t>TIP:</a:t>
            </a:r>
            <a:r>
              <a:t> This is also a perfect candidate for a composable (Day 3): a useInterval() function that does both halves, so callers can't forget the cleanup.</a:t>
            </a:r>
          </a:p>
          <a:p>
            <a:r>
              <a:rPr b="1"/>
              <a:t>NOTE:</a:t>
            </a:r>
            <a:r>
              <a:t> In the previous version, "let timer" was formatted as a bullet. Fixed.</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While setup runs, Vue keeps track of "the component currently being set up". When you call onMounted, it attaches the hook to that component. Once setup returns (or hits its first await), there is no current component, so a hook registered later has nothing to attach to and Vue warns.</a:t>
            </a:r>
          </a:p>
          <a:p>
            <a:r>
              <a:rPr b="1"/>
              <a:t>WATCH FOR:</a:t>
            </a:r>
            <a:r>
              <a:t> `await something` at the top level of &lt;script setup&gt; followed by onMounted. After the first await, you've lost the instance. Register hooks before any await.</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20 minutes.</a:t>
            </a:r>
          </a:p>
          <a:p>
            <a:r>
              <a:rPr b="1"/>
              <a:t>LAB TIPS:</a:t>
            </a:r>
          </a:p>
          <a:p>
            <a:r>
              <a:t>- The API base URL is https://api.realworld.show/api. Make sure it's reachable from your classroom network before class. If it isn't, point VITE_API_URL at an alternative instance in .env.local.</a:t>
            </a:r>
          </a:p>
          <a:p>
            <a:r>
              <a:t>- Vite only exposes environment variables that start with VITE_, on import.meta.env. process.env doesn't exist in the browser.</a:t>
            </a:r>
          </a:p>
          <a:p>
            <a:r>
              <a:t>- Initialize articles as an empty array, not an object, or the "No articles are here" check breaks.</a:t>
            </a:r>
          </a:p>
          <a:p>
            <a:r>
              <a:rPr b="1"/>
              <a:t>COMMON PROBLEMS:</a:t>
            </a:r>
          </a:p>
          <a:p>
            <a:r>
              <a:t>- Network errors or CORS errors in the console: check the API URL and the network. Open the Network tab and look at the failed request.</a:t>
            </a:r>
          </a:p>
          <a:p>
            <a:r>
              <a:t>- The ArticleList test now fails because it makes a real network request. That's expected; we fix it properly in Lab 23 with mocks.</a:t>
            </a:r>
          </a:p>
          <a:p>
            <a:r>
              <a:rPr b="1"/>
              <a:t>DEBRIEF:</a:t>
            </a:r>
            <a:r>
              <a:t> Show the request in the Network tab, and the articles ref filling in Vue DevTools.</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15 minutes of demos, then Lab 17 (which can spill into the start of Day 3).</a:t>
            </a:r>
          </a:p>
          <a:p>
            <a:r>
              <a:rPr b="1"/>
              <a:t>SAY:</a:t>
            </a:r>
            <a:r>
              <a:t> Forms are where two-way binding shines. We'll look at how v-model handles each type of input, then use one to filter the article list.</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One directive, every input type. The value type depends on the input:</a:t>
            </a:r>
          </a:p>
          <a:p>
            <a:r>
              <a:t>- text and textarea: a string.</a:t>
            </a:r>
          </a:p>
          <a:p>
            <a:r>
              <a:t>- a single checkbox: a boolean.</a:t>
            </a:r>
          </a:p>
          <a:p>
            <a:r>
              <a:t>- several checkboxes bound to the same array: an array of the checked values.</a:t>
            </a:r>
          </a:p>
          <a:p>
            <a:r>
              <a:t>- radio buttons: the value of the selected one.</a:t>
            </a:r>
          </a:p>
          <a:p>
            <a:r>
              <a:t>- select: the selected option's value (or an array, with multiple).</a:t>
            </a:r>
          </a:p>
          <a:p>
            <a:r>
              <a:rPr b="1"/>
              <a:t>TIP:</a:t>
            </a:r>
            <a:r>
              <a:t> For a select, a disabled first option with value="" gives a "please select" prompt. Without it, iOS won't fire a change event for the first option.</a:t>
            </a:r>
          </a:p>
          <a:p>
            <a:r>
              <a:rPr b="1"/>
              <a:t>DEMO:</a:t>
            </a:r>
            <a:r>
              <a:t> demos/input-bindings/index.html shows two text inputs combined by a computed property. The next four slides each have their own demo.</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v-model is syntactic sugar. It's one-way binding (:value) plus an event listener that updates the state. There's no special two-way channel. Understanding this makes v-model on components (Day 3) easy to understand.</a:t>
            </a:r>
          </a:p>
          <a:p>
            <a:r>
              <a:rPr b="1"/>
              <a:t>SAY:</a:t>
            </a:r>
            <a:r>
              <a:t> The "con" is mostly about large apps: if many places can change a value through v-model, it's harder to trace where a change came from. That's one reason stores like Pinia centralize changes in actions.</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demos/forms/checkboxes.html in the browser (no build step).</a:t>
            </a:r>
          </a:p>
          <a:p>
            <a:r>
              <a:t>1. Toggle the "I agree" checkbox; the boolean shows true/false below.</a:t>
            </a:r>
          </a:p>
          <a:p>
            <a:r>
              <a:t>2. Check several frameworks; the array updates in order of checking.</a:t>
            </a:r>
          </a:p>
          <a:p>
            <a:r>
              <a:t>3. Toggle the newsletter box, which uses true-value="yes" and false-value="no".</a:t>
            </a:r>
          </a:p>
          <a:p>
            <a:r>
              <a:t>4. Open the file and show the three refs and the template.</a:t>
            </a:r>
          </a:p>
          <a:p>
            <a:r>
              <a:rPr b="1"/>
              <a:t>ASK:</a:t>
            </a:r>
            <a:r>
              <a:t> Why does the frameworks array keep the order you clicked, rather than the order on the page? (v-model pushes and removes values as boxes are checked and unchecked.)</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demos/forms/radio.html.</a:t>
            </a:r>
          </a:p>
          <a:p>
            <a:r>
              <a:t>1. Pick a size; the selected value appears below.</a:t>
            </a:r>
          </a:p>
          <a:p>
            <a:r>
              <a:t>2. Pick a shipping option. These use :value with objects, so the ref holds the whole object, and the computed total updates with its price.</a:t>
            </a:r>
          </a:p>
          <a:p>
            <a:r>
              <a:rPr b="1"/>
              <a:t>SAY:</a:t>
            </a:r>
            <a:r>
              <a:t> With v-model you don't need a name attribute to group radio buttons. They're grouped by sharing the same v-model. (Adding name is still fine for accessibility and for native form submission.)</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demos/forms/select.html.</a:t>
            </a:r>
          </a:p>
          <a:p>
            <a:r>
              <a:t>1. Choose a country from the single select; its code is shown.</a:t>
            </a:r>
          </a:p>
          <a:p>
            <a:r>
              <a:t>2. Ctrl/Cmd-click several toppings in the multiple select; the array updates.</a:t>
            </a:r>
          </a:p>
          <a:p>
            <a:r>
              <a:t>3. Point out that the options are generated with v-for from an array, the usual case with real data.</a:t>
            </a:r>
          </a:p>
          <a:p>
            <a:r>
              <a:rPr b="1"/>
              <a:t>WATCH FOR:</a:t>
            </a:r>
            <a:r>
              <a:t> If the bound value doesn't match any option's value, the select renders blank. That's why the "Choose…" option with value="" matches the initial ref('').</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demos/forms/modifiers.html.</a:t>
            </a:r>
          </a:p>
          <a:p>
            <a:r>
              <a:t>1. Type in the .lazy input: the output doesn't change until you press Tab or click away.</a:t>
            </a:r>
          </a:p>
          <a:p>
            <a:r>
              <a:t>2. Type a number into the plain input and the .number input. The page shows typeof for each: "string" vs "number". Then show age + 1 for each: "201" vs 21.</a:t>
            </a:r>
          </a:p>
          <a:p>
            <a:r>
              <a:rPr b="1"/>
              <a:t>IF ASKED:</a:t>
            </a:r>
            <a:r>
              <a:t> Vue automatically applies .number to inputs with type="number", which is why the demo uses text inputs to show the difference.</a:t>
            </a:r>
          </a:p>
          <a:p>
            <a:r>
              <a:t>3. Type spaces around a name in the .trim input; the brackets in the output show they're gone.</a:t>
            </a:r>
          </a:p>
          <a:p>
            <a:r>
              <a:rPr b="1"/>
              <a:t>KEY POINT:</a:t>
            </a:r>
            <a:r>
              <a:t> Lab 17's note mentions that an earlier version of the lab used v-model.number on a text search, which is wrong: .number tries to cast every keystroke to a number. Use modifiers only when they match the data.</a:t>
            </a: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15 minutes. It's fine to let this finish at the start of Day 3.</a:t>
            </a:r>
          </a:p>
          <a:p>
            <a:r>
              <a:rPr b="1"/>
              <a:t>SAY:</a:t>
            </a:r>
            <a:r>
              <a:t> This combines the forms demos with the computed-property demo from this morning: v-model feeds a ref; a computed property filters the list.</a:t>
            </a:r>
          </a:p>
          <a:p>
            <a:r>
              <a:rPr b="1"/>
              <a:t>LAB TIPS:</a:t>
            </a:r>
          </a:p>
          <a:p>
            <a:r>
              <a:t>- Don't use v-model.number here; we're filtering text.</a:t>
            </a:r>
          </a:p>
          <a:p>
            <a:r>
              <a:t>- Case-insensitive: lowercase both sides with toLowerCase().</a:t>
            </a:r>
          </a:p>
          <a:p>
            <a:r>
              <a:rPr b="1"/>
              <a:t>COMMON PROBLEMS:</a:t>
            </a:r>
          </a:p>
          <a:p>
            <a:r>
              <a:t>- The list doesn't filter: v-for still loops over articles instead of filterIt.</a:t>
            </a:r>
          </a:p>
          <a:p>
            <a:r>
              <a:t>- Errors when articles haven't loaded: the computed runs while articles is still []. That's fine; filter on an empty array returns [].</a:t>
            </a:r>
          </a:p>
          <a:p>
            <a:r>
              <a:rPr b="1"/>
              <a:t>DEBRIEF:</a:t>
            </a:r>
            <a:r>
              <a:t> End of Day 2. Tomorrow starts with Review 2 (quiz/day2.txt), then components in depth.</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Day 3 starts with Review 2 (Labs 11-17, quiz/day2.txt) from 8:30 to 9:00. Then 30 minutes on components, and Lab 18.</a:t>
            </a:r>
            <a:endParaRPr lang="en-US" dirty="0"/>
          </a:p>
          <a:p>
            <a:r>
              <a:rPr b="1"/>
              <a:t>SAY:</a:t>
            </a:r>
            <a:r>
              <a:t> You've been writing components since Day 1. Now let's look at them properly: how data flows into them, how to customize their content with slots, and how to load them on demand.</a:t>
            </a:r>
          </a:p>
        </p:txBody>
      </p:sp>
      <p:sp>
        <p:nvSpPr>
          <p:cNvPr id="4" name="Slide Number Placeholder 3"/>
          <p:cNvSpPr>
            <a:spLocks noGrp="1"/>
          </p:cNvSpPr>
          <p:nvPr>
            <p:ph type="sldNum" sz="quarter" idx="5"/>
          </p:nvPr>
        </p:nvSpPr>
        <p:spPr/>
        <p:txBody>
          <a:bodyPr/>
          <a:lstStyle/>
          <a:p>
            <a:fld id="{71770EAF-1B7F-084E-BE5F-E1B515CBCD96}" type="slidenum">
              <a:rPr lang="en-US" smtClean="0"/>
              <a:t>163</a:t>
            </a:fld>
            <a:endParaRPr lang="en-US" dirty="0"/>
          </a:p>
        </p:txBody>
      </p:sp>
    </p:spTree>
    <p:extLst>
      <p:ext uri="{BB962C8B-B14F-4D97-AF65-F5344CB8AC3E}">
        <p14:creationId xmlns:p14="http://schemas.microsoft.com/office/powerpoint/2010/main" val="3214553443"/>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component is to UI what a function is to code: a named, reusable unit with inputs (props), outputs (events), and private internals (state).</a:t>
            </a:r>
            <a:endParaRPr lang="en-US" dirty="0"/>
          </a:p>
          <a:p>
            <a:r>
              <a:rPr b="1"/>
              <a:t>KEY POINT:</a:t>
            </a:r>
            <a:r>
              <a:t> Each &lt;ArticlePreview&gt; on the page is a separate instance with its own favorited ref. Clicking favorite on one doesn't affect the others. In the Options API, that's why data had to be a function returning a fresh object.</a:t>
            </a:r>
          </a:p>
        </p:txBody>
      </p:sp>
      <p:sp>
        <p:nvSpPr>
          <p:cNvPr id="4" name="Slide Number Placeholder 3"/>
          <p:cNvSpPr>
            <a:spLocks noGrp="1"/>
          </p:cNvSpPr>
          <p:nvPr>
            <p:ph type="sldNum" sz="quarter" idx="5"/>
          </p:nvPr>
        </p:nvSpPr>
        <p:spPr/>
        <p:txBody>
          <a:bodyPr/>
          <a:lstStyle/>
          <a:p>
            <a:fld id="{71770EAF-1B7F-084E-BE5F-E1B515CBCD96}" type="slidenum">
              <a:rPr lang="en-US" smtClean="0"/>
              <a:t>164</a:t>
            </a:fld>
            <a:endParaRPr lang="en-US" dirty="0"/>
          </a:p>
        </p:txBody>
      </p:sp>
    </p:spTree>
    <p:extLst>
      <p:ext uri="{BB962C8B-B14F-4D97-AF65-F5344CB8AC3E}">
        <p14:creationId xmlns:p14="http://schemas.microsoft.com/office/powerpoint/2010/main" val="352096252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 complete component: it takes a todo object as a prop and renders its text in an li.</a:t>
            </a:r>
            <a:endParaRPr lang="en-US" dirty="0"/>
          </a:p>
          <a:p>
            <a:r>
              <a:rPr b="1"/>
              <a:t>SAY:</a:t>
            </a:r>
            <a:r>
              <a:t> To use it: import TodoItem from './TodoItem.vue', then &lt;TodoItem :todo="item" /&gt;.</a:t>
            </a:r>
          </a:p>
          <a:p>
            <a:r>
              <a:rPr b="1"/>
              <a:t>KEY POINT:</a:t>
            </a:r>
            <a:r>
              <a:t> There's no registration step and no name declaration. With &lt;script setup&gt;, the file name is the name, and importing it registers it.</a:t>
            </a:r>
          </a:p>
        </p:txBody>
      </p:sp>
      <p:sp>
        <p:nvSpPr>
          <p:cNvPr id="4" name="Slide Number Placeholder 3"/>
          <p:cNvSpPr>
            <a:spLocks noGrp="1"/>
          </p:cNvSpPr>
          <p:nvPr>
            <p:ph type="sldNum" sz="quarter" idx="5"/>
          </p:nvPr>
        </p:nvSpPr>
        <p:spPr/>
        <p:txBody>
          <a:bodyPr/>
          <a:lstStyle/>
          <a:p>
            <a:fld id="{71770EAF-1B7F-084E-BE5F-E1B515CBCD96}" type="slidenum">
              <a:rPr lang="en-US" smtClean="0"/>
              <a:t>165</a:t>
            </a:fld>
            <a:endParaRPr lang="en-US" dirty="0"/>
          </a:p>
        </p:txBody>
      </p:sp>
    </p:spTree>
    <p:extLst>
      <p:ext uri="{BB962C8B-B14F-4D97-AF65-F5344CB8AC3E}">
        <p14:creationId xmlns:p14="http://schemas.microsoft.com/office/powerpoint/2010/main" val="235951168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On the left, a page layout: header, sidebar, main content with repeated items. On the right, the same thing as a component tree.</a:t>
            </a:r>
            <a:endParaRPr lang="en-US" dirty="0"/>
          </a:p>
          <a:p>
            <a:r>
              <a:rPr b="1"/>
              <a:t>DO:</a:t>
            </a:r>
            <a:r>
              <a:t> Map it onto Conduit on the whiteboard: App at the root; TheHeader, HomeContent, TheFooter beneath it; HomeContent contains GlobalFeed and the tags sidebar; GlobalFeed contains ArticleList; ArticleList contains many ArticlePreview.</a:t>
            </a:r>
          </a:p>
          <a:p>
            <a:r>
              <a:rPr b="1"/>
              <a:t>KEY POINT:</a:t>
            </a:r>
            <a:r>
              <a:t> Where state lives in this tree determines who can see it. State lives in the closest common ancestor of the components that need it, and is passed down as props. When that ancestor is far away, it's time for a store.</a:t>
            </a:r>
          </a:p>
        </p:txBody>
      </p:sp>
      <p:sp>
        <p:nvSpPr>
          <p:cNvPr id="4" name="Slide Number Placeholder 3"/>
          <p:cNvSpPr>
            <a:spLocks noGrp="1"/>
          </p:cNvSpPr>
          <p:nvPr>
            <p:ph type="sldNum" sz="quarter" idx="5"/>
          </p:nvPr>
        </p:nvSpPr>
        <p:spPr/>
        <p:txBody>
          <a:bodyPr/>
          <a:lstStyle/>
          <a:p>
            <a:fld id="{71770EAF-1B7F-084E-BE5F-E1B515CBCD96}" type="slidenum">
              <a:rPr lang="en-US" smtClean="0"/>
              <a:t>166</a:t>
            </a:fld>
            <a:endParaRPr lang="en-US" dirty="0"/>
          </a:p>
        </p:txBody>
      </p:sp>
    </p:spTree>
    <p:extLst>
      <p:ext uri="{BB962C8B-B14F-4D97-AF65-F5344CB8AC3E}">
        <p14:creationId xmlns:p14="http://schemas.microsoft.com/office/powerpoint/2010/main" val="47752773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.vue files, use PascalCase: &lt;TodoItem /&gt;. It's obvious at a glance that it's a component, not an HTML element.</a:t>
            </a:r>
          </a:p>
          <a:p>
            <a:r>
              <a:rPr b="1"/>
              <a:t>SAY:</a:t>
            </a:r>
            <a:r>
              <a:t> When you use Vue from a CDN with the template in the HTML page, the browser parses the HTML first and lowercases tag names, so you must write &lt;todo-item&gt;&lt;/todo-item&gt;. Vue matches it to TodoItem automatically.</a:t>
            </a:r>
          </a:p>
          <a:p>
            <a:r>
              <a:rPr b="1"/>
              <a:t>KEY POINT:</a:t>
            </a:r>
            <a:r>
              <a:t> Multi-word names are enforced by ESLint's vue/multi-word-component-names rule. That's why our components are TheHeader and HomeContent, and why Lab 22 renames Login.vue to LoginPage.vue.</a:t>
            </a: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 &lt;script setup&gt;, local registration is just an import. The compiler sees that PopupWindow is used in the template and wires it up.</a:t>
            </a:r>
          </a:p>
          <a:p>
            <a:r>
              <a:rPr b="1"/>
              <a:t>SAY:</a:t>
            </a:r>
            <a:r>
              <a:t> In the Options API you had to import the component and then list it in components: { PopupWindow }. Forgetting the second step was a common bug.</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app.component registers a component for every template in this app. A second app on the same page doesn't see it.</a:t>
            </a:r>
          </a:p>
          <a:p>
            <a:r>
              <a:rPr b="1"/>
              <a:t>SAY:</a:t>
            </a:r>
            <a:r>
              <a:t> Plugins often register global components this way. The router registers &lt;RouterLink&gt; and &lt;RouterView&gt; globally, which is why they work in templates even without an import.</a:t>
            </a: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Global registration is convenient, but it hides dependencies. When you read a template that uses &lt;DataTable&gt;, you can't tell where it came from, and the bundler can't remove it even if nothing uses it.</a:t>
            </a:r>
          </a:p>
          <a:p>
            <a:r>
              <a:rPr b="1"/>
              <a:t>KEY POINT:</a:t>
            </a:r>
            <a:r>
              <a:t> In this course, every component is imported locally.</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Props are a component's inputs. The object form lets you declare a type, whether it's required, a default, and a custom validator. Vue checks these in development and warns in the console when they're violated.</a:t>
            </a:r>
          </a:p>
          <a:p>
            <a:r>
              <a:rPr b="1"/>
              <a:t>KEY POINT:</a:t>
            </a:r>
            <a:r>
              <a:t> One-way data flow. When the parent's value changes, the child's prop updates. But the child must never assign to a prop. If you need a local, editable copy, initialize a ref from it: const draft = ref(props.todo.text).</a:t>
            </a:r>
          </a:p>
          <a:p>
            <a:r>
              <a:rPr b="1"/>
              <a:t>SAY:</a:t>
            </a:r>
            <a:r>
              <a:t> Defaults for objects and arrays must be factory functions: default: () =&gt; []. Otherwise every instance would share one array.</a:t>
            </a:r>
          </a:p>
          <a:p>
            <a:r>
              <a:rPr b="1"/>
              <a:t>IF ASKED:</a:t>
            </a:r>
            <a:r>
              <a:t> With TypeScript, you can write defineProps&lt;{ todo: Todo; size?: string }&gt;() instead, as in the compiler-macros demo.</a:t>
            </a: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The colon matters. Without it, the value is always a string. priority="2" passes the string "2"; :priority="2" passes the number 2. :done="false" passes the boolean false, while done="false" passes the string "false", which is truthy!</a:t>
            </a:r>
          </a:p>
          <a:p>
            <a:r>
              <a:rPr b="1"/>
              <a:t>SAY:</a:t>
            </a:r>
            <a:r>
              <a:t> Prop names: declare in camelCase (articleTitle) and pass in either camelCase or kebab-case (:article-title). Vue converts between them.</a:t>
            </a: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array form of defineProps just lists names, with no types. It's fine for quick prototypes; the object form (slide 171) is better for anything you'll keep, because you get validation and documentation.</a:t>
            </a:r>
          </a:p>
          <a:p>
            <a:r>
              <a:rPr b="1"/>
              <a:t>SAY:</a:t>
            </a:r>
            <a:r>
              <a:t> Follow the data: the parent's item flows into the child's todo prop, and the child renders it. If the parent changes item.text, the child re-renders.</a:t>
            </a: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Vue 2 you'd wrap this in an extra div, which could break CSS layouts like flexbox and grid. Vue 3 allows several root nodes.</a:t>
            </a:r>
          </a:p>
          <a:p>
            <a:r>
              <a:rPr b="1"/>
              <a:t>SAY:</a:t>
            </a:r>
            <a:r>
              <a:t> Attributes the parent passes that aren't declared as props ("fallthrough attributes", like class or id) normally go on the root element. With several roots, Vue doesn't guess; it warns until you bind $attrs where you want them.</a:t>
            </a:r>
          </a:p>
          <a:p>
            <a:r>
              <a:rPr b="1"/>
              <a:t>TIP:</a:t>
            </a:r>
            <a:r>
              <a:t> defineOptions({ inheritAttrs: false }) turns off automatic fallthrough entirely, so you can place $attrs yourself even in a single-root component.</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Just like on inputs, v-model on a component is sugar for a prop plus an event. The child receives modelValue as a prop and emits update:modelValue with the new value; the parent's handler updates its ref.</a:t>
            </a:r>
          </a:p>
          <a:p>
            <a:r>
              <a:rPr b="1"/>
              <a:t>SAY:</a:t>
            </a:r>
            <a:r>
              <a:t> The rename from Vue 2's value/input freed up the value prop for ordinary use and made multiple v-models possible: &lt;UserForm v-model:first-name="first" v-model:last-name="last" /&gt;.</a:t>
            </a:r>
          </a:p>
          <a:p>
            <a:r>
              <a:rPr b="1"/>
              <a:t>TRANSITION:</a:t>
            </a:r>
            <a:r>
              <a:t> Writing the prop and the event by hand is boilerplate. Vue 3.4 added a macro that does it for you.</a:t>
            </a: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defineModel declares the modelValue prop and the update:modelValue event, and gives you a ref that reads the prop and emits the event when you assign to it. The child can treat it like local state, while the parent still owns the value.</a:t>
            </a:r>
          </a:p>
          <a:p>
            <a:r>
              <a:rPr b="1"/>
              <a:t>DEMO:</a:t>
            </a:r>
            <a:r>
              <a:t> demos/compiler-macros has defineModel&lt;boolean&gt;() in MacroCounter.vue as isActive.</a:t>
            </a:r>
          </a:p>
          <a:p>
            <a:r>
              <a:rPr b="1"/>
              <a:t>KEY POINT:</a:t>
            </a:r>
            <a:r>
              <a:t> The parent code doesn't change at all: still &lt;CustomInput v-model="searchText" /&gt;.</a:t>
            </a: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Props pass data; slots pass markup. Whatever the parent puts between &lt;NavigationLink&gt; and &lt;/NavigationLink&gt; is rendered where the child has &lt;slot&gt;.</a:t>
            </a:r>
            <a:endParaRPr lang="en-US" dirty="0"/>
          </a:p>
          <a:p>
            <a:r>
              <a:rPr b="1"/>
              <a:t>SAY:</a:t>
            </a:r>
            <a:r>
              <a:t> Think of the child as a picture frame and the slot as the hole in the middle. The frame (the link styling, the card border, the modal chrome) is reusable; the picture is supplied by whoever uses it.</a:t>
            </a:r>
          </a:p>
          <a:p>
            <a:r>
              <a:rPr b="1"/>
              <a:t>KEY POINT:</a:t>
            </a:r>
            <a:r>
              <a:t> Slot content can be anything: text, HTML, other components. And it's compiled in the parent's scope, so it can use the parent's state.</a:t>
            </a:r>
          </a:p>
        </p:txBody>
      </p:sp>
      <p:sp>
        <p:nvSpPr>
          <p:cNvPr id="4" name="Slide Number Placeholder 3"/>
          <p:cNvSpPr>
            <a:spLocks noGrp="1"/>
          </p:cNvSpPr>
          <p:nvPr>
            <p:ph type="sldNum" sz="quarter" idx="5"/>
          </p:nvPr>
        </p:nvSpPr>
        <p:spPr/>
        <p:txBody>
          <a:bodyPr/>
          <a:lstStyle/>
          <a:p>
            <a:fld id="{71770EAF-1B7F-084E-BE5F-E1B515CBCD96}" type="slidenum">
              <a:rPr lang="en-US" smtClean="0"/>
              <a:t>177</a:t>
            </a:fld>
            <a:endParaRPr lang="en-US" dirty="0"/>
          </a:p>
        </p:txBody>
      </p:sp>
    </p:spTree>
    <p:extLst>
      <p:ext uri="{BB962C8B-B14F-4D97-AF65-F5344CB8AC3E}">
        <p14:creationId xmlns:p14="http://schemas.microsoft.com/office/powerpoint/2010/main" val="97638458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Default content is shown only when the parent passes nothing. &lt;SubmitButton /&gt; renders "Submit"; &lt;SubmitButton&gt;Save&lt;/SubmitButton&gt; renders "Save".</a:t>
            </a:r>
            <a:endParaRPr lang="en-US" dirty="0"/>
          </a:p>
          <a:p>
            <a:r>
              <a:rPr b="1"/>
              <a:t>KEY POINT:</a:t>
            </a:r>
            <a:r>
              <a:t> Scope rule: slot content sees the parent's data, not the child's. If the child needs to pass data back up to the slot content, that's a scoped slot, coming up on slide 182.</a:t>
            </a:r>
          </a:p>
        </p:txBody>
      </p:sp>
      <p:sp>
        <p:nvSpPr>
          <p:cNvPr id="4" name="Slide Number Placeholder 3"/>
          <p:cNvSpPr>
            <a:spLocks noGrp="1"/>
          </p:cNvSpPr>
          <p:nvPr>
            <p:ph type="sldNum" sz="quarter" idx="5"/>
          </p:nvPr>
        </p:nvSpPr>
        <p:spPr/>
        <p:txBody>
          <a:bodyPr/>
          <a:lstStyle/>
          <a:p>
            <a:fld id="{71770EAF-1B7F-084E-BE5F-E1B515CBCD96}" type="slidenum">
              <a:rPr lang="en-US" smtClean="0"/>
              <a:t>178</a:t>
            </a:fld>
            <a:endParaRPr lang="en-US" dirty="0"/>
          </a:p>
        </p:txBody>
      </p:sp>
    </p:spTree>
    <p:extLst>
      <p:ext uri="{BB962C8B-B14F-4D97-AF65-F5344CB8AC3E}">
        <p14:creationId xmlns:p14="http://schemas.microsoft.com/office/powerpoint/2010/main" val="2115192859"/>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layout component with header, main and footer areas. The parent targets the named slots with &lt;template v-slot:header&gt; and &lt;template v-slot:footer&gt;. Anything not inside a named template goes to the default slot.</a:t>
            </a:r>
          </a:p>
          <a:p>
            <a:r>
              <a:rPr b="1"/>
              <a:t>TRANSITION:</a:t>
            </a:r>
            <a:r>
              <a:t> Here's the child side.</a:t>
            </a: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child marks each insertion point with &lt;slot name="..."&gt;. A slot without a name is the default slot.</a:t>
            </a:r>
          </a:p>
          <a:p>
            <a:r>
              <a:rPr b="1"/>
              <a:t>TIP:</a:t>
            </a:r>
            <a:r>
              <a:t> To render a wrapper only when a slot was given content, check $slots: &lt;footer v-if="$slots.footer"&gt;. In script, useSlots() gives the same object.</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Open demos/slots/index.html in the browser.</a:t>
            </a:r>
          </a:p>
          <a:p>
            <a:r>
              <a:t>1. The first card fills all three slots. The second card supplies only default content, so the header shows its fallback text and the footer is omitted (it's wrapped in v-if="$slots.footer").</a:t>
            </a:r>
          </a:p>
          <a:p>
            <a:r>
              <a:t>2. Scroll to the list. ItemList owns the ul/li markup and the loop, but each item's content comes from the parent through a scoped slot: &lt;template #item="{ item }"&gt;. Show that the parent renders done items with a strike-through, a decision the list component doesn't know about.</a:t>
            </a:r>
          </a:p>
          <a:p>
            <a:r>
              <a:t>3. Open the source. Components are defined with template strings so the demo needs no build step. In a Vite project, each would be its own .vue file.</a:t>
            </a:r>
          </a:p>
          <a:p>
            <a:r>
              <a:rPr b="1"/>
              <a:t>KEY POINT:</a:t>
            </a:r>
            <a:r>
              <a:t> This is the pattern Lab 18 uses: TagList owns the sidebar box and heading; the parent supplies the tags.</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 is the slot shorthand, like : for v-bind and @ for v-on.</a:t>
            </a:r>
          </a:p>
          <a:p>
            <a:r>
              <a:rPr b="1"/>
              <a:t>KEY POINT:</a:t>
            </a:r>
            <a:r>
              <a:t> Scoped slots flip the scope rule. Normally slot content only sees the parent's data. With a scoped slot, the child passes data as attributes on &lt;slot&gt;, and the parent receives it as an object, usually destructured: #item="{ item }".</a:t>
            </a:r>
          </a:p>
          <a:p>
            <a:r>
              <a:rPr b="1"/>
              <a:t>SAY:</a:t>
            </a:r>
            <a:r>
              <a:t> This is how reusable list, table and data-fetching components work: the child handles the logic (looping, sorting, fetching); the parent decides what each item looks like.</a:t>
            </a:r>
          </a:p>
          <a:p>
            <a:r>
              <a:rPr b="1"/>
              <a:t>SAY:</a:t>
            </a:r>
            <a:r>
              <a:t> When a component only has a default scoped slot, you can put v-slot directly on the component tag: &lt;ItemList v-slot="{ item }"&gt;.</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20 minutes (more with the challenges).</a:t>
            </a:r>
          </a:p>
          <a:p>
            <a:r>
              <a:rPr b="1"/>
              <a:t>LAB TIPS:</a:t>
            </a:r>
          </a:p>
          <a:p>
            <a:r>
              <a:t>- TagList owns the layout (the box, heading and ul) but not the content: the parent supplies TagItems through the default slot.</a:t>
            </a:r>
          </a:p>
          <a:p>
            <a:r>
              <a:t>- For filtering, TagItem emits a select event, HomeContent stores selectedTag, and passes it down as a prop through GlobalFeed to ArticleList, where filterIt checks it.</a:t>
            </a:r>
          </a:p>
          <a:p>
            <a:r>
              <a:rPr b="1"/>
              <a:t>COMMON PROBLEMS:</a:t>
            </a:r>
          </a:p>
          <a:p>
            <a:r>
              <a:t>- Tags don't render: the API response is { tags: [...] }, so assign data.tags.</a:t>
            </a:r>
          </a:p>
          <a:p>
            <a:r>
              <a:t>- Clicking does nothing: the event isn't declared with defineEmits, or the parent listens with the wrong name.</a:t>
            </a:r>
          </a:p>
          <a:p>
            <a:r>
              <a:rPr b="1"/>
              <a:t>DEBRIEF:</a:t>
            </a:r>
            <a:r>
              <a:t> Ask: selectedTag had to be passed down through GlobalFeed, which doesn't use it. What's that called? (Prop drilling.) Keep that in mind; Pinia solves it this afternoon.</a:t>
            </a: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regular import puts the component in the main bundle, so it's downloaded when the app loads. A dynamic import() tells the bundler to split it into a separate file, fetched only the first time the component renders.</a:t>
            </a:r>
          </a:p>
          <a:p>
            <a:r>
              <a:rPr b="1"/>
              <a:t>SAY:</a:t>
            </a:r>
            <a:r>
              <a:t> Good candidates: big components that aren't always shown, like modals, charts, rich-text editors and admin panels.</a:t>
            </a:r>
          </a:p>
          <a:p>
            <a:r>
              <a:t>DEMO (optional): Run npm run build and point out the extra chunk in dist/assets.</a:t>
            </a:r>
          </a:p>
          <a:p>
            <a:r>
              <a:rPr b="1"/>
              <a:t>KEY POINT:</a:t>
            </a:r>
            <a:r>
              <a:t> You'll use the same import() pattern for routes on slide 215, where it's the default.</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9:50-10:05 lecture, then Lab 19.</a:t>
            </a:r>
            <a:endParaRPr lang="en-US" dirty="0"/>
          </a:p>
          <a:p>
            <a:r>
              <a:rPr b="1"/>
              <a:t>SAY:</a:t>
            </a:r>
            <a:r>
              <a:t> Composables are the Composition API's answer to code reuse. If you understand that a composable is just a function that uses ref, computed and lifecycle hooks, you understand composables.</a:t>
            </a:r>
          </a:p>
        </p:txBody>
      </p:sp>
      <p:sp>
        <p:nvSpPr>
          <p:cNvPr id="4" name="Slide Number Placeholder 3"/>
          <p:cNvSpPr>
            <a:spLocks noGrp="1"/>
          </p:cNvSpPr>
          <p:nvPr>
            <p:ph type="sldNum" sz="quarter" idx="5"/>
          </p:nvPr>
        </p:nvSpPr>
        <p:spPr/>
        <p:txBody>
          <a:bodyPr/>
          <a:lstStyle/>
          <a:p>
            <a:fld id="{71770EAF-1B7F-084E-BE5F-E1B515CBCD96}" type="slidenum">
              <a:rPr lang="en-US" smtClean="0"/>
              <a:t>185</a:t>
            </a:fld>
            <a:endParaRPr lang="en-US" dirty="0"/>
          </a:p>
        </p:txBody>
      </p:sp>
    </p:spTree>
    <p:extLst>
      <p:ext uri="{BB962C8B-B14F-4D97-AF65-F5344CB8AC3E}">
        <p14:creationId xmlns:p14="http://schemas.microsoft.com/office/powerpoint/2010/main" val="420198598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Stateless helpers, like a function that formats a date, are just utility functions. A composable is different because it holds reactive state and possibly side effects, and every component that calls it gets its own copy.</a:t>
            </a:r>
            <a:endParaRPr lang="en-US" dirty="0"/>
          </a:p>
          <a:p>
            <a:r>
              <a:rPr b="1"/>
              <a:t>SAY:</a:t>
            </a:r>
            <a:r>
              <a:t> useMouse is the classic example: it creates x and y refs, adds a mousemove listener in onMounted, removes it in onUnmounted, and returns the refs. Any component can now track the mouse in one line, and none of them can forget the cleanup.</a:t>
            </a:r>
          </a:p>
          <a:p>
            <a:r>
              <a:rPr b="1"/>
              <a:t>IF ASKED:</a:t>
            </a:r>
            <a:r>
              <a:t> Is it like a React hook? Very similar idea, without the rules: no dependency arrays, no stale closures, and setup only runs once, so a composable's code doesn't re-run on every render.</a:t>
            </a:r>
          </a:p>
        </p:txBody>
      </p:sp>
      <p:sp>
        <p:nvSpPr>
          <p:cNvPr id="4" name="Slide Number Placeholder 3"/>
          <p:cNvSpPr>
            <a:spLocks noGrp="1"/>
          </p:cNvSpPr>
          <p:nvPr>
            <p:ph type="sldNum" sz="quarter" idx="5"/>
          </p:nvPr>
        </p:nvSpPr>
        <p:spPr/>
        <p:txBody>
          <a:bodyPr/>
          <a:lstStyle/>
          <a:p>
            <a:fld id="{71770EAF-1B7F-084E-BE5F-E1B515CBCD96}" type="slidenum">
              <a:rPr lang="en-US" smtClean="0"/>
              <a:t>186</a:t>
            </a:fld>
            <a:endParaRPr lang="en-US" dirty="0"/>
          </a:p>
        </p:txBody>
      </p:sp>
    </p:spTree>
    <p:extLst>
      <p:ext uri="{BB962C8B-B14F-4D97-AF65-F5344CB8AC3E}">
        <p14:creationId xmlns:p14="http://schemas.microsoft.com/office/powerpoint/2010/main" val="854550984"/>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If you've maintained a Vue 2 app with several mixins, you've probably seen a template use a property like isLoading and had to search every mixin to find which one defined it.</a:t>
            </a:r>
            <a:endParaRPr lang="en-US" dirty="0"/>
          </a:p>
          <a:p>
            <a:r>
              <a:rPr b="1"/>
              <a:t>SAY:</a:t>
            </a:r>
            <a:r>
              <a:t> With a composable, the origin is explicit: const { isLoading } = useArticles(). You can rename on destructure to avoid collisions: const { isLoading: tagsLoading } = useTags().</a:t>
            </a:r>
          </a:p>
        </p:txBody>
      </p:sp>
      <p:sp>
        <p:nvSpPr>
          <p:cNvPr id="4" name="Slide Number Placeholder 3"/>
          <p:cNvSpPr>
            <a:spLocks noGrp="1"/>
          </p:cNvSpPr>
          <p:nvPr>
            <p:ph type="sldNum" sz="quarter" idx="5"/>
          </p:nvPr>
        </p:nvSpPr>
        <p:spPr/>
        <p:txBody>
          <a:bodyPr/>
          <a:lstStyle/>
          <a:p>
            <a:fld id="{71770EAF-1B7F-084E-BE5F-E1B515CBCD96}" type="slidenum">
              <a:rPr lang="en-US" smtClean="0"/>
              <a:t>187</a:t>
            </a:fld>
            <a:endParaRPr lang="en-US" dirty="0"/>
          </a:p>
        </p:txBody>
      </p:sp>
    </p:spTree>
    <p:extLst>
      <p:ext uri="{BB962C8B-B14F-4D97-AF65-F5344CB8AC3E}">
        <p14:creationId xmlns:p14="http://schemas.microsoft.com/office/powerpoint/2010/main" val="149249661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the filter from Lab 17, moved out of ArticleList into its own file. It takes the list of articles as a ref, creates its own search ref, and returns both the search ref and the filtered list.</a:t>
            </a:r>
            <a:endParaRPr lang="en-US" dirty="0"/>
          </a:p>
          <a:p>
            <a:r>
              <a:rPr b="1"/>
              <a:t>KEY POINT:</a:t>
            </a:r>
            <a:r>
              <a:t> articles arrives as a ref, and the computed reads articles.value, so the filter stays reactive when the caller's articles change (for example, when the API responds).</a:t>
            </a:r>
          </a:p>
          <a:p>
            <a:r>
              <a:rPr b="1"/>
              <a:t>SAY:</a:t>
            </a:r>
            <a:r>
              <a:t> This is exactly what you'll build in Lab 19.</a:t>
            </a:r>
          </a:p>
        </p:txBody>
      </p:sp>
      <p:sp>
        <p:nvSpPr>
          <p:cNvPr id="4" name="Slide Number Placeholder 3"/>
          <p:cNvSpPr>
            <a:spLocks noGrp="1"/>
          </p:cNvSpPr>
          <p:nvPr>
            <p:ph type="sldNum" sz="quarter" idx="5"/>
          </p:nvPr>
        </p:nvSpPr>
        <p:spPr/>
        <p:txBody>
          <a:bodyPr/>
          <a:lstStyle/>
          <a:p>
            <a:fld id="{71770EAF-1B7F-084E-BE5F-E1B515CBCD96}" type="slidenum">
              <a:rPr lang="en-US" smtClean="0"/>
              <a:t>188</a:t>
            </a:fld>
            <a:endParaRPr lang="en-US" dirty="0"/>
          </a:p>
        </p:txBody>
      </p:sp>
    </p:spTree>
    <p:extLst>
      <p:ext uri="{BB962C8B-B14F-4D97-AF65-F5344CB8AC3E}">
        <p14:creationId xmlns:p14="http://schemas.microsoft.com/office/powerpoint/2010/main" val="328930465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component calls the composable once in setup, destructures the result, and uses the refs in its template exactly as if it had declared them itself.</a:t>
            </a:r>
            <a:endParaRPr lang="en-US" dirty="0"/>
          </a:p>
          <a:p>
            <a:r>
              <a:rPr b="1"/>
              <a:t>KEY POINT:</a:t>
            </a:r>
            <a:r>
              <a:t> Destructuring is safe here because the composable returns a plain object of refs. That's the convention: return refs, not a reactive object.</a:t>
            </a:r>
          </a:p>
          <a:p>
            <a:r>
              <a:rPr b="1"/>
              <a:t>ASK:</a:t>
            </a:r>
            <a:r>
              <a:t> How would you filter the tags list with the same logic? (Call useArticleFilter(tags) a second time. That's the Lab 19 challenge, though you'd likely generalize the name and the property it filters on.)</a:t>
            </a:r>
          </a:p>
        </p:txBody>
      </p:sp>
      <p:sp>
        <p:nvSpPr>
          <p:cNvPr id="4" name="Slide Number Placeholder 3"/>
          <p:cNvSpPr>
            <a:spLocks noGrp="1"/>
          </p:cNvSpPr>
          <p:nvPr>
            <p:ph type="sldNum" sz="quarter" idx="5"/>
          </p:nvPr>
        </p:nvSpPr>
        <p:spPr/>
        <p:txBody>
          <a:bodyPr/>
          <a:lstStyle/>
          <a:p>
            <a:fld id="{71770EAF-1B7F-084E-BE5F-E1B515CBCD96}" type="slidenum">
              <a:rPr lang="en-US" smtClean="0"/>
              <a:t>189</a:t>
            </a:fld>
            <a:endParaRPr lang="en-US" dirty="0"/>
          </a:p>
        </p:txBody>
      </p:sp>
    </p:spTree>
    <p:extLst>
      <p:ext uri="{BB962C8B-B14F-4D97-AF65-F5344CB8AC3E}">
        <p14:creationId xmlns:p14="http://schemas.microsoft.com/office/powerpoint/2010/main" val="4269605263"/>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These five rules make composables predictable.</a:t>
            </a:r>
            <a:endParaRPr lang="en-US" dirty="0"/>
          </a:p>
          <a:p>
            <a:r>
              <a:t>- The use prefix is a signal, like React's.</a:t>
            </a:r>
          </a:p>
          <a:p>
            <a:r>
              <a:t>- Synchronous: hooks register against the current component, which only exists during setup.</a:t>
            </a:r>
          </a:p>
          <a:p>
            <a:r>
              <a:t>- Flexible inputs: toValue(x) returns x.value if x is a ref, calls x if it's a function, or returns x as is. So callers can pass a ref, a getter like () =&gt; props.id, or a plain value.</a:t>
            </a:r>
          </a:p>
          <a:p>
            <a:r>
              <a:t>- Plain refs out: return { data, error, loading }, not reactive({ ... }).</a:t>
            </a:r>
          </a:p>
          <a:p>
            <a:r>
              <a:t>- Clean up: anything the composable starts, it stops.</a:t>
            </a:r>
          </a:p>
        </p:txBody>
      </p:sp>
      <p:sp>
        <p:nvSpPr>
          <p:cNvPr id="4" name="Slide Number Placeholder 3"/>
          <p:cNvSpPr>
            <a:spLocks noGrp="1"/>
          </p:cNvSpPr>
          <p:nvPr>
            <p:ph type="sldNum" sz="quarter" idx="5"/>
          </p:nvPr>
        </p:nvSpPr>
        <p:spPr/>
        <p:txBody>
          <a:bodyPr/>
          <a:lstStyle/>
          <a:p>
            <a:fld id="{71770EAF-1B7F-084E-BE5F-E1B515CBCD96}" type="slidenum">
              <a:rPr lang="en-US" smtClean="0"/>
              <a:t>190</a:t>
            </a:fld>
            <a:endParaRPr lang="en-US" dirty="0"/>
          </a:p>
        </p:txBody>
      </p:sp>
    </p:spTree>
    <p:extLst>
      <p:ext uri="{BB962C8B-B14F-4D97-AF65-F5344CB8AC3E}">
        <p14:creationId xmlns:p14="http://schemas.microsoft.com/office/powerpoint/2010/main" val="136535842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VueUse has over 200 composables, tree-shakeable, so you only ship what you import. It's maintained by Vue core team members.</a:t>
            </a:r>
            <a:endParaRPr lang="en-US" dirty="0"/>
          </a:p>
          <a:p>
            <a:r>
              <a:rPr b="1"/>
              <a:t>SAY:</a:t>
            </a:r>
            <a:r>
              <a:t> useLocalStorage returns a ref that reads its initial value from localStorage and writes back on every change. One line replaces a watcher, a JSON parse, a JSON stringify, and error handling.</a:t>
            </a:r>
          </a:p>
          <a:p>
            <a:r>
              <a:rPr b="1"/>
              <a:t>TIP:</a:t>
            </a:r>
            <a:r>
              <a:t> VueUse's source code is a great place to learn how to write composables well. Each function's docs page links to its source.</a:t>
            </a:r>
          </a:p>
        </p:txBody>
      </p:sp>
      <p:sp>
        <p:nvSpPr>
          <p:cNvPr id="4" name="Slide Number Placeholder 3"/>
          <p:cNvSpPr>
            <a:spLocks noGrp="1"/>
          </p:cNvSpPr>
          <p:nvPr>
            <p:ph type="sldNum" sz="quarter" idx="5"/>
          </p:nvPr>
        </p:nvSpPr>
        <p:spPr/>
        <p:txBody>
          <a:bodyPr/>
          <a:lstStyle/>
          <a:p>
            <a:fld id="{71770EAF-1B7F-084E-BE5F-E1B515CBCD96}" type="slidenum">
              <a:rPr lang="en-US" smtClean="0"/>
              <a:t>191</a:t>
            </a:fld>
            <a:endParaRPr lang="en-US" dirty="0"/>
          </a:p>
        </p:txBody>
      </p:sp>
    </p:spTree>
    <p:extLst>
      <p:ext uri="{BB962C8B-B14F-4D97-AF65-F5344CB8AC3E}">
        <p14:creationId xmlns:p14="http://schemas.microsoft.com/office/powerpoint/2010/main" val="2799557652"/>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25 minutes, before the morning break.</a:t>
            </a:r>
            <a:endParaRPr lang="en-US" dirty="0"/>
          </a:p>
          <a:p>
            <a:r>
              <a:rPr b="1"/>
              <a:t>LAB TIPS:</a:t>
            </a:r>
          </a:p>
          <a:p>
            <a:r>
              <a:t>- Pass the articles ref itself, not articles.value. Passing the value gives the composable a static array.</a:t>
            </a:r>
          </a:p>
          <a:p>
            <a:r>
              <a:t>- If students kept the tag filter from Lab 18, they'll need to merge that logic in, or pass the selected tag into the composable as a second argument (a ref or getter).</a:t>
            </a:r>
          </a:p>
          <a:p>
            <a:r>
              <a:rPr b="1"/>
              <a:t>COMMON PROBLEMS:</a:t>
            </a:r>
          </a:p>
          <a:p>
            <a:r>
              <a:t>- The filter stops updating after the API loads: articles.value was passed instead of the ref.</a:t>
            </a:r>
          </a:p>
          <a:p>
            <a:r>
              <a:t>- "articles.value is undefined": guard with (articles.value ?? []).</a:t>
            </a:r>
          </a:p>
        </p:txBody>
      </p:sp>
      <p:sp>
        <p:nvSpPr>
          <p:cNvPr id="4" name="Slide Number Placeholder 3"/>
          <p:cNvSpPr>
            <a:spLocks noGrp="1"/>
          </p:cNvSpPr>
          <p:nvPr>
            <p:ph type="sldNum" sz="quarter" idx="5"/>
          </p:nvPr>
        </p:nvSpPr>
        <p:spPr/>
        <p:txBody>
          <a:bodyPr/>
          <a:lstStyle/>
          <a:p>
            <a:fld id="{71770EAF-1B7F-084E-BE5F-E1B515CBCD96}" type="slidenum">
              <a:rPr lang="en-US" smtClean="0"/>
              <a:t>192</a:t>
            </a:fld>
            <a:endParaRPr lang="en-US" dirty="0"/>
          </a:p>
        </p:txBody>
      </p:sp>
    </p:spTree>
    <p:extLst>
      <p:ext uri="{BB962C8B-B14F-4D97-AF65-F5344CB8AC3E}">
        <p14:creationId xmlns:p14="http://schemas.microsoft.com/office/powerpoint/2010/main" val="3252094103"/>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10:45-11:15 lecture, then Lab 20 (about 75 minutes total, spanning lunch).</a:t>
            </a:r>
            <a:endParaRPr lang="en-US" dirty="0"/>
          </a:p>
          <a:p>
            <a:r>
              <a:rPr b="1"/>
              <a:t>SAY:</a:t>
            </a:r>
            <a:r>
              <a:t> After the break: shared state. This is where we fix the prop drilling from Lab 18, and set up the store that authentication and the API will use this afternoon.</a:t>
            </a:r>
          </a:p>
        </p:txBody>
      </p:sp>
      <p:sp>
        <p:nvSpPr>
          <p:cNvPr id="4" name="Slide Number Placeholder 3"/>
          <p:cNvSpPr>
            <a:spLocks noGrp="1"/>
          </p:cNvSpPr>
          <p:nvPr>
            <p:ph type="sldNum" sz="quarter" idx="5"/>
          </p:nvPr>
        </p:nvSpPr>
        <p:spPr/>
        <p:txBody>
          <a:bodyPr/>
          <a:lstStyle/>
          <a:p>
            <a:fld id="{71770EAF-1B7F-084E-BE5F-E1B515CBCD96}" type="slidenum">
              <a:rPr lang="en-US" smtClean="0"/>
              <a:t>193</a:t>
            </a:fld>
            <a:endParaRPr lang="en-US" dirty="0"/>
          </a:p>
        </p:txBody>
      </p:sp>
    </p:spTree>
    <p:extLst>
      <p:ext uri="{BB962C8B-B14F-4D97-AF65-F5344CB8AC3E}">
        <p14:creationId xmlns:p14="http://schemas.microsoft.com/office/powerpoint/2010/main" val="3955218926"/>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ASK:</a:t>
            </a:r>
            <a:r>
              <a:t> Before the next slide: in Lab 18, how did the selected tag get from HomeContent to ArticleList? (Through GlobalFeed, which didn't use it.) What would happen if the header also needed to show the selected tag? (We'd lift the state up to App and pass it down two branches.)</a:t>
            </a:r>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194</a:t>
            </a:fld>
            <a:endParaRPr lang="en-US" dirty="0"/>
          </a:p>
        </p:txBody>
      </p:sp>
    </p:spTree>
    <p:extLst>
      <p:ext uri="{BB962C8B-B14F-4D97-AF65-F5344CB8AC3E}">
        <p14:creationId xmlns:p14="http://schemas.microsoft.com/office/powerpoint/2010/main" val="3932263868"/>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Think about the logged-in user in Conduit. The header needs it (to show the username), the home page needs it (to show "Your Feed"), the article page needs it (to show edit buttons), and the settings page edits it. They're in completely different branches of the component tree.</a:t>
            </a:r>
            <a:endParaRPr lang="en-US" dirty="0"/>
          </a:p>
          <a:p>
            <a:r>
              <a:rPr b="1"/>
              <a:t>SAY:</a:t>
            </a:r>
            <a:r>
              <a:t> You could keep the user in App and pass it down everywhere, with events coming back up. Or every component could fetch its own copy. Both get messy fast.</a:t>
            </a:r>
          </a:p>
          <a:p>
            <a:r>
              <a:rPr b="1"/>
              <a:t>KEY POINT:</a:t>
            </a:r>
            <a:r>
              <a:t> A store is a single source of truth that lives outside the component tree. Components subscribe to the parts they need. Changes go through the store's actions, so there's one place to look when something changes unexpectedly.</a:t>
            </a:r>
          </a:p>
          <a:p>
            <a:r>
              <a:rPr b="1"/>
              <a:t>IF ASKED:</a:t>
            </a:r>
            <a:r>
              <a:t> Couldn't I just use a reactive object exported from a module? For small apps, yes, and it works. Pinia adds DevTools integration, server-side rendering safety, plugins and conventions.</a:t>
            </a:r>
          </a:p>
        </p:txBody>
      </p:sp>
      <p:sp>
        <p:nvSpPr>
          <p:cNvPr id="4" name="Slide Number Placeholder 3"/>
          <p:cNvSpPr>
            <a:spLocks noGrp="1"/>
          </p:cNvSpPr>
          <p:nvPr>
            <p:ph type="sldNum" sz="quarter" idx="10"/>
          </p:nvPr>
        </p:nvSpPr>
        <p:spPr/>
        <p:txBody>
          <a:bodyPr/>
          <a:lstStyle/>
          <a:p>
            <a:fld id="{71770EAF-1B7F-084E-BE5F-E1B515CBCD96}" type="slidenum">
              <a:rPr lang="en-US" smtClean="0"/>
              <a:t>195</a:t>
            </a:fld>
            <a:endParaRPr lang="en-US" dirty="0"/>
          </a:p>
        </p:txBody>
      </p:sp>
    </p:spTree>
    <p:extLst>
      <p:ext uri="{BB962C8B-B14F-4D97-AF65-F5344CB8AC3E}">
        <p14:creationId xmlns:p14="http://schemas.microsoft.com/office/powerpoint/2010/main" val="2751649913"/>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Pinia (pronounced "peen-ya", after the Spanish for pineapple) was created by Eduardo San Martin Morote of the Vue core team as an experiment in what Vuex 5 might look like. It was simpler, so it became the official recommendation.</a:t>
            </a:r>
            <a:endParaRPr lang="en-US" dirty="0"/>
          </a:p>
          <a:p>
            <a:r>
              <a:rPr b="1"/>
              <a:t>SAY:</a:t>
            </a:r>
            <a:r>
              <a:t> The three concepts map onto things you already know: state is like ref, getters are like computed, actions are like functions. A store is essentially a composable whose state is shared by every component that calls it.</a:t>
            </a:r>
          </a:p>
          <a:p>
            <a:r>
              <a:rPr b="1"/>
              <a:t>NOTE:</a:t>
            </a:r>
            <a:r>
              <a:t> The previous version of this slide used a numbered list; it's bullets now since there's no sequence.</a:t>
            </a:r>
          </a:p>
        </p:txBody>
      </p:sp>
      <p:sp>
        <p:nvSpPr>
          <p:cNvPr id="4" name="Slide Number Placeholder 3"/>
          <p:cNvSpPr>
            <a:spLocks noGrp="1"/>
          </p:cNvSpPr>
          <p:nvPr>
            <p:ph type="sldNum" sz="quarter" idx="10"/>
          </p:nvPr>
        </p:nvSpPr>
        <p:spPr/>
        <p:txBody>
          <a:bodyPr/>
          <a:lstStyle/>
          <a:p>
            <a:fld id="{71770EAF-1B7F-084E-BE5F-E1B515CBCD96}" type="slidenum">
              <a:rPr lang="en-US" smtClean="0"/>
              <a:t>196</a:t>
            </a:fld>
            <a:endParaRPr lang="en-US" dirty="0"/>
          </a:p>
        </p:txBody>
      </p:sp>
    </p:spTree>
    <p:extLst>
      <p:ext uri="{BB962C8B-B14F-4D97-AF65-F5344CB8AC3E}">
        <p14:creationId xmlns:p14="http://schemas.microsoft.com/office/powerpoint/2010/main" val="405748879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For anyone migrating from Vuex, this is the cheat sheet. The concepts carry over almost one for one; the ceremony goes away.</a:t>
            </a:r>
            <a:endParaRPr lang="en-US" dirty="0"/>
          </a:p>
          <a:p>
            <a:r>
              <a:t>- No mutations: actions change state directly.</a:t>
            </a:r>
          </a:p>
          <a:p>
            <a:r>
              <a:t>- No dispatch and commit with string names: you call store.fetchArticles() like any method, so your editor can autocomplete it and find usages.</a:t>
            </a:r>
          </a:p>
          <a:p>
            <a:r>
              <a:t>- No modules: each store is already separate, and stores can use each other.</a:t>
            </a:r>
          </a:p>
          <a:p>
            <a:r>
              <a:t>- mapState and mapGetters were Options API helpers. In the Composition API, storeToRefs does that job.</a:t>
            </a:r>
          </a:p>
        </p:txBody>
      </p:sp>
      <p:sp>
        <p:nvSpPr>
          <p:cNvPr id="4" name="Slide Number Placeholder 3"/>
          <p:cNvSpPr>
            <a:spLocks noGrp="1"/>
          </p:cNvSpPr>
          <p:nvPr>
            <p:ph type="sldNum" sz="quarter" idx="10"/>
          </p:nvPr>
        </p:nvSpPr>
        <p:spPr/>
        <p:txBody>
          <a:bodyPr/>
          <a:lstStyle/>
          <a:p>
            <a:fld id="{71770EAF-1B7F-084E-BE5F-E1B515CBCD96}" type="slidenum">
              <a:rPr lang="en-US" smtClean="0"/>
              <a:t>197</a:t>
            </a:fld>
            <a:endParaRPr lang="en-US" dirty="0"/>
          </a:p>
        </p:txBody>
      </p:sp>
    </p:spTree>
    <p:extLst>
      <p:ext uri="{BB962C8B-B14F-4D97-AF65-F5344CB8AC3E}">
        <p14:creationId xmlns:p14="http://schemas.microsoft.com/office/powerpoint/2010/main" val="390667165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createPinia() creates the root store container; app.use() installs it. Unlike Vuex, the Pinia instance holds no state of its own. Each store registers itself the first time a component calls it.</a:t>
            </a:r>
            <a:endParaRPr lang="en-US" dirty="0"/>
          </a:p>
          <a:p>
            <a:r>
              <a:rPr b="1"/>
              <a:t>KEY POINT:</a:t>
            </a:r>
            <a:r>
              <a:t> Order matters slightly: Pinia before the router, so router navigation guards (like "redirect to login if not authenticated") can call useAuthStore().</a:t>
            </a:r>
          </a:p>
          <a:p>
            <a:r>
              <a:rPr b="1"/>
              <a:t>SAY:</a:t>
            </a:r>
            <a:r>
              <a:t> If you choose Pinia in create-vue, this is set up for you, along with a sample counter store.</a:t>
            </a:r>
          </a:p>
        </p:txBody>
      </p:sp>
      <p:sp>
        <p:nvSpPr>
          <p:cNvPr id="4" name="Slide Number Placeholder 3"/>
          <p:cNvSpPr>
            <a:spLocks noGrp="1"/>
          </p:cNvSpPr>
          <p:nvPr>
            <p:ph type="sldNum" sz="quarter" idx="10"/>
          </p:nvPr>
        </p:nvSpPr>
        <p:spPr/>
        <p:txBody>
          <a:bodyPr/>
          <a:lstStyle/>
          <a:p>
            <a:fld id="{71770EAF-1B7F-084E-BE5F-E1B515CBCD96}" type="slidenum">
              <a:rPr lang="en-US" smtClean="0"/>
              <a:t>198</a:t>
            </a:fld>
            <a:endParaRPr lang="en-US" dirty="0"/>
          </a:p>
        </p:txBody>
      </p:sp>
    </p:spTree>
    <p:extLst>
      <p:ext uri="{BB962C8B-B14F-4D97-AF65-F5344CB8AC3E}">
        <p14:creationId xmlns:p14="http://schemas.microsoft.com/office/powerpoint/2010/main" val="1459640684"/>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an "option store". It looks a lot like an Options API component: state is a function returning the initial state, getters are like computed properties, actions are like methods and use this to reach the store.</a:t>
            </a:r>
            <a:endParaRPr lang="en-US" dirty="0"/>
          </a:p>
          <a:p>
            <a:r>
              <a:rPr b="1"/>
              <a:t>SAY:</a:t>
            </a:r>
            <a:r>
              <a:t> defineStore returns a function, by convention named use...Store. Calling it inside a component returns the store instance, the same one every time.</a:t>
            </a:r>
          </a:p>
        </p:txBody>
      </p:sp>
      <p:sp>
        <p:nvSpPr>
          <p:cNvPr id="4" name="Slide Number Placeholder 3"/>
          <p:cNvSpPr>
            <a:spLocks noGrp="1"/>
          </p:cNvSpPr>
          <p:nvPr>
            <p:ph type="sldNum" sz="quarter" idx="10"/>
          </p:nvPr>
        </p:nvSpPr>
        <p:spPr/>
        <p:txBody>
          <a:bodyPr/>
          <a:lstStyle/>
          <a:p>
            <a:fld id="{71770EAF-1B7F-084E-BE5F-E1B515CBCD96}" type="slidenum">
              <a:rPr lang="en-US" smtClean="0"/>
              <a:t>199</a:t>
            </a:fld>
            <a:endParaRPr lang="en-US" dirty="0"/>
          </a:p>
        </p:txBody>
      </p:sp>
    </p:spTree>
    <p:extLst>
      <p:ext uri="{BB962C8B-B14F-4D97-AF65-F5344CB8AC3E}">
        <p14:creationId xmlns:p14="http://schemas.microsoft.com/office/powerpoint/2010/main" val="276091015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Instead of an options object, pass a function. Inside it, refs become state, computeds become getters, and functions become actions. Return everything you want to expose.</a:t>
            </a:r>
          </a:p>
          <a:p>
            <a:r>
              <a:rPr b="1"/>
              <a:t>KEY POINT:</a:t>
            </a:r>
            <a:r>
              <a:t> In a setup store you must return all state. Pinia can't track state you don't return, and DevTools won't show it.</a:t>
            </a:r>
          </a:p>
          <a:p>
            <a:r>
              <a:rPr b="1"/>
              <a:t>SAY:</a:t>
            </a:r>
            <a:r>
              <a:t> Setup stores can use composables and watchers inside them, which option stores can't. Lab 20 uses an option store because the original Vuex code maps onto it directly.</a:t>
            </a: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You can modify state directly from a component: counter.count++. That's allowed, and the DevTools still record it.</a:t>
            </a:r>
          </a:p>
          <a:p>
            <a:r>
              <a:rPr b="1"/>
              <a:t>SAY:</a:t>
            </a:r>
            <a:r>
              <a:t> $patch applies several changes as one entry in the DevTools timeline. It also accepts a function: counter.$patch((state) =&gt; { state.items.push(item); state.hasChanged = true }).</a:t>
            </a:r>
          </a:p>
          <a:p>
            <a:r>
              <a:rPr b="1"/>
              <a:t>KEY POINT:</a:t>
            </a:r>
            <a:r>
              <a:t> Even though direct mutation is allowed, most teams put meaningful changes in actions, so business rules live in one place.</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Arrow function getters receive state. To use another getter, write a regular function and use this. (Arrow functions don't have their own this.)</a:t>
            </a:r>
          </a:p>
          <a:p>
            <a:r>
              <a:rPr b="1"/>
              <a:t>SAY:</a:t>
            </a:r>
            <a:r>
              <a:t> Getters are read like properties: store.doneCount, not store.doneCount().</a:t>
            </a:r>
          </a:p>
          <a:p>
            <a:r>
              <a:rPr b="1"/>
              <a:t>IF ASKED:</a:t>
            </a:r>
            <a:r>
              <a:t> Getters with arguments? Return a function: getById: (state) =&gt; (id) =&gt; state.todos.find((t) =&gt; t.id === id). Note that the returned function isn't cached.</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Call the use function in setup, keep the store in a variable, and access its state, getters and actions as properties. Any component that calls useCounterStore() gets the same instance, so they all see the same count.</a:t>
            </a:r>
          </a:p>
          <a:p>
            <a:r>
              <a:rPr b="1"/>
              <a:t>KEY POINT:</a:t>
            </a:r>
            <a:r>
              <a:t> Don't call useCounterStore() outside setup or a function that runs after Pinia is installed, such as at the top level of a module that's imported before app.use(pinia).</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is the destructuring trap from slide 131 again. The store is a reactive object, so pulling properties off it gives you plain values that never update.</a:t>
            </a:r>
            <a:endParaRPr lang="en-US" dirty="0"/>
          </a:p>
          <a:p>
            <a:r>
              <a:rPr b="1"/>
              <a:t>SAY:</a:t>
            </a:r>
            <a:r>
              <a:t> storeToRefs wraps each state property and getter in a ref linked to the store. Actions aren't included (they're not state), but they're plain functions you can destructure directly.</a:t>
            </a:r>
          </a:p>
          <a:p>
            <a:r>
              <a:t>DEMO (optional): In a component, destructure count without storeToRefs, show it doesn't update when you click increment, then fix it.</a:t>
            </a:r>
          </a:p>
        </p:txBody>
      </p:sp>
      <p:sp>
        <p:nvSpPr>
          <p:cNvPr id="4" name="Slide Number Placeholder 3"/>
          <p:cNvSpPr>
            <a:spLocks noGrp="1"/>
          </p:cNvSpPr>
          <p:nvPr>
            <p:ph type="sldNum" sz="quarter" idx="5"/>
          </p:nvPr>
        </p:nvSpPr>
        <p:spPr/>
        <p:txBody>
          <a:bodyPr/>
          <a:lstStyle/>
          <a:p>
            <a:fld id="{71770EAF-1B7F-084E-BE5F-E1B515CBCD96}" type="slidenum">
              <a:rPr lang="en-US" smtClean="0"/>
              <a:t>204</a:t>
            </a:fld>
            <a:endParaRPr lang="en-US" dirty="0"/>
          </a:p>
        </p:txBody>
      </p:sp>
    </p:spTree>
    <p:extLst>
      <p:ext uri="{BB962C8B-B14F-4D97-AF65-F5344CB8AC3E}">
        <p14:creationId xmlns:p14="http://schemas.microsoft.com/office/powerpoint/2010/main" val="345109021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Actions are where business logic and API calls go. Components call store.fetchArticles({ type: 'all' }) and don't need to know how the data is fetched or where it's stored.</a:t>
            </a:r>
          </a:p>
          <a:p>
            <a:r>
              <a:rPr b="1"/>
              <a:t>KEY POINT:</a:t>
            </a:r>
            <a:r>
              <a:t> The finally block guarantees isLoading is cleared even if the request fails. The Vuex version of Conduit didn't do that, so a failed request left the spinner on forever.</a:t>
            </a:r>
          </a:p>
          <a:p>
            <a:r>
              <a:rPr b="1"/>
              <a:t>SAY:</a:t>
            </a:r>
            <a:r>
              <a:t> Actions return whatever you return, including promises, so a component can await store.fetchArticles() if it needs to know when it's done.</a:t>
            </a: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Vuex, the rule was: only mutations can change state, and they must be synchronous, so DevTools could snapshot state after each one. Async work went in actions, which committed mutations. Every change needed a constant, a mutation and an action.</a:t>
            </a:r>
          </a:p>
          <a:p>
            <a:r>
              <a:rPr b="1"/>
              <a:t>SAY:</a:t>
            </a:r>
            <a:r>
              <a:t> Pinia gets the same DevTools visibility from Vue's reactivity system, so the extra layer was dropped.</a:t>
            </a:r>
          </a:p>
          <a:p>
            <a:r>
              <a:rPr b="1"/>
              <a:t>SAY:</a:t>
            </a:r>
            <a:r>
              <a:t> $subscribe(callback) runs after every state change, like a watcher on the whole store. $onAction(callback) runs around every action call, with hooks for success and error. Both are handy for logging and analytics.</a:t>
            </a: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Split stores by domain: one for authentication, one for the home feed, one for the article being edited. Each is small and focused.</a:t>
            </a:r>
          </a:p>
          <a:p>
            <a:r>
              <a:rPr b="1"/>
              <a:t>SAY:</a:t>
            </a:r>
            <a:r>
              <a:t> Stores call each other by calling the use function inside actions or getters, the same way components do.</a:t>
            </a:r>
          </a:p>
          <a:p>
            <a:r>
              <a:rPr b="1"/>
              <a:t>WATCH FOR:</a:t>
            </a:r>
            <a:r>
              <a:t> Avoid two stores that both read each other's state in their setup function; that creates a circular dependency. Inside actions and getters it's fine.</a:t>
            </a: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If you have a Pinia project open (for example, after Lab 20), open Vue DevTools &gt; Pinia. Select the home store, edit isLoading by hand, and watch the page react. Then open the Timeline, trigger an action, and show its arguments and duration.</a:t>
            </a:r>
          </a:p>
          <a:p>
            <a:r>
              <a:rPr b="1"/>
              <a:t>SAY:</a:t>
            </a:r>
            <a:r>
              <a:t> This is one of the strongest reasons to put shared state in Pinia rather than a homemade reactive object.</a:t>
            </a: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Pinia plugin is a function called once for each store. It can add properties, wrap actions or, as here, subscribe to changes. This one saves every store to localStorage under its id whenever its state changes.</a:t>
            </a:r>
          </a:p>
          <a:p>
            <a:r>
              <a:rPr b="1"/>
              <a:t>SAY:</a:t>
            </a:r>
            <a:r>
              <a:t> To restore on load, the plugin would also read from localStorage and $patch the store. pinia-plugin-persistedstate does both and is the usual choice.</a:t>
            </a:r>
          </a:p>
          <a:p>
            <a:r>
              <a:rPr b="1"/>
              <a:t>WATCH FOR:</a:t>
            </a:r>
            <a:r>
              <a:t> Don't persist sensitive data (tokens are a judgment call) or huge lists to localStorage. It's synchronous, limited to about 5 MB, and readable by any script on the page.</a:t>
            </a: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setActivePinia(createPinia()) before each test gives every test a fresh, empty set of stores, so state from one test can't leak into the next.</a:t>
            </a:r>
          </a:p>
          <a:p>
            <a:r>
              <a:rPr b="1"/>
              <a:t>SAY:</a:t>
            </a:r>
            <a:r>
              <a:t> Then you just call the store's use function and test it like any object: call actions, check state and getters.</a:t>
            </a:r>
          </a:p>
          <a:p>
            <a:r>
              <a:rPr b="1"/>
              <a:t>SAY:</a:t>
            </a:r>
            <a:r>
              <a:t> When testing components that use a store, createTestingPinia() from @pinia/testing replaces every action with a vi.fn() spy, so you can check that the component called the right action without running it.</a:t>
            </a:r>
          </a:p>
          <a:p>
            <a:r>
              <a:rPr b="1"/>
              <a:t>TRANSITION:</a:t>
            </a:r>
            <a:r>
              <a:t> Lab 23 uses this setup.</a:t>
            </a: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75 minutes: 45 before lunch, 30 after.</a:t>
            </a:r>
            <a:endParaRPr lang="en-US" dirty="0"/>
          </a:p>
          <a:p>
            <a:r>
              <a:rPr b="1"/>
              <a:t>SAY:</a:t>
            </a:r>
            <a:r>
              <a:t> This is the biggest refactor of the course. The app should look exactly the same at the end; the difference is where the data lives.</a:t>
            </a:r>
          </a:p>
          <a:p>
            <a:r>
              <a:rPr b="1"/>
              <a:t>LAB TIPS:</a:t>
            </a:r>
          </a:p>
          <a:p>
            <a:r>
              <a:t>- Compare with the Vuex version described in the lab: no constants file, no mutations, no dispatch.</a:t>
            </a:r>
          </a:p>
          <a:p>
            <a:r>
              <a:t>- The finally block in fetchArticles clears isLoading even on errors.</a:t>
            </a:r>
          </a:p>
          <a:p>
            <a:r>
              <a:t>- Remove the local articles ref from ArticleList; the store owns it now. The useArticleFilter composable still works, because storeToRefs gives you a ref.</a:t>
            </a:r>
          </a:p>
          <a:p>
            <a:r>
              <a:rPr b="1"/>
              <a:t>COMMON PROBLEMS:</a:t>
            </a:r>
          </a:p>
          <a:p>
            <a:r>
              <a:t>- "getActivePinia was called with no active Pinia": the store is used before app.use(createPinia()), or in a test without setActivePinia.</a:t>
            </a:r>
          </a:p>
          <a:p>
            <a:r>
              <a:t>- Articles never update: destructured without storeToRefs.</a:t>
            </a:r>
          </a:p>
          <a:p>
            <a:r>
              <a:t>- Existing tests now fail because components need Pinia. That's expected; we fix the tests in Lab 23.</a:t>
            </a:r>
          </a:p>
          <a:p>
            <a:r>
              <a:rPr b="1"/>
              <a:t>DEBRIEF:</a:t>
            </a:r>
            <a:r>
              <a:t> Open the Pinia DevTools tab and edit articles directly. Then ask: which components could now read the articles without props? (Any of them.)</a:t>
            </a:r>
          </a:p>
        </p:txBody>
      </p:sp>
      <p:sp>
        <p:nvSpPr>
          <p:cNvPr id="4" name="Slide Number Placeholder 3"/>
          <p:cNvSpPr>
            <a:spLocks noGrp="1"/>
          </p:cNvSpPr>
          <p:nvPr>
            <p:ph type="sldNum" sz="quarter" idx="5"/>
          </p:nvPr>
        </p:nvSpPr>
        <p:spPr/>
        <p:txBody>
          <a:bodyPr/>
          <a:lstStyle/>
          <a:p>
            <a:fld id="{71770EAF-1B7F-084E-BE5F-E1B515CBCD96}" type="slidenum">
              <a:rPr lang="en-US" smtClean="0"/>
              <a:t>211</a:t>
            </a:fld>
            <a:endParaRPr lang="en-US" dirty="0"/>
          </a:p>
        </p:txBody>
      </p:sp>
    </p:spTree>
    <p:extLst>
      <p:ext uri="{BB962C8B-B14F-4D97-AF65-F5344CB8AC3E}">
        <p14:creationId xmlns:p14="http://schemas.microsoft.com/office/powerpoint/2010/main" val="819382167"/>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1:30-1:45 lecture, then Lab 21 (about 30 minutes, split by the break).</a:t>
            </a:r>
          </a:p>
          <a:p>
            <a:r>
              <a:rPr b="1"/>
              <a:t>SAY:</a:t>
            </a:r>
            <a:r>
              <a:t> So far Conduit has one screen. Real apps have many: home, sign in, sign up, article pages, profiles. In a single-page app those are separate URLs, but the page never reloads. Vue Router makes that work.</a:t>
            </a: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Without a router, a single-page app has one URL, so the back button leaves the app and you can't bookmark or share a particular screen.</a:t>
            </a:r>
          </a:p>
          <a:p>
            <a:r>
              <a:rPr b="1"/>
              <a:t>SAY:</a:t>
            </a:r>
            <a:r>
              <a:t> Vue Router watches the URL. When it changes, the router finds the matching route and renders that route's component inside &lt;RouterView&gt;. RouterLink renders an &lt;a&gt; that changes the URL without reloading.</a:t>
            </a:r>
          </a:p>
          <a:p>
            <a:r>
              <a:rPr b="1"/>
              <a:t>KEY POINT:</a:t>
            </a:r>
            <a:r>
              <a:t> Lazy loading is a choice you make per route, by using a function that calls import() instead of a static import. It's the recommended default for every route except perhaps the home page.</a:t>
            </a:r>
          </a:p>
          <a:p>
            <a:r>
              <a:rPr b="1"/>
              <a:t>NOTE:</a:t>
            </a:r>
            <a:r>
              <a:t> The previous wording said every route component is loaded lazily. That's only true if you write the route that way.</a:t>
            </a: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RouterLink with :to accepts a path string ('/login') or a route location object. Named routes ({ name: 'login' }) are better: if the URL changes later, links don't break.</a:t>
            </a:r>
            <a:endParaRPr lang="en-US" dirty="0"/>
          </a:p>
          <a:p>
            <a:r>
              <a:rPr b="1"/>
              <a:t>SAY:</a:t>
            </a:r>
            <a:r>
              <a:t> RouterView is the placeholder. Everything outside it (here, the nav) stays on screen as the route changes.</a:t>
            </a:r>
          </a:p>
          <a:p>
            <a:r>
              <a:rPr b="1"/>
              <a:t>KEY POINT:</a:t>
            </a:r>
            <a:r>
              <a:t> RouterLink applies router-link-active when its route matches (including parent routes) and router-link-exact-active on an exact match. Use these classes to highlight the current nav item.</a:t>
            </a:r>
          </a:p>
          <a:p>
            <a:r>
              <a:rPr b="1"/>
              <a:t>SAY:</a:t>
            </a:r>
            <a:r>
              <a:t> app.use(router) registers these two components globally, so the import is optional. Importing them lets your editor resolve and type-check them.</a:t>
            </a:r>
          </a:p>
        </p:txBody>
      </p:sp>
      <p:sp>
        <p:nvSpPr>
          <p:cNvPr id="4" name="Slide Number Placeholder 3"/>
          <p:cNvSpPr>
            <a:spLocks noGrp="1"/>
          </p:cNvSpPr>
          <p:nvPr>
            <p:ph type="sldNum" sz="quarter" idx="5"/>
          </p:nvPr>
        </p:nvSpPr>
        <p:spPr/>
        <p:txBody>
          <a:bodyPr/>
          <a:lstStyle/>
          <a:p>
            <a:fld id="{71770EAF-1B7F-084E-BE5F-E1B515CBCD96}" type="slidenum">
              <a:rPr lang="en-US" smtClean="0"/>
              <a:t>214</a:t>
            </a:fld>
            <a:endParaRPr lang="en-US" dirty="0"/>
          </a:p>
        </p:txBody>
      </p:sp>
    </p:spTree>
    <p:extLst>
      <p:ext uri="{BB962C8B-B14F-4D97-AF65-F5344CB8AC3E}">
        <p14:creationId xmlns:p14="http://schemas.microsoft.com/office/powerpoint/2010/main" val="47837312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createRouter takes a history mode and a routes array. createWebHistory gives clean URLs like /login. (createWebHashHistory gives /#/login, which works on any static host without server configuration.)</a:t>
            </a:r>
          </a:p>
          <a:p>
            <a:r>
              <a:rPr b="1"/>
              <a:t>SAY:</a:t>
            </a:r>
            <a:r>
              <a:t> Each route has a path, a component, and optionally a name. Writing the component as () =&gt; import(...) makes it lazy-loaded.</a:t>
            </a:r>
          </a:p>
          <a:p>
            <a:r>
              <a:rPr b="1"/>
              <a:t>WATCH FOR:</a:t>
            </a:r>
            <a:r>
              <a:t> With web history, refreshing the browser on /login asks the server for /login. Vite's dev server handles that, but production servers need a fallback rule that serves index.html for unknown paths.</a:t>
            </a:r>
          </a:p>
          <a:p>
            <a:r>
              <a:rPr b="1"/>
              <a:t>SAY:</a:t>
            </a:r>
            <a:r>
              <a:t> In &lt;script setup&gt; there's no this.$router or this.$route. Use useRouter() to navigate (router.push({ name: 'home' })) and useRoute() to read params and query.</a:t>
            </a:r>
          </a:p>
          <a:p>
            <a:r>
              <a:rPr b="1"/>
              <a:t>NOTE:</a:t>
            </a:r>
            <a:r>
              <a:t> Component names updated to match Conduit (HomeContent, LoginPage).</a:t>
            </a: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30 minutes, split around the 2:00 break.</a:t>
            </a:r>
          </a:p>
          <a:p>
            <a:r>
              <a:rPr b="1"/>
              <a:t>LAB TIPS:</a:t>
            </a:r>
          </a:p>
          <a:p>
            <a:r>
              <a:t>- Remember the .vue extension inside import().</a:t>
            </a:r>
          </a:p>
          <a:p>
            <a:r>
              <a:t>- After swapping in &lt;RouterView /&gt;, the app should look exactly as before. That's the checkpoint.</a:t>
            </a:r>
          </a:p>
          <a:p>
            <a:r>
              <a:rPr b="1"/>
              <a:t>COMMON PROBLEMS:</a:t>
            </a:r>
          </a:p>
          <a:p>
            <a:r>
              <a:t>- Blank page and "Failed to resolve component: RouterView": the router wasn't installed with app.use(router).</a:t>
            </a:r>
          </a:p>
          <a:p>
            <a:r>
              <a:t>- A 404 on refresh in production: needs the server fallback (not an issue on the Vite dev server).</a:t>
            </a:r>
          </a:p>
          <a:p>
            <a:r>
              <a:t>- Active link styling not working: use exact-active-class if you need an exact match.</a:t>
            </a: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45 minutes.</a:t>
            </a:r>
            <a:endParaRPr lang="en-US" dirty="0"/>
          </a:p>
          <a:p>
            <a:r>
              <a:rPr b="1"/>
              <a:t>SAY:</a:t>
            </a:r>
            <a:r>
              <a:t> This lab connects everything: forms (v-model), a store with async actions, the router, and a real API with authentication.</a:t>
            </a:r>
          </a:p>
          <a:p>
            <a:r>
              <a:rPr b="1"/>
              <a:t>LAB TIPS:</a:t>
            </a:r>
          </a:p>
          <a:p>
            <a:r>
              <a:t>- Save the copied components as LoginPage.vue and SignUpPage.vue (multi-word names for ESLint), and make sure the routes point at them.</a:t>
            </a:r>
          </a:p>
          <a:p>
            <a:r>
              <a:t>- In &lt;script setup&gt; there's no this.$router or this.$store: use useRouter() and useAuthStore().</a:t>
            </a:r>
          </a:p>
          <a:p>
            <a:r>
              <a:t>- The login flow: the form calls authStore.login(), which posts to the API, saves the JWT token, sets the user, and the component then calls router.push({ name: 'home' }).</a:t>
            </a:r>
          </a:p>
          <a:p>
            <a:r>
              <a:rPr b="1"/>
              <a:t>COMMON PROBLEMS:</a:t>
            </a:r>
          </a:p>
          <a:p>
            <a:r>
              <a:t>- Registration fails with 422: the API rejects duplicate usernames or emails. Display authStore.errors.</a:t>
            </a:r>
          </a:p>
          <a:p>
            <a:r>
              <a:t>- Filters like {{ v | error }} in old examples: filters were removed in Vue 3.</a:t>
            </a:r>
          </a:p>
          <a:p>
            <a:r>
              <a:rPr b="1"/>
              <a:t>DEBRIEF:</a:t>
            </a:r>
            <a:r>
              <a:t> Register and log in, then open the Pinia tab and show user and isAuthenticated. Reload the page: are you still logged in? (Only if checkAuth runs on startup, which is the challenge.)</a:t>
            </a:r>
          </a:p>
        </p:txBody>
      </p:sp>
      <p:sp>
        <p:nvSpPr>
          <p:cNvPr id="4" name="Slide Number Placeholder 3"/>
          <p:cNvSpPr>
            <a:spLocks noGrp="1"/>
          </p:cNvSpPr>
          <p:nvPr>
            <p:ph type="sldNum" sz="quarter" idx="5"/>
          </p:nvPr>
        </p:nvSpPr>
        <p:spPr/>
        <p:txBody>
          <a:bodyPr/>
          <a:lstStyle/>
          <a:p>
            <a:fld id="{71770EAF-1B7F-084E-BE5F-E1B515CBCD96}" type="slidenum">
              <a:rPr lang="en-US" smtClean="0"/>
              <a:t>217</a:t>
            </a:fld>
            <a:endParaRPr lang="en-US" dirty="0"/>
          </a:p>
        </p:txBody>
      </p:sp>
    </p:spTree>
    <p:extLst>
      <p:ext uri="{BB962C8B-B14F-4D97-AF65-F5344CB8AC3E}">
        <p14:creationId xmlns:p14="http://schemas.microsoft.com/office/powerpoint/2010/main" val="3513838963"/>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3:30-3:50 lecture, then Lab 23. Move quickly through the TDD theory if time is short; the Vitest and Vue Test Utils slides (229-248) matter most for the lab.</a:t>
            </a: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this section we'll talk about test-driven development and automated testing. Automated tests:</a:t>
            </a:r>
          </a:p>
          <a:p>
            <a:r>
              <a:t>1. check that the code does what it's supposed to do,</a:t>
            </a:r>
          </a:p>
          <a:p>
            <a:r>
              <a:t>2. are grouped into suites you can run with one command,</a:t>
            </a:r>
          </a:p>
          <a:p>
            <a:r>
              <a:t>3. run automatically, on every save and in CI.</a:t>
            </a:r>
          </a:p>
          <a:p>
            <a:r>
              <a:rPr b="1"/>
              <a:t>KEY POINT:</a:t>
            </a:r>
            <a:r>
              <a:t> The key with test-driven development is working in very small increments.</a:t>
            </a:r>
          </a:p>
        </p:txBody>
      </p:sp>
      <p:sp>
        <p:nvSpPr>
          <p:cNvPr id="4" name="Slide Number Placeholder 3"/>
          <p:cNvSpPr>
            <a:spLocks noGrp="1"/>
          </p:cNvSpPr>
          <p:nvPr>
            <p:ph type="sldNum" sz="quarter" idx="10"/>
          </p:nvPr>
        </p:nvSpPr>
        <p:spPr/>
        <p:txBody>
          <a:bodyPr/>
          <a:lstStyle/>
          <a:p>
            <a:fld id="{71770EAF-1B7F-084E-BE5F-E1B515CBCD96}" type="slidenum">
              <a:rPr lang="en-US" smtClean="0"/>
              <a:t>219</a:t>
            </a:fld>
            <a:endParaRPr lang="en-US" dirty="0"/>
          </a:p>
        </p:txBody>
      </p:sp>
    </p:spTree>
    <p:extLst>
      <p:ext uri="{BB962C8B-B14F-4D97-AF65-F5344CB8AC3E}">
        <p14:creationId xmlns:p14="http://schemas.microsoft.com/office/powerpoint/2010/main" val="11479271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Kent Beck's phrase sums up TDD. "That works" comes from writing a test first for each behavior. "Clean" comes from the refactor step: once tests pass, you improve the design with a safety net.</a:t>
            </a:r>
            <a:endParaRPr lang="en-US" dirty="0"/>
          </a:p>
          <a:p>
            <a:r>
              <a:rPr b="1"/>
              <a:t>ASK:</a:t>
            </a:r>
            <a:r>
              <a:t> How many of you write tests before code? After? Not at all? No judgment; the honest answers help you set the tone.</a:t>
            </a:r>
          </a:p>
        </p:txBody>
      </p:sp>
      <p:sp>
        <p:nvSpPr>
          <p:cNvPr id="4" name="Slide Number Placeholder 3"/>
          <p:cNvSpPr>
            <a:spLocks noGrp="1"/>
          </p:cNvSpPr>
          <p:nvPr>
            <p:ph type="sldNum" sz="quarter" idx="10"/>
          </p:nvPr>
        </p:nvSpPr>
        <p:spPr/>
        <p:txBody>
          <a:bodyPr/>
          <a:lstStyle/>
          <a:p>
            <a:fld id="{71770EAF-1B7F-084E-BE5F-E1B515CBCD96}" type="slidenum">
              <a:rPr lang="en-US" smtClean="0"/>
              <a:t>220</a:t>
            </a:fld>
            <a:endParaRPr lang="en-US" dirty="0"/>
          </a:p>
        </p:txBody>
      </p:sp>
    </p:spTree>
    <p:extLst>
      <p:ext uri="{BB962C8B-B14F-4D97-AF65-F5344CB8AC3E}">
        <p14:creationId xmlns:p14="http://schemas.microsoft.com/office/powerpoint/2010/main" val="1041672205"/>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cycle is short: minutes, not hours. Write one failing test. Make it pass with the simplest code you can. Clean up. Repeat.</a:t>
            </a:r>
            <a:endParaRPr lang="en-US" dirty="0"/>
          </a:p>
          <a:p>
            <a:r>
              <a:rPr b="1"/>
              <a:t>KEY POINT:</a:t>
            </a:r>
            <a:r>
              <a:t> Seeing the test fail first is important. It proves the test can fail, so when it passes you know your code did it, not a bug in the test.</a:t>
            </a:r>
          </a:p>
        </p:txBody>
      </p:sp>
      <p:sp>
        <p:nvSpPr>
          <p:cNvPr id="4" name="Slide Number Placeholder 3"/>
          <p:cNvSpPr>
            <a:spLocks noGrp="1"/>
          </p:cNvSpPr>
          <p:nvPr>
            <p:ph type="sldNum" sz="quarter" idx="10"/>
          </p:nvPr>
        </p:nvSpPr>
        <p:spPr/>
        <p:txBody>
          <a:bodyPr/>
          <a:lstStyle/>
          <a:p>
            <a:fld id="{71770EAF-1B7F-084E-BE5F-E1B515CBCD96}" type="slidenum">
              <a:rPr lang="en-US" smtClean="0"/>
              <a:t>221</a:t>
            </a:fld>
            <a:endParaRPr lang="en-US" dirty="0"/>
          </a:p>
        </p:txBody>
      </p:sp>
    </p:spTree>
    <p:extLst>
      <p:ext uri="{BB962C8B-B14F-4D97-AF65-F5344CB8AC3E}">
        <p14:creationId xmlns:p14="http://schemas.microsoft.com/office/powerpoint/2010/main" val="10980590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Here's the cycle as a flowchart. Notice the loop back from "run all tests" to "write production code" when a test fails, and the loop from "clean up code" all the way back to the start.</a:t>
            </a:r>
            <a:endParaRPr lang="en-US" dirty="0"/>
          </a:p>
          <a:p>
            <a:r>
              <a:rPr b="1"/>
              <a:t>TIP:</a:t>
            </a:r>
            <a:r>
              <a:t> Vitest's watch mode makes the cycle fast: save the file and the result appears in under a second.</a:t>
            </a:r>
          </a:p>
        </p:txBody>
      </p:sp>
      <p:sp>
        <p:nvSpPr>
          <p:cNvPr id="4" name="Slide Number Placeholder 3"/>
          <p:cNvSpPr>
            <a:spLocks noGrp="1"/>
          </p:cNvSpPr>
          <p:nvPr>
            <p:ph type="sldNum" sz="quarter" idx="10"/>
          </p:nvPr>
        </p:nvSpPr>
        <p:spPr/>
        <p:txBody>
          <a:bodyPr/>
          <a:lstStyle/>
          <a:p>
            <a:fld id="{71770EAF-1B7F-084E-BE5F-E1B515CBCD96}" type="slidenum">
              <a:rPr lang="en-US" smtClean="0"/>
              <a:t>222</a:t>
            </a:fld>
            <a:endParaRPr lang="en-US" dirty="0"/>
          </a:p>
        </p:txBody>
      </p:sp>
    </p:spTree>
    <p:extLst>
      <p:ext uri="{BB962C8B-B14F-4D97-AF65-F5344CB8AC3E}">
        <p14:creationId xmlns:p14="http://schemas.microsoft.com/office/powerpoint/2010/main" val="3904829129"/>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the red step you're designing, not just testing. Writing the test first forces you to decide what the function or component should be called, what it takes and what it returns, from the caller's point of view.</a:t>
            </a:r>
            <a:endParaRPr lang="en-US" dirty="0"/>
          </a:p>
          <a:p>
            <a:r>
              <a:rPr b="1"/>
              <a:t>SAY:</a:t>
            </a:r>
            <a:r>
              <a:t> Good tests are independent (run in any order), focused (one behavior each), and minimal (no setup they don't need). When a test fails, you should know exactly what broke from its name.</a:t>
            </a:r>
          </a:p>
        </p:txBody>
      </p:sp>
      <p:sp>
        <p:nvSpPr>
          <p:cNvPr id="4" name="Slide Number Placeholder 3"/>
          <p:cNvSpPr>
            <a:spLocks noGrp="1"/>
          </p:cNvSpPr>
          <p:nvPr>
            <p:ph type="sldNum" sz="quarter" idx="10"/>
          </p:nvPr>
        </p:nvSpPr>
        <p:spPr/>
        <p:txBody>
          <a:bodyPr/>
          <a:lstStyle/>
          <a:p>
            <a:fld id="{71770EAF-1B7F-084E-BE5F-E1B515CBCD96}" type="slidenum">
              <a:rPr lang="en-US" smtClean="0"/>
              <a:t>223</a:t>
            </a:fld>
            <a:endParaRPr lang="en-US" dirty="0"/>
          </a:p>
        </p:txBody>
      </p:sp>
    </p:spTree>
    <p:extLst>
      <p:ext uri="{BB962C8B-B14F-4D97-AF65-F5344CB8AC3E}">
        <p14:creationId xmlns:p14="http://schemas.microsoft.com/office/powerpoint/2010/main" val="1752163766"/>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"Fake it" sounds like cheating, but it's useful: return 'Hello, World!' to pass the first test. The second test, for a different name, forces you to write the real implementation. That's triangulation.</a:t>
            </a:r>
            <a:endParaRPr lang="en-US" dirty="0"/>
          </a:p>
          <a:p>
            <a:r>
              <a:rPr b="1"/>
              <a:t>KEY POINT:</a:t>
            </a:r>
            <a:r>
              <a:t> The goal of green is speed. Getting back to a passing state quickly means you're never far from working code.</a:t>
            </a:r>
          </a:p>
        </p:txBody>
      </p:sp>
      <p:sp>
        <p:nvSpPr>
          <p:cNvPr id="4" name="Slide Number Placeholder 3"/>
          <p:cNvSpPr>
            <a:spLocks noGrp="1"/>
          </p:cNvSpPr>
          <p:nvPr>
            <p:ph type="sldNum" sz="quarter" idx="10"/>
          </p:nvPr>
        </p:nvSpPr>
        <p:spPr/>
        <p:txBody>
          <a:bodyPr/>
          <a:lstStyle/>
          <a:p>
            <a:fld id="{71770EAF-1B7F-084E-BE5F-E1B515CBCD96}" type="slidenum">
              <a:rPr lang="en-US" smtClean="0"/>
              <a:t>224</a:t>
            </a:fld>
            <a:endParaRPr lang="en-US" dirty="0"/>
          </a:p>
        </p:txBody>
      </p:sp>
    </p:spTree>
    <p:extLst>
      <p:ext uri="{BB962C8B-B14F-4D97-AF65-F5344CB8AC3E}">
        <p14:creationId xmlns:p14="http://schemas.microsoft.com/office/powerpoint/2010/main" val="17316385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Now that the tests are green, improve the code: better names, removed duplication, extracted functions. Run the tests after every change.</a:t>
            </a:r>
            <a:endParaRPr lang="en-US" dirty="0"/>
          </a:p>
          <a:p>
            <a:r>
              <a:rPr b="1"/>
              <a:t>SAY:</a:t>
            </a:r>
            <a:r>
              <a:t> The to-do list is a discipline trick: when you think of another case ("what about an empty name?"), write it down as the next test rather than coding it now.</a:t>
            </a:r>
          </a:p>
        </p:txBody>
      </p:sp>
      <p:sp>
        <p:nvSpPr>
          <p:cNvPr id="4" name="Slide Number Placeholder 3"/>
          <p:cNvSpPr>
            <a:spLocks noGrp="1"/>
          </p:cNvSpPr>
          <p:nvPr>
            <p:ph type="sldNum" sz="quarter" idx="10"/>
          </p:nvPr>
        </p:nvSpPr>
        <p:spPr/>
        <p:txBody>
          <a:bodyPr/>
          <a:lstStyle/>
          <a:p>
            <a:fld id="{71770EAF-1B7F-084E-BE5F-E1B515CBCD96}" type="slidenum">
              <a:rPr lang="en-US" smtClean="0"/>
              <a:t>225</a:t>
            </a:fld>
            <a:endParaRPr lang="en-US" dirty="0"/>
          </a:p>
        </p:txBody>
      </p:sp>
    </p:spTree>
    <p:extLst>
      <p:ext uri="{BB962C8B-B14F-4D97-AF65-F5344CB8AC3E}">
        <p14:creationId xmlns:p14="http://schemas.microsoft.com/office/powerpoint/2010/main" val="524502072"/>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Different libraries, same idea: compare an actual value with an expected value. In this course we use Vitest's expect with Jest-style matchers like toBe and toEqual.</a:t>
            </a:r>
            <a:endParaRPr lang="en-US"/>
          </a:p>
          <a:p>
            <a:r>
              <a:rPr b="1"/>
              <a:t>SAY:</a:t>
            </a:r>
            <a:r>
              <a:t> Vitest also supports Chai's chainable style (expect(x).to.equal(y)), which helps if you're porting Mocha tests.</a:t>
            </a:r>
          </a:p>
        </p:txBody>
      </p:sp>
      <p:sp>
        <p:nvSpPr>
          <p:cNvPr id="4" name="Slide Number Placeholder 3"/>
          <p:cNvSpPr>
            <a:spLocks noGrp="1"/>
          </p:cNvSpPr>
          <p:nvPr>
            <p:ph type="sldNum" sz="quarter" idx="10"/>
          </p:nvPr>
        </p:nvSpPr>
        <p:spPr/>
        <p:txBody>
          <a:bodyPr/>
          <a:lstStyle/>
          <a:p>
            <a:fld id="{71770EAF-1B7F-084E-BE5F-E1B515CBCD96}" type="slidenum">
              <a:rPr lang="en-US" smtClean="0"/>
              <a:t>226</a:t>
            </a:fld>
            <a:endParaRPr lang="en-US"/>
          </a:p>
        </p:txBody>
      </p:sp>
    </p:spTree>
    <p:extLst>
      <p:ext uri="{BB962C8B-B14F-4D97-AF65-F5344CB8AC3E}">
        <p14:creationId xmlns:p14="http://schemas.microsoft.com/office/powerpoint/2010/main" val="1643443916"/>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Unit test runners (Vitest, Jest, Mocha, node:test) run your functions and components in Node, usually with a simulated DOM. End-to-end tools drive a real browser against your running app.</a:t>
            </a:r>
            <a:endParaRPr lang="en-US"/>
          </a:p>
          <a:p>
            <a:r>
              <a:rPr b="1"/>
              <a:t>KEY POINT:</a:t>
            </a:r>
            <a:r>
              <a:t> For a Vite project, Vitest is the natural choice: it reads vite.config.js, so the @ alias, the Vue plugin and environment variables work in tests exactly as in the app, with no separate Babel or Jest config.</a:t>
            </a:r>
          </a:p>
        </p:txBody>
      </p:sp>
      <p:sp>
        <p:nvSpPr>
          <p:cNvPr id="4" name="Slide Number Placeholder 3"/>
          <p:cNvSpPr>
            <a:spLocks noGrp="1"/>
          </p:cNvSpPr>
          <p:nvPr>
            <p:ph type="sldNum" sz="quarter" idx="10"/>
          </p:nvPr>
        </p:nvSpPr>
        <p:spPr/>
        <p:txBody>
          <a:bodyPr/>
          <a:lstStyle/>
          <a:p>
            <a:fld id="{71770EAF-1B7F-084E-BE5F-E1B515CBCD96}" type="slidenum">
              <a:rPr lang="en-US" smtClean="0"/>
              <a:t>227</a:t>
            </a:fld>
            <a:endParaRPr lang="en-US"/>
          </a:p>
        </p:txBody>
      </p:sp>
    </p:spTree>
    <p:extLst>
      <p:ext uri="{BB962C8B-B14F-4D97-AF65-F5344CB8AC3E}">
        <p14:creationId xmlns:p14="http://schemas.microsoft.com/office/powerpoint/2010/main" val="2033436816"/>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Before frameworks, here's an assertion by hand: compare, throw an error if it's wrong, catch and report. That's all a test framework does at its core, plus naming, grouping, running and reporting.</a:t>
            </a:r>
            <a:endParaRPr lang="en-US" dirty="0"/>
          </a:p>
          <a:p>
            <a:r>
              <a:rPr b="1"/>
              <a:t>DEMO:</a:t>
            </a:r>
            <a:r>
              <a:t> demos/testing/trythrowcatch.js. Run `node trythrowcatch.js`. It fails ("Expected Hello, World! but got Hello, World"), because hello() is missing the exclamation mark. Fix hello(), run again, and it passes. That's red, then green.</a:t>
            </a:r>
          </a:p>
          <a:p>
            <a:r>
              <a:rPr b="1"/>
              <a:t>SAY:</a:t>
            </a:r>
            <a:r>
              <a:t> You could write an assert() helper to tidy this up. Or use a library that already exists, which is the next section.</a:t>
            </a:r>
          </a:p>
        </p:txBody>
      </p:sp>
      <p:sp>
        <p:nvSpPr>
          <p:cNvPr id="4" name="Slide Number Placeholder 3"/>
          <p:cNvSpPr>
            <a:spLocks noGrp="1"/>
          </p:cNvSpPr>
          <p:nvPr>
            <p:ph type="sldNum" sz="quarter" idx="10"/>
          </p:nvPr>
        </p:nvSpPr>
        <p:spPr/>
        <p:txBody>
          <a:bodyPr/>
          <a:lstStyle/>
          <a:p>
            <a:fld id="{71770EAF-1B7F-084E-BE5F-E1B515CBCD96}" type="slidenum">
              <a:rPr lang="en-US" smtClean="0"/>
              <a:t>228</a:t>
            </a:fld>
            <a:endParaRPr lang="en-US"/>
          </a:p>
        </p:txBody>
      </p:sp>
    </p:spTree>
    <p:extLst>
      <p:ext uri="{BB962C8B-B14F-4D97-AF65-F5344CB8AC3E}">
        <p14:creationId xmlns:p14="http://schemas.microsoft.com/office/powerpoint/2010/main" val="1754140128"/>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Now the tools we'll use in Lab 23: Vitest to run tests, and Vue Test Utils to mount components inside them.</a:t>
            </a:r>
            <a:endParaRPr lang="en-US"/>
          </a:p>
          <a:p>
            <a:r>
              <a:rPr b="1"/>
              <a:t>NOTE:</a:t>
            </a:r>
            <a:r>
              <a:t> The old notes here described Jasmine, which this course no longer uses.</a:t>
            </a:r>
          </a:p>
        </p:txBody>
      </p:sp>
      <p:sp>
        <p:nvSpPr>
          <p:cNvPr id="4" name="Slide Number Placeholder 3"/>
          <p:cNvSpPr>
            <a:spLocks noGrp="1"/>
          </p:cNvSpPr>
          <p:nvPr>
            <p:ph type="sldNum" sz="quarter" idx="10"/>
          </p:nvPr>
        </p:nvSpPr>
        <p:spPr/>
        <p:txBody>
          <a:bodyPr/>
          <a:lstStyle/>
          <a:p>
            <a:fld id="{71770EAF-1B7F-084E-BE5F-E1B515CBCD96}" type="slidenum">
              <a:rPr lang="en-US" smtClean="0"/>
              <a:t>229</a:t>
            </a:fld>
            <a:endParaRPr lang="en-US"/>
          </a:p>
        </p:txBody>
      </p:sp>
    </p:spTree>
    <p:extLst>
      <p:ext uri="{BB962C8B-B14F-4D97-AF65-F5344CB8AC3E}">
        <p14:creationId xmlns:p14="http://schemas.microsoft.com/office/powerpoint/2010/main" val="4069489316"/>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Vitest was created by the Vite team. Because it uses the same transform pipeline as your app, it's fast to start and never drifts out of sync with your build config.</a:t>
            </a:r>
            <a:endParaRPr lang="en-US"/>
          </a:p>
          <a:p>
            <a:r>
              <a:rPr b="1"/>
              <a:t>SAY:</a:t>
            </a:r>
            <a:r>
              <a:t> jsdom is a JavaScript implementation of the DOM. It lets components mount and render in Node without a browser. It's fast, but it's not a real browser: no layout, no real CSS. That's why we'll mention browser testing at the end.</a:t>
            </a:r>
          </a:p>
          <a:p>
            <a:r>
              <a:rPr b="1"/>
              <a:t>TIP:</a:t>
            </a:r>
            <a:r>
              <a:t> `npx vitest --ui` opens a browser-based dashboard of your tests.</a:t>
            </a:r>
          </a:p>
        </p:txBody>
      </p:sp>
      <p:sp>
        <p:nvSpPr>
          <p:cNvPr id="4" name="Slide Number Placeholder 3"/>
          <p:cNvSpPr>
            <a:spLocks noGrp="1"/>
          </p:cNvSpPr>
          <p:nvPr>
            <p:ph type="sldNum" sz="quarter" idx="10"/>
          </p:nvPr>
        </p:nvSpPr>
        <p:spPr/>
        <p:txBody>
          <a:bodyPr/>
          <a:lstStyle/>
          <a:p>
            <a:fld id="{71770EAF-1B7F-084E-BE5F-E1B515CBCD96}" type="slidenum">
              <a:rPr lang="en-US" smtClean="0"/>
              <a:t>230</a:t>
            </a:fld>
            <a:endParaRPr lang="en-US"/>
          </a:p>
        </p:txBody>
      </p:sp>
    </p:spTree>
    <p:extLst>
      <p:ext uri="{BB962C8B-B14F-4D97-AF65-F5344CB8AC3E}">
        <p14:creationId xmlns:p14="http://schemas.microsoft.com/office/powerpoint/2010/main" val="741091290"/>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test file is just JavaScript. describe and it are functions that register tests; Vitest finds the files, runs them, and reports.</a:t>
            </a:r>
            <a:endParaRPr lang="en-US"/>
          </a:p>
          <a:p>
            <a:r>
              <a:rPr b="1"/>
              <a:t>SAY:</a:t>
            </a:r>
            <a:r>
              <a:t> The Conduit config has globals: true, so describe, it and expect are available without importing them. Importing them explicitly is clearer and works either way.</a:t>
            </a:r>
          </a:p>
        </p:txBody>
      </p:sp>
      <p:sp>
        <p:nvSpPr>
          <p:cNvPr id="4" name="Slide Number Placeholder 3"/>
          <p:cNvSpPr>
            <a:spLocks noGrp="1"/>
          </p:cNvSpPr>
          <p:nvPr>
            <p:ph type="sldNum" sz="quarter" idx="10"/>
          </p:nvPr>
        </p:nvSpPr>
        <p:spPr/>
        <p:txBody>
          <a:bodyPr/>
          <a:lstStyle/>
          <a:p>
            <a:fld id="{71770EAF-1B7F-084E-BE5F-E1B515CBCD96}" type="slidenum">
              <a:rPr lang="en-US" smtClean="0"/>
              <a:t>231</a:t>
            </a:fld>
            <a:endParaRPr lang="en-US"/>
          </a:p>
        </p:txBody>
      </p:sp>
    </p:spTree>
    <p:extLst>
      <p:ext uri="{BB962C8B-B14F-4D97-AF65-F5344CB8AC3E}">
        <p14:creationId xmlns:p14="http://schemas.microsoft.com/office/powerpoint/2010/main" val="1245885980"/>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Suites group related tests, usually one per function or component, and give the report structure.</a:t>
            </a:r>
            <a:endParaRPr lang="en-US"/>
          </a:p>
          <a:p>
            <a:r>
              <a:rPr b="1"/>
              <a:t>SAY:</a:t>
            </a:r>
            <a:r>
              <a:t> beforeEach runs before every spec in the suite. It's where you create fresh test data, mount a component, or create a fresh Pinia, so specs don't affect each other.</a:t>
            </a:r>
          </a:p>
        </p:txBody>
      </p:sp>
      <p:sp>
        <p:nvSpPr>
          <p:cNvPr id="4" name="Slide Number Placeholder 3"/>
          <p:cNvSpPr>
            <a:spLocks noGrp="1"/>
          </p:cNvSpPr>
          <p:nvPr>
            <p:ph type="sldNum" sz="quarter" idx="10"/>
          </p:nvPr>
        </p:nvSpPr>
        <p:spPr/>
        <p:txBody>
          <a:bodyPr/>
          <a:lstStyle/>
          <a:p>
            <a:fld id="{71770EAF-1B7F-084E-BE5F-E1B515CBCD96}" type="slidenum">
              <a:rPr lang="en-US" smtClean="0"/>
              <a:t>232</a:t>
            </a:fld>
            <a:endParaRPr lang="en-US"/>
          </a:p>
        </p:txBody>
      </p:sp>
    </p:spTree>
    <p:extLst>
      <p:ext uri="{BB962C8B-B14F-4D97-AF65-F5344CB8AC3E}">
        <p14:creationId xmlns:p14="http://schemas.microsoft.com/office/powerpoint/2010/main" val="3899181965"/>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it reads naturally with the suite name: "hello concatenates Hello and a name". test reads better for some teams. Pick one and be consistent.</a:t>
            </a:r>
            <a:endParaRPr lang="en-US"/>
          </a:p>
          <a:p>
            <a:r>
              <a:rPr b="1"/>
              <a:t>TIP:</a:t>
            </a:r>
            <a:r>
              <a:t> it.only runs just that spec, and it.skip skips it. Handy while working, but don't commit them (ESLint plugins can flag them).</a:t>
            </a:r>
          </a:p>
        </p:txBody>
      </p:sp>
      <p:sp>
        <p:nvSpPr>
          <p:cNvPr id="4" name="Slide Number Placeholder 3"/>
          <p:cNvSpPr>
            <a:spLocks noGrp="1"/>
          </p:cNvSpPr>
          <p:nvPr>
            <p:ph type="sldNum" sz="quarter" idx="10"/>
          </p:nvPr>
        </p:nvSpPr>
        <p:spPr/>
        <p:txBody>
          <a:bodyPr/>
          <a:lstStyle/>
          <a:p>
            <a:fld id="{71770EAF-1B7F-084E-BE5F-E1B515CBCD96}" type="slidenum">
              <a:rPr lang="en-US" smtClean="0"/>
              <a:t>233</a:t>
            </a:fld>
            <a:endParaRPr lang="en-US"/>
          </a:p>
        </p:txBody>
      </p:sp>
    </p:spTree>
    <p:extLst>
      <p:ext uri="{BB962C8B-B14F-4D97-AF65-F5344CB8AC3E}">
        <p14:creationId xmlns:p14="http://schemas.microsoft.com/office/powerpoint/2010/main" val="2531185014"/>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Read it out loud: "expect actual to equal expected". If it doesn't, Vitest throws, the spec fails, and the report shows a diff between the two values.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234</a:t>
            </a:fld>
            <a:endParaRPr lang="en-US"/>
          </a:p>
        </p:txBody>
      </p:sp>
    </p:spTree>
    <p:extLst>
      <p:ext uri="{BB962C8B-B14F-4D97-AF65-F5344CB8AC3E}">
        <p14:creationId xmlns:p14="http://schemas.microsoft.com/office/powerpoint/2010/main" val="2343527308"/>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The one people get wrong: toBe vs toEqual. toBe checks identity, so two different objects with the same contents are not toBe each other. Use toEqual for objects and arrays.</a:t>
            </a:r>
            <a:endParaRPr lang="en-US"/>
          </a:p>
          <a:p>
            <a:r>
              <a:rPr b="1"/>
              <a:t>SAY:</a:t>
            </a:r>
            <a:r>
              <a:t> For async code, either await the value and assert, or use .resolves / .rejects on the promise. Don't forget the await, or the test finishes before the assertion runs.</a:t>
            </a:r>
          </a:p>
        </p:txBody>
      </p:sp>
      <p:sp>
        <p:nvSpPr>
          <p:cNvPr id="4" name="Slide Number Placeholder 3"/>
          <p:cNvSpPr>
            <a:spLocks noGrp="1"/>
          </p:cNvSpPr>
          <p:nvPr>
            <p:ph type="sldNum" sz="quarter" idx="10"/>
          </p:nvPr>
        </p:nvSpPr>
        <p:spPr/>
        <p:txBody>
          <a:bodyPr/>
          <a:lstStyle/>
          <a:p>
            <a:fld id="{71770EAF-1B7F-084E-BE5F-E1B515CBCD96}" type="slidenum">
              <a:rPr lang="en-US" smtClean="0"/>
              <a:t>235</a:t>
            </a:fld>
            <a:endParaRPr lang="en-US"/>
          </a:p>
        </p:txBody>
      </p:sp>
    </p:spTree>
    <p:extLst>
      <p:ext uri="{BB962C8B-B14F-4D97-AF65-F5344CB8AC3E}">
        <p14:creationId xmlns:p14="http://schemas.microsoft.com/office/powerpoint/2010/main" val="697502840"/>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difference between TDD and BDD is subtle, and mostly in language. TDD is designed for programmers to test software, while BDD helps design and document it in terms the business understands.</a:t>
            </a:r>
            <a:endParaRPr lang="en-US"/>
          </a:p>
          <a:p>
            <a:r>
              <a:rPr b="1"/>
              <a:t>SAY:</a:t>
            </a:r>
            <a:r>
              <a:t> Neither is better. The choice depends on your team, your framework and who reads the tests. The next two slides show the same test both ways.</a:t>
            </a:r>
          </a:p>
        </p:txBody>
      </p:sp>
      <p:sp>
        <p:nvSpPr>
          <p:cNvPr id="4" name="Slide Number Placeholder 3"/>
          <p:cNvSpPr>
            <a:spLocks noGrp="1"/>
          </p:cNvSpPr>
          <p:nvPr>
            <p:ph type="sldNum" sz="quarter" idx="10"/>
          </p:nvPr>
        </p:nvSpPr>
        <p:spPr/>
        <p:txBody>
          <a:bodyPr/>
          <a:lstStyle/>
          <a:p>
            <a:fld id="{71770EAF-1B7F-084E-BE5F-E1B515CBCD96}" type="slidenum">
              <a:rPr lang="en-US" smtClean="0"/>
              <a:t>236</a:t>
            </a:fld>
            <a:endParaRPr lang="en-US"/>
          </a:p>
        </p:txBody>
      </p:sp>
    </p:spTree>
    <p:extLst>
      <p:ext uri="{BB962C8B-B14F-4D97-AF65-F5344CB8AC3E}">
        <p14:creationId xmlns:p14="http://schemas.microsoft.com/office/powerpoint/2010/main" val="1253325377"/>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Arrange, act, assert: create the counter, call tick, check the result. The blank lines separate the three phases, a habit worth copying.</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237</a:t>
            </a:fld>
            <a:endParaRPr lang="en-US"/>
          </a:p>
        </p:txBody>
      </p:sp>
    </p:spTree>
    <p:extLst>
      <p:ext uri="{BB962C8B-B14F-4D97-AF65-F5344CB8AC3E}">
        <p14:creationId xmlns:p14="http://schemas.microsoft.com/office/powerpoint/2010/main" val="1099955368"/>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Same test. The name describes behavior in a sentence, and the expectation is expressed relative to the starting state rather than a magic number.</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238</a:t>
            </a:fld>
            <a:endParaRPr lang="en-US"/>
          </a:p>
        </p:txBody>
      </p:sp>
    </p:spTree>
    <p:extLst>
      <p:ext uri="{BB962C8B-B14F-4D97-AF65-F5344CB8AC3E}">
        <p14:creationId xmlns:p14="http://schemas.microsoft.com/office/powerpoint/2010/main" val="113584170"/>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Unit tests should be fast and deterministic. Real network calls, real timers and real dates make tests slow and flaky, so we replace them with fakes we control.</a:t>
            </a:r>
            <a:endParaRPr lang="en-US"/>
          </a:p>
          <a:p>
            <a:r>
              <a:rPr b="1"/>
              <a:t>KEY POINT:</a:t>
            </a:r>
            <a:r>
              <a:t> You'll use vi.mock in Lab 23 to stop HomeContent from calling the real /tags API.</a:t>
            </a:r>
          </a:p>
        </p:txBody>
      </p:sp>
      <p:sp>
        <p:nvSpPr>
          <p:cNvPr id="4" name="Slide Number Placeholder 3"/>
          <p:cNvSpPr>
            <a:spLocks noGrp="1"/>
          </p:cNvSpPr>
          <p:nvPr>
            <p:ph type="sldNum" sz="quarter" idx="5"/>
          </p:nvPr>
        </p:nvSpPr>
        <p:spPr/>
        <p:txBody>
          <a:bodyPr/>
          <a:lstStyle/>
          <a:p>
            <a:fld id="{71770EAF-1B7F-084E-BE5F-E1B515CBCD96}" type="slidenum">
              <a:rPr lang="en-US" smtClean="0"/>
              <a:t>239</a:t>
            </a:fld>
            <a:endParaRPr lang="en-US"/>
          </a:p>
        </p:txBody>
      </p:sp>
    </p:spTree>
    <p:extLst>
      <p:ext uri="{BB962C8B-B14F-4D97-AF65-F5344CB8AC3E}">
        <p14:creationId xmlns:p14="http://schemas.microsoft.com/office/powerpoint/2010/main" val="317030285"/>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vi.fn() creates a function that does nothing but record every call: how many times, with which arguments, what it returned.</a:t>
            </a:r>
            <a:endParaRPr lang="en-US"/>
          </a:p>
          <a:p>
            <a:r>
              <a:rPr b="1"/>
              <a:t>SAY:</a:t>
            </a:r>
            <a:r>
              <a:t> forEach calls its callback with three arguments: value, index and the array. So the first call is (0, 0, [0, 1]).</a:t>
            </a:r>
          </a:p>
          <a:p>
            <a:r>
              <a:rPr b="1"/>
              <a:t>SAY:</a:t>
            </a:r>
            <a:r>
              <a:t> You can also give the mock behavior: vi.fn().mockReturnValue(42), or .mockResolvedValue(data) for an async function.</a:t>
            </a:r>
          </a:p>
          <a:p>
            <a:r>
              <a:rPr b="1"/>
              <a:t>NOTE:</a:t>
            </a:r>
            <a:r>
              <a:t> The leading semicolon guards against automatic semicolon insertion when a line starts with [. Without semicolons on the previous line, it could be parsed as an index into the line before.</a:t>
            </a:r>
          </a:p>
        </p:txBody>
      </p:sp>
      <p:sp>
        <p:nvSpPr>
          <p:cNvPr id="4" name="Slide Number Placeholder 3"/>
          <p:cNvSpPr>
            <a:spLocks noGrp="1"/>
          </p:cNvSpPr>
          <p:nvPr>
            <p:ph type="sldNum" sz="quarter" idx="5"/>
          </p:nvPr>
        </p:nvSpPr>
        <p:spPr/>
        <p:txBody>
          <a:bodyPr/>
          <a:lstStyle/>
          <a:p>
            <a:fld id="{71770EAF-1B7F-084E-BE5F-E1B515CBCD96}" type="slidenum">
              <a:rPr lang="en-US" smtClean="0"/>
              <a:t>240</a:t>
            </a:fld>
            <a:endParaRPr lang="en-US"/>
          </a:p>
        </p:txBody>
      </p:sp>
    </p:spTree>
    <p:extLst>
      <p:ext uri="{BB962C8B-B14F-4D97-AF65-F5344CB8AC3E}">
        <p14:creationId xmlns:p14="http://schemas.microsoft.com/office/powerpoint/2010/main" val="4265338055"/>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vi.mock takes the module path and a factory function that returns the fake module. Any file that imports @/common/api.service during this test gets the fake instead.</a:t>
            </a:r>
            <a:endParaRPr lang="en-US"/>
          </a:p>
          <a:p>
            <a:r>
              <a:rPr b="1"/>
              <a:t>KEY POINT:</a:t>
            </a:r>
            <a:r>
              <a:t> Hoisting: Vitest moves vi.mock calls to the top of the file before running it. That's why it works even though imports come first in the source. It also means the factory can't use variables defined in the test file (use vi.hoisted() if you need to).</a:t>
            </a:r>
          </a:p>
          <a:p>
            <a:r>
              <a:rPr b="1"/>
              <a:t>SAY:</a:t>
            </a:r>
            <a:r>
              <a:t> This is exactly what Lab 23 needs: HomeContent queries /tags when it mounts.</a:t>
            </a:r>
          </a:p>
        </p:txBody>
      </p:sp>
      <p:sp>
        <p:nvSpPr>
          <p:cNvPr id="4" name="Slide Number Placeholder 3"/>
          <p:cNvSpPr>
            <a:spLocks noGrp="1"/>
          </p:cNvSpPr>
          <p:nvPr>
            <p:ph type="sldNum" sz="quarter" idx="5"/>
          </p:nvPr>
        </p:nvSpPr>
        <p:spPr/>
        <p:txBody>
          <a:bodyPr/>
          <a:lstStyle/>
          <a:p>
            <a:fld id="{71770EAF-1B7F-084E-BE5F-E1B515CBCD96}" type="slidenum">
              <a:rPr lang="en-US" smtClean="0"/>
              <a:t>241</a:t>
            </a:fld>
            <a:endParaRPr lang="en-US"/>
          </a:p>
        </p:txBody>
      </p:sp>
    </p:spTree>
    <p:extLst>
      <p:ext uri="{BB962C8B-B14F-4D97-AF65-F5344CB8AC3E}">
        <p14:creationId xmlns:p14="http://schemas.microsoft.com/office/powerpoint/2010/main" val="2785866887"/>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If test A calls a mock twice, test B sees those calls too unless you clear the mock between tests. Put the reset in an afterEach, or turn on the config option so it happens automatically.</a:t>
            </a:r>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242</a:t>
            </a:fld>
            <a:endParaRPr lang="en-US"/>
          </a:p>
        </p:txBody>
      </p:sp>
    </p:spTree>
    <p:extLst>
      <p:ext uri="{BB962C8B-B14F-4D97-AF65-F5344CB8AC3E}">
        <p14:creationId xmlns:p14="http://schemas.microsoft.com/office/powerpoint/2010/main" val="3022919422"/>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Testing a 5-second timeout shouldn't take 5 seconds. Fake timers replace setTimeout and setInterval with versions you advance manually.</a:t>
            </a:r>
            <a:endParaRPr lang="en-US"/>
          </a:p>
          <a:p>
            <a:r>
              <a:rPr b="1"/>
              <a:t>SAY:</a:t>
            </a:r>
            <a:r>
              <a:t> Useful for debounced search inputs, polling, toasts that disappear, and the lifecycle timer example from Day 2.</a:t>
            </a:r>
          </a:p>
          <a:p>
            <a:r>
              <a:rPr b="1"/>
              <a:t>TIP:</a:t>
            </a:r>
            <a:r>
              <a:t> vi.setSystemTime(new Date('2026-01-01')) fakes the current date too.</a:t>
            </a:r>
          </a:p>
        </p:txBody>
      </p:sp>
      <p:sp>
        <p:nvSpPr>
          <p:cNvPr id="4" name="Slide Number Placeholder 3"/>
          <p:cNvSpPr>
            <a:spLocks noGrp="1"/>
          </p:cNvSpPr>
          <p:nvPr>
            <p:ph type="sldNum" sz="quarter" idx="5"/>
          </p:nvPr>
        </p:nvSpPr>
        <p:spPr/>
        <p:txBody>
          <a:bodyPr/>
          <a:lstStyle/>
          <a:p>
            <a:fld id="{71770EAF-1B7F-084E-BE5F-E1B515CBCD96}" type="slidenum">
              <a:rPr lang="en-US" smtClean="0"/>
              <a:t>243</a:t>
            </a:fld>
            <a:endParaRPr lang="en-US"/>
          </a:p>
        </p:txBody>
      </p:sp>
    </p:spTree>
    <p:extLst>
      <p:ext uri="{BB962C8B-B14F-4D97-AF65-F5344CB8AC3E}">
        <p14:creationId xmlns:p14="http://schemas.microsoft.com/office/powerpoint/2010/main" val="3859826000"/>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Snapshots catch unintended changes to rendered output with almost no effort. The risk is that people update snapshots without reading the diff, which makes the test meaningless.</a:t>
            </a:r>
            <a:endParaRPr lang="en-US"/>
          </a:p>
          <a:p>
            <a:r>
              <a:rPr b="1"/>
              <a:t>TIP:</a:t>
            </a:r>
            <a:r>
              <a:t> Keep snapshots small (one component, not a whole page), and review snapshot changes in code review like any other code.</a:t>
            </a:r>
          </a:p>
        </p:txBody>
      </p:sp>
      <p:sp>
        <p:nvSpPr>
          <p:cNvPr id="4" name="Slide Number Placeholder 3"/>
          <p:cNvSpPr>
            <a:spLocks noGrp="1"/>
          </p:cNvSpPr>
          <p:nvPr>
            <p:ph type="sldNum" sz="quarter" idx="5"/>
          </p:nvPr>
        </p:nvSpPr>
        <p:spPr/>
        <p:txBody>
          <a:bodyPr/>
          <a:lstStyle/>
          <a:p>
            <a:fld id="{71770EAF-1B7F-084E-BE5F-E1B515CBCD96}" type="slidenum">
              <a:rPr lang="en-US" smtClean="0"/>
              <a:t>244</a:t>
            </a:fld>
            <a:endParaRPr lang="en-US"/>
          </a:p>
        </p:txBody>
      </p:sp>
    </p:spTree>
    <p:extLst>
      <p:ext uri="{BB962C8B-B14F-4D97-AF65-F5344CB8AC3E}">
        <p14:creationId xmlns:p14="http://schemas.microsoft.com/office/powerpoint/2010/main" val="2181529673"/>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wrapper.html() returns the rendered HTML as a string; toMatchSnapshot() compares it with the stored snapshot.</a:t>
            </a:r>
            <a:endParaRPr lang="en-US"/>
          </a:p>
          <a:p>
            <a:r>
              <a:rPr b="1"/>
              <a:t>SAY:</a:t>
            </a:r>
            <a:r>
              <a:t> toMatchInlineSnapshot() writes the snapshot into the test file itself, which is easier to review for small outputs.</a:t>
            </a:r>
          </a:p>
        </p:txBody>
      </p:sp>
      <p:sp>
        <p:nvSpPr>
          <p:cNvPr id="4" name="Slide Number Placeholder 3"/>
          <p:cNvSpPr>
            <a:spLocks noGrp="1"/>
          </p:cNvSpPr>
          <p:nvPr>
            <p:ph type="sldNum" sz="quarter" idx="5"/>
          </p:nvPr>
        </p:nvSpPr>
        <p:spPr/>
        <p:txBody>
          <a:bodyPr/>
          <a:lstStyle/>
          <a:p>
            <a:fld id="{71770EAF-1B7F-084E-BE5F-E1B515CBCD96}" type="slidenum">
              <a:rPr lang="en-US" smtClean="0"/>
              <a:t>245</a:t>
            </a:fld>
            <a:endParaRPr lang="en-US"/>
          </a:p>
        </p:txBody>
      </p:sp>
    </p:spTree>
    <p:extLst>
      <p:ext uri="{BB962C8B-B14F-4D97-AF65-F5344CB8AC3E}">
        <p14:creationId xmlns:p14="http://schemas.microsoft.com/office/powerpoint/2010/main" val="105624453"/>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Vue Test Utils mounts a component in the test environment and gives you a wrapper with methods to find elements (find, findAll, findComponent), interact (trigger, setValue) and inspect (text, html, emitted, props).</a:t>
            </a:r>
            <a:endParaRPr lang="en-US"/>
          </a:p>
          <a:p>
            <a:r>
              <a:rPr b="1"/>
              <a:t>KEY POINT:</a:t>
            </a:r>
            <a:r>
              <a:t> await wrapper.find('button').trigger('click') waits for Vue to re-render, so assertions after it see the updated DOM.</a:t>
            </a:r>
          </a:p>
          <a:p>
            <a:r>
              <a:rPr b="1"/>
              <a:t>SAY:</a:t>
            </a:r>
            <a:r>
              <a:t> The migration notes matter if students have Vue 2 tests: createLocalVue existed to avoid polluting the global Vue. Vue 3 apps are isolated, so plugins are passed per mount.</a:t>
            </a:r>
          </a:p>
        </p:txBody>
      </p:sp>
      <p:sp>
        <p:nvSpPr>
          <p:cNvPr id="4" name="Slide Number Placeholder 3"/>
          <p:cNvSpPr>
            <a:spLocks noGrp="1"/>
          </p:cNvSpPr>
          <p:nvPr>
            <p:ph type="sldNum" sz="quarter" idx="10"/>
          </p:nvPr>
        </p:nvSpPr>
        <p:spPr/>
        <p:txBody>
          <a:bodyPr/>
          <a:lstStyle/>
          <a:p>
            <a:fld id="{71770EAF-1B7F-084E-BE5F-E1B515CBCD96}" type="slidenum">
              <a:rPr lang="en-US" smtClean="0"/>
              <a:t>246</a:t>
            </a:fld>
            <a:endParaRPr lang="en-US"/>
          </a:p>
        </p:txBody>
      </p:sp>
    </p:spTree>
    <p:extLst>
      <p:ext uri="{BB962C8B-B14F-4D97-AF65-F5344CB8AC3E}">
        <p14:creationId xmlns:p14="http://schemas.microsoft.com/office/powerpoint/2010/main" val="1638278192"/>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mount renders the real component tree. That gives you confidence that the pieces work together, but it also means every child runs its setup, makes its API calls, and needs its plugins.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247</a:t>
            </a:fld>
            <a:endParaRPr lang="en-US"/>
          </a:p>
        </p:txBody>
      </p:sp>
    </p:spTree>
    <p:extLst>
      <p:ext uri="{BB962C8B-B14F-4D97-AF65-F5344CB8AC3E}">
        <p14:creationId xmlns:p14="http://schemas.microsoft.com/office/powerpoint/2010/main" val="3380678940"/>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shallowMount replaces every child component with a stub that renders nothing (just a placeholder tag), so you test the component in isolation.</a:t>
            </a:r>
            <a:endParaRPr lang="en-US"/>
          </a:p>
          <a:p>
            <a:r>
              <a:rPr b="1"/>
              <a:t>SAY:</a:t>
            </a:r>
            <a:r>
              <a:t> The trade-off: tests are faster and more focused, but they won't catch problems in how the parent and children work together. Many teams use mount by default and stub specific children with global.stubs.</a:t>
            </a:r>
          </a:p>
          <a:p>
            <a:r>
              <a:rPr b="1"/>
              <a:t>TRANSITION:</a:t>
            </a:r>
            <a:r>
              <a:t> Lab 23 uses shallowMount with Pinia and a test router.</a:t>
            </a:r>
          </a:p>
        </p:txBody>
      </p:sp>
      <p:sp>
        <p:nvSpPr>
          <p:cNvPr id="4" name="Slide Number Placeholder 3"/>
          <p:cNvSpPr>
            <a:spLocks noGrp="1"/>
          </p:cNvSpPr>
          <p:nvPr>
            <p:ph type="sldNum" sz="quarter" idx="10"/>
          </p:nvPr>
        </p:nvSpPr>
        <p:spPr/>
        <p:txBody>
          <a:bodyPr/>
          <a:lstStyle/>
          <a:p>
            <a:fld id="{71770EAF-1B7F-084E-BE5F-E1B515CBCD96}" type="slidenum">
              <a:rPr lang="en-US" smtClean="0"/>
              <a:t>248</a:t>
            </a:fld>
            <a:endParaRPr lang="en-US"/>
          </a:p>
        </p:txBody>
      </p:sp>
    </p:spTree>
    <p:extLst>
      <p:ext uri="{BB962C8B-B14F-4D97-AF65-F5344CB8AC3E}">
        <p14:creationId xmlns:p14="http://schemas.microsoft.com/office/powerpoint/2010/main" val="3667451319"/>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About 25 minutes.</a:t>
            </a:r>
            <a:endParaRPr lang="en-US"/>
          </a:p>
          <a:p>
            <a:r>
              <a:rPr b="1"/>
              <a:t>SAY:</a:t>
            </a:r>
            <a:r>
              <a:t> HomeContent now depends on a store and the router, and it calls the API when it mounts. A bare mount() has none of those, so the test fails. That's the normal state of affairs as an app grows, and this lab shows the standard fixes.</a:t>
            </a:r>
          </a:p>
          <a:p>
            <a:r>
              <a:rPr b="1"/>
              <a:t>LAB TIPS:</a:t>
            </a:r>
          </a:p>
          <a:p>
            <a:r>
              <a:t>- Read the error message first: it names the injection that couldn't be resolved (Pinia or the router).</a:t>
            </a:r>
          </a:p>
          <a:p>
            <a:r>
              <a:t>- A fresh Pinia per test keeps store state from leaking between tests.</a:t>
            </a:r>
          </a:p>
          <a:p>
            <a:r>
              <a:t>- vi.mock must return the same shape as the real module: a default export with a query method that resolves to { data: { tags: [] } }.</a:t>
            </a:r>
          </a:p>
          <a:p>
            <a:r>
              <a:rPr b="1"/>
              <a:t>COMMON PROBLEMS:</a:t>
            </a:r>
          </a:p>
          <a:p>
            <a:r>
              <a:t>- Router warnings about no match for the current location: add a catch-all route to the test router, or ignore the warning.</a:t>
            </a:r>
          </a:p>
          <a:p>
            <a:r>
              <a:t>- Tests pass but log network errors: the mock path doesn't exactly match the import path used by the component.</a:t>
            </a:r>
          </a:p>
        </p:txBody>
      </p:sp>
      <p:sp>
        <p:nvSpPr>
          <p:cNvPr id="4" name="Slide Number Placeholder 3"/>
          <p:cNvSpPr>
            <a:spLocks noGrp="1"/>
          </p:cNvSpPr>
          <p:nvPr>
            <p:ph type="sldNum" sz="quarter" idx="10"/>
          </p:nvPr>
        </p:nvSpPr>
        <p:spPr/>
        <p:txBody>
          <a:bodyPr/>
          <a:lstStyle/>
          <a:p>
            <a:fld id="{71770EAF-1B7F-084E-BE5F-E1B515CBCD96}" type="slidenum">
              <a:rPr lang="en-US" smtClean="0"/>
              <a:t>249</a:t>
            </a:fld>
            <a:endParaRPr lang="en-US"/>
          </a:p>
        </p:txBody>
      </p:sp>
    </p:spTree>
    <p:extLst>
      <p:ext uri="{BB962C8B-B14F-4D97-AF65-F5344CB8AC3E}">
        <p14:creationId xmlns:p14="http://schemas.microsoft.com/office/powerpoint/2010/main" val="196041796"/>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quick look at testing beyond jsdom. This is a short, mostly informational section.</a:t>
            </a: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jsdom doesn't do layout, so it can't tell you whether an element is actually visible, whether CSS hides it, or whether it scrolls correctly. For those, run tests in a real browser.</a:t>
            </a:r>
          </a:p>
          <a:p>
            <a:r>
              <a:rPr b="1"/>
              <a:t>SAY:</a:t>
            </a:r>
            <a:r>
              <a:t> Vitest browser mode keeps the same test syntax but runs it in Chromium, Firefox or WebKit. End-to-end tools like Playwright test the deployed app the way a user would: open a URL, click, type, check what appears.</a:t>
            </a:r>
          </a:p>
          <a:p>
            <a:r>
              <a:rPr b="1"/>
              <a:t>KEY POINT:</a:t>
            </a:r>
            <a:r>
              <a:t> A typical split is many fast unit tests (Vitest and jsdom), some component tests in browser mode, and a few end-to-end tests for critical journeys like sign in and checkout.</a:t>
            </a:r>
          </a:p>
          <a:p>
            <a:r>
              <a:rPr b="1"/>
              <a:t>NOTE:</a:t>
            </a:r>
            <a:r>
              <a:t> The old notes here described how Karma worked. Karma is deprecated; the slide now points to its replacements.</a:t>
            </a:r>
          </a:p>
        </p:txBody>
      </p:sp>
      <p:sp>
        <p:nvSpPr>
          <p:cNvPr id="4" name="Slide Number Placeholder 3"/>
          <p:cNvSpPr>
            <a:spLocks noGrp="1"/>
          </p:cNvSpPr>
          <p:nvPr>
            <p:ph type="sldNum" sz="quarter" idx="10"/>
          </p:nvPr>
        </p:nvSpPr>
        <p:spPr/>
        <p:txBody>
          <a:bodyPr/>
          <a:lstStyle/>
          <a:p>
            <a:fld id="{71770EAF-1B7F-084E-BE5F-E1B515CBCD96}" type="slidenum">
              <a:rPr lang="en-US" smtClean="0"/>
              <a:t>251</a:t>
            </a:fld>
            <a:endParaRPr lang="en-US"/>
          </a:p>
        </p:txBody>
      </p:sp>
    </p:spTree>
    <p:extLst>
      <p:ext uri="{BB962C8B-B14F-4D97-AF65-F5344CB8AC3E}">
        <p14:creationId xmlns:p14="http://schemas.microsoft.com/office/powerpoint/2010/main" val="2341106213"/>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Time permitting at the end of Day 3, together with Lab 24. If you're short on time, show the demo (demos/transitions/index.html) and skip the lab.</a:t>
            </a:r>
          </a:p>
          <a:p>
            <a:r>
              <a:rPr b="1"/>
              <a:t>SAY:</a:t>
            </a:r>
            <a:r>
              <a:t> Animation makes interfaces easier to follow: an item sliding out tells the user where it went. Vue has animation built in, with no extra library needed.</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&lt;Transition&gt; wraps a single element or component. When that child is inserted or removed, Vue adds CSS classes at the right moments so your CSS transitions or animations can run, and delays removal from the DOM until the leave animation finishes.</a:t>
            </a:r>
          </a:p>
          <a:p>
            <a:r>
              <a:rPr b="1"/>
              <a:t>SAY:</a:t>
            </a:r>
            <a:r>
              <a:t> Changing the key of the child forces Vue to treat it as a new element, which is a neat trick for animating content swaps (for example, :key="currentImage").</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demos/transitions/index.html. Open it in the browser.</a:t>
            </a:r>
          </a:p>
          <a:p>
            <a:r>
              <a:t>1. Click Toggle: the paragraph fades and slides. Show the CSS in the file.</a:t>
            </a:r>
          </a:p>
          <a:p>
            <a:r>
              <a:t>2. Slow it down: change 0.3s to 2s and reload, then inspect the &lt;p&gt; in DevTools Elements while it animates. Students can watch fade-enter-from, fade-enter-active and fade-enter-to appear and disappear on the element.</a:t>
            </a:r>
          </a:p>
          <a:p>
            <a:r>
              <a:t>3. Scroll to the list demo (&lt;TransitionGroup&gt;), add and remove items.</a:t>
            </a:r>
          </a:p>
          <a:p>
            <a:r>
              <a:rPr b="1"/>
              <a:t>SAY:</a:t>
            </a:r>
            <a:r>
              <a:t> The name attribute is the prefix for the CSS classes: name="fade" means .fade-enter-active and so on. Without a name, the prefix is v-.</a:t>
            </a: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Think of it as three snapshots per direction. -from is where it starts, -to is where it ends, and -active is on for the whole time and holds the transition property (duration and easing).</a:t>
            </a:r>
          </a:p>
          <a:p>
            <a:r>
              <a:rPr b="1"/>
              <a:t>KEY POINT:</a:t>
            </a:r>
            <a:r>
              <a:t> You usually only need to style four selectors: the two -active classes (with the transition) and enter-from plus leave-to (with the hidden state: opacity 0, moved a bit). The visible state is just the element's normal styling.</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That's all the CSS needed for a fade-and-slide. Entering, the element starts invisible and 10px to the right, and transitions to its normal state. Leaving, it transitions from normal to invisible and shifted.</a:t>
            </a:r>
          </a:p>
          <a:p>
            <a:r>
              <a:rPr b="1"/>
              <a:t>TIP:</a:t>
            </a:r>
            <a:r>
              <a:t> Animate transform and opacity where you can. The browser can animate them without recalculating layout, so they stay smooth even on slow devices.</a:t>
            </a: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&lt;Transition&gt; emits events at each stage. You can use them alongside CSS, for example to log or to start something after an element has appeared, or instead of CSS, to drive the animation with a JavaScript library like GSAP or the Web Animations API.</a:t>
            </a:r>
          </a:p>
          <a:p>
            <a:r>
              <a:rPr b="1"/>
              <a:t>SAY:</a:t>
            </a:r>
            <a:r>
              <a:t> :css="false" tells Vue not to look for CSS transitions at all, which avoids interference and saves a little work.</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hook receives the element. enter and leave also receive a done callback. Vue waits for done() before finishing the transition, which for leave means before removing the element from the DOM.</a:t>
            </a:r>
          </a:p>
          <a:p>
            <a:r>
              <a:rPr b="1"/>
              <a:t>SAY:</a:t>
            </a:r>
            <a:r>
              <a:t> This example uses the browser's built-in Web Animations API, el.animate(), so no library is needed.</a:t>
            </a:r>
          </a:p>
          <a:p>
            <a:r>
              <a:rPr b="1"/>
              <a:t>WATCH FOR:</a:t>
            </a:r>
            <a:r>
              <a:t> Forgetting done() with :css="false". Enter finishes immediately, and leave never removes the element.</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Libraries like Animate.css define their own class names. These props tell Vue to apply the library's classes instead of generated ones like fade-enter-active.</a:t>
            </a: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Animate.css provides ready-made keyframe animations. animate__animated sets up the animation; animate__tada and animate__bounceOutRight pick which one. Vue adds those classes during enter and leave instead of its own.</a:t>
            </a:r>
          </a:p>
          <a:p>
            <a:r>
              <a:rPr b="1"/>
              <a:t>DEMO:</a:t>
            </a:r>
            <a:r>
              <a:t> The transitions demo has an Animate.css example at the bottom.</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TIMING:</a:t>
            </a:r>
            <a:r>
              <a:t> Optional; only if time permits at the end of Day 3. Wrap up with Review 3 (quiz/day3.txt), questions and evaluations by 4:30.</a:t>
            </a:r>
          </a:p>
          <a:p>
            <a:r>
              <a:rPr b="1"/>
              <a:t>LAB TIPS:</a:t>
            </a:r>
          </a:p>
          <a:p>
            <a:r>
              <a:t>- Every child of &lt;TransitionGroup&gt; needs a stable, unique key. Use article.slug, not the index, or the animation attaches to the wrong element.</a:t>
            </a:r>
          </a:p>
          <a:p>
            <a:r>
              <a:t>- Removing an article: keep a visibleArticles computed, or remove it from the store's array with an action.</a:t>
            </a:r>
          </a:p>
          <a:p>
            <a:r>
              <a:t>- The move challenge: .article-move { transition: transform 0.3s } plus position: absolute on .article-leave-active, so the leaving item is taken out of the layout flow.</a:t>
            </a:r>
          </a:p>
          <a:p>
            <a:r>
              <a:rPr b="1"/>
              <a:t>DEBRIEF:</a:t>
            </a:r>
            <a:r>
              <a:t> That's the end of the course labs. Recap the app: components, props and events, computed and watchers, lifecycle, forms, slots, composables, Pinia, routing, an authenticated API, tests, and animation.</a:t>
            </a: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appendix is a JavaScript refresher. Use it as needed throughout the course, based on the class's experience. The most useful topics for Vue are: let/const, arrow functions, destructuring, spread, template literals, modules (slides 41-44), and promises/async (slides 301-307).</a:t>
            </a:r>
            <a:endParaRPr lang="en-US"/>
          </a:p>
          <a:p>
            <a:r>
              <a:rPr b="1"/>
              <a:t>TIP:</a:t>
            </a:r>
            <a:r>
              <a:t> Runnable versions of most examples are in demos/js-review. Run any of them with `node &lt;file&gt;`.</a:t>
            </a:r>
          </a:p>
        </p:txBody>
      </p:sp>
      <p:sp>
        <p:nvSpPr>
          <p:cNvPr id="4" name="Slide Number Placeholder 3"/>
          <p:cNvSpPr>
            <a:spLocks noGrp="1"/>
          </p:cNvSpPr>
          <p:nvPr>
            <p:ph type="sldNum" sz="quarter" idx="10"/>
          </p:nvPr>
        </p:nvSpPr>
        <p:spPr/>
        <p:txBody>
          <a:bodyPr/>
          <a:lstStyle/>
          <a:p>
            <a:fld id="{71770EAF-1B7F-084E-BE5F-E1B515CBCD96}" type="slidenum">
              <a:rPr lang="en-US" smtClean="0"/>
              <a:t>262</a:t>
            </a:fld>
            <a:endParaRPr lang="en-US"/>
          </a:p>
        </p:txBody>
      </p:sp>
    </p:spTree>
    <p:extLst>
      <p:ext uri="{BB962C8B-B14F-4D97-AF65-F5344CB8AC3E}">
        <p14:creationId xmlns:p14="http://schemas.microsoft.com/office/powerpoint/2010/main" val="1707388886"/>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Unlike var, const and let are block-scoped: they exist only inside the nearest curly braces.</a:t>
            </a:r>
          </a:p>
          <a:p>
            <a:r>
              <a:rPr b="1"/>
              <a:t>SAY:</a:t>
            </a:r>
            <a:r>
              <a:t> const means the variable can't be pointed at something else. It doesn't make the value immutable: const user = { name: 'Ada' }; user.name = 'Grace' is fine. Object.freeze() is the way to make an object read-only.</a:t>
            </a:r>
          </a:p>
          <a:p>
            <a:r>
              <a:rPr b="1"/>
              <a:t>KEY POINT:</a:t>
            </a:r>
            <a:r>
              <a:t> This is why Vue code declares refs with const: const count = ref(0). You change count.value, never count itself.</a:t>
            </a:r>
          </a:p>
          <a:p>
            <a:r>
              <a:rPr b="1"/>
              <a:t>NOTE:</a:t>
            </a:r>
            <a:r>
              <a:t> The old slide said let has "no hoisting". Technically let and const are hoisted, but stay uninitialized until their declaration runs, which is called the temporal dead zone.</a:t>
            </a:r>
          </a:p>
          <a:p>
            <a:r>
              <a:rPr b="1"/>
              <a:t>DEMO:</a:t>
            </a:r>
            <a:r>
              <a:t> demos/js-review/let-const.js</a:t>
            </a:r>
          </a:p>
        </p:txBody>
      </p:sp>
      <p:sp>
        <p:nvSpPr>
          <p:cNvPr id="4" name="Slide Number Placeholder 3"/>
          <p:cNvSpPr>
            <a:spLocks noGrp="1"/>
          </p:cNvSpPr>
          <p:nvPr>
            <p:ph type="sldNum" sz="quarter" idx="10"/>
          </p:nvPr>
        </p:nvSpPr>
        <p:spPr/>
        <p:txBody>
          <a:bodyPr/>
          <a:lstStyle/>
          <a:p>
            <a:fld id="{71770EAF-1B7F-084E-BE5F-E1B515CBCD96}" type="slidenum">
              <a:rPr lang="en-US" smtClean="0"/>
              <a:t>263</a:t>
            </a:fld>
            <a:endParaRPr lang="en-US"/>
          </a:p>
        </p:txBody>
      </p:sp>
    </p:spTree>
    <p:extLst>
      <p:ext uri="{BB962C8B-B14F-4D97-AF65-F5344CB8AC3E}">
        <p14:creationId xmlns:p14="http://schemas.microsoft.com/office/powerpoint/2010/main" val="3036443227"/>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 var, the variables inside the if block are the same variables as outside, so the assignments overwrite them. With let, the block creates new variables that disappear when the block ends.</a:t>
            </a:r>
            <a:endParaRPr lang="en-US" dirty="0"/>
          </a:p>
          <a:p>
            <a:r>
              <a:rPr b="1"/>
              <a:t>ASK:</a:t>
            </a:r>
            <a:r>
              <a:t> Which behavior would you expect if you'd never seen JavaScript? (The let behavior. That's why it was added.)</a:t>
            </a:r>
          </a:p>
          <a:p>
            <a:r>
              <a:rPr b="1"/>
              <a:t>DEMO:</a:t>
            </a:r>
            <a:r>
              <a:t> demos/js-review/let-const.js</a:t>
            </a:r>
          </a:p>
        </p:txBody>
      </p:sp>
      <p:sp>
        <p:nvSpPr>
          <p:cNvPr id="4" name="Slide Number Placeholder 3"/>
          <p:cNvSpPr>
            <a:spLocks noGrp="1"/>
          </p:cNvSpPr>
          <p:nvPr>
            <p:ph type="sldNum" sz="quarter" idx="10"/>
          </p:nvPr>
        </p:nvSpPr>
        <p:spPr/>
        <p:txBody>
          <a:bodyPr/>
          <a:lstStyle/>
          <a:p>
            <a:fld id="{71770EAF-1B7F-084E-BE5F-E1B515CBCD96}" type="slidenum">
              <a:rPr lang="en-US" smtClean="0"/>
              <a:t>264</a:t>
            </a:fld>
            <a:endParaRPr lang="en-US"/>
          </a:p>
        </p:txBody>
      </p:sp>
    </p:spTree>
    <p:extLst>
      <p:ext uri="{BB962C8B-B14F-4D97-AF65-F5344CB8AC3E}">
        <p14:creationId xmlns:p14="http://schemas.microsoft.com/office/powerpoint/2010/main" val="73279707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Before ES6, the only way to create a private scope was a function, so we used immediately invoked function expressions (IIFEs). In ES6, a plain block creates a scope, and in strict mode (which includes all modules) function declarations are scoped to their block.</a:t>
            </a:r>
            <a:endParaRPr lang="en-US"/>
          </a:p>
          <a:p>
            <a:r>
              <a:rPr b="1"/>
              <a:t>SAY:</a:t>
            </a:r>
            <a:r>
              <a:t> Modules made IIFEs mostly unnecessary: every module already has its own scope.</a:t>
            </a:r>
          </a:p>
        </p:txBody>
      </p:sp>
      <p:sp>
        <p:nvSpPr>
          <p:cNvPr id="4" name="Slide Number Placeholder 3"/>
          <p:cNvSpPr>
            <a:spLocks noGrp="1"/>
          </p:cNvSpPr>
          <p:nvPr>
            <p:ph type="sldNum" sz="quarter" idx="10"/>
          </p:nvPr>
        </p:nvSpPr>
        <p:spPr/>
        <p:txBody>
          <a:bodyPr/>
          <a:lstStyle/>
          <a:p>
            <a:fld id="{71770EAF-1B7F-084E-BE5F-E1B515CBCD96}" type="slidenum">
              <a:rPr lang="en-US" smtClean="0"/>
              <a:t>265</a:t>
            </a:fld>
            <a:endParaRPr lang="en-US"/>
          </a:p>
        </p:txBody>
      </p:sp>
    </p:spTree>
    <p:extLst>
      <p:ext uri="{BB962C8B-B14F-4D97-AF65-F5344CB8AC3E}">
        <p14:creationId xmlns:p14="http://schemas.microsoft.com/office/powerpoint/2010/main" val="113237573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With a single expression after the arrow, the value is returned automatically. With curly braces, it's a block body and you need return.</a:t>
            </a:r>
            <a:endParaRPr lang="en-US"/>
          </a:p>
          <a:p>
            <a:r>
              <a:rPr b="1"/>
              <a:t>WATCH FOR:</a:t>
            </a:r>
            <a:r>
              <a:t> The original slide had `increment = (v) =&gt; {v+1}`, which is a very common bug: the braces make it a block body, so it returns undefined. Point this out; students will make this mistake in computed properties.</a:t>
            </a:r>
          </a:p>
          <a:p>
            <a:r>
              <a:rPr b="1"/>
              <a:t>SAY:</a:t>
            </a:r>
            <a:r>
              <a:t> To return an object literal from a concise arrow, wrap it in parentheses: () =&gt; ({ count: 0 }). You'll see this in Pinia's state function.</a:t>
            </a:r>
          </a:p>
          <a:p>
            <a:r>
              <a:rPr b="1"/>
              <a:t>DEMO:</a:t>
            </a:r>
            <a:r>
              <a:t> demos/js-review/arrow-functions.js</a:t>
            </a:r>
          </a:p>
        </p:txBody>
      </p:sp>
      <p:sp>
        <p:nvSpPr>
          <p:cNvPr id="4" name="Slide Number Placeholder 3"/>
          <p:cNvSpPr>
            <a:spLocks noGrp="1"/>
          </p:cNvSpPr>
          <p:nvPr>
            <p:ph type="sldNum" sz="quarter" idx="10"/>
          </p:nvPr>
        </p:nvSpPr>
        <p:spPr/>
        <p:txBody>
          <a:bodyPr/>
          <a:lstStyle/>
          <a:p>
            <a:fld id="{71770EAF-1B7F-084E-BE5F-E1B515CBCD96}" type="slidenum">
              <a:rPr lang="en-US" smtClean="0"/>
              <a:t>266</a:t>
            </a:fld>
            <a:endParaRPr lang="en-US"/>
          </a:p>
        </p:txBody>
      </p:sp>
    </p:spTree>
    <p:extLst>
      <p:ext uri="{BB962C8B-B14F-4D97-AF65-F5344CB8AC3E}">
        <p14:creationId xmlns:p14="http://schemas.microsoft.com/office/powerpoint/2010/main" val="3122149730"/>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Prettier, which the Conduit project uses, adds parentheses around single parameters by default, so you'll see (v) =&gt; in this course's code.</a:t>
            </a: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ES5, a callback function got its own this (usually undefined or window), so you had to save the outer this in a variable like self or that. Arrow functions inherit this from where they're defined, which is what you almost always want for callbacks.</a:t>
            </a:r>
            <a:endParaRPr lang="en-US"/>
          </a:p>
          <a:p>
            <a:r>
              <a:rPr b="1"/>
              <a:t>SAY:</a:t>
            </a:r>
            <a:r>
              <a:t> Arrow functions are always anonymous; to name one, assign it to a variable.</a:t>
            </a:r>
          </a:p>
          <a:p>
            <a:r>
              <a:rPr b="1"/>
              <a:t>KEY POINT:</a:t>
            </a:r>
            <a:r>
              <a:t> The flip side: don't use an arrow function where you need a dynamic this, like an object method or a Pinia getter that uses this to reach other getters (slide 202).</a:t>
            </a:r>
          </a:p>
          <a:p>
            <a:r>
              <a:rPr b="1"/>
              <a:t>DEMO:</a:t>
            </a:r>
            <a:r>
              <a:t> demos/jsdemo.js includes a Counter example comparing a regular inner function and an arrow function.</a:t>
            </a:r>
          </a:p>
        </p:txBody>
      </p:sp>
      <p:sp>
        <p:nvSpPr>
          <p:cNvPr id="4" name="Slide Number Placeholder 3"/>
          <p:cNvSpPr>
            <a:spLocks noGrp="1"/>
          </p:cNvSpPr>
          <p:nvPr>
            <p:ph type="sldNum" sz="quarter" idx="10"/>
          </p:nvPr>
        </p:nvSpPr>
        <p:spPr/>
        <p:txBody>
          <a:bodyPr/>
          <a:lstStyle/>
          <a:p>
            <a:fld id="{71770EAF-1B7F-084E-BE5F-E1B515CBCD96}" type="slidenum">
              <a:rPr lang="en-US" smtClean="0"/>
              <a:t>268</a:t>
            </a:fld>
            <a:endParaRPr lang="en-US"/>
          </a:p>
        </p:txBody>
      </p:sp>
    </p:spTree>
    <p:extLst>
      <p:ext uri="{BB962C8B-B14F-4D97-AF65-F5344CB8AC3E}">
        <p14:creationId xmlns:p14="http://schemas.microsoft.com/office/powerpoint/2010/main" val="1619996333"/>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Defaults apply when the argument is missing or explicitly undefined, but not when it's null.</a:t>
            </a:r>
            <a:endParaRPr lang="en-US"/>
          </a:p>
          <a:p>
            <a:r>
              <a:rPr b="1"/>
              <a:t>SAY:</a:t>
            </a:r>
            <a:r>
              <a:t> You'll see defaults constantly in modern code, for example fetchArticles(params = {}) in the Pinia store in Lab 20.</a:t>
            </a:r>
          </a:p>
          <a:p>
            <a:r>
              <a:rPr b="1"/>
              <a:t>DEMO:</a:t>
            </a:r>
            <a:r>
              <a:t> demos/js-review/parameters.js</a:t>
            </a:r>
          </a:p>
        </p:txBody>
      </p:sp>
      <p:sp>
        <p:nvSpPr>
          <p:cNvPr id="4" name="Slide Number Placeholder 3"/>
          <p:cNvSpPr>
            <a:spLocks noGrp="1"/>
          </p:cNvSpPr>
          <p:nvPr>
            <p:ph type="sldNum" sz="quarter" idx="10"/>
          </p:nvPr>
        </p:nvSpPr>
        <p:spPr/>
        <p:txBody>
          <a:bodyPr/>
          <a:lstStyle/>
          <a:p>
            <a:fld id="{71770EAF-1B7F-084E-BE5F-E1B515CBCD96}" type="slidenum">
              <a:rPr lang="en-US" smtClean="0"/>
              <a:t>269</a:t>
            </a:fld>
            <a:endParaRPr lang="en-US"/>
          </a:p>
        </p:txBody>
      </p:sp>
    </p:spTree>
    <p:extLst>
      <p:ext uri="{BB962C8B-B14F-4D97-AF65-F5344CB8AC3E}">
        <p14:creationId xmlns:p14="http://schemas.microsoft.com/office/powerpoint/2010/main" val="1925116502"/>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x is 1, y is 2, and a collects everything else: ['hello', true, 7]. So (1 + 2) * 3 = 9.</a:t>
            </a:r>
            <a:endParaRPr lang="en-US"/>
          </a:p>
          <a:p>
            <a:r>
              <a:rPr b="1"/>
              <a:t>DEMO:</a:t>
            </a:r>
            <a:r>
              <a:t> demos/js-review/parameters.js (replaces the old jsbin.com link).</a:t>
            </a:r>
          </a:p>
        </p:txBody>
      </p:sp>
      <p:sp>
        <p:nvSpPr>
          <p:cNvPr id="4" name="Slide Number Placeholder 3"/>
          <p:cNvSpPr>
            <a:spLocks noGrp="1"/>
          </p:cNvSpPr>
          <p:nvPr>
            <p:ph type="sldNum" sz="quarter" idx="10"/>
          </p:nvPr>
        </p:nvSpPr>
        <p:spPr/>
        <p:txBody>
          <a:bodyPr/>
          <a:lstStyle/>
          <a:p>
            <a:fld id="{71770EAF-1B7F-084E-BE5F-E1B515CBCD96}" type="slidenum">
              <a:rPr lang="en-US" smtClean="0"/>
              <a:t>270</a:t>
            </a:fld>
            <a:endParaRPr lang="en-US"/>
          </a:p>
        </p:txBody>
      </p:sp>
    </p:spTree>
    <p:extLst>
      <p:ext uri="{BB962C8B-B14F-4D97-AF65-F5344CB8AC3E}">
        <p14:creationId xmlns:p14="http://schemas.microsoft.com/office/powerpoint/2010/main" val="947300494"/>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Spread looks like rest, but does the opposite: rest gathers values into an array; spread expands an array into values.</a:t>
            </a:r>
            <a:endParaRPr lang="en-US"/>
          </a:p>
          <a:p>
            <a:r>
              <a:rPr b="1"/>
              <a:t>KEY POINT:</a:t>
            </a:r>
            <a:r>
              <a:t> Object spread (ES2018) is everywhere in Vue and Pinia code: making a shallow copy of an object with one property changed. Lab 20's updateArticleInList action uses { ...article, favoritesCount: data.favoritesCount }.</a:t>
            </a:r>
          </a:p>
          <a:p>
            <a:r>
              <a:rPr b="1"/>
              <a:t>DEMO:</a:t>
            </a:r>
            <a:r>
              <a:t> demos/js-review/spread.js</a:t>
            </a:r>
          </a:p>
          <a:p>
            <a:r>
              <a:rPr b="1"/>
              <a:t>NOTE:</a:t>
            </a:r>
            <a:r>
              <a:t> The original slide called MyFunc with a capital M, which would throw a ReferenceError. Fixed.</a:t>
            </a:r>
          </a:p>
        </p:txBody>
      </p:sp>
      <p:sp>
        <p:nvSpPr>
          <p:cNvPr id="4" name="Slide Number Placeholder 3"/>
          <p:cNvSpPr>
            <a:spLocks noGrp="1"/>
          </p:cNvSpPr>
          <p:nvPr>
            <p:ph type="sldNum" sz="quarter" idx="10"/>
          </p:nvPr>
        </p:nvSpPr>
        <p:spPr/>
        <p:txBody>
          <a:bodyPr/>
          <a:lstStyle/>
          <a:p>
            <a:fld id="{71770EAF-1B7F-084E-BE5F-E1B515CBCD96}" type="slidenum">
              <a:rPr lang="en-US" smtClean="0"/>
              <a:t>271</a:t>
            </a:fld>
            <a:endParaRPr lang="en-US"/>
          </a:p>
        </p:txBody>
      </p:sp>
    </p:spTree>
    <p:extLst>
      <p:ext uri="{BB962C8B-B14F-4D97-AF65-F5344CB8AC3E}">
        <p14:creationId xmlns:p14="http://schemas.microsoft.com/office/powerpoint/2010/main" val="1977444918"/>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Template literals are enclosed by backticks (the key above Tab on most keyboards) instead of quotes. Inside, ${expression} inserts the value of any expression.</a:t>
            </a:r>
          </a:p>
          <a:p>
            <a:r>
              <a:rPr b="1"/>
              <a:t>WATCH FOR:</a:t>
            </a:r>
            <a:r>
              <a:t> The most common error in Lab 08 is typing single quotes instead of backticks around a template literal. The ${} then appears literally in the output.</a:t>
            </a:r>
          </a:p>
          <a:p>
            <a:r>
              <a:rPr b="1"/>
              <a:t>DEMO:</a:t>
            </a:r>
            <a:r>
              <a:t> demos/js-review/template-literals.js</a:t>
            </a:r>
          </a:p>
        </p:txBody>
      </p:sp>
      <p:sp>
        <p:nvSpPr>
          <p:cNvPr id="4" name="Slide Number Placeholder 3"/>
          <p:cNvSpPr>
            <a:spLocks noGrp="1"/>
          </p:cNvSpPr>
          <p:nvPr>
            <p:ph type="sldNum" sz="quarter" idx="10"/>
          </p:nvPr>
        </p:nvSpPr>
        <p:spPr/>
        <p:txBody>
          <a:bodyPr/>
          <a:lstStyle/>
          <a:p>
            <a:fld id="{71770EAF-1B7F-084E-BE5F-E1B515CBCD96}" type="slidenum">
              <a:rPr lang="en-US" smtClean="0"/>
              <a:t>272</a:t>
            </a:fld>
            <a:endParaRPr lang="en-US"/>
          </a:p>
        </p:txBody>
      </p:sp>
    </p:spTree>
    <p:extLst>
      <p:ext uri="{BB962C8B-B14F-4D97-AF65-F5344CB8AC3E}">
        <p14:creationId xmlns:p14="http://schemas.microsoft.com/office/powerpoint/2010/main" val="1894358902"/>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tagged template calls a function with the literal parts of the string (strings) and the interpolated values (values). strings.raw has the text exactly as typed, without interpreting backslash escapes like \n.</a:t>
            </a:r>
            <a:endParaRPr lang="en-US"/>
          </a:p>
          <a:p>
            <a:r>
              <a:rPr b="1"/>
              <a:t>SAY:</a:t>
            </a:r>
            <a:r>
              <a:t> You won't write many tag functions, but you'll use them: libraries for GraphQL queries, CSS-in-JS and HTML templating use tags. String.raw is the built-in one.</a:t>
            </a:r>
          </a:p>
          <a:p>
            <a:r>
              <a:rPr b="1"/>
              <a:t>DEMO:</a:t>
            </a:r>
            <a:r>
              <a:t> demos/js-review/template-literals.js</a:t>
            </a:r>
          </a:p>
        </p:txBody>
      </p:sp>
      <p:sp>
        <p:nvSpPr>
          <p:cNvPr id="4" name="Slide Number Placeholder 3"/>
          <p:cNvSpPr>
            <a:spLocks noGrp="1"/>
          </p:cNvSpPr>
          <p:nvPr>
            <p:ph type="sldNum" sz="quarter" idx="10"/>
          </p:nvPr>
        </p:nvSpPr>
        <p:spPr/>
        <p:txBody>
          <a:bodyPr/>
          <a:lstStyle/>
          <a:p>
            <a:fld id="{71770EAF-1B7F-084E-BE5F-E1B515CBCD96}" type="slidenum">
              <a:rPr lang="en-US" smtClean="0"/>
              <a:t>273</a:t>
            </a:fld>
            <a:endParaRPr lang="en-US"/>
          </a:p>
        </p:txBody>
      </p:sp>
    </p:spTree>
    <p:extLst>
      <p:ext uri="{BB962C8B-B14F-4D97-AF65-F5344CB8AC3E}">
        <p14:creationId xmlns:p14="http://schemas.microsoft.com/office/powerpoint/2010/main" val="3840271755"/>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When the property name and the variable name are the same, you can write the name once.</a:t>
            </a:r>
            <a:endParaRPr lang="en-US"/>
          </a:p>
          <a:p>
            <a:r>
              <a:rPr b="1"/>
              <a:t>ASK:</a:t>
            </a:r>
            <a:r>
              <a:t> In { x, y }, does x refer to the name or the value? (Both: the property is named x and gets the value of the variable x.) How could you check? (console.log(obj) after setting x = 1.)</a:t>
            </a:r>
          </a:p>
          <a:p>
            <a:r>
              <a:rPr b="1"/>
              <a:t>KEY POINT:</a:t>
            </a:r>
            <a:r>
              <a:t> You've seen this all week: return { searchDetails, filterIt } in a composable, and return { count, double, increment } in a setup store.</a:t>
            </a:r>
          </a:p>
        </p:txBody>
      </p:sp>
      <p:sp>
        <p:nvSpPr>
          <p:cNvPr id="4" name="Slide Number Placeholder 3"/>
          <p:cNvSpPr>
            <a:spLocks noGrp="1"/>
          </p:cNvSpPr>
          <p:nvPr>
            <p:ph type="sldNum" sz="quarter" idx="10"/>
          </p:nvPr>
        </p:nvSpPr>
        <p:spPr/>
        <p:txBody>
          <a:bodyPr/>
          <a:lstStyle/>
          <a:p>
            <a:fld id="{71770EAF-1B7F-084E-BE5F-E1B515CBCD96}" type="slidenum">
              <a:rPr lang="en-US" smtClean="0"/>
              <a:t>274</a:t>
            </a:fld>
            <a:endParaRPr lang="en-US"/>
          </a:p>
        </p:txBody>
      </p:sp>
    </p:spTree>
    <p:extLst>
      <p:ext uri="{BB962C8B-B14F-4D97-AF65-F5344CB8AC3E}">
        <p14:creationId xmlns:p14="http://schemas.microsoft.com/office/powerpoint/2010/main" val="3532371882"/>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Square brackets around a property name mean "evaluate this expression and use the result as the name".</a:t>
            </a:r>
            <a:endParaRPr lang="en-US"/>
          </a:p>
          <a:p>
            <a:r>
              <a:rPr b="1"/>
              <a:t>SAY:</a:t>
            </a:r>
            <a:r>
              <a:t> A typical use: a generic form handler that updates whichever field changed: form.value = { ...form.value, [field]: value }.</a:t>
            </a:r>
          </a:p>
          <a:p>
            <a:r>
              <a:rPr b="1"/>
              <a:t>DEMO:</a:t>
            </a:r>
            <a:r>
              <a:t> demos/js-review/objects.js</a:t>
            </a:r>
          </a:p>
        </p:txBody>
      </p:sp>
      <p:sp>
        <p:nvSpPr>
          <p:cNvPr id="4" name="Slide Number Placeholder 3"/>
          <p:cNvSpPr>
            <a:spLocks noGrp="1"/>
          </p:cNvSpPr>
          <p:nvPr>
            <p:ph type="sldNum" sz="quarter" idx="10"/>
          </p:nvPr>
        </p:nvSpPr>
        <p:spPr/>
        <p:txBody>
          <a:bodyPr/>
          <a:lstStyle/>
          <a:p>
            <a:fld id="{71770EAF-1B7F-084E-BE5F-E1B515CBCD96}" type="slidenum">
              <a:rPr lang="en-US" smtClean="0"/>
              <a:t>275</a:t>
            </a:fld>
            <a:endParaRPr lang="en-US"/>
          </a:p>
        </p:txBody>
      </p:sp>
    </p:spTree>
    <p:extLst>
      <p:ext uri="{BB962C8B-B14F-4D97-AF65-F5344CB8AC3E}">
        <p14:creationId xmlns:p14="http://schemas.microsoft.com/office/powerpoint/2010/main" val="3634765336"/>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Method shorthand is how you write actions and getters in a Pinia option store, and methods in the Options API: increment() { this.count++ }.</a:t>
            </a:r>
            <a:endParaRPr lang="en-US"/>
          </a:p>
          <a:p>
            <a:r>
              <a:rPr b="1"/>
              <a:t>KEY POINT:</a:t>
            </a:r>
            <a:r>
              <a:t> Unlike arrow functions, shorthand methods get their own this, which is the object they're called on.</a:t>
            </a:r>
          </a:p>
        </p:txBody>
      </p:sp>
      <p:sp>
        <p:nvSpPr>
          <p:cNvPr id="4" name="Slide Number Placeholder 3"/>
          <p:cNvSpPr>
            <a:spLocks noGrp="1"/>
          </p:cNvSpPr>
          <p:nvPr>
            <p:ph type="sldNum" sz="quarter" idx="10"/>
          </p:nvPr>
        </p:nvSpPr>
        <p:spPr/>
        <p:txBody>
          <a:bodyPr/>
          <a:lstStyle/>
          <a:p>
            <a:fld id="{71770EAF-1B7F-084E-BE5F-E1B515CBCD96}" type="slidenum">
              <a:rPr lang="en-US" smtClean="0"/>
              <a:t>276</a:t>
            </a:fld>
            <a:endParaRPr lang="en-US"/>
          </a:p>
        </p:txBody>
      </p:sp>
    </p:spTree>
    <p:extLst>
      <p:ext uri="{BB962C8B-B14F-4D97-AF65-F5344CB8AC3E}">
        <p14:creationId xmlns:p14="http://schemas.microsoft.com/office/powerpoint/2010/main" val="428638413"/>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position on the left matches the position on the right. An empty slot skips a value. A rest element collects what's left.</a:t>
            </a:r>
            <a:endParaRPr lang="en-US"/>
          </a:p>
          <a:p>
            <a:r>
              <a:rPr b="1"/>
              <a:t>SAY:</a:t>
            </a:r>
            <a:r>
              <a:t> You've seen array destructuring in v-for: (article, index) in articles is the same idea, and in Lab 18's watch callbacks.</a:t>
            </a:r>
          </a:p>
          <a:p>
            <a:r>
              <a:rPr b="1"/>
              <a:t>NOTE:</a:t>
            </a:r>
            <a:r>
              <a:t> The leading semicolon before the swap prevents it being joined to the previous line, since there are no semicolons. jsbin link replaced with a local file.</a:t>
            </a:r>
          </a:p>
          <a:p>
            <a:r>
              <a:rPr b="1"/>
              <a:t>DEMO:</a:t>
            </a:r>
            <a:r>
              <a:t> demos/js-review/destructuring.js</a:t>
            </a:r>
          </a:p>
        </p:txBody>
      </p:sp>
      <p:sp>
        <p:nvSpPr>
          <p:cNvPr id="4" name="Slide Number Placeholder 3"/>
          <p:cNvSpPr>
            <a:spLocks noGrp="1"/>
          </p:cNvSpPr>
          <p:nvPr>
            <p:ph type="sldNum" sz="quarter" idx="10"/>
          </p:nvPr>
        </p:nvSpPr>
        <p:spPr/>
        <p:txBody>
          <a:bodyPr/>
          <a:lstStyle/>
          <a:p>
            <a:fld id="{71770EAF-1B7F-084E-BE5F-E1B515CBCD96}" type="slidenum">
              <a:rPr lang="en-US" smtClean="0"/>
              <a:t>277</a:t>
            </a:fld>
            <a:endParaRPr lang="en-US"/>
          </a:p>
        </p:txBody>
      </p:sp>
    </p:spTree>
    <p:extLst>
      <p:ext uri="{BB962C8B-B14F-4D97-AF65-F5344CB8AC3E}">
        <p14:creationId xmlns:p14="http://schemas.microsoft.com/office/powerpoint/2010/main" val="293777152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POINT:</a:t>
            </a:r>
            <a:r>
              <a:t> This is the single most common piece of ES6 syntax in Vue code: const { data } = await axios.get(...), const { searchDetails, filterIt } = useArticleFilter(articles), const { articles } = storeToRefs(store).</a:t>
            </a:r>
            <a:endParaRPr lang="en-US"/>
          </a:p>
          <a:p>
            <a:r>
              <a:rPr b="1"/>
              <a:t>WATCH FOR:</a:t>
            </a:r>
            <a:r>
              <a:t> Remember the reactivity trap from slide 131: destructuring a reactive object copies the values. That's not a destructuring problem; it's what destructuring always does. Refs survive because the variable holds the ref object itself.</a:t>
            </a:r>
          </a:p>
          <a:p>
            <a:r>
              <a:rPr b="1"/>
              <a:t>DEMO:</a:t>
            </a:r>
            <a:r>
              <a:t> demos/js-review/destructuring.js</a:t>
            </a:r>
          </a:p>
        </p:txBody>
      </p:sp>
      <p:sp>
        <p:nvSpPr>
          <p:cNvPr id="4" name="Slide Number Placeholder 3"/>
          <p:cNvSpPr>
            <a:spLocks noGrp="1"/>
          </p:cNvSpPr>
          <p:nvPr>
            <p:ph type="sldNum" sz="quarter" idx="10"/>
          </p:nvPr>
        </p:nvSpPr>
        <p:spPr/>
        <p:txBody>
          <a:bodyPr/>
          <a:lstStyle/>
          <a:p>
            <a:fld id="{71770EAF-1B7F-084E-BE5F-E1B515CBCD96}" type="slidenum">
              <a:rPr lang="en-US" smtClean="0"/>
              <a:t>278</a:t>
            </a:fld>
            <a:endParaRPr lang="en-US"/>
          </a:p>
        </p:txBody>
      </p:sp>
    </p:spTree>
    <p:extLst>
      <p:ext uri="{BB962C8B-B14F-4D97-AF65-F5344CB8AC3E}">
        <p14:creationId xmlns:p14="http://schemas.microsoft.com/office/powerpoint/2010/main" val="2296197710"/>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Each call to Symbol() creates a new, unique value. The string is only a description for debugging; it doesn't make two symbols equal.</a:t>
            </a:r>
          </a:p>
          <a:p>
            <a:r>
              <a:rPr b="1"/>
              <a:t>SAY:</a:t>
            </a:r>
            <a:r>
              <a:t> Where you'll see them in Vue: provide/inject keys are often symbols, so two libraries can't accidentally use the same key: export const ApiKey = Symbol('api').</a:t>
            </a:r>
          </a:p>
          <a:p>
            <a:r>
              <a:rPr b="1"/>
              <a:t>DEMO:</a:t>
            </a:r>
            <a:r>
              <a:t> demos/js-review/iterators.js</a:t>
            </a:r>
          </a:p>
        </p:txBody>
      </p:sp>
      <p:sp>
        <p:nvSpPr>
          <p:cNvPr id="4" name="Slide Number Placeholder 3"/>
          <p:cNvSpPr>
            <a:spLocks noGrp="1"/>
          </p:cNvSpPr>
          <p:nvPr>
            <p:ph type="sldNum" sz="quarter" idx="10"/>
          </p:nvPr>
        </p:nvSpPr>
        <p:spPr/>
        <p:txBody>
          <a:bodyPr/>
          <a:lstStyle/>
          <a:p>
            <a:fld id="{71770EAF-1B7F-084E-BE5F-E1B515CBCD96}" type="slidenum">
              <a:rPr lang="en-US" smtClean="0"/>
              <a:t>279</a:t>
            </a:fld>
            <a:endParaRPr lang="en-US"/>
          </a:p>
        </p:txBody>
      </p:sp>
    </p:spTree>
    <p:extLst>
      <p:ext uri="{BB962C8B-B14F-4D97-AF65-F5344CB8AC3E}">
        <p14:creationId xmlns:p14="http://schemas.microsoft.com/office/powerpoint/2010/main" val="3325737778"/>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Arrays, strings, Maps and Sets are built-in iterables. You can make your own object iterable by giving it a Symbol.iterator method that returns an iterator. The easiest way is a generator method, the * syntax, which we'll see in a moment.</a:t>
            </a:r>
            <a:endParaRPr lang="en-US"/>
          </a:p>
          <a:p>
            <a:r>
              <a:rPr b="1"/>
              <a:t>DEMO:</a:t>
            </a:r>
            <a:r>
              <a:t> demos/js-review/iterators.js</a:t>
            </a:r>
          </a:p>
        </p:txBody>
      </p:sp>
      <p:sp>
        <p:nvSpPr>
          <p:cNvPr id="4" name="Slide Number Placeholder 3"/>
          <p:cNvSpPr>
            <a:spLocks noGrp="1"/>
          </p:cNvSpPr>
          <p:nvPr>
            <p:ph type="sldNum" sz="quarter" idx="10"/>
          </p:nvPr>
        </p:nvSpPr>
        <p:spPr/>
        <p:txBody>
          <a:bodyPr/>
          <a:lstStyle/>
          <a:p>
            <a:fld id="{71770EAF-1B7F-084E-BE5F-E1B515CBCD96}" type="slidenum">
              <a:rPr lang="en-US" smtClean="0"/>
              <a:t>280</a:t>
            </a:fld>
            <a:endParaRPr lang="en-US"/>
          </a:p>
        </p:txBody>
      </p:sp>
    </p:spTree>
    <p:extLst>
      <p:ext uri="{BB962C8B-B14F-4D97-AF65-F5344CB8AC3E}">
        <p14:creationId xmlns:p14="http://schemas.microsoft.com/office/powerpoint/2010/main" val="1862013655"/>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This iterator never ends (done is always false); the loop stops it with break. That's fine, because iterators are lazy: each value is computed only when the loop asks for it.</a:t>
            </a:r>
            <a:endParaRPr lang="en-US"/>
          </a:p>
          <a:p>
            <a:r>
              <a:rPr b="1"/>
              <a:t>KEY POINT:</a:t>
            </a:r>
            <a:r>
              <a:t> for...of gives values; for...in gives keys (property names). Use for...of with arrays.</a:t>
            </a:r>
          </a:p>
          <a:p>
            <a:r>
              <a:rPr b="1"/>
              <a:t>DEMO:</a:t>
            </a:r>
            <a:r>
              <a:t> demos/js-review/iterators.js (replaces the old jsbin link).</a:t>
            </a:r>
          </a:p>
        </p:txBody>
      </p:sp>
      <p:sp>
        <p:nvSpPr>
          <p:cNvPr id="4" name="Slide Number Placeholder 3"/>
          <p:cNvSpPr>
            <a:spLocks noGrp="1"/>
          </p:cNvSpPr>
          <p:nvPr>
            <p:ph type="sldNum" sz="quarter" idx="10"/>
          </p:nvPr>
        </p:nvSpPr>
        <p:spPr/>
        <p:txBody>
          <a:bodyPr/>
          <a:lstStyle/>
          <a:p>
            <a:fld id="{71770EAF-1B7F-084E-BE5F-E1B515CBCD96}" type="slidenum">
              <a:rPr lang="en-US" smtClean="0"/>
              <a:t>281</a:t>
            </a:fld>
            <a:endParaRPr lang="en-US"/>
          </a:p>
        </p:txBody>
      </p:sp>
    </p:spTree>
    <p:extLst>
      <p:ext uri="{BB962C8B-B14F-4D97-AF65-F5344CB8AC3E}">
        <p14:creationId xmlns:p14="http://schemas.microsoft.com/office/powerpoint/2010/main" val="78426351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function* declares a generator. Calling it doesn't run the body; it returns an iterator. Each call to next() runs the body until the next yield, returns that value, and pauses there.</a:t>
            </a:r>
            <a:endParaRPr lang="en-US"/>
          </a:p>
          <a:p>
            <a:r>
              <a:rPr b="1"/>
              <a:t>SAY:</a:t>
            </a:r>
            <a:r>
              <a:t> Generators are why the infinite while (true) loop is safe here: it only advances when asked.</a:t>
            </a:r>
          </a:p>
          <a:p>
            <a:r>
              <a:rPr b="1"/>
              <a:t>DEMO:</a:t>
            </a:r>
            <a:r>
              <a:t> demos/js-review/generators.js</a:t>
            </a:r>
          </a:p>
        </p:txBody>
      </p:sp>
      <p:sp>
        <p:nvSpPr>
          <p:cNvPr id="4" name="Slide Number Placeholder 3"/>
          <p:cNvSpPr>
            <a:spLocks noGrp="1"/>
          </p:cNvSpPr>
          <p:nvPr>
            <p:ph type="sldNum" sz="quarter" idx="10"/>
          </p:nvPr>
        </p:nvSpPr>
        <p:spPr/>
        <p:txBody>
          <a:bodyPr/>
          <a:lstStyle/>
          <a:p>
            <a:fld id="{71770EAF-1B7F-084E-BE5F-E1B515CBCD96}" type="slidenum">
              <a:rPr lang="en-US" smtClean="0"/>
              <a:t>282</a:t>
            </a:fld>
            <a:endParaRPr lang="en-US"/>
          </a:p>
        </p:txBody>
      </p:sp>
    </p:spTree>
    <p:extLst>
      <p:ext uri="{BB962C8B-B14F-4D97-AF65-F5344CB8AC3E}">
        <p14:creationId xmlns:p14="http://schemas.microsoft.com/office/powerpoint/2010/main" val="1179320653"/>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Classes are syntax over prototypes, the same mechanism JavaScript always had, but much easier to read.</a:t>
            </a:r>
            <a:endParaRPr lang="en-US"/>
          </a:p>
          <a:p>
            <a:r>
              <a:rPr b="1"/>
              <a:t>SAY:</a:t>
            </a:r>
            <a:r>
              <a:t> In Vue's Composition API you rarely write classes; functions and composables do that job. You'll still use classes from libraries, and errors (class MyError extends Error).</a:t>
            </a:r>
          </a:p>
        </p:txBody>
      </p:sp>
      <p:sp>
        <p:nvSpPr>
          <p:cNvPr id="4" name="Slide Number Placeholder 3"/>
          <p:cNvSpPr>
            <a:spLocks noGrp="1"/>
          </p:cNvSpPr>
          <p:nvPr>
            <p:ph type="sldNum" sz="quarter" idx="10"/>
          </p:nvPr>
        </p:nvSpPr>
        <p:spPr/>
        <p:txBody>
          <a:bodyPr/>
          <a:lstStyle/>
          <a:p>
            <a:fld id="{71770EAF-1B7F-084E-BE5F-E1B515CBCD96}" type="slidenum">
              <a:rPr lang="en-US" smtClean="0"/>
              <a:t>283</a:t>
            </a:fld>
            <a:endParaRPr lang="en-US"/>
          </a:p>
        </p:txBody>
      </p:sp>
    </p:spTree>
    <p:extLst>
      <p:ext uri="{BB962C8B-B14F-4D97-AF65-F5344CB8AC3E}">
        <p14:creationId xmlns:p14="http://schemas.microsoft.com/office/powerpoint/2010/main" val="3645369073"/>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constructor runs when you call new Square(...). Methods and getters defined in the class body are shared through the prototype.</a:t>
            </a:r>
            <a:endParaRPr lang="en-US"/>
          </a:p>
          <a:p>
            <a:r>
              <a:rPr b="1"/>
              <a:t>SAY:</a:t>
            </a:r>
            <a:r>
              <a:t> Unlike function declarations, class declarations aren't hoisted for use: you must declare the class before you use it.</a:t>
            </a:r>
          </a:p>
          <a:p>
            <a:r>
              <a:rPr b="1"/>
              <a:t>DEMO:</a:t>
            </a:r>
            <a:r>
              <a:t> demos/js-review/classes.js</a:t>
            </a:r>
          </a:p>
        </p:txBody>
      </p:sp>
      <p:sp>
        <p:nvSpPr>
          <p:cNvPr id="4" name="Slide Number Placeholder 3"/>
          <p:cNvSpPr>
            <a:spLocks noGrp="1"/>
          </p:cNvSpPr>
          <p:nvPr>
            <p:ph type="sldNum" sz="quarter" idx="10"/>
          </p:nvPr>
        </p:nvSpPr>
        <p:spPr/>
        <p:txBody>
          <a:bodyPr/>
          <a:lstStyle/>
          <a:p>
            <a:fld id="{71770EAF-1B7F-084E-BE5F-E1B515CBCD96}" type="slidenum">
              <a:rPr lang="en-US" smtClean="0"/>
              <a:t>284</a:t>
            </a:fld>
            <a:endParaRPr lang="en-US"/>
          </a:p>
        </p:txBody>
      </p:sp>
    </p:spTree>
    <p:extLst>
      <p:ext uri="{BB962C8B-B14F-4D97-AF65-F5344CB8AC3E}">
        <p14:creationId xmlns:p14="http://schemas.microsoft.com/office/powerpoint/2010/main" val="3388159328"/>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class expression assigns a class to a variable, just like a function expression. A named class expression has a name that's only in scope inside the class body, useful for recursion or clearer stack traces.</a:t>
            </a:r>
            <a:endParaRPr lang="en-US"/>
          </a:p>
          <a:p>
            <a:r>
              <a:rPr b="1"/>
              <a:t>NOTE:</a:t>
            </a:r>
            <a:r>
              <a:t> The original "named" example was actually a class declaration. Fixed.</a:t>
            </a:r>
          </a:p>
        </p:txBody>
      </p:sp>
      <p:sp>
        <p:nvSpPr>
          <p:cNvPr id="4" name="Slide Number Placeholder 3"/>
          <p:cNvSpPr>
            <a:spLocks noGrp="1"/>
          </p:cNvSpPr>
          <p:nvPr>
            <p:ph type="sldNum" sz="quarter" idx="10"/>
          </p:nvPr>
        </p:nvSpPr>
        <p:spPr/>
        <p:txBody>
          <a:bodyPr/>
          <a:lstStyle/>
          <a:p>
            <a:fld id="{71770EAF-1B7F-084E-BE5F-E1B515CBCD96}" type="slidenum">
              <a:rPr lang="en-US" smtClean="0"/>
              <a:t>285</a:t>
            </a:fld>
            <a:endParaRPr lang="en-US"/>
          </a:p>
        </p:txBody>
      </p:sp>
    </p:spTree>
    <p:extLst>
      <p:ext uri="{BB962C8B-B14F-4D97-AF65-F5344CB8AC3E}">
        <p14:creationId xmlns:p14="http://schemas.microsoft.com/office/powerpoint/2010/main" val="4172822368"/>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extends sets up the prototype chain; super() calls the parent constructor. In a subclass constructor, using this before super() throws a ReferenceError.</a:t>
            </a:r>
            <a:endParaRPr lang="en-US"/>
          </a:p>
          <a:p>
            <a:r>
              <a:rPr b="1"/>
              <a:t>SAY:</a:t>
            </a:r>
            <a:r>
              <a:t> super.method() calls the parent's version of a method you've overridden.</a:t>
            </a:r>
          </a:p>
          <a:p>
            <a:r>
              <a:rPr b="1"/>
              <a:t>DEMO:</a:t>
            </a:r>
            <a:r>
              <a:t> demos/js-review/classes.js</a:t>
            </a:r>
          </a:p>
        </p:txBody>
      </p:sp>
      <p:sp>
        <p:nvSpPr>
          <p:cNvPr id="4" name="Slide Number Placeholder 3"/>
          <p:cNvSpPr>
            <a:spLocks noGrp="1"/>
          </p:cNvSpPr>
          <p:nvPr>
            <p:ph type="sldNum" sz="quarter" idx="10"/>
          </p:nvPr>
        </p:nvSpPr>
        <p:spPr/>
        <p:txBody>
          <a:bodyPr/>
          <a:lstStyle/>
          <a:p>
            <a:fld id="{71770EAF-1B7F-084E-BE5F-E1B515CBCD96}" type="slidenum">
              <a:rPr lang="en-US" smtClean="0"/>
              <a:t>286</a:t>
            </a:fld>
            <a:endParaRPr lang="en-US"/>
          </a:p>
        </p:txBody>
      </p:sp>
    </p:spTree>
    <p:extLst>
      <p:ext uri="{BB962C8B-B14F-4D97-AF65-F5344CB8AC3E}">
        <p14:creationId xmlns:p14="http://schemas.microsoft.com/office/powerpoint/2010/main" val="2680782215"/>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After ES2015, releases became yearly and smaller. Slide 8 lists the highlights through ES2025.</a:t>
            </a:r>
          </a:p>
          <a:p>
            <a:r>
              <a:rPr b="1"/>
              <a:t>SAY:</a:t>
            </a:r>
            <a:r>
              <a:t> New features go through the TC39 proposal process, stages 0 to 4. Stage 4 means it's in the next yearly release. "ES.Next" refers to features that are finished but not yet in a numbered edition.</a:t>
            </a:r>
          </a:p>
        </p:txBody>
      </p:sp>
    </p:spTree>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second half of the JavaScript review: how this works, array methods, and asynchronous code with promises and async/await. The promises section is the most important for Vue work, since every API call uses it.</a:t>
            </a:r>
            <a:endParaRPr lang="en-US"/>
          </a:p>
          <a:p>
            <a:r>
              <a:rPr b="1"/>
              <a:t>TIP:</a:t>
            </a:r>
            <a:r>
              <a:t> The examples on the this slides are collected in demos/jsdemo.js. Run it with `node jsdemo.js` or step through it in the browser.</a:t>
            </a:r>
          </a:p>
        </p:txBody>
      </p:sp>
      <p:sp>
        <p:nvSpPr>
          <p:cNvPr id="4" name="Slide Number Placeholder 3"/>
          <p:cNvSpPr>
            <a:spLocks noGrp="1"/>
          </p:cNvSpPr>
          <p:nvPr>
            <p:ph type="sldNum" sz="quarter" idx="10"/>
          </p:nvPr>
        </p:nvSpPr>
        <p:spPr/>
        <p:txBody>
          <a:bodyPr/>
          <a:lstStyle/>
          <a:p>
            <a:fld id="{71770EAF-1B7F-084E-BE5F-E1B515CBCD96}" type="slidenum">
              <a:rPr lang="en-US" smtClean="0"/>
              <a:t>288</a:t>
            </a:fld>
            <a:endParaRPr lang="en-US"/>
          </a:p>
        </p:txBody>
      </p:sp>
    </p:spTree>
    <p:extLst>
      <p:ext uri="{BB962C8B-B14F-4D97-AF65-F5344CB8AC3E}">
        <p14:creationId xmlns:p14="http://schemas.microsoft.com/office/powerpoint/2010/main" val="1967951167"/>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Strict mode fixes several early design mistakes. The biggest: in sloppy mode, x = 5 without a declaration silently creates a global. In strict mode it throws.</a:t>
            </a:r>
            <a:endParaRPr lang="en-US"/>
          </a:p>
          <a:p>
            <a:r>
              <a:rPr b="1"/>
              <a:t>KEY POINT:</a:t>
            </a:r>
            <a:r>
              <a:t> Every .vue file, every Vite module and every class is automatically strict. You'll never need to type 'use strict' in this course, but it explains behavior like this being undefined in a detached function call.</a:t>
            </a:r>
          </a:p>
        </p:txBody>
      </p:sp>
      <p:sp>
        <p:nvSpPr>
          <p:cNvPr id="4" name="Slide Number Placeholder 3"/>
          <p:cNvSpPr>
            <a:spLocks noGrp="1"/>
          </p:cNvSpPr>
          <p:nvPr>
            <p:ph type="sldNum" sz="quarter" idx="10"/>
          </p:nvPr>
        </p:nvSpPr>
        <p:spPr/>
        <p:txBody>
          <a:bodyPr/>
          <a:lstStyle/>
          <a:p>
            <a:fld id="{71770EAF-1B7F-084E-BE5F-E1B515CBCD96}" type="slidenum">
              <a:rPr lang="en-US" smtClean="0"/>
              <a:t>289</a:t>
            </a:fld>
            <a:endParaRPr lang="en-US"/>
          </a:p>
        </p:txBody>
      </p:sp>
    </p:spTree>
    <p:extLst>
      <p:ext uri="{BB962C8B-B14F-4D97-AF65-F5344CB8AC3E}">
        <p14:creationId xmlns:p14="http://schemas.microsoft.com/office/powerpoint/2010/main" val="51188305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In most languages, this always means "the instance this method belongs to". In JavaScript, a regular function's this is decided at call time. The same function can have a different this every time it's called.</a:t>
            </a:r>
            <a:endParaRPr lang="en-US"/>
          </a:p>
          <a:p>
            <a:r>
              <a:rPr b="1"/>
              <a:t>KEY POINT:</a:t>
            </a:r>
            <a:r>
              <a:t> One of the reasons the Composition API is easier: &lt;script setup&gt; code doesn't use this at all.</a:t>
            </a:r>
          </a:p>
        </p:txBody>
      </p:sp>
      <p:sp>
        <p:nvSpPr>
          <p:cNvPr id="4" name="Slide Number Placeholder 3"/>
          <p:cNvSpPr>
            <a:spLocks noGrp="1"/>
          </p:cNvSpPr>
          <p:nvPr>
            <p:ph type="sldNum" sz="quarter" idx="10"/>
          </p:nvPr>
        </p:nvSpPr>
        <p:spPr/>
        <p:txBody>
          <a:bodyPr/>
          <a:lstStyle/>
          <a:p>
            <a:fld id="{71770EAF-1B7F-084E-BE5F-E1B515CBCD96}" type="slidenum">
              <a:rPr lang="en-US" smtClean="0"/>
              <a:t>290</a:t>
            </a:fld>
            <a:endParaRPr lang="en-US"/>
          </a:p>
        </p:txBody>
      </p:sp>
    </p:spTree>
    <p:extLst>
      <p:ext uri="{BB962C8B-B14F-4D97-AF65-F5344CB8AC3E}">
        <p14:creationId xmlns:p14="http://schemas.microsoft.com/office/powerpoint/2010/main" val="1089137527"/>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To find this, look at the call site and check the rules in this order: was it called with new? With call, apply or bind? As a method of an object? If none of those, it's the default binding.</a:t>
            </a:r>
            <a:endParaRPr lang="en-US"/>
          </a:p>
          <a:p>
            <a:r>
              <a:rPr b="1"/>
              <a:t>TRANSITION:</a:t>
            </a:r>
            <a:r>
              <a:t> Each rule gets a slide with an example.</a:t>
            </a:r>
          </a:p>
        </p:txBody>
      </p:sp>
      <p:sp>
        <p:nvSpPr>
          <p:cNvPr id="4" name="Slide Number Placeholder 3"/>
          <p:cNvSpPr>
            <a:spLocks noGrp="1"/>
          </p:cNvSpPr>
          <p:nvPr>
            <p:ph type="sldNum" sz="quarter" idx="10"/>
          </p:nvPr>
        </p:nvSpPr>
        <p:spPr/>
        <p:txBody>
          <a:bodyPr/>
          <a:lstStyle/>
          <a:p>
            <a:fld id="{71770EAF-1B7F-084E-BE5F-E1B515CBCD96}" type="slidenum">
              <a:rPr lang="en-US" smtClean="0"/>
              <a:t>291</a:t>
            </a:fld>
            <a:endParaRPr lang="en-US"/>
          </a:p>
        </p:txBody>
      </p:sp>
    </p:spTree>
    <p:extLst>
      <p:ext uri="{BB962C8B-B14F-4D97-AF65-F5344CB8AC3E}">
        <p14:creationId xmlns:p14="http://schemas.microsoft.com/office/powerpoint/2010/main" val="4046480439"/>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Same function, two calls, two different values of this. That's the key insight: this belongs to the call, not to the function.</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292</a:t>
            </a:fld>
            <a:endParaRPr lang="en-US"/>
          </a:p>
        </p:txBody>
      </p:sp>
    </p:spTree>
    <p:extLst>
      <p:ext uri="{BB962C8B-B14F-4D97-AF65-F5344CB8AC3E}">
        <p14:creationId xmlns:p14="http://schemas.microsoft.com/office/powerpoint/2010/main" val="3810089914"/>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author is to the left of the dot when logName is called, so this.name is the same as author.name.</a:t>
            </a:r>
            <a:endParaRPr lang="en-US"/>
          </a:p>
          <a:p>
            <a:r>
              <a:rPr b="1"/>
              <a:t>WATCH FOR:</a:t>
            </a:r>
            <a:r>
              <a:t> Implicit binding is lost when you pass the method somewhere else: setTimeout(author.logName, 100) logs undefined, because setTimeout calls it as a plain function. That's the most common this bug.</a:t>
            </a:r>
          </a:p>
          <a:p>
            <a:r>
              <a:rPr b="1"/>
              <a:t>NOTE:</a:t>
            </a:r>
            <a:r>
              <a:t> The original example ended with "});", which is a syntax error. Fixed.</a:t>
            </a:r>
          </a:p>
        </p:txBody>
      </p:sp>
      <p:sp>
        <p:nvSpPr>
          <p:cNvPr id="4" name="Slide Number Placeholder 3"/>
          <p:cNvSpPr>
            <a:spLocks noGrp="1"/>
          </p:cNvSpPr>
          <p:nvPr>
            <p:ph type="sldNum" sz="quarter" idx="10"/>
          </p:nvPr>
        </p:nvSpPr>
        <p:spPr/>
        <p:txBody>
          <a:bodyPr/>
          <a:lstStyle/>
          <a:p>
            <a:fld id="{71770EAF-1B7F-084E-BE5F-E1B515CBCD96}" type="slidenum">
              <a:rPr lang="en-US" smtClean="0"/>
              <a:t>293</a:t>
            </a:fld>
            <a:endParaRPr lang="en-US"/>
          </a:p>
        </p:txBody>
      </p:sp>
    </p:spTree>
    <p:extLst>
      <p:ext uri="{BB962C8B-B14F-4D97-AF65-F5344CB8AC3E}">
        <p14:creationId xmlns:p14="http://schemas.microsoft.com/office/powerpoint/2010/main" val="3346416160"/>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 explicit binding, the function doesn't have to be a property of the object at all. call's first argument becomes this.</a:t>
            </a:r>
            <a:endParaRPr lang="en-US"/>
          </a:p>
          <a:p>
            <a:r>
              <a:rPr b="1"/>
              <a:t>NOTE:</a:t>
            </a:r>
            <a:r>
              <a:t> The original example had mismatched quotes ('Detroit"). Fixed.</a:t>
            </a:r>
          </a:p>
        </p:txBody>
      </p:sp>
      <p:sp>
        <p:nvSpPr>
          <p:cNvPr id="4" name="Slide Number Placeholder 3"/>
          <p:cNvSpPr>
            <a:spLocks noGrp="1"/>
          </p:cNvSpPr>
          <p:nvPr>
            <p:ph type="sldNum" sz="quarter" idx="10"/>
          </p:nvPr>
        </p:nvSpPr>
        <p:spPr/>
        <p:txBody>
          <a:bodyPr/>
          <a:lstStyle/>
          <a:p>
            <a:fld id="{71770EAF-1B7F-084E-BE5F-E1B515CBCD96}" type="slidenum">
              <a:rPr lang="en-US" smtClean="0"/>
              <a:t>294</a:t>
            </a:fld>
            <a:endParaRPr lang="en-US"/>
          </a:p>
        </p:txBody>
      </p:sp>
    </p:spTree>
    <p:extLst>
      <p:ext uri="{BB962C8B-B14F-4D97-AF65-F5344CB8AC3E}">
        <p14:creationId xmlns:p14="http://schemas.microsoft.com/office/powerpoint/2010/main" val="2753692447"/>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first parameter of call is the context. Here, logName runs in the context of author. After that come the function's normal arguments, here the first element of the array.</a:t>
            </a:r>
            <a:endParaRPr lang="en-US"/>
          </a:p>
          <a:p>
            <a:r>
              <a:rPr b="1"/>
              <a:t>SAY:</a:t>
            </a:r>
            <a:r>
              <a:t> Inside, the arguments are available as usual, and author's properties are available through this.</a:t>
            </a:r>
          </a:p>
        </p:txBody>
      </p:sp>
      <p:sp>
        <p:nvSpPr>
          <p:cNvPr id="4" name="Slide Number Placeholder 3"/>
          <p:cNvSpPr>
            <a:spLocks noGrp="1"/>
          </p:cNvSpPr>
          <p:nvPr>
            <p:ph type="sldNum" sz="quarter" idx="10"/>
          </p:nvPr>
        </p:nvSpPr>
        <p:spPr/>
        <p:txBody>
          <a:bodyPr/>
          <a:lstStyle/>
          <a:p>
            <a:fld id="{71770EAF-1B7F-084E-BE5F-E1B515CBCD96}" type="slidenum">
              <a:rPr lang="en-US" smtClean="0"/>
              <a:t>295</a:t>
            </a:fld>
            <a:endParaRPr lang="en-US"/>
          </a:p>
        </p:txBody>
      </p:sp>
    </p:spTree>
    <p:extLst>
      <p:ext uri="{BB962C8B-B14F-4D97-AF65-F5344CB8AC3E}">
        <p14:creationId xmlns:p14="http://schemas.microsoft.com/office/powerpoint/2010/main" val="111822160"/>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apply works like call, but takes the arguments as an array, which is expanded into the three parameters.</a:t>
            </a:r>
            <a:endParaRPr lang="en-US"/>
          </a:p>
          <a:p>
            <a:r>
              <a:rPr b="1"/>
              <a:t>SAY:</a:t>
            </a:r>
            <a:r>
              <a:t> Memory trick: Apply takes an Array; Call takes Commas.</a:t>
            </a:r>
          </a:p>
          <a:p>
            <a:r>
              <a:rPr b="1"/>
              <a:t>SAY:</a:t>
            </a:r>
            <a:r>
              <a:t> Since ES2015, spread makes apply mostly unnecessary.</a:t>
            </a:r>
          </a:p>
        </p:txBody>
      </p:sp>
      <p:sp>
        <p:nvSpPr>
          <p:cNvPr id="4" name="Slide Number Placeholder 3"/>
          <p:cNvSpPr>
            <a:spLocks noGrp="1"/>
          </p:cNvSpPr>
          <p:nvPr>
            <p:ph type="sldNum" sz="quarter" idx="10"/>
          </p:nvPr>
        </p:nvSpPr>
        <p:spPr/>
        <p:txBody>
          <a:bodyPr/>
          <a:lstStyle/>
          <a:p>
            <a:fld id="{71770EAF-1B7F-084E-BE5F-E1B515CBCD96}" type="slidenum">
              <a:rPr lang="en-US" smtClean="0"/>
              <a:t>296</a:t>
            </a:fld>
            <a:endParaRPr lang="en-US"/>
          </a:p>
        </p:txBody>
      </p:sp>
    </p:spTree>
    <p:extLst>
      <p:ext uri="{BB962C8B-B14F-4D97-AF65-F5344CB8AC3E}">
        <p14:creationId xmlns:p14="http://schemas.microsoft.com/office/powerpoint/2010/main" val="3685034306"/>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bind creates a copy of the function with this permanently set (and optionally some arguments pre-filled). Call it later, from anywhere, and this stays bound.</a:t>
            </a:r>
            <a:endParaRPr lang="en-US"/>
          </a:p>
          <a:p>
            <a:r>
              <a:rPr b="1"/>
              <a:t>SAY:</a:t>
            </a:r>
            <a:r>
              <a:t> This was the standard fix for the setTimeout problem from slide 293: setTimeout(author.logName.bind(author), 100). Today an arrow function does the same: setTimeout(() =&gt; author.logName(), 100).</a:t>
            </a:r>
          </a:p>
          <a:p>
            <a:r>
              <a:rPr b="1"/>
              <a:t>DEMO:</a:t>
            </a:r>
            <a:r>
              <a:t> demos/js-review/this-binding.js (replaces the old jsbin link).</a:t>
            </a:r>
          </a:p>
        </p:txBody>
      </p:sp>
      <p:sp>
        <p:nvSpPr>
          <p:cNvPr id="4" name="Slide Number Placeholder 3"/>
          <p:cNvSpPr>
            <a:spLocks noGrp="1"/>
          </p:cNvSpPr>
          <p:nvPr>
            <p:ph type="sldNum" sz="quarter" idx="10"/>
          </p:nvPr>
        </p:nvSpPr>
        <p:spPr/>
        <p:txBody>
          <a:bodyPr/>
          <a:lstStyle/>
          <a:p>
            <a:fld id="{71770EAF-1B7F-084E-BE5F-E1B515CBCD96}" type="slidenum">
              <a:rPr lang="en-US" smtClean="0"/>
              <a:t>297</a:t>
            </a:fld>
            <a:endParaRPr lang="en-US"/>
          </a:p>
        </p:txBody>
      </p:sp>
    </p:spTree>
    <p:extLst>
      <p:ext uri="{BB962C8B-B14F-4D97-AF65-F5344CB8AC3E}">
        <p14:creationId xmlns:p14="http://schemas.microsoft.com/office/powerpoint/2010/main" val="3874912258"/>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new creates an empty object, sets its prototype, calls the function with this pointing at the new object, and returns it. That's what a class constructor does under the hood.</a:t>
            </a:r>
            <a:endParaRPr lang="en-US"/>
          </a:p>
          <a:p>
            <a:r>
              <a:rPr b="1"/>
              <a:t>NOTE:</a:t>
            </a:r>
            <a:r>
              <a:t> Sacramento's longitude is west, so it's negative. Fixed in the example.</a:t>
            </a:r>
          </a:p>
        </p:txBody>
      </p:sp>
      <p:sp>
        <p:nvSpPr>
          <p:cNvPr id="4" name="Slide Number Placeholder 3"/>
          <p:cNvSpPr>
            <a:spLocks noGrp="1"/>
          </p:cNvSpPr>
          <p:nvPr>
            <p:ph type="sldNum" sz="quarter" idx="10"/>
          </p:nvPr>
        </p:nvSpPr>
        <p:spPr/>
        <p:txBody>
          <a:bodyPr/>
          <a:lstStyle/>
          <a:p>
            <a:fld id="{71770EAF-1B7F-084E-BE5F-E1B515CBCD96}" type="slidenum">
              <a:rPr lang="en-US" smtClean="0"/>
              <a:t>298</a:t>
            </a:fld>
            <a:endParaRPr lang="en-US"/>
          </a:p>
        </p:txBody>
      </p:sp>
    </p:spTree>
    <p:extLst>
      <p:ext uri="{BB962C8B-B14F-4D97-AF65-F5344CB8AC3E}">
        <p14:creationId xmlns:p14="http://schemas.microsoft.com/office/powerpoint/2010/main" val="1475469204"/>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plain call with no object gets the default binding. In old, sloppy-mode scripts that's window, so this.name reads window.name. In strict code it's undefined, and reading a property of it throws.</a:t>
            </a:r>
            <a:endParaRPr lang="en-US"/>
          </a:p>
          <a:p>
            <a:r>
              <a:rPr b="1"/>
              <a:t>KEY POINT:</a:t>
            </a:r>
            <a:r>
              <a:t> The TypeError is a good thing: it surfaces the bug immediately instead of silently reading a global.</a:t>
            </a:r>
          </a:p>
          <a:p>
            <a:r>
              <a:rPr b="1"/>
              <a:t>NOTE:</a:t>
            </a:r>
            <a:r>
              <a:t> The original example passed author as an argument (which has no effect on this) and set window.author rather than window.name, so it didn't print "Harry". Fixed.</a:t>
            </a:r>
          </a:p>
          <a:p>
            <a:r>
              <a:rPr b="1"/>
              <a:t>DEMO:</a:t>
            </a:r>
            <a:r>
              <a:t> demos/js-review/this-binding.js. Run it in the browser console to see the window version.</a:t>
            </a:r>
          </a:p>
        </p:txBody>
      </p:sp>
      <p:sp>
        <p:nvSpPr>
          <p:cNvPr id="4" name="Slide Number Placeholder 3"/>
          <p:cNvSpPr>
            <a:spLocks noGrp="1"/>
          </p:cNvSpPr>
          <p:nvPr>
            <p:ph type="sldNum" sz="quarter" idx="10"/>
          </p:nvPr>
        </p:nvSpPr>
        <p:spPr/>
        <p:txBody>
          <a:bodyPr/>
          <a:lstStyle/>
          <a:p>
            <a:fld id="{71770EAF-1B7F-084E-BE5F-E1B515CBCD96}" type="slidenum">
              <a:rPr lang="en-US" smtClean="0"/>
              <a:t>299</a:t>
            </a:fld>
            <a:endParaRPr lang="en-US"/>
          </a:p>
        </p:txBody>
      </p:sp>
    </p:spTree>
    <p:extLst>
      <p:ext uri="{BB962C8B-B14F-4D97-AF65-F5344CB8AC3E}">
        <p14:creationId xmlns:p14="http://schemas.microsoft.com/office/powerpoint/2010/main" val="1254745676"/>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map transforms every element and returns a new array of the same length. It never mutates the original.</a:t>
            </a:r>
            <a:endParaRPr lang="en-US"/>
          </a:p>
          <a:p>
            <a:r>
              <a:rPr b="1"/>
              <a:t>KEY POINT:</a:t>
            </a:r>
            <a:r>
              <a:t> Why it matters in Vue: replacing an array is a common way to update state. Lab 20's updateArticleInList action does this.articles = this.articles.map(...) to update one article's favorite count. And in React it's how you render lists (slide 80).</a:t>
            </a:r>
          </a:p>
          <a:p>
            <a:r>
              <a:rPr b="1"/>
              <a:t>SAY:</a:t>
            </a:r>
            <a:r>
              <a:t> Its siblings: filter (keep some elements), find (the first match), reduce (combine into one value), and the non-mutating toSorted/toReversed from ES2023.</a:t>
            </a:r>
          </a:p>
        </p:txBody>
      </p:sp>
      <p:sp>
        <p:nvSpPr>
          <p:cNvPr id="4" name="Slide Number Placeholder 3"/>
          <p:cNvSpPr>
            <a:spLocks noGrp="1"/>
          </p:cNvSpPr>
          <p:nvPr>
            <p:ph type="sldNum" sz="quarter" idx="10"/>
          </p:nvPr>
        </p:nvSpPr>
        <p:spPr/>
        <p:txBody>
          <a:bodyPr/>
          <a:lstStyle/>
          <a:p>
            <a:fld id="{71770EAF-1B7F-084E-BE5F-E1B515CBCD96}" type="slidenum">
              <a:rPr lang="en-US" smtClean="0"/>
              <a:t>300</a:t>
            </a:fld>
            <a:endParaRPr lang="en-US"/>
          </a:p>
        </p:txBody>
      </p:sp>
    </p:spTree>
    <p:extLst>
      <p:ext uri="{BB962C8B-B14F-4D97-AF65-F5344CB8AC3E}">
        <p14:creationId xmlns:p14="http://schemas.microsoft.com/office/powerpoint/2010/main" val="2463565163"/>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Every API call in Conduit is asynchronous: axios returns a promise, and our actions use async/await. This section explains what's happening underneath.</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301</a:t>
            </a:fld>
            <a:endParaRPr lang="en-US"/>
          </a:p>
        </p:txBody>
      </p:sp>
    </p:spTree>
    <p:extLst>
      <p:ext uri="{BB962C8B-B14F-4D97-AF65-F5344CB8AC3E}">
        <p14:creationId xmlns:p14="http://schemas.microsoft.com/office/powerpoint/2010/main" val="1959616322"/>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 promise is like a receipt from a restaurant counter: you don't have your food yet, but you have something that represents it. You can carry on with other things and react when it's ready, or when they tell you they're out.</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302</a:t>
            </a:fld>
            <a:endParaRPr lang="en-US"/>
          </a:p>
        </p:txBody>
      </p:sp>
    </p:spTree>
    <p:extLst>
      <p:ext uri="{BB962C8B-B14F-4D97-AF65-F5344CB8AC3E}">
        <p14:creationId xmlns:p14="http://schemas.microsoft.com/office/powerpoint/2010/main" val="1462313462"/>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If you add a click listener after the click happened, you missed it. If you call .then() on a promise that already resolved, your callback still runs with the value. That makes promises easy to pass around and combine.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303</a:t>
            </a:fld>
            <a:endParaRPr lang="en-US"/>
          </a:p>
        </p:txBody>
      </p:sp>
    </p:spTree>
    <p:extLst>
      <p:ext uri="{BB962C8B-B14F-4D97-AF65-F5344CB8AC3E}">
        <p14:creationId xmlns:p14="http://schemas.microsoft.com/office/powerpoint/2010/main" val="1299499566"/>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With callbacks, each step that depends on the previous one nests one level deeper, and error handling has to be repeated at every level. Promise chains are flat, and errors fall through to a single catch.</a:t>
            </a:r>
            <a:endParaRPr lang="en-US"/>
          </a:p>
          <a:p>
            <a:r>
              <a:rPr b="1"/>
              <a:t>SAY:</a:t>
            </a:r>
            <a:r>
              <a:t> Promise.all is handy in Vue: load articles and tags in parallel with const [a, t] = await Promise.all([getArticles(), getTags()]).</a:t>
            </a:r>
          </a:p>
        </p:txBody>
      </p:sp>
      <p:sp>
        <p:nvSpPr>
          <p:cNvPr id="4" name="Slide Number Placeholder 3"/>
          <p:cNvSpPr>
            <a:spLocks noGrp="1"/>
          </p:cNvSpPr>
          <p:nvPr>
            <p:ph type="sldNum" sz="quarter" idx="10"/>
          </p:nvPr>
        </p:nvSpPr>
        <p:spPr/>
        <p:txBody>
          <a:bodyPr/>
          <a:lstStyle/>
          <a:p>
            <a:fld id="{71770EAF-1B7F-084E-BE5F-E1B515CBCD96}" type="slidenum">
              <a:rPr lang="en-US" smtClean="0"/>
              <a:t>304</a:t>
            </a:fld>
            <a:endParaRPr lang="en-US"/>
          </a:p>
        </p:txBody>
      </p:sp>
    </p:spTree>
    <p:extLst>
      <p:ext uri="{BB962C8B-B14F-4D97-AF65-F5344CB8AC3E}">
        <p14:creationId xmlns:p14="http://schemas.microsoft.com/office/powerpoint/2010/main" val="780515772"/>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DEMO:</a:t>
            </a:r>
            <a:r>
              <a:t> In demos/callback-vs-promise, run each version:</a:t>
            </a:r>
            <a:endParaRPr lang="en-US"/>
          </a:p>
          <a:p>
            <a:r>
              <a:t>  node callback.js</a:t>
            </a:r>
          </a:p>
          <a:p>
            <a:r>
              <a:t>  node promise.js</a:t>
            </a:r>
          </a:p>
          <a:p>
            <a:r>
              <a:t>  node async-await.js</a:t>
            </a:r>
          </a:p>
          <a:p>
            <a:r>
              <a:t>Each reads text.txt and prints it. Then rename text.txt (or change the filename in the code) and run them again to show the error path in each style.</a:t>
            </a:r>
          </a:p>
          <a:p>
            <a:r>
              <a:rPr b="1"/>
              <a:t>SAY:</a:t>
            </a:r>
            <a:r>
              <a:t> Node's fs module offers both styles: the original callback API, with the error as the first argument, and node:fs/promises, which returns promises.</a:t>
            </a:r>
          </a:p>
          <a:p>
            <a:r>
              <a:rPr b="1"/>
              <a:t>NOTE:</a:t>
            </a:r>
            <a:r>
              <a:t> The original slide called a readText() function that didn't exist; it now uses fs/promises.</a:t>
            </a:r>
          </a:p>
        </p:txBody>
      </p:sp>
      <p:sp>
        <p:nvSpPr>
          <p:cNvPr id="4" name="Slide Number Placeholder 3"/>
          <p:cNvSpPr>
            <a:spLocks noGrp="1"/>
          </p:cNvSpPr>
          <p:nvPr>
            <p:ph type="sldNum" sz="quarter" idx="10"/>
          </p:nvPr>
        </p:nvSpPr>
        <p:spPr/>
        <p:txBody>
          <a:bodyPr/>
          <a:lstStyle/>
          <a:p>
            <a:fld id="{71770EAF-1B7F-084E-BE5F-E1B515CBCD96}" type="slidenum">
              <a:rPr lang="en-US" smtClean="0"/>
              <a:t>305</a:t>
            </a:fld>
            <a:endParaRPr lang="en-US"/>
          </a:p>
        </p:txBody>
      </p:sp>
    </p:spTree>
    <p:extLst>
      <p:ext uri="{BB962C8B-B14F-4D97-AF65-F5344CB8AC3E}">
        <p14:creationId xmlns:p14="http://schemas.microsoft.com/office/powerpoint/2010/main" val="1298464128"/>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The Promise constructor takes an executor function, which receives resolve and reject. Call resolve with the result when the operation succeeds, or reject with an error when it fails.</a:t>
            </a:r>
            <a:endParaRPr lang="en-US"/>
          </a:p>
          <a:p>
            <a:r>
              <a:rPr b="1"/>
              <a:t>SAY:</a:t>
            </a:r>
            <a:r>
              <a:t> This "promisify" pattern is how promise-based APIs are built on top of older callback APIs. Node ships util.promisify for this, and most modern APIs return promises directly.</a:t>
            </a:r>
          </a:p>
          <a:p>
            <a:r>
              <a:rPr b="1"/>
              <a:t>DEMO:</a:t>
            </a:r>
            <a:r>
              <a:t> demos/callback-vs-promise/promisify.js</a:t>
            </a:r>
          </a:p>
        </p:txBody>
      </p:sp>
      <p:sp>
        <p:nvSpPr>
          <p:cNvPr id="4" name="Slide Number Placeholder 3"/>
          <p:cNvSpPr>
            <a:spLocks noGrp="1"/>
          </p:cNvSpPr>
          <p:nvPr>
            <p:ph type="sldNum" sz="quarter" idx="10"/>
          </p:nvPr>
        </p:nvSpPr>
        <p:spPr/>
        <p:txBody>
          <a:bodyPr/>
          <a:lstStyle/>
          <a:p>
            <a:fld id="{71770EAF-1B7F-084E-BE5F-E1B515CBCD96}" type="slidenum">
              <a:rPr lang="en-US" smtClean="0"/>
              <a:t>306</a:t>
            </a:fld>
            <a:endParaRPr lang="en-US"/>
          </a:p>
        </p:txBody>
      </p:sp>
    </p:spTree>
    <p:extLst>
      <p:ext uri="{BB962C8B-B14F-4D97-AF65-F5344CB8AC3E}">
        <p14:creationId xmlns:p14="http://schemas.microsoft.com/office/powerpoint/2010/main" val="557778482"/>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async/await is syntax over promises. An async function returns a promise of whatever you return. Inside it, await waits for a promise and gives you its value, or throws if it rejects, so you handle errors with ordinary try/catch.</a:t>
            </a:r>
            <a:endParaRPr lang="en-US"/>
          </a:p>
          <a:p>
            <a:r>
              <a:rPr b="1"/>
              <a:t>KEY POINT:</a:t>
            </a:r>
            <a:r>
              <a:t> This is the style used throughout the course: onMounted(async () =&gt; { articles.value = await fetchArticles() }) and the async actions in Pinia.</a:t>
            </a:r>
          </a:p>
          <a:p>
            <a:r>
              <a:rPr b="1"/>
              <a:t>WATCH FOR:</a:t>
            </a:r>
            <a:r>
              <a:t> fetch only rejects on network failures. A 404 or 500 still resolves, so check response.ok. axios, which Conduit uses, does reject on error status codes.</a:t>
            </a:r>
          </a:p>
          <a:p>
            <a:r>
              <a:rPr b="1"/>
              <a:t>DEMO:</a:t>
            </a:r>
            <a:r>
              <a:t> demos/callback-vs-promise/async-await.js</a:t>
            </a:r>
          </a:p>
        </p:txBody>
      </p:sp>
      <p:sp>
        <p:nvSpPr>
          <p:cNvPr id="4" name="Slide Number Placeholder 3"/>
          <p:cNvSpPr>
            <a:spLocks noGrp="1"/>
          </p:cNvSpPr>
          <p:nvPr>
            <p:ph type="sldNum" sz="quarter" idx="10"/>
          </p:nvPr>
        </p:nvSpPr>
        <p:spPr/>
        <p:txBody>
          <a:bodyPr/>
          <a:lstStyle/>
          <a:p>
            <a:fld id="{71770EAF-1B7F-084E-BE5F-E1B515CBCD96}" type="slidenum">
              <a:rPr lang="en-US" smtClean="0"/>
              <a:t>307</a:t>
            </a:fld>
            <a:endParaRPr lang="en-US"/>
          </a:p>
        </p:txBody>
      </p:sp>
    </p:spTree>
    <p:extLst>
      <p:ext uri="{BB962C8B-B14F-4D97-AF65-F5344CB8AC3E}">
        <p14:creationId xmlns:p14="http://schemas.microsoft.com/office/powerpoint/2010/main" val="1005821368"/>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SAY:</a:t>
            </a:r>
            <a:r>
              <a:t> Thank you for attending. Please fill out the course evaluation; comments and suggestions also go to info@watzthis.com.</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308</a:t>
            </a:fld>
            <a:endParaRPr lang="en-US"/>
          </a:p>
        </p:txBody>
      </p:sp>
    </p:spTree>
    <p:extLst>
      <p:ext uri="{BB962C8B-B14F-4D97-AF65-F5344CB8AC3E}">
        <p14:creationId xmlns:p14="http://schemas.microsoft.com/office/powerpoint/2010/main" val="191912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25F646F-033F-1748-97FB-121FF7B0AB7B}"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29050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95CB-DAFD-3741-B8F7-0A5E29CF42BA}"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77876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F5C7B-CB25-844F-9EFA-9A5B3F0CB86D}"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0981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A85C3-53E4-6B4D-B0DC-5BE64C2C5A85}" type="datetime1">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077248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86E174-3C22-E147-A23B-E7CA1747639F}" type="datetime1">
              <a:rPr lang="en-US" smtClean="0"/>
              <a:t>10/9/26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92146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507EB9-4FAB-9441-9E03-D59CCF45D6A9}" type="datetime1">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676022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EC5346-CA92-1F4B-B2A7-7A87B82059AB}" type="datetime1">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63411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C1570-81BA-E740-9C1F-FA9AA3519B73}" type="datetime1">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400998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1BC76-A7A1-8D4B-BCA4-7D6B806BFF73}" type="datetime1">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798025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57A72-B409-764A-A778-F6E26613E8CC}"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154931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95B196-62D3-7749-B654-1205E9B923FC}"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26778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22BEE-09DA-B244-8270-9B0B8F19578C}" type="datetime1">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39F4A7-500C-EC42-AE23-BEE4487EA55E}" type="slidenum">
              <a:rPr lang="en-US" smtClean="0"/>
              <a:t>‹#›</a:t>
            </a:fld>
            <a:endParaRPr lang="en-US"/>
          </a:p>
        </p:txBody>
      </p:sp>
    </p:spTree>
    <p:extLst>
      <p:ext uri="{BB962C8B-B14F-4D97-AF65-F5344CB8AC3E}">
        <p14:creationId xmlns:p14="http://schemas.microsoft.com/office/powerpoint/2010/main" val="1995058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e Layout">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D11AA4E-DE16-4647-B6F1-9E96FAC1B606}" type="datetime1">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 Placeholder 6"/>
          <p:cNvSpPr>
            <a:spLocks noGrp="1"/>
          </p:cNvSpPr>
          <p:nvPr>
            <p:ph type="body" sz="quarter" idx="13" hasCustomPrompt="1"/>
          </p:nvPr>
        </p:nvSpPr>
        <p:spPr>
          <a:xfrm>
            <a:off x="457200" y="1628775"/>
            <a:ext cx="8229600" cy="4527550"/>
          </a:xfrm>
        </p:spPr>
        <p:txBody>
          <a:bodyPr>
            <a:normAutofit/>
          </a:bodyPr>
          <a:lstStyle>
            <a:lvl1pPr marL="0" indent="0">
              <a:buFont typeface="Lucida Grande"/>
              <a:buNone/>
              <a:defRPr sz="2000" baseline="0">
                <a:latin typeface="Courier New"/>
                <a:cs typeface="Courier New"/>
              </a:defRPr>
            </a:lvl1pPr>
            <a:lvl2pPr marL="457200" indent="0">
              <a:buFont typeface="Lucida Grande"/>
              <a:buNone/>
              <a:defRPr sz="2000">
                <a:latin typeface="Courier New"/>
                <a:cs typeface="Courier New"/>
              </a:defRPr>
            </a:lvl2pPr>
            <a:lvl3pPr marL="914400" indent="0">
              <a:buFont typeface="Arial"/>
              <a:buNone/>
              <a:defRPr sz="2000">
                <a:latin typeface="Courier New"/>
                <a:cs typeface="Courier New"/>
              </a:defRPr>
            </a:lvl3pPr>
            <a:lvl4pPr marL="1714500" indent="-342900">
              <a:buFont typeface="Lucida Grande"/>
              <a:buChar char="$"/>
              <a:defRPr>
                <a:latin typeface="Courier New"/>
                <a:cs typeface="Courier New"/>
              </a:defRPr>
            </a:lvl4pPr>
            <a:lvl5pPr marL="2171700" indent="-342900">
              <a:buFont typeface="Lucida Grande"/>
              <a:buChar char="$"/>
              <a:defRPr>
                <a:latin typeface="Courier New"/>
                <a:cs typeface="Courier New"/>
              </a:defRPr>
            </a:lvl5pPr>
            <a:lvl6pPr marL="2514600" indent="-228600">
              <a:buFont typeface="Lucida Grande"/>
              <a:buChar char="$"/>
              <a:defRPr/>
            </a:lvl6pPr>
          </a:lstStyle>
          <a:p>
            <a:pPr lvl="0"/>
            <a:r>
              <a:rPr lang="en-US"/>
              <a:t>&lt;html&gt;</a:t>
            </a:r>
          </a:p>
          <a:p>
            <a:pPr lvl="0"/>
            <a:r>
              <a:rPr lang="en-US"/>
              <a:t>	&lt;head&gt;</a:t>
            </a:r>
          </a:p>
          <a:p>
            <a:pPr lvl="0"/>
            <a:r>
              <a:rPr lang="en-US"/>
              <a:t>		&lt;title&gt;Test Page&lt;/title&gt;</a:t>
            </a:r>
          </a:p>
          <a:p>
            <a:pPr lvl="0"/>
            <a:r>
              <a:rPr lang="en-US"/>
              <a:t>	&lt;/head&gt;</a:t>
            </a:r>
          </a:p>
          <a:p>
            <a:pPr lvl="0"/>
            <a:r>
              <a:rPr lang="en-US"/>
              <a:t>	&lt;body&gt;</a:t>
            </a:r>
          </a:p>
          <a:p>
            <a:pPr lvl="0"/>
            <a:r>
              <a:rPr lang="en-US"/>
              <a:t>		&lt;p&gt;Hello, World!&lt;/p&gt;</a:t>
            </a:r>
          </a:p>
          <a:p>
            <a:pPr lvl="0"/>
            <a:r>
              <a:rPr lang="en-US"/>
              <a:t>	&lt;/body&gt;</a:t>
            </a:r>
          </a:p>
          <a:p>
            <a:pPr lvl="0"/>
            <a:r>
              <a:rPr lang="en-US"/>
              <a:t>&lt;/html&gt;</a:t>
            </a:r>
          </a:p>
        </p:txBody>
      </p:sp>
      <p:sp>
        <p:nvSpPr>
          <p:cNvPr id="9" name="Title 8"/>
          <p:cNvSpPr>
            <a:spLocks noGrp="1"/>
          </p:cNvSpPr>
          <p:nvPr>
            <p:ph type="title" hasCustomPrompt="1"/>
          </p:nvPr>
        </p:nvSpPr>
        <p:spPr/>
        <p:txBody>
          <a:bodyPr/>
          <a:lstStyle>
            <a:lvl1pPr>
              <a:defRPr baseline="0"/>
            </a:lvl1pPr>
          </a:lstStyle>
          <a:p>
            <a:r>
              <a:rPr lang="en-US"/>
              <a:t>Code</a:t>
            </a:r>
          </a:p>
        </p:txBody>
      </p:sp>
    </p:spTree>
    <p:extLst>
      <p:ext uri="{BB962C8B-B14F-4D97-AF65-F5344CB8AC3E}">
        <p14:creationId xmlns:p14="http://schemas.microsoft.com/office/powerpoint/2010/main" val="320134617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8229600" cy="620728"/>
          </a:xfrm>
          <a:solidFill>
            <a:schemeClr val="tx1"/>
          </a:solidFill>
        </p:spPr>
        <p:txBody>
          <a:bodyPr/>
          <a:lstStyle>
            <a:lvl1pPr>
              <a:defRPr>
                <a:solidFill>
                  <a:schemeClr val="bg1"/>
                </a:solidFill>
              </a:defRPr>
            </a:lvl1pPr>
          </a:lstStyle>
          <a:p>
            <a:r>
              <a:rPr lang="en-US" dirty="0"/>
              <a:t>Objectives</a:t>
            </a:r>
          </a:p>
        </p:txBody>
      </p:sp>
      <p:sp>
        <p:nvSpPr>
          <p:cNvPr id="3" name="Date Placeholder 2"/>
          <p:cNvSpPr>
            <a:spLocks noGrp="1"/>
          </p:cNvSpPr>
          <p:nvPr>
            <p:ph type="dt" sz="half" idx="10"/>
          </p:nvPr>
        </p:nvSpPr>
        <p:spPr/>
        <p:txBody>
          <a:bodyPr/>
          <a:lstStyle/>
          <a:p>
            <a:fld id="{D4250B97-8A49-D240-8725-6807B97AC2AC}" type="datetime1">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Box 6"/>
          <p:cNvSpPr txBox="1"/>
          <p:nvPr userDrawn="1"/>
        </p:nvSpPr>
        <p:spPr>
          <a:xfrm>
            <a:off x="2280137" y="1352184"/>
            <a:ext cx="4572000" cy="4572000"/>
          </a:xfrm>
          <a:prstGeom prst="rect">
            <a:avLst/>
          </a:prstGeom>
          <a:noFill/>
          <a:ln>
            <a:solidFill>
              <a:schemeClr val="tx1"/>
            </a:solidFill>
          </a:ln>
        </p:spPr>
        <p:txBody>
          <a:bodyPr wrap="square" rtlCol="0">
            <a:normAutofit/>
          </a:bodyPr>
          <a:lstStyle/>
          <a:p>
            <a:pPr marL="285750" indent="-285750">
              <a:buFont typeface="Arial"/>
              <a:buChar char="•"/>
            </a:pPr>
            <a:r>
              <a:rPr lang="en-US"/>
              <a:t>item 1</a:t>
            </a:r>
          </a:p>
          <a:p>
            <a:pPr marL="285750" indent="-285750">
              <a:buFont typeface="Arial"/>
              <a:buChar char="•"/>
            </a:pPr>
            <a:r>
              <a:rPr lang="en-US"/>
              <a:t>item</a:t>
            </a:r>
            <a:r>
              <a:rPr lang="en-US" baseline="0"/>
              <a:t> 2</a:t>
            </a:r>
          </a:p>
          <a:p>
            <a:pPr marL="285750" indent="-285750">
              <a:buFont typeface="Arial"/>
              <a:buChar char="•"/>
            </a:pPr>
            <a:r>
              <a:rPr lang="en-US" baseline="0"/>
              <a:t>item 3</a:t>
            </a:r>
          </a:p>
          <a:p>
            <a:pPr marL="285750" indent="-285750">
              <a:buFont typeface="Arial"/>
              <a:buChar char="•"/>
            </a:pPr>
            <a:r>
              <a:rPr lang="en-US" baseline="0"/>
              <a:t>item 4</a:t>
            </a:r>
          </a:p>
          <a:p>
            <a:pPr marL="285750" indent="-285750">
              <a:buFont typeface="Arial"/>
              <a:buChar char="•"/>
            </a:pPr>
            <a:r>
              <a:rPr lang="en-US" baseline="0"/>
              <a:t>item 5</a:t>
            </a:r>
          </a:p>
          <a:p>
            <a:pPr marL="285750" indent="-285750">
              <a:buFont typeface="Arial"/>
              <a:buChar char="•"/>
            </a:pPr>
            <a:endParaRPr lang="en-US"/>
          </a:p>
        </p:txBody>
      </p:sp>
    </p:spTree>
    <p:extLst>
      <p:ext uri="{BB962C8B-B14F-4D97-AF65-F5344CB8AC3E}">
        <p14:creationId xmlns:p14="http://schemas.microsoft.com/office/powerpoint/2010/main" val="1046329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Slide (No Footer)">
    <p:spTree>
      <p:nvGrpSpPr>
        <p:cNvPr id="1" name=""/>
        <p:cNvGrpSpPr/>
        <p:nvPr/>
      </p:nvGrpSpPr>
      <p:grpSpPr>
        <a:xfrm>
          <a:off x="0" y="0"/>
          <a:ext cx="0" cy="0"/>
          <a:chOff x="0" y="0"/>
          <a:chExt cx="0" cy="0"/>
        </a:xfrm>
      </p:grpSpPr>
      <p:sp>
        <p:nvSpPr>
          <p:cNvPr id="6" name="Content"/>
          <p:cNvSpPr>
            <a:spLocks noGrp="1"/>
          </p:cNvSpPr>
          <p:nvPr>
            <p:ph sz="quarter" idx="12"/>
          </p:nvPr>
        </p:nvSpPr>
        <p:spPr>
          <a:xfrm>
            <a:off x="189310" y="1335654"/>
            <a:ext cx="8761809" cy="52937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735140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de Slide">
    <p:spTree>
      <p:nvGrpSpPr>
        <p:cNvPr id="1" name=""/>
        <p:cNvGrpSpPr/>
        <p:nvPr/>
      </p:nvGrpSpPr>
      <p:grpSpPr>
        <a:xfrm>
          <a:off x="0" y="0"/>
          <a:ext cx="0" cy="0"/>
          <a:chOff x="0" y="0"/>
          <a:chExt cx="0" cy="0"/>
        </a:xfrm>
      </p:grpSpPr>
      <p:sp>
        <p:nvSpPr>
          <p:cNvPr id="8" name="Slide Number Placeholder"/>
          <p:cNvSpPr>
            <a:spLocks noGrp="1"/>
          </p:cNvSpPr>
          <p:nvPr>
            <p:ph type="sldNum" sz="quarter" idx="4"/>
          </p:nvPr>
        </p:nvSpPr>
        <p:spPr>
          <a:xfrm>
            <a:off x="6618716" y="6319468"/>
            <a:ext cx="578238" cy="365125"/>
          </a:xfrm>
          <a:prstGeom prst="rect">
            <a:avLst/>
          </a:prstGeom>
        </p:spPr>
        <p:txBody>
          <a:bodyPr vert="horz" lIns="91440" tIns="45720" rIns="91440" bIns="45720" rtlCol="0" anchor="ctr"/>
          <a:lstStyle>
            <a:lvl1pPr algn="r">
              <a:defRPr sz="900">
                <a:solidFill>
                  <a:schemeClr val="bg1"/>
                </a:solidFill>
              </a:defRPr>
            </a:lvl1pPr>
          </a:lstStyle>
          <a:p>
            <a:fld id="{7F5CE407-6216-4202-80E4-A30DC2F709B2}" type="slidenum">
              <a:rPr lang="en-US" smtClean="0"/>
              <a:pPr/>
              <a:t>‹#›</a:t>
            </a:fld>
            <a:endParaRPr lang="en-US"/>
          </a:p>
        </p:txBody>
      </p:sp>
      <p:sp>
        <p:nvSpPr>
          <p:cNvPr id="7" name="Date Placeholder"/>
          <p:cNvSpPr>
            <a:spLocks noGrp="1"/>
          </p:cNvSpPr>
          <p:nvPr>
            <p:ph type="dt" sz="half" idx="2"/>
          </p:nvPr>
        </p:nvSpPr>
        <p:spPr>
          <a:xfrm>
            <a:off x="5616077" y="6319468"/>
            <a:ext cx="995340" cy="365125"/>
          </a:xfrm>
          <a:prstGeom prst="rect">
            <a:avLst/>
          </a:prstGeom>
        </p:spPr>
        <p:txBody>
          <a:bodyPr vert="horz" lIns="91440" tIns="45720" rIns="91440" bIns="45720" rtlCol="0" anchor="ctr"/>
          <a:lstStyle>
            <a:lvl1pPr algn="r">
              <a:defRPr sz="750">
                <a:solidFill>
                  <a:schemeClr val="bg1"/>
                </a:solidFill>
              </a:defRPr>
            </a:lvl1pPr>
          </a:lstStyle>
          <a:p>
            <a:fld id="{B01F9CA3-105E-4857-9057-6DB6197DA786}" type="datetimeFigureOut">
              <a:rPr lang="en-US" smtClean="0"/>
              <a:pPr/>
              <a:t>10/9/26</a:t>
            </a:fld>
            <a:endParaRPr lang="en-US"/>
          </a:p>
        </p:txBody>
      </p:sp>
      <p:sp>
        <p:nvSpPr>
          <p:cNvPr id="3" name="Code Content"/>
          <p:cNvSpPr>
            <a:spLocks noGrp="1"/>
          </p:cNvSpPr>
          <p:nvPr>
            <p:ph type="body" sz="quarter" idx="10" hasCustomPrompt="1"/>
          </p:nvPr>
        </p:nvSpPr>
        <p:spPr>
          <a:xfrm>
            <a:off x="189780" y="1335654"/>
            <a:ext cx="8761270" cy="4836547"/>
          </a:xfrm>
        </p:spPr>
        <p:txBody>
          <a:bodyPr/>
          <a:lstStyle>
            <a:lvl1pPr marL="0" marR="0" indent="0" algn="l" defTabSz="685766" rtl="0" eaLnBrk="1" fontAlgn="auto" latinLnBrk="0" hangingPunct="1">
              <a:lnSpc>
                <a:spcPct val="100000"/>
              </a:lnSpc>
              <a:spcBef>
                <a:spcPts val="450"/>
              </a:spcBef>
              <a:spcAft>
                <a:spcPts val="0"/>
              </a:spcAft>
              <a:buClr>
                <a:schemeClr val="accent1"/>
              </a:buClr>
              <a:buSzPct val="110000"/>
              <a:buFont typeface="Wingdings 2" pitchFamily="18" charset="2"/>
              <a:buNone/>
              <a:tabLst/>
              <a:defRPr lang="en-US" sz="1350" kern="1200" baseline="0" dirty="0" smtClean="0">
                <a:solidFill>
                  <a:schemeClr val="accent1"/>
                </a:solidFill>
                <a:latin typeface="Consolas" panose="020B0609020204030204" pitchFamily="49" charset="0"/>
                <a:ea typeface="+mn-ea"/>
                <a:cs typeface="Consolas" panose="020B0609020204030204" pitchFamily="49" charset="0"/>
              </a:defRPr>
            </a:lvl1pPr>
          </a:lstStyle>
          <a:p>
            <a:pPr marL="0" marR="0" lvl="0" indent="0" algn="l" defTabSz="685766" rtl="0" eaLnBrk="1" fontAlgn="auto" latinLnBrk="0" hangingPunct="1">
              <a:lnSpc>
                <a:spcPct val="100000"/>
              </a:lnSpc>
              <a:spcBef>
                <a:spcPts val="0"/>
              </a:spcBef>
              <a:spcAft>
                <a:spcPts val="0"/>
              </a:spcAft>
              <a:buClr>
                <a:schemeClr val="accent1"/>
              </a:buClr>
              <a:buSzPct val="110000"/>
              <a:buFont typeface="Wingdings 2" pitchFamily="18" charset="2"/>
              <a:buNone/>
              <a:tabLst/>
              <a:defRPr/>
            </a:pPr>
            <a:r>
              <a:rPr lang="en-US" dirty="0"/>
              <a:t>// Insert code</a:t>
            </a:r>
          </a:p>
          <a:p>
            <a:pPr lvl="0"/>
            <a:endParaRPr lang="en-US" dirty="0"/>
          </a:p>
        </p:txBody>
      </p:sp>
      <p:sp>
        <p:nvSpPr>
          <p:cNvPr id="5" name="Title"/>
          <p:cNvSpPr>
            <a:spLocks noGrp="1"/>
          </p:cNvSpPr>
          <p:nvPr>
            <p:ph type="title"/>
          </p:nvPr>
        </p:nvSpPr>
        <p:spPr>
          <a:xfrm>
            <a:off x="189780" y="0"/>
            <a:ext cx="8761270" cy="1257300"/>
          </a:xfrm>
          <a:prstGeom prst="rect">
            <a:avLst/>
          </a:prstGeom>
        </p:spPr>
        <p:txBody>
          <a:bodyPr vert="horz" lIns="91440" tIns="45720" rIns="91440" bIns="45720" rtlCol="0" anchor="ctr" anchorCtr="0">
            <a:noAutofit/>
          </a:bodyPr>
          <a:lstStyle>
            <a:lvl1pPr>
              <a:defRPr baseline="0"/>
            </a:lvl1pPr>
          </a:lstStyle>
          <a:p>
            <a:r>
              <a:rPr lang="en-US"/>
              <a:t>Click to edit Master title style</a:t>
            </a:r>
            <a:endParaRPr dirty="0"/>
          </a:p>
        </p:txBody>
      </p:sp>
    </p:spTree>
    <p:extLst>
      <p:ext uri="{BB962C8B-B14F-4D97-AF65-F5344CB8AC3E}">
        <p14:creationId xmlns:p14="http://schemas.microsoft.com/office/powerpoint/2010/main" val="4271679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50B97-8A49-D240-8725-6807B97AC2AC}" type="datetime1">
              <a:rPr lang="en-US" smtClean="0"/>
              <a:t>10/9/26</a:t>
            </a:fld>
            <a:endParaRPr lang="en-US"/>
          </a:p>
        </p:txBody>
      </p:sp>
      <p:sp>
        <p:nvSpPr>
          <p:cNvPr id="5" name="Footer Placeholder 4"/>
          <p:cNvSpPr>
            <a:spLocks noGrp="1"/>
          </p:cNvSpPr>
          <p:nvPr>
            <p:ph type="ftr" sz="quarter" idx="3"/>
          </p:nvPr>
        </p:nvSpPr>
        <p:spPr>
          <a:xfrm>
            <a:off x="3124200" y="6356350"/>
            <a:ext cx="2895600" cy="365125"/>
          </a:xfrm>
          <a:prstGeom prst="rect">
            <a:avLst/>
          </a:prstGeom>
          <a:ln>
            <a:solidFill>
              <a:srgbClr val="4F81BD"/>
            </a:solidFill>
          </a:ln>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FF67E-EC6A-B940-8DC7-BF9A5925C934}" type="slidenum">
              <a:rPr lang="en-US" smtClean="0"/>
              <a:t>‹#›</a:t>
            </a:fld>
            <a:endParaRPr lang="en-US"/>
          </a:p>
        </p:txBody>
      </p:sp>
    </p:spTree>
    <p:extLst>
      <p:ext uri="{BB962C8B-B14F-4D97-AF65-F5344CB8AC3E}">
        <p14:creationId xmlns:p14="http://schemas.microsoft.com/office/powerpoint/2010/main" val="289136479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9" r:id="rId13"/>
    <p:sldLayoutId id="2147483730" r:id="rId14"/>
    <p:sldLayoutId id="2147483732" r:id="rId15"/>
    <p:sldLayoutId id="2147483733" r:id="rId16"/>
  </p:sldLayoutIdLst>
  <p:hf hdr="0" ftr="0" dt="0"/>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6.xml"/></Relationships>
</file>

<file path=ppt/slides/_rels/slide1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6.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6.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3.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6.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13.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2.xml"/><Relationship Id="rId1" Type="http://schemas.openxmlformats.org/officeDocument/2006/relationships/slideLayout" Target="../slideLayouts/slideLayout4.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13.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3.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3.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13.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5.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5.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12.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73.xml"/><Relationship Id="rId1" Type="http://schemas.openxmlformats.org/officeDocument/2006/relationships/slideLayout" Target="../slideLayouts/slideLayout1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276.xml"/><Relationship Id="rId1" Type="http://schemas.openxmlformats.org/officeDocument/2006/relationships/slideLayout" Target="../slideLayouts/slideLayout5.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13.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85.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3.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301.xml"/><Relationship Id="rId1" Type="http://schemas.openxmlformats.org/officeDocument/2006/relationships/slideLayout" Target="../slideLayouts/slideLayout3.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302.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303.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304.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305.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306.xml"/><Relationship Id="rId1" Type="http://schemas.openxmlformats.org/officeDocument/2006/relationships/slideLayout" Target="../slideLayouts/slideLayout13.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13.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30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246120"/>
            <a:ext cx="8229600" cy="914400"/>
          </a:xfrm>
        </p:spPr>
        <p:txBody>
          <a:bodyPr wrap="square" lIns="0" tIns="0" rIns="0" bIns="0" anchor="ctr">
            <a:noAutofit/>
          </a:bodyPr>
          <a:lstStyle/>
          <a:p>
            <a:pPr marL="0" indent="0" algn="ctr">
              <a:buNone/>
            </a:pPr>
            <a:r>
              <a:rPr sz="4000" b="1" i="0" cap="none">
                <a:solidFill>
                  <a:srgbClr val="2C3E50"/>
                </a:solidFill>
              </a:rPr>
              <a:t>Professional Vue.js Development</a:t>
            </a:r>
          </a:p>
        </p:txBody>
      </p:sp>
      <p:pic>
        <p:nvPicPr>
          <p:cNvPr id="5" name="Picture 4">
            <a:extLst>
              <a:ext uri="{FF2B5EF4-FFF2-40B4-BE49-F238E27FC236}">
                <a16:creationId xmlns:a16="http://schemas.microsoft.com/office/drawing/2014/main" id="{F19B6D48-5C4A-3545-6AFC-E6EE2F06A53F}"/>
              </a:ext>
            </a:extLst>
          </p:cNvPr>
          <p:cNvPicPr>
            <a:picLocks noChangeAspect="1"/>
          </p:cNvPicPr>
          <p:nvPr/>
        </p:nvPicPr>
        <p:blipFill>
          <a:blip r:embed="rId3"/>
          <a:stretch>
            <a:fillRect/>
          </a:stretch>
        </p:blipFill>
        <p:spPr>
          <a:xfrm>
            <a:off x="3474720" y="822960"/>
            <a:ext cx="2194560" cy="2194560"/>
          </a:xfrm>
          <a:prstGeom prst="rect">
            <a:avLst/>
          </a:prstGeom>
        </p:spPr>
      </p:pic>
      <p:sp>
        <p:nvSpPr>
          <p:cNvPr id="6" name="Subtitle"/>
          <p:cNvSpPr txBox="1"/>
          <p:nvPr/>
        </p:nvSpPr>
        <p:spPr>
          <a:xfrm>
            <a:off x="457200" y="4297680"/>
            <a:ext cx="8229600" cy="1463040"/>
          </a:xfrm>
          <a:prstGeom prst="rect">
            <a:avLst/>
          </a:prstGeom>
          <a:noFill/>
        </p:spPr>
        <p:txBody>
          <a:bodyPr wrap="square" lIns="0" tIns="0" rIns="0" bIns="0">
            <a:noAutofit/>
          </a:bodyPr>
          <a:lstStyle/>
          <a:p>
            <a:pPr algn="ctr">
              <a:spcAft>
                <a:spcPts val="600"/>
              </a:spcAft>
            </a:pPr>
            <a:r>
              <a:rPr sz="2000" b="1" i="0">
                <a:solidFill>
                  <a:srgbClr val="2E8B62"/>
                </a:solidFill>
              </a:rPr>
              <a:t>Vue 3 · Composition API · Vite · Pinia · Vitest</a:t>
            </a:r>
          </a:p>
          <a:p>
            <a:pPr algn="ctr">
              <a:spcAft>
                <a:spcPts val="600"/>
              </a:spcAft>
            </a:pPr>
            <a:r>
              <a:rPr sz="1400" b="0" i="0">
                <a:solidFill>
                  <a:srgbClr val="6B7B8C"/>
                </a:solidFill>
              </a:rPr>
              <a:t>Version 2.2  ·  © 2026 Chris Minnick  ·  WatzThis?</a:t>
            </a:r>
          </a:p>
        </p:txBody>
      </p:sp>
    </p:spTree>
    <p:extLst>
      <p:ext uri="{BB962C8B-B14F-4D97-AF65-F5344CB8AC3E}">
        <p14:creationId xmlns:p14="http://schemas.microsoft.com/office/powerpoint/2010/main" val="2814126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672F-CAB2-B246-85D3-E9469D5F0B04}"/>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3400" b="1" i="0" cap="none">
                <a:solidFill>
                  <a:srgbClr val="FFFFFF"/>
                </a:solidFill>
              </a:rPr>
              <a:t>Introduction and Vue Quickstart</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Who we are, what Vue is, and your first Vite project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a:t>
            </a:fld>
            <a:endParaRPr lang="en-US" sz="900">
              <a:solidFill>
                <a:srgbClr val="9FB3C4"/>
              </a:solidFill>
            </a:endParaRPr>
          </a:p>
        </p:txBody>
      </p:sp>
    </p:spTree>
    <p:extLst>
      <p:ext uri="{BB962C8B-B14F-4D97-AF65-F5344CB8AC3E}">
        <p14:creationId xmlns:p14="http://schemas.microsoft.com/office/powerpoint/2010/main" val="3118429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lvl="0" indent="0" algn="l" rtl="0">
              <a:buNone/>
            </a:pPr>
            <a:r>
              <a:rPr sz="4000" b="1" i="0" cap="none">
                <a:solidFill>
                  <a:srgbClr val="FFFFFF"/>
                </a:solidFill>
              </a:rPr>
              <a:t>Introduction</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Body"/>
          <p:cNvSpPr txBox="1"/>
          <p:nvPr/>
        </p:nvSpPr>
        <p:spPr>
          <a:xfrm>
            <a:off x="731520" y="2148840"/>
            <a:ext cx="7680960" cy="2340610"/>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Who am I?</a:t>
            </a:r>
          </a:p>
          <a:p>
            <a:pPr marL="274320" indent="-256032">
              <a:spcAft>
                <a:spcPts val="990"/>
              </a:spcAft>
              <a:buClr>
                <a:srgbClr val="42B883"/>
              </a:buClr>
              <a:buSzPct val="100000"/>
              <a:buFont typeface="Arial"/>
              <a:buChar char="•"/>
            </a:pPr>
            <a:r>
              <a:rPr sz="2200" b="0" i="0">
                <a:solidFill>
                  <a:srgbClr val="FFFFFF"/>
                </a:solidFill>
              </a:rPr>
              <a:t>Who are you?</a:t>
            </a:r>
          </a:p>
          <a:p>
            <a:pPr marL="274320" indent="-256032">
              <a:spcAft>
                <a:spcPts val="990"/>
              </a:spcAft>
              <a:buClr>
                <a:srgbClr val="42B883"/>
              </a:buClr>
              <a:buSzPct val="100000"/>
              <a:buFont typeface="Arial"/>
              <a:buChar char="•"/>
            </a:pPr>
            <a:r>
              <a:rPr sz="2200" b="0" i="0">
                <a:solidFill>
                  <a:srgbClr val="FFFFFF"/>
                </a:solidFill>
              </a:rPr>
              <a:t>Daily schedule</a:t>
            </a:r>
          </a:p>
          <a:p>
            <a:pPr marL="274320" indent="-256032">
              <a:spcAft>
                <a:spcPts val="990"/>
              </a:spcAft>
              <a:buClr>
                <a:srgbClr val="42B883"/>
              </a:buClr>
              <a:buSzPct val="100000"/>
              <a:buFont typeface="Arial"/>
              <a:buChar char="•"/>
            </a:pPr>
            <a:r>
              <a:rPr sz="2200" b="0" i="0">
                <a:solidFill>
                  <a:srgbClr val="FFFFFF"/>
                </a:solidFill>
              </a:rPr>
              <a:t>Course schedule and syllabus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3</a:t>
            </a:fld>
            <a:endParaRPr lang="en-US" sz="900">
              <a:solidFill>
                <a:srgbClr val="9FB3C4"/>
              </a:solidFill>
            </a:endParaRPr>
          </a:p>
        </p:txBody>
      </p:sp>
    </p:spTree>
    <p:extLst>
      <p:ext uri="{BB962C8B-B14F-4D97-AF65-F5344CB8AC3E}">
        <p14:creationId xmlns:p14="http://schemas.microsoft.com/office/powerpoint/2010/main" val="8142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79E5C8-ACE7-2D48-A75B-84159CF001C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About Me</a:t>
            </a:r>
          </a:p>
        </p:txBody>
      </p:sp>
      <p:sp>
        <p:nvSpPr>
          <p:cNvPr id="6" name="Body"/>
          <p:cNvSpPr txBox="1"/>
          <p:nvPr/>
        </p:nvSpPr>
        <p:spPr>
          <a:xfrm>
            <a:off x="457200" y="1261872"/>
            <a:ext cx="8229600" cy="337629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Chris Minnick</a:t>
            </a:r>
            <a:r>
              <a:rPr sz="2200" b="0" i="0">
                <a:solidFill>
                  <a:srgbClr val="1F2A36"/>
                </a:solidFill>
              </a:rPr>
              <a:t> — author, trainer, developer</a:t>
            </a:r>
          </a:p>
          <a:p>
            <a:pPr marL="274320" indent="-256032">
              <a:spcAft>
                <a:spcPts val="990"/>
              </a:spcAft>
              <a:buClr>
                <a:srgbClr val="42B883"/>
              </a:buClr>
              <a:buSzPct val="100000"/>
              <a:buFont typeface="Arial"/>
              <a:buChar char="•"/>
            </a:pPr>
            <a:r>
              <a:rPr sz="2200" b="0" i="0">
                <a:solidFill>
                  <a:srgbClr val="1F2A36"/>
                </a:solidFill>
              </a:rPr>
              <a:t>Teaching programming since 2000</a:t>
            </a:r>
          </a:p>
          <a:p>
            <a:pPr marL="274320" indent="-256032">
              <a:spcAft>
                <a:spcPts val="990"/>
              </a:spcAft>
              <a:buClr>
                <a:srgbClr val="42B883"/>
              </a:buClr>
              <a:buSzPct val="100000"/>
              <a:buFont typeface="Arial"/>
              <a:buChar char="•"/>
            </a:pPr>
            <a:r>
              <a:rPr sz="2200" b="0" i="0">
                <a:solidFill>
                  <a:srgbClr val="1F2A36"/>
                </a:solidFill>
              </a:rPr>
              <a:t>Teaching AI since 2023</a:t>
            </a:r>
          </a:p>
          <a:p>
            <a:pPr marL="274320" indent="-256032">
              <a:spcAft>
                <a:spcPts val="990"/>
              </a:spcAft>
              <a:buClr>
                <a:srgbClr val="42B883"/>
              </a:buClr>
              <a:buSzPct val="100000"/>
              <a:buFont typeface="Arial"/>
              <a:buChar char="•"/>
            </a:pPr>
            <a:r>
              <a:rPr sz="2200" b="0" i="0">
                <a:solidFill>
                  <a:srgbClr val="1F2A36"/>
                </a:solidFill>
              </a:rPr>
              <a:t>Author of over 25 books and numerous courses on programming and AI</a:t>
            </a:r>
          </a:p>
          <a:p>
            <a:pPr marL="566928" indent="-256032">
              <a:spcAft>
                <a:spcPts val="855"/>
              </a:spcAft>
              <a:buClr>
                <a:srgbClr val="6B7B8C"/>
              </a:buClr>
              <a:buSzPct val="100000"/>
              <a:buFont typeface="Arial"/>
              <a:buChar char="–"/>
            </a:pPr>
            <a:r>
              <a:rPr sz="1900" b="0" i="1">
                <a:solidFill>
                  <a:srgbClr val="3A4A5A"/>
                </a:solidFill>
              </a:rPr>
              <a:t>JavaScript All-in-One For Dummies</a:t>
            </a:r>
            <a:r>
              <a:rPr sz="1900" b="0" i="0">
                <a:solidFill>
                  <a:srgbClr val="3A4A5A"/>
                </a:solidFill>
              </a:rPr>
              <a:t>, </a:t>
            </a:r>
            <a:r>
              <a:rPr sz="1900" b="0" i="1">
                <a:solidFill>
                  <a:srgbClr val="3A4A5A"/>
                </a:solidFill>
              </a:rPr>
              <a:t>ReactJS Foundations</a:t>
            </a:r>
            <a:r>
              <a:rPr sz="1900" b="0" i="0">
                <a:solidFill>
                  <a:srgbClr val="3A4A5A"/>
                </a:solidFill>
              </a:rPr>
              <a:t>, </a:t>
            </a:r>
            <a:r>
              <a:rPr sz="1900" b="0" i="1">
                <a:solidFill>
                  <a:srgbClr val="3A4A5A"/>
                </a:solidFill>
              </a:rPr>
              <a:t>Coding with AI For Dummies</a:t>
            </a:r>
            <a:r>
              <a:rPr sz="1900" b="0" i="0">
                <a:solidFill>
                  <a:srgbClr val="3A4A5A"/>
                </a:solidFill>
              </a:rPr>
              <a:t>, and more</a:t>
            </a:r>
          </a:p>
          <a:p>
            <a:pPr marL="274320" indent="-256032">
              <a:spcAft>
                <a:spcPts val="990"/>
              </a:spcAft>
              <a:buClr>
                <a:srgbClr val="42B883"/>
              </a:buClr>
              <a:buSzPct val="100000"/>
              <a:buFont typeface="Arial"/>
              <a:buChar char="•"/>
            </a:pPr>
            <a:r>
              <a:rPr sz="2200" b="0" i="0">
                <a:solidFill>
                  <a:srgbClr val="1F2A36"/>
                </a:solidFill>
              </a:rPr>
              <a:t>Founder of WatzThis? — books, courseware and training</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a:t>
            </a:fld>
            <a:endParaRPr lang="en-US" sz="900">
              <a:solidFill>
                <a:srgbClr val="9AA7B4"/>
              </a:solidFill>
            </a:endParaRPr>
          </a:p>
        </p:txBody>
      </p:sp>
    </p:spTree>
    <p:extLst>
      <p:ext uri="{BB962C8B-B14F-4D97-AF65-F5344CB8AC3E}">
        <p14:creationId xmlns:p14="http://schemas.microsoft.com/office/powerpoint/2010/main" val="3938706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Introductions</a:t>
            </a:r>
          </a:p>
        </p:txBody>
      </p:sp>
      <p:sp>
        <p:nvSpPr>
          <p:cNvPr id="3" name="Body"/>
          <p:cNvSpPr txBox="1"/>
          <p:nvPr/>
        </p:nvSpPr>
        <p:spPr>
          <a:xfrm>
            <a:off x="457200" y="1261872"/>
            <a:ext cx="8229600" cy="282397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What's your name?</a:t>
            </a:r>
          </a:p>
          <a:p>
            <a:pPr marL="274320" indent="-256032">
              <a:spcAft>
                <a:spcPts val="990"/>
              </a:spcAft>
              <a:buClr>
                <a:srgbClr val="42B883"/>
              </a:buClr>
              <a:buSzPct val="100000"/>
              <a:buFont typeface="Arial"/>
              <a:buChar char="•"/>
            </a:pPr>
            <a:r>
              <a:rPr sz="2200" b="0" i="0">
                <a:solidFill>
                  <a:srgbClr val="1F2A36"/>
                </a:solidFill>
              </a:rPr>
              <a:t>What do you do?</a:t>
            </a:r>
          </a:p>
          <a:p>
            <a:pPr marL="274320" indent="-256032">
              <a:spcAft>
                <a:spcPts val="990"/>
              </a:spcAft>
              <a:buClr>
                <a:srgbClr val="42B883"/>
              </a:buClr>
              <a:buSzPct val="100000"/>
              <a:buFont typeface="Arial"/>
              <a:buChar char="•"/>
            </a:pPr>
            <a:r>
              <a:rPr sz="2200" b="0" i="0">
                <a:solidFill>
                  <a:srgbClr val="1F2A36"/>
                </a:solidFill>
              </a:rPr>
              <a:t>JavaScript level: beginner, intermediate, or advanced?</a:t>
            </a:r>
          </a:p>
          <a:p>
            <a:pPr marL="274320" indent="-256032">
              <a:spcAft>
                <a:spcPts val="990"/>
              </a:spcAft>
              <a:buClr>
                <a:srgbClr val="42B883"/>
              </a:buClr>
              <a:buSzPct val="100000"/>
              <a:buFont typeface="Arial"/>
              <a:buChar char="•"/>
            </a:pPr>
            <a:r>
              <a:rPr sz="2200" b="0" i="0">
                <a:solidFill>
                  <a:srgbClr val="1F2A36"/>
                </a:solidFill>
              </a:rPr>
              <a:t>What do you want to know at the end of this course?</a:t>
            </a:r>
          </a:p>
          <a:p>
            <a:pPr marL="274320" indent="-256032">
              <a:spcAft>
                <a:spcPts val="990"/>
              </a:spcAft>
              <a:buClr>
                <a:srgbClr val="42B883"/>
              </a:buClr>
              <a:buSzPct val="100000"/>
              <a:buFont typeface="Arial"/>
              <a:buChar char="•"/>
            </a:pPr>
            <a:r>
              <a:rPr sz="2200" b="0" i="0">
                <a:solidFill>
                  <a:srgbClr val="1F2A36"/>
                </a:solidFill>
              </a:rPr>
              <a:t>What do you like to do for fun?</a:t>
            </a:r>
          </a:p>
          <a:p>
            <a:pPr marL="274320" indent="-256032">
              <a:spcAft>
                <a:spcPts val="990"/>
              </a:spcAft>
              <a:buClr>
                <a:srgbClr val="42B883"/>
              </a:buClr>
              <a:buSzPct val="100000"/>
              <a:buFont typeface="Arial"/>
              <a:buChar char="•"/>
            </a:pPr>
            <a:r>
              <a:rPr sz="2200" b="0" i="0">
                <a:solidFill>
                  <a:srgbClr val="1F2A36"/>
                </a:solidFill>
              </a:rPr>
              <a:t>Favorite food?</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a:t>
            </a:fld>
            <a:endParaRPr lang="en-US" sz="900">
              <a:solidFill>
                <a:srgbClr val="9AA7B4"/>
              </a:solidFill>
            </a:endParaRPr>
          </a:p>
        </p:txBody>
      </p:sp>
    </p:spTree>
    <p:extLst>
      <p:ext uri="{BB962C8B-B14F-4D97-AF65-F5344CB8AC3E}">
        <p14:creationId xmlns:p14="http://schemas.microsoft.com/office/powerpoint/2010/main" val="3754296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Daily Schedule (CT)</a:t>
            </a:r>
          </a:p>
        </p:txBody>
      </p:sp>
      <p:sp>
        <p:nvSpPr>
          <p:cNvPr id="3" name="Body"/>
          <p:cNvSpPr txBox="1"/>
          <p:nvPr/>
        </p:nvSpPr>
        <p:spPr>
          <a:xfrm>
            <a:off x="457200" y="1261872"/>
            <a:ext cx="3954780" cy="2340610"/>
          </a:xfrm>
          <a:prstGeom prst="rect">
            <a:avLst/>
          </a:prstGeom>
          <a:noFill/>
        </p:spPr>
        <p:txBody>
          <a:bodyPr wrap="square" lIns="0" tIns="0" rIns="0" bIns="0">
            <a:noAutofit/>
          </a:bodyPr>
          <a:lstStyle/>
          <a:p>
            <a:pPr marL="0" indent="0">
              <a:spcAft>
                <a:spcPts val="769"/>
              </a:spcAft>
              <a:buNone/>
            </a:pPr>
            <a:r>
              <a:rPr sz="2200" b="1" i="0">
                <a:solidFill>
                  <a:srgbClr val="2E8B62"/>
                </a:solidFill>
              </a:rPr>
              <a:t>Morning</a:t>
            </a:r>
          </a:p>
          <a:p>
            <a:pPr marL="274320" indent="-256032">
              <a:spcAft>
                <a:spcPts val="990"/>
              </a:spcAft>
              <a:buClr>
                <a:srgbClr val="42B883"/>
              </a:buClr>
              <a:buSzPct val="100000"/>
              <a:buFont typeface="Arial"/>
              <a:buChar char="•"/>
            </a:pPr>
            <a:r>
              <a:rPr sz="2200" b="0" i="0">
                <a:solidFill>
                  <a:srgbClr val="1F2A36"/>
                </a:solidFill>
              </a:rPr>
              <a:t>8:30 – 10:30  session</a:t>
            </a:r>
          </a:p>
          <a:p>
            <a:pPr marL="274320" indent="-256032">
              <a:spcAft>
                <a:spcPts val="990"/>
              </a:spcAft>
              <a:buClr>
                <a:srgbClr val="42B883"/>
              </a:buClr>
              <a:buSzPct val="100000"/>
              <a:buFont typeface="Arial"/>
              <a:buChar char="•"/>
            </a:pPr>
            <a:r>
              <a:rPr sz="2200" b="0" i="0">
                <a:solidFill>
                  <a:srgbClr val="1F2A36"/>
                </a:solidFill>
              </a:rPr>
              <a:t>10:30 – 10:45  break</a:t>
            </a:r>
          </a:p>
          <a:p>
            <a:pPr marL="274320" indent="-256032">
              <a:spcAft>
                <a:spcPts val="990"/>
              </a:spcAft>
              <a:buClr>
                <a:srgbClr val="42B883"/>
              </a:buClr>
              <a:buSzPct val="100000"/>
              <a:buFont typeface="Arial"/>
              <a:buChar char="•"/>
            </a:pPr>
            <a:r>
              <a:rPr sz="2200" b="0" i="0">
                <a:solidFill>
                  <a:srgbClr val="1F2A36"/>
                </a:solidFill>
              </a:rPr>
              <a:t>10:45 – 12:00  session</a:t>
            </a:r>
          </a:p>
          <a:p>
            <a:pPr marL="274320" indent="-256032">
              <a:spcAft>
                <a:spcPts val="990"/>
              </a:spcAft>
              <a:buClr>
                <a:srgbClr val="42B883"/>
              </a:buClr>
              <a:buSzPct val="100000"/>
              <a:buFont typeface="Arial"/>
              <a:buChar char="•"/>
            </a:pPr>
            <a:r>
              <a:rPr sz="2200" b="0" i="0">
                <a:solidFill>
                  <a:srgbClr val="1F2A36"/>
                </a:solidFill>
              </a:rPr>
              <a:t>12:00 – 1:00  lunch</a:t>
            </a:r>
          </a:p>
        </p:txBody>
      </p:sp>
      <p:sp>
        <p:nvSpPr>
          <p:cNvPr id="4" name="Body"/>
          <p:cNvSpPr txBox="1"/>
          <p:nvPr/>
        </p:nvSpPr>
        <p:spPr>
          <a:xfrm>
            <a:off x="4732020" y="1261872"/>
            <a:ext cx="3954780" cy="2796032"/>
          </a:xfrm>
          <a:prstGeom prst="rect">
            <a:avLst/>
          </a:prstGeom>
          <a:noFill/>
        </p:spPr>
        <p:txBody>
          <a:bodyPr wrap="square" lIns="0" tIns="0" rIns="0" bIns="0">
            <a:noAutofit/>
          </a:bodyPr>
          <a:lstStyle/>
          <a:p>
            <a:pPr marL="0" indent="0">
              <a:spcAft>
                <a:spcPts val="769"/>
              </a:spcAft>
              <a:buNone/>
            </a:pPr>
            <a:r>
              <a:rPr sz="2200" b="1" i="0">
                <a:solidFill>
                  <a:srgbClr val="2E8B62"/>
                </a:solidFill>
              </a:rPr>
              <a:t>Afternoon</a:t>
            </a:r>
          </a:p>
          <a:p>
            <a:pPr marL="274320" indent="-256032">
              <a:spcAft>
                <a:spcPts val="990"/>
              </a:spcAft>
              <a:buClr>
                <a:srgbClr val="42B883"/>
              </a:buClr>
              <a:buSzPct val="100000"/>
              <a:buFont typeface="Arial"/>
              <a:buChar char="•"/>
            </a:pPr>
            <a:r>
              <a:rPr sz="2200" b="0" i="0">
                <a:solidFill>
                  <a:srgbClr val="1F2A36"/>
                </a:solidFill>
              </a:rPr>
              <a:t>1:00 – 2:00  session</a:t>
            </a:r>
          </a:p>
          <a:p>
            <a:pPr marL="274320" indent="-256032">
              <a:spcAft>
                <a:spcPts val="990"/>
              </a:spcAft>
              <a:buClr>
                <a:srgbClr val="42B883"/>
              </a:buClr>
              <a:buSzPct val="100000"/>
              <a:buFont typeface="Arial"/>
              <a:buChar char="•"/>
            </a:pPr>
            <a:r>
              <a:rPr sz="2200" b="0" i="0">
                <a:solidFill>
                  <a:srgbClr val="1F2A36"/>
                </a:solidFill>
              </a:rPr>
              <a:t>2:00 – 2:15  break</a:t>
            </a:r>
          </a:p>
          <a:p>
            <a:pPr marL="274320" indent="-256032">
              <a:spcAft>
                <a:spcPts val="990"/>
              </a:spcAft>
              <a:buClr>
                <a:srgbClr val="42B883"/>
              </a:buClr>
              <a:buSzPct val="100000"/>
              <a:buFont typeface="Arial"/>
              <a:buChar char="•"/>
            </a:pPr>
            <a:r>
              <a:rPr sz="2200" b="0" i="0">
                <a:solidFill>
                  <a:srgbClr val="1F2A36"/>
                </a:solidFill>
              </a:rPr>
              <a:t>2:15 – 3:15  session</a:t>
            </a:r>
          </a:p>
          <a:p>
            <a:pPr marL="274320" indent="-256032">
              <a:spcAft>
                <a:spcPts val="990"/>
              </a:spcAft>
              <a:buClr>
                <a:srgbClr val="42B883"/>
              </a:buClr>
              <a:buSzPct val="100000"/>
              <a:buFont typeface="Arial"/>
              <a:buChar char="•"/>
            </a:pPr>
            <a:r>
              <a:rPr sz="2200" b="0" i="0">
                <a:solidFill>
                  <a:srgbClr val="1F2A36"/>
                </a:solidFill>
              </a:rPr>
              <a:t>3:15 – 3:30  break</a:t>
            </a:r>
          </a:p>
          <a:p>
            <a:pPr marL="274320" indent="-256032">
              <a:spcAft>
                <a:spcPts val="990"/>
              </a:spcAft>
              <a:buClr>
                <a:srgbClr val="42B883"/>
              </a:buClr>
              <a:buSzPct val="100000"/>
              <a:buFont typeface="Arial"/>
              <a:buChar char="•"/>
            </a:pPr>
            <a:r>
              <a:rPr sz="2200" b="0" i="0">
                <a:solidFill>
                  <a:srgbClr val="1F2A36"/>
                </a:solidFill>
              </a:rPr>
              <a:t>3:30 – 4:30  session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a:t>
            </a:fld>
            <a:endParaRPr lang="en-US" sz="900">
              <a:solidFill>
                <a:srgbClr val="9AA7B4"/>
              </a:solidFill>
            </a:endParaRPr>
          </a:p>
        </p:txBody>
      </p:sp>
    </p:spTree>
    <p:extLst>
      <p:ext uri="{BB962C8B-B14F-4D97-AF65-F5344CB8AC3E}">
        <p14:creationId xmlns:p14="http://schemas.microsoft.com/office/powerpoint/2010/main" val="727647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Big Picture</a:t>
            </a:r>
          </a:p>
        </p:txBody>
      </p:sp>
      <p:sp>
        <p:nvSpPr>
          <p:cNvPr id="3" name="Body"/>
          <p:cNvSpPr txBox="1"/>
          <p:nvPr/>
        </p:nvSpPr>
        <p:spPr>
          <a:xfrm>
            <a:off x="457200" y="1261872"/>
            <a:ext cx="8229600" cy="4617720"/>
          </a:xfrm>
          <a:prstGeom prst="rect">
            <a:avLst/>
          </a:prstGeom>
          <a:noFill/>
        </p:spPr>
        <p:txBody>
          <a:bodyPr wrap="square" lIns="0" tIns="0" rIns="0" bIns="0">
            <a:noAutofit/>
          </a:bodyPr>
          <a:lstStyle/>
          <a:p>
            <a:pPr marL="0" indent="0">
              <a:spcAft>
                <a:spcPts val="769"/>
              </a:spcAft>
              <a:buNone/>
            </a:pPr>
            <a:r>
              <a:rPr sz="2200" b="1" i="0">
                <a:solidFill>
                  <a:srgbClr val="2E8B62"/>
                </a:solidFill>
              </a:rPr>
              <a:t>Topics covered in this course</a:t>
            </a:r>
          </a:p>
          <a:p>
            <a:pPr marL="274320" indent="-256032">
              <a:spcAft>
                <a:spcPts val="990"/>
              </a:spcAft>
              <a:buClr>
                <a:srgbClr val="42B883"/>
              </a:buClr>
              <a:buSzPct val="100000"/>
              <a:buFont typeface="Arial"/>
              <a:buChar char="•"/>
            </a:pPr>
            <a:r>
              <a:rPr sz="2200" b="0" i="0">
                <a:solidFill>
                  <a:srgbClr val="1F2A36"/>
                </a:solidFill>
              </a:rPr>
              <a:t>Modern JavaScript, the DOM, and async/await</a:t>
            </a:r>
          </a:p>
          <a:p>
            <a:pPr marL="274320" indent="-256032">
              <a:spcAft>
                <a:spcPts val="990"/>
              </a:spcAft>
              <a:buClr>
                <a:srgbClr val="42B883"/>
              </a:buClr>
              <a:buSzPct val="100000"/>
              <a:buFont typeface="Arial"/>
              <a:buChar char="•"/>
            </a:pPr>
            <a:r>
              <a:rPr sz="2200" b="0" i="0">
                <a:solidFill>
                  <a:srgbClr val="1F2A36"/>
                </a:solidFill>
              </a:rPr>
              <a:t>Node.js, npm, Vite and build tooling</a:t>
            </a:r>
          </a:p>
          <a:p>
            <a:pPr marL="274320" indent="-256032">
              <a:spcAft>
                <a:spcPts val="990"/>
              </a:spcAft>
              <a:buClr>
                <a:srgbClr val="42B883"/>
              </a:buClr>
              <a:buSzPct val="100000"/>
              <a:buFont typeface="Arial"/>
              <a:buChar char="•"/>
            </a:pPr>
            <a:r>
              <a:rPr sz="2200" b="0" i="0">
                <a:solidFill>
                  <a:srgbClr val="1F2A36"/>
                </a:solidFill>
              </a:rPr>
              <a:t>Vue templates, directives, forms and styling</a:t>
            </a:r>
          </a:p>
          <a:p>
            <a:pPr marL="274320" indent="-256032">
              <a:spcAft>
                <a:spcPts val="990"/>
              </a:spcAft>
              <a:buClr>
                <a:srgbClr val="42B883"/>
              </a:buClr>
              <a:buSzPct val="100000"/>
              <a:buFont typeface="Arial"/>
              <a:buChar char="•"/>
            </a:pPr>
            <a:r>
              <a:rPr sz="2200" b="0" i="0">
                <a:solidFill>
                  <a:srgbClr val="1F2A36"/>
                </a:solidFill>
              </a:rPr>
              <a:t>Composition API, reactivity and lifecycle hooks</a:t>
            </a:r>
          </a:p>
          <a:p>
            <a:pPr marL="274320" indent="-256032">
              <a:spcAft>
                <a:spcPts val="990"/>
              </a:spcAft>
              <a:buClr>
                <a:srgbClr val="42B883"/>
              </a:buClr>
              <a:buSzPct val="100000"/>
              <a:buFont typeface="Arial"/>
              <a:buChar char="•"/>
            </a:pPr>
            <a:r>
              <a:rPr sz="2200" b="0" i="0">
                <a:solidFill>
                  <a:srgbClr val="1F2A36"/>
                </a:solidFill>
              </a:rPr>
              <a:t>Components, props, slots and composables</a:t>
            </a:r>
          </a:p>
          <a:p>
            <a:pPr marL="274320" indent="-256032">
              <a:spcAft>
                <a:spcPts val="990"/>
              </a:spcAft>
              <a:buClr>
                <a:srgbClr val="42B883"/>
              </a:buClr>
              <a:buSzPct val="100000"/>
              <a:buFont typeface="Arial"/>
              <a:buChar char="•"/>
            </a:pPr>
            <a:r>
              <a:rPr sz="2200" b="0" i="0">
                <a:solidFill>
                  <a:srgbClr val="1F2A36"/>
                </a:solidFill>
              </a:rPr>
              <a:t>Pinia state management, Vue Router and APIs</a:t>
            </a:r>
          </a:p>
          <a:p>
            <a:pPr marL="274320" indent="-256032">
              <a:spcAft>
                <a:spcPts val="990"/>
              </a:spcAft>
              <a:buClr>
                <a:srgbClr val="42B883"/>
              </a:buClr>
              <a:buSzPct val="100000"/>
              <a:buFont typeface="Arial"/>
              <a:buChar char="•"/>
            </a:pPr>
            <a:r>
              <a:rPr sz="2200" b="0" i="0">
                <a:solidFill>
                  <a:srgbClr val="1F2A36"/>
                </a:solidFill>
              </a:rPr>
              <a:t>Debugging with browser and Vue DevTools</a:t>
            </a:r>
          </a:p>
          <a:p>
            <a:pPr marL="274320" indent="-256032">
              <a:spcAft>
                <a:spcPts val="990"/>
              </a:spcAft>
              <a:buClr>
                <a:srgbClr val="42B883"/>
              </a:buClr>
              <a:buSzPct val="100000"/>
              <a:buFont typeface="Arial"/>
              <a:buChar char="•"/>
            </a:pPr>
            <a:r>
              <a:rPr sz="2200" b="0" i="0">
                <a:solidFill>
                  <a:srgbClr val="1F2A36"/>
                </a:solidFill>
              </a:rPr>
              <a:t>ESLint, TDD, Vitest and Vue Test Utils</a:t>
            </a:r>
          </a:p>
          <a:p>
            <a:pPr marL="274320" indent="-256032">
              <a:spcAft>
                <a:spcPts val="990"/>
              </a:spcAft>
              <a:buClr>
                <a:srgbClr val="42B883"/>
              </a:buClr>
              <a:buSzPct val="100000"/>
              <a:buFont typeface="Arial"/>
              <a:buChar char="•"/>
            </a:pPr>
            <a:r>
              <a:rPr sz="2200" b="0" i="0">
                <a:solidFill>
                  <a:srgbClr val="1F2A36"/>
                </a:solidFill>
              </a:rPr>
              <a:t>Transitions and animations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a:t>
            </a:fld>
            <a:endParaRPr lang="en-US" sz="900">
              <a:solidFill>
                <a:srgbClr val="9AA7B4"/>
              </a:solidFill>
            </a:endParaRPr>
          </a:p>
        </p:txBody>
      </p:sp>
    </p:spTree>
    <p:extLst>
      <p:ext uri="{BB962C8B-B14F-4D97-AF65-F5344CB8AC3E}">
        <p14:creationId xmlns:p14="http://schemas.microsoft.com/office/powerpoint/2010/main" val="3015212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2600" b="1" i="0" cap="none">
                <a:solidFill>
                  <a:srgbClr val="2C3E50"/>
                </a:solidFill>
              </a:rPr>
              <a:t>What's New in JavaScript (aka ECMAScript)?</a:t>
            </a:r>
          </a:p>
        </p:txBody>
      </p:sp>
      <p:sp>
        <p:nvSpPr>
          <p:cNvPr id="3" name="Body"/>
          <p:cNvSpPr txBox="1"/>
          <p:nvPr/>
        </p:nvSpPr>
        <p:spPr>
          <a:xfrm>
            <a:off x="457200" y="1261872"/>
            <a:ext cx="3954780" cy="3581146"/>
          </a:xfrm>
          <a:prstGeom prst="rect">
            <a:avLst/>
          </a:prstGeom>
          <a:noFill/>
        </p:spPr>
        <p:txBody>
          <a:bodyPr wrap="square" lIns="0" tIns="0" rIns="0" bIns="0">
            <a:noAutofit/>
          </a:bodyPr>
          <a:lstStyle/>
          <a:p>
            <a:pPr marL="0" indent="0">
              <a:spcAft>
                <a:spcPts val="769"/>
              </a:spcAft>
              <a:buNone/>
            </a:pPr>
            <a:r>
              <a:rPr sz="2200" b="1" i="0">
                <a:solidFill>
                  <a:srgbClr val="2E8B62"/>
                </a:solidFill>
              </a:rPr>
              <a:t>ES2015 (ES6) — the big one</a:t>
            </a:r>
          </a:p>
          <a:p>
            <a:pPr marL="274320" indent="-256032">
              <a:spcAft>
                <a:spcPts val="990"/>
              </a:spcAft>
              <a:buClr>
                <a:srgbClr val="42B883"/>
              </a:buClr>
              <a:buSzPct val="100000"/>
              <a:buFont typeface="Arial"/>
              <a:buChar char="•"/>
            </a:pPr>
            <a:r>
              <a:rPr sz="2200" b="0" i="0">
                <a:solidFill>
                  <a:srgbClr val="1F2A36"/>
                </a:solidFill>
              </a:rPr>
              <a:t>Arrow functions</a:t>
            </a:r>
          </a:p>
          <a:p>
            <a:pPr marL="274320" indent="-256032">
              <a:spcAft>
                <a:spcPts val="990"/>
              </a:spcAft>
              <a:buClr>
                <a:srgbClr val="42B883"/>
              </a:buClr>
              <a:buSzPct val="100000"/>
              <a:buFont typeface="Arial"/>
              <a:buChar char="•"/>
            </a:pPr>
            <a:r>
              <a:rPr sz="2200" b="0" i="0">
                <a:solidFill>
                  <a:srgbClr val="1F2A36"/>
                </a:solidFill>
              </a:rPr>
              <a:t>Classes</a:t>
            </a:r>
          </a:p>
          <a:p>
            <a:pPr marL="274320" indent="-256032">
              <a:spcAft>
                <a:spcPts val="990"/>
              </a:spcAft>
              <a:buClr>
                <a:srgbClr val="42B883"/>
              </a:buClr>
              <a:buSzPct val="100000"/>
              <a:buFont typeface="Arial"/>
              <a:buChar char="•"/>
            </a:pPr>
            <a:r>
              <a:rPr sz="2090" b="0" i="0">
                <a:solidFill>
                  <a:srgbClr val="8A2B52"/>
                </a:solidFill>
                <a:latin typeface="Consolas"/>
              </a:rPr>
              <a:t>let</a:t>
            </a:r>
            <a:r>
              <a:rPr sz="2200" b="0" i="0">
                <a:solidFill>
                  <a:srgbClr val="1F2A36"/>
                </a:solidFill>
              </a:rPr>
              <a:t> and </a:t>
            </a:r>
            <a:r>
              <a:rPr sz="2090" b="0" i="0">
                <a:solidFill>
                  <a:srgbClr val="8A2B52"/>
                </a:solidFill>
                <a:latin typeface="Consolas"/>
              </a:rPr>
              <a:t>const</a:t>
            </a:r>
          </a:p>
          <a:p>
            <a:pPr marL="274320" indent="-256032">
              <a:spcAft>
                <a:spcPts val="990"/>
              </a:spcAft>
              <a:buClr>
                <a:srgbClr val="42B883"/>
              </a:buClr>
              <a:buSzPct val="100000"/>
              <a:buFont typeface="Arial"/>
              <a:buChar char="•"/>
            </a:pPr>
            <a:r>
              <a:rPr sz="2200" b="0" i="0">
                <a:solidFill>
                  <a:srgbClr val="1F2A36"/>
                </a:solidFill>
              </a:rPr>
              <a:t>Iterators and generators</a:t>
            </a:r>
          </a:p>
          <a:p>
            <a:pPr marL="274320" indent="-256032">
              <a:spcAft>
                <a:spcPts val="990"/>
              </a:spcAft>
              <a:buClr>
                <a:srgbClr val="42B883"/>
              </a:buClr>
              <a:buSzPct val="100000"/>
              <a:buFont typeface="Arial"/>
              <a:buChar char="•"/>
            </a:pPr>
            <a:r>
              <a:rPr sz="2200" b="0" i="0">
                <a:solidFill>
                  <a:srgbClr val="1F2A36"/>
                </a:solidFill>
              </a:rPr>
              <a:t>Modules (</a:t>
            </a:r>
            <a:r>
              <a:rPr sz="2090" b="0" i="0">
                <a:solidFill>
                  <a:srgbClr val="8A2B52"/>
                </a:solidFill>
                <a:latin typeface="Consolas"/>
              </a:rPr>
              <a:t>import</a:t>
            </a:r>
            <a:r>
              <a:rPr sz="2200" b="0" i="0">
                <a:solidFill>
                  <a:srgbClr val="1F2A36"/>
                </a:solidFill>
              </a:rPr>
              <a:t> / </a:t>
            </a:r>
            <a:r>
              <a:rPr sz="2090" b="0" i="0">
                <a:solidFill>
                  <a:srgbClr val="8A2B52"/>
                </a:solidFill>
                <a:latin typeface="Consolas"/>
              </a:rPr>
              <a:t>export</a:t>
            </a:r>
            <a:r>
              <a:rPr sz="2200" b="0" i="0">
                <a:solidFill>
                  <a:srgbClr val="1F2A36"/>
                </a:solidFill>
              </a:rPr>
              <a:t>)</a:t>
            </a:r>
          </a:p>
          <a:p>
            <a:pPr marL="274320" indent="-256032">
              <a:spcAft>
                <a:spcPts val="990"/>
              </a:spcAft>
              <a:buClr>
                <a:srgbClr val="42B883"/>
              </a:buClr>
              <a:buSzPct val="100000"/>
              <a:buFont typeface="Arial"/>
              <a:buChar char="•"/>
            </a:pPr>
            <a:r>
              <a:rPr sz="2200" b="0" i="0">
                <a:solidFill>
                  <a:srgbClr val="1F2A36"/>
                </a:solidFill>
              </a:rPr>
              <a:t>Promises</a:t>
            </a:r>
          </a:p>
        </p:txBody>
      </p:sp>
      <p:sp>
        <p:nvSpPr>
          <p:cNvPr id="4" name="Body"/>
          <p:cNvSpPr txBox="1"/>
          <p:nvPr/>
        </p:nvSpPr>
        <p:spPr>
          <a:xfrm>
            <a:off x="4732020" y="1261872"/>
            <a:ext cx="3954780" cy="4899913"/>
          </a:xfrm>
          <a:prstGeom prst="rect">
            <a:avLst/>
          </a:prstGeom>
          <a:noFill/>
        </p:spPr>
        <p:txBody>
          <a:bodyPr wrap="square" lIns="0" tIns="0" rIns="0" bIns="0">
            <a:noAutofit/>
          </a:bodyPr>
          <a:lstStyle/>
          <a:p>
            <a:pPr marL="0" indent="0">
              <a:spcAft>
                <a:spcPts val="769"/>
              </a:spcAft>
              <a:buNone/>
            </a:pPr>
            <a:r>
              <a:rPr sz="2200" b="1" i="0">
                <a:solidFill>
                  <a:srgbClr val="2E8B62"/>
                </a:solidFill>
              </a:rPr>
              <a:t>A new version every year</a:t>
            </a:r>
          </a:p>
          <a:p>
            <a:pPr marL="274320" indent="-256032">
              <a:spcAft>
                <a:spcPts val="990"/>
              </a:spcAft>
              <a:buClr>
                <a:srgbClr val="42B883"/>
              </a:buClr>
              <a:buSzPct val="100000"/>
              <a:buFont typeface="Arial"/>
              <a:buChar char="•"/>
            </a:pPr>
            <a:r>
              <a:rPr sz="2200" b="1" i="0">
                <a:solidFill>
                  <a:srgbClr val="1F2A36"/>
                </a:solidFill>
              </a:rPr>
              <a:t>ES2020</a:t>
            </a:r>
            <a:r>
              <a:rPr sz="2200" b="0" i="0">
                <a:solidFill>
                  <a:srgbClr val="1F2A36"/>
                </a:solidFill>
              </a:rPr>
              <a:t> </a:t>
            </a:r>
            <a:r>
              <a:rPr sz="2090" b="0" i="0">
                <a:solidFill>
                  <a:srgbClr val="8A2B52"/>
                </a:solidFill>
                <a:latin typeface="Consolas"/>
              </a:rPr>
              <a:t>?.</a:t>
            </a:r>
            <a:r>
              <a:rPr sz="2200" b="0" i="0">
                <a:solidFill>
                  <a:srgbClr val="1F2A36"/>
                </a:solidFill>
              </a:rPr>
              <a:t> and </a:t>
            </a:r>
            <a:r>
              <a:rPr sz="2090" b="0" i="0">
                <a:solidFill>
                  <a:srgbClr val="8A2B52"/>
                </a:solidFill>
                <a:latin typeface="Consolas"/>
              </a:rPr>
              <a:t>??</a:t>
            </a:r>
          </a:p>
          <a:p>
            <a:pPr marL="274320" indent="-256032">
              <a:spcAft>
                <a:spcPts val="990"/>
              </a:spcAft>
              <a:buClr>
                <a:srgbClr val="42B883"/>
              </a:buClr>
              <a:buSzPct val="100000"/>
              <a:buFont typeface="Arial"/>
              <a:buChar char="•"/>
            </a:pPr>
            <a:r>
              <a:rPr sz="2200" b="1" i="0">
                <a:solidFill>
                  <a:srgbClr val="1F2A36"/>
                </a:solidFill>
              </a:rPr>
              <a:t>ES2021</a:t>
            </a:r>
            <a:r>
              <a:rPr sz="2200" b="0" i="0">
                <a:solidFill>
                  <a:srgbClr val="1F2A36"/>
                </a:solidFill>
              </a:rPr>
              <a:t> </a:t>
            </a:r>
            <a:r>
              <a:rPr sz="2090" b="0" i="0">
                <a:solidFill>
                  <a:srgbClr val="8A2B52"/>
                </a:solidFill>
                <a:latin typeface="Consolas"/>
              </a:rPr>
              <a:t>replaceAll</a:t>
            </a:r>
            <a:r>
              <a:rPr sz="2200" b="0" i="0">
                <a:solidFill>
                  <a:srgbClr val="1F2A36"/>
                </a:solidFill>
              </a:rPr>
              <a:t>, logical assignment</a:t>
            </a:r>
          </a:p>
          <a:p>
            <a:pPr marL="274320" indent="-256032">
              <a:spcAft>
                <a:spcPts val="990"/>
              </a:spcAft>
              <a:buClr>
                <a:srgbClr val="42B883"/>
              </a:buClr>
              <a:buSzPct val="100000"/>
              <a:buFont typeface="Arial"/>
              <a:buChar char="•"/>
            </a:pPr>
            <a:r>
              <a:rPr sz="2200" b="1" i="0">
                <a:solidFill>
                  <a:srgbClr val="1F2A36"/>
                </a:solidFill>
              </a:rPr>
              <a:t>ES2022</a:t>
            </a:r>
            <a:r>
              <a:rPr sz="2200" b="0" i="0">
                <a:solidFill>
                  <a:srgbClr val="1F2A36"/>
                </a:solidFill>
              </a:rPr>
              <a:t> top-level </a:t>
            </a:r>
            <a:r>
              <a:rPr sz="2090" b="0" i="0">
                <a:solidFill>
                  <a:srgbClr val="8A2B52"/>
                </a:solidFill>
                <a:latin typeface="Consolas"/>
              </a:rPr>
              <a:t>await</a:t>
            </a:r>
            <a:r>
              <a:rPr sz="2200" b="0" i="0">
                <a:solidFill>
                  <a:srgbClr val="1F2A36"/>
                </a:solidFill>
              </a:rPr>
              <a:t>, class fields, </a:t>
            </a:r>
            <a:r>
              <a:rPr sz="2090" b="0" i="0">
                <a:solidFill>
                  <a:srgbClr val="8A2B52"/>
                </a:solidFill>
                <a:latin typeface="Consolas"/>
              </a:rPr>
              <a:t>Array.at</a:t>
            </a:r>
          </a:p>
          <a:p>
            <a:pPr marL="274320" indent="-256032">
              <a:spcAft>
                <a:spcPts val="990"/>
              </a:spcAft>
              <a:buClr>
                <a:srgbClr val="42B883"/>
              </a:buClr>
              <a:buSzPct val="100000"/>
              <a:buFont typeface="Arial"/>
              <a:buChar char="•"/>
            </a:pPr>
            <a:r>
              <a:rPr sz="2200" b="1" i="0">
                <a:solidFill>
                  <a:srgbClr val="1F2A36"/>
                </a:solidFill>
              </a:rPr>
              <a:t>ES2023</a:t>
            </a:r>
            <a:r>
              <a:rPr sz="2200" b="0" i="0">
                <a:solidFill>
                  <a:srgbClr val="1F2A36"/>
                </a:solidFill>
              </a:rPr>
              <a:t> </a:t>
            </a:r>
            <a:r>
              <a:rPr sz="2090" b="0" i="0">
                <a:solidFill>
                  <a:srgbClr val="8A2B52"/>
                </a:solidFill>
                <a:latin typeface="Consolas"/>
              </a:rPr>
              <a:t>toSorted</a:t>
            </a:r>
            <a:r>
              <a:rPr sz="2200" b="0" i="0">
                <a:solidFill>
                  <a:srgbClr val="1F2A36"/>
                </a:solidFill>
              </a:rPr>
              <a:t>, </a:t>
            </a:r>
            <a:r>
              <a:rPr sz="2090" b="0" i="0">
                <a:solidFill>
                  <a:srgbClr val="8A2B52"/>
                </a:solidFill>
                <a:latin typeface="Consolas"/>
              </a:rPr>
              <a:t>findLast</a:t>
            </a:r>
          </a:p>
          <a:p>
            <a:pPr marL="274320" indent="-256032">
              <a:spcAft>
                <a:spcPts val="990"/>
              </a:spcAft>
              <a:buClr>
                <a:srgbClr val="42B883"/>
              </a:buClr>
              <a:buSzPct val="100000"/>
              <a:buFont typeface="Arial"/>
              <a:buChar char="•"/>
            </a:pPr>
            <a:r>
              <a:rPr sz="2200" b="1" i="0">
                <a:solidFill>
                  <a:srgbClr val="1F2A36"/>
                </a:solidFill>
              </a:rPr>
              <a:t>ES2024</a:t>
            </a:r>
            <a:r>
              <a:rPr sz="2200" b="0" i="0">
                <a:solidFill>
                  <a:srgbClr val="1F2A36"/>
                </a:solidFill>
              </a:rPr>
              <a:t> </a:t>
            </a:r>
            <a:r>
              <a:rPr sz="2090" b="0" i="0">
                <a:solidFill>
                  <a:srgbClr val="8A2B52"/>
                </a:solidFill>
                <a:latin typeface="Consolas"/>
              </a:rPr>
              <a:t>Object.groupBy</a:t>
            </a:r>
            <a:r>
              <a:rPr sz="2200" b="0" i="0">
                <a:solidFill>
                  <a:srgbClr val="1F2A36"/>
                </a:solidFill>
              </a:rPr>
              <a:t>, </a:t>
            </a:r>
            <a:r>
              <a:rPr sz="2090" b="0" i="0">
                <a:solidFill>
                  <a:srgbClr val="8A2B52"/>
                </a:solidFill>
                <a:latin typeface="Consolas"/>
              </a:rPr>
              <a:t>Promise.withResolvers</a:t>
            </a:r>
          </a:p>
          <a:p>
            <a:pPr marL="274320" indent="-256032">
              <a:spcAft>
                <a:spcPts val="990"/>
              </a:spcAft>
              <a:buClr>
                <a:srgbClr val="42B883"/>
              </a:buClr>
              <a:buSzPct val="100000"/>
              <a:buFont typeface="Arial"/>
              <a:buChar char="•"/>
            </a:pPr>
            <a:r>
              <a:rPr sz="2200" b="1" i="0">
                <a:solidFill>
                  <a:srgbClr val="1F2A36"/>
                </a:solidFill>
              </a:rPr>
              <a:t>ES2025</a:t>
            </a:r>
            <a:r>
              <a:rPr sz="2200" b="0" i="0">
                <a:solidFill>
                  <a:srgbClr val="1F2A36"/>
                </a:solidFill>
              </a:rPr>
              <a:t> iterator helpers, new </a:t>
            </a:r>
            <a:r>
              <a:rPr sz="2090" b="0" i="0">
                <a:solidFill>
                  <a:srgbClr val="8A2B52"/>
                </a:solidFill>
                <a:latin typeface="Consolas"/>
              </a:rPr>
              <a:t>Set</a:t>
            </a:r>
            <a:r>
              <a:rPr sz="2200" b="0" i="0">
                <a:solidFill>
                  <a:srgbClr val="1F2A36"/>
                </a:solidFill>
              </a:rPr>
              <a:t> methods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a:t>
            </a:fld>
            <a:endParaRPr lang="en-US" sz="900">
              <a:solidFill>
                <a:srgbClr val="9AA7B4"/>
              </a:solidFill>
            </a:endParaRPr>
          </a:p>
        </p:txBody>
      </p:sp>
    </p:spTree>
    <p:extLst>
      <p:ext uri="{BB962C8B-B14F-4D97-AF65-F5344CB8AC3E}">
        <p14:creationId xmlns:p14="http://schemas.microsoft.com/office/powerpoint/2010/main" val="140073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58B5-AE9E-8844-AFA8-74365ADB426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is Vue.js?</a:t>
            </a:r>
          </a:p>
        </p:txBody>
      </p:sp>
      <p:sp>
        <p:nvSpPr>
          <p:cNvPr id="3" name="Body"/>
          <p:cNvSpPr txBox="1"/>
          <p:nvPr/>
        </p:nvSpPr>
        <p:spPr>
          <a:xfrm>
            <a:off x="457200" y="1261872"/>
            <a:ext cx="8229600" cy="4346702"/>
          </a:xfrm>
          <a:prstGeom prst="rect">
            <a:avLst/>
          </a:prstGeom>
          <a:noFill/>
        </p:spPr>
        <p:txBody>
          <a:bodyPr wrap="square" lIns="0" tIns="0" rIns="0" bIns="0">
            <a:noAutofit/>
          </a:bodyPr>
          <a:lstStyle/>
          <a:p>
            <a:pPr marL="0" indent="0">
              <a:spcAft>
                <a:spcPts val="990"/>
              </a:spcAft>
              <a:buNone/>
            </a:pPr>
            <a:r>
              <a:rPr sz="2200" b="0" i="0">
                <a:solidFill>
                  <a:srgbClr val="1F2A36"/>
                </a:solidFill>
              </a:rPr>
              <a:t>A </a:t>
            </a:r>
            <a:r>
              <a:rPr sz="2200" b="1" i="0">
                <a:solidFill>
                  <a:srgbClr val="1F2A36"/>
                </a:solidFill>
              </a:rPr>
              <a:t>progressive</a:t>
            </a:r>
            <a:r>
              <a:rPr sz="2200" b="0" i="0">
                <a:solidFill>
                  <a:srgbClr val="1F2A36"/>
                </a:solidFill>
              </a:rPr>
              <a:t>, </a:t>
            </a:r>
            <a:r>
              <a:rPr sz="2200" b="1" i="0">
                <a:solidFill>
                  <a:srgbClr val="1F2A36"/>
                </a:solidFill>
              </a:rPr>
              <a:t>incrementally adoptable</a:t>
            </a:r>
            <a:r>
              <a:rPr sz="2200" b="0" i="0">
                <a:solidFill>
                  <a:srgbClr val="1F2A36"/>
                </a:solidFill>
              </a:rPr>
              <a:t>, </a:t>
            </a:r>
            <a:r>
              <a:rPr sz="2200" b="1" i="0">
                <a:solidFill>
                  <a:srgbClr val="1F2A36"/>
                </a:solidFill>
              </a:rPr>
              <a:t>reactive</a:t>
            </a:r>
            <a:r>
              <a:rPr sz="2200" b="0" i="0">
                <a:solidFill>
                  <a:srgbClr val="1F2A36"/>
                </a:solidFill>
              </a:rPr>
              <a:t> front-end JavaScript framework.</a:t>
            </a:r>
          </a:p>
          <a:p>
            <a:pPr marL="274320" indent="-256032">
              <a:spcAft>
                <a:spcPts val="990"/>
              </a:spcAft>
              <a:buClr>
                <a:srgbClr val="42B883"/>
              </a:buClr>
              <a:buSzPct val="100000"/>
              <a:buFont typeface="Arial"/>
              <a:buChar char="•"/>
            </a:pPr>
            <a:r>
              <a:rPr sz="2200" b="1" i="0">
                <a:solidFill>
                  <a:srgbClr val="1F2A36"/>
                </a:solidFill>
              </a:rPr>
              <a:t>Progressive</a:t>
            </a:r>
            <a:r>
              <a:rPr sz="2200" b="0" i="0">
                <a:solidFill>
                  <a:srgbClr val="1F2A36"/>
                </a:solidFill>
              </a:rPr>
              <a:t> — start with a </a:t>
            </a:r>
            <a:r>
              <a:rPr sz="2090" b="0" i="0">
                <a:solidFill>
                  <a:srgbClr val="8A2B52"/>
                </a:solidFill>
                <a:latin typeface="Consolas"/>
              </a:rPr>
              <a:t>&lt;script&gt;</a:t>
            </a:r>
            <a:r>
              <a:rPr sz="2200" b="0" i="0">
                <a:solidFill>
                  <a:srgbClr val="1F2A36"/>
                </a:solidFill>
              </a:rPr>
              <a:t> tag on one page; grow into a full single-page app with routing, state and a build step</a:t>
            </a:r>
          </a:p>
          <a:p>
            <a:pPr marL="274320" indent="-256032">
              <a:spcAft>
                <a:spcPts val="990"/>
              </a:spcAft>
              <a:buClr>
                <a:srgbClr val="42B883"/>
              </a:buClr>
              <a:buSzPct val="100000"/>
              <a:buFont typeface="Arial"/>
              <a:buChar char="•"/>
            </a:pPr>
            <a:r>
              <a:rPr sz="2200" b="1" i="0">
                <a:solidFill>
                  <a:srgbClr val="1F2A36"/>
                </a:solidFill>
              </a:rPr>
              <a:t>Incrementally adoptable</a:t>
            </a:r>
            <a:r>
              <a:rPr sz="2200" b="0" i="0">
                <a:solidFill>
                  <a:srgbClr val="1F2A36"/>
                </a:solidFill>
              </a:rPr>
              <a:t> — use as much or as little as you need</a:t>
            </a:r>
          </a:p>
          <a:p>
            <a:pPr marL="274320" indent="-256032">
              <a:spcAft>
                <a:spcPts val="990"/>
              </a:spcAft>
              <a:buClr>
                <a:srgbClr val="42B883"/>
              </a:buClr>
              <a:buSzPct val="100000"/>
              <a:buFont typeface="Arial"/>
              <a:buChar char="•"/>
            </a:pPr>
            <a:r>
              <a:rPr sz="2200" b="1" i="0">
                <a:solidFill>
                  <a:srgbClr val="1F2A36"/>
                </a:solidFill>
              </a:rPr>
              <a:t>Reactive</a:t>
            </a:r>
            <a:r>
              <a:rPr sz="2200" b="0" i="0">
                <a:solidFill>
                  <a:srgbClr val="1F2A36"/>
                </a:solidFill>
              </a:rPr>
              <a:t> — change the data, and Vue updates the page for you</a:t>
            </a:r>
          </a:p>
          <a:p>
            <a:pPr marL="274320" indent="-256032">
              <a:spcAft>
                <a:spcPts val="990"/>
              </a:spcAft>
              <a:buClr>
                <a:srgbClr val="42B883"/>
              </a:buClr>
              <a:buSzPct val="100000"/>
              <a:buFont typeface="Arial"/>
              <a:buChar char="•"/>
            </a:pPr>
            <a:r>
              <a:rPr sz="2200" b="1" i="0">
                <a:solidFill>
                  <a:srgbClr val="1F2A36"/>
                </a:solidFill>
              </a:rPr>
              <a:t>Framework</a:t>
            </a:r>
            <a:r>
              <a:rPr sz="2200" b="0" i="0">
                <a:solidFill>
                  <a:srgbClr val="1F2A36"/>
                </a:solidFill>
              </a:rPr>
              <a:t> — opinionated about templates and components, flexible about everything else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a:t>
            </a:fld>
            <a:endParaRPr lang="en-US" sz="900">
              <a:solidFill>
                <a:srgbClr val="9AA7B4"/>
              </a:solidFill>
            </a:endParaRPr>
          </a:p>
        </p:txBody>
      </p:sp>
    </p:spTree>
    <p:extLst>
      <p:ext uri="{BB962C8B-B14F-4D97-AF65-F5344CB8AC3E}">
        <p14:creationId xmlns:p14="http://schemas.microsoft.com/office/powerpoint/2010/main" val="620610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C65E-A88D-194A-B7AD-CAD7FFB6D40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is Reactivity?</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The way an application changes the view in response to changes in its state.</a:t>
            </a:r>
          </a:p>
        </p:txBody>
      </p:sp>
      <p:sp>
        <p:nvSpPr>
          <p:cNvPr id="4" name="Code"/>
          <p:cNvSpPr/>
          <p:nvPr/>
        </p:nvSpPr>
        <p:spPr>
          <a:xfrm>
            <a:off x="457200" y="2193290"/>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count = ref(</a:t>
            </a:r>
            <a:r>
              <a:rPr sz="2000">
                <a:solidFill>
                  <a:srgbClr val="0550AE"/>
                </a:solidFill>
                <a:latin typeface="Consolas"/>
              </a:rPr>
              <a:t>0</a:t>
            </a:r>
            <a:r>
              <a:rPr sz="2000">
                <a:solidFill>
                  <a:srgbClr val="24292F"/>
                </a:solidFill>
                <a:latin typeface="Consolas"/>
              </a:rPr>
              <a:t>)      </a:t>
            </a:r>
            <a:r>
              <a:rPr sz="2000" i="1">
                <a:solidFill>
                  <a:srgbClr val="6E7781"/>
                </a:solidFill>
                <a:latin typeface="Consolas"/>
              </a:rPr>
              <a:t>// state</a:t>
            </a:r>
          </a:p>
          <a:p>
            <a:pPr marL="0" indent="0" algn="l">
              <a:lnSpc>
                <a:spcPct val="100000"/>
              </a:lnSpc>
              <a:buNone/>
            </a:pPr>
            <a:r>
              <a:rPr sz="2000">
                <a:solidFill>
                  <a:srgbClr val="24292F"/>
                </a:solidFill>
                <a:latin typeface="Consolas"/>
              </a:rPr>
              <a:t>count.value++             </a:t>
            </a:r>
            <a:r>
              <a:rPr sz="2000" i="1">
                <a:solidFill>
                  <a:srgbClr val="6E7781"/>
                </a:solidFill>
                <a:latin typeface="Consolas"/>
              </a:rPr>
              <a:t>// change the state...</a:t>
            </a:r>
          </a:p>
        </p:txBody>
      </p:sp>
      <p:sp>
        <p:nvSpPr>
          <p:cNvPr id="5" name="Code"/>
          <p:cNvSpPr/>
          <p:nvPr/>
        </p:nvSpPr>
        <p:spPr>
          <a:xfrm>
            <a:off x="457200" y="3262122"/>
            <a:ext cx="8229600" cy="5288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&lt;p&gt;</a:t>
            </a:r>
            <a:r>
              <a:rPr sz="1500">
                <a:solidFill>
                  <a:srgbClr val="24292F"/>
                </a:solidFill>
                <a:latin typeface="Consolas"/>
              </a:rPr>
              <a:t>{{ count }}</a:t>
            </a:r>
            <a:r>
              <a:rPr sz="1500">
                <a:solidFill>
                  <a:srgbClr val="116329"/>
                </a:solidFill>
                <a:latin typeface="Consolas"/>
              </a:rPr>
              <a:t>&lt;/p&gt;</a:t>
            </a:r>
            <a:r>
              <a:rPr sz="1500">
                <a:solidFill>
                  <a:srgbClr val="24292F"/>
                </a:solidFill>
                <a:latin typeface="Consolas"/>
              </a:rPr>
              <a:t>        </a:t>
            </a:r>
            <a:r>
              <a:rPr sz="1500" i="1">
                <a:solidFill>
                  <a:srgbClr val="6E7781"/>
                </a:solidFill>
                <a:latin typeface="Consolas"/>
              </a:rPr>
              <a:t>&lt;!-- ...and the view updates itself --&gt;</a:t>
            </a:r>
          </a:p>
        </p:txBody>
      </p:sp>
      <p:sp>
        <p:nvSpPr>
          <p:cNvPr id="6" name="Body"/>
          <p:cNvSpPr txBox="1"/>
          <p:nvPr/>
        </p:nvSpPr>
        <p:spPr>
          <a:xfrm>
            <a:off x="457200" y="3937254"/>
            <a:ext cx="8229600" cy="145770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You never write "find the element and update its text"</a:t>
            </a:r>
          </a:p>
          <a:p>
            <a:pPr marL="274320" indent="-256032">
              <a:spcAft>
                <a:spcPts val="990"/>
              </a:spcAft>
              <a:buClr>
                <a:srgbClr val="42B883"/>
              </a:buClr>
              <a:buSzPct val="100000"/>
              <a:buFont typeface="Arial"/>
              <a:buChar char="•"/>
            </a:pPr>
            <a:r>
              <a:rPr sz="2200" b="0" i="0">
                <a:solidFill>
                  <a:srgbClr val="1F2A36"/>
                </a:solidFill>
              </a:rPr>
              <a:t>Vue tracks which parts of the page read which state</a:t>
            </a:r>
          </a:p>
          <a:p>
            <a:pPr marL="274320" indent="-256032">
              <a:spcAft>
                <a:spcPts val="990"/>
              </a:spcAft>
              <a:buClr>
                <a:srgbClr val="42B883"/>
              </a:buClr>
              <a:buSzPct val="100000"/>
              <a:buFont typeface="Arial"/>
              <a:buChar char="•"/>
            </a:pPr>
            <a:r>
              <a:rPr sz="2200" b="0" i="0">
                <a:solidFill>
                  <a:srgbClr val="1F2A36"/>
                </a:solidFill>
              </a:rPr>
              <a:t>When state changes, only the affected parts re-render</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a:t>
            </a:fld>
            <a:endParaRPr lang="en-US" sz="900">
              <a:solidFill>
                <a:srgbClr val="9AA7B4"/>
              </a:solidFill>
            </a:endParaRPr>
          </a:p>
        </p:txBody>
      </p:sp>
    </p:spTree>
    <p:extLst>
      <p:ext uri="{BB962C8B-B14F-4D97-AF65-F5344CB8AC3E}">
        <p14:creationId xmlns:p14="http://schemas.microsoft.com/office/powerpoint/2010/main" val="199714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EF5-B40C-B644-AE83-A3B47A98BCC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History of Vue.js</a:t>
            </a:r>
          </a:p>
        </p:txBody>
      </p:sp>
      <p:sp>
        <p:nvSpPr>
          <p:cNvPr id="3" name="Body"/>
          <p:cNvSpPr txBox="1"/>
          <p:nvPr/>
        </p:nvSpPr>
        <p:spPr>
          <a:xfrm>
            <a:off x="457200" y="1261872"/>
            <a:ext cx="8229600" cy="403567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Created by </a:t>
            </a:r>
            <a:r>
              <a:rPr sz="2200" b="1" i="0">
                <a:solidFill>
                  <a:srgbClr val="1F2A36"/>
                </a:solidFill>
              </a:rPr>
              <a:t>Evan You</a:t>
            </a:r>
            <a:r>
              <a:rPr sz="2200" b="0" i="0">
                <a:solidFill>
                  <a:srgbClr val="1F2A36"/>
                </a:solidFill>
              </a:rPr>
              <a:t> after working at Google with AngularJS</a:t>
            </a:r>
          </a:p>
          <a:p>
            <a:pPr marL="566928" indent="-256032">
              <a:spcAft>
                <a:spcPts val="855"/>
              </a:spcAft>
              <a:buClr>
                <a:srgbClr val="6B7B8C"/>
              </a:buClr>
              <a:buSzPct val="100000"/>
              <a:buFont typeface="Arial"/>
              <a:buChar char="–"/>
            </a:pPr>
            <a:r>
              <a:rPr sz="1900" b="0" i="1">
                <a:solidFill>
                  <a:srgbClr val="3A4A5A"/>
                </a:solidFill>
              </a:rPr>
              <a:t>"I figured, what if I could just extract the part that I really liked about Angular and build something really lightweight."</a:t>
            </a:r>
          </a:p>
          <a:p>
            <a:pPr marL="274320" indent="-256032">
              <a:spcAft>
                <a:spcPts val="990"/>
              </a:spcAft>
              <a:buClr>
                <a:srgbClr val="42B883"/>
              </a:buClr>
              <a:buSzPct val="100000"/>
              <a:buFont typeface="Arial"/>
              <a:buChar char="•"/>
            </a:pPr>
            <a:r>
              <a:rPr sz="2200" b="0" i="0">
                <a:solidFill>
                  <a:srgbClr val="1F2A36"/>
                </a:solidFill>
              </a:rPr>
              <a:t>Vue was first released in </a:t>
            </a:r>
            <a:r>
              <a:rPr sz="2200" b="1" i="0">
                <a:solidFill>
                  <a:srgbClr val="1F2A36"/>
                </a:solidFill>
              </a:rPr>
              <a:t>February 2014</a:t>
            </a:r>
          </a:p>
          <a:p>
            <a:pPr marL="274320" indent="-256032">
              <a:spcAft>
                <a:spcPts val="990"/>
              </a:spcAft>
              <a:buClr>
                <a:srgbClr val="42B883"/>
              </a:buClr>
              <a:buSzPct val="100000"/>
              <a:buFont typeface="Arial"/>
              <a:buChar char="•"/>
            </a:pPr>
            <a:r>
              <a:rPr sz="2200" b="0" i="0">
                <a:solidFill>
                  <a:srgbClr val="1F2A36"/>
                </a:solidFill>
              </a:rPr>
              <a:t>Vue 3 shipped in </a:t>
            </a:r>
            <a:r>
              <a:rPr sz="2200" b="1" i="0">
                <a:solidFill>
                  <a:srgbClr val="1F2A36"/>
                </a:solidFill>
              </a:rPr>
              <a:t>September 2020</a:t>
            </a:r>
            <a:r>
              <a:rPr sz="2200" b="0" i="0">
                <a:solidFill>
                  <a:srgbClr val="1F2A36"/>
                </a:solidFill>
              </a:rPr>
              <a:t> and became the default in </a:t>
            </a:r>
            <a:r>
              <a:rPr sz="2200" b="1" i="0">
                <a:solidFill>
                  <a:srgbClr val="1F2A36"/>
                </a:solidFill>
              </a:rPr>
              <a:t>2022</a:t>
            </a:r>
          </a:p>
          <a:p>
            <a:pPr marL="274320" indent="-256032">
              <a:spcAft>
                <a:spcPts val="990"/>
              </a:spcAft>
              <a:buClr>
                <a:srgbClr val="42B883"/>
              </a:buClr>
              <a:buSzPct val="100000"/>
              <a:buFont typeface="Arial"/>
              <a:buChar char="•"/>
            </a:pPr>
            <a:r>
              <a:rPr sz="2200" b="0" i="0">
                <a:solidFill>
                  <a:srgbClr val="1F2A36"/>
                </a:solidFill>
              </a:rPr>
              <a:t>Vue 2 reached </a:t>
            </a:r>
            <a:r>
              <a:rPr sz="2200" b="1" i="0">
                <a:solidFill>
                  <a:srgbClr val="1F2A36"/>
                </a:solidFill>
              </a:rPr>
              <a:t>end of life on 31 December 2023</a:t>
            </a:r>
          </a:p>
          <a:p>
            <a:pPr marL="274320" indent="-256032">
              <a:spcAft>
                <a:spcPts val="990"/>
              </a:spcAft>
              <a:buClr>
                <a:srgbClr val="42B883"/>
              </a:buClr>
              <a:buSzPct val="100000"/>
              <a:buFont typeface="Arial"/>
              <a:buChar char="•"/>
            </a:pPr>
            <a:r>
              <a:rPr sz="2200" b="0" i="0">
                <a:solidFill>
                  <a:srgbClr val="1F2A36"/>
                </a:solidFill>
              </a:rPr>
              <a:t>Vue 3.6, with the opt-in </a:t>
            </a:r>
            <a:r>
              <a:rPr sz="2200" b="1" i="0">
                <a:solidFill>
                  <a:srgbClr val="1F2A36"/>
                </a:solidFill>
              </a:rPr>
              <a:t>Vapor Mode</a:t>
            </a:r>
            <a:r>
              <a:rPr sz="2200" b="0" i="0">
                <a:solidFill>
                  <a:srgbClr val="1F2A36"/>
                </a:solidFill>
              </a:rPr>
              <a:t> compiler, is in release-candidate testing (fall 2026)</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a:t>
            </a:fld>
            <a:endParaRPr lang="en-US" sz="900">
              <a:solidFill>
                <a:srgbClr val="9AA7B4"/>
              </a:solidFill>
            </a:endParaRPr>
          </a:p>
        </p:txBody>
      </p:sp>
    </p:spTree>
    <p:extLst>
      <p:ext uri="{BB962C8B-B14F-4D97-AF65-F5344CB8AC3E}">
        <p14:creationId xmlns:p14="http://schemas.microsoft.com/office/powerpoint/2010/main" val="3346972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BB8D-F255-6F42-8374-24B90221920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Makes Vue Different?</a:t>
            </a:r>
          </a:p>
        </p:txBody>
      </p:sp>
      <p:sp>
        <p:nvSpPr>
          <p:cNvPr id="3" name="Body"/>
          <p:cNvSpPr txBox="1"/>
          <p:nvPr/>
        </p:nvSpPr>
        <p:spPr>
          <a:xfrm>
            <a:off x="457200" y="1261872"/>
            <a:ext cx="8229600" cy="449414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Incrementally adoptable</a:t>
            </a:r>
          </a:p>
          <a:p>
            <a:pPr marL="566928" indent="-256032">
              <a:spcAft>
                <a:spcPts val="855"/>
              </a:spcAft>
              <a:buClr>
                <a:srgbClr val="6B7B8C"/>
              </a:buClr>
              <a:buSzPct val="100000"/>
              <a:buFont typeface="Arial"/>
              <a:buChar char="–"/>
            </a:pPr>
            <a:r>
              <a:rPr sz="1900" b="0" i="0">
                <a:solidFill>
                  <a:srgbClr val="3A4A5A"/>
                </a:solidFill>
              </a:rPr>
              <a:t>Use it with just a </a:t>
            </a:r>
            <a:r>
              <a:rPr sz="1805" b="0" i="0">
                <a:solidFill>
                  <a:srgbClr val="8A2B52"/>
                </a:solidFill>
                <a:latin typeface="Consolas"/>
              </a:rPr>
              <a:t>&lt;script&gt;</a:t>
            </a:r>
            <a:r>
              <a:rPr sz="1900" b="0" i="0">
                <a:solidFill>
                  <a:srgbClr val="3A4A5A"/>
                </a:solidFill>
              </a:rPr>
              <a:t> include, or with modern tooling</a:t>
            </a:r>
          </a:p>
          <a:p>
            <a:pPr marL="274320" indent="-256032">
              <a:spcAft>
                <a:spcPts val="990"/>
              </a:spcAft>
              <a:buClr>
                <a:srgbClr val="42B883"/>
              </a:buClr>
              <a:buSzPct val="100000"/>
              <a:buFont typeface="Arial"/>
              <a:buChar char="•"/>
            </a:pPr>
            <a:r>
              <a:rPr sz="2200" b="1" i="0">
                <a:solidFill>
                  <a:srgbClr val="1F2A36"/>
                </a:solidFill>
              </a:rPr>
              <a:t>Combines the best features of React and Angular</a:t>
            </a:r>
          </a:p>
          <a:p>
            <a:pPr marL="566928" indent="-256032">
              <a:spcAft>
                <a:spcPts val="855"/>
              </a:spcAft>
              <a:buClr>
                <a:srgbClr val="6B7B8C"/>
              </a:buClr>
              <a:buSzPct val="100000"/>
              <a:buFont typeface="Arial"/>
              <a:buChar char="–"/>
            </a:pPr>
            <a:r>
              <a:rPr sz="1900" b="0" i="0">
                <a:solidFill>
                  <a:srgbClr val="3A4A5A"/>
                </a:solidFill>
              </a:rPr>
              <a:t>More built in than React (templates, transitions, scoped CSS)</a:t>
            </a:r>
          </a:p>
          <a:p>
            <a:pPr marL="566928" indent="-256032">
              <a:spcAft>
                <a:spcPts val="855"/>
              </a:spcAft>
              <a:buClr>
                <a:srgbClr val="6B7B8C"/>
              </a:buClr>
              <a:buSzPct val="100000"/>
              <a:buFont typeface="Arial"/>
              <a:buChar char="–"/>
            </a:pPr>
            <a:r>
              <a:rPr sz="1900" b="0" i="0">
                <a:solidFill>
                  <a:srgbClr val="3A4A5A"/>
                </a:solidFill>
              </a:rPr>
              <a:t>Less complex than Angular</a:t>
            </a:r>
          </a:p>
          <a:p>
            <a:pPr marL="274320" indent="-256032">
              <a:spcAft>
                <a:spcPts val="990"/>
              </a:spcAft>
              <a:buClr>
                <a:srgbClr val="42B883"/>
              </a:buClr>
              <a:buSzPct val="100000"/>
              <a:buFont typeface="Arial"/>
              <a:buChar char="•"/>
            </a:pPr>
            <a:r>
              <a:rPr sz="2200" b="1" i="0">
                <a:solidFill>
                  <a:srgbClr val="1F2A36"/>
                </a:solidFill>
              </a:rPr>
              <a:t>Small</a:t>
            </a:r>
            <a:r>
              <a:rPr sz="2200" b="0" i="0">
                <a:solidFill>
                  <a:srgbClr val="1F2A36"/>
                </a:solidFill>
              </a:rPr>
              <a:t>: about 34 KB gzipped for the runtime plus reactivity</a:t>
            </a:r>
          </a:p>
          <a:p>
            <a:pPr marL="566928" indent="-256032">
              <a:spcAft>
                <a:spcPts val="855"/>
              </a:spcAft>
              <a:buClr>
                <a:srgbClr val="6B7B8C"/>
              </a:buClr>
              <a:buSzPct val="100000"/>
              <a:buFont typeface="Arial"/>
              <a:buChar char="–"/>
            </a:pPr>
            <a:r>
              <a:rPr sz="1900" b="0" i="0">
                <a:solidFill>
                  <a:srgbClr val="3A4A5A"/>
                </a:solidFill>
              </a:rPr>
              <a:t>Unused features are tree-shaken out of your bundle</a:t>
            </a:r>
          </a:p>
          <a:p>
            <a:pPr marL="274320" indent="-256032">
              <a:spcAft>
                <a:spcPts val="990"/>
              </a:spcAft>
              <a:buClr>
                <a:srgbClr val="42B883"/>
              </a:buClr>
              <a:buSzPct val="100000"/>
              <a:buFont typeface="Arial"/>
              <a:buChar char="•"/>
            </a:pPr>
            <a:r>
              <a:rPr sz="2200" b="1" i="0">
                <a:solidFill>
                  <a:srgbClr val="1F2A36"/>
                </a:solidFill>
              </a:rPr>
              <a:t>Independent</a:t>
            </a:r>
            <a:r>
              <a:rPr sz="2200" b="0" i="0">
                <a:solidFill>
                  <a:srgbClr val="1F2A36"/>
                </a:solidFill>
              </a:rPr>
              <a:t>: not created by a giant corporation</a:t>
            </a:r>
          </a:p>
          <a:p>
            <a:pPr marL="566928" indent="-256032">
              <a:spcAft>
                <a:spcPts val="855"/>
              </a:spcAft>
              <a:buClr>
                <a:srgbClr val="6B7B8C"/>
              </a:buClr>
              <a:buSzPct val="100000"/>
              <a:buFont typeface="Arial"/>
              <a:buChar char="–"/>
            </a:pPr>
            <a:r>
              <a:rPr sz="1900" b="0" i="0">
                <a:solidFill>
                  <a:srgbClr val="3A4A5A"/>
                </a:solidFill>
              </a:rPr>
              <a:t>Governed by an independent core team, funded by its users and sponsors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a:t>
            </a:fld>
            <a:endParaRPr lang="en-US" sz="900">
              <a:solidFill>
                <a:srgbClr val="9AA7B4"/>
              </a:solidFill>
            </a:endParaRPr>
          </a:p>
        </p:txBody>
      </p:sp>
    </p:spTree>
    <p:extLst>
      <p:ext uri="{BB962C8B-B14F-4D97-AF65-F5344CB8AC3E}">
        <p14:creationId xmlns:p14="http://schemas.microsoft.com/office/powerpoint/2010/main" val="4080800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74811-850C-5448-8B28-3D61ACE94A8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Comparison of Framework File Sizes</a:t>
            </a:r>
          </a:p>
        </p:txBody>
      </p:sp>
      <p:graphicFrame>
        <p:nvGraphicFramePr>
          <p:cNvPr id="4" name="Table 3"/>
          <p:cNvGraphicFramePr>
            <a:graphicFrameLocks noGrp="1"/>
          </p:cNvGraphicFramePr>
          <p:nvPr/>
        </p:nvGraphicFramePr>
        <p:xfrm>
          <a:off x="1280160" y="1261872"/>
          <a:ext cx="6583680" cy="4544556"/>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78713">
                <a:tc>
                  <a:txBody>
                    <a:bodyPr/>
                    <a:lstStyle/>
                    <a:p>
                      <a:r>
                        <a:rPr sz="1400" b="1" i="0">
                          <a:solidFill>
                            <a:srgbClr val="FFFFFF"/>
                          </a:solidFill>
                        </a:rPr>
                        <a:t>Framework (historical versions)</a:t>
                      </a:r>
                    </a:p>
                  </a:txBody>
                  <a:tcPr marT="27432" marB="27432" anchor="ctr">
                    <a:solidFill>
                      <a:srgbClr val="35495E"/>
                    </a:solidFill>
                  </a:tcPr>
                </a:tc>
                <a:tc>
                  <a:txBody>
                    <a:bodyPr/>
                    <a:lstStyle/>
                    <a:p>
                      <a:r>
                        <a:rPr sz="1400" b="1" i="0">
                          <a:solidFill>
                            <a:srgbClr val="FFFFFF"/>
                          </a:solidFill>
                        </a:rPr>
                        <a:t>Size</a:t>
                      </a:r>
                    </a:p>
                  </a:txBody>
                  <a:tcPr marT="27432" marB="27432" anchor="ctr">
                    <a:solidFill>
                      <a:srgbClr val="35495E"/>
                    </a:solidFill>
                  </a:tcPr>
                </a:tc>
                <a:extLst>
                  <a:ext uri="{0D108BD9-81ED-4DB2-BD59-A6C34878D82A}">
                    <a16:rowId xmlns:a16="http://schemas.microsoft.com/office/drawing/2014/main" val="10000"/>
                  </a:ext>
                </a:extLst>
              </a:tr>
              <a:tr h="378713">
                <a:tc>
                  <a:txBody>
                    <a:bodyPr/>
                    <a:lstStyle/>
                    <a:p>
                      <a:r>
                        <a:rPr sz="1400" b="0" i="0">
                          <a:solidFill>
                            <a:srgbClr val="1F2A36"/>
                          </a:solidFill>
                        </a:rPr>
                        <a:t>Angular 2 + Rx</a:t>
                      </a:r>
                    </a:p>
                  </a:txBody>
                  <a:tcPr marT="27432" marB="27432" anchor="ctr">
                    <a:solidFill>
                      <a:srgbClr val="FFFFFF"/>
                    </a:solidFill>
                  </a:tcPr>
                </a:tc>
                <a:tc>
                  <a:txBody>
                    <a:bodyPr/>
                    <a:lstStyle/>
                    <a:p>
                      <a:r>
                        <a:rPr sz="1400" b="0" i="0">
                          <a:solidFill>
                            <a:srgbClr val="1F2A36"/>
                          </a:solidFill>
                        </a:rPr>
                        <a:t>766 KB</a:t>
                      </a:r>
                    </a:p>
                  </a:txBody>
                  <a:tcPr marT="27432" marB="27432" anchor="ctr">
                    <a:solidFill>
                      <a:srgbClr val="FFFFFF"/>
                    </a:solidFill>
                  </a:tcPr>
                </a:tc>
                <a:extLst>
                  <a:ext uri="{0D108BD9-81ED-4DB2-BD59-A6C34878D82A}">
                    <a16:rowId xmlns:a16="http://schemas.microsoft.com/office/drawing/2014/main" val="10001"/>
                  </a:ext>
                </a:extLst>
              </a:tr>
              <a:tr h="378713">
                <a:tc>
                  <a:txBody>
                    <a:bodyPr/>
                    <a:lstStyle/>
                    <a:p>
                      <a:r>
                        <a:rPr sz="1400" b="0" i="0">
                          <a:solidFill>
                            <a:srgbClr val="1F2A36"/>
                          </a:solidFill>
                        </a:rPr>
                        <a:t>Angular 2</a:t>
                      </a:r>
                    </a:p>
                  </a:txBody>
                  <a:tcPr marT="27432" marB="27432" anchor="ctr">
                    <a:solidFill>
                      <a:srgbClr val="F6F8FA"/>
                    </a:solidFill>
                  </a:tcPr>
                </a:tc>
                <a:tc>
                  <a:txBody>
                    <a:bodyPr/>
                    <a:lstStyle/>
                    <a:p>
                      <a:r>
                        <a:rPr sz="1400" b="0" i="0">
                          <a:solidFill>
                            <a:srgbClr val="1F2A36"/>
                          </a:solidFill>
                        </a:rPr>
                        <a:t>566 KB</a:t>
                      </a:r>
                    </a:p>
                  </a:txBody>
                  <a:tcPr marT="27432" marB="27432" anchor="ctr">
                    <a:solidFill>
                      <a:srgbClr val="F6F8FA"/>
                    </a:solidFill>
                  </a:tcPr>
                </a:tc>
                <a:extLst>
                  <a:ext uri="{0D108BD9-81ED-4DB2-BD59-A6C34878D82A}">
                    <a16:rowId xmlns:a16="http://schemas.microsoft.com/office/drawing/2014/main" val="10002"/>
                  </a:ext>
                </a:extLst>
              </a:tr>
              <a:tr h="378713">
                <a:tc>
                  <a:txBody>
                    <a:bodyPr/>
                    <a:lstStyle/>
                    <a:p>
                      <a:r>
                        <a:rPr sz="1400" b="0" i="0">
                          <a:solidFill>
                            <a:srgbClr val="1F2A36"/>
                          </a:solidFill>
                        </a:rPr>
                        <a:t>Ember 1.13.8</a:t>
                      </a:r>
                    </a:p>
                  </a:txBody>
                  <a:tcPr marT="27432" marB="27432" anchor="ctr">
                    <a:solidFill>
                      <a:srgbClr val="FFFFFF"/>
                    </a:solidFill>
                  </a:tcPr>
                </a:tc>
                <a:tc>
                  <a:txBody>
                    <a:bodyPr/>
                    <a:lstStyle/>
                    <a:p>
                      <a:r>
                        <a:rPr sz="1400" b="0" i="0">
                          <a:solidFill>
                            <a:srgbClr val="1F2A36"/>
                          </a:solidFill>
                        </a:rPr>
                        <a:t>486 KB</a:t>
                      </a:r>
                    </a:p>
                  </a:txBody>
                  <a:tcPr marT="27432" marB="27432" anchor="ctr">
                    <a:solidFill>
                      <a:srgbClr val="FFFFFF"/>
                    </a:solidFill>
                  </a:tcPr>
                </a:tc>
                <a:extLst>
                  <a:ext uri="{0D108BD9-81ED-4DB2-BD59-A6C34878D82A}">
                    <a16:rowId xmlns:a16="http://schemas.microsoft.com/office/drawing/2014/main" val="10003"/>
                  </a:ext>
                </a:extLst>
              </a:tr>
              <a:tr h="378713">
                <a:tc>
                  <a:txBody>
                    <a:bodyPr/>
                    <a:lstStyle/>
                    <a:p>
                      <a:r>
                        <a:rPr sz="1400" b="0" i="0">
                          <a:solidFill>
                            <a:srgbClr val="1F2A36"/>
                          </a:solidFill>
                        </a:rPr>
                        <a:t>Ember 2.2.0</a:t>
                      </a:r>
                    </a:p>
                  </a:txBody>
                  <a:tcPr marT="27432" marB="27432" anchor="ctr">
                    <a:solidFill>
                      <a:srgbClr val="F6F8FA"/>
                    </a:solidFill>
                  </a:tcPr>
                </a:tc>
                <a:tc>
                  <a:txBody>
                    <a:bodyPr/>
                    <a:lstStyle/>
                    <a:p>
                      <a:r>
                        <a:rPr sz="1400" b="0" i="0">
                          <a:solidFill>
                            <a:srgbClr val="1F2A36"/>
                          </a:solidFill>
                        </a:rPr>
                        <a:t>435 KB</a:t>
                      </a:r>
                    </a:p>
                  </a:txBody>
                  <a:tcPr marT="27432" marB="27432" anchor="ctr">
                    <a:solidFill>
                      <a:srgbClr val="F6F8FA"/>
                    </a:solidFill>
                  </a:tcPr>
                </a:tc>
                <a:extLst>
                  <a:ext uri="{0D108BD9-81ED-4DB2-BD59-A6C34878D82A}">
                    <a16:rowId xmlns:a16="http://schemas.microsoft.com/office/drawing/2014/main" val="10004"/>
                  </a:ext>
                </a:extLst>
              </a:tr>
              <a:tr h="378713">
                <a:tc>
                  <a:txBody>
                    <a:bodyPr/>
                    <a:lstStyle/>
                    <a:p>
                      <a:r>
                        <a:rPr sz="1400" b="0" i="0">
                          <a:solidFill>
                            <a:srgbClr val="1F2A36"/>
                          </a:solidFill>
                        </a:rPr>
                        <a:t>Angular 1.4.5</a:t>
                      </a:r>
                    </a:p>
                  </a:txBody>
                  <a:tcPr marT="27432" marB="27432" anchor="ctr">
                    <a:solidFill>
                      <a:srgbClr val="FFFFFF"/>
                    </a:solidFill>
                  </a:tcPr>
                </a:tc>
                <a:tc>
                  <a:txBody>
                    <a:bodyPr/>
                    <a:lstStyle/>
                    <a:p>
                      <a:r>
                        <a:rPr sz="1400" b="0" i="0">
                          <a:solidFill>
                            <a:srgbClr val="1F2A36"/>
                          </a:solidFill>
                        </a:rPr>
                        <a:t>143 KB</a:t>
                      </a:r>
                    </a:p>
                  </a:txBody>
                  <a:tcPr marT="27432" marB="27432" anchor="ctr">
                    <a:solidFill>
                      <a:srgbClr val="FFFFFF"/>
                    </a:solidFill>
                  </a:tcPr>
                </a:tc>
                <a:extLst>
                  <a:ext uri="{0D108BD9-81ED-4DB2-BD59-A6C34878D82A}">
                    <a16:rowId xmlns:a16="http://schemas.microsoft.com/office/drawing/2014/main" val="10005"/>
                  </a:ext>
                </a:extLst>
              </a:tr>
              <a:tr h="378713">
                <a:tc>
                  <a:txBody>
                    <a:bodyPr/>
                    <a:lstStyle/>
                    <a:p>
                      <a:r>
                        <a:rPr sz="1400" b="0" i="0">
                          <a:solidFill>
                            <a:srgbClr val="1F2A36"/>
                          </a:solidFill>
                        </a:rPr>
                        <a:t>React 0.14.5 + React DOM + Redux</a:t>
                      </a:r>
                    </a:p>
                  </a:txBody>
                  <a:tcPr marT="27432" marB="27432" anchor="ctr">
                    <a:solidFill>
                      <a:srgbClr val="F6F8FA"/>
                    </a:solidFill>
                  </a:tcPr>
                </a:tc>
                <a:tc>
                  <a:txBody>
                    <a:bodyPr/>
                    <a:lstStyle/>
                    <a:p>
                      <a:r>
                        <a:rPr sz="1400" b="0" i="0">
                          <a:solidFill>
                            <a:srgbClr val="1F2A36"/>
                          </a:solidFill>
                        </a:rPr>
                        <a:t>139 KB</a:t>
                      </a:r>
                    </a:p>
                  </a:txBody>
                  <a:tcPr marT="27432" marB="27432" anchor="ctr">
                    <a:solidFill>
                      <a:srgbClr val="F6F8FA"/>
                    </a:solidFill>
                  </a:tcPr>
                </a:tc>
                <a:extLst>
                  <a:ext uri="{0D108BD9-81ED-4DB2-BD59-A6C34878D82A}">
                    <a16:rowId xmlns:a16="http://schemas.microsoft.com/office/drawing/2014/main" val="10006"/>
                  </a:ext>
                </a:extLst>
              </a:tr>
              <a:tr h="378713">
                <a:tc>
                  <a:txBody>
                    <a:bodyPr/>
                    <a:lstStyle/>
                    <a:p>
                      <a:r>
                        <a:rPr sz="1400" b="0" i="0">
                          <a:solidFill>
                            <a:srgbClr val="1F2A36"/>
                          </a:solidFill>
                        </a:rPr>
                        <a:t>React 0.14.5 + React DOM</a:t>
                      </a:r>
                    </a:p>
                  </a:txBody>
                  <a:tcPr marT="27432" marB="27432" anchor="ctr">
                    <a:solidFill>
                      <a:srgbClr val="FFFFFF"/>
                    </a:solidFill>
                  </a:tcPr>
                </a:tc>
                <a:tc>
                  <a:txBody>
                    <a:bodyPr/>
                    <a:lstStyle/>
                    <a:p>
                      <a:r>
                        <a:rPr sz="1400" b="0" i="0">
                          <a:solidFill>
                            <a:srgbClr val="1F2A36"/>
                          </a:solidFill>
                        </a:rPr>
                        <a:t>133 KB</a:t>
                      </a:r>
                    </a:p>
                  </a:txBody>
                  <a:tcPr marT="27432" marB="27432" anchor="ctr">
                    <a:solidFill>
                      <a:srgbClr val="FFFFFF"/>
                    </a:solidFill>
                  </a:tcPr>
                </a:tc>
                <a:extLst>
                  <a:ext uri="{0D108BD9-81ED-4DB2-BD59-A6C34878D82A}">
                    <a16:rowId xmlns:a16="http://schemas.microsoft.com/office/drawing/2014/main" val="10007"/>
                  </a:ext>
                </a:extLst>
              </a:tr>
              <a:tr h="378713">
                <a:tc>
                  <a:txBody>
                    <a:bodyPr/>
                    <a:lstStyle/>
                    <a:p>
                      <a:r>
                        <a:rPr sz="1400" b="0" i="0">
                          <a:solidFill>
                            <a:srgbClr val="1F2A36"/>
                          </a:solidFill>
                        </a:rPr>
                        <a:t>React 16.2.0 + React DOM</a:t>
                      </a:r>
                    </a:p>
                  </a:txBody>
                  <a:tcPr marT="27432" marB="27432" anchor="ctr">
                    <a:solidFill>
                      <a:srgbClr val="F6F8FA"/>
                    </a:solidFill>
                  </a:tcPr>
                </a:tc>
                <a:tc>
                  <a:txBody>
                    <a:bodyPr/>
                    <a:lstStyle/>
                    <a:p>
                      <a:r>
                        <a:rPr sz="1400" b="0" i="0">
                          <a:solidFill>
                            <a:srgbClr val="1F2A36"/>
                          </a:solidFill>
                        </a:rPr>
                        <a:t>97.5 KB</a:t>
                      </a:r>
                    </a:p>
                  </a:txBody>
                  <a:tcPr marT="27432" marB="27432" anchor="ctr">
                    <a:solidFill>
                      <a:srgbClr val="F6F8FA"/>
                    </a:solidFill>
                  </a:tcPr>
                </a:tc>
                <a:extLst>
                  <a:ext uri="{0D108BD9-81ED-4DB2-BD59-A6C34878D82A}">
                    <a16:rowId xmlns:a16="http://schemas.microsoft.com/office/drawing/2014/main" val="10008"/>
                  </a:ext>
                </a:extLst>
              </a:tr>
              <a:tr h="378713">
                <a:tc>
                  <a:txBody>
                    <a:bodyPr/>
                    <a:lstStyle/>
                    <a:p>
                      <a:r>
                        <a:rPr sz="1400" b="1" i="0">
                          <a:solidFill>
                            <a:srgbClr val="1F2A36"/>
                          </a:solidFill>
                        </a:rPr>
                        <a:t>Vue 2.4.2</a:t>
                      </a:r>
                    </a:p>
                  </a:txBody>
                  <a:tcPr marT="27432" marB="27432" anchor="ctr">
                    <a:solidFill>
                      <a:srgbClr val="DFF3E8"/>
                    </a:solidFill>
                  </a:tcPr>
                </a:tc>
                <a:tc>
                  <a:txBody>
                    <a:bodyPr/>
                    <a:lstStyle/>
                    <a:p>
                      <a:r>
                        <a:rPr sz="1400" b="1" i="0">
                          <a:solidFill>
                            <a:srgbClr val="1F2A36"/>
                          </a:solidFill>
                        </a:rPr>
                        <a:t>58.8 KB</a:t>
                      </a:r>
                    </a:p>
                  </a:txBody>
                  <a:tcPr marT="27432" marB="27432" anchor="ctr">
                    <a:solidFill>
                      <a:srgbClr val="DFF3E8"/>
                    </a:solidFill>
                  </a:tcPr>
                </a:tc>
                <a:extLst>
                  <a:ext uri="{0D108BD9-81ED-4DB2-BD59-A6C34878D82A}">
                    <a16:rowId xmlns:a16="http://schemas.microsoft.com/office/drawing/2014/main" val="10009"/>
                  </a:ext>
                </a:extLst>
              </a:tr>
              <a:tr h="378713">
                <a:tc>
                  <a:txBody>
                    <a:bodyPr/>
                    <a:lstStyle/>
                    <a:p>
                      <a:r>
                        <a:rPr sz="1400" b="0" i="0">
                          <a:solidFill>
                            <a:srgbClr val="1F2A36"/>
                          </a:solidFill>
                        </a:rPr>
                        <a:t>Inferno 1.2.2</a:t>
                      </a:r>
                    </a:p>
                  </a:txBody>
                  <a:tcPr marT="27432" marB="27432" anchor="ctr">
                    <a:solidFill>
                      <a:srgbClr val="F6F8FA"/>
                    </a:solidFill>
                  </a:tcPr>
                </a:tc>
                <a:tc>
                  <a:txBody>
                    <a:bodyPr/>
                    <a:lstStyle/>
                    <a:p>
                      <a:r>
                        <a:rPr sz="1400" b="0" i="0">
                          <a:solidFill>
                            <a:srgbClr val="1F2A36"/>
                          </a:solidFill>
                        </a:rPr>
                        <a:t>48 KB</a:t>
                      </a:r>
                    </a:p>
                  </a:txBody>
                  <a:tcPr marT="27432" marB="27432" anchor="ctr">
                    <a:solidFill>
                      <a:srgbClr val="F6F8FA"/>
                    </a:solidFill>
                  </a:tcPr>
                </a:tc>
                <a:extLst>
                  <a:ext uri="{0D108BD9-81ED-4DB2-BD59-A6C34878D82A}">
                    <a16:rowId xmlns:a16="http://schemas.microsoft.com/office/drawing/2014/main" val="10010"/>
                  </a:ext>
                </a:extLst>
              </a:tr>
              <a:tr h="378713">
                <a:tc>
                  <a:txBody>
                    <a:bodyPr/>
                    <a:lstStyle/>
                    <a:p>
                      <a:r>
                        <a:rPr sz="1400" b="0" i="0">
                          <a:solidFill>
                            <a:srgbClr val="1F2A36"/>
                          </a:solidFill>
                        </a:rPr>
                        <a:t>Preact 7.2.0</a:t>
                      </a:r>
                    </a:p>
                  </a:txBody>
                  <a:tcPr marT="27432" marB="27432" anchor="ctr">
                    <a:solidFill>
                      <a:srgbClr val="FFFFFF"/>
                    </a:solidFill>
                  </a:tcPr>
                </a:tc>
                <a:tc>
                  <a:txBody>
                    <a:bodyPr/>
                    <a:lstStyle/>
                    <a:p>
                      <a:r>
                        <a:rPr sz="1400" b="0" i="0">
                          <a:solidFill>
                            <a:srgbClr val="1F2A36"/>
                          </a:solidFill>
                        </a:rPr>
                        <a:t>16 KB</a:t>
                      </a:r>
                    </a:p>
                  </a:txBody>
                  <a:tcPr marT="27432" marB="27432" anchor="ctr">
                    <a:solidFill>
                      <a:srgbClr val="FFFFFF"/>
                    </a:solidFill>
                  </a:tcPr>
                </a:tc>
                <a:extLst>
                  <a:ext uri="{0D108BD9-81ED-4DB2-BD59-A6C34878D82A}">
                    <a16:rowId xmlns:a16="http://schemas.microsoft.com/office/drawing/2014/main" val="10011"/>
                  </a:ext>
                </a:extLst>
              </a:tr>
            </a:tbl>
          </a:graphicData>
        </a:graphic>
      </p:graphicFrame>
      <p:sp>
        <p:nvSpPr>
          <p:cNvPr id="5" name="Caption"/>
          <p:cNvSpPr txBox="1"/>
          <p:nvPr/>
        </p:nvSpPr>
        <p:spPr>
          <a:xfrm>
            <a:off x="457200" y="5916168"/>
            <a:ext cx="8229600" cy="365760"/>
          </a:xfrm>
          <a:prstGeom prst="rect">
            <a:avLst/>
          </a:prstGeom>
          <a:noFill/>
        </p:spPr>
        <p:txBody>
          <a:bodyPr wrap="square" lIns="0" tIns="0" rIns="0" bIns="0">
            <a:noAutofit/>
          </a:bodyPr>
          <a:lstStyle/>
          <a:p>
            <a:r>
              <a:rPr sz="1200" b="0" i="1">
                <a:solidFill>
                  <a:srgbClr val="6B7B8C"/>
                </a:solidFill>
              </a:rPr>
              <a:t>Historical comparison of minified builds from the Vue 2 era. Current Vue 3: about 34 KB gzipped (runtime + reactivity).</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a:t>
            </a:fld>
            <a:endParaRPr lang="en-US" sz="900">
              <a:solidFill>
                <a:srgbClr val="9AA7B4"/>
              </a:solidFill>
            </a:endParaRPr>
          </a:p>
        </p:txBody>
      </p:sp>
    </p:spTree>
    <p:extLst>
      <p:ext uri="{BB962C8B-B14F-4D97-AF65-F5344CB8AC3E}">
        <p14:creationId xmlns:p14="http://schemas.microsoft.com/office/powerpoint/2010/main" val="221811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BDDA-559C-3D42-A270-EA38CC25794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vs. React and Angular</a:t>
            </a:r>
          </a:p>
        </p:txBody>
      </p:sp>
      <p:sp>
        <p:nvSpPr>
          <p:cNvPr id="3" name="Tip"/>
          <p:cNvSpPr/>
          <p:nvPr/>
        </p:nvSpPr>
        <p:spPr>
          <a:xfrm>
            <a:off x="457200" y="1261872"/>
            <a:ext cx="8229600" cy="82295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800" b="0" i="0">
                <a:solidFill>
                  <a:srgbClr val="1F2A36"/>
                </a:solidFill>
              </a:rPr>
              <a:t>All three now favour function-based, composable components: Vue's </a:t>
            </a:r>
            <a:r>
              <a:rPr sz="1800" b="1" i="0">
                <a:solidFill>
                  <a:srgbClr val="1F2A36"/>
                </a:solidFill>
              </a:rPr>
              <a:t>Composition API</a:t>
            </a:r>
            <a:r>
              <a:rPr sz="1800" b="0" i="0">
                <a:solidFill>
                  <a:srgbClr val="1F2A36"/>
                </a:solidFill>
              </a:rPr>
              <a:t>, React's </a:t>
            </a:r>
            <a:r>
              <a:rPr sz="1800" b="1" i="0">
                <a:solidFill>
                  <a:srgbClr val="1F2A36"/>
                </a:solidFill>
              </a:rPr>
              <a:t>hooks</a:t>
            </a:r>
            <a:r>
              <a:rPr sz="1800" b="0" i="0">
                <a:solidFill>
                  <a:srgbClr val="1F2A36"/>
                </a:solidFill>
              </a:rPr>
              <a:t>, Angular's </a:t>
            </a:r>
            <a:r>
              <a:rPr sz="1800" b="1" i="0">
                <a:solidFill>
                  <a:srgbClr val="1F2A36"/>
                </a:solidFill>
              </a:rPr>
              <a:t>signals</a:t>
            </a:r>
            <a:r>
              <a:rPr sz="1800" b="0" i="0">
                <a:solidFill>
                  <a:srgbClr val="1F2A36"/>
                </a:solidFill>
              </a:rPr>
              <a:t>.</a:t>
            </a:r>
          </a:p>
        </p:txBody>
      </p:sp>
      <p:sp>
        <p:nvSpPr>
          <p:cNvPr id="4" name="Body"/>
          <p:cNvSpPr txBox="1"/>
          <p:nvPr/>
        </p:nvSpPr>
        <p:spPr>
          <a:xfrm>
            <a:off x="457200" y="2231136"/>
            <a:ext cx="3954780" cy="3775709"/>
          </a:xfrm>
          <a:prstGeom prst="rect">
            <a:avLst/>
          </a:prstGeom>
          <a:noFill/>
        </p:spPr>
        <p:txBody>
          <a:bodyPr wrap="square" lIns="0" tIns="0" rIns="0" bIns="0">
            <a:noAutofit/>
          </a:bodyPr>
          <a:lstStyle/>
          <a:p>
            <a:pPr marL="0" indent="0">
              <a:spcAft>
                <a:spcPts val="735"/>
              </a:spcAft>
              <a:buNone/>
            </a:pPr>
            <a:r>
              <a:rPr sz="2100" b="1" i="0">
                <a:solidFill>
                  <a:srgbClr val="2E8B62"/>
                </a:solidFill>
              </a:rPr>
              <a:t>Vue and Angular</a:t>
            </a:r>
          </a:p>
          <a:p>
            <a:pPr marL="274320" indent="-256032">
              <a:spcAft>
                <a:spcPts val="945"/>
              </a:spcAft>
              <a:buClr>
                <a:srgbClr val="42B883"/>
              </a:buClr>
              <a:buSzPct val="100000"/>
              <a:buFont typeface="Arial"/>
              <a:buChar char="•"/>
            </a:pPr>
            <a:r>
              <a:rPr sz="2100" b="1" i="0">
                <a:solidFill>
                  <a:srgbClr val="1F2A36"/>
                </a:solidFill>
              </a:rPr>
              <a:t>Two-way data binding</a:t>
            </a:r>
            <a:r>
              <a:rPr sz="2100" b="0" i="0">
                <a:solidFill>
                  <a:srgbClr val="1F2A36"/>
                </a:solidFill>
              </a:rPr>
              <a:t> with </a:t>
            </a:r>
            <a:r>
              <a:rPr sz="1995" b="0" i="0">
                <a:solidFill>
                  <a:srgbClr val="8A2B52"/>
                </a:solidFill>
                <a:latin typeface="Consolas"/>
              </a:rPr>
              <a:t>v-model</a:t>
            </a:r>
          </a:p>
          <a:p>
            <a:pPr marL="566928" indent="-256032">
              <a:spcAft>
                <a:spcPts val="810"/>
              </a:spcAft>
              <a:buClr>
                <a:srgbClr val="6B7B8C"/>
              </a:buClr>
              <a:buSzPct val="100000"/>
              <a:buFont typeface="Arial"/>
              <a:buChar char="–"/>
            </a:pPr>
            <a:r>
              <a:rPr sz="1800" b="0" i="0">
                <a:solidFill>
                  <a:srgbClr val="3A4A5A"/>
                </a:solidFill>
              </a:rPr>
              <a:t>Data changes update the view</a:t>
            </a:r>
          </a:p>
          <a:p>
            <a:pPr marL="566928" indent="-256032">
              <a:spcAft>
                <a:spcPts val="810"/>
              </a:spcAft>
              <a:buClr>
                <a:srgbClr val="6B7B8C"/>
              </a:buClr>
              <a:buSzPct val="100000"/>
              <a:buFont typeface="Arial"/>
              <a:buChar char="–"/>
            </a:pPr>
            <a:r>
              <a:rPr sz="1800" b="0" i="0">
                <a:solidFill>
                  <a:srgbClr val="3A4A5A"/>
                </a:solidFill>
              </a:rPr>
              <a:t>Input in the view updates the data</a:t>
            </a:r>
          </a:p>
          <a:p>
            <a:pPr marL="274320" indent="-256032">
              <a:spcAft>
                <a:spcPts val="945"/>
              </a:spcAft>
              <a:buClr>
                <a:srgbClr val="42B883"/>
              </a:buClr>
              <a:buSzPct val="100000"/>
              <a:buFont typeface="Arial"/>
              <a:buChar char="•"/>
            </a:pPr>
            <a:r>
              <a:rPr sz="2100" b="1" i="0">
                <a:solidFill>
                  <a:srgbClr val="1F2A36"/>
                </a:solidFill>
              </a:rPr>
              <a:t>Built-in directives</a:t>
            </a:r>
          </a:p>
          <a:p>
            <a:pPr marL="566928" indent="-256032">
              <a:spcAft>
                <a:spcPts val="810"/>
              </a:spcAft>
              <a:buClr>
                <a:srgbClr val="6B7B8C"/>
              </a:buClr>
              <a:buSzPct val="100000"/>
              <a:buFont typeface="Arial"/>
              <a:buChar char="–"/>
            </a:pPr>
            <a:r>
              <a:rPr sz="1709" b="0" i="0">
                <a:solidFill>
                  <a:srgbClr val="8A2B52"/>
                </a:solidFill>
                <a:latin typeface="Consolas"/>
              </a:rPr>
              <a:t>v-for</a:t>
            </a:r>
            <a:r>
              <a:rPr sz="1800" b="0" i="0">
                <a:solidFill>
                  <a:srgbClr val="3A4A5A"/>
                </a:solidFill>
              </a:rPr>
              <a:t>, </a:t>
            </a:r>
            <a:r>
              <a:rPr sz="1709" b="0" i="0">
                <a:solidFill>
                  <a:srgbClr val="8A2B52"/>
                </a:solidFill>
                <a:latin typeface="Consolas"/>
              </a:rPr>
              <a:t>v-if</a:t>
            </a:r>
            <a:r>
              <a:rPr sz="1800" b="0" i="0">
                <a:solidFill>
                  <a:srgbClr val="3A4A5A"/>
                </a:solidFill>
              </a:rPr>
              <a:t>, </a:t>
            </a:r>
            <a:r>
              <a:rPr sz="1709" b="0" i="0">
                <a:solidFill>
                  <a:srgbClr val="8A2B52"/>
                </a:solidFill>
                <a:latin typeface="Consolas"/>
              </a:rPr>
              <a:t>v-on</a:t>
            </a:r>
            <a:r>
              <a:rPr sz="1800" b="0" i="0">
                <a:solidFill>
                  <a:srgbClr val="3A4A5A"/>
                </a:solidFill>
              </a:rPr>
              <a:t>, </a:t>
            </a:r>
            <a:r>
              <a:rPr sz="1709" b="0" i="0">
                <a:solidFill>
                  <a:srgbClr val="8A2B52"/>
                </a:solidFill>
                <a:latin typeface="Consolas"/>
              </a:rPr>
              <a:t>v-bind</a:t>
            </a:r>
            <a:r>
              <a:rPr sz="1800" b="0" i="0">
                <a:solidFill>
                  <a:srgbClr val="3A4A5A"/>
                </a:solidFill>
              </a:rPr>
              <a:t>, </a:t>
            </a:r>
            <a:r>
              <a:rPr sz="1709" b="0" i="0">
                <a:solidFill>
                  <a:srgbClr val="8A2B52"/>
                </a:solidFill>
                <a:latin typeface="Consolas"/>
              </a:rPr>
              <a:t>v-model</a:t>
            </a:r>
          </a:p>
          <a:p>
            <a:pPr marL="274320" indent="-256032">
              <a:spcAft>
                <a:spcPts val="945"/>
              </a:spcAft>
              <a:buClr>
                <a:srgbClr val="42B883"/>
              </a:buClr>
              <a:buSzPct val="100000"/>
              <a:buFont typeface="Arial"/>
              <a:buChar char="•"/>
            </a:pPr>
            <a:r>
              <a:rPr sz="2100" b="0" i="0">
                <a:solidFill>
                  <a:srgbClr val="1F2A36"/>
                </a:solidFill>
              </a:rPr>
              <a:t>HTML-based templates</a:t>
            </a:r>
          </a:p>
        </p:txBody>
      </p:sp>
      <p:sp>
        <p:nvSpPr>
          <p:cNvPr id="5" name="Body"/>
          <p:cNvSpPr txBox="1"/>
          <p:nvPr/>
        </p:nvSpPr>
        <p:spPr>
          <a:xfrm>
            <a:off x="4732020" y="2231136"/>
            <a:ext cx="3954780" cy="3461003"/>
          </a:xfrm>
          <a:prstGeom prst="rect">
            <a:avLst/>
          </a:prstGeom>
          <a:noFill/>
        </p:spPr>
        <p:txBody>
          <a:bodyPr wrap="square" lIns="0" tIns="0" rIns="0" bIns="0">
            <a:noAutofit/>
          </a:bodyPr>
          <a:lstStyle/>
          <a:p>
            <a:pPr marL="0" indent="0">
              <a:spcAft>
                <a:spcPts val="735"/>
              </a:spcAft>
              <a:buNone/>
            </a:pPr>
            <a:r>
              <a:rPr sz="2100" b="1" i="0">
                <a:solidFill>
                  <a:srgbClr val="2E8B62"/>
                </a:solidFill>
              </a:rPr>
              <a:t>React</a:t>
            </a:r>
          </a:p>
          <a:p>
            <a:pPr marL="274320" indent="-256032">
              <a:spcAft>
                <a:spcPts val="945"/>
              </a:spcAft>
              <a:buClr>
                <a:srgbClr val="42B883"/>
              </a:buClr>
              <a:buSzPct val="100000"/>
              <a:buFont typeface="Arial"/>
              <a:buChar char="•"/>
            </a:pPr>
            <a:r>
              <a:rPr sz="2100" b="1" i="0">
                <a:solidFill>
                  <a:srgbClr val="1F2A36"/>
                </a:solidFill>
              </a:rPr>
              <a:t>One-way data flow</a:t>
            </a:r>
          </a:p>
          <a:p>
            <a:pPr marL="566928" indent="-256032">
              <a:spcAft>
                <a:spcPts val="810"/>
              </a:spcAft>
              <a:buClr>
                <a:srgbClr val="6B7B8C"/>
              </a:buClr>
              <a:buSzPct val="100000"/>
              <a:buFont typeface="Arial"/>
              <a:buChar char="–"/>
            </a:pPr>
            <a:r>
              <a:rPr sz="1800" b="0" i="0">
                <a:solidFill>
                  <a:srgbClr val="3A4A5A"/>
                </a:solidFill>
              </a:rPr>
              <a:t>Events call functions that update state</a:t>
            </a:r>
          </a:p>
          <a:p>
            <a:pPr marL="566928" indent="-256032">
              <a:spcAft>
                <a:spcPts val="810"/>
              </a:spcAft>
              <a:buClr>
                <a:srgbClr val="6B7B8C"/>
              </a:buClr>
              <a:buSzPct val="100000"/>
              <a:buFont typeface="Arial"/>
              <a:buChar char="–"/>
            </a:pPr>
            <a:r>
              <a:rPr sz="1800" b="0" i="0">
                <a:solidFill>
                  <a:srgbClr val="3A4A5A"/>
                </a:solidFill>
              </a:rPr>
              <a:t>When state changes, the component re-renders</a:t>
            </a:r>
          </a:p>
          <a:p>
            <a:pPr marL="274320" indent="-256032">
              <a:spcAft>
                <a:spcPts val="945"/>
              </a:spcAft>
              <a:buClr>
                <a:srgbClr val="42B883"/>
              </a:buClr>
              <a:buSzPct val="100000"/>
              <a:buFont typeface="Arial"/>
              <a:buChar char="•"/>
            </a:pPr>
            <a:r>
              <a:rPr sz="2100" b="1" i="0">
                <a:solidFill>
                  <a:srgbClr val="1F2A36"/>
                </a:solidFill>
              </a:rPr>
              <a:t>Mostly plain JavaScript</a:t>
            </a:r>
          </a:p>
          <a:p>
            <a:pPr marL="566928" indent="-256032">
              <a:spcAft>
                <a:spcPts val="810"/>
              </a:spcAft>
              <a:buClr>
                <a:srgbClr val="6B7B8C"/>
              </a:buClr>
              <a:buSzPct val="100000"/>
              <a:buFont typeface="Arial"/>
              <a:buChar char="–"/>
            </a:pPr>
            <a:r>
              <a:rPr sz="1800" b="0" i="0">
                <a:solidFill>
                  <a:srgbClr val="3A4A5A"/>
                </a:solidFill>
              </a:rPr>
              <a:t>JSX; </a:t>
            </a:r>
            <a:r>
              <a:rPr sz="1709" b="0" i="0">
                <a:solidFill>
                  <a:srgbClr val="8A2B52"/>
                </a:solidFill>
                <a:latin typeface="Consolas"/>
              </a:rPr>
              <a:t>map()</a:t>
            </a:r>
            <a:r>
              <a:rPr sz="1800" b="0" i="0">
                <a:solidFill>
                  <a:srgbClr val="3A4A5A"/>
                </a:solidFill>
              </a:rPr>
              <a:t> instead of </a:t>
            </a:r>
            <a:r>
              <a:rPr sz="1709" b="0" i="0">
                <a:solidFill>
                  <a:srgbClr val="8A2B52"/>
                </a:solidFill>
                <a:latin typeface="Consolas"/>
              </a:rPr>
              <a:t>v-for</a:t>
            </a:r>
          </a:p>
          <a:p>
            <a:pPr marL="274320" indent="-256032">
              <a:spcAft>
                <a:spcPts val="945"/>
              </a:spcAft>
              <a:buClr>
                <a:srgbClr val="42B883"/>
              </a:buClr>
              <a:buSzPct val="100000"/>
              <a:buFont typeface="Arial"/>
              <a:buChar char="•"/>
            </a:pPr>
            <a:r>
              <a:rPr sz="2100" b="0" i="0">
                <a:solidFill>
                  <a:srgbClr val="1F2A36"/>
                </a:solidFill>
              </a:rPr>
              <a:t>Everything is a function</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a:t>
            </a:fld>
            <a:endParaRPr lang="en-US" sz="900">
              <a:solidFill>
                <a:srgbClr val="9AA7B4"/>
              </a:solidFill>
            </a:endParaRPr>
          </a:p>
        </p:txBody>
      </p:sp>
    </p:spTree>
    <p:extLst>
      <p:ext uri="{BB962C8B-B14F-4D97-AF65-F5344CB8AC3E}">
        <p14:creationId xmlns:p14="http://schemas.microsoft.com/office/powerpoint/2010/main" val="2033414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3E5CE-4E18-984F-B0B1-F506340DCEAE}"/>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Vue.js Hello World</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demos/hello-world.html</a:t>
            </a:r>
          </a:p>
        </p:txBody>
      </p:sp>
      <p:sp>
        <p:nvSpPr>
          <p:cNvPr id="5" name="Code"/>
          <p:cNvSpPr/>
          <p:nvPr/>
        </p:nvSpPr>
        <p:spPr>
          <a:xfrm>
            <a:off x="457200" y="2148840"/>
            <a:ext cx="8229600" cy="293827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116329"/>
                </a:solidFill>
                <a:latin typeface="Consolas"/>
              </a:rPr>
              <a:t>&lt;script</a:t>
            </a:r>
            <a:r>
              <a:rPr sz="1400">
                <a:solidFill>
                  <a:srgbClr val="24292F"/>
                </a:solidFill>
                <a:latin typeface="Consolas"/>
              </a:rPr>
              <a:t> </a:t>
            </a:r>
            <a:r>
              <a:rPr sz="1400">
                <a:solidFill>
                  <a:srgbClr val="953800"/>
                </a:solidFill>
                <a:latin typeface="Consolas"/>
              </a:rPr>
              <a:t>src</a:t>
            </a:r>
            <a:r>
              <a:rPr sz="1400">
                <a:solidFill>
                  <a:srgbClr val="24292F"/>
                </a:solidFill>
                <a:latin typeface="Consolas"/>
              </a:rPr>
              <a:t>=</a:t>
            </a:r>
            <a:r>
              <a:rPr sz="1400">
                <a:solidFill>
                  <a:srgbClr val="0A3069"/>
                </a:solidFill>
                <a:latin typeface="Consolas"/>
              </a:rPr>
              <a:t>"https://unpkg.com/vue@3.5.43/dist/vue.global.js"</a:t>
            </a:r>
            <a:r>
              <a:rPr sz="1400">
                <a:solidFill>
                  <a:srgbClr val="116329"/>
                </a:solidFill>
                <a:latin typeface="Consolas"/>
              </a:rPr>
              <a:t>&gt;&lt;/script&gt;</a:t>
            </a:r>
          </a:p>
          <a:p>
            <a:pPr marL="0" indent="0" algn="l">
              <a:lnSpc>
                <a:spcPct val="100000"/>
              </a:lnSpc>
              <a:buNone/>
            </a:pPr>
            <a:r>
              <a:rPr sz="1400">
                <a:solidFill>
                  <a:srgbClr val="116329"/>
                </a:solidFill>
                <a:latin typeface="Consolas"/>
              </a:rPr>
              <a:t>&lt;div</a:t>
            </a:r>
            <a:r>
              <a:rPr sz="1400">
                <a:solidFill>
                  <a:srgbClr val="24292F"/>
                </a:solidFill>
                <a:latin typeface="Consolas"/>
              </a:rPr>
              <a:t> </a:t>
            </a:r>
            <a:r>
              <a:rPr sz="1400">
                <a:solidFill>
                  <a:srgbClr val="953800"/>
                </a:solidFill>
                <a:latin typeface="Consolas"/>
              </a:rPr>
              <a:t>id</a:t>
            </a:r>
            <a:r>
              <a:rPr sz="1400">
                <a:solidFill>
                  <a:srgbClr val="24292F"/>
                </a:solidFill>
                <a:latin typeface="Consolas"/>
              </a:rPr>
              <a:t>=</a:t>
            </a:r>
            <a:r>
              <a:rPr sz="1400">
                <a:solidFill>
                  <a:srgbClr val="0A3069"/>
                </a:solidFill>
                <a:latin typeface="Consolas"/>
              </a:rPr>
              <a:t>"app"</a:t>
            </a:r>
            <a:r>
              <a:rPr sz="1400">
                <a:solidFill>
                  <a:srgbClr val="116329"/>
                </a:solidFill>
                <a:latin typeface="Consolas"/>
              </a:rPr>
              <a:t>&gt;&lt;/div&gt;</a:t>
            </a:r>
          </a:p>
          <a:p>
            <a:pPr marL="0" indent="0" algn="l">
              <a:lnSpc>
                <a:spcPct val="100000"/>
              </a:lnSpc>
              <a:buNone/>
            </a:pPr>
            <a:r>
              <a:rPr sz="1400">
                <a:solidFill>
                  <a:srgbClr val="116329"/>
                </a:solidFill>
                <a:latin typeface="Consolas"/>
              </a:rPr>
              <a:t>&lt;script&gt;</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 createApp, ref } = Vue</a:t>
            </a:r>
          </a:p>
          <a:p>
            <a:pPr marL="0" indent="0" algn="l">
              <a:lnSpc>
                <a:spcPct val="100000"/>
              </a:lnSpc>
              <a:buNone/>
            </a:pPr>
            <a:r>
              <a:rPr sz="1400">
                <a:solidFill>
                  <a:srgbClr val="24292F"/>
                </a:solidFill>
                <a:latin typeface="Consolas"/>
              </a:rPr>
              <a:t>  createApp({</a:t>
            </a:r>
          </a:p>
          <a:p>
            <a:pPr marL="0" indent="0" algn="l">
              <a:lnSpc>
                <a:spcPct val="100000"/>
              </a:lnSpc>
              <a:buNone/>
            </a:pPr>
            <a:r>
              <a:rPr sz="1400">
                <a:solidFill>
                  <a:srgbClr val="24292F"/>
                </a:solidFill>
                <a:latin typeface="Consolas"/>
              </a:rPr>
              <a:t>    template: </a:t>
            </a:r>
            <a:r>
              <a:rPr sz="1400">
                <a:solidFill>
                  <a:srgbClr val="0A3069"/>
                </a:solidFill>
                <a:latin typeface="Consolas"/>
              </a:rPr>
              <a:t>'&lt;div&gt;{{ message }}&lt;/div&gt;'</a:t>
            </a:r>
            <a:r>
              <a:rPr sz="1400">
                <a:solidFill>
                  <a:srgbClr val="24292F"/>
                </a:solidFill>
                <a:latin typeface="Consolas"/>
              </a:rPr>
              <a:t>,</a:t>
            </a:r>
          </a:p>
          <a:p>
            <a:pPr marL="0" indent="0" algn="l">
              <a:lnSpc>
                <a:spcPct val="100000"/>
              </a:lnSpc>
              <a:buNone/>
            </a:pPr>
            <a:r>
              <a:rPr sz="1400">
                <a:solidFill>
                  <a:srgbClr val="24292F"/>
                </a:solidFill>
                <a:latin typeface="Consolas"/>
              </a:rPr>
              <a:t>    setup() {</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message = ref(</a:t>
            </a:r>
            <a:r>
              <a:rPr sz="1400">
                <a:solidFill>
                  <a:srgbClr val="0A3069"/>
                </a:solidFill>
                <a:latin typeface="Consolas"/>
              </a:rPr>
              <a:t>'Hello Vue!'</a:t>
            </a:r>
            <a:r>
              <a:rPr sz="1400">
                <a:solidFill>
                  <a:srgbClr val="24292F"/>
                </a:solidFill>
                <a:latin typeface="Consolas"/>
              </a:rPr>
              <a:t>)</a:t>
            </a:r>
          </a:p>
          <a:p>
            <a:pPr marL="0" indent="0" algn="l">
              <a:lnSpc>
                <a:spcPct val="100000"/>
              </a:lnSpc>
              <a:buNone/>
            </a:pPr>
            <a:r>
              <a:rPr sz="1400">
                <a:solidFill>
                  <a:srgbClr val="24292F"/>
                </a:solidFill>
                <a:latin typeface="Consolas"/>
              </a:rPr>
              <a:t>      </a:t>
            </a:r>
            <a:r>
              <a:rPr sz="1400">
                <a:solidFill>
                  <a:srgbClr val="CF222E"/>
                </a:solidFill>
                <a:latin typeface="Consolas"/>
              </a:rPr>
              <a:t>return</a:t>
            </a:r>
            <a:r>
              <a:rPr sz="1400">
                <a:solidFill>
                  <a:srgbClr val="24292F"/>
                </a:solidFill>
                <a:latin typeface="Consolas"/>
              </a:rPr>
              <a:t> { message }</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  }).mount(</a:t>
            </a:r>
            <a:r>
              <a:rPr sz="1400">
                <a:solidFill>
                  <a:srgbClr val="0A3069"/>
                </a:solidFill>
                <a:latin typeface="Consolas"/>
              </a:rPr>
              <a:t>'#app'</a:t>
            </a:r>
            <a:r>
              <a:rPr sz="1400">
                <a:solidFill>
                  <a:srgbClr val="24292F"/>
                </a:solidFill>
                <a:latin typeface="Consolas"/>
              </a:rPr>
              <a:t>)</a:t>
            </a:r>
          </a:p>
          <a:p>
            <a:pPr marL="0" indent="0" algn="l">
              <a:lnSpc>
                <a:spcPct val="100000"/>
              </a:lnSpc>
              <a:buNone/>
            </a:pPr>
            <a:r>
              <a:rPr sz="1400">
                <a:solidFill>
                  <a:srgbClr val="116329"/>
                </a:solidFill>
                <a:latin typeface="Consolas"/>
              </a:rPr>
              <a:t>&lt;/script&gt;</a:t>
            </a:r>
          </a:p>
        </p:txBody>
      </p:sp>
      <p:sp>
        <p:nvSpPr>
          <p:cNvPr id="6" name="Body"/>
          <p:cNvSpPr txBox="1"/>
          <p:nvPr/>
        </p:nvSpPr>
        <p:spPr>
          <a:xfrm>
            <a:off x="457200" y="5233415"/>
            <a:ext cx="8229600" cy="91948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No build step: open the file in a browser</a:t>
            </a:r>
          </a:p>
          <a:p>
            <a:pPr marL="274320" indent="-256032">
              <a:spcAft>
                <a:spcPts val="900"/>
              </a:spcAft>
              <a:buClr>
                <a:srgbClr val="42B883"/>
              </a:buClr>
              <a:buSzPct val="100000"/>
              <a:buFont typeface="Arial"/>
              <a:buChar char="•"/>
            </a:pPr>
            <a:r>
              <a:rPr sz="2000" b="0" i="0">
                <a:solidFill>
                  <a:srgbClr val="1F2A36"/>
                </a:solidFill>
              </a:rPr>
              <a:t>Vue 2 wrote </a:t>
            </a:r>
            <a:r>
              <a:rPr sz="1900" b="0" i="0">
                <a:solidFill>
                  <a:srgbClr val="8A2B52"/>
                </a:solidFill>
                <a:latin typeface="Consolas"/>
              </a:rPr>
              <a:t>new Vue({ el: '#app', data: { ... } })</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a:t>
            </a:fld>
            <a:endParaRPr lang="en-US" sz="900">
              <a:solidFill>
                <a:srgbClr val="9AA7B4"/>
              </a:solidFill>
            </a:endParaRPr>
          </a:p>
        </p:txBody>
      </p:sp>
    </p:spTree>
    <p:extLst>
      <p:ext uri="{BB962C8B-B14F-4D97-AF65-F5344CB8AC3E}">
        <p14:creationId xmlns:p14="http://schemas.microsoft.com/office/powerpoint/2010/main" val="3145165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BF70-E52E-AA4F-A232-3144C8A89F3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Virtual DOM</a:t>
            </a:r>
          </a:p>
        </p:txBody>
      </p:sp>
      <p:pic>
        <p:nvPicPr>
          <p:cNvPr id="5" name="Picture 4">
            <a:extLst>
              <a:ext uri="{FF2B5EF4-FFF2-40B4-BE49-F238E27FC236}">
                <a16:creationId xmlns:a16="http://schemas.microsoft.com/office/drawing/2014/main" id="{27349186-4B9E-4D25-EB80-D50B5B46651A}"/>
              </a:ext>
            </a:extLst>
          </p:cNvPr>
          <p:cNvPicPr>
            <a:picLocks noChangeAspect="1"/>
          </p:cNvPicPr>
          <p:nvPr/>
        </p:nvPicPr>
        <p:blipFill>
          <a:blip r:embed="rId3"/>
          <a:stretch>
            <a:fillRect/>
          </a:stretch>
        </p:blipFill>
        <p:spPr>
          <a:xfrm>
            <a:off x="4572000" y="2436876"/>
            <a:ext cx="4114800" cy="2468879"/>
          </a:xfrm>
          <a:prstGeom prst="rect">
            <a:avLst/>
          </a:prstGeom>
          <a:ln w="12700">
            <a:solidFill>
              <a:srgbClr val="D6DEE6"/>
            </a:solidFill>
          </a:ln>
        </p:spPr>
      </p:pic>
      <p:sp>
        <p:nvSpPr>
          <p:cNvPr id="6" name="Body"/>
          <p:cNvSpPr txBox="1"/>
          <p:nvPr/>
        </p:nvSpPr>
        <p:spPr>
          <a:xfrm>
            <a:off x="457200" y="1261872"/>
            <a:ext cx="3840480" cy="4977384"/>
          </a:xfrm>
          <a:prstGeom prst="rect">
            <a:avLst/>
          </a:prstGeom>
          <a:noFill/>
        </p:spPr>
        <p:txBody>
          <a:bodyPr wrap="square" lIns="0" tIns="0" rIns="0" bIns="0">
            <a:noAutofit/>
          </a:bodyPr>
          <a:lstStyle/>
          <a:p>
            <a:pPr marL="274320" indent="-256032">
              <a:spcAft>
                <a:spcPts val="945"/>
              </a:spcAft>
              <a:buClr>
                <a:srgbClr val="42B883"/>
              </a:buClr>
              <a:buSzPct val="100000"/>
              <a:buFont typeface="Arial"/>
              <a:buChar char="•"/>
            </a:pPr>
            <a:r>
              <a:rPr sz="2100" b="0" i="0">
                <a:solidFill>
                  <a:srgbClr val="1F2A36"/>
                </a:solidFill>
              </a:rPr>
              <a:t>Vue renders your component to a lightweight JavaScript copy of the DOM (the </a:t>
            </a:r>
            <a:r>
              <a:rPr sz="2100" b="1" i="0">
                <a:solidFill>
                  <a:srgbClr val="1F2A36"/>
                </a:solidFill>
              </a:rPr>
              <a:t>virtual DOM</a:t>
            </a:r>
            <a:r>
              <a:rPr sz="2100" b="0" i="0">
                <a:solidFill>
                  <a:srgbClr val="1F2A36"/>
                </a:solidFill>
              </a:rPr>
              <a:t>)</a:t>
            </a:r>
          </a:p>
          <a:p>
            <a:pPr marL="274320" indent="-256032">
              <a:spcAft>
                <a:spcPts val="945"/>
              </a:spcAft>
              <a:buClr>
                <a:srgbClr val="42B883"/>
              </a:buClr>
              <a:buSzPct val="100000"/>
              <a:buFont typeface="Arial"/>
              <a:buChar char="•"/>
            </a:pPr>
            <a:r>
              <a:rPr sz="2100" b="0" i="0">
                <a:solidFill>
                  <a:srgbClr val="1F2A36"/>
                </a:solidFill>
              </a:rPr>
              <a:t>When state changes, it renders a new copy and </a:t>
            </a:r>
            <a:r>
              <a:rPr sz="2100" b="1" i="0">
                <a:solidFill>
                  <a:srgbClr val="1F2A36"/>
                </a:solidFill>
              </a:rPr>
              <a:t>diffs</a:t>
            </a:r>
            <a:r>
              <a:rPr sz="2100" b="0" i="0">
                <a:solidFill>
                  <a:srgbClr val="1F2A36"/>
                </a:solidFill>
              </a:rPr>
              <a:t> it against the old one</a:t>
            </a:r>
          </a:p>
          <a:p>
            <a:pPr marL="274320" indent="-256032">
              <a:spcAft>
                <a:spcPts val="945"/>
              </a:spcAft>
              <a:buClr>
                <a:srgbClr val="42B883"/>
              </a:buClr>
              <a:buSzPct val="100000"/>
              <a:buFont typeface="Arial"/>
              <a:buChar char="•"/>
            </a:pPr>
            <a:r>
              <a:rPr sz="2100" b="0" i="0">
                <a:solidFill>
                  <a:srgbClr val="1F2A36"/>
                </a:solidFill>
              </a:rPr>
              <a:t>Only the differences are applied to the real browser DOM</a:t>
            </a:r>
          </a:p>
          <a:p>
            <a:pPr marL="274320" indent="-256032">
              <a:spcAft>
                <a:spcPts val="945"/>
              </a:spcAft>
              <a:buClr>
                <a:srgbClr val="42B883"/>
              </a:buClr>
              <a:buSzPct val="100000"/>
              <a:buFont typeface="Arial"/>
              <a:buChar char="•"/>
            </a:pPr>
            <a:r>
              <a:rPr sz="2100" b="0" i="0">
                <a:solidFill>
                  <a:srgbClr val="1F2A36"/>
                </a:solidFill>
              </a:rPr>
              <a:t>In the diagram, only the changed </a:t>
            </a:r>
            <a:r>
              <a:rPr sz="1995" b="0" i="0">
                <a:solidFill>
                  <a:srgbClr val="8A2B52"/>
                </a:solidFill>
                <a:latin typeface="Consolas"/>
              </a:rPr>
              <a:t>img</a:t>
            </a:r>
            <a:r>
              <a:rPr sz="2100" b="0" i="0">
                <a:solidFill>
                  <a:srgbClr val="1F2A36"/>
                </a:solidFill>
              </a:rPr>
              <a:t> node is patched</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a:t>
            </a:fld>
            <a:endParaRPr lang="en-US" sz="900">
              <a:solidFill>
                <a:srgbClr val="9AA7B4"/>
              </a:solidFill>
            </a:endParaRPr>
          </a:p>
        </p:txBody>
      </p:sp>
    </p:spTree>
    <p:extLst>
      <p:ext uri="{BB962C8B-B14F-4D97-AF65-F5344CB8AC3E}">
        <p14:creationId xmlns:p14="http://schemas.microsoft.com/office/powerpoint/2010/main" val="892003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22E5-EAAF-C144-B9D6-9C360C69BFE1}"/>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Makes Vue's Virtual DOM Different?</a:t>
            </a:r>
          </a:p>
        </p:txBody>
      </p:sp>
      <p:sp>
        <p:nvSpPr>
          <p:cNvPr id="3" name="Body"/>
          <p:cNvSpPr txBox="1"/>
          <p:nvPr/>
        </p:nvSpPr>
        <p:spPr>
          <a:xfrm>
            <a:off x="457200" y="1261872"/>
            <a:ext cx="8229600" cy="336067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Compiler-informed</a:t>
            </a:r>
            <a:r>
              <a:rPr sz="2200" b="0" i="0">
                <a:solidFill>
                  <a:srgbClr val="1F2A36"/>
                </a:solidFill>
              </a:rPr>
              <a:t>: templates are compiled ahead of time, so Vue knows which parts can never change</a:t>
            </a:r>
          </a:p>
          <a:p>
            <a:pPr marL="566928" indent="-256032">
              <a:spcAft>
                <a:spcPts val="855"/>
              </a:spcAft>
              <a:buClr>
                <a:srgbClr val="6B7B8C"/>
              </a:buClr>
              <a:buSzPct val="100000"/>
              <a:buFont typeface="Arial"/>
              <a:buChar char="–"/>
            </a:pPr>
            <a:r>
              <a:rPr sz="1900" b="0" i="0">
                <a:solidFill>
                  <a:srgbClr val="3A4A5A"/>
                </a:solidFill>
              </a:rPr>
              <a:t>Static content is hoisted and skipped during diffing</a:t>
            </a:r>
          </a:p>
          <a:p>
            <a:pPr marL="566928" indent="-256032">
              <a:spcAft>
                <a:spcPts val="855"/>
              </a:spcAft>
              <a:buClr>
                <a:srgbClr val="6B7B8C"/>
              </a:buClr>
              <a:buSzPct val="100000"/>
              <a:buFont typeface="Arial"/>
              <a:buChar char="–"/>
            </a:pPr>
            <a:r>
              <a:rPr sz="1900" b="0" i="0">
                <a:solidFill>
                  <a:srgbClr val="3A4A5A"/>
                </a:solidFill>
              </a:rPr>
              <a:t>Dynamic nodes are flagged so the diff checks only those</a:t>
            </a:r>
          </a:p>
          <a:p>
            <a:pPr marL="274320" indent="-256032">
              <a:spcAft>
                <a:spcPts val="990"/>
              </a:spcAft>
              <a:buClr>
                <a:srgbClr val="42B883"/>
              </a:buClr>
              <a:buSzPct val="100000"/>
              <a:buFont typeface="Arial"/>
              <a:buChar char="•"/>
            </a:pPr>
            <a:r>
              <a:rPr sz="2200" b="1" i="0">
                <a:solidFill>
                  <a:srgbClr val="1F2A36"/>
                </a:solidFill>
              </a:rPr>
              <a:t>Tracks dependencies automatically</a:t>
            </a:r>
          </a:p>
          <a:p>
            <a:pPr marL="566928" indent="-256032">
              <a:spcAft>
                <a:spcPts val="855"/>
              </a:spcAft>
              <a:buClr>
                <a:srgbClr val="6B7B8C"/>
              </a:buClr>
              <a:buSzPct val="100000"/>
              <a:buFont typeface="Arial"/>
              <a:buChar char="–"/>
            </a:pPr>
            <a:r>
              <a:rPr sz="1900" b="0" i="0">
                <a:solidFill>
                  <a:srgbClr val="3A4A5A"/>
                </a:solidFill>
              </a:rPr>
              <a:t>Knows exactly which components need to re-render</a:t>
            </a:r>
          </a:p>
          <a:p>
            <a:pPr marL="566928" indent="-256032">
              <a:spcAft>
                <a:spcPts val="855"/>
              </a:spcAft>
              <a:buClr>
                <a:srgbClr val="6B7B8C"/>
              </a:buClr>
              <a:buSzPct val="100000"/>
              <a:buFont typeface="Arial"/>
              <a:buChar char="–"/>
            </a:pPr>
            <a:r>
              <a:rPr sz="1900" b="0" i="0">
                <a:solidFill>
                  <a:srgbClr val="3A4A5A"/>
                </a:solidFill>
              </a:rPr>
              <a:t>Avoids re-rendering components whose state hasn't changed</a:t>
            </a:r>
          </a:p>
          <a:p>
            <a:pPr marL="274320" indent="-256032">
              <a:spcAft>
                <a:spcPts val="990"/>
              </a:spcAft>
              <a:buClr>
                <a:srgbClr val="42B883"/>
              </a:buClr>
              <a:buSzPct val="100000"/>
              <a:buFont typeface="Arial"/>
              <a:buChar char="•"/>
            </a:pPr>
            <a:r>
              <a:rPr sz="2200" b="0" i="0">
                <a:solidFill>
                  <a:srgbClr val="1F2A36"/>
                </a:solidFill>
              </a:rPr>
              <a:t>Can be rendered at runtime or precompiled at build time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a:t>
            </a:fld>
            <a:endParaRPr lang="en-US" sz="900">
              <a:solidFill>
                <a:srgbClr val="9AA7B4"/>
              </a:solidFill>
            </a:endParaRPr>
          </a:p>
        </p:txBody>
      </p:sp>
    </p:spTree>
    <p:extLst>
      <p:ext uri="{BB962C8B-B14F-4D97-AF65-F5344CB8AC3E}">
        <p14:creationId xmlns:p14="http://schemas.microsoft.com/office/powerpoint/2010/main" val="931105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8623-3181-8342-9CF8-9401EB523FD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Versions</a:t>
            </a:r>
          </a:p>
        </p:txBody>
      </p:sp>
      <p:sp>
        <p:nvSpPr>
          <p:cNvPr id="3" name="Body"/>
          <p:cNvSpPr txBox="1"/>
          <p:nvPr/>
        </p:nvSpPr>
        <p:spPr>
          <a:xfrm>
            <a:off x="457200" y="1261872"/>
            <a:ext cx="8229600" cy="50535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1.0</a:t>
            </a:r>
            <a:r>
              <a:rPr sz="2200" b="0" i="0">
                <a:solidFill>
                  <a:srgbClr val="1F2A36"/>
                </a:solidFill>
              </a:rPr>
              <a:t> — improved template syntax, </a:t>
            </a:r>
            <a:r>
              <a:rPr sz="2090" b="0" i="0">
                <a:solidFill>
                  <a:srgbClr val="8A2B52"/>
                </a:solidFill>
                <a:latin typeface="Consolas"/>
              </a:rPr>
              <a:t>v-for</a:t>
            </a:r>
            <a:r>
              <a:rPr sz="2200" b="0" i="0">
                <a:solidFill>
                  <a:srgbClr val="1F2A36"/>
                </a:solidFill>
              </a:rPr>
              <a:t>, hot reloading, scoped CSS</a:t>
            </a:r>
          </a:p>
          <a:p>
            <a:pPr marL="274320" indent="-256032">
              <a:spcAft>
                <a:spcPts val="990"/>
              </a:spcAft>
              <a:buClr>
                <a:srgbClr val="42B883"/>
              </a:buClr>
              <a:buSzPct val="100000"/>
              <a:buFont typeface="Arial"/>
              <a:buChar char="•"/>
            </a:pPr>
            <a:r>
              <a:rPr sz="2200" b="1" i="0">
                <a:solidFill>
                  <a:srgbClr val="1F2A36"/>
                </a:solidFill>
              </a:rPr>
              <a:t>2.0</a:t>
            </a:r>
            <a:r>
              <a:rPr sz="2200" b="0" i="0">
                <a:solidFill>
                  <a:srgbClr val="1F2A36"/>
                </a:solidFill>
              </a:rPr>
              <a:t> — virtual DOM, JSX support, server-side rendering</a:t>
            </a:r>
          </a:p>
          <a:p>
            <a:pPr marL="274320" indent="-256032">
              <a:spcAft>
                <a:spcPts val="990"/>
              </a:spcAft>
              <a:buClr>
                <a:srgbClr val="42B883"/>
              </a:buClr>
              <a:buSzPct val="100000"/>
              <a:buFont typeface="Arial"/>
              <a:buChar char="•"/>
            </a:pPr>
            <a:r>
              <a:rPr sz="2200" b="1" i="0">
                <a:solidFill>
                  <a:srgbClr val="1F2A36"/>
                </a:solidFill>
              </a:rPr>
              <a:t>3.0</a:t>
            </a:r>
            <a:r>
              <a:rPr sz="2200" b="0" i="0">
                <a:solidFill>
                  <a:srgbClr val="1F2A36"/>
                </a:solidFill>
              </a:rPr>
              <a:t> — Composition API, Teleport, Fragments, Proxy reactivity</a:t>
            </a:r>
          </a:p>
          <a:p>
            <a:pPr marL="274320" indent="-256032">
              <a:spcAft>
                <a:spcPts val="990"/>
              </a:spcAft>
              <a:buClr>
                <a:srgbClr val="42B883"/>
              </a:buClr>
              <a:buSzPct val="100000"/>
              <a:buFont typeface="Arial"/>
              <a:buChar char="•"/>
            </a:pPr>
            <a:r>
              <a:rPr sz="2200" b="1" i="0">
                <a:solidFill>
                  <a:srgbClr val="1F2A36"/>
                </a:solidFill>
              </a:rPr>
              <a:t>3.2</a:t>
            </a:r>
            <a:r>
              <a:rPr sz="2200" b="0" i="0">
                <a:solidFill>
                  <a:srgbClr val="1F2A36"/>
                </a:solidFill>
              </a:rPr>
              <a:t> — </a:t>
            </a:r>
            <a:r>
              <a:rPr sz="2090" b="0" i="0">
                <a:solidFill>
                  <a:srgbClr val="8A2B52"/>
                </a:solidFill>
                <a:latin typeface="Consolas"/>
              </a:rPr>
              <a:t>&lt;script setup&gt;</a:t>
            </a:r>
            <a:r>
              <a:rPr sz="2200" b="0" i="0">
                <a:solidFill>
                  <a:srgbClr val="1F2A36"/>
                </a:solidFill>
              </a:rPr>
              <a:t>, </a:t>
            </a:r>
            <a:r>
              <a:rPr sz="2090" b="0" i="0">
                <a:solidFill>
                  <a:srgbClr val="8A2B52"/>
                </a:solidFill>
                <a:latin typeface="Consolas"/>
              </a:rPr>
              <a:t>v-memo</a:t>
            </a:r>
            <a:r>
              <a:rPr sz="2200" b="0" i="0">
                <a:solidFill>
                  <a:srgbClr val="1F2A36"/>
                </a:solidFill>
              </a:rPr>
              <a:t>, custom-element build</a:t>
            </a:r>
          </a:p>
          <a:p>
            <a:pPr marL="274320" indent="-256032">
              <a:spcAft>
                <a:spcPts val="990"/>
              </a:spcAft>
              <a:buClr>
                <a:srgbClr val="42B883"/>
              </a:buClr>
              <a:buSzPct val="100000"/>
              <a:buFont typeface="Arial"/>
              <a:buChar char="•"/>
            </a:pPr>
            <a:r>
              <a:rPr sz="2200" b="1" i="0">
                <a:solidFill>
                  <a:srgbClr val="1F2A36"/>
                </a:solidFill>
              </a:rPr>
              <a:t>3.3</a:t>
            </a:r>
            <a:r>
              <a:rPr sz="2200" b="0" i="0">
                <a:solidFill>
                  <a:srgbClr val="1F2A36"/>
                </a:solidFill>
              </a:rPr>
              <a:t> — generic components, better TypeScript for </a:t>
            </a:r>
            <a:r>
              <a:rPr sz="2090" b="0" i="0">
                <a:solidFill>
                  <a:srgbClr val="8A2B52"/>
                </a:solidFill>
                <a:latin typeface="Consolas"/>
              </a:rPr>
              <a:t>defineProps</a:t>
            </a:r>
          </a:p>
          <a:p>
            <a:pPr marL="274320" indent="-256032">
              <a:spcAft>
                <a:spcPts val="990"/>
              </a:spcAft>
              <a:buClr>
                <a:srgbClr val="42B883"/>
              </a:buClr>
              <a:buSzPct val="100000"/>
              <a:buFont typeface="Arial"/>
              <a:buChar char="•"/>
            </a:pPr>
            <a:r>
              <a:rPr sz="2200" b="1" i="0">
                <a:solidFill>
                  <a:srgbClr val="1F2A36"/>
                </a:solidFill>
              </a:rPr>
              <a:t>3.4</a:t>
            </a:r>
            <a:r>
              <a:rPr sz="2200" b="0" i="0">
                <a:solidFill>
                  <a:srgbClr val="1F2A36"/>
                </a:solidFill>
              </a:rPr>
              <a:t> — faster parser, stable </a:t>
            </a:r>
            <a:r>
              <a:rPr sz="2090" b="0" i="0">
                <a:solidFill>
                  <a:srgbClr val="8A2B52"/>
                </a:solidFill>
                <a:latin typeface="Consolas"/>
              </a:rPr>
              <a:t>defineModel</a:t>
            </a:r>
          </a:p>
          <a:p>
            <a:pPr marL="274320" indent="-256032">
              <a:spcAft>
                <a:spcPts val="990"/>
              </a:spcAft>
              <a:buClr>
                <a:srgbClr val="42B883"/>
              </a:buClr>
              <a:buSzPct val="100000"/>
              <a:buFont typeface="Arial"/>
              <a:buChar char="•"/>
            </a:pPr>
            <a:r>
              <a:rPr sz="2200" b="1" i="0">
                <a:solidFill>
                  <a:srgbClr val="1F2A36"/>
                </a:solidFill>
              </a:rPr>
              <a:t>3.5</a:t>
            </a:r>
            <a:r>
              <a:rPr sz="2200" b="0" i="0">
                <a:solidFill>
                  <a:srgbClr val="1F2A36"/>
                </a:solidFill>
              </a:rPr>
              <a:t> — reactive props destructure, lazy hydration, lower memory use</a:t>
            </a:r>
          </a:p>
          <a:p>
            <a:pPr marL="274320" indent="-256032">
              <a:spcAft>
                <a:spcPts val="990"/>
              </a:spcAft>
              <a:buClr>
                <a:srgbClr val="42B883"/>
              </a:buClr>
              <a:buSzPct val="100000"/>
              <a:buFont typeface="Arial"/>
              <a:buChar char="•"/>
            </a:pPr>
            <a:r>
              <a:rPr sz="2200" b="1" i="0">
                <a:solidFill>
                  <a:srgbClr val="1F2A36"/>
                </a:solidFill>
              </a:rPr>
              <a:t>3.6</a:t>
            </a:r>
            <a:r>
              <a:rPr sz="2200" b="0" i="0">
                <a:solidFill>
                  <a:srgbClr val="1F2A36"/>
                </a:solidFill>
              </a:rPr>
              <a:t> — Vapor Mode (release candidate as of fall 2026)</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a:t>
            </a:fld>
            <a:endParaRPr lang="en-US" sz="900">
              <a:solidFill>
                <a:srgbClr val="9AA7B4"/>
              </a:solidFill>
            </a:endParaRPr>
          </a:p>
        </p:txBody>
      </p:sp>
    </p:spTree>
    <p:extLst>
      <p:ext uri="{BB962C8B-B14F-4D97-AF65-F5344CB8AC3E}">
        <p14:creationId xmlns:p14="http://schemas.microsoft.com/office/powerpoint/2010/main" val="826436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2787-7B41-FF40-82D9-8D5D53C1FB2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Vue 3 Changed</a:t>
            </a:r>
          </a:p>
        </p:txBody>
      </p:sp>
      <p:sp>
        <p:nvSpPr>
          <p:cNvPr id="3" name="Body"/>
          <p:cNvSpPr txBox="1"/>
          <p:nvPr/>
        </p:nvSpPr>
        <p:spPr>
          <a:xfrm>
            <a:off x="457200" y="1261872"/>
            <a:ext cx="8229600" cy="499148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Reactivity rebuilt on Proxy</a:t>
            </a:r>
          </a:p>
          <a:p>
            <a:pPr marL="566928" indent="-256032">
              <a:spcAft>
                <a:spcPts val="855"/>
              </a:spcAft>
              <a:buClr>
                <a:srgbClr val="6B7B8C"/>
              </a:buClr>
              <a:buSzPct val="100000"/>
              <a:buFont typeface="Arial"/>
              <a:buChar char="–"/>
            </a:pPr>
            <a:r>
              <a:rPr sz="1900" b="0" i="0">
                <a:solidFill>
                  <a:srgbClr val="3A4A5A"/>
                </a:solidFill>
              </a:rPr>
              <a:t>Added and deleted properties are now tracked; </a:t>
            </a:r>
            <a:r>
              <a:rPr sz="1805" b="0" i="0">
                <a:solidFill>
                  <a:srgbClr val="8A2B52"/>
                </a:solidFill>
                <a:latin typeface="Consolas"/>
              </a:rPr>
              <a:t>Vue.set</a:t>
            </a:r>
            <a:r>
              <a:rPr sz="1900" b="0" i="0">
                <a:solidFill>
                  <a:srgbClr val="3A4A5A"/>
                </a:solidFill>
              </a:rPr>
              <a:t> is gone</a:t>
            </a:r>
          </a:p>
          <a:p>
            <a:pPr marL="274320" indent="-256032">
              <a:spcAft>
                <a:spcPts val="990"/>
              </a:spcAft>
              <a:buClr>
                <a:srgbClr val="42B883"/>
              </a:buClr>
              <a:buSzPct val="100000"/>
              <a:buFont typeface="Arial"/>
              <a:buChar char="•"/>
            </a:pPr>
            <a:r>
              <a:rPr sz="2200" b="0" i="0">
                <a:solidFill>
                  <a:srgbClr val="1F2A36"/>
                </a:solidFill>
              </a:rPr>
              <a:t>The </a:t>
            </a:r>
            <a:r>
              <a:rPr sz="2200" b="1" i="0">
                <a:solidFill>
                  <a:srgbClr val="1F2A36"/>
                </a:solidFill>
              </a:rPr>
              <a:t>Composition API</a:t>
            </a:r>
            <a:r>
              <a:rPr sz="2200" b="0" i="0">
                <a:solidFill>
                  <a:srgbClr val="1F2A36"/>
                </a:solidFill>
              </a:rPr>
              <a:t>, and </a:t>
            </a:r>
            <a:r>
              <a:rPr sz="2090" b="0" i="0">
                <a:solidFill>
                  <a:srgbClr val="8A2B52"/>
                </a:solidFill>
                <a:latin typeface="Consolas"/>
              </a:rPr>
              <a:t>&lt;script setup&gt;</a:t>
            </a:r>
            <a:r>
              <a:rPr sz="2200" b="0" i="0">
                <a:solidFill>
                  <a:srgbClr val="1F2A36"/>
                </a:solidFill>
              </a:rPr>
              <a:t> on top of it</a:t>
            </a:r>
          </a:p>
          <a:p>
            <a:pPr marL="274320" indent="-256032">
              <a:spcAft>
                <a:spcPts val="990"/>
              </a:spcAft>
              <a:buClr>
                <a:srgbClr val="42B883"/>
              </a:buClr>
              <a:buSzPct val="100000"/>
              <a:buFont typeface="Arial"/>
              <a:buChar char="•"/>
            </a:pPr>
            <a:r>
              <a:rPr sz="2200" b="1" i="0">
                <a:solidFill>
                  <a:srgbClr val="1F2A36"/>
                </a:solidFill>
              </a:rPr>
              <a:t>Fragments</a:t>
            </a:r>
            <a:r>
              <a:rPr sz="2200" b="0" i="0">
                <a:solidFill>
                  <a:srgbClr val="1F2A36"/>
                </a:solidFill>
              </a:rPr>
              <a:t>: a component may have more than one root element</a:t>
            </a:r>
          </a:p>
          <a:p>
            <a:pPr marL="274320" indent="-256032">
              <a:spcAft>
                <a:spcPts val="990"/>
              </a:spcAft>
              <a:buClr>
                <a:srgbClr val="42B883"/>
              </a:buClr>
              <a:buSzPct val="100000"/>
              <a:buFont typeface="Arial"/>
              <a:buChar char="•"/>
            </a:pPr>
            <a:r>
              <a:rPr sz="2200" b="1" i="0">
                <a:solidFill>
                  <a:srgbClr val="1F2A36"/>
                </a:solidFill>
              </a:rPr>
              <a:t>Teleport</a:t>
            </a:r>
            <a:r>
              <a:rPr sz="2200" b="0" i="0">
                <a:solidFill>
                  <a:srgbClr val="1F2A36"/>
                </a:solidFill>
              </a:rPr>
              <a:t>: render part of a component elsewhere in the DOM (modals!)</a:t>
            </a:r>
          </a:p>
          <a:p>
            <a:pPr marL="274320" indent="-256032">
              <a:spcAft>
                <a:spcPts val="990"/>
              </a:spcAft>
              <a:buClr>
                <a:srgbClr val="42B883"/>
              </a:buClr>
              <a:buSzPct val="100000"/>
              <a:buFont typeface="Arial"/>
              <a:buChar char="•"/>
            </a:pPr>
            <a:r>
              <a:rPr sz="2200" b="1" i="0">
                <a:solidFill>
                  <a:srgbClr val="1F2A36"/>
                </a:solidFill>
              </a:rPr>
              <a:t>Multiple app instances</a:t>
            </a:r>
            <a:r>
              <a:rPr sz="2200" b="0" i="0">
                <a:solidFill>
                  <a:srgbClr val="1F2A36"/>
                </a:solidFill>
              </a:rPr>
              <a:t>, each isolated — there is no global </a:t>
            </a:r>
            <a:r>
              <a:rPr sz="2090" b="0" i="0">
                <a:solidFill>
                  <a:srgbClr val="8A2B52"/>
                </a:solidFill>
                <a:latin typeface="Consolas"/>
              </a:rPr>
              <a:t>Vue</a:t>
            </a:r>
          </a:p>
          <a:p>
            <a:pPr marL="274320" indent="-256032">
              <a:spcAft>
                <a:spcPts val="990"/>
              </a:spcAft>
              <a:buClr>
                <a:srgbClr val="42B883"/>
              </a:buClr>
              <a:buSzPct val="100000"/>
              <a:buFont typeface="Arial"/>
              <a:buChar char="•"/>
            </a:pPr>
            <a:r>
              <a:rPr sz="2200" b="0" i="0">
                <a:solidFill>
                  <a:srgbClr val="1F2A36"/>
                </a:solidFill>
              </a:rPr>
              <a:t>First-class </a:t>
            </a:r>
            <a:r>
              <a:rPr sz="2200" b="1" i="0">
                <a:solidFill>
                  <a:srgbClr val="1F2A36"/>
                </a:solidFill>
              </a:rPr>
              <a:t>TypeScript</a:t>
            </a:r>
            <a:r>
              <a:rPr sz="2200" b="0" i="0">
                <a:solidFill>
                  <a:srgbClr val="1F2A36"/>
                </a:solidFill>
              </a:rPr>
              <a:t> support</a:t>
            </a:r>
          </a:p>
          <a:p>
            <a:pPr marL="274320" indent="-256032">
              <a:spcAft>
                <a:spcPts val="990"/>
              </a:spcAft>
              <a:buClr>
                <a:srgbClr val="42B883"/>
              </a:buClr>
              <a:buSzPct val="100000"/>
              <a:buFont typeface="Arial"/>
              <a:buChar char="•"/>
            </a:pPr>
            <a:r>
              <a:rPr sz="2200" b="1" i="0">
                <a:solidFill>
                  <a:srgbClr val="1F2A36"/>
                </a:solidFill>
              </a:rPr>
              <a:t>Removed</a:t>
            </a:r>
            <a:r>
              <a:rPr sz="2200" b="0" i="0">
                <a:solidFill>
                  <a:srgbClr val="1F2A36"/>
                </a:solidFill>
              </a:rPr>
              <a:t>: filters, </a:t>
            </a:r>
            <a:r>
              <a:rPr sz="2090" b="0" i="0">
                <a:solidFill>
                  <a:srgbClr val="8A2B52"/>
                </a:solidFill>
                <a:latin typeface="Consolas"/>
              </a:rPr>
              <a:t>$on</a:t>
            </a:r>
            <a:r>
              <a:rPr sz="2200" b="0" i="0">
                <a:solidFill>
                  <a:srgbClr val="1F2A36"/>
                </a:solidFill>
              </a:rPr>
              <a:t> / </a:t>
            </a:r>
            <a:r>
              <a:rPr sz="2090" b="0" i="0">
                <a:solidFill>
                  <a:srgbClr val="8A2B52"/>
                </a:solidFill>
                <a:latin typeface="Consolas"/>
              </a:rPr>
              <a:t>$off</a:t>
            </a:r>
            <a:r>
              <a:rPr sz="2200" b="0" i="0">
                <a:solidFill>
                  <a:srgbClr val="1F2A36"/>
                </a:solidFill>
              </a:rPr>
              <a:t> / </a:t>
            </a:r>
            <a:r>
              <a:rPr sz="2090" b="0" i="0">
                <a:solidFill>
                  <a:srgbClr val="8A2B52"/>
                </a:solidFill>
                <a:latin typeface="Consolas"/>
              </a:rPr>
              <a:t>$once</a:t>
            </a:r>
            <a:r>
              <a:rPr sz="2200" b="0" i="0">
                <a:solidFill>
                  <a:srgbClr val="1F2A36"/>
                </a:solidFill>
              </a:rPr>
              <a:t>, old functional component syntax</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a:t>
            </a:fld>
            <a:endParaRPr lang="en-US" sz="900">
              <a:solidFill>
                <a:srgbClr val="9AA7B4"/>
              </a:solidFill>
            </a:endParaRPr>
          </a:p>
        </p:txBody>
      </p:sp>
    </p:spTree>
    <p:extLst>
      <p:ext uri="{BB962C8B-B14F-4D97-AF65-F5344CB8AC3E}">
        <p14:creationId xmlns:p14="http://schemas.microsoft.com/office/powerpoint/2010/main" val="613273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Vue QuickStart</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Body"/>
          <p:cNvSpPr txBox="1"/>
          <p:nvPr/>
        </p:nvSpPr>
        <p:spPr>
          <a:xfrm>
            <a:off x="731520" y="2148840"/>
            <a:ext cx="7680960" cy="1885187"/>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Scaffold a project with </a:t>
            </a:r>
            <a:r>
              <a:rPr sz="2090" b="0" i="0">
                <a:solidFill>
                  <a:srgbClr val="B9E6D1"/>
                </a:solidFill>
                <a:latin typeface="Consolas"/>
              </a:rPr>
              <a:t>create-vue</a:t>
            </a:r>
          </a:p>
          <a:p>
            <a:pPr marL="274320" indent="-256032">
              <a:spcAft>
                <a:spcPts val="990"/>
              </a:spcAft>
              <a:buClr>
                <a:srgbClr val="42B883"/>
              </a:buClr>
              <a:buSzPct val="100000"/>
              <a:buFont typeface="Arial"/>
              <a:buChar char="•"/>
            </a:pPr>
            <a:r>
              <a:rPr sz="2200" b="0" i="0">
                <a:solidFill>
                  <a:srgbClr val="FFFFFF"/>
                </a:solidFill>
              </a:rPr>
              <a:t>Understand what Vite gives you</a:t>
            </a:r>
          </a:p>
          <a:p>
            <a:pPr marL="274320" indent="-256032">
              <a:spcAft>
                <a:spcPts val="990"/>
              </a:spcAft>
              <a:buClr>
                <a:srgbClr val="42B883"/>
              </a:buClr>
              <a:buSzPct val="100000"/>
              <a:buFont typeface="Arial"/>
              <a:buChar char="•"/>
            </a:pPr>
            <a:r>
              <a:rPr sz="2200" b="0" i="0">
                <a:solidFill>
                  <a:srgbClr val="FFFFFF"/>
                </a:solidFill>
              </a:rPr>
              <a:t>Run, build and test a Vue app</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20</a:t>
            </a:fld>
            <a:endParaRPr lang="en-US" sz="900">
              <a:solidFill>
                <a:srgbClr val="9FB3C4"/>
              </a:solidFill>
            </a:endParaRPr>
          </a:p>
        </p:txBody>
      </p:sp>
    </p:spTree>
    <p:extLst>
      <p:ext uri="{BB962C8B-B14F-4D97-AF65-F5344CB8AC3E}">
        <p14:creationId xmlns:p14="http://schemas.microsoft.com/office/powerpoint/2010/main" val="1646651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rtl="0">
              <a:buNone/>
            </a:pPr>
            <a:r>
              <a:rPr sz="3000" b="1" i="0" cap="none">
                <a:solidFill>
                  <a:srgbClr val="2C3E50"/>
                </a:solidFill>
              </a:rPr>
              <a:t>Code Editors and IDEs</a:t>
            </a:r>
          </a:p>
        </p:txBody>
      </p:sp>
      <p:sp>
        <p:nvSpPr>
          <p:cNvPr id="3" name="Body"/>
          <p:cNvSpPr txBox="1"/>
          <p:nvPr/>
        </p:nvSpPr>
        <p:spPr>
          <a:xfrm>
            <a:off x="457200" y="1261872"/>
            <a:ext cx="8229600" cy="269824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Visual Studio Code</a:t>
            </a:r>
            <a:r>
              <a:rPr sz="2200" b="0" i="0">
                <a:solidFill>
                  <a:srgbClr val="1F2A36"/>
                </a:solidFill>
              </a:rPr>
              <a:t> with the </a:t>
            </a:r>
            <a:r>
              <a:rPr sz="2200" b="1" i="0">
                <a:solidFill>
                  <a:srgbClr val="1F2A36"/>
                </a:solidFill>
              </a:rPr>
              <a:t>Vue - Official</a:t>
            </a:r>
            <a:r>
              <a:rPr sz="2200" b="0" i="0">
                <a:solidFill>
                  <a:srgbClr val="1F2A36"/>
                </a:solidFill>
              </a:rPr>
              <a:t> extension (used in this course)</a:t>
            </a:r>
          </a:p>
          <a:p>
            <a:pPr marL="274320" indent="-256032">
              <a:spcAft>
                <a:spcPts val="990"/>
              </a:spcAft>
              <a:buClr>
                <a:srgbClr val="42B883"/>
              </a:buClr>
              <a:buSzPct val="100000"/>
              <a:buFont typeface="Arial"/>
              <a:buChar char="•"/>
            </a:pPr>
            <a:r>
              <a:rPr sz="2200" b="0" i="0">
                <a:solidFill>
                  <a:srgbClr val="1F2A36"/>
                </a:solidFill>
              </a:rPr>
              <a:t>JetBrains </a:t>
            </a:r>
            <a:r>
              <a:rPr sz="2200" b="1" i="0">
                <a:solidFill>
                  <a:srgbClr val="1F2A36"/>
                </a:solidFill>
              </a:rPr>
              <a:t>WebStorm</a:t>
            </a:r>
            <a:r>
              <a:rPr sz="2200" b="0" i="0">
                <a:solidFill>
                  <a:srgbClr val="1F2A36"/>
                </a:solidFill>
              </a:rPr>
              <a:t> / IntelliJ IDEA</a:t>
            </a:r>
          </a:p>
          <a:p>
            <a:pPr marL="274320" indent="-256032">
              <a:spcAft>
                <a:spcPts val="990"/>
              </a:spcAft>
              <a:buClr>
                <a:srgbClr val="42B883"/>
              </a:buClr>
              <a:buSzPct val="100000"/>
              <a:buFont typeface="Arial"/>
              <a:buChar char="•"/>
            </a:pPr>
            <a:r>
              <a:rPr sz="2200" b="1" i="0">
                <a:solidFill>
                  <a:srgbClr val="1F2A36"/>
                </a:solidFill>
              </a:rPr>
              <a:t>Zed</a:t>
            </a:r>
          </a:p>
          <a:p>
            <a:pPr marL="274320" indent="-256032">
              <a:spcAft>
                <a:spcPts val="990"/>
              </a:spcAft>
              <a:buClr>
                <a:srgbClr val="42B883"/>
              </a:buClr>
              <a:buSzPct val="100000"/>
              <a:buFont typeface="Arial"/>
              <a:buChar char="•"/>
            </a:pPr>
            <a:r>
              <a:rPr sz="2200" b="1" i="0">
                <a:solidFill>
                  <a:srgbClr val="1F2A36"/>
                </a:solidFill>
              </a:rPr>
              <a:t>Sublime Text</a:t>
            </a:r>
          </a:p>
          <a:p>
            <a:pPr marL="274320" indent="-256032">
              <a:spcAft>
                <a:spcPts val="990"/>
              </a:spcAft>
              <a:buClr>
                <a:srgbClr val="42B883"/>
              </a:buClr>
              <a:buSzPct val="100000"/>
              <a:buFont typeface="Arial"/>
              <a:buChar char="•"/>
            </a:pPr>
            <a:r>
              <a:rPr sz="2200" b="1" i="0">
                <a:solidFill>
                  <a:srgbClr val="1F2A36"/>
                </a:solidFill>
              </a:rPr>
              <a:t>Neovim</a:t>
            </a:r>
            <a:r>
              <a:rPr sz="2200" b="0" i="0">
                <a:solidFill>
                  <a:srgbClr val="1F2A36"/>
                </a:solidFill>
              </a:rPr>
              <a:t> / </a:t>
            </a:r>
            <a:r>
              <a:rPr sz="2200" b="1" i="0">
                <a:solidFill>
                  <a:srgbClr val="1F2A36"/>
                </a:solidFill>
              </a:rPr>
              <a:t>Emacs</a:t>
            </a:r>
          </a:p>
        </p:txBody>
      </p:sp>
      <p:sp>
        <p:nvSpPr>
          <p:cNvPr id="4" name="Tip"/>
          <p:cNvSpPr/>
          <p:nvPr/>
        </p:nvSpPr>
        <p:spPr>
          <a:xfrm>
            <a:off x="457200" y="4014978"/>
            <a:ext cx="8229600" cy="11887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Any editor with a Volar (Vue language server) client will give you Vue syntax highlighting, type checking and go-to-definition.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a:t>
            </a:fld>
            <a:endParaRPr lang="en-US" sz="900">
              <a:solidFill>
                <a:srgbClr val="9AA7B4"/>
              </a:solidFill>
            </a:endParaRPr>
          </a:p>
        </p:txBody>
      </p:sp>
    </p:spTree>
    <p:extLst>
      <p:ext uri="{BB962C8B-B14F-4D97-AF65-F5344CB8AC3E}">
        <p14:creationId xmlns:p14="http://schemas.microsoft.com/office/powerpoint/2010/main" val="1585310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lvl="0" indent="0" algn="l" rtl="0">
              <a:buNone/>
            </a:pPr>
            <a:r>
              <a:rPr sz="3000" b="1" i="0" cap="none">
                <a:solidFill>
                  <a:srgbClr val="2C3E50"/>
                </a:solidFill>
              </a:rPr>
              <a:t>Installing and Configuring VS Code</a:t>
            </a:r>
          </a:p>
        </p:txBody>
      </p:sp>
      <p:pic>
        <p:nvPicPr>
          <p:cNvPr id="4" name="Content Placeholder 8">
            <a:extLst>
              <a:ext uri="{FF2B5EF4-FFF2-40B4-BE49-F238E27FC236}">
                <a16:creationId xmlns:a16="http://schemas.microsoft.com/office/drawing/2014/main" id="{DCC60875-8339-B4DE-2CF3-5706F06033E6}"/>
              </a:ext>
            </a:extLst>
          </p:cNvPr>
          <p:cNvPicPr>
            <a:picLocks noChangeAspect="1"/>
          </p:cNvPicPr>
          <p:nvPr/>
        </p:nvPicPr>
        <p:blipFill>
          <a:blip r:embed="rId3"/>
          <a:stretch>
            <a:fillRect/>
          </a:stretch>
        </p:blipFill>
        <p:spPr>
          <a:xfrm>
            <a:off x="4846320" y="2352969"/>
            <a:ext cx="3840480" cy="2975020"/>
          </a:xfrm>
          <a:prstGeom prst="rect">
            <a:avLst/>
          </a:prstGeom>
          <a:ln w="12700">
            <a:solidFill>
              <a:srgbClr val="D6DEE6"/>
            </a:solidFill>
          </a:ln>
        </p:spPr>
      </p:pic>
      <p:sp>
        <p:nvSpPr>
          <p:cNvPr id="5" name="Chip LAB 01"/>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01</a:t>
            </a:r>
          </a:p>
        </p:txBody>
      </p:sp>
      <p:sp>
        <p:nvSpPr>
          <p:cNvPr id="6" name="Chip 1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15 min</a:t>
            </a:r>
          </a:p>
        </p:txBody>
      </p:sp>
      <p:sp>
        <p:nvSpPr>
          <p:cNvPr id="7"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Install VS Code and the extensions we use all week.</a:t>
            </a:r>
          </a:p>
        </p:txBody>
      </p:sp>
      <p:sp>
        <p:nvSpPr>
          <p:cNvPr id="8" name="Body"/>
          <p:cNvSpPr txBox="1"/>
          <p:nvPr/>
        </p:nvSpPr>
        <p:spPr>
          <a:xfrm>
            <a:off x="457200" y="2441448"/>
            <a:ext cx="4160520" cy="234696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Install Visual Studio Code</a:t>
            </a:r>
          </a:p>
          <a:p>
            <a:pPr marL="274320" indent="-256032">
              <a:spcAft>
                <a:spcPts val="900"/>
              </a:spcAft>
              <a:buClr>
                <a:srgbClr val="42B883"/>
              </a:buClr>
              <a:buSzPct val="100000"/>
              <a:buFont typeface="Arial"/>
              <a:buChar char="•"/>
            </a:pPr>
            <a:r>
              <a:rPr sz="2000" b="0" i="0">
                <a:solidFill>
                  <a:srgbClr val="1F2A36"/>
                </a:solidFill>
              </a:rPr>
              <a:t>Install the </a:t>
            </a:r>
            <a:r>
              <a:rPr sz="2000" b="1" i="0">
                <a:solidFill>
                  <a:srgbClr val="1F2A36"/>
                </a:solidFill>
              </a:rPr>
              <a:t>Vue - Official</a:t>
            </a:r>
            <a:r>
              <a:rPr sz="2000" b="0" i="0">
                <a:solidFill>
                  <a:srgbClr val="1F2A36"/>
                </a:solidFill>
              </a:rPr>
              <a:t> and </a:t>
            </a:r>
            <a:r>
              <a:rPr sz="2000" b="1" i="0">
                <a:solidFill>
                  <a:srgbClr val="1F2A36"/>
                </a:solidFill>
              </a:rPr>
              <a:t>ESLint</a:t>
            </a:r>
            <a:r>
              <a:rPr sz="2000" b="0" i="0">
                <a:solidFill>
                  <a:srgbClr val="1F2A36"/>
                </a:solidFill>
              </a:rPr>
              <a:t> extensions</a:t>
            </a:r>
          </a:p>
          <a:p>
            <a:pPr marL="274320" indent="-256032">
              <a:spcAft>
                <a:spcPts val="900"/>
              </a:spcAft>
              <a:buClr>
                <a:srgbClr val="42B883"/>
              </a:buClr>
              <a:buSzPct val="100000"/>
              <a:buFont typeface="Arial"/>
              <a:buChar char="•"/>
            </a:pPr>
            <a:r>
              <a:rPr sz="2000" b="0" i="0">
                <a:solidFill>
                  <a:srgbClr val="1F2A36"/>
                </a:solidFill>
              </a:rPr>
              <a:t>Disable Vetur if you have it</a:t>
            </a:r>
          </a:p>
          <a:p>
            <a:pPr marL="274320" indent="-256032">
              <a:spcAft>
                <a:spcPts val="900"/>
              </a:spcAft>
              <a:buClr>
                <a:srgbClr val="42B883"/>
              </a:buClr>
              <a:buSzPct val="100000"/>
              <a:buFont typeface="Arial"/>
              <a:buChar char="•"/>
            </a:pPr>
            <a:r>
              <a:rPr sz="2000" b="0" i="0">
                <a:solidFill>
                  <a:srgbClr val="1F2A36"/>
                </a:solidFill>
              </a:rPr>
              <a:t>Create a </a:t>
            </a:r>
            <a:r>
              <a:rPr sz="1900" b="0" i="0">
                <a:solidFill>
                  <a:srgbClr val="8A2B52"/>
                </a:solidFill>
                <a:latin typeface="Consolas"/>
              </a:rPr>
              <a:t>vue-training</a:t>
            </a:r>
            <a:r>
              <a:rPr sz="2000" b="0" i="0">
                <a:solidFill>
                  <a:srgbClr val="1F2A36"/>
                </a:solidFill>
              </a:rPr>
              <a:t> folder and open it in VS Code</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a:t>
            </a:fld>
            <a:endParaRPr lang="en-US" sz="900">
              <a:solidFill>
                <a:srgbClr val="9AA7B4"/>
              </a:solidFill>
            </a:endParaRPr>
          </a:p>
        </p:txBody>
      </p:sp>
    </p:spTree>
    <p:extLst>
      <p:ext uri="{BB962C8B-B14F-4D97-AF65-F5344CB8AC3E}">
        <p14:creationId xmlns:p14="http://schemas.microsoft.com/office/powerpoint/2010/main" val="2035015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12AB-9B1C-0647-8FB0-6A658BA2C210}"/>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Vite</a:t>
            </a:r>
          </a:p>
        </p:txBody>
      </p:sp>
      <p:sp>
        <p:nvSpPr>
          <p:cNvPr id="3" name="Body"/>
          <p:cNvSpPr txBox="1"/>
          <p:nvPr/>
        </p:nvSpPr>
        <p:spPr>
          <a:xfrm>
            <a:off x="457200" y="1261872"/>
            <a:ext cx="8229600" cy="4866512"/>
          </a:xfrm>
          <a:prstGeom prst="rect">
            <a:avLst/>
          </a:prstGeom>
          <a:noFill/>
        </p:spPr>
        <p:txBody>
          <a:bodyPr wrap="square" lIns="0" tIns="0" rIns="0" bIns="0">
            <a:noAutofit/>
          </a:bodyPr>
          <a:lstStyle/>
          <a:p>
            <a:pPr marL="274320" indent="-256032">
              <a:spcAft>
                <a:spcPts val="945"/>
              </a:spcAft>
              <a:buClr>
                <a:srgbClr val="42B883"/>
              </a:buClr>
              <a:buSzPct val="100000"/>
              <a:buFont typeface="Arial"/>
              <a:buChar char="•"/>
            </a:pPr>
            <a:r>
              <a:rPr sz="2100" b="0" i="0">
                <a:solidFill>
                  <a:srgbClr val="1F2A36"/>
                </a:solidFill>
              </a:rPr>
              <a:t>The build tool behind the current Vue tooling (created by Evan You)</a:t>
            </a:r>
          </a:p>
          <a:p>
            <a:pPr marL="274320" indent="-256032">
              <a:spcAft>
                <a:spcPts val="945"/>
              </a:spcAft>
              <a:buClr>
                <a:srgbClr val="42B883"/>
              </a:buClr>
              <a:buSzPct val="100000"/>
              <a:buFont typeface="Arial"/>
              <a:buChar char="•"/>
            </a:pPr>
            <a:r>
              <a:rPr sz="2100" b="1" i="0">
                <a:solidFill>
                  <a:srgbClr val="1F2A36"/>
                </a:solidFill>
              </a:rPr>
              <a:t>Development</a:t>
            </a:r>
            <a:r>
              <a:rPr sz="2100" b="0" i="0">
                <a:solidFill>
                  <a:srgbClr val="1F2A36"/>
                </a:solidFill>
              </a:rPr>
              <a:t>: serves your source as native ES modules</a:t>
            </a:r>
          </a:p>
          <a:p>
            <a:pPr marL="566928" indent="-256032">
              <a:spcAft>
                <a:spcPts val="810"/>
              </a:spcAft>
              <a:buClr>
                <a:srgbClr val="6B7B8C"/>
              </a:buClr>
              <a:buSzPct val="100000"/>
              <a:buFont typeface="Arial"/>
              <a:buChar char="–"/>
            </a:pPr>
            <a:r>
              <a:rPr sz="1800" b="0" i="0">
                <a:solidFill>
                  <a:srgbClr val="3A4A5A"/>
                </a:solidFill>
              </a:rPr>
              <a:t>No bundling step, so startup and reloads stay fast as the app grows</a:t>
            </a:r>
          </a:p>
          <a:p>
            <a:pPr marL="566928" indent="-256032">
              <a:spcAft>
                <a:spcPts val="810"/>
              </a:spcAft>
              <a:buClr>
                <a:srgbClr val="6B7B8C"/>
              </a:buClr>
              <a:buSzPct val="100000"/>
              <a:buFont typeface="Arial"/>
              <a:buChar char="–"/>
            </a:pPr>
            <a:r>
              <a:rPr sz="1800" b="0" i="0">
                <a:solidFill>
                  <a:srgbClr val="3A4A5A"/>
                </a:solidFill>
              </a:rPr>
              <a:t>Hot module replacement (HMR) that keeps component state</a:t>
            </a:r>
          </a:p>
          <a:p>
            <a:pPr marL="274320" indent="-256032">
              <a:spcAft>
                <a:spcPts val="945"/>
              </a:spcAft>
              <a:buClr>
                <a:srgbClr val="42B883"/>
              </a:buClr>
              <a:buSzPct val="100000"/>
              <a:buFont typeface="Arial"/>
              <a:buChar char="•"/>
            </a:pPr>
            <a:r>
              <a:rPr sz="2100" b="1" i="0">
                <a:solidFill>
                  <a:srgbClr val="1F2A36"/>
                </a:solidFill>
              </a:rPr>
              <a:t>Production</a:t>
            </a:r>
            <a:r>
              <a:rPr sz="2100" b="0" i="0">
                <a:solidFill>
                  <a:srgbClr val="1F2A36"/>
                </a:solidFill>
              </a:rPr>
              <a:t>: bundles, tree-shakes and minifies with </a:t>
            </a:r>
            <a:r>
              <a:rPr sz="2100" b="1" i="0">
                <a:solidFill>
                  <a:srgbClr val="1F2A36"/>
                </a:solidFill>
              </a:rPr>
              <a:t>Rolldown</a:t>
            </a:r>
          </a:p>
          <a:p>
            <a:pPr marL="566928" indent="-256032">
              <a:spcAft>
                <a:spcPts val="810"/>
              </a:spcAft>
              <a:buClr>
                <a:srgbClr val="6B7B8C"/>
              </a:buClr>
              <a:buSzPct val="100000"/>
              <a:buFont typeface="Arial"/>
              <a:buChar char="–"/>
            </a:pPr>
            <a:r>
              <a:rPr sz="1800" b="0" i="0">
                <a:solidFill>
                  <a:srgbClr val="3A4A5A"/>
                </a:solidFill>
              </a:rPr>
              <a:t>Vite 8 (March 2026) replaced esbuild + Rollup with Rolldown and Oxc, written in Rust</a:t>
            </a:r>
          </a:p>
          <a:p>
            <a:pPr marL="274320" indent="-256032">
              <a:spcAft>
                <a:spcPts val="945"/>
              </a:spcAft>
              <a:buClr>
                <a:srgbClr val="42B883"/>
              </a:buClr>
              <a:buSzPct val="100000"/>
              <a:buFont typeface="Arial"/>
              <a:buChar char="•"/>
            </a:pPr>
            <a:r>
              <a:rPr sz="2100" b="0" i="0">
                <a:solidFill>
                  <a:srgbClr val="1F2A36"/>
                </a:solidFill>
              </a:rPr>
              <a:t>Framework-agnostic: Vue support comes from </a:t>
            </a:r>
            <a:r>
              <a:rPr sz="1995" b="0" i="0">
                <a:solidFill>
                  <a:srgbClr val="8A2B52"/>
                </a:solidFill>
                <a:latin typeface="Consolas"/>
              </a:rPr>
              <a:t>@vitejs/plugin-vue</a:t>
            </a:r>
          </a:p>
          <a:p>
            <a:pPr marL="274320" indent="-256032">
              <a:spcAft>
                <a:spcPts val="945"/>
              </a:spcAft>
              <a:buClr>
                <a:srgbClr val="42B883"/>
              </a:buClr>
              <a:buSzPct val="100000"/>
              <a:buFont typeface="Arial"/>
              <a:buChar char="•"/>
            </a:pPr>
            <a:r>
              <a:rPr sz="2100" b="0" i="0">
                <a:solidFill>
                  <a:srgbClr val="1F2A36"/>
                </a:solidFill>
              </a:rPr>
              <a:t>Vue CLI, which used webpack, reached end of life at the end of 2023</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a:t>
            </a:fld>
            <a:endParaRPr lang="en-US" sz="900">
              <a:solidFill>
                <a:srgbClr val="9AA7B4"/>
              </a:solidFill>
            </a:endParaRPr>
          </a:p>
        </p:txBody>
      </p:sp>
    </p:spTree>
    <p:extLst>
      <p:ext uri="{BB962C8B-B14F-4D97-AF65-F5344CB8AC3E}">
        <p14:creationId xmlns:p14="http://schemas.microsoft.com/office/powerpoint/2010/main" val="788762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A545-DE6A-DC40-9A11-B7ACE3E7910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create-vue</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Scaffold a project — nothing to install globally</a:t>
            </a:r>
          </a:p>
        </p:txBody>
      </p:sp>
      <p:sp>
        <p:nvSpPr>
          <p:cNvPr id="4" name="Code"/>
          <p:cNvSpPr/>
          <p:nvPr/>
        </p:nvSpPr>
        <p:spPr>
          <a:xfrm>
            <a:off x="457200" y="1863597"/>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npm create vue@latest conduit</a:t>
            </a:r>
          </a:p>
        </p:txBody>
      </p:sp>
      <p:sp>
        <p:nvSpPr>
          <p:cNvPr id="5" name="Body"/>
          <p:cNvSpPr txBox="1"/>
          <p:nvPr/>
        </p:nvSpPr>
        <p:spPr>
          <a:xfrm>
            <a:off x="457200" y="2617470"/>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Then, in the new directory:</a:t>
            </a:r>
          </a:p>
        </p:txBody>
      </p:sp>
      <p:sp>
        <p:nvSpPr>
          <p:cNvPr id="6" name="Code"/>
          <p:cNvSpPr/>
          <p:nvPr/>
        </p:nvSpPr>
        <p:spPr>
          <a:xfrm>
            <a:off x="457200" y="3219196"/>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npm install</a:t>
            </a:r>
          </a:p>
          <a:p>
            <a:pPr marL="0" indent="0" algn="l">
              <a:lnSpc>
                <a:spcPct val="100000"/>
              </a:lnSpc>
              <a:buNone/>
            </a:pPr>
            <a:r>
              <a:rPr sz="2000">
                <a:solidFill>
                  <a:srgbClr val="24292F"/>
                </a:solidFill>
                <a:latin typeface="Consolas"/>
              </a:rPr>
              <a:t>npm run dev      </a:t>
            </a:r>
            <a:r>
              <a:rPr sz="2000" i="1">
                <a:solidFill>
                  <a:srgbClr val="6E7781"/>
                </a:solidFill>
                <a:latin typeface="Consolas"/>
              </a:rPr>
              <a:t># start the dev server on :5173</a:t>
            </a:r>
          </a:p>
          <a:p>
            <a:pPr marL="0" indent="0" algn="l">
              <a:lnSpc>
                <a:spcPct val="100000"/>
              </a:lnSpc>
              <a:buNone/>
            </a:pPr>
            <a:r>
              <a:rPr sz="2000">
                <a:solidFill>
                  <a:srgbClr val="24292F"/>
                </a:solidFill>
                <a:latin typeface="Consolas"/>
              </a:rPr>
              <a:t>npm run build    </a:t>
            </a:r>
            <a:r>
              <a:rPr sz="2000" i="1">
                <a:solidFill>
                  <a:srgbClr val="6E7781"/>
                </a:solidFill>
                <a:latin typeface="Consolas"/>
              </a:rPr>
              <a:t># production build into dist/</a:t>
            </a:r>
          </a:p>
          <a:p>
            <a:pPr marL="0" indent="0" algn="l">
              <a:lnSpc>
                <a:spcPct val="100000"/>
              </a:lnSpc>
              <a:buNone/>
            </a:pPr>
            <a:r>
              <a:rPr sz="2000">
                <a:solidFill>
                  <a:srgbClr val="24292F"/>
                </a:solidFill>
                <a:latin typeface="Consolas"/>
              </a:rPr>
              <a:t>npm run preview  </a:t>
            </a:r>
            <a:r>
              <a:rPr sz="2000" i="1">
                <a:solidFill>
                  <a:srgbClr val="6E7781"/>
                </a:solidFill>
                <a:latin typeface="Consolas"/>
              </a:rPr>
              <a:t># serve the production build</a:t>
            </a:r>
          </a:p>
        </p:txBody>
      </p:sp>
      <p:sp>
        <p:nvSpPr>
          <p:cNvPr id="7" name="Body"/>
          <p:cNvSpPr txBox="1"/>
          <p:nvPr/>
        </p:nvSpPr>
        <p:spPr>
          <a:xfrm>
            <a:off x="457200" y="4917948"/>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prompts let you add TypeScript, Router, Pinia, Vitest, ESLint and Prettier up front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a:t>
            </a:fld>
            <a:endParaRPr lang="en-US" sz="900">
              <a:solidFill>
                <a:srgbClr val="9AA7B4"/>
              </a:solidFill>
            </a:endParaRPr>
          </a:p>
        </p:txBody>
      </p:sp>
    </p:spTree>
    <p:extLst>
      <p:ext uri="{BB962C8B-B14F-4D97-AF65-F5344CB8AC3E}">
        <p14:creationId xmlns:p14="http://schemas.microsoft.com/office/powerpoint/2010/main" val="1511814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21B7-2E73-CE41-8E41-02575CB3EAFD}"/>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Get Started with Vite</a:t>
            </a:r>
          </a:p>
        </p:txBody>
      </p:sp>
      <p:sp>
        <p:nvSpPr>
          <p:cNvPr id="3" name="Chip LAB 02"/>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02</a:t>
            </a:r>
          </a:p>
        </p:txBody>
      </p:sp>
      <p:sp>
        <p:nvSpPr>
          <p:cNvPr id="4" name="Chip 3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30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Scaffold the Conduit project with create-vue and see hot module replacement work.</a:t>
            </a:r>
          </a:p>
        </p:txBody>
      </p:sp>
      <p:sp>
        <p:nvSpPr>
          <p:cNvPr id="6" name="Body"/>
          <p:cNvSpPr txBox="1"/>
          <p:nvPr/>
        </p:nvSpPr>
        <p:spPr>
          <a:xfrm>
            <a:off x="457200" y="2441448"/>
            <a:ext cx="8229600" cy="216153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Run </a:t>
            </a:r>
            <a:r>
              <a:rPr sz="1900" b="0" i="0">
                <a:solidFill>
                  <a:srgbClr val="8A2B52"/>
                </a:solidFill>
                <a:latin typeface="Consolas"/>
              </a:rPr>
              <a:t>npm create vue@latest conduit</a:t>
            </a:r>
          </a:p>
          <a:p>
            <a:pPr marL="274320" indent="-256032">
              <a:spcAft>
                <a:spcPts val="900"/>
              </a:spcAft>
              <a:buClr>
                <a:srgbClr val="42B883"/>
              </a:buClr>
              <a:buSzPct val="100000"/>
              <a:buFont typeface="Arial"/>
              <a:buChar char="•"/>
            </a:pPr>
            <a:r>
              <a:rPr sz="2000" b="0" i="0">
                <a:solidFill>
                  <a:srgbClr val="1F2A36"/>
                </a:solidFill>
              </a:rPr>
              <a:t>Say </a:t>
            </a:r>
            <a:r>
              <a:rPr sz="2000" b="1" i="0">
                <a:solidFill>
                  <a:srgbClr val="1F2A36"/>
                </a:solidFill>
              </a:rPr>
              <a:t>Yes</a:t>
            </a:r>
            <a:r>
              <a:rPr sz="2000" b="0" i="0">
                <a:solidFill>
                  <a:srgbClr val="1F2A36"/>
                </a:solidFill>
              </a:rPr>
              <a:t> to Vitest, Linter and Prettier only</a:t>
            </a:r>
          </a:p>
          <a:p>
            <a:pPr marL="274320" indent="-256032">
              <a:spcAft>
                <a:spcPts val="900"/>
              </a:spcAft>
              <a:buClr>
                <a:srgbClr val="42B883"/>
              </a:buClr>
              <a:buSzPct val="100000"/>
              <a:buFont typeface="Arial"/>
              <a:buChar char="•"/>
            </a:pPr>
            <a:r>
              <a:rPr sz="1900" b="0" i="0">
                <a:solidFill>
                  <a:srgbClr val="8A2B52"/>
                </a:solidFill>
                <a:latin typeface="Consolas"/>
              </a:rPr>
              <a:t>npm install</a:t>
            </a:r>
            <a:r>
              <a:rPr sz="2000" b="0" i="0">
                <a:solidFill>
                  <a:srgbClr val="1F2A36"/>
                </a:solidFill>
              </a:rPr>
              <a:t>, then </a:t>
            </a:r>
            <a:r>
              <a:rPr sz="1900" b="0" i="0">
                <a:solidFill>
                  <a:srgbClr val="8A2B52"/>
                </a:solidFill>
                <a:latin typeface="Consolas"/>
              </a:rPr>
              <a:t>npm run dev</a:t>
            </a:r>
          </a:p>
          <a:p>
            <a:pPr marL="274320" indent="-256032">
              <a:spcAft>
                <a:spcPts val="900"/>
              </a:spcAft>
              <a:buClr>
                <a:srgbClr val="42B883"/>
              </a:buClr>
              <a:buSzPct val="100000"/>
              <a:buFont typeface="Arial"/>
              <a:buChar char="•"/>
            </a:pPr>
            <a:r>
              <a:rPr sz="2000" b="0" i="0">
                <a:solidFill>
                  <a:srgbClr val="1F2A36"/>
                </a:solidFill>
              </a:rPr>
              <a:t>Open http://localhost:5173 and edit </a:t>
            </a:r>
            <a:r>
              <a:rPr sz="1900" b="0" i="0">
                <a:solidFill>
                  <a:srgbClr val="8A2B52"/>
                </a:solidFill>
                <a:latin typeface="Consolas"/>
              </a:rPr>
              <a:t>App.vue</a:t>
            </a:r>
            <a:r>
              <a:rPr sz="2000" b="0" i="0">
                <a:solidFill>
                  <a:srgbClr val="1F2A36"/>
                </a:solidFill>
              </a:rPr>
              <a:t> — watch HMR</a:t>
            </a:r>
          </a:p>
          <a:p>
            <a:pPr marL="274320" indent="-256032">
              <a:spcAft>
                <a:spcPts val="900"/>
              </a:spcAft>
              <a:buClr>
                <a:srgbClr val="42B883"/>
              </a:buClr>
              <a:buSzPct val="100000"/>
              <a:buFont typeface="Arial"/>
              <a:buChar char="•"/>
            </a:pPr>
            <a:r>
              <a:rPr sz="2000" b="0" i="0">
                <a:solidFill>
                  <a:srgbClr val="1F2A36"/>
                </a:solidFill>
              </a:rPr>
              <a:t>Find </a:t>
            </a:r>
            <a:r>
              <a:rPr sz="1900" b="0" i="0">
                <a:solidFill>
                  <a:srgbClr val="8A2B52"/>
                </a:solidFill>
                <a:latin typeface="Consolas"/>
              </a:rPr>
              <a:t>index.html</a:t>
            </a:r>
            <a:r>
              <a:rPr sz="2000" b="0" i="0">
                <a:solidFill>
                  <a:srgbClr val="1F2A36"/>
                </a:solidFill>
              </a:rPr>
              <a:t> (in the project root) and </a:t>
            </a:r>
            <a:r>
              <a:rPr sz="1900" b="0" i="0">
                <a:solidFill>
                  <a:srgbClr val="8A2B52"/>
                </a:solidFill>
                <a:latin typeface="Consolas"/>
              </a:rPr>
              <a:t>vite.config.js</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a:t>
            </a:fld>
            <a:endParaRPr lang="en-US" sz="900">
              <a:solidFill>
                <a:srgbClr val="9AA7B4"/>
              </a:solidFill>
            </a:endParaRPr>
          </a:p>
        </p:txBody>
      </p:sp>
    </p:spTree>
    <p:extLst>
      <p:ext uri="{BB962C8B-B14F-4D97-AF65-F5344CB8AC3E}">
        <p14:creationId xmlns:p14="http://schemas.microsoft.com/office/powerpoint/2010/main" val="2747635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Installing and Using the Vue DevTools</a:t>
            </a:r>
          </a:p>
        </p:txBody>
      </p:sp>
      <p:pic>
        <p:nvPicPr>
          <p:cNvPr id="3" name="Content Placeholder 5" descr="A screenshot of a cell phone&#10;&#10;Description automatically generated">
            <a:extLst>
              <a:ext uri="{FF2B5EF4-FFF2-40B4-BE49-F238E27FC236}">
                <a16:creationId xmlns:a16="http://schemas.microsoft.com/office/drawing/2014/main" id="{43F9D9B8-70FE-388B-74EB-84812C046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3440" y="2130654"/>
            <a:ext cx="4023360" cy="3081323"/>
          </a:xfrm>
          <a:prstGeom prst="rect">
            <a:avLst/>
          </a:prstGeom>
          <a:ln w="12700">
            <a:solidFill>
              <a:srgbClr val="D6DEE6"/>
            </a:solidFill>
          </a:ln>
        </p:spPr>
      </p:pic>
      <p:sp>
        <p:nvSpPr>
          <p:cNvPr id="4" name="Body"/>
          <p:cNvSpPr txBox="1"/>
          <p:nvPr/>
        </p:nvSpPr>
        <p:spPr>
          <a:xfrm>
            <a:off x="457200" y="1261872"/>
            <a:ext cx="3931920" cy="474002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Browser extension for Chrome, Edge and Firefox</a:t>
            </a:r>
          </a:p>
          <a:p>
            <a:pPr marL="566928" indent="-256032">
              <a:spcAft>
                <a:spcPts val="855"/>
              </a:spcAft>
              <a:buClr>
                <a:srgbClr val="6B7B8C"/>
              </a:buClr>
              <a:buSzPct val="100000"/>
              <a:buFont typeface="Arial"/>
              <a:buChar char="–"/>
            </a:pPr>
            <a:r>
              <a:rPr sz="1900" b="0" i="0">
                <a:solidFill>
                  <a:srgbClr val="3A4A5A"/>
                </a:solidFill>
              </a:rPr>
              <a:t>devtools.vuejs.org</a:t>
            </a:r>
          </a:p>
          <a:p>
            <a:pPr marL="274320" indent="-256032">
              <a:spcAft>
                <a:spcPts val="990"/>
              </a:spcAft>
              <a:buClr>
                <a:srgbClr val="42B883"/>
              </a:buClr>
              <a:buSzPct val="100000"/>
              <a:buFont typeface="Arial"/>
              <a:buChar char="•"/>
            </a:pPr>
            <a:r>
              <a:rPr sz="2200" b="0" i="0">
                <a:solidFill>
                  <a:srgbClr val="1F2A36"/>
                </a:solidFill>
              </a:rPr>
              <a:t>Or in-page, with no extension: </a:t>
            </a:r>
            <a:r>
              <a:rPr sz="2090" b="0" i="0">
                <a:solidFill>
                  <a:srgbClr val="8A2B52"/>
                </a:solidFill>
                <a:latin typeface="Consolas"/>
              </a:rPr>
              <a:t>vite-plugin-vue-devtools</a:t>
            </a:r>
          </a:p>
          <a:p>
            <a:pPr marL="274320" indent="-256032">
              <a:spcAft>
                <a:spcPts val="990"/>
              </a:spcAft>
              <a:buClr>
                <a:srgbClr val="42B883"/>
              </a:buClr>
              <a:buSzPct val="100000"/>
              <a:buFont typeface="Arial"/>
              <a:buChar char="•"/>
            </a:pPr>
            <a:r>
              <a:rPr sz="2200" b="0" i="0">
                <a:solidFill>
                  <a:srgbClr val="1F2A36"/>
                </a:solidFill>
              </a:rPr>
              <a:t>Inspect the component tree, props and state</a:t>
            </a:r>
          </a:p>
          <a:p>
            <a:pPr marL="274320" indent="-256032">
              <a:spcAft>
                <a:spcPts val="990"/>
              </a:spcAft>
              <a:buClr>
                <a:srgbClr val="42B883"/>
              </a:buClr>
              <a:buSzPct val="100000"/>
              <a:buFont typeface="Arial"/>
              <a:buChar char="•"/>
            </a:pPr>
            <a:r>
              <a:rPr sz="2200" b="0" i="0">
                <a:solidFill>
                  <a:srgbClr val="1F2A36"/>
                </a:solidFill>
              </a:rPr>
              <a:t>Watch Pinia stores and router state</a:t>
            </a:r>
          </a:p>
          <a:p>
            <a:pPr marL="274320" indent="-256032">
              <a:spcAft>
                <a:spcPts val="990"/>
              </a:spcAft>
              <a:buClr>
                <a:srgbClr val="42B883"/>
              </a:buClr>
              <a:buSzPct val="100000"/>
              <a:buFont typeface="Arial"/>
              <a:buChar char="•"/>
            </a:pPr>
            <a:r>
              <a:rPr sz="2200" b="0" i="0">
                <a:solidFill>
                  <a:srgbClr val="1F2A36"/>
                </a:solidFill>
              </a:rPr>
              <a:t>Timeline of events and performance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a:t>
            </a:fld>
            <a:endParaRPr lang="en-US" sz="900">
              <a:solidFill>
                <a:srgbClr val="9AA7B4"/>
              </a:solidFill>
            </a:endParaRPr>
          </a:p>
        </p:txBody>
      </p:sp>
    </p:spTree>
    <p:extLst>
      <p:ext uri="{BB962C8B-B14F-4D97-AF65-F5344CB8AC3E}">
        <p14:creationId xmlns:p14="http://schemas.microsoft.com/office/powerpoint/2010/main" val="4266182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FBBA-BEA8-2B4B-9C4B-1A1B8D083F8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Our Real-World Project: Conduit</a:t>
            </a:r>
          </a:p>
        </p:txBody>
      </p:sp>
      <p:pic>
        <p:nvPicPr>
          <p:cNvPr id="3" name="Content Placeholder 4">
            <a:extLst>
              <a:ext uri="{FF2B5EF4-FFF2-40B4-BE49-F238E27FC236}">
                <a16:creationId xmlns:a16="http://schemas.microsoft.com/office/drawing/2014/main" id="{16D94CB9-076E-D08E-CD22-B2631C6E71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0" y="2303028"/>
            <a:ext cx="4114800" cy="2736574"/>
          </a:xfrm>
          <a:prstGeom prst="rect">
            <a:avLst/>
          </a:prstGeom>
          <a:ln w="12700">
            <a:solidFill>
              <a:srgbClr val="D6DEE6"/>
            </a:solidFill>
          </a:ln>
        </p:spPr>
      </p:pic>
      <p:sp>
        <p:nvSpPr>
          <p:cNvPr id="4" name="Body"/>
          <p:cNvSpPr txBox="1"/>
          <p:nvPr/>
        </p:nvSpPr>
        <p:spPr>
          <a:xfrm>
            <a:off x="457200" y="1261872"/>
            <a:ext cx="3840480" cy="452742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 open-source </a:t>
            </a:r>
            <a:r>
              <a:rPr sz="2200" b="1" i="0">
                <a:solidFill>
                  <a:srgbClr val="1F2A36"/>
                </a:solidFill>
              </a:rPr>
              <a:t>Medium.com clone</a:t>
            </a:r>
            <a:r>
              <a:rPr sz="2200" b="0" i="0">
                <a:solidFill>
                  <a:srgbClr val="1F2A36"/>
                </a:solidFill>
              </a:rPr>
              <a:t> — the RealWorld example app</a:t>
            </a:r>
          </a:p>
          <a:p>
            <a:pPr marL="274320" indent="-256032">
              <a:spcAft>
                <a:spcPts val="990"/>
              </a:spcAft>
              <a:buClr>
                <a:srgbClr val="42B883"/>
              </a:buClr>
              <a:buSzPct val="100000"/>
              <a:buFont typeface="Arial"/>
              <a:buChar char="•"/>
            </a:pPr>
            <a:r>
              <a:rPr sz="2200" b="0" i="0">
                <a:solidFill>
                  <a:srgbClr val="1F2A36"/>
                </a:solidFill>
              </a:rPr>
              <a:t>We'll build it step by step with:</a:t>
            </a:r>
          </a:p>
          <a:p>
            <a:pPr marL="566928" indent="-256032">
              <a:spcAft>
                <a:spcPts val="855"/>
              </a:spcAft>
              <a:buClr>
                <a:srgbClr val="6B7B8C"/>
              </a:buClr>
              <a:buSzPct val="100000"/>
              <a:buFont typeface="Arial"/>
              <a:buChar char="–"/>
            </a:pPr>
            <a:r>
              <a:rPr sz="1900" b="0" i="0">
                <a:solidFill>
                  <a:srgbClr val="3A4A5A"/>
                </a:solidFill>
              </a:rPr>
              <a:t>Components, props, slots and events</a:t>
            </a:r>
          </a:p>
          <a:p>
            <a:pPr marL="566928" indent="-256032">
              <a:spcAft>
                <a:spcPts val="855"/>
              </a:spcAft>
              <a:buClr>
                <a:srgbClr val="6B7B8C"/>
              </a:buClr>
              <a:buSzPct val="100000"/>
              <a:buFont typeface="Arial"/>
              <a:buChar char="–"/>
            </a:pPr>
            <a:r>
              <a:rPr sz="1900" b="0" i="0">
                <a:solidFill>
                  <a:srgbClr val="3A4A5A"/>
                </a:solidFill>
              </a:rPr>
              <a:t>A real REST API</a:t>
            </a:r>
          </a:p>
          <a:p>
            <a:pPr marL="566928" indent="-256032">
              <a:spcAft>
                <a:spcPts val="855"/>
              </a:spcAft>
              <a:buClr>
                <a:srgbClr val="6B7B8C"/>
              </a:buClr>
              <a:buSzPct val="100000"/>
              <a:buFont typeface="Arial"/>
              <a:buChar char="–"/>
            </a:pPr>
            <a:r>
              <a:rPr sz="1900" b="0" i="0">
                <a:solidFill>
                  <a:srgbClr val="3A4A5A"/>
                </a:solidFill>
              </a:rPr>
              <a:t>Authentication</a:t>
            </a:r>
          </a:p>
          <a:p>
            <a:pPr marL="566928" indent="-256032">
              <a:spcAft>
                <a:spcPts val="855"/>
              </a:spcAft>
              <a:buClr>
                <a:srgbClr val="6B7B8C"/>
              </a:buClr>
              <a:buSzPct val="100000"/>
              <a:buFont typeface="Arial"/>
              <a:buChar char="–"/>
            </a:pPr>
            <a:r>
              <a:rPr sz="1900" b="0" i="0">
                <a:solidFill>
                  <a:srgbClr val="3A4A5A"/>
                </a:solidFill>
              </a:rPr>
              <a:t>Routing and Pinia state management</a:t>
            </a:r>
          </a:p>
          <a:p>
            <a:pPr marL="566928" indent="-256032">
              <a:spcAft>
                <a:spcPts val="855"/>
              </a:spcAft>
              <a:buClr>
                <a:srgbClr val="6B7B8C"/>
              </a:buClr>
              <a:buSzPct val="100000"/>
              <a:buFont typeface="Arial"/>
              <a:buChar char="–"/>
            </a:pPr>
            <a:r>
              <a:rPr sz="1900" b="0" i="0">
                <a:solidFill>
                  <a:srgbClr val="3A4A5A"/>
                </a:solidFill>
              </a:rPr>
              <a:t>Unit tests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a:t>
            </a:fld>
            <a:endParaRPr lang="en-US" sz="900">
              <a:solidFill>
                <a:srgbClr val="9AA7B4"/>
              </a:solidFill>
            </a:endParaRPr>
          </a:p>
        </p:txBody>
      </p:sp>
    </p:spTree>
    <p:extLst>
      <p:ext uri="{BB962C8B-B14F-4D97-AF65-F5344CB8AC3E}">
        <p14:creationId xmlns:p14="http://schemas.microsoft.com/office/powerpoint/2010/main" val="2399957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Single-File Components</a:t>
            </a:r>
          </a:p>
        </p:txBody>
      </p:sp>
      <p:sp>
        <p:nvSpPr>
          <p:cNvPr id="3" name="Code"/>
          <p:cNvSpPr/>
          <p:nvPr/>
        </p:nvSpPr>
        <p:spPr>
          <a:xfrm>
            <a:off x="457200" y="1261872"/>
            <a:ext cx="8229600" cy="293827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116329"/>
                </a:solidFill>
                <a:latin typeface="Consolas"/>
              </a:rPr>
              <a:t>&lt;script</a:t>
            </a:r>
            <a:r>
              <a:rPr sz="1400">
                <a:solidFill>
                  <a:srgbClr val="24292F"/>
                </a:solidFill>
                <a:latin typeface="Consolas"/>
              </a:rPr>
              <a:t> </a:t>
            </a:r>
            <a:r>
              <a:rPr sz="1400">
                <a:solidFill>
                  <a:srgbClr val="953800"/>
                </a:solidFill>
                <a:latin typeface="Consolas"/>
              </a:rPr>
              <a:t>setup</a:t>
            </a:r>
            <a:r>
              <a:rPr sz="1400">
                <a:solidFill>
                  <a:srgbClr val="116329"/>
                </a:solidFill>
                <a:latin typeface="Consolas"/>
              </a:rPr>
              <a:t>&gt;</a:t>
            </a:r>
          </a:p>
          <a:p>
            <a:pPr marL="0" indent="0" algn="l">
              <a:lnSpc>
                <a:spcPct val="100000"/>
              </a:lnSpc>
              <a:buNone/>
            </a:pPr>
            <a:r>
              <a:rPr sz="1400">
                <a:solidFill>
                  <a:srgbClr val="CF222E"/>
                </a:solidFill>
                <a:latin typeface="Consolas"/>
              </a:rPr>
              <a:t>import</a:t>
            </a:r>
            <a:r>
              <a:rPr sz="1400">
                <a:solidFill>
                  <a:srgbClr val="24292F"/>
                </a:solidFill>
                <a:latin typeface="Consolas"/>
              </a:rPr>
              <a:t> { ref } </a:t>
            </a:r>
            <a:r>
              <a:rPr sz="1400">
                <a:solidFill>
                  <a:srgbClr val="CF222E"/>
                </a:solidFill>
                <a:latin typeface="Consolas"/>
              </a:rPr>
              <a:t>from</a:t>
            </a:r>
            <a:r>
              <a:rPr sz="1400">
                <a:solidFill>
                  <a:srgbClr val="24292F"/>
                </a:solidFill>
                <a:latin typeface="Consolas"/>
              </a:rPr>
              <a:t> </a:t>
            </a:r>
            <a:r>
              <a:rPr sz="1400">
                <a:solidFill>
                  <a:srgbClr val="0A3069"/>
                </a:solidFill>
                <a:latin typeface="Consolas"/>
              </a:rPr>
              <a:t>'vue'</a:t>
            </a:r>
          </a:p>
          <a:p>
            <a:pPr marL="0" indent="0" algn="l">
              <a:lnSpc>
                <a:spcPct val="100000"/>
              </a:lnSpc>
              <a:buNone/>
            </a:pPr>
            <a:r>
              <a:rPr sz="1400">
                <a:solidFill>
                  <a:srgbClr val="CF222E"/>
                </a:solidFill>
                <a:latin typeface="Consolas"/>
              </a:rPr>
              <a:t>const</a:t>
            </a:r>
            <a:r>
              <a:rPr sz="1400">
                <a:solidFill>
                  <a:srgbClr val="24292F"/>
                </a:solidFill>
                <a:latin typeface="Consolas"/>
              </a:rPr>
              <a:t> count = ref(</a:t>
            </a:r>
            <a:r>
              <a:rPr sz="1400">
                <a:solidFill>
                  <a:srgbClr val="0550AE"/>
                </a:solidFill>
                <a:latin typeface="Consolas"/>
              </a:rPr>
              <a:t>0</a:t>
            </a:r>
            <a:r>
              <a:rPr sz="1400">
                <a:solidFill>
                  <a:srgbClr val="24292F"/>
                </a:solidFill>
                <a:latin typeface="Consolas"/>
              </a:rPr>
              <a:t>)</a:t>
            </a:r>
          </a:p>
          <a:p>
            <a:pPr marL="0" indent="0" algn="l">
              <a:lnSpc>
                <a:spcPct val="100000"/>
              </a:lnSpc>
              <a:buNone/>
            </a:pPr>
            <a:r>
              <a:rPr sz="1400">
                <a:solidFill>
                  <a:srgbClr val="116329"/>
                </a:solidFill>
                <a:latin typeface="Consolas"/>
              </a:rPr>
              <a:t>&lt;/script&gt;</a:t>
            </a:r>
          </a:p>
          <a:p>
            <a:pPr marL="0" indent="0" algn="l">
              <a:lnSpc>
                <a:spcPct val="100000"/>
              </a:lnSpc>
              <a:buNone/>
            </a:pPr>
            <a:r>
              <a:rPr sz="1400">
                <a:latin typeface="Consolas"/>
              </a:rPr>
              <a:t> </a:t>
            </a:r>
          </a:p>
          <a:p>
            <a:pPr marL="0" indent="0" algn="l">
              <a:lnSpc>
                <a:spcPct val="100000"/>
              </a:lnSpc>
              <a:buNone/>
            </a:pPr>
            <a:r>
              <a:rPr sz="1400">
                <a:solidFill>
                  <a:srgbClr val="116329"/>
                </a:solidFill>
                <a:latin typeface="Consolas"/>
              </a:rPr>
              <a:t>&lt;template&gt;</a:t>
            </a:r>
          </a:p>
          <a:p>
            <a:pPr marL="0" indent="0" algn="l">
              <a:lnSpc>
                <a:spcPct val="100000"/>
              </a:lnSpc>
              <a:buNone/>
            </a:pPr>
            <a:r>
              <a:rPr sz="1400">
                <a:solidFill>
                  <a:srgbClr val="24292F"/>
                </a:solidFill>
                <a:latin typeface="Consolas"/>
              </a:rPr>
              <a:t>  </a:t>
            </a:r>
            <a:r>
              <a:rPr sz="1400">
                <a:solidFill>
                  <a:srgbClr val="116329"/>
                </a:solidFill>
                <a:latin typeface="Consolas"/>
              </a:rPr>
              <a:t>&lt;button</a:t>
            </a:r>
            <a:r>
              <a:rPr sz="1400">
                <a:solidFill>
                  <a:srgbClr val="24292F"/>
                </a:solidFill>
                <a:latin typeface="Consolas"/>
              </a:rPr>
              <a:t> </a:t>
            </a:r>
            <a:r>
              <a:rPr sz="1400">
                <a:solidFill>
                  <a:srgbClr val="953800"/>
                </a:solidFill>
                <a:latin typeface="Consolas"/>
              </a:rPr>
              <a:t>@click</a:t>
            </a:r>
            <a:r>
              <a:rPr sz="1400">
                <a:solidFill>
                  <a:srgbClr val="24292F"/>
                </a:solidFill>
                <a:latin typeface="Consolas"/>
              </a:rPr>
              <a:t>=</a:t>
            </a:r>
            <a:r>
              <a:rPr sz="1400">
                <a:solidFill>
                  <a:srgbClr val="0A3069"/>
                </a:solidFill>
                <a:latin typeface="Consolas"/>
              </a:rPr>
              <a:t>"count++"</a:t>
            </a:r>
            <a:r>
              <a:rPr sz="1400">
                <a:solidFill>
                  <a:srgbClr val="116329"/>
                </a:solidFill>
                <a:latin typeface="Consolas"/>
              </a:rPr>
              <a:t>&gt;</a:t>
            </a:r>
            <a:r>
              <a:rPr sz="1400">
                <a:solidFill>
                  <a:srgbClr val="24292F"/>
                </a:solidFill>
                <a:latin typeface="Consolas"/>
              </a:rPr>
              <a:t>Clicked {{ count }} times</a:t>
            </a:r>
            <a:r>
              <a:rPr sz="1400">
                <a:solidFill>
                  <a:srgbClr val="116329"/>
                </a:solidFill>
                <a:latin typeface="Consolas"/>
              </a:rPr>
              <a:t>&lt;/button&gt;</a:t>
            </a:r>
          </a:p>
          <a:p>
            <a:pPr marL="0" indent="0" algn="l">
              <a:lnSpc>
                <a:spcPct val="100000"/>
              </a:lnSpc>
              <a:buNone/>
            </a:pPr>
            <a:r>
              <a:rPr sz="1400">
                <a:solidFill>
                  <a:srgbClr val="116329"/>
                </a:solidFill>
                <a:latin typeface="Consolas"/>
              </a:rPr>
              <a:t>&lt;/template&gt;</a:t>
            </a:r>
          </a:p>
          <a:p>
            <a:pPr marL="0" indent="0" algn="l">
              <a:lnSpc>
                <a:spcPct val="100000"/>
              </a:lnSpc>
              <a:buNone/>
            </a:pPr>
            <a:r>
              <a:rPr sz="1400">
                <a:latin typeface="Consolas"/>
              </a:rPr>
              <a:t> </a:t>
            </a:r>
          </a:p>
          <a:p>
            <a:pPr marL="0" indent="0" algn="l">
              <a:lnSpc>
                <a:spcPct val="100000"/>
              </a:lnSpc>
              <a:buNone/>
            </a:pPr>
            <a:r>
              <a:rPr sz="1400">
                <a:solidFill>
                  <a:srgbClr val="116329"/>
                </a:solidFill>
                <a:latin typeface="Consolas"/>
              </a:rPr>
              <a:t>&lt;style</a:t>
            </a:r>
            <a:r>
              <a:rPr sz="1400">
                <a:solidFill>
                  <a:srgbClr val="24292F"/>
                </a:solidFill>
                <a:latin typeface="Consolas"/>
              </a:rPr>
              <a:t> </a:t>
            </a:r>
            <a:r>
              <a:rPr sz="1400">
                <a:solidFill>
                  <a:srgbClr val="953800"/>
                </a:solidFill>
                <a:latin typeface="Consolas"/>
              </a:rPr>
              <a:t>scoped</a:t>
            </a:r>
            <a:r>
              <a:rPr sz="1400">
                <a:solidFill>
                  <a:srgbClr val="116329"/>
                </a:solidFill>
                <a:latin typeface="Consolas"/>
              </a:rPr>
              <a:t>&gt;</a:t>
            </a:r>
          </a:p>
          <a:p>
            <a:pPr marL="0" indent="0" algn="l">
              <a:lnSpc>
                <a:spcPct val="100000"/>
              </a:lnSpc>
              <a:buNone/>
            </a:pPr>
            <a:r>
              <a:rPr sz="1400">
                <a:solidFill>
                  <a:srgbClr val="24292F"/>
                </a:solidFill>
                <a:latin typeface="Consolas"/>
              </a:rPr>
              <a:t>button { font-weight: bold; }</a:t>
            </a:r>
          </a:p>
          <a:p>
            <a:pPr marL="0" indent="0" algn="l">
              <a:lnSpc>
                <a:spcPct val="100000"/>
              </a:lnSpc>
              <a:buNone/>
            </a:pPr>
            <a:r>
              <a:rPr sz="1400">
                <a:solidFill>
                  <a:srgbClr val="116329"/>
                </a:solidFill>
                <a:latin typeface="Consolas"/>
              </a:rPr>
              <a:t>&lt;/style&gt;</a:t>
            </a:r>
          </a:p>
        </p:txBody>
      </p:sp>
      <p:sp>
        <p:nvSpPr>
          <p:cNvPr id="4" name="Body"/>
          <p:cNvSpPr txBox="1"/>
          <p:nvPr/>
        </p:nvSpPr>
        <p:spPr>
          <a:xfrm>
            <a:off x="457200" y="4346448"/>
            <a:ext cx="8229600" cy="1949450"/>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805" b="1" i="0">
                <a:solidFill>
                  <a:srgbClr val="8A2B52"/>
                </a:solidFill>
                <a:latin typeface="Consolas"/>
              </a:rPr>
              <a:t>&lt;script setup&gt;</a:t>
            </a:r>
            <a:r>
              <a:rPr sz="1900" b="0" i="0">
                <a:solidFill>
                  <a:srgbClr val="1F2A36"/>
                </a:solidFill>
              </a:rPr>
              <a:t> — the logic, using the Composition API</a:t>
            </a:r>
          </a:p>
          <a:p>
            <a:pPr marL="274320" indent="-256032">
              <a:spcAft>
                <a:spcPts val="855"/>
              </a:spcAft>
              <a:buClr>
                <a:srgbClr val="42B883"/>
              </a:buClr>
              <a:buSzPct val="100000"/>
              <a:buFont typeface="Arial"/>
              <a:buChar char="•"/>
            </a:pPr>
            <a:r>
              <a:rPr sz="1805" b="1" i="0">
                <a:solidFill>
                  <a:srgbClr val="8A2B52"/>
                </a:solidFill>
                <a:latin typeface="Consolas"/>
              </a:rPr>
              <a:t>&lt;template&gt;</a:t>
            </a:r>
            <a:r>
              <a:rPr sz="1900" b="0" i="0">
                <a:solidFill>
                  <a:srgbClr val="1F2A36"/>
                </a:solidFill>
              </a:rPr>
              <a:t> — the markup</a:t>
            </a:r>
          </a:p>
          <a:p>
            <a:pPr marL="274320" indent="-256032">
              <a:spcAft>
                <a:spcPts val="855"/>
              </a:spcAft>
              <a:buClr>
                <a:srgbClr val="42B883"/>
              </a:buClr>
              <a:buSzPct val="100000"/>
              <a:buFont typeface="Arial"/>
              <a:buChar char="•"/>
            </a:pPr>
            <a:r>
              <a:rPr sz="1805" b="1" i="0">
                <a:solidFill>
                  <a:srgbClr val="8A2B52"/>
                </a:solidFill>
                <a:latin typeface="Consolas"/>
              </a:rPr>
              <a:t>&lt;style scoped&gt;</a:t>
            </a:r>
            <a:r>
              <a:rPr sz="1900" b="0" i="0">
                <a:solidFill>
                  <a:srgbClr val="1F2A36"/>
                </a:solidFill>
              </a:rPr>
              <a:t> — CSS that applies to this component only</a:t>
            </a:r>
          </a:p>
          <a:p>
            <a:pPr marL="274320" indent="-256032">
              <a:spcAft>
                <a:spcPts val="855"/>
              </a:spcAft>
              <a:buClr>
                <a:srgbClr val="42B883"/>
              </a:buClr>
              <a:buSzPct val="100000"/>
              <a:buFont typeface="Arial"/>
              <a:buChar char="•"/>
            </a:pPr>
            <a:r>
              <a:rPr sz="1900" b="0" i="0">
                <a:solidFill>
                  <a:srgbClr val="1F2A36"/>
                </a:solidFill>
              </a:rPr>
              <a:t>One file, one component, named after the file. Compiled at build time, so the format costs nothing at runtime.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a:t>
            </a:fld>
            <a:endParaRPr lang="en-US" sz="900">
              <a:solidFill>
                <a:srgbClr val="9AA7B4"/>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F97F-2436-3D49-AA39-BDBBA58A4CE6}"/>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Your First Component</a:t>
            </a:r>
          </a:p>
        </p:txBody>
      </p:sp>
      <p:sp>
        <p:nvSpPr>
          <p:cNvPr id="3" name="Chip LAB 03"/>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03</a:t>
            </a:r>
          </a:p>
        </p:txBody>
      </p:sp>
      <p:sp>
        <p:nvSpPr>
          <p:cNvPr id="4" name="Chip 3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30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Create TheHeader.vue, a static Bootstrap navbar, and use it in App.vue.</a:t>
            </a:r>
          </a:p>
        </p:txBody>
      </p:sp>
      <p:sp>
        <p:nvSpPr>
          <p:cNvPr id="6" name="Body"/>
          <p:cNvSpPr txBox="1"/>
          <p:nvPr/>
        </p:nvSpPr>
        <p:spPr>
          <a:xfrm>
            <a:off x="457200" y="2167128"/>
            <a:ext cx="8229600" cy="2751074"/>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Components are reusable modules composed into user interfaces</a:t>
            </a:r>
          </a:p>
          <a:p>
            <a:pPr marL="274320" indent="-256032">
              <a:spcAft>
                <a:spcPts val="900"/>
              </a:spcAft>
              <a:buClr>
                <a:srgbClr val="42B883"/>
              </a:buClr>
              <a:buSzPct val="100000"/>
              <a:buFont typeface="Arial"/>
              <a:buChar char="•"/>
            </a:pPr>
            <a:r>
              <a:rPr sz="2000" b="0" i="0">
                <a:solidFill>
                  <a:srgbClr val="1F2A36"/>
                </a:solidFill>
              </a:rPr>
              <a:t>Vue components are </a:t>
            </a:r>
            <a:r>
              <a:rPr sz="2000" b="1" i="0">
                <a:solidFill>
                  <a:srgbClr val="1F2A36"/>
                </a:solidFill>
              </a:rPr>
              <a:t>single-file components</a:t>
            </a:r>
            <a:r>
              <a:rPr sz="2000" b="0" i="0">
                <a:solidFill>
                  <a:srgbClr val="1F2A36"/>
                </a:solidFill>
              </a:rPr>
              <a:t>: template, script and style</a:t>
            </a:r>
          </a:p>
          <a:p>
            <a:pPr marL="274320" indent="-256032">
              <a:spcAft>
                <a:spcPts val="900"/>
              </a:spcAft>
              <a:buClr>
                <a:srgbClr val="42B883"/>
              </a:buClr>
              <a:buSzPct val="100000"/>
              <a:buFont typeface="Arial"/>
              <a:buChar char="•"/>
            </a:pPr>
            <a:r>
              <a:rPr sz="2000" b="0" i="0">
                <a:solidFill>
                  <a:srgbClr val="1F2A36"/>
                </a:solidFill>
              </a:rPr>
              <a:t>We write them with </a:t>
            </a:r>
            <a:r>
              <a:rPr sz="1900" b="0" i="0">
                <a:solidFill>
                  <a:srgbClr val="8A2B52"/>
                </a:solidFill>
                <a:latin typeface="Consolas"/>
              </a:rPr>
              <a:t>&lt;script setup&gt;</a:t>
            </a:r>
          </a:p>
          <a:p>
            <a:pPr marL="566928" indent="-256032">
              <a:spcAft>
                <a:spcPts val="765"/>
              </a:spcAft>
              <a:buClr>
                <a:srgbClr val="6B7B8C"/>
              </a:buClr>
              <a:buSzPct val="100000"/>
              <a:buFont typeface="Arial"/>
              <a:buChar char="–"/>
            </a:pPr>
            <a:r>
              <a:rPr sz="1700" b="0" i="0">
                <a:solidFill>
                  <a:srgbClr val="3A4A5A"/>
                </a:solidFill>
              </a:rPr>
              <a:t>Every top-level binding is available to the template</a:t>
            </a:r>
          </a:p>
          <a:p>
            <a:pPr marL="566928" indent="-256032">
              <a:spcAft>
                <a:spcPts val="765"/>
              </a:spcAft>
              <a:buClr>
                <a:srgbClr val="6B7B8C"/>
              </a:buClr>
              <a:buSzPct val="100000"/>
              <a:buFont typeface="Arial"/>
              <a:buChar char="–"/>
            </a:pPr>
            <a:r>
              <a:rPr sz="1700" b="0" i="0">
                <a:solidFill>
                  <a:srgbClr val="3A4A5A"/>
                </a:solidFill>
              </a:rPr>
              <a:t>Importing a child component </a:t>
            </a:r>
            <a:r>
              <a:rPr sz="1700" b="1" i="0">
                <a:solidFill>
                  <a:srgbClr val="3A4A5A"/>
                </a:solidFill>
              </a:rPr>
              <a:t>is</a:t>
            </a:r>
            <a:r>
              <a:rPr sz="1700" b="0" i="0">
                <a:solidFill>
                  <a:srgbClr val="3A4A5A"/>
                </a:solidFill>
              </a:rPr>
              <a:t> its registration</a:t>
            </a:r>
          </a:p>
          <a:p>
            <a:pPr marL="274320" indent="-256032">
              <a:spcAft>
                <a:spcPts val="900"/>
              </a:spcAft>
              <a:buClr>
                <a:srgbClr val="42B883"/>
              </a:buClr>
              <a:buSzPct val="100000"/>
              <a:buFont typeface="Arial"/>
              <a:buChar char="•"/>
            </a:pPr>
            <a:r>
              <a:rPr sz="2000" b="0" i="0">
                <a:solidFill>
                  <a:srgbClr val="1F2A36"/>
                </a:solidFill>
              </a:rPr>
              <a:t>Add Bootstrap 5 to </a:t>
            </a:r>
            <a:r>
              <a:rPr sz="1900" b="0" i="0">
                <a:solidFill>
                  <a:srgbClr val="8A2B52"/>
                </a:solidFill>
                <a:latin typeface="Consolas"/>
              </a:rPr>
              <a:t>index.html</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a:t>
            </a:fld>
            <a:endParaRPr lang="en-US" sz="900">
              <a:solidFill>
                <a:srgbClr val="9AA7B4"/>
              </a:solidFill>
            </a:endParaRPr>
          </a:p>
        </p:txBody>
      </p:sp>
    </p:spTree>
    <p:extLst>
      <p:ext uri="{BB962C8B-B14F-4D97-AF65-F5344CB8AC3E}">
        <p14:creationId xmlns:p14="http://schemas.microsoft.com/office/powerpoint/2010/main" val="3842585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Create More Components</a:t>
            </a:r>
          </a:p>
        </p:txBody>
      </p:sp>
      <p:sp>
        <p:nvSpPr>
          <p:cNvPr id="3" name="Chip LAB 04"/>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04</a:t>
            </a:r>
          </a:p>
        </p:txBody>
      </p:sp>
      <p:sp>
        <p:nvSpPr>
          <p:cNvPr id="4" name="Chip 3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30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Build static HomeContent and TheFooter components so App.vue is composed of three parts.</a:t>
            </a:r>
          </a:p>
        </p:txBody>
      </p:sp>
      <p:sp>
        <p:nvSpPr>
          <p:cNvPr id="6" name="Body"/>
          <p:cNvSpPr txBox="1"/>
          <p:nvPr/>
        </p:nvSpPr>
        <p:spPr>
          <a:xfrm>
            <a:off x="457200" y="2441448"/>
            <a:ext cx="8229600" cy="2698877"/>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Replace the welcome components in </a:t>
            </a:r>
            <a:r>
              <a:rPr sz="1900" b="0" i="0">
                <a:solidFill>
                  <a:srgbClr val="8A2B52"/>
                </a:solidFill>
                <a:latin typeface="Consolas"/>
              </a:rPr>
              <a:t>App.vue</a:t>
            </a:r>
            <a:r>
              <a:rPr sz="2000" b="0" i="0">
                <a:solidFill>
                  <a:srgbClr val="1F2A36"/>
                </a:solidFill>
              </a:rPr>
              <a:t> with </a:t>
            </a:r>
            <a:r>
              <a:rPr sz="1900" b="0" i="0">
                <a:solidFill>
                  <a:srgbClr val="8A2B52"/>
                </a:solidFill>
                <a:latin typeface="Consolas"/>
              </a:rPr>
              <a:t>&lt;TheHeader /&gt;</a:t>
            </a:r>
            <a:r>
              <a:rPr sz="2000" b="0" i="0">
                <a:solidFill>
                  <a:srgbClr val="1F2A36"/>
                </a:solidFill>
              </a:rPr>
              <a:t>, </a:t>
            </a:r>
            <a:r>
              <a:rPr sz="1900" b="0" i="0">
                <a:solidFill>
                  <a:srgbClr val="8A2B52"/>
                </a:solidFill>
                <a:latin typeface="Consolas"/>
              </a:rPr>
              <a:t>&lt;HomeContent /&gt;</a:t>
            </a:r>
            <a:r>
              <a:rPr sz="2000" b="0" i="0">
                <a:solidFill>
                  <a:srgbClr val="1F2A36"/>
                </a:solidFill>
              </a:rPr>
              <a:t> and </a:t>
            </a:r>
            <a:r>
              <a:rPr sz="1900" b="0" i="0">
                <a:solidFill>
                  <a:srgbClr val="8A2B52"/>
                </a:solidFill>
                <a:latin typeface="Consolas"/>
              </a:rPr>
              <a:t>&lt;TheFooter /&gt;</a:t>
            </a:r>
          </a:p>
          <a:p>
            <a:pPr marL="274320" indent="-256032">
              <a:spcAft>
                <a:spcPts val="900"/>
              </a:spcAft>
              <a:buClr>
                <a:srgbClr val="42B883"/>
              </a:buClr>
              <a:buSzPct val="100000"/>
              <a:buFont typeface="Arial"/>
              <a:buChar char="•"/>
            </a:pPr>
            <a:r>
              <a:rPr sz="2000" b="0" i="0">
                <a:solidFill>
                  <a:srgbClr val="1F2A36"/>
                </a:solidFill>
              </a:rPr>
              <a:t>Write the static HTML for the home page from the screenshot</a:t>
            </a:r>
          </a:p>
          <a:p>
            <a:pPr marL="566928" indent="-256032">
              <a:spcAft>
                <a:spcPts val="765"/>
              </a:spcAft>
              <a:buClr>
                <a:srgbClr val="6B7B8C"/>
              </a:buClr>
              <a:buSzPct val="100000"/>
              <a:buFont typeface="Arial"/>
              <a:buChar char="–"/>
            </a:pPr>
            <a:r>
              <a:rPr sz="1700" b="0" i="0">
                <a:solidFill>
                  <a:srgbClr val="3A4A5A"/>
                </a:solidFill>
              </a:rPr>
              <a:t>banner, global feed, popular tags sidebar</a:t>
            </a:r>
          </a:p>
          <a:p>
            <a:pPr marL="274320" indent="-256032">
              <a:spcAft>
                <a:spcPts val="900"/>
              </a:spcAft>
              <a:buClr>
                <a:srgbClr val="42B883"/>
              </a:buClr>
              <a:buSzPct val="100000"/>
              <a:buFont typeface="Arial"/>
              <a:buChar char="•"/>
            </a:pPr>
            <a:r>
              <a:rPr sz="2000" b="0" i="0">
                <a:solidFill>
                  <a:srgbClr val="1F2A36"/>
                </a:solidFill>
              </a:rPr>
              <a:t>Write the static footer</a:t>
            </a:r>
          </a:p>
          <a:p>
            <a:pPr marL="274320" indent="-256032">
              <a:spcAft>
                <a:spcPts val="900"/>
              </a:spcAft>
              <a:buClr>
                <a:srgbClr val="42B883"/>
              </a:buClr>
              <a:buSzPct val="100000"/>
              <a:buFont typeface="Arial"/>
              <a:buChar char="•"/>
            </a:pPr>
            <a:r>
              <a:rPr sz="2000" b="0" i="0">
                <a:solidFill>
                  <a:srgbClr val="1F2A36"/>
                </a:solidFill>
              </a:rPr>
              <a:t>Try it yourself before looking at the solution in the lab guide</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a:t>
            </a:fld>
            <a:endParaRPr lang="en-US" sz="900">
              <a:solidFill>
                <a:srgbClr val="9AA7B4"/>
              </a:solidFill>
            </a:endParaRPr>
          </a:p>
        </p:txBody>
      </p:sp>
    </p:spTree>
    <p:extLst>
      <p:ext uri="{BB962C8B-B14F-4D97-AF65-F5344CB8AC3E}">
        <p14:creationId xmlns:p14="http://schemas.microsoft.com/office/powerpoint/2010/main" val="1909470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Testing Vue</a:t>
            </a:r>
          </a:p>
        </p:txBody>
      </p:sp>
      <p:sp>
        <p:nvSpPr>
          <p:cNvPr id="3" name="Chip LAB 05"/>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05</a:t>
            </a:r>
          </a:p>
        </p:txBody>
      </p:sp>
      <p:sp>
        <p:nvSpPr>
          <p:cNvPr id="4"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Write your first component tests with Vitest and Vue Test Utils.</a:t>
            </a:r>
          </a:p>
        </p:txBody>
      </p:sp>
      <p:sp>
        <p:nvSpPr>
          <p:cNvPr id="6" name="Body"/>
          <p:cNvSpPr txBox="1"/>
          <p:nvPr/>
        </p:nvSpPr>
        <p:spPr>
          <a:xfrm>
            <a:off x="457200" y="2167128"/>
            <a:ext cx="8229600" cy="246125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Create </a:t>
            </a:r>
            <a:r>
              <a:rPr sz="1900" b="0" i="0">
                <a:solidFill>
                  <a:srgbClr val="8A2B52"/>
                </a:solidFill>
                <a:latin typeface="Consolas"/>
              </a:rPr>
              <a:t>tests/components/Header.spec.js</a:t>
            </a:r>
          </a:p>
          <a:p>
            <a:pPr marL="274320" indent="-256032">
              <a:spcAft>
                <a:spcPts val="900"/>
              </a:spcAft>
              <a:buClr>
                <a:srgbClr val="42B883"/>
              </a:buClr>
              <a:buSzPct val="100000"/>
              <a:buFont typeface="Arial"/>
              <a:buChar char="•"/>
            </a:pPr>
            <a:r>
              <a:rPr sz="1900" b="0" i="0">
                <a:solidFill>
                  <a:srgbClr val="8A2B52"/>
                </a:solidFill>
                <a:latin typeface="Consolas"/>
              </a:rPr>
              <a:t>mount()</a:t>
            </a:r>
            <a:r>
              <a:rPr sz="2000" b="0" i="0">
                <a:solidFill>
                  <a:srgbClr val="1F2A36"/>
                </a:solidFill>
              </a:rPr>
              <a:t> the component and assert that it exists</a:t>
            </a:r>
          </a:p>
          <a:p>
            <a:pPr marL="274320" indent="-256032">
              <a:spcAft>
                <a:spcPts val="900"/>
              </a:spcAft>
              <a:buClr>
                <a:srgbClr val="42B883"/>
              </a:buClr>
              <a:buSzPct val="100000"/>
              <a:buFont typeface="Arial"/>
              <a:buChar char="•"/>
            </a:pPr>
            <a:r>
              <a:rPr sz="2000" b="0" i="0">
                <a:solidFill>
                  <a:srgbClr val="1F2A36"/>
                </a:solidFill>
              </a:rPr>
              <a:t>Check the </a:t>
            </a:r>
            <a:r>
              <a:rPr sz="1900" b="0" i="0">
                <a:solidFill>
                  <a:srgbClr val="8A2B52"/>
                </a:solidFill>
                <a:latin typeface="Consolas"/>
              </a:rPr>
              <a:t>test</a:t>
            </a:r>
            <a:r>
              <a:rPr sz="2000" b="0" i="0">
                <a:solidFill>
                  <a:srgbClr val="1F2A36"/>
                </a:solidFill>
              </a:rPr>
              <a:t> section in </a:t>
            </a:r>
            <a:r>
              <a:rPr sz="1900" b="0" i="0">
                <a:solidFill>
                  <a:srgbClr val="8A2B52"/>
                </a:solidFill>
                <a:latin typeface="Consolas"/>
              </a:rPr>
              <a:t>vite.config.js</a:t>
            </a:r>
            <a:r>
              <a:rPr sz="2000" b="0" i="0">
                <a:solidFill>
                  <a:srgbClr val="1F2A36"/>
                </a:solidFill>
              </a:rPr>
              <a:t> (jsdom environment)</a:t>
            </a:r>
          </a:p>
          <a:p>
            <a:pPr marL="274320" indent="-256032">
              <a:spcAft>
                <a:spcPts val="900"/>
              </a:spcAft>
              <a:buClr>
                <a:srgbClr val="42B883"/>
              </a:buClr>
              <a:buSzPct val="100000"/>
              <a:buFont typeface="Arial"/>
              <a:buChar char="•"/>
            </a:pPr>
            <a:r>
              <a:rPr sz="2000" b="0" i="0">
                <a:solidFill>
                  <a:srgbClr val="1F2A36"/>
                </a:solidFill>
              </a:rPr>
              <a:t>Copy the spec for HomeContent and TheFooter</a:t>
            </a:r>
          </a:p>
          <a:p>
            <a:pPr marL="274320" indent="-256032">
              <a:spcAft>
                <a:spcPts val="900"/>
              </a:spcAft>
              <a:buClr>
                <a:srgbClr val="42B883"/>
              </a:buClr>
              <a:buSzPct val="100000"/>
              <a:buFont typeface="Arial"/>
              <a:buChar char="•"/>
            </a:pPr>
            <a:r>
              <a:rPr sz="2000" b="0" i="0">
                <a:solidFill>
                  <a:srgbClr val="1F2A36"/>
                </a:solidFill>
              </a:rPr>
              <a:t>Run </a:t>
            </a:r>
            <a:r>
              <a:rPr sz="1900" b="0" i="0">
                <a:solidFill>
                  <a:srgbClr val="8A2B52"/>
                </a:solidFill>
                <a:latin typeface="Consolas"/>
              </a:rPr>
              <a:t>npm run test</a:t>
            </a:r>
            <a:r>
              <a:rPr sz="2000" b="0" i="0">
                <a:solidFill>
                  <a:srgbClr val="1F2A36"/>
                </a:solidFill>
              </a:rPr>
              <a:t>, then try watch mode</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31</a:t>
            </a:fld>
            <a:endParaRPr lang="en-US" sz="900">
              <a:solidFill>
                <a:srgbClr val="9AA7B4"/>
              </a:solidFill>
            </a:endParaRPr>
          </a:p>
        </p:txBody>
      </p:sp>
    </p:spTree>
    <p:extLst>
      <p:ext uri="{BB962C8B-B14F-4D97-AF65-F5344CB8AC3E}">
        <p14:creationId xmlns:p14="http://schemas.microsoft.com/office/powerpoint/2010/main" val="2289647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lvl="0" indent="0" algn="l" rtl="0">
              <a:buNone/>
            </a:pPr>
            <a:r>
              <a:rPr sz="4000" b="1" i="0" cap="none">
                <a:solidFill>
                  <a:srgbClr val="FFFFFF"/>
                </a:solidFill>
              </a:rPr>
              <a:t>Node.js</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Body"/>
          <p:cNvSpPr txBox="1"/>
          <p:nvPr/>
        </p:nvSpPr>
        <p:spPr>
          <a:xfrm>
            <a:off x="731520" y="2148840"/>
            <a:ext cx="7680960" cy="1885187"/>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Install Node</a:t>
            </a:r>
          </a:p>
          <a:p>
            <a:pPr marL="274320" indent="-256032">
              <a:spcAft>
                <a:spcPts val="990"/>
              </a:spcAft>
              <a:buClr>
                <a:srgbClr val="42B883"/>
              </a:buClr>
              <a:buSzPct val="100000"/>
              <a:buFont typeface="Arial"/>
              <a:buChar char="•"/>
            </a:pPr>
            <a:r>
              <a:rPr sz="2200" b="0" i="0">
                <a:solidFill>
                  <a:srgbClr val="FFFFFF"/>
                </a:solidFill>
              </a:rPr>
              <a:t>Test Node and get started using npm</a:t>
            </a:r>
          </a:p>
          <a:p>
            <a:pPr marL="274320" indent="-256032">
              <a:spcAft>
                <a:spcPts val="990"/>
              </a:spcAft>
              <a:buClr>
                <a:srgbClr val="42B883"/>
              </a:buClr>
              <a:buSzPct val="100000"/>
              <a:buFont typeface="Arial"/>
              <a:buChar char="•"/>
            </a:pPr>
            <a:r>
              <a:rPr sz="2200" b="0" i="0">
                <a:solidFill>
                  <a:srgbClr val="FFFFFF"/>
                </a:solidFill>
              </a:rPr>
              <a:t>Understand why front-end tooling runs on Node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32</a:t>
            </a:fld>
            <a:endParaRPr lang="en-US" sz="900">
              <a:solidFill>
                <a:srgbClr val="9FB3C4"/>
              </a:solidFill>
            </a:endParaRPr>
          </a:p>
        </p:txBody>
      </p:sp>
    </p:spTree>
    <p:extLst>
      <p:ext uri="{BB962C8B-B14F-4D97-AF65-F5344CB8AC3E}">
        <p14:creationId xmlns:p14="http://schemas.microsoft.com/office/powerpoint/2010/main" val="2639213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What is Node.js?</a:t>
            </a:r>
          </a:p>
        </p:txBody>
      </p:sp>
      <p:sp>
        <p:nvSpPr>
          <p:cNvPr id="3" name="Body"/>
          <p:cNvSpPr txBox="1"/>
          <p:nvPr/>
        </p:nvSpPr>
        <p:spPr>
          <a:xfrm>
            <a:off x="457200" y="1261872"/>
            <a:ext cx="8229600" cy="416140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JavaScript runtime outside the browser</a:t>
            </a:r>
          </a:p>
          <a:p>
            <a:pPr marL="274320" indent="-256032">
              <a:spcAft>
                <a:spcPts val="990"/>
              </a:spcAft>
              <a:buClr>
                <a:srgbClr val="42B883"/>
              </a:buClr>
              <a:buSzPct val="100000"/>
              <a:buFont typeface="Arial"/>
              <a:buChar char="•"/>
            </a:pPr>
            <a:r>
              <a:rPr sz="2200" b="0" i="0">
                <a:solidFill>
                  <a:srgbClr val="1F2A36"/>
                </a:solidFill>
              </a:rPr>
              <a:t>Built on Google Chrome's </a:t>
            </a:r>
            <a:r>
              <a:rPr sz="2200" b="1" i="0">
                <a:solidFill>
                  <a:srgbClr val="1F2A36"/>
                </a:solidFill>
              </a:rPr>
              <a:t>V8</a:t>
            </a:r>
            <a:r>
              <a:rPr sz="2200" b="0" i="0">
                <a:solidFill>
                  <a:srgbClr val="1F2A36"/>
                </a:solidFill>
              </a:rPr>
              <a:t> JavaScript engine</a:t>
            </a:r>
          </a:p>
          <a:p>
            <a:pPr marL="274320" indent="-256032">
              <a:spcAft>
                <a:spcPts val="990"/>
              </a:spcAft>
              <a:buClr>
                <a:srgbClr val="42B883"/>
              </a:buClr>
              <a:buSzPct val="100000"/>
              <a:buFont typeface="Arial"/>
              <a:buChar char="•"/>
            </a:pPr>
            <a:r>
              <a:rPr sz="2200" b="0" i="0">
                <a:solidFill>
                  <a:srgbClr val="1F2A36"/>
                </a:solidFill>
              </a:rPr>
              <a:t>Open source</a:t>
            </a:r>
          </a:p>
          <a:p>
            <a:pPr marL="274320" indent="-256032">
              <a:spcAft>
                <a:spcPts val="990"/>
              </a:spcAft>
              <a:buClr>
                <a:srgbClr val="42B883"/>
              </a:buClr>
              <a:buSzPct val="100000"/>
              <a:buFont typeface="Arial"/>
              <a:buChar char="•"/>
            </a:pPr>
            <a:r>
              <a:rPr sz="2200" b="1" i="0">
                <a:solidFill>
                  <a:srgbClr val="1F2A36"/>
                </a:solidFill>
              </a:rPr>
              <a:t>Event-driven</a:t>
            </a:r>
            <a:r>
              <a:rPr sz="2200" b="0" i="0">
                <a:solidFill>
                  <a:srgbClr val="1F2A36"/>
                </a:solidFill>
              </a:rPr>
              <a:t> and </a:t>
            </a:r>
            <a:r>
              <a:rPr sz="2200" b="1" i="0">
                <a:solidFill>
                  <a:srgbClr val="1F2A36"/>
                </a:solidFill>
              </a:rPr>
              <a:t>non-blocking</a:t>
            </a:r>
            <a:r>
              <a:rPr sz="2200" b="0" i="0">
                <a:solidFill>
                  <a:srgbClr val="1F2A36"/>
                </a:solidFill>
              </a:rPr>
              <a:t>: it never sits and waits for I/O</a:t>
            </a:r>
          </a:p>
          <a:p>
            <a:pPr marL="274320" indent="-256032">
              <a:spcAft>
                <a:spcPts val="990"/>
              </a:spcAft>
              <a:buClr>
                <a:srgbClr val="42B883"/>
              </a:buClr>
              <a:buSzPct val="100000"/>
              <a:buFont typeface="Arial"/>
              <a:buChar char="•"/>
            </a:pPr>
            <a:r>
              <a:rPr sz="2200" b="1" i="0">
                <a:solidFill>
                  <a:srgbClr val="1F2A36"/>
                </a:solidFill>
              </a:rPr>
              <a:t>Single-threaded</a:t>
            </a:r>
            <a:r>
              <a:rPr sz="2200" b="0" i="0">
                <a:solidFill>
                  <a:srgbClr val="1F2A36"/>
                </a:solidFill>
              </a:rPr>
              <a:t>, yet handles thousands of concurrent connections with little overhead</a:t>
            </a:r>
          </a:p>
          <a:p>
            <a:pPr marL="274320" indent="-256032">
              <a:spcAft>
                <a:spcPts val="990"/>
              </a:spcAft>
              <a:buClr>
                <a:srgbClr val="42B883"/>
              </a:buClr>
              <a:buSzPct val="100000"/>
              <a:buFont typeface="Arial"/>
              <a:buChar char="•"/>
            </a:pPr>
            <a:r>
              <a:rPr sz="2200" b="0" i="0">
                <a:solidFill>
                  <a:srgbClr val="1F2A36"/>
                </a:solidFill>
              </a:rPr>
              <a:t>Used on the server, and for development automation</a:t>
            </a:r>
          </a:p>
          <a:p>
            <a:pPr marL="566928" indent="-256032">
              <a:spcAft>
                <a:spcPts val="855"/>
              </a:spcAft>
              <a:buClr>
                <a:srgbClr val="6B7B8C"/>
              </a:buClr>
              <a:buSzPct val="100000"/>
              <a:buFont typeface="Arial"/>
              <a:buChar char="–"/>
            </a:pPr>
            <a:r>
              <a:rPr sz="1900" b="0" i="0">
                <a:solidFill>
                  <a:srgbClr val="3A4A5A"/>
                </a:solidFill>
              </a:rPr>
              <a:t>Every tool in this course — Vite, ESLint, Vitest, npm — is a Node program</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33</a:t>
            </a:fld>
            <a:endParaRPr lang="en-US" sz="900">
              <a:solidFill>
                <a:srgbClr val="9AA7B4"/>
              </a:solidFill>
            </a:endParaRPr>
          </a:p>
        </p:txBody>
      </p:sp>
    </p:spTree>
    <p:extLst>
      <p:ext uri="{BB962C8B-B14F-4D97-AF65-F5344CB8AC3E}">
        <p14:creationId xmlns:p14="http://schemas.microsoft.com/office/powerpoint/2010/main" val="1615943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How is Node.js Different?</a:t>
            </a:r>
          </a:p>
        </p:txBody>
      </p:sp>
      <p:sp>
        <p:nvSpPr>
          <p:cNvPr id="3" name="Body"/>
          <p:cNvSpPr txBox="1"/>
          <p:nvPr/>
        </p:nvSpPr>
        <p:spPr>
          <a:xfrm>
            <a:off x="457200" y="1261872"/>
            <a:ext cx="8229600" cy="456323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JavaScript is single-threaded</a:t>
            </a:r>
          </a:p>
          <a:p>
            <a:pPr marL="566928" indent="-256032">
              <a:spcAft>
                <a:spcPts val="855"/>
              </a:spcAft>
              <a:buClr>
                <a:srgbClr val="6B7B8C"/>
              </a:buClr>
              <a:buSzPct val="100000"/>
              <a:buFont typeface="Arial"/>
              <a:buChar char="–"/>
            </a:pPr>
            <a:r>
              <a:rPr sz="1900" b="0" i="0">
                <a:solidFill>
                  <a:srgbClr val="3A4A5A"/>
                </a:solidFill>
              </a:rPr>
              <a:t>A Node application has one event loop, and gets the benefit of concurrency through asynchronous operations</a:t>
            </a:r>
          </a:p>
          <a:p>
            <a:pPr marL="566928" indent="-256032">
              <a:spcAft>
                <a:spcPts val="855"/>
              </a:spcAft>
              <a:buClr>
                <a:srgbClr val="6B7B8C"/>
              </a:buClr>
              <a:buSzPct val="100000"/>
              <a:buFont typeface="Arial"/>
              <a:buChar char="–"/>
            </a:pPr>
            <a:r>
              <a:rPr sz="1900" b="0" i="0">
                <a:solidFill>
                  <a:srgbClr val="3A4A5A"/>
                </a:solidFill>
              </a:rPr>
              <a:t>Can handle thousands of concurrent connections with minimal overhead</a:t>
            </a:r>
          </a:p>
          <a:p>
            <a:pPr marL="274320" indent="-256032">
              <a:spcAft>
                <a:spcPts val="990"/>
              </a:spcAft>
              <a:buClr>
                <a:srgbClr val="42B883"/>
              </a:buClr>
              <a:buSzPct val="100000"/>
              <a:buFont typeface="Arial"/>
              <a:buChar char="•"/>
            </a:pPr>
            <a:r>
              <a:rPr sz="2200" b="1" i="0">
                <a:solidFill>
                  <a:srgbClr val="1F2A36"/>
                </a:solidFill>
              </a:rPr>
              <a:t>No buffering</a:t>
            </a:r>
          </a:p>
          <a:p>
            <a:pPr marL="566928" indent="-256032">
              <a:spcAft>
                <a:spcPts val="855"/>
              </a:spcAft>
              <a:buClr>
                <a:srgbClr val="6B7B8C"/>
              </a:buClr>
              <a:buSzPct val="100000"/>
              <a:buFont typeface="Arial"/>
              <a:buChar char="–"/>
            </a:pPr>
            <a:r>
              <a:rPr sz="1900" b="0" i="0">
                <a:solidFill>
                  <a:srgbClr val="3A4A5A"/>
                </a:solidFill>
              </a:rPr>
              <a:t>Node streams data in chunks instead of loading it all into memory</a:t>
            </a:r>
          </a:p>
          <a:p>
            <a:pPr marL="274320" indent="-256032">
              <a:spcAft>
                <a:spcPts val="990"/>
              </a:spcAft>
              <a:buClr>
                <a:srgbClr val="42B883"/>
              </a:buClr>
              <a:buSzPct val="100000"/>
              <a:buFont typeface="Arial"/>
              <a:buChar char="•"/>
            </a:pPr>
            <a:r>
              <a:rPr sz="2200" b="1" i="0">
                <a:solidFill>
                  <a:srgbClr val="1F2A36"/>
                </a:solidFill>
              </a:rPr>
              <a:t>Non-blocking</a:t>
            </a:r>
          </a:p>
          <a:p>
            <a:pPr marL="566928" indent="-256032">
              <a:spcAft>
                <a:spcPts val="855"/>
              </a:spcAft>
              <a:buClr>
                <a:srgbClr val="6B7B8C"/>
              </a:buClr>
              <a:buSzPct val="100000"/>
              <a:buFont typeface="Arial"/>
              <a:buChar char="–"/>
            </a:pPr>
            <a:r>
              <a:rPr sz="1900" b="0" i="0">
                <a:solidFill>
                  <a:srgbClr val="3A4A5A"/>
                </a:solidFill>
              </a:rPr>
              <a:t>Node doesn't wait for data to be returned from APIs</a:t>
            </a:r>
          </a:p>
          <a:p>
            <a:pPr marL="566928" indent="-256032">
              <a:spcAft>
                <a:spcPts val="855"/>
              </a:spcAft>
              <a:buClr>
                <a:srgbClr val="6B7B8C"/>
              </a:buClr>
              <a:buSzPct val="100000"/>
              <a:buFont typeface="Arial"/>
              <a:buChar char="–"/>
            </a:pPr>
            <a:r>
              <a:rPr sz="1900" b="0" i="0">
                <a:solidFill>
                  <a:srgbClr val="3A4A5A"/>
                </a:solidFill>
              </a:rPr>
              <a:t>It's possible to write blocking code in Node.js (</a:t>
            </a:r>
            <a:r>
              <a:rPr sz="1805" b="0" i="0">
                <a:solidFill>
                  <a:srgbClr val="8A2B52"/>
                </a:solidFill>
                <a:latin typeface="Consolas"/>
              </a:rPr>
              <a:t>readFileSync</a:t>
            </a:r>
            <a:r>
              <a:rPr sz="1900" b="0" i="0">
                <a:solidFill>
                  <a:srgbClr val="3A4A5A"/>
                </a:solidFill>
              </a:rPr>
              <a:t>), but it's discouraged in servers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34</a:t>
            </a:fld>
            <a:endParaRPr lang="en-US" sz="900">
              <a:solidFill>
                <a:srgbClr val="9AA7B4"/>
              </a:solidFill>
            </a:endParaRPr>
          </a:p>
        </p:txBody>
      </p:sp>
    </p:spTree>
    <p:extLst>
      <p:ext uri="{BB962C8B-B14F-4D97-AF65-F5344CB8AC3E}">
        <p14:creationId xmlns:p14="http://schemas.microsoft.com/office/powerpoint/2010/main" val="1232423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Event Loop</a:t>
            </a:r>
          </a:p>
        </p:txBody>
      </p:sp>
      <p:sp>
        <p:nvSpPr>
          <p:cNvPr id="3" name="Body"/>
          <p:cNvSpPr txBox="1"/>
          <p:nvPr/>
        </p:nvSpPr>
        <p:spPr>
          <a:xfrm>
            <a:off x="457200" y="1261872"/>
            <a:ext cx="8229600" cy="309156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Problem:</a:t>
            </a:r>
            <a:r>
              <a:rPr sz="2200" b="0" i="0">
                <a:solidFill>
                  <a:srgbClr val="1F2A36"/>
                </a:solidFill>
              </a:rPr>
              <a:t> JavaScript is single-threaded</a:t>
            </a:r>
          </a:p>
          <a:p>
            <a:pPr marL="274320" indent="-256032">
              <a:spcAft>
                <a:spcPts val="990"/>
              </a:spcAft>
              <a:buClr>
                <a:srgbClr val="42B883"/>
              </a:buClr>
              <a:buSzPct val="100000"/>
              <a:buFont typeface="Arial"/>
              <a:buChar char="•"/>
            </a:pPr>
            <a:r>
              <a:rPr sz="2200" b="0" i="0">
                <a:solidFill>
                  <a:srgbClr val="1F2A36"/>
                </a:solidFill>
              </a:rPr>
              <a:t>The event loop lets Node.js perform non-blocking I/O</a:t>
            </a:r>
          </a:p>
          <a:p>
            <a:pPr marL="566928" indent="-256032">
              <a:spcAft>
                <a:spcPts val="855"/>
              </a:spcAft>
              <a:buClr>
                <a:srgbClr val="6B7B8C"/>
              </a:buClr>
              <a:buSzPct val="100000"/>
              <a:buFont typeface="Arial"/>
              <a:buChar char="–"/>
            </a:pPr>
            <a:r>
              <a:rPr sz="1900" b="0" i="0">
                <a:solidFill>
                  <a:srgbClr val="3A4A5A"/>
                </a:solidFill>
              </a:rPr>
              <a:t>Offloads operations to the system kernel when possible</a:t>
            </a:r>
          </a:p>
          <a:p>
            <a:pPr marL="274320" indent="-256032">
              <a:spcAft>
                <a:spcPts val="990"/>
              </a:spcAft>
              <a:buClr>
                <a:srgbClr val="42B883"/>
              </a:buClr>
              <a:buSzPct val="100000"/>
              <a:buFont typeface="Arial"/>
              <a:buChar char="•"/>
            </a:pPr>
            <a:r>
              <a:rPr sz="2200" b="0" i="0">
                <a:solidFill>
                  <a:srgbClr val="1F2A36"/>
                </a:solidFill>
              </a:rPr>
              <a:t>Node starts the event loop when it starts your program</a:t>
            </a:r>
          </a:p>
          <a:p>
            <a:pPr marL="274320" indent="-256032">
              <a:spcAft>
                <a:spcPts val="990"/>
              </a:spcAft>
              <a:buClr>
                <a:srgbClr val="42B883"/>
              </a:buClr>
              <a:buSzPct val="100000"/>
              <a:buFont typeface="Arial"/>
              <a:buChar char="•"/>
            </a:pPr>
            <a:r>
              <a:rPr sz="2200" b="0" i="0">
                <a:solidFill>
                  <a:srgbClr val="1F2A36"/>
                </a:solidFill>
              </a:rPr>
              <a:t>Each turn of the loop runs through </a:t>
            </a:r>
            <a:r>
              <a:rPr sz="2200" b="1" i="0">
                <a:solidFill>
                  <a:srgbClr val="1F2A36"/>
                </a:solidFill>
              </a:rPr>
              <a:t>six phases</a:t>
            </a:r>
          </a:p>
          <a:p>
            <a:pPr marL="274320" indent="-256032">
              <a:spcAft>
                <a:spcPts val="990"/>
              </a:spcAft>
              <a:buClr>
                <a:srgbClr val="42B883"/>
              </a:buClr>
              <a:buSzPct val="100000"/>
              <a:buFont typeface="Arial"/>
              <a:buChar char="•"/>
            </a:pPr>
            <a:r>
              <a:rPr sz="2200" b="0" i="0">
                <a:solidFill>
                  <a:srgbClr val="1F2A36"/>
                </a:solidFill>
              </a:rPr>
              <a:t>Between turns, Node checks whether anything is still pending, and exits if nothing is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35</a:t>
            </a:fld>
            <a:endParaRPr lang="en-US" sz="900">
              <a:solidFill>
                <a:srgbClr val="9AA7B4"/>
              </a:solidFill>
            </a:endParaRPr>
          </a:p>
        </p:txBody>
      </p:sp>
    </p:spTree>
    <p:extLst>
      <p:ext uri="{BB962C8B-B14F-4D97-AF65-F5344CB8AC3E}">
        <p14:creationId xmlns:p14="http://schemas.microsoft.com/office/powerpoint/2010/main" val="2621516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Recap: How is Node.js Different?</a:t>
            </a:r>
          </a:p>
        </p:txBody>
      </p:sp>
      <p:sp>
        <p:nvSpPr>
          <p:cNvPr id="3" name="Body"/>
          <p:cNvSpPr txBox="1"/>
          <p:nvPr/>
        </p:nvSpPr>
        <p:spPr>
          <a:xfrm>
            <a:off x="457200" y="1261872"/>
            <a:ext cx="8229600" cy="456323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JavaScript is single-threaded</a:t>
            </a:r>
          </a:p>
          <a:p>
            <a:pPr marL="566928" indent="-256032">
              <a:spcAft>
                <a:spcPts val="855"/>
              </a:spcAft>
              <a:buClr>
                <a:srgbClr val="6B7B8C"/>
              </a:buClr>
              <a:buSzPct val="100000"/>
              <a:buFont typeface="Arial"/>
              <a:buChar char="–"/>
            </a:pPr>
            <a:r>
              <a:rPr sz="1900" b="0" i="0">
                <a:solidFill>
                  <a:srgbClr val="3A4A5A"/>
                </a:solidFill>
              </a:rPr>
              <a:t>A Node application has one event loop, and gets the benefit of concurrency through asynchronous operations</a:t>
            </a:r>
          </a:p>
          <a:p>
            <a:pPr marL="566928" indent="-256032">
              <a:spcAft>
                <a:spcPts val="855"/>
              </a:spcAft>
              <a:buClr>
                <a:srgbClr val="6B7B8C"/>
              </a:buClr>
              <a:buSzPct val="100000"/>
              <a:buFont typeface="Arial"/>
              <a:buChar char="–"/>
            </a:pPr>
            <a:r>
              <a:rPr sz="1900" b="0" i="0">
                <a:solidFill>
                  <a:srgbClr val="3A4A5A"/>
                </a:solidFill>
              </a:rPr>
              <a:t>Can handle thousands of concurrent connections with minimal overhead</a:t>
            </a:r>
          </a:p>
          <a:p>
            <a:pPr marL="274320" indent="-256032">
              <a:spcAft>
                <a:spcPts val="990"/>
              </a:spcAft>
              <a:buClr>
                <a:srgbClr val="42B883"/>
              </a:buClr>
              <a:buSzPct val="100000"/>
              <a:buFont typeface="Arial"/>
              <a:buChar char="•"/>
            </a:pPr>
            <a:r>
              <a:rPr sz="2200" b="1" i="0">
                <a:solidFill>
                  <a:srgbClr val="1F2A36"/>
                </a:solidFill>
              </a:rPr>
              <a:t>No buffering</a:t>
            </a:r>
          </a:p>
          <a:p>
            <a:pPr marL="566928" indent="-256032">
              <a:spcAft>
                <a:spcPts val="855"/>
              </a:spcAft>
              <a:buClr>
                <a:srgbClr val="6B7B8C"/>
              </a:buClr>
              <a:buSzPct val="100000"/>
              <a:buFont typeface="Arial"/>
              <a:buChar char="–"/>
            </a:pPr>
            <a:r>
              <a:rPr sz="1900" b="0" i="0">
                <a:solidFill>
                  <a:srgbClr val="3A4A5A"/>
                </a:solidFill>
              </a:rPr>
              <a:t>Node streams data in chunks instead of loading it all into memory</a:t>
            </a:r>
          </a:p>
          <a:p>
            <a:pPr marL="274320" indent="-256032">
              <a:spcAft>
                <a:spcPts val="990"/>
              </a:spcAft>
              <a:buClr>
                <a:srgbClr val="42B883"/>
              </a:buClr>
              <a:buSzPct val="100000"/>
              <a:buFont typeface="Arial"/>
              <a:buChar char="•"/>
            </a:pPr>
            <a:r>
              <a:rPr sz="2200" b="1" i="0">
                <a:solidFill>
                  <a:srgbClr val="1F2A36"/>
                </a:solidFill>
              </a:rPr>
              <a:t>Non-blocking</a:t>
            </a:r>
          </a:p>
          <a:p>
            <a:pPr marL="566928" indent="-256032">
              <a:spcAft>
                <a:spcPts val="855"/>
              </a:spcAft>
              <a:buClr>
                <a:srgbClr val="6B7B8C"/>
              </a:buClr>
              <a:buSzPct val="100000"/>
              <a:buFont typeface="Arial"/>
              <a:buChar char="–"/>
            </a:pPr>
            <a:r>
              <a:rPr sz="1900" b="0" i="0">
                <a:solidFill>
                  <a:srgbClr val="3A4A5A"/>
                </a:solidFill>
              </a:rPr>
              <a:t>Node doesn't wait for data to be returned from APIs</a:t>
            </a:r>
          </a:p>
          <a:p>
            <a:pPr marL="566928" indent="-256032">
              <a:spcAft>
                <a:spcPts val="855"/>
              </a:spcAft>
              <a:buClr>
                <a:srgbClr val="6B7B8C"/>
              </a:buClr>
              <a:buSzPct val="100000"/>
              <a:buFont typeface="Arial"/>
              <a:buChar char="–"/>
            </a:pPr>
            <a:r>
              <a:rPr sz="1900" b="0" i="0">
                <a:solidFill>
                  <a:srgbClr val="3A4A5A"/>
                </a:solidFill>
              </a:rPr>
              <a:t>It's possible to write blocking code in Node.js (</a:t>
            </a:r>
            <a:r>
              <a:rPr sz="1805" b="0" i="0">
                <a:solidFill>
                  <a:srgbClr val="8A2B52"/>
                </a:solidFill>
                <a:latin typeface="Consolas"/>
              </a:rPr>
              <a:t>readFileSync</a:t>
            </a:r>
            <a:r>
              <a:rPr sz="1900" b="0" i="0">
                <a:solidFill>
                  <a:srgbClr val="3A4A5A"/>
                </a:solidFill>
              </a:rPr>
              <a:t>), but it's discouraged in servers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36</a:t>
            </a:fld>
            <a:endParaRPr lang="en-US" sz="900">
              <a:solidFill>
                <a:srgbClr val="9AA7B4"/>
              </a:solidFill>
            </a:endParaRPr>
          </a:p>
        </p:txBody>
      </p:sp>
    </p:spTree>
    <p:extLst>
      <p:ext uri="{BB962C8B-B14F-4D97-AF65-F5344CB8AC3E}">
        <p14:creationId xmlns:p14="http://schemas.microsoft.com/office/powerpoint/2010/main" val="1433900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 Loop Phases</a:t>
            </a:r>
          </a:p>
        </p:txBody>
      </p:sp>
      <p:sp>
        <p:nvSpPr>
          <p:cNvPr id="3" name="Body"/>
          <p:cNvSpPr txBox="1"/>
          <p:nvPr/>
        </p:nvSpPr>
        <p:spPr>
          <a:xfrm>
            <a:off x="457200" y="1261872"/>
            <a:ext cx="8229600" cy="3483356"/>
          </a:xfrm>
          <a:prstGeom prst="rect">
            <a:avLst/>
          </a:prstGeom>
          <a:noFill/>
        </p:spPr>
        <p:txBody>
          <a:bodyPr wrap="square" lIns="0" tIns="0" rIns="0" bIns="0">
            <a:noAutofit/>
          </a:bodyPr>
          <a:lstStyle/>
          <a:p>
            <a:pPr marL="347472" indent="-329184">
              <a:spcAft>
                <a:spcPts val="990"/>
              </a:spcAft>
              <a:buClr>
                <a:srgbClr val="2E8B62"/>
              </a:buClr>
              <a:buFont typeface="+mj-lt"/>
              <a:buAutoNum type="arabicPeriod"/>
            </a:pPr>
            <a:r>
              <a:rPr sz="2200" b="1" i="0">
                <a:solidFill>
                  <a:srgbClr val="1F2A36"/>
                </a:solidFill>
              </a:rPr>
              <a:t>timers</a:t>
            </a:r>
            <a:r>
              <a:rPr sz="2200" b="0" i="0">
                <a:solidFill>
                  <a:srgbClr val="1F2A36"/>
                </a:solidFill>
              </a:rPr>
              <a:t> — runs </a:t>
            </a:r>
            <a:r>
              <a:rPr sz="2090" b="0" i="0">
                <a:solidFill>
                  <a:srgbClr val="8A2B52"/>
                </a:solidFill>
                <a:latin typeface="Consolas"/>
              </a:rPr>
              <a:t>setTimeout()</a:t>
            </a:r>
            <a:r>
              <a:rPr sz="2200" b="0" i="0">
                <a:solidFill>
                  <a:srgbClr val="1F2A36"/>
                </a:solidFill>
              </a:rPr>
              <a:t> and </a:t>
            </a:r>
            <a:r>
              <a:rPr sz="2090" b="0" i="0">
                <a:solidFill>
                  <a:srgbClr val="8A2B52"/>
                </a:solidFill>
                <a:latin typeface="Consolas"/>
              </a:rPr>
              <a:t>setInterval()</a:t>
            </a:r>
            <a:r>
              <a:rPr sz="2200" b="0" i="0">
                <a:solidFill>
                  <a:srgbClr val="1F2A36"/>
                </a:solidFill>
              </a:rPr>
              <a:t> callbacks</a:t>
            </a:r>
          </a:p>
          <a:p>
            <a:pPr marL="347472" indent="-329184">
              <a:spcAft>
                <a:spcPts val="990"/>
              </a:spcAft>
              <a:buClr>
                <a:srgbClr val="2E8B62"/>
              </a:buClr>
              <a:buFont typeface="+mj-lt"/>
              <a:buAutoNum type="arabicPeriod" startAt="2"/>
            </a:pPr>
            <a:r>
              <a:rPr sz="2200" b="1" i="0">
                <a:solidFill>
                  <a:srgbClr val="1F2A36"/>
                </a:solidFill>
              </a:rPr>
              <a:t>pending callbacks</a:t>
            </a:r>
            <a:r>
              <a:rPr sz="2200" b="0" i="0">
                <a:solidFill>
                  <a:srgbClr val="1F2A36"/>
                </a:solidFill>
              </a:rPr>
              <a:t> — I/O callbacks deferred from the previous turn</a:t>
            </a:r>
          </a:p>
          <a:p>
            <a:pPr marL="347472" indent="-329184">
              <a:spcAft>
                <a:spcPts val="990"/>
              </a:spcAft>
              <a:buClr>
                <a:srgbClr val="2E8B62"/>
              </a:buClr>
              <a:buFont typeface="+mj-lt"/>
              <a:buAutoNum type="arabicPeriod" startAt="3"/>
            </a:pPr>
            <a:r>
              <a:rPr sz="2200" b="1" i="0">
                <a:solidFill>
                  <a:srgbClr val="1F2A36"/>
                </a:solidFill>
              </a:rPr>
              <a:t>idle, prepare</a:t>
            </a:r>
            <a:r>
              <a:rPr sz="2200" b="0" i="0">
                <a:solidFill>
                  <a:srgbClr val="1F2A36"/>
                </a:solidFill>
              </a:rPr>
              <a:t> — internal use only</a:t>
            </a:r>
          </a:p>
          <a:p>
            <a:pPr marL="347472" indent="-329184">
              <a:spcAft>
                <a:spcPts val="990"/>
              </a:spcAft>
              <a:buClr>
                <a:srgbClr val="2E8B62"/>
              </a:buClr>
              <a:buFont typeface="+mj-lt"/>
              <a:buAutoNum type="arabicPeriod" startAt="4"/>
            </a:pPr>
            <a:r>
              <a:rPr sz="2200" b="1" i="0">
                <a:solidFill>
                  <a:srgbClr val="1F2A36"/>
                </a:solidFill>
              </a:rPr>
              <a:t>poll</a:t>
            </a:r>
            <a:r>
              <a:rPr sz="2200" b="0" i="0">
                <a:solidFill>
                  <a:srgbClr val="1F2A36"/>
                </a:solidFill>
              </a:rPr>
              <a:t> — retrieve new I/O events; run their callbacks</a:t>
            </a:r>
          </a:p>
          <a:p>
            <a:pPr marL="347472" indent="-329184">
              <a:spcAft>
                <a:spcPts val="990"/>
              </a:spcAft>
              <a:buClr>
                <a:srgbClr val="2E8B62"/>
              </a:buClr>
              <a:buFont typeface="+mj-lt"/>
              <a:buAutoNum type="arabicPeriod" startAt="5"/>
            </a:pPr>
            <a:r>
              <a:rPr sz="2200" b="1" i="0">
                <a:solidFill>
                  <a:srgbClr val="1F2A36"/>
                </a:solidFill>
              </a:rPr>
              <a:t>check</a:t>
            </a:r>
            <a:r>
              <a:rPr sz="2200" b="0" i="0">
                <a:solidFill>
                  <a:srgbClr val="1F2A36"/>
                </a:solidFill>
              </a:rPr>
              <a:t> — run </a:t>
            </a:r>
            <a:r>
              <a:rPr sz="2090" b="0" i="0">
                <a:solidFill>
                  <a:srgbClr val="8A2B52"/>
                </a:solidFill>
                <a:latin typeface="Consolas"/>
              </a:rPr>
              <a:t>setImmediate()</a:t>
            </a:r>
            <a:r>
              <a:rPr sz="2200" b="0" i="0">
                <a:solidFill>
                  <a:srgbClr val="1F2A36"/>
                </a:solidFill>
              </a:rPr>
              <a:t> callbacks</a:t>
            </a:r>
          </a:p>
          <a:p>
            <a:pPr marL="347472" indent="-329184">
              <a:spcAft>
                <a:spcPts val="990"/>
              </a:spcAft>
              <a:buClr>
                <a:srgbClr val="2E8B62"/>
              </a:buClr>
              <a:buFont typeface="+mj-lt"/>
              <a:buAutoNum type="arabicPeriod" startAt="6"/>
            </a:pPr>
            <a:r>
              <a:rPr sz="2200" b="1" i="0">
                <a:solidFill>
                  <a:srgbClr val="1F2A36"/>
                </a:solidFill>
              </a:rPr>
              <a:t>close callbacks</a:t>
            </a:r>
            <a:r>
              <a:rPr sz="2200" b="0" i="0">
                <a:solidFill>
                  <a:srgbClr val="1F2A36"/>
                </a:solidFill>
              </a:rPr>
              <a:t> — e.g. </a:t>
            </a:r>
            <a:r>
              <a:rPr sz="2090" b="0" i="0">
                <a:solidFill>
                  <a:srgbClr val="8A2B52"/>
                </a:solidFill>
                <a:latin typeface="Consolas"/>
              </a:rPr>
              <a:t>socket.on('close', ...)</a:t>
            </a:r>
          </a:p>
        </p:txBody>
      </p:sp>
      <p:sp>
        <p:nvSpPr>
          <p:cNvPr id="4" name="Tip"/>
          <p:cNvSpPr/>
          <p:nvPr/>
        </p:nvSpPr>
        <p:spPr>
          <a:xfrm>
            <a:off x="457200" y="480009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Promise callbacks (microtasks) run between each callback, before the loop moves 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37</a:t>
            </a:fld>
            <a:endParaRPr lang="en-US" sz="900">
              <a:solidFill>
                <a:srgbClr val="9AA7B4"/>
              </a:solidFill>
            </a:endParaRPr>
          </a:p>
        </p:txBody>
      </p:sp>
    </p:spTree>
    <p:extLst>
      <p:ext uri="{BB962C8B-B14F-4D97-AF65-F5344CB8AC3E}">
        <p14:creationId xmlns:p14="http://schemas.microsoft.com/office/powerpoint/2010/main" val="2017676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 Loop</a:t>
            </a:r>
          </a:p>
        </p:txBody>
      </p:sp>
      <p:graphicFrame>
        <p:nvGraphicFramePr>
          <p:cNvPr id="5" name="Diagram 4"/>
          <p:cNvGraphicFramePr/>
          <p:nvPr/>
        </p:nvGraphicFramePr>
        <p:xfrm>
          <a:off x="482104" y="1127019"/>
          <a:ext cx="7467482" cy="4812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38</a:t>
            </a:fld>
            <a:endParaRPr lang="en-US" sz="900">
              <a:solidFill>
                <a:srgbClr val="9AA7B4"/>
              </a:solidFill>
            </a:endParaRPr>
          </a:p>
        </p:txBody>
      </p:sp>
    </p:spTree>
    <p:extLst>
      <p:ext uri="{BB962C8B-B14F-4D97-AF65-F5344CB8AC3E}">
        <p14:creationId xmlns:p14="http://schemas.microsoft.com/office/powerpoint/2010/main" val="3979627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EventEmitter</a:t>
            </a:r>
          </a:p>
        </p:txBody>
      </p:sp>
      <p:sp>
        <p:nvSpPr>
          <p:cNvPr id="6" name="Body"/>
          <p:cNvSpPr txBox="1"/>
          <p:nvPr/>
        </p:nvSpPr>
        <p:spPr>
          <a:xfrm>
            <a:off x="457200" y="1261872"/>
            <a:ext cx="8229600" cy="21170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Node is event driven</a:t>
            </a:r>
          </a:p>
          <a:p>
            <a:pPr marL="274320" indent="-256032">
              <a:spcAft>
                <a:spcPts val="990"/>
              </a:spcAft>
              <a:buClr>
                <a:srgbClr val="42B883"/>
              </a:buClr>
              <a:buSzPct val="100000"/>
              <a:buFont typeface="Arial"/>
              <a:buChar char="•"/>
            </a:pPr>
            <a:r>
              <a:rPr sz="2090" b="0" i="0">
                <a:solidFill>
                  <a:srgbClr val="8A2B52"/>
                </a:solidFill>
                <a:latin typeface="Consolas"/>
              </a:rPr>
              <a:t>EventEmitter</a:t>
            </a:r>
            <a:r>
              <a:rPr sz="2200" b="0" i="0">
                <a:solidFill>
                  <a:srgbClr val="1F2A36"/>
                </a:solidFill>
              </a:rPr>
              <a:t> is a class that lets you listen for named events and run code when they occur</a:t>
            </a:r>
          </a:p>
          <a:p>
            <a:pPr marL="274320" indent="-256032">
              <a:spcAft>
                <a:spcPts val="990"/>
              </a:spcAft>
              <a:buClr>
                <a:srgbClr val="42B883"/>
              </a:buClr>
              <a:buSzPct val="100000"/>
              <a:buFont typeface="Arial"/>
              <a:buChar char="•"/>
            </a:pPr>
            <a:r>
              <a:rPr sz="2200" b="0" i="0">
                <a:solidFill>
                  <a:srgbClr val="1F2A36"/>
                </a:solidFill>
              </a:rPr>
              <a:t>A very loose way of coupling different parts of your application</a:t>
            </a:r>
          </a:p>
        </p:txBody>
      </p:sp>
      <p:sp>
        <p:nvSpPr>
          <p:cNvPr id="7" name="Code"/>
          <p:cNvSpPr/>
          <p:nvPr/>
        </p:nvSpPr>
        <p:spPr>
          <a:xfrm>
            <a:off x="457200" y="3433826"/>
            <a:ext cx="8229600" cy="270205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CF222E"/>
                </a:solidFill>
                <a:latin typeface="Consolas"/>
              </a:rPr>
              <a:t>import</a:t>
            </a:r>
            <a:r>
              <a:rPr sz="1700">
                <a:solidFill>
                  <a:srgbClr val="24292F"/>
                </a:solidFill>
                <a:latin typeface="Consolas"/>
              </a:rPr>
              <a:t> { EventEmitter } </a:t>
            </a:r>
            <a:r>
              <a:rPr sz="1700">
                <a:solidFill>
                  <a:srgbClr val="CF222E"/>
                </a:solidFill>
                <a:latin typeface="Consolas"/>
              </a:rPr>
              <a:t>from</a:t>
            </a:r>
            <a:r>
              <a:rPr sz="1700">
                <a:solidFill>
                  <a:srgbClr val="24292F"/>
                </a:solidFill>
                <a:latin typeface="Consolas"/>
              </a:rPr>
              <a:t> </a:t>
            </a:r>
            <a:r>
              <a:rPr sz="1700">
                <a:solidFill>
                  <a:srgbClr val="0A3069"/>
                </a:solidFill>
                <a:latin typeface="Consolas"/>
              </a:rPr>
              <a:t>'node:events'</a:t>
            </a:r>
          </a:p>
          <a:p>
            <a:pPr marL="0" indent="0" algn="l">
              <a:lnSpc>
                <a:spcPct val="100000"/>
              </a:lnSpc>
              <a:buNone/>
            </a:pPr>
            <a:r>
              <a:rPr sz="1700">
                <a:latin typeface="Consolas"/>
              </a:rPr>
              <a:t> </a:t>
            </a:r>
          </a:p>
          <a:p>
            <a:pPr marL="0" indent="0" algn="l">
              <a:lnSpc>
                <a:spcPct val="100000"/>
              </a:lnSpc>
              <a:buNone/>
            </a:pPr>
            <a:r>
              <a:rPr sz="1700">
                <a:solidFill>
                  <a:srgbClr val="CF222E"/>
                </a:solidFill>
                <a:latin typeface="Consolas"/>
              </a:rPr>
              <a:t>const</a:t>
            </a:r>
            <a:r>
              <a:rPr sz="1700">
                <a:solidFill>
                  <a:srgbClr val="24292F"/>
                </a:solidFill>
                <a:latin typeface="Consolas"/>
              </a:rPr>
              <a:t> ee = </a:t>
            </a:r>
            <a:r>
              <a:rPr sz="1700">
                <a:solidFill>
                  <a:srgbClr val="CF222E"/>
                </a:solidFill>
                <a:latin typeface="Consolas"/>
              </a:rPr>
              <a:t>new</a:t>
            </a:r>
            <a:r>
              <a:rPr sz="1700">
                <a:solidFill>
                  <a:srgbClr val="24292F"/>
                </a:solidFill>
                <a:latin typeface="Consolas"/>
              </a:rPr>
              <a:t> EventEmitter()</a:t>
            </a:r>
          </a:p>
          <a:p>
            <a:pPr marL="0" indent="0" algn="l">
              <a:lnSpc>
                <a:spcPct val="100000"/>
              </a:lnSpc>
              <a:buNone/>
            </a:pPr>
            <a:r>
              <a:rPr sz="1700">
                <a:latin typeface="Consolas"/>
              </a:rPr>
              <a:t> </a:t>
            </a:r>
          </a:p>
          <a:p>
            <a:pPr marL="0" indent="0" algn="l">
              <a:lnSpc>
                <a:spcPct val="100000"/>
              </a:lnSpc>
              <a:buNone/>
            </a:pPr>
            <a:r>
              <a:rPr sz="1700">
                <a:solidFill>
                  <a:srgbClr val="24292F"/>
                </a:solidFill>
                <a:latin typeface="Consolas"/>
              </a:rPr>
              <a:t>ee.on(</a:t>
            </a:r>
            <a:r>
              <a:rPr sz="1700">
                <a:solidFill>
                  <a:srgbClr val="0A3069"/>
                </a:solidFill>
                <a:latin typeface="Consolas"/>
              </a:rPr>
              <a:t>'someEvent'</a:t>
            </a:r>
            <a:r>
              <a:rPr sz="1700">
                <a:solidFill>
                  <a:srgbClr val="24292F"/>
                </a:solidFill>
                <a:latin typeface="Consolas"/>
              </a:rPr>
              <a:t>, (who) =&gt; {</a:t>
            </a:r>
          </a:p>
          <a:p>
            <a:pPr marL="0" indent="0" algn="l">
              <a:lnSpc>
                <a:spcPct val="100000"/>
              </a:lnSpc>
              <a:buNone/>
            </a:pPr>
            <a:r>
              <a:rPr sz="1700">
                <a:solidFill>
                  <a:srgbClr val="24292F"/>
                </a:solidFill>
                <a:latin typeface="Consolas"/>
              </a:rPr>
              <a:t>  console.log(</a:t>
            </a:r>
            <a:r>
              <a:rPr sz="1700">
                <a:solidFill>
                  <a:srgbClr val="0A3069"/>
                </a:solidFill>
                <a:latin typeface="Consolas"/>
              </a:rPr>
              <a:t>`event has occurred: ${who}`</a:t>
            </a:r>
            <a:r>
              <a:rPr sz="1700">
                <a:solidFill>
                  <a:srgbClr val="24292F"/>
                </a:solidFill>
                <a:latin typeface="Consolas"/>
              </a:rPr>
              <a:t>)</a:t>
            </a:r>
          </a:p>
          <a:p>
            <a:pPr marL="0" indent="0" algn="l">
              <a:lnSpc>
                <a:spcPct val="100000"/>
              </a:lnSpc>
              <a:buNone/>
            </a:pPr>
            <a:r>
              <a:rPr sz="1700">
                <a:solidFill>
                  <a:srgbClr val="24292F"/>
                </a:solidFill>
                <a:latin typeface="Consolas"/>
              </a:rPr>
              <a:t>})</a:t>
            </a:r>
          </a:p>
          <a:p>
            <a:pPr marL="0" indent="0" algn="l">
              <a:lnSpc>
                <a:spcPct val="100000"/>
              </a:lnSpc>
              <a:buNone/>
            </a:pPr>
            <a:r>
              <a:rPr sz="1700">
                <a:latin typeface="Consolas"/>
              </a:rPr>
              <a:t> </a:t>
            </a:r>
          </a:p>
          <a:p>
            <a:pPr marL="0" indent="0" algn="l">
              <a:lnSpc>
                <a:spcPct val="100000"/>
              </a:lnSpc>
              <a:buNone/>
            </a:pPr>
            <a:r>
              <a:rPr sz="1700">
                <a:solidFill>
                  <a:srgbClr val="24292F"/>
                </a:solidFill>
                <a:latin typeface="Consolas"/>
              </a:rPr>
              <a:t>ee.emit(</a:t>
            </a:r>
            <a:r>
              <a:rPr sz="1700">
                <a:solidFill>
                  <a:srgbClr val="0A3069"/>
                </a:solidFill>
                <a:latin typeface="Consolas"/>
              </a:rPr>
              <a:t>'someEvent'</a:t>
            </a:r>
            <a:r>
              <a:rPr sz="1700">
                <a:solidFill>
                  <a:srgbClr val="24292F"/>
                </a:solidFill>
                <a:latin typeface="Consolas"/>
              </a:rPr>
              <a:t>, </a:t>
            </a:r>
            <a:r>
              <a:rPr sz="1700">
                <a:solidFill>
                  <a:srgbClr val="0A3069"/>
                </a:solidFill>
                <a:latin typeface="Consolas"/>
              </a:rPr>
              <a:t>'Ada'</a:t>
            </a:r>
            <a:r>
              <a:rPr sz="1700">
                <a:solidFill>
                  <a:srgbClr val="24292F"/>
                </a:solidFill>
                <a:latin typeface="Consolas"/>
              </a:rPr>
              <a: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39</a:t>
            </a:fld>
            <a:endParaRPr lang="en-US" sz="900">
              <a:solidFill>
                <a:srgbClr val="9AA7B4"/>
              </a:solidFill>
            </a:endParaRPr>
          </a:p>
        </p:txBody>
      </p:sp>
    </p:spTree>
    <p:extLst>
      <p:ext uri="{BB962C8B-B14F-4D97-AF65-F5344CB8AC3E}">
        <p14:creationId xmlns:p14="http://schemas.microsoft.com/office/powerpoint/2010/main" val="2277010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 Simple Node.js Example</a:t>
            </a:r>
          </a:p>
        </p:txBody>
      </p:sp>
      <p:sp>
        <p:nvSpPr>
          <p:cNvPr id="3" name="Code"/>
          <p:cNvSpPr/>
          <p:nvPr/>
        </p:nvSpPr>
        <p:spPr>
          <a:xfrm>
            <a:off x="457200" y="1261872"/>
            <a:ext cx="8229600" cy="38201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import</a:t>
            </a:r>
            <a:r>
              <a:rPr sz="1600">
                <a:solidFill>
                  <a:srgbClr val="24292F"/>
                </a:solidFill>
                <a:latin typeface="Consolas"/>
              </a:rPr>
              <a:t> http </a:t>
            </a:r>
            <a:r>
              <a:rPr sz="1600">
                <a:solidFill>
                  <a:srgbClr val="CF222E"/>
                </a:solidFill>
                <a:latin typeface="Consolas"/>
              </a:rPr>
              <a:t>from</a:t>
            </a:r>
            <a:r>
              <a:rPr sz="1600">
                <a:solidFill>
                  <a:srgbClr val="24292F"/>
                </a:solidFill>
                <a:latin typeface="Consolas"/>
              </a:rPr>
              <a:t> </a:t>
            </a:r>
            <a:r>
              <a:rPr sz="1600">
                <a:solidFill>
                  <a:srgbClr val="0A3069"/>
                </a:solidFill>
                <a:latin typeface="Consolas"/>
              </a:rPr>
              <a:t>'node:http'</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hostname = </a:t>
            </a:r>
            <a:r>
              <a:rPr sz="1600">
                <a:solidFill>
                  <a:srgbClr val="0A3069"/>
                </a:solidFill>
                <a:latin typeface="Consolas"/>
              </a:rPr>
              <a:t>'127.0.0.1'</a:t>
            </a:r>
          </a:p>
          <a:p>
            <a:pPr marL="0" indent="0" algn="l">
              <a:lnSpc>
                <a:spcPct val="100000"/>
              </a:lnSpc>
              <a:buNone/>
            </a:pPr>
            <a:r>
              <a:rPr sz="1600">
                <a:solidFill>
                  <a:srgbClr val="CF222E"/>
                </a:solidFill>
                <a:latin typeface="Consolas"/>
              </a:rPr>
              <a:t>const</a:t>
            </a:r>
            <a:r>
              <a:rPr sz="1600">
                <a:solidFill>
                  <a:srgbClr val="24292F"/>
                </a:solidFill>
                <a:latin typeface="Consolas"/>
              </a:rPr>
              <a:t> port = </a:t>
            </a:r>
            <a:r>
              <a:rPr sz="1600">
                <a:solidFill>
                  <a:srgbClr val="0550AE"/>
                </a:solidFill>
                <a:latin typeface="Consolas"/>
              </a:rPr>
              <a:t>3000</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server = http.createServer((req, res) =&gt; {</a:t>
            </a:r>
          </a:p>
          <a:p>
            <a:pPr marL="0" indent="0" algn="l">
              <a:lnSpc>
                <a:spcPct val="100000"/>
              </a:lnSpc>
              <a:buNone/>
            </a:pPr>
            <a:r>
              <a:rPr sz="1600">
                <a:solidFill>
                  <a:srgbClr val="24292F"/>
                </a:solidFill>
                <a:latin typeface="Consolas"/>
              </a:rPr>
              <a:t>  res.statusCode = </a:t>
            </a:r>
            <a:r>
              <a:rPr sz="1600">
                <a:solidFill>
                  <a:srgbClr val="0550AE"/>
                </a:solidFill>
                <a:latin typeface="Consolas"/>
              </a:rPr>
              <a:t>200</a:t>
            </a:r>
          </a:p>
          <a:p>
            <a:pPr marL="0" indent="0" algn="l">
              <a:lnSpc>
                <a:spcPct val="100000"/>
              </a:lnSpc>
              <a:buNone/>
            </a:pPr>
            <a:r>
              <a:rPr sz="1600">
                <a:solidFill>
                  <a:srgbClr val="24292F"/>
                </a:solidFill>
                <a:latin typeface="Consolas"/>
              </a:rPr>
              <a:t>  res.setHeader(</a:t>
            </a:r>
            <a:r>
              <a:rPr sz="1600">
                <a:solidFill>
                  <a:srgbClr val="0A3069"/>
                </a:solidFill>
                <a:latin typeface="Consolas"/>
              </a:rPr>
              <a:t>'Content-Type'</a:t>
            </a:r>
            <a:r>
              <a:rPr sz="1600">
                <a:solidFill>
                  <a:srgbClr val="24292F"/>
                </a:solidFill>
                <a:latin typeface="Consolas"/>
              </a:rPr>
              <a:t>, </a:t>
            </a:r>
            <a:r>
              <a:rPr sz="1600">
                <a:solidFill>
                  <a:srgbClr val="0A3069"/>
                </a:solidFill>
                <a:latin typeface="Consolas"/>
              </a:rPr>
              <a:t>'text/plain'</a:t>
            </a:r>
            <a:r>
              <a:rPr sz="1600">
                <a:solidFill>
                  <a:srgbClr val="24292F"/>
                </a:solidFill>
                <a:latin typeface="Consolas"/>
              </a:rPr>
              <a:t>)</a:t>
            </a:r>
          </a:p>
          <a:p>
            <a:pPr marL="0" indent="0" algn="l">
              <a:lnSpc>
                <a:spcPct val="100000"/>
              </a:lnSpc>
              <a:buNone/>
            </a:pPr>
            <a:r>
              <a:rPr sz="1600">
                <a:solidFill>
                  <a:srgbClr val="24292F"/>
                </a:solidFill>
                <a:latin typeface="Consolas"/>
              </a:rPr>
              <a:t>  res.end(</a:t>
            </a:r>
            <a:r>
              <a:rPr sz="1600">
                <a:solidFill>
                  <a:srgbClr val="0A3069"/>
                </a:solidFill>
                <a:latin typeface="Consolas"/>
              </a:rPr>
              <a:t>'Hello World\n'</a:t>
            </a:r>
            <a:r>
              <a:rPr sz="1600">
                <a:solidFill>
                  <a:srgbClr val="24292F"/>
                </a:solidFill>
                <a:latin typeface="Consolas"/>
              </a:rPr>
              <a:t>)</a:t>
            </a:r>
          </a:p>
          <a:p>
            <a:pPr marL="0" indent="0" algn="l">
              <a:lnSpc>
                <a:spcPct val="100000"/>
              </a:lnSpc>
              <a:buNone/>
            </a:pP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server.listen(port, hostname, () =&gt; {</a:t>
            </a:r>
          </a:p>
          <a:p>
            <a:pPr marL="0" indent="0" algn="l">
              <a:lnSpc>
                <a:spcPct val="100000"/>
              </a:lnSpc>
              <a:buNone/>
            </a:pPr>
            <a:r>
              <a:rPr sz="1600">
                <a:solidFill>
                  <a:srgbClr val="24292F"/>
                </a:solidFill>
                <a:latin typeface="Consolas"/>
              </a:rPr>
              <a:t>  console.log(</a:t>
            </a:r>
            <a:r>
              <a:rPr sz="1600">
                <a:solidFill>
                  <a:srgbClr val="0A3069"/>
                </a:solidFill>
                <a:latin typeface="Consolas"/>
              </a:rPr>
              <a:t>`Server running at http://${hostname}:${port}/`</a:t>
            </a:r>
            <a:r>
              <a:rPr sz="1600">
                <a:solidFill>
                  <a:srgbClr val="24292F"/>
                </a:solidFill>
                <a:latin typeface="Consolas"/>
              </a:rPr>
              <a:t>)</a:t>
            </a:r>
          </a:p>
          <a:p>
            <a:pPr marL="0" indent="0" algn="l">
              <a:lnSpc>
                <a:spcPct val="100000"/>
              </a:lnSpc>
              <a:buNone/>
            </a:pPr>
            <a:r>
              <a:rPr sz="1600">
                <a:solidFill>
                  <a:srgbClr val="24292F"/>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40</a:t>
            </a:fld>
            <a:endParaRPr lang="en-US" sz="900">
              <a:solidFill>
                <a:srgbClr val="9AA7B4"/>
              </a:solidFill>
            </a:endParaRPr>
          </a:p>
        </p:txBody>
      </p:sp>
    </p:spTree>
    <p:extLst>
      <p:ext uri="{BB962C8B-B14F-4D97-AF65-F5344CB8AC3E}">
        <p14:creationId xmlns:p14="http://schemas.microsoft.com/office/powerpoint/2010/main" val="2851037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Modules Overview</a:t>
            </a:r>
          </a:p>
        </p:txBody>
      </p:sp>
      <p:sp>
        <p:nvSpPr>
          <p:cNvPr id="3" name="Body"/>
          <p:cNvSpPr txBox="1"/>
          <p:nvPr/>
        </p:nvSpPr>
        <p:spPr>
          <a:xfrm>
            <a:off x="457200" y="1261872"/>
            <a:ext cx="8229600" cy="302945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Node originally used </a:t>
            </a:r>
            <a:r>
              <a:rPr sz="2200" b="1" i="0">
                <a:solidFill>
                  <a:srgbClr val="1F2A36"/>
                </a:solidFill>
              </a:rPr>
              <a:t>CommonJS</a:t>
            </a:r>
            <a:r>
              <a:rPr sz="2200" b="0" i="0">
                <a:solidFill>
                  <a:srgbClr val="1F2A36"/>
                </a:solidFill>
              </a:rPr>
              <a:t> for loading modules</a:t>
            </a:r>
          </a:p>
          <a:p>
            <a:pPr marL="566928" indent="-256032">
              <a:spcAft>
                <a:spcPts val="855"/>
              </a:spcAft>
              <a:buClr>
                <a:srgbClr val="6B7B8C"/>
              </a:buClr>
              <a:buSzPct val="100000"/>
              <a:buFont typeface="Arial"/>
              <a:buChar char="–"/>
            </a:pPr>
            <a:r>
              <a:rPr sz="1900" b="0" i="0">
                <a:solidFill>
                  <a:srgbClr val="3A4A5A"/>
                </a:solidFill>
              </a:rPr>
              <a:t>Original name was ServerJS</a:t>
            </a:r>
          </a:p>
          <a:p>
            <a:pPr marL="566928" indent="-256032">
              <a:spcAft>
                <a:spcPts val="855"/>
              </a:spcAft>
              <a:buClr>
                <a:srgbClr val="6B7B8C"/>
              </a:buClr>
              <a:buSzPct val="100000"/>
              <a:buFont typeface="Arial"/>
              <a:buChar char="–"/>
            </a:pPr>
            <a:r>
              <a:rPr sz="1900" b="0" i="0">
                <a:solidFill>
                  <a:srgbClr val="3A4A5A"/>
                </a:solidFill>
              </a:rPr>
              <a:t>A way to import dependencies outside the browser</a:t>
            </a:r>
          </a:p>
          <a:p>
            <a:pPr marL="274320" indent="-256032">
              <a:spcAft>
                <a:spcPts val="990"/>
              </a:spcAft>
              <a:buClr>
                <a:srgbClr val="42B883"/>
              </a:buClr>
              <a:buSzPct val="100000"/>
              <a:buFont typeface="Arial"/>
              <a:buChar char="•"/>
            </a:pPr>
            <a:r>
              <a:rPr sz="2090" b="0" i="0">
                <a:solidFill>
                  <a:srgbClr val="8A2B52"/>
                </a:solidFill>
                <a:latin typeface="Consolas"/>
              </a:rPr>
              <a:t>module.exports</a:t>
            </a:r>
            <a:r>
              <a:rPr sz="2200" b="0" i="0">
                <a:solidFill>
                  <a:srgbClr val="1F2A36"/>
                </a:solidFill>
              </a:rPr>
              <a:t> — encapsulates code into a module</a:t>
            </a:r>
          </a:p>
          <a:p>
            <a:pPr marL="274320" indent="-256032">
              <a:spcAft>
                <a:spcPts val="990"/>
              </a:spcAft>
              <a:buClr>
                <a:srgbClr val="42B883"/>
              </a:buClr>
              <a:buSzPct val="100000"/>
              <a:buFont typeface="Arial"/>
              <a:buChar char="•"/>
            </a:pPr>
            <a:r>
              <a:rPr sz="2090" b="0" i="0">
                <a:solidFill>
                  <a:srgbClr val="8A2B52"/>
                </a:solidFill>
                <a:latin typeface="Consolas"/>
              </a:rPr>
              <a:t>require()</a:t>
            </a:r>
            <a:r>
              <a:rPr sz="2200" b="0" i="0">
                <a:solidFill>
                  <a:srgbClr val="1F2A36"/>
                </a:solidFill>
              </a:rPr>
              <a:t> — imports a module into JavaScript code</a:t>
            </a:r>
          </a:p>
          <a:p>
            <a:pPr marL="274320" indent="-256032">
              <a:spcAft>
                <a:spcPts val="990"/>
              </a:spcAft>
              <a:buClr>
                <a:srgbClr val="42B883"/>
              </a:buClr>
              <a:buSzPct val="100000"/>
              <a:buFont typeface="Arial"/>
              <a:buChar char="•"/>
            </a:pPr>
            <a:r>
              <a:rPr sz="2200" b="0" i="0">
                <a:solidFill>
                  <a:srgbClr val="1F2A36"/>
                </a:solidFill>
              </a:rPr>
              <a:t>Today Node also supports standard </a:t>
            </a:r>
            <a:r>
              <a:rPr sz="2200" b="1" i="0">
                <a:solidFill>
                  <a:srgbClr val="1F2A36"/>
                </a:solidFill>
              </a:rPr>
              <a:t>ES Modules</a:t>
            </a:r>
            <a:r>
              <a:rPr sz="2200" b="0" i="0">
                <a:solidFill>
                  <a:srgbClr val="1F2A36"/>
                </a:solidFill>
              </a:rPr>
              <a:t> (</a:t>
            </a:r>
            <a:r>
              <a:rPr sz="2090" b="0" i="0">
                <a:solidFill>
                  <a:srgbClr val="8A2B52"/>
                </a:solidFill>
                <a:latin typeface="Consolas"/>
              </a:rPr>
              <a:t>import</a:t>
            </a:r>
            <a:r>
              <a:rPr sz="2200" b="0" i="0">
                <a:solidFill>
                  <a:srgbClr val="1F2A36"/>
                </a:solidFill>
              </a:rPr>
              <a:t> / </a:t>
            </a:r>
            <a:r>
              <a:rPr sz="2090" b="0" i="0">
                <a:solidFill>
                  <a:srgbClr val="8A2B52"/>
                </a:solidFill>
                <a:latin typeface="Consolas"/>
              </a:rPr>
              <a:t>export</a:t>
            </a:r>
            <a:r>
              <a:rPr sz="2200" b="0" i="0">
                <a:solidFill>
                  <a:srgbClr val="1F2A36"/>
                </a:solidFill>
              </a:rPr>
              <a:t>), which is what Vite projects use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41</a:t>
            </a:fld>
            <a:endParaRPr lang="en-US" sz="900">
              <a:solidFill>
                <a:srgbClr val="9AA7B4"/>
              </a:solidFill>
            </a:endParaRPr>
          </a:p>
        </p:txBody>
      </p:sp>
    </p:spTree>
    <p:extLst>
      <p:ext uri="{BB962C8B-B14F-4D97-AF65-F5344CB8AC3E}">
        <p14:creationId xmlns:p14="http://schemas.microsoft.com/office/powerpoint/2010/main" val="2904578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CommonJS Example</a:t>
            </a:r>
          </a:p>
        </p:txBody>
      </p:sp>
      <p:sp>
        <p:nvSpPr>
          <p:cNvPr id="3" name="Body"/>
          <p:cNvSpPr txBox="1"/>
          <p:nvPr/>
        </p:nvSpPr>
        <p:spPr>
          <a:xfrm>
            <a:off x="457200" y="1261872"/>
            <a:ext cx="822960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circle.js</a:t>
            </a:r>
          </a:p>
        </p:txBody>
      </p:sp>
      <p:sp>
        <p:nvSpPr>
          <p:cNvPr id="4" name="Code"/>
          <p:cNvSpPr/>
          <p:nvPr/>
        </p:nvSpPr>
        <p:spPr>
          <a:xfrm>
            <a:off x="457200" y="1835657"/>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exports.area = </a:t>
            </a:r>
            <a:r>
              <a:rPr sz="2000">
                <a:solidFill>
                  <a:srgbClr val="CF222E"/>
                </a:solidFill>
                <a:latin typeface="Consolas"/>
              </a:rPr>
              <a:t>function</a:t>
            </a:r>
            <a:r>
              <a:rPr sz="2000">
                <a:solidFill>
                  <a:srgbClr val="24292F"/>
                </a:solidFill>
                <a:latin typeface="Consolas"/>
              </a:rPr>
              <a:t> (r) {</a:t>
            </a:r>
          </a:p>
          <a:p>
            <a:pPr marL="0" indent="0" algn="l">
              <a:lnSpc>
                <a:spcPct val="100000"/>
              </a:lnSpc>
              <a:buNone/>
            </a:pPr>
            <a:r>
              <a:rPr sz="2000">
                <a:solidFill>
                  <a:srgbClr val="24292F"/>
                </a:solidFill>
                <a:latin typeface="Consolas"/>
              </a:rPr>
              <a:t>  </a:t>
            </a:r>
            <a:r>
              <a:rPr sz="2000">
                <a:solidFill>
                  <a:srgbClr val="CF222E"/>
                </a:solidFill>
                <a:latin typeface="Consolas"/>
              </a:rPr>
              <a:t>return</a:t>
            </a:r>
            <a:r>
              <a:rPr sz="2000">
                <a:solidFill>
                  <a:srgbClr val="24292F"/>
                </a:solidFill>
                <a:latin typeface="Consolas"/>
              </a:rPr>
              <a:t> Math.PI * r * r</a:t>
            </a:r>
          </a:p>
          <a:p>
            <a:pPr marL="0" indent="0" algn="l">
              <a:lnSpc>
                <a:spcPct val="100000"/>
              </a:lnSpc>
              <a:buNone/>
            </a:pPr>
            <a:r>
              <a:rPr sz="2000">
                <a:solidFill>
                  <a:srgbClr val="24292F"/>
                </a:solidFill>
                <a:latin typeface="Consolas"/>
              </a:rPr>
              <a:t>}</a:t>
            </a:r>
          </a:p>
        </p:txBody>
      </p:sp>
      <p:sp>
        <p:nvSpPr>
          <p:cNvPr id="5" name="Body"/>
          <p:cNvSpPr txBox="1"/>
          <p:nvPr/>
        </p:nvSpPr>
        <p:spPr>
          <a:xfrm>
            <a:off x="457200" y="3219450"/>
            <a:ext cx="822960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foo.js</a:t>
            </a:r>
          </a:p>
        </p:txBody>
      </p:sp>
      <p:sp>
        <p:nvSpPr>
          <p:cNvPr id="6" name="Code"/>
          <p:cNvSpPr/>
          <p:nvPr/>
        </p:nvSpPr>
        <p:spPr>
          <a:xfrm>
            <a:off x="457200" y="3793236"/>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circle = require(</a:t>
            </a:r>
            <a:r>
              <a:rPr sz="2000">
                <a:solidFill>
                  <a:srgbClr val="0A3069"/>
                </a:solidFill>
                <a:latin typeface="Consolas"/>
              </a:rPr>
              <a:t>'./circle.js'</a:t>
            </a:r>
            <a:r>
              <a:rPr sz="2000">
                <a:solidFill>
                  <a:srgbClr val="24292F"/>
                </a:solidFill>
                <a:latin typeface="Consolas"/>
              </a:rPr>
              <a:t>)</a:t>
            </a:r>
          </a:p>
          <a:p>
            <a:pPr marL="0" indent="0" algn="l">
              <a:lnSpc>
                <a:spcPct val="100000"/>
              </a:lnSpc>
              <a:buNone/>
            </a:pPr>
            <a:r>
              <a:rPr sz="2000">
                <a:solidFill>
                  <a:srgbClr val="24292F"/>
                </a:solidFill>
                <a:latin typeface="Consolas"/>
              </a:rPr>
              <a:t>console.log(</a:t>
            </a:r>
            <a:r>
              <a:rPr sz="2000">
                <a:solidFill>
                  <a:srgbClr val="0A3069"/>
                </a:solidFill>
                <a:latin typeface="Consolas"/>
              </a:rPr>
              <a:t>'Area of circle: '</a:t>
            </a:r>
            <a:r>
              <a:rPr sz="2000">
                <a:solidFill>
                  <a:srgbClr val="24292F"/>
                </a:solidFill>
                <a:latin typeface="Consolas"/>
              </a:rPr>
              <a:t> + circle.area(</a:t>
            </a:r>
            <a:r>
              <a:rPr sz="2000">
                <a:solidFill>
                  <a:srgbClr val="0550AE"/>
                </a:solidFill>
                <a:latin typeface="Consolas"/>
              </a:rPr>
              <a:t>4</a:t>
            </a:r>
            <a:r>
              <a:rPr sz="200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42</a:t>
            </a:fld>
            <a:endParaRPr lang="en-US" sz="900">
              <a:solidFill>
                <a:srgbClr val="9AA7B4"/>
              </a:solidFill>
            </a:endParaRPr>
          </a:p>
        </p:txBody>
      </p:sp>
    </p:spTree>
    <p:extLst>
      <p:ext uri="{BB962C8B-B14F-4D97-AF65-F5344CB8AC3E}">
        <p14:creationId xmlns:p14="http://schemas.microsoft.com/office/powerpoint/2010/main" val="1557648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ES Modules: import and export</a:t>
            </a:r>
          </a:p>
        </p:txBody>
      </p:sp>
      <p:sp>
        <p:nvSpPr>
          <p:cNvPr id="3" name="Body"/>
          <p:cNvSpPr txBox="1"/>
          <p:nvPr/>
        </p:nvSpPr>
        <p:spPr>
          <a:xfrm>
            <a:off x="457200" y="1261872"/>
            <a:ext cx="8229600" cy="1304036"/>
          </a:xfrm>
          <a:prstGeom prst="rect">
            <a:avLst/>
          </a:prstGeom>
          <a:noFill/>
        </p:spPr>
        <p:txBody>
          <a:bodyPr wrap="square" lIns="0" tIns="0" rIns="0" bIns="0">
            <a:noAutofit/>
          </a:bodyPr>
          <a:lstStyle/>
          <a:p>
            <a:pPr marL="0" indent="0">
              <a:spcAft>
                <a:spcPts val="990"/>
              </a:spcAft>
              <a:buNone/>
            </a:pPr>
            <a:r>
              <a:rPr sz="2200" b="0" i="0">
                <a:solidFill>
                  <a:srgbClr val="1F2A36"/>
                </a:solidFill>
              </a:rPr>
              <a:t>JavaScript's standard module format. This example exports and imports a function by name.</a:t>
            </a:r>
          </a:p>
          <a:p>
            <a:pPr marL="0" indent="0">
              <a:spcAft>
                <a:spcPts val="769"/>
              </a:spcAft>
              <a:buNone/>
            </a:pPr>
            <a:r>
              <a:rPr sz="2200" b="1" i="0">
                <a:solidFill>
                  <a:srgbClr val="2E8B62"/>
                </a:solidFill>
              </a:rPr>
              <a:t>circle.js</a:t>
            </a:r>
          </a:p>
        </p:txBody>
      </p:sp>
      <p:sp>
        <p:nvSpPr>
          <p:cNvPr id="4" name="Code"/>
          <p:cNvSpPr/>
          <p:nvPr/>
        </p:nvSpPr>
        <p:spPr>
          <a:xfrm>
            <a:off x="457200" y="2620772"/>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export</a:t>
            </a:r>
            <a:r>
              <a:rPr sz="2000">
                <a:solidFill>
                  <a:srgbClr val="24292F"/>
                </a:solidFill>
                <a:latin typeface="Consolas"/>
              </a:rPr>
              <a:t> </a:t>
            </a:r>
            <a:r>
              <a:rPr sz="2000">
                <a:solidFill>
                  <a:srgbClr val="CF222E"/>
                </a:solidFill>
                <a:latin typeface="Consolas"/>
              </a:rPr>
              <a:t>function</a:t>
            </a:r>
            <a:r>
              <a:rPr sz="2000">
                <a:solidFill>
                  <a:srgbClr val="24292F"/>
                </a:solidFill>
                <a:latin typeface="Consolas"/>
              </a:rPr>
              <a:t> area(r) {</a:t>
            </a:r>
          </a:p>
          <a:p>
            <a:pPr marL="0" indent="0" algn="l">
              <a:lnSpc>
                <a:spcPct val="100000"/>
              </a:lnSpc>
              <a:buNone/>
            </a:pPr>
            <a:r>
              <a:rPr sz="2000">
                <a:solidFill>
                  <a:srgbClr val="24292F"/>
                </a:solidFill>
                <a:latin typeface="Consolas"/>
              </a:rPr>
              <a:t>  </a:t>
            </a:r>
            <a:r>
              <a:rPr sz="2000">
                <a:solidFill>
                  <a:srgbClr val="CF222E"/>
                </a:solidFill>
                <a:latin typeface="Consolas"/>
              </a:rPr>
              <a:t>return</a:t>
            </a:r>
            <a:r>
              <a:rPr sz="2000">
                <a:solidFill>
                  <a:srgbClr val="24292F"/>
                </a:solidFill>
                <a:latin typeface="Consolas"/>
              </a:rPr>
              <a:t> Math.PI * r * r</a:t>
            </a:r>
          </a:p>
          <a:p>
            <a:pPr marL="0" indent="0" algn="l">
              <a:lnSpc>
                <a:spcPct val="100000"/>
              </a:lnSpc>
              <a:buNone/>
            </a:pPr>
            <a:r>
              <a:rPr sz="2000">
                <a:solidFill>
                  <a:srgbClr val="24292F"/>
                </a:solidFill>
                <a:latin typeface="Consolas"/>
              </a:rPr>
              <a:t>}</a:t>
            </a:r>
          </a:p>
        </p:txBody>
      </p:sp>
      <p:sp>
        <p:nvSpPr>
          <p:cNvPr id="5" name="Body"/>
          <p:cNvSpPr txBox="1"/>
          <p:nvPr/>
        </p:nvSpPr>
        <p:spPr>
          <a:xfrm>
            <a:off x="457200" y="4004564"/>
            <a:ext cx="822960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foo.js</a:t>
            </a:r>
          </a:p>
        </p:txBody>
      </p:sp>
      <p:sp>
        <p:nvSpPr>
          <p:cNvPr id="6" name="Code"/>
          <p:cNvSpPr/>
          <p:nvPr/>
        </p:nvSpPr>
        <p:spPr>
          <a:xfrm>
            <a:off x="457200" y="4578350"/>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import</a:t>
            </a:r>
            <a:r>
              <a:rPr sz="2000">
                <a:solidFill>
                  <a:srgbClr val="24292F"/>
                </a:solidFill>
                <a:latin typeface="Consolas"/>
              </a:rPr>
              <a:t> { area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'./circle.js'</a:t>
            </a:r>
          </a:p>
          <a:p>
            <a:pPr marL="0" indent="0" algn="l">
              <a:lnSpc>
                <a:spcPct val="100000"/>
              </a:lnSpc>
              <a:buNone/>
            </a:pPr>
            <a:r>
              <a:rPr sz="2000">
                <a:solidFill>
                  <a:srgbClr val="24292F"/>
                </a:solidFill>
                <a:latin typeface="Consolas"/>
              </a:rPr>
              <a:t>console.log(</a:t>
            </a:r>
            <a:r>
              <a:rPr sz="2000">
                <a:solidFill>
                  <a:srgbClr val="0A3069"/>
                </a:solidFill>
                <a:latin typeface="Consolas"/>
              </a:rPr>
              <a:t>'Area of circle: '</a:t>
            </a:r>
            <a:r>
              <a:rPr sz="2000">
                <a:solidFill>
                  <a:srgbClr val="24292F"/>
                </a:solidFill>
                <a:latin typeface="Consolas"/>
              </a:rPr>
              <a:t> + area(</a:t>
            </a:r>
            <a:r>
              <a:rPr sz="2000">
                <a:solidFill>
                  <a:srgbClr val="0550AE"/>
                </a:solidFill>
                <a:latin typeface="Consolas"/>
              </a:rPr>
              <a:t>4</a:t>
            </a:r>
            <a:r>
              <a:rPr sz="200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43</a:t>
            </a:fld>
            <a:endParaRPr lang="en-US" sz="900">
              <a:solidFill>
                <a:srgbClr val="9AA7B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ES Modules in Node.js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Node.js supports both CommonJS and ES Modules</a:t>
            </a:r>
          </a:p>
          <a:p>
            <a:pPr marL="274320" indent="-256032">
              <a:spcAft>
                <a:spcPts val="990"/>
              </a:spcAft>
              <a:buClr>
                <a:srgbClr val="42B883"/>
              </a:buClr>
              <a:buSzPct val="100000"/>
              <a:buFont typeface="Arial"/>
              <a:buChar char="•"/>
            </a:pPr>
            <a:r>
              <a:rPr sz="2200" b="0" i="0">
                <a:solidFill>
                  <a:srgbClr val="1F2A36"/>
                </a:solidFill>
              </a:rPr>
              <a:t>To run the previous example, add to </a:t>
            </a:r>
            <a:r>
              <a:rPr sz="2090" b="0" i="0">
                <a:solidFill>
                  <a:srgbClr val="8A2B52"/>
                </a:solidFill>
                <a:latin typeface="Consolas"/>
              </a:rPr>
              <a:t>package.json</a:t>
            </a:r>
            <a:r>
              <a:rPr sz="2200" b="0" i="0">
                <a:solidFill>
                  <a:srgbClr val="1F2A36"/>
                </a:solidFill>
              </a:rPr>
              <a:t>:</a:t>
            </a:r>
          </a:p>
        </p:txBody>
      </p:sp>
      <p:sp>
        <p:nvSpPr>
          <p:cNvPr id="4" name="Code"/>
          <p:cNvSpPr/>
          <p:nvPr/>
        </p:nvSpPr>
        <p:spPr>
          <a:xfrm>
            <a:off x="457200" y="2319020"/>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 </a:t>
            </a:r>
            <a:r>
              <a:rPr sz="2000">
                <a:solidFill>
                  <a:srgbClr val="0A3069"/>
                </a:solidFill>
                <a:latin typeface="Consolas"/>
              </a:rPr>
              <a:t>"type"</a:t>
            </a:r>
            <a:r>
              <a:rPr sz="2000">
                <a:solidFill>
                  <a:srgbClr val="24292F"/>
                </a:solidFill>
                <a:latin typeface="Consolas"/>
              </a:rPr>
              <a:t>: </a:t>
            </a:r>
            <a:r>
              <a:rPr sz="2000">
                <a:solidFill>
                  <a:srgbClr val="0A3069"/>
                </a:solidFill>
                <a:latin typeface="Consolas"/>
              </a:rPr>
              <a:t>"module"</a:t>
            </a:r>
            <a:r>
              <a:rPr sz="2000">
                <a:solidFill>
                  <a:srgbClr val="24292F"/>
                </a:solidFill>
                <a:latin typeface="Consolas"/>
              </a:rPr>
              <a:t> }</a:t>
            </a:r>
          </a:p>
        </p:txBody>
      </p:sp>
      <p:sp>
        <p:nvSpPr>
          <p:cNvPr id="5" name="Body"/>
          <p:cNvSpPr txBox="1"/>
          <p:nvPr/>
        </p:nvSpPr>
        <p:spPr>
          <a:xfrm>
            <a:off x="457200" y="3072892"/>
            <a:ext cx="8229600" cy="230644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Node now treats </a:t>
            </a:r>
            <a:r>
              <a:rPr sz="2090" b="0" i="0">
                <a:solidFill>
                  <a:srgbClr val="8A2B52"/>
                </a:solidFill>
                <a:latin typeface="Consolas"/>
              </a:rPr>
              <a:t>.js</a:t>
            </a:r>
            <a:r>
              <a:rPr sz="2200" b="0" i="0">
                <a:solidFill>
                  <a:srgbClr val="1F2A36"/>
                </a:solidFill>
              </a:rPr>
              <a:t> files in this package as ES Modules</a:t>
            </a:r>
          </a:p>
          <a:p>
            <a:pPr marL="566928" indent="-256032">
              <a:spcAft>
                <a:spcPts val="855"/>
              </a:spcAft>
              <a:buClr>
                <a:srgbClr val="6B7B8C"/>
              </a:buClr>
              <a:buSzPct val="100000"/>
              <a:buFont typeface="Arial"/>
              <a:buChar char="–"/>
            </a:pPr>
            <a:r>
              <a:rPr sz="1900" b="0" i="0">
                <a:solidFill>
                  <a:srgbClr val="3A4A5A"/>
                </a:solidFill>
              </a:rPr>
              <a:t>Run the entry file with </a:t>
            </a:r>
            <a:r>
              <a:rPr sz="1805" b="0" i="0">
                <a:solidFill>
                  <a:srgbClr val="8A2B52"/>
                </a:solidFill>
                <a:latin typeface="Consolas"/>
              </a:rPr>
              <a:t>node foo.js</a:t>
            </a:r>
          </a:p>
          <a:p>
            <a:pPr marL="274320" indent="-256032">
              <a:spcAft>
                <a:spcPts val="990"/>
              </a:spcAft>
              <a:buClr>
                <a:srgbClr val="42B883"/>
              </a:buClr>
              <a:buSzPct val="100000"/>
              <a:buFont typeface="Arial"/>
              <a:buChar char="•"/>
            </a:pPr>
            <a:r>
              <a:rPr sz="2200" b="0" i="0">
                <a:solidFill>
                  <a:srgbClr val="1F2A36"/>
                </a:solidFill>
              </a:rPr>
              <a:t>Alternative: use </a:t>
            </a:r>
            <a:r>
              <a:rPr sz="2090" b="0" i="0">
                <a:solidFill>
                  <a:srgbClr val="8A2B52"/>
                </a:solidFill>
                <a:latin typeface="Consolas"/>
              </a:rPr>
              <a:t>.mjs</a:t>
            </a:r>
            <a:r>
              <a:rPr sz="2200" b="0" i="0">
                <a:solidFill>
                  <a:srgbClr val="1F2A36"/>
                </a:solidFill>
              </a:rPr>
              <a:t> files (and matching imports)</a:t>
            </a:r>
          </a:p>
          <a:p>
            <a:pPr marL="274320" indent="-256032">
              <a:spcAft>
                <a:spcPts val="990"/>
              </a:spcAft>
              <a:buClr>
                <a:srgbClr val="42B883"/>
              </a:buClr>
              <a:buSzPct val="100000"/>
              <a:buFont typeface="Arial"/>
              <a:buChar char="•"/>
            </a:pPr>
            <a:r>
              <a:rPr sz="2200" b="0" i="0">
                <a:solidFill>
                  <a:srgbClr val="1F2A36"/>
                </a:solidFill>
              </a:rPr>
              <a:t>Use </a:t>
            </a:r>
            <a:r>
              <a:rPr sz="2090" b="0" i="0">
                <a:solidFill>
                  <a:srgbClr val="8A2B52"/>
                </a:solidFill>
                <a:latin typeface="Consolas"/>
              </a:rPr>
              <a:t>.cjs</a:t>
            </a:r>
            <a:r>
              <a:rPr sz="2200" b="0" i="0">
                <a:solidFill>
                  <a:srgbClr val="1F2A36"/>
                </a:solidFill>
              </a:rPr>
              <a:t> for CommonJS files in an ES Module package</a:t>
            </a:r>
          </a:p>
          <a:p>
            <a:pPr marL="274320" indent="-256032">
              <a:spcAft>
                <a:spcPts val="990"/>
              </a:spcAft>
              <a:buClr>
                <a:srgbClr val="42B883"/>
              </a:buClr>
              <a:buSzPct val="100000"/>
              <a:buFont typeface="Arial"/>
              <a:buChar char="•"/>
            </a:pPr>
            <a:r>
              <a:rPr sz="2200" b="0" i="0">
                <a:solidFill>
                  <a:srgbClr val="1F2A36"/>
                </a:solidFill>
              </a:rPr>
              <a:t>Include extensions in relative imports: </a:t>
            </a:r>
            <a:r>
              <a:rPr sz="2090" b="0" i="0">
                <a:solidFill>
                  <a:srgbClr val="8A2B52"/>
                </a:solidFill>
                <a:latin typeface="Consolas"/>
              </a:rPr>
              <a:t>./circle.js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44</a:t>
            </a:fld>
            <a:endParaRPr lang="en-US" sz="900">
              <a:solidFill>
                <a:srgbClr val="9AA7B4"/>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Front-end Node</a:t>
            </a:r>
          </a:p>
        </p:txBody>
      </p:sp>
      <p:sp>
        <p:nvSpPr>
          <p:cNvPr id="3" name="Body"/>
          <p:cNvSpPr txBox="1"/>
          <p:nvPr/>
        </p:nvSpPr>
        <p:spPr>
          <a:xfrm>
            <a:off x="457200" y="1261872"/>
            <a:ext cx="8229600" cy="4064507"/>
          </a:xfrm>
          <a:prstGeom prst="rect">
            <a:avLst/>
          </a:prstGeom>
          <a:noFill/>
        </p:spPr>
        <p:txBody>
          <a:bodyPr wrap="square" lIns="0" tIns="0" rIns="0" bIns="0">
            <a:noAutofit/>
          </a:bodyPr>
          <a:lstStyle/>
          <a:p>
            <a:pPr marL="0" indent="0">
              <a:spcAft>
                <a:spcPts val="990"/>
              </a:spcAft>
              <a:buNone/>
            </a:pPr>
            <a:r>
              <a:rPr sz="2200" b="0" i="0">
                <a:solidFill>
                  <a:srgbClr val="1F2A36"/>
                </a:solidFill>
              </a:rPr>
              <a:t>Node has become an essential part of front-end development. It runs:</a:t>
            </a:r>
          </a:p>
          <a:p>
            <a:pPr marL="274320" indent="-256032">
              <a:spcAft>
                <a:spcPts val="990"/>
              </a:spcAft>
              <a:buClr>
                <a:srgbClr val="42B883"/>
              </a:buClr>
              <a:buSzPct val="100000"/>
              <a:buFont typeface="Arial"/>
              <a:buChar char="•"/>
            </a:pPr>
            <a:r>
              <a:rPr sz="2200" b="0" i="0">
                <a:solidFill>
                  <a:srgbClr val="1F2A36"/>
                </a:solidFill>
              </a:rPr>
              <a:t>Package managers (npm, pnpm, yarn)</a:t>
            </a:r>
          </a:p>
          <a:p>
            <a:pPr marL="274320" indent="-256032">
              <a:spcAft>
                <a:spcPts val="990"/>
              </a:spcAft>
              <a:buClr>
                <a:srgbClr val="42B883"/>
              </a:buClr>
              <a:buSzPct val="100000"/>
              <a:buFont typeface="Arial"/>
              <a:buChar char="•"/>
            </a:pPr>
            <a:r>
              <a:rPr sz="2200" b="0" i="0">
                <a:solidFill>
                  <a:srgbClr val="1F2A36"/>
                </a:solidFill>
              </a:rPr>
              <a:t>Dev servers and build tools (Vite)</a:t>
            </a:r>
          </a:p>
          <a:p>
            <a:pPr marL="274320" indent="-256032">
              <a:spcAft>
                <a:spcPts val="990"/>
              </a:spcAft>
              <a:buClr>
                <a:srgbClr val="42B883"/>
              </a:buClr>
              <a:buSzPct val="100000"/>
              <a:buFont typeface="Arial"/>
              <a:buChar char="•"/>
            </a:pPr>
            <a:r>
              <a:rPr sz="2200" b="0" i="0">
                <a:solidFill>
                  <a:srgbClr val="1F2A36"/>
                </a:solidFill>
              </a:rPr>
              <a:t>Test runners (Vitest, Playwright)</a:t>
            </a:r>
          </a:p>
          <a:p>
            <a:pPr marL="274320" indent="-256032">
              <a:spcAft>
                <a:spcPts val="990"/>
              </a:spcAft>
              <a:buClr>
                <a:srgbClr val="42B883"/>
              </a:buClr>
              <a:buSzPct val="100000"/>
              <a:buFont typeface="Arial"/>
              <a:buChar char="•"/>
            </a:pPr>
            <a:r>
              <a:rPr sz="2200" b="0" i="0">
                <a:solidFill>
                  <a:srgbClr val="1F2A36"/>
                </a:solidFill>
              </a:rPr>
              <a:t>Linters and formatters (ESLint, Prettier)</a:t>
            </a:r>
          </a:p>
          <a:p>
            <a:pPr marL="274320" indent="-256032">
              <a:spcAft>
                <a:spcPts val="990"/>
              </a:spcAft>
              <a:buClr>
                <a:srgbClr val="42B883"/>
              </a:buClr>
              <a:buSzPct val="100000"/>
              <a:buFont typeface="Arial"/>
              <a:buChar char="•"/>
            </a:pPr>
            <a:r>
              <a:rPr sz="2200" b="0" i="0">
                <a:solidFill>
                  <a:srgbClr val="1F2A36"/>
                </a:solidFill>
              </a:rPr>
              <a:t>CSS tools (PostCSS, Sass)</a:t>
            </a:r>
          </a:p>
          <a:p>
            <a:pPr marL="274320" indent="-256032">
              <a:spcAft>
                <a:spcPts val="990"/>
              </a:spcAft>
              <a:buClr>
                <a:srgbClr val="42B883"/>
              </a:buClr>
              <a:buSzPct val="100000"/>
              <a:buFont typeface="Arial"/>
              <a:buChar char="•"/>
            </a:pPr>
            <a:r>
              <a:rPr sz="2200" b="0" i="0">
                <a:solidFill>
                  <a:srgbClr val="1F2A36"/>
                </a:solidFill>
              </a:rPr>
              <a:t>Headless browsers for testing (Playwright, Puppeteer)</a:t>
            </a:r>
          </a:p>
          <a:p>
            <a:pPr marL="274320" indent="-256032">
              <a:spcAft>
                <a:spcPts val="990"/>
              </a:spcAft>
              <a:buClr>
                <a:srgbClr val="42B883"/>
              </a:buClr>
              <a:buSzPct val="100000"/>
              <a:buFont typeface="Arial"/>
              <a:buChar char="•"/>
            </a:pPr>
            <a:r>
              <a:rPr sz="2200" b="0" i="0">
                <a:solidFill>
                  <a:srgbClr val="1F2A36"/>
                </a:solidFill>
              </a:rPr>
              <a:t>…and much more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45</a:t>
            </a:fld>
            <a:endParaRPr lang="en-US" sz="900">
              <a:solidFill>
                <a:srgbClr val="9AA7B4"/>
              </a:solidFill>
            </a:endParaRPr>
          </a:p>
        </p:txBody>
      </p:sp>
    </p:spTree>
    <p:extLst>
      <p:ext uri="{BB962C8B-B14F-4D97-AF65-F5344CB8AC3E}">
        <p14:creationId xmlns:p14="http://schemas.microsoft.com/office/powerpoint/2010/main" val="967235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lvl="0" indent="0" algn="l" rtl="0">
              <a:buNone/>
            </a:pPr>
            <a:r>
              <a:rPr sz="3000" b="1" i="0" cap="none">
                <a:solidFill>
                  <a:srgbClr val="2C3E50"/>
                </a:solidFill>
              </a:rPr>
              <a:t>Getting Started with Node.js and npm</a:t>
            </a:r>
          </a:p>
        </p:txBody>
      </p:sp>
      <p:pic>
        <p:nvPicPr>
          <p:cNvPr id="7" name="Content Placeholder 3" descr="install-complete.png">
            <a:extLst>
              <a:ext uri="{FF2B5EF4-FFF2-40B4-BE49-F238E27FC236}">
                <a16:creationId xmlns:a16="http://schemas.microsoft.com/office/drawing/2014/main" id="{E5772C28-3BE5-F28C-ABC3-BEE156563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320" y="2397676"/>
            <a:ext cx="3840480" cy="2885606"/>
          </a:xfrm>
          <a:prstGeom prst="rect">
            <a:avLst/>
          </a:prstGeom>
          <a:ln w="12700">
            <a:solidFill>
              <a:srgbClr val="D6DEE6"/>
            </a:solidFill>
          </a:ln>
        </p:spPr>
      </p:pic>
      <p:sp>
        <p:nvSpPr>
          <p:cNvPr id="8" name="Chip LAB 06"/>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06</a:t>
            </a:r>
          </a:p>
        </p:txBody>
      </p:sp>
      <p:sp>
        <p:nvSpPr>
          <p:cNvPr id="9" name="Chip 2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25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Explore Node in the REPL, run a script from a file, and learn the core npm commands.</a:t>
            </a:r>
          </a:p>
        </p:txBody>
      </p:sp>
      <p:sp>
        <p:nvSpPr>
          <p:cNvPr id="11" name="Body"/>
          <p:cNvSpPr txBox="1"/>
          <p:nvPr/>
        </p:nvSpPr>
        <p:spPr>
          <a:xfrm>
            <a:off x="457200" y="2715768"/>
            <a:ext cx="4160520" cy="3196971"/>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900" b="0" i="0">
                <a:solidFill>
                  <a:srgbClr val="1F2A36"/>
                </a:solidFill>
              </a:rPr>
              <a:t>Check your version: </a:t>
            </a:r>
            <a:r>
              <a:rPr sz="1805" b="0" i="0">
                <a:solidFill>
                  <a:srgbClr val="8A2B52"/>
                </a:solidFill>
                <a:latin typeface="Consolas"/>
              </a:rPr>
              <a:t>node -v</a:t>
            </a:r>
          </a:p>
          <a:p>
            <a:pPr marL="274320" indent="-256032">
              <a:spcAft>
                <a:spcPts val="855"/>
              </a:spcAft>
              <a:buClr>
                <a:srgbClr val="42B883"/>
              </a:buClr>
              <a:buSzPct val="100000"/>
              <a:buFont typeface="Arial"/>
              <a:buChar char="•"/>
            </a:pPr>
            <a:r>
              <a:rPr sz="1900" b="0" i="0">
                <a:solidFill>
                  <a:srgbClr val="1F2A36"/>
                </a:solidFill>
              </a:rPr>
              <a:t>Explore the REPL: expressions, </a:t>
            </a:r>
            <a:r>
              <a:rPr sz="1805" b="0" i="0">
                <a:solidFill>
                  <a:srgbClr val="8A2B52"/>
                </a:solidFill>
                <a:latin typeface="Consolas"/>
              </a:rPr>
              <a:t>process.version</a:t>
            </a:r>
            <a:r>
              <a:rPr sz="1900" b="0" i="0">
                <a:solidFill>
                  <a:srgbClr val="1F2A36"/>
                </a:solidFill>
              </a:rPr>
              <a:t>, </a:t>
            </a:r>
            <a:r>
              <a:rPr sz="1805" b="0" i="0">
                <a:solidFill>
                  <a:srgbClr val="8A2B52"/>
                </a:solidFill>
                <a:latin typeface="Consolas"/>
              </a:rPr>
              <a:t>process.platform</a:t>
            </a:r>
          </a:p>
          <a:p>
            <a:pPr marL="274320" indent="-256032">
              <a:spcAft>
                <a:spcPts val="855"/>
              </a:spcAft>
              <a:buClr>
                <a:srgbClr val="42B883"/>
              </a:buClr>
              <a:buSzPct val="100000"/>
              <a:buFont typeface="Arial"/>
              <a:buChar char="•"/>
            </a:pPr>
            <a:r>
              <a:rPr sz="1900" b="0" i="0">
                <a:solidFill>
                  <a:srgbClr val="1F2A36"/>
                </a:solidFill>
              </a:rPr>
              <a:t>Write </a:t>
            </a:r>
            <a:r>
              <a:rPr sz="1805" b="0" i="0">
                <a:solidFill>
                  <a:srgbClr val="8A2B52"/>
                </a:solidFill>
                <a:latin typeface="Consolas"/>
              </a:rPr>
              <a:t>javascript.js</a:t>
            </a:r>
            <a:r>
              <a:rPr sz="1900" b="0" i="0">
                <a:solidFill>
                  <a:srgbClr val="1F2A36"/>
                </a:solidFill>
              </a:rPr>
              <a:t> and run it with </a:t>
            </a:r>
            <a:r>
              <a:rPr sz="1805" b="0" i="0">
                <a:solidFill>
                  <a:srgbClr val="8A2B52"/>
                </a:solidFill>
                <a:latin typeface="Consolas"/>
              </a:rPr>
              <a:t>node</a:t>
            </a:r>
          </a:p>
          <a:p>
            <a:pPr marL="274320" indent="-256032">
              <a:spcAft>
                <a:spcPts val="855"/>
              </a:spcAft>
              <a:buClr>
                <a:srgbClr val="42B883"/>
              </a:buClr>
              <a:buSzPct val="100000"/>
              <a:buFont typeface="Arial"/>
              <a:buChar char="•"/>
            </a:pPr>
            <a:r>
              <a:rPr sz="1900" b="0" i="0">
                <a:solidFill>
                  <a:srgbClr val="1F2A36"/>
                </a:solidFill>
              </a:rPr>
              <a:t>Read a name from </a:t>
            </a:r>
            <a:r>
              <a:rPr sz="1805" b="0" i="0">
                <a:solidFill>
                  <a:srgbClr val="8A2B52"/>
                </a:solidFill>
                <a:latin typeface="Consolas"/>
              </a:rPr>
              <a:t>process.argv</a:t>
            </a:r>
          </a:p>
          <a:p>
            <a:pPr marL="274320" indent="-256032">
              <a:spcAft>
                <a:spcPts val="855"/>
              </a:spcAft>
              <a:buClr>
                <a:srgbClr val="42B883"/>
              </a:buClr>
              <a:buSzPct val="100000"/>
              <a:buFont typeface="Arial"/>
              <a:buChar char="•"/>
            </a:pPr>
            <a:r>
              <a:rPr sz="1900" b="0" i="0">
                <a:solidFill>
                  <a:srgbClr val="1F2A36"/>
                </a:solidFill>
              </a:rPr>
              <a:t>Part 2: </a:t>
            </a:r>
            <a:r>
              <a:rPr sz="1805" b="0" i="0">
                <a:solidFill>
                  <a:srgbClr val="8A2B52"/>
                </a:solidFill>
                <a:latin typeface="Consolas"/>
              </a:rPr>
              <a:t>npm -v</a:t>
            </a:r>
            <a:r>
              <a:rPr sz="1900" b="0" i="0">
                <a:solidFill>
                  <a:srgbClr val="1F2A36"/>
                </a:solidFill>
              </a:rPr>
              <a:t>, </a:t>
            </a:r>
            <a:r>
              <a:rPr sz="1805" b="0" i="0">
                <a:solidFill>
                  <a:srgbClr val="8A2B52"/>
                </a:solidFill>
                <a:latin typeface="Consolas"/>
              </a:rPr>
              <a:t>npm ls</a:t>
            </a:r>
            <a:r>
              <a:rPr sz="1900" b="0" i="0">
                <a:solidFill>
                  <a:srgbClr val="1F2A36"/>
                </a:solidFill>
              </a:rPr>
              <a:t>, </a:t>
            </a:r>
            <a:r>
              <a:rPr sz="1805" b="0" i="0">
                <a:solidFill>
                  <a:srgbClr val="8A2B52"/>
                </a:solidFill>
                <a:latin typeface="Consolas"/>
              </a:rPr>
              <a:t>npm outdated</a:t>
            </a:r>
            <a:r>
              <a:rPr sz="1900" b="0" i="0">
                <a:solidFill>
                  <a:srgbClr val="1F2A36"/>
                </a:solidFill>
              </a:rPr>
              <a:t>, </a:t>
            </a:r>
            <a:r>
              <a:rPr sz="1805" b="0" i="0">
                <a:solidFill>
                  <a:srgbClr val="8A2B52"/>
                </a:solidFill>
                <a:latin typeface="Consolas"/>
              </a:rPr>
              <a:t>npm help</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46</a:t>
            </a:fld>
            <a:endParaRPr lang="en-US" sz="900">
              <a:solidFill>
                <a:srgbClr val="9AA7B4"/>
              </a:solidFill>
            </a:endParaRPr>
          </a:p>
        </p:txBody>
      </p:sp>
    </p:spTree>
    <p:extLst>
      <p:ext uri="{BB962C8B-B14F-4D97-AF65-F5344CB8AC3E}">
        <p14:creationId xmlns:p14="http://schemas.microsoft.com/office/powerpoint/2010/main" val="2808501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072B-F5E5-9444-8FFE-8E677BA3423D}"/>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Tooling</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npm, package.json, linting, transpiling and bundling</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47</a:t>
            </a:fld>
            <a:endParaRPr lang="en-US" sz="900">
              <a:solidFill>
                <a:srgbClr val="9FB3C4"/>
              </a:solidFill>
            </a:endParaRPr>
          </a:p>
        </p:txBody>
      </p:sp>
    </p:spTree>
    <p:extLst>
      <p:ext uri="{BB962C8B-B14F-4D97-AF65-F5344CB8AC3E}">
        <p14:creationId xmlns:p14="http://schemas.microsoft.com/office/powerpoint/2010/main" val="36160574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E5E6-A87C-644D-A745-5DB2E475F9B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Why Have Tooling?</a:t>
            </a:r>
          </a:p>
        </p:txBody>
      </p:sp>
      <p:sp>
        <p:nvSpPr>
          <p:cNvPr id="3" name="Body"/>
          <p:cNvSpPr txBox="1"/>
          <p:nvPr/>
        </p:nvSpPr>
        <p:spPr>
          <a:xfrm>
            <a:off x="457200" y="1261872"/>
            <a:ext cx="8229600" cy="3357626"/>
          </a:xfrm>
          <a:prstGeom prst="rect">
            <a:avLst/>
          </a:prstGeom>
          <a:noFill/>
        </p:spPr>
        <p:txBody>
          <a:bodyPr wrap="square" lIns="0" tIns="0" rIns="0" bIns="0">
            <a:noAutofit/>
          </a:bodyPr>
          <a:lstStyle/>
          <a:p>
            <a:pPr marL="0" indent="0">
              <a:spcAft>
                <a:spcPts val="990"/>
              </a:spcAft>
              <a:buNone/>
            </a:pPr>
            <a:r>
              <a:rPr sz="2200" b="0" i="0">
                <a:solidFill>
                  <a:srgbClr val="1F2A36"/>
                </a:solidFill>
              </a:rPr>
              <a:t>Front-end web development is complex. Modern tooling helps you achieve four software-development best practices:</a:t>
            </a:r>
          </a:p>
          <a:p>
            <a:pPr marL="274320" indent="-256032">
              <a:spcAft>
                <a:spcPts val="990"/>
              </a:spcAft>
              <a:buClr>
                <a:srgbClr val="42B883"/>
              </a:buClr>
              <a:buSzPct val="100000"/>
              <a:buFont typeface="Arial"/>
              <a:buChar char="•"/>
            </a:pPr>
            <a:r>
              <a:rPr sz="2200" b="1" i="0">
                <a:solidFill>
                  <a:srgbClr val="1F2A36"/>
                </a:solidFill>
              </a:rPr>
              <a:t>Version control</a:t>
            </a:r>
            <a:r>
              <a:rPr sz="2200" b="0" i="0">
                <a:solidFill>
                  <a:srgbClr val="1F2A36"/>
                </a:solidFill>
              </a:rPr>
              <a:t> — every change tracked (git)</a:t>
            </a:r>
          </a:p>
          <a:p>
            <a:pPr marL="274320" indent="-256032">
              <a:spcAft>
                <a:spcPts val="990"/>
              </a:spcAft>
              <a:buClr>
                <a:srgbClr val="42B883"/>
              </a:buClr>
              <a:buSzPct val="100000"/>
              <a:buFont typeface="Arial"/>
              <a:buChar char="•"/>
            </a:pPr>
            <a:r>
              <a:rPr sz="2200" b="1" i="0">
                <a:solidFill>
                  <a:srgbClr val="1F2A36"/>
                </a:solidFill>
              </a:rPr>
              <a:t>Automation</a:t>
            </a:r>
            <a:r>
              <a:rPr sz="2200" b="0" i="0">
                <a:solidFill>
                  <a:srgbClr val="1F2A36"/>
                </a:solidFill>
              </a:rPr>
              <a:t> — linting, testing and building run with one command</a:t>
            </a:r>
          </a:p>
          <a:p>
            <a:pPr marL="274320" indent="-256032">
              <a:spcAft>
                <a:spcPts val="990"/>
              </a:spcAft>
              <a:buClr>
                <a:srgbClr val="42B883"/>
              </a:buClr>
              <a:buSzPct val="100000"/>
              <a:buFont typeface="Arial"/>
              <a:buChar char="•"/>
            </a:pPr>
            <a:r>
              <a:rPr sz="2200" b="1" i="0">
                <a:solidFill>
                  <a:srgbClr val="1F2A36"/>
                </a:solidFill>
              </a:rPr>
              <a:t>Reproducible builds</a:t>
            </a:r>
            <a:r>
              <a:rPr sz="2200" b="0" i="0">
                <a:solidFill>
                  <a:srgbClr val="1F2A36"/>
                </a:solidFill>
              </a:rPr>
              <a:t> — the same inputs produce the same output on every machine (lockfiles)</a:t>
            </a:r>
          </a:p>
          <a:p>
            <a:pPr marL="274320" indent="-256032">
              <a:spcAft>
                <a:spcPts val="990"/>
              </a:spcAft>
              <a:buClr>
                <a:srgbClr val="42B883"/>
              </a:buClr>
              <a:buSzPct val="100000"/>
              <a:buFont typeface="Arial"/>
              <a:buChar char="•"/>
            </a:pPr>
            <a:r>
              <a:rPr sz="2200" b="1" i="0">
                <a:solidFill>
                  <a:srgbClr val="1F2A36"/>
                </a:solidFill>
              </a:rPr>
              <a:t>Test-driven development</a:t>
            </a:r>
            <a:r>
              <a:rPr sz="2200" b="0" i="0">
                <a:solidFill>
                  <a:srgbClr val="1F2A36"/>
                </a:solidFill>
              </a:rPr>
              <a:t> — fast, automatic feedback</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48</a:t>
            </a:fld>
            <a:endParaRPr lang="en-US" sz="900">
              <a:solidFill>
                <a:srgbClr val="9AA7B4"/>
              </a:solidFill>
            </a:endParaRPr>
          </a:p>
        </p:txBody>
      </p:sp>
    </p:spTree>
    <p:extLst>
      <p:ext uri="{BB962C8B-B14F-4D97-AF65-F5344CB8AC3E}">
        <p14:creationId xmlns:p14="http://schemas.microsoft.com/office/powerpoint/2010/main" val="839139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npm</a:t>
            </a:r>
          </a:p>
        </p:txBody>
      </p:sp>
      <p:sp>
        <p:nvSpPr>
          <p:cNvPr id="3" name="Body"/>
          <p:cNvSpPr txBox="1"/>
          <p:nvPr/>
        </p:nvSpPr>
        <p:spPr>
          <a:xfrm>
            <a:off x="457200" y="1261872"/>
            <a:ext cx="8229600" cy="269824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Installs, publishes and manages Node packages</a:t>
            </a:r>
          </a:p>
          <a:p>
            <a:pPr marL="274320" indent="-256032">
              <a:spcAft>
                <a:spcPts val="990"/>
              </a:spcAft>
              <a:buClr>
                <a:srgbClr val="42B883"/>
              </a:buClr>
              <a:buSzPct val="100000"/>
              <a:buFont typeface="Arial"/>
              <a:buChar char="•"/>
            </a:pPr>
            <a:r>
              <a:rPr sz="2200" b="0" i="0">
                <a:solidFill>
                  <a:srgbClr val="1F2A36"/>
                </a:solidFill>
              </a:rPr>
              <a:t>Bundled and installed with Node</a:t>
            </a:r>
          </a:p>
          <a:p>
            <a:pPr marL="274320" indent="-256032">
              <a:spcAft>
                <a:spcPts val="990"/>
              </a:spcAft>
              <a:buClr>
                <a:srgbClr val="42B883"/>
              </a:buClr>
              <a:buSzPct val="100000"/>
              <a:buFont typeface="Arial"/>
              <a:buChar char="•"/>
            </a:pPr>
            <a:r>
              <a:rPr sz="2200" b="0" i="0">
                <a:solidFill>
                  <a:srgbClr val="1F2A36"/>
                </a:solidFill>
              </a:rPr>
              <a:t>Installs packages from the </a:t>
            </a:r>
            <a:r>
              <a:rPr sz="2200" b="1" i="0">
                <a:solidFill>
                  <a:srgbClr val="1F2A36"/>
                </a:solidFill>
              </a:rPr>
              <a:t>npm registry</a:t>
            </a:r>
            <a:r>
              <a:rPr sz="2200" b="0" i="0">
                <a:solidFill>
                  <a:srgbClr val="1F2A36"/>
                </a:solidFill>
              </a:rPr>
              <a:t> (npmjs.com)</a:t>
            </a:r>
          </a:p>
          <a:p>
            <a:pPr marL="274320" indent="-256032">
              <a:spcAft>
                <a:spcPts val="990"/>
              </a:spcAft>
              <a:buClr>
                <a:srgbClr val="42B883"/>
              </a:buClr>
              <a:buSzPct val="100000"/>
              <a:buFont typeface="Arial"/>
              <a:buChar char="•"/>
            </a:pPr>
            <a:r>
              <a:rPr sz="2200" b="0" i="0">
                <a:solidFill>
                  <a:srgbClr val="1F2A36"/>
                </a:solidFill>
              </a:rPr>
              <a:t>Runs project scripts: </a:t>
            </a:r>
            <a:r>
              <a:rPr sz="2090" b="0" i="0">
                <a:solidFill>
                  <a:srgbClr val="8A2B52"/>
                </a:solidFill>
                <a:latin typeface="Consolas"/>
              </a:rPr>
              <a:t>npm run dev</a:t>
            </a:r>
            <a:r>
              <a:rPr sz="2200" b="0" i="0">
                <a:solidFill>
                  <a:srgbClr val="1F2A36"/>
                </a:solidFill>
              </a:rPr>
              <a:t>, </a:t>
            </a:r>
            <a:r>
              <a:rPr sz="2090" b="0" i="0">
                <a:solidFill>
                  <a:srgbClr val="8A2B52"/>
                </a:solidFill>
                <a:latin typeface="Consolas"/>
              </a:rPr>
              <a:t>npm test</a:t>
            </a:r>
          </a:p>
          <a:p>
            <a:pPr marL="274320" indent="-256032">
              <a:spcAft>
                <a:spcPts val="990"/>
              </a:spcAft>
              <a:buClr>
                <a:srgbClr val="42B883"/>
              </a:buClr>
              <a:buSzPct val="100000"/>
              <a:buFont typeface="Arial"/>
              <a:buChar char="•"/>
            </a:pPr>
            <a:r>
              <a:rPr sz="2090" b="0" i="0">
                <a:solidFill>
                  <a:srgbClr val="8A2B52"/>
                </a:solidFill>
                <a:latin typeface="Consolas"/>
              </a:rPr>
              <a:t>npx</a:t>
            </a:r>
            <a:r>
              <a:rPr sz="2200" b="0" i="0">
                <a:solidFill>
                  <a:srgbClr val="1F2A36"/>
                </a:solidFill>
              </a:rPr>
              <a:t> runs a package's command without installing it globally</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49</a:t>
            </a:fld>
            <a:endParaRPr lang="en-US" sz="900">
              <a:solidFill>
                <a:srgbClr val="9AA7B4"/>
              </a:solidFill>
            </a:endParaRPr>
          </a:p>
        </p:txBody>
      </p:sp>
    </p:spTree>
    <p:extLst>
      <p:ext uri="{BB962C8B-B14F-4D97-AF65-F5344CB8AC3E}">
        <p14:creationId xmlns:p14="http://schemas.microsoft.com/office/powerpoint/2010/main" val="4073180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8F96-B5E0-634E-A804-E8955EAABF8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Other Package Managers</a:t>
            </a:r>
          </a:p>
        </p:txBody>
      </p:sp>
      <p:sp>
        <p:nvSpPr>
          <p:cNvPr id="3" name="Body"/>
          <p:cNvSpPr txBox="1"/>
          <p:nvPr/>
        </p:nvSpPr>
        <p:spPr>
          <a:xfrm>
            <a:off x="457200" y="1261872"/>
            <a:ext cx="8229600" cy="329552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npm</a:t>
            </a:r>
            <a:r>
              <a:rPr sz="2200" b="0" i="0">
                <a:solidFill>
                  <a:srgbClr val="1F2A36"/>
                </a:solidFill>
              </a:rPr>
              <a:t> ships with Node.js and is the default</a:t>
            </a:r>
          </a:p>
          <a:p>
            <a:pPr marL="274320" indent="-256032">
              <a:spcAft>
                <a:spcPts val="990"/>
              </a:spcAft>
              <a:buClr>
                <a:srgbClr val="42B883"/>
              </a:buClr>
              <a:buSzPct val="100000"/>
              <a:buFont typeface="Arial"/>
              <a:buChar char="•"/>
            </a:pPr>
            <a:r>
              <a:rPr sz="2200" b="1" i="0">
                <a:solidFill>
                  <a:srgbClr val="1F2A36"/>
                </a:solidFill>
              </a:rPr>
              <a:t>yarn</a:t>
            </a:r>
            <a:r>
              <a:rPr sz="2200" b="0" i="0">
                <a:solidFill>
                  <a:srgbClr val="1F2A36"/>
                </a:solidFill>
              </a:rPr>
              <a:t> — created by Facebook; offers a Plug'n'Play install mode</a:t>
            </a:r>
          </a:p>
          <a:p>
            <a:pPr marL="274320" indent="-256032">
              <a:spcAft>
                <a:spcPts val="990"/>
              </a:spcAft>
              <a:buClr>
                <a:srgbClr val="42B883"/>
              </a:buClr>
              <a:buSzPct val="100000"/>
              <a:buFont typeface="Arial"/>
              <a:buChar char="•"/>
            </a:pPr>
            <a:r>
              <a:rPr sz="2200" b="1" i="0">
                <a:solidFill>
                  <a:srgbClr val="1F2A36"/>
                </a:solidFill>
              </a:rPr>
              <a:t>pnpm</a:t>
            </a:r>
            <a:r>
              <a:rPr sz="2200" b="0" i="0">
                <a:solidFill>
                  <a:srgbClr val="1F2A36"/>
                </a:solidFill>
              </a:rPr>
              <a:t> — hard-links packages from a global store, so disk use stays flat</a:t>
            </a:r>
          </a:p>
          <a:p>
            <a:pPr marL="566928" indent="-256032">
              <a:spcAft>
                <a:spcPts val="855"/>
              </a:spcAft>
              <a:buClr>
                <a:srgbClr val="6B7B8C"/>
              </a:buClr>
              <a:buSzPct val="100000"/>
              <a:buFont typeface="Arial"/>
              <a:buChar char="–"/>
            </a:pPr>
            <a:r>
              <a:rPr sz="1900" b="0" i="0">
                <a:solidFill>
                  <a:srgbClr val="3A4A5A"/>
                </a:solidFill>
              </a:rPr>
              <a:t>Strict by default: a package can only import what it declares</a:t>
            </a:r>
          </a:p>
          <a:p>
            <a:pPr marL="274320" indent="-256032">
              <a:spcAft>
                <a:spcPts val="990"/>
              </a:spcAft>
              <a:buClr>
                <a:srgbClr val="42B883"/>
              </a:buClr>
              <a:buSzPct val="100000"/>
              <a:buFont typeface="Arial"/>
              <a:buChar char="•"/>
            </a:pPr>
            <a:r>
              <a:rPr sz="2200" b="1" i="0">
                <a:solidFill>
                  <a:srgbClr val="1F2A36"/>
                </a:solidFill>
              </a:rPr>
              <a:t>bun</a:t>
            </a:r>
            <a:r>
              <a:rPr sz="2200" b="0" i="0">
                <a:solidFill>
                  <a:srgbClr val="1F2A36"/>
                </a:solidFill>
              </a:rPr>
              <a:t> — a JavaScript runtime with a very fast built-in installer</a:t>
            </a:r>
          </a:p>
        </p:txBody>
      </p:sp>
      <p:sp>
        <p:nvSpPr>
          <p:cNvPr id="4" name="Tip"/>
          <p:cNvSpPr/>
          <p:nvPr/>
        </p:nvSpPr>
        <p:spPr>
          <a:xfrm>
            <a:off x="457200" y="4612259"/>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All four read </a:t>
            </a:r>
            <a:r>
              <a:rPr sz="1900" b="0" i="0">
                <a:solidFill>
                  <a:srgbClr val="8A2B52"/>
                </a:solidFill>
                <a:latin typeface="Consolas"/>
              </a:rPr>
              <a:t>package.json</a:t>
            </a:r>
            <a:r>
              <a:rPr sz="2000" b="0" i="0">
                <a:solidFill>
                  <a:srgbClr val="1F2A36"/>
                </a:solidFill>
              </a:rPr>
              <a:t>. They differ mainly in their lockfile and how they lay out </a:t>
            </a:r>
            <a:r>
              <a:rPr sz="1900" b="0" i="0">
                <a:solidFill>
                  <a:srgbClr val="8A2B52"/>
                </a:solidFill>
                <a:latin typeface="Consolas"/>
              </a:rPr>
              <a:t>node_modules</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50</a:t>
            </a:fld>
            <a:endParaRPr lang="en-US" sz="900">
              <a:solidFill>
                <a:srgbClr val="9AA7B4"/>
              </a:solidFill>
            </a:endParaRPr>
          </a:p>
        </p:txBody>
      </p:sp>
    </p:spTree>
    <p:extLst>
      <p:ext uri="{BB962C8B-B14F-4D97-AF65-F5344CB8AC3E}">
        <p14:creationId xmlns:p14="http://schemas.microsoft.com/office/powerpoint/2010/main" val="3697293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lvl="0" indent="0" algn="l" rtl="0">
              <a:buNone/>
            </a:pPr>
            <a:r>
              <a:rPr sz="3000" b="1" i="0" cap="none">
                <a:solidFill>
                  <a:srgbClr val="2C3E50"/>
                </a:solidFill>
              </a:rPr>
              <a:t>Initialize npm</a:t>
            </a:r>
          </a:p>
        </p:txBody>
      </p:sp>
      <p:pic>
        <p:nvPicPr>
          <p:cNvPr id="7" name="Content Placeholder 4" descr="Screen Shot 2016-04-18 at 2.16.11 PM.png">
            <a:extLst>
              <a:ext uri="{FF2B5EF4-FFF2-40B4-BE49-F238E27FC236}">
                <a16:creationId xmlns:a16="http://schemas.microsoft.com/office/drawing/2014/main" id="{740040EC-E481-F1DC-5C84-47526EF84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320" y="2350423"/>
            <a:ext cx="3840480" cy="2980112"/>
          </a:xfrm>
          <a:prstGeom prst="rect">
            <a:avLst/>
          </a:prstGeom>
          <a:ln w="12700">
            <a:solidFill>
              <a:srgbClr val="D6DEE6"/>
            </a:solidFill>
          </a:ln>
        </p:spPr>
      </p:pic>
      <p:sp>
        <p:nvSpPr>
          <p:cNvPr id="8" name="Chip LAB 07"/>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07</a:t>
            </a:r>
          </a:p>
        </p:txBody>
      </p:sp>
      <p:sp>
        <p:nvSpPr>
          <p:cNvPr id="9"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Create a package.json with npm init and automate a tiny build with npm scripts.</a:t>
            </a:r>
          </a:p>
        </p:txBody>
      </p:sp>
      <p:sp>
        <p:nvSpPr>
          <p:cNvPr id="11" name="Body"/>
          <p:cNvSpPr txBox="1"/>
          <p:nvPr/>
        </p:nvSpPr>
        <p:spPr>
          <a:xfrm>
            <a:off x="457200" y="2715768"/>
            <a:ext cx="4160520" cy="324612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npm init</a:t>
            </a:r>
            <a:r>
              <a:rPr sz="2000" b="0" i="0">
                <a:solidFill>
                  <a:srgbClr val="1F2A36"/>
                </a:solidFill>
              </a:rPr>
              <a:t> in </a:t>
            </a:r>
            <a:r>
              <a:rPr sz="1900" b="0" i="0">
                <a:solidFill>
                  <a:srgbClr val="8A2B52"/>
                </a:solidFill>
                <a:latin typeface="Consolas"/>
              </a:rPr>
              <a:t>labs/lab07</a:t>
            </a:r>
          </a:p>
          <a:p>
            <a:pPr marL="274320" indent="-256032">
              <a:spcAft>
                <a:spcPts val="900"/>
              </a:spcAft>
              <a:buClr>
                <a:srgbClr val="42B883"/>
              </a:buClr>
              <a:buSzPct val="100000"/>
              <a:buFont typeface="Arial"/>
              <a:buChar char="•"/>
            </a:pPr>
            <a:r>
              <a:rPr sz="2000" b="0" i="0">
                <a:solidFill>
                  <a:srgbClr val="1F2A36"/>
                </a:solidFill>
              </a:rPr>
              <a:t>Look at </a:t>
            </a:r>
            <a:r>
              <a:rPr sz="1900" b="0" i="0">
                <a:solidFill>
                  <a:srgbClr val="8A2B52"/>
                </a:solidFill>
                <a:latin typeface="Consolas"/>
              </a:rPr>
              <a:t>package.json</a:t>
            </a:r>
            <a:r>
              <a:rPr sz="2000" b="0" i="0">
                <a:solidFill>
                  <a:srgbClr val="1F2A36"/>
                </a:solidFill>
              </a:rPr>
              <a:t>; run </a:t>
            </a:r>
            <a:r>
              <a:rPr sz="1900" b="0" i="0">
                <a:solidFill>
                  <a:srgbClr val="8A2B52"/>
                </a:solidFill>
                <a:latin typeface="Consolas"/>
              </a:rPr>
              <a:t>npm install</a:t>
            </a:r>
            <a:r>
              <a:rPr sz="2000" b="0" i="0">
                <a:solidFill>
                  <a:srgbClr val="1F2A36"/>
                </a:solidFill>
              </a:rPr>
              <a:t> to create </a:t>
            </a:r>
            <a:r>
              <a:rPr sz="1900" b="0" i="0">
                <a:solidFill>
                  <a:srgbClr val="8A2B52"/>
                </a:solidFill>
                <a:latin typeface="Consolas"/>
              </a:rPr>
              <a:t>package-lock.json</a:t>
            </a:r>
          </a:p>
          <a:p>
            <a:pPr marL="274320" indent="-256032">
              <a:spcAft>
                <a:spcPts val="900"/>
              </a:spcAft>
              <a:buClr>
                <a:srgbClr val="42B883"/>
              </a:buClr>
              <a:buSzPct val="100000"/>
              <a:buFont typeface="Arial"/>
              <a:buChar char="•"/>
            </a:pPr>
            <a:r>
              <a:rPr sz="2000" b="0" i="0">
                <a:solidFill>
                  <a:srgbClr val="1F2A36"/>
                </a:solidFill>
              </a:rPr>
              <a:t>Run scripts with </a:t>
            </a:r>
            <a:r>
              <a:rPr sz="1900" b="0" i="0">
                <a:solidFill>
                  <a:srgbClr val="8A2B52"/>
                </a:solidFill>
                <a:latin typeface="Consolas"/>
              </a:rPr>
              <a:t>npm run</a:t>
            </a:r>
            <a:r>
              <a:rPr sz="2000" b="0" i="0">
                <a:solidFill>
                  <a:srgbClr val="1F2A36"/>
                </a:solidFill>
              </a:rPr>
              <a:t> and </a:t>
            </a:r>
            <a:r>
              <a:rPr sz="1900" b="0" i="0">
                <a:solidFill>
                  <a:srgbClr val="8A2B52"/>
                </a:solidFill>
                <a:latin typeface="Consolas"/>
              </a:rPr>
              <a:t>npm run test</a:t>
            </a:r>
          </a:p>
          <a:p>
            <a:pPr marL="274320" indent="-256032">
              <a:spcAft>
                <a:spcPts val="900"/>
              </a:spcAft>
              <a:buClr>
                <a:srgbClr val="42B883"/>
              </a:buClr>
              <a:buSzPct val="100000"/>
              <a:buFont typeface="Arial"/>
              <a:buChar char="•"/>
            </a:pPr>
            <a:r>
              <a:rPr sz="2000" b="0" i="0">
                <a:solidFill>
                  <a:srgbClr val="1F2A36"/>
                </a:solidFill>
              </a:rPr>
              <a:t>Add a </a:t>
            </a:r>
            <a:r>
              <a:rPr sz="1900" b="0" i="0">
                <a:solidFill>
                  <a:srgbClr val="8A2B52"/>
                </a:solidFill>
                <a:latin typeface="Consolas"/>
              </a:rPr>
              <a:t>build</a:t>
            </a:r>
            <a:r>
              <a:rPr sz="2000" b="0" i="0">
                <a:solidFill>
                  <a:srgbClr val="1F2A36"/>
                </a:solidFill>
              </a:rPr>
              <a:t> script and a </a:t>
            </a:r>
            <a:r>
              <a:rPr sz="1900" b="0" i="0">
                <a:solidFill>
                  <a:srgbClr val="8A2B52"/>
                </a:solidFill>
                <a:latin typeface="Consolas"/>
              </a:rPr>
              <a:t>prebuild</a:t>
            </a:r>
            <a:r>
              <a:rPr sz="2000" b="0" i="0">
                <a:solidFill>
                  <a:srgbClr val="1F2A36"/>
                </a:solidFill>
              </a:rPr>
              <a:t> script that runs your tests first</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51</a:t>
            </a:fld>
            <a:endParaRPr lang="en-US" sz="900">
              <a:solidFill>
                <a:srgbClr val="9AA7B4"/>
              </a:solidFill>
            </a:endParaRPr>
          </a:p>
        </p:txBody>
      </p:sp>
    </p:spTree>
    <p:extLst>
      <p:ext uri="{BB962C8B-B14F-4D97-AF65-F5344CB8AC3E}">
        <p14:creationId xmlns:p14="http://schemas.microsoft.com/office/powerpoint/2010/main" val="994024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node_modules</a:t>
            </a:r>
          </a:p>
        </p:txBody>
      </p:sp>
      <p:sp>
        <p:nvSpPr>
          <p:cNvPr id="3" name="Body"/>
          <p:cNvSpPr txBox="1"/>
          <p:nvPr/>
        </p:nvSpPr>
        <p:spPr>
          <a:xfrm>
            <a:off x="457200" y="1261872"/>
            <a:ext cx="8229600" cy="335762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Two ways to install npm packages: </a:t>
            </a:r>
            <a:r>
              <a:rPr sz="2200" b="1" i="0">
                <a:solidFill>
                  <a:srgbClr val="1F2A36"/>
                </a:solidFill>
              </a:rPr>
              <a:t>locally</a:t>
            </a:r>
            <a:r>
              <a:rPr sz="2200" b="0" i="0">
                <a:solidFill>
                  <a:srgbClr val="1F2A36"/>
                </a:solidFill>
              </a:rPr>
              <a:t> or </a:t>
            </a:r>
            <a:r>
              <a:rPr sz="2200" b="1" i="0">
                <a:solidFill>
                  <a:srgbClr val="1F2A36"/>
                </a:solidFill>
              </a:rPr>
              <a:t>globally</a:t>
            </a:r>
          </a:p>
          <a:p>
            <a:pPr marL="274320" indent="-256032">
              <a:spcAft>
                <a:spcPts val="990"/>
              </a:spcAft>
              <a:buClr>
                <a:srgbClr val="42B883"/>
              </a:buClr>
              <a:buSzPct val="100000"/>
              <a:buFont typeface="Arial"/>
              <a:buChar char="•"/>
            </a:pPr>
            <a:r>
              <a:rPr sz="2200" b="0" i="0">
                <a:solidFill>
                  <a:srgbClr val="1F2A36"/>
                </a:solidFill>
              </a:rPr>
              <a:t>Local packages go into the </a:t>
            </a:r>
            <a:r>
              <a:rPr sz="2090" b="0" i="0">
                <a:solidFill>
                  <a:srgbClr val="8A2B52"/>
                </a:solidFill>
                <a:latin typeface="Consolas"/>
              </a:rPr>
              <a:t>node_modules</a:t>
            </a:r>
            <a:r>
              <a:rPr sz="2200" b="0" i="0">
                <a:solidFill>
                  <a:srgbClr val="1F2A36"/>
                </a:solidFill>
              </a:rPr>
              <a:t> directory of your project</a:t>
            </a:r>
          </a:p>
          <a:p>
            <a:pPr marL="274320" indent="-256032">
              <a:spcAft>
                <a:spcPts val="990"/>
              </a:spcAft>
              <a:buClr>
                <a:srgbClr val="42B883"/>
              </a:buClr>
              <a:buSzPct val="100000"/>
              <a:buFont typeface="Arial"/>
              <a:buChar char="•"/>
            </a:pPr>
            <a:r>
              <a:rPr sz="2200" b="0" i="0">
                <a:solidFill>
                  <a:srgbClr val="1F2A36"/>
                </a:solidFill>
              </a:rPr>
              <a:t>Always run </a:t>
            </a:r>
            <a:r>
              <a:rPr sz="2090" b="0" i="0">
                <a:solidFill>
                  <a:srgbClr val="8A2B52"/>
                </a:solidFill>
                <a:latin typeface="Consolas"/>
              </a:rPr>
              <a:t>npm install</a:t>
            </a:r>
            <a:r>
              <a:rPr sz="2200" b="0" i="0">
                <a:solidFill>
                  <a:srgbClr val="1F2A36"/>
                </a:solidFill>
              </a:rPr>
              <a:t> from the folder that holds </a:t>
            </a:r>
            <a:r>
              <a:rPr sz="2090" b="0" i="0">
                <a:solidFill>
                  <a:srgbClr val="8A2B52"/>
                </a:solidFill>
                <a:latin typeface="Consolas"/>
              </a:rPr>
              <a:t>package.json</a:t>
            </a:r>
            <a:r>
              <a:rPr sz="2200" b="0" i="0">
                <a:solidFill>
                  <a:srgbClr val="1F2A36"/>
                </a:solidFill>
              </a:rPr>
              <a:t> — the root of your project</a:t>
            </a:r>
          </a:p>
          <a:p>
            <a:pPr marL="274320" indent="-256032">
              <a:spcAft>
                <a:spcPts val="990"/>
              </a:spcAft>
              <a:buClr>
                <a:srgbClr val="42B883"/>
              </a:buClr>
              <a:buSzPct val="100000"/>
              <a:buFont typeface="Arial"/>
              <a:buChar char="•"/>
            </a:pPr>
            <a:r>
              <a:rPr sz="2090" b="0" i="0">
                <a:solidFill>
                  <a:srgbClr val="8A2B52"/>
                </a:solidFill>
                <a:latin typeface="Consolas"/>
              </a:rPr>
              <a:t>npm update</a:t>
            </a:r>
            <a:r>
              <a:rPr sz="2200" b="0" i="0">
                <a:solidFill>
                  <a:srgbClr val="1F2A36"/>
                </a:solidFill>
              </a:rPr>
              <a:t> updates local packages within their allowed ranges</a:t>
            </a:r>
          </a:p>
          <a:p>
            <a:pPr marL="274320" indent="-256032">
              <a:spcAft>
                <a:spcPts val="990"/>
              </a:spcAft>
              <a:buClr>
                <a:srgbClr val="42B883"/>
              </a:buClr>
              <a:buSzPct val="100000"/>
              <a:buFont typeface="Arial"/>
              <a:buChar char="•"/>
            </a:pPr>
            <a:r>
              <a:rPr sz="2090" b="0" i="0">
                <a:solidFill>
                  <a:srgbClr val="8A2B52"/>
                </a:solidFill>
                <a:latin typeface="Consolas"/>
              </a:rPr>
              <a:t>npm outdated</a:t>
            </a:r>
            <a:r>
              <a:rPr sz="2200" b="0" i="0">
                <a:solidFill>
                  <a:srgbClr val="1F2A36"/>
                </a:solidFill>
              </a:rPr>
              <a:t> shows which packages have newer versions</a:t>
            </a:r>
          </a:p>
        </p:txBody>
      </p:sp>
      <p:sp>
        <p:nvSpPr>
          <p:cNvPr id="4" name="Tip"/>
          <p:cNvSpPr/>
          <p:nvPr/>
        </p:nvSpPr>
        <p:spPr>
          <a:xfrm>
            <a:off x="457200" y="467436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Never commit </a:t>
            </a:r>
            <a:r>
              <a:rPr sz="1900" b="0" i="0">
                <a:solidFill>
                  <a:srgbClr val="8A2B52"/>
                </a:solidFill>
                <a:latin typeface="Consolas"/>
              </a:rPr>
              <a:t>node_modules</a:t>
            </a:r>
            <a:r>
              <a:rPr sz="2000" b="0" i="0">
                <a:solidFill>
                  <a:srgbClr val="1F2A36"/>
                </a:solidFill>
              </a:rPr>
              <a:t>. It's rebuilt from </a:t>
            </a:r>
            <a:r>
              <a:rPr sz="1900" b="0" i="0">
                <a:solidFill>
                  <a:srgbClr val="8A2B52"/>
                </a:solidFill>
                <a:latin typeface="Consolas"/>
              </a:rPr>
              <a:t>package.json</a:t>
            </a:r>
            <a:r>
              <a:rPr sz="2000" b="0" i="0">
                <a:solidFill>
                  <a:srgbClr val="1F2A36"/>
                </a:solidFill>
              </a:rPr>
              <a:t> and the lockfile.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52</a:t>
            </a:fld>
            <a:endParaRPr lang="en-US" sz="900">
              <a:solidFill>
                <a:srgbClr val="9AA7B4"/>
              </a:solidFill>
            </a:endParaRPr>
          </a:p>
        </p:txBody>
      </p:sp>
    </p:spTree>
    <p:extLst>
      <p:ext uri="{BB962C8B-B14F-4D97-AF65-F5344CB8AC3E}">
        <p14:creationId xmlns:p14="http://schemas.microsoft.com/office/powerpoint/2010/main" val="301777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package.json and Semantic Versioning</a:t>
            </a:r>
          </a:p>
        </p:txBody>
      </p:sp>
      <p:sp>
        <p:nvSpPr>
          <p:cNvPr id="3" name="Body"/>
          <p:cNvSpPr txBox="1"/>
          <p:nvPr/>
        </p:nvSpPr>
        <p:spPr>
          <a:xfrm>
            <a:off x="457200" y="1261872"/>
            <a:ext cx="8229600" cy="42078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Manages locally installed npm packages</a:t>
            </a:r>
          </a:p>
          <a:p>
            <a:pPr marL="274320" indent="-256032">
              <a:spcAft>
                <a:spcPts val="990"/>
              </a:spcAft>
              <a:buClr>
                <a:srgbClr val="42B883"/>
              </a:buClr>
              <a:buSzPct val="100000"/>
              <a:buFont typeface="Arial"/>
              <a:buChar char="•"/>
            </a:pPr>
            <a:r>
              <a:rPr sz="2200" b="0" i="0">
                <a:solidFill>
                  <a:srgbClr val="1F2A36"/>
                </a:solidFill>
              </a:rPr>
              <a:t>Documents the packages your project depends on, and the version </a:t>
            </a:r>
            <a:r>
              <a:rPr sz="2200" b="1" i="0">
                <a:solidFill>
                  <a:srgbClr val="1F2A36"/>
                </a:solidFill>
              </a:rPr>
              <a:t>ranges</a:t>
            </a:r>
            <a:r>
              <a:rPr sz="2200" b="0" i="0">
                <a:solidFill>
                  <a:srgbClr val="1F2A36"/>
                </a:solidFill>
              </a:rPr>
              <a:t> it can use</a:t>
            </a:r>
          </a:p>
          <a:p>
            <a:pPr marL="274320" indent="-256032">
              <a:spcAft>
                <a:spcPts val="990"/>
              </a:spcAft>
              <a:buClr>
                <a:srgbClr val="42B883"/>
              </a:buClr>
              <a:buSzPct val="100000"/>
              <a:buFont typeface="Arial"/>
              <a:buChar char="•"/>
            </a:pPr>
            <a:r>
              <a:rPr sz="2200" b="0" i="0">
                <a:solidFill>
                  <a:srgbClr val="1F2A36"/>
                </a:solidFill>
              </a:rPr>
              <a:t>With the lockfile, makes your build reproducible</a:t>
            </a:r>
          </a:p>
          <a:p>
            <a:pPr marL="274320" indent="-256032">
              <a:spcAft>
                <a:spcPts val="990"/>
              </a:spcAft>
              <a:buClr>
                <a:srgbClr val="42B883"/>
              </a:buClr>
              <a:buSzPct val="100000"/>
              <a:buFont typeface="Arial"/>
              <a:buChar char="•"/>
            </a:pPr>
            <a:r>
              <a:rPr sz="2200" b="0" i="0">
                <a:solidFill>
                  <a:srgbClr val="1F2A36"/>
                </a:solidFill>
              </a:rPr>
              <a:t>Versions use </a:t>
            </a:r>
            <a:r>
              <a:rPr sz="2200" b="1" i="0">
                <a:solidFill>
                  <a:srgbClr val="1F2A36"/>
                </a:solidFill>
              </a:rPr>
              <a:t>semver</a:t>
            </a:r>
            <a:r>
              <a:rPr sz="2200" b="0" i="0">
                <a:solidFill>
                  <a:srgbClr val="1F2A36"/>
                </a:solidFill>
              </a:rPr>
              <a:t>: </a:t>
            </a:r>
            <a:r>
              <a:rPr sz="2090" b="0" i="0">
                <a:solidFill>
                  <a:srgbClr val="8A2B52"/>
                </a:solidFill>
                <a:latin typeface="Consolas"/>
              </a:rPr>
              <a:t>MAJOR.MINOR.PATCH</a:t>
            </a:r>
            <a:r>
              <a:rPr sz="2200" b="0" i="0">
                <a:solidFill>
                  <a:srgbClr val="1F2A36"/>
                </a:solidFill>
              </a:rPr>
              <a:t> — e.g. </a:t>
            </a:r>
            <a:r>
              <a:rPr sz="2090" b="0" i="0">
                <a:solidFill>
                  <a:srgbClr val="8A2B52"/>
                </a:solidFill>
                <a:latin typeface="Consolas"/>
              </a:rPr>
              <a:t>3.5.13</a:t>
            </a:r>
          </a:p>
          <a:p>
            <a:pPr marL="274320" indent="-256032">
              <a:spcAft>
                <a:spcPts val="990"/>
              </a:spcAft>
              <a:buClr>
                <a:srgbClr val="42B883"/>
              </a:buClr>
              <a:buSzPct val="100000"/>
              <a:buFont typeface="Arial"/>
              <a:buChar char="•"/>
            </a:pPr>
            <a:r>
              <a:rPr sz="2200" b="0" i="0">
                <a:solidFill>
                  <a:srgbClr val="1F2A36"/>
                </a:solidFill>
              </a:rPr>
              <a:t>Range operators:</a:t>
            </a:r>
          </a:p>
          <a:p>
            <a:pPr marL="566928" indent="-256032">
              <a:spcAft>
                <a:spcPts val="855"/>
              </a:spcAft>
              <a:buClr>
                <a:srgbClr val="6B7B8C"/>
              </a:buClr>
              <a:buSzPct val="100000"/>
              <a:buFont typeface="Arial"/>
              <a:buChar char="–"/>
            </a:pPr>
            <a:r>
              <a:rPr sz="1805" b="0" i="0">
                <a:solidFill>
                  <a:srgbClr val="8A2B52"/>
                </a:solidFill>
                <a:latin typeface="Consolas"/>
              </a:rPr>
              <a:t>~3.5.13</a:t>
            </a:r>
            <a:r>
              <a:rPr sz="1900" b="0" i="0">
                <a:solidFill>
                  <a:srgbClr val="3A4A5A"/>
                </a:solidFill>
              </a:rPr>
              <a:t> — patch updates only: </a:t>
            </a:r>
            <a:r>
              <a:rPr sz="1805" b="0" i="0">
                <a:solidFill>
                  <a:srgbClr val="8A2B52"/>
                </a:solidFill>
                <a:latin typeface="Consolas"/>
              </a:rPr>
              <a:t>3.5.x</a:t>
            </a:r>
          </a:p>
          <a:p>
            <a:pPr marL="566928" indent="-256032">
              <a:spcAft>
                <a:spcPts val="855"/>
              </a:spcAft>
              <a:buClr>
                <a:srgbClr val="6B7B8C"/>
              </a:buClr>
              <a:buSzPct val="100000"/>
              <a:buFont typeface="Arial"/>
              <a:buChar char="–"/>
            </a:pPr>
            <a:r>
              <a:rPr sz="1805" b="0" i="0">
                <a:solidFill>
                  <a:srgbClr val="8A2B52"/>
                </a:solidFill>
                <a:latin typeface="Consolas"/>
              </a:rPr>
              <a:t>^3.5.13</a:t>
            </a:r>
            <a:r>
              <a:rPr sz="1900" b="0" i="0">
                <a:solidFill>
                  <a:srgbClr val="3A4A5A"/>
                </a:solidFill>
              </a:rPr>
              <a:t> — minor and patch updates: </a:t>
            </a:r>
            <a:r>
              <a:rPr sz="1805" b="0" i="0">
                <a:solidFill>
                  <a:srgbClr val="8A2B52"/>
                </a:solidFill>
                <a:latin typeface="Consolas"/>
              </a:rPr>
              <a:t>3.x.x</a:t>
            </a:r>
            <a:r>
              <a:rPr sz="1900" b="0" i="0">
                <a:solidFill>
                  <a:srgbClr val="3A4A5A"/>
                </a:solidFill>
              </a:rPr>
              <a:t> (npm's default)</a:t>
            </a:r>
          </a:p>
          <a:p>
            <a:pPr marL="566928" indent="-256032">
              <a:spcAft>
                <a:spcPts val="855"/>
              </a:spcAft>
              <a:buClr>
                <a:srgbClr val="6B7B8C"/>
              </a:buClr>
              <a:buSzPct val="100000"/>
              <a:buFont typeface="Arial"/>
              <a:buChar char="–"/>
            </a:pPr>
            <a:r>
              <a:rPr sz="1805" b="0" i="0">
                <a:solidFill>
                  <a:srgbClr val="8A2B52"/>
                </a:solidFill>
                <a:latin typeface="Consolas"/>
              </a:rPr>
              <a:t>*</a:t>
            </a:r>
            <a:r>
              <a:rPr sz="1900" b="0" i="0">
                <a:solidFill>
                  <a:srgbClr val="3A4A5A"/>
                </a:solidFill>
              </a:rPr>
              <a:t> — any version (avoid)</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53</a:t>
            </a:fld>
            <a:endParaRPr lang="en-US" sz="900">
              <a:solidFill>
                <a:srgbClr val="9AA7B4"/>
              </a:solidFill>
            </a:endParaRPr>
          </a:p>
        </p:txBody>
      </p:sp>
    </p:spTree>
    <p:extLst>
      <p:ext uri="{BB962C8B-B14F-4D97-AF65-F5344CB8AC3E}">
        <p14:creationId xmlns:p14="http://schemas.microsoft.com/office/powerpoint/2010/main" val="23557390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rtl="0">
              <a:buNone/>
            </a:pPr>
            <a:r>
              <a:rPr sz="3000" b="1" i="0" cap="none">
                <a:solidFill>
                  <a:srgbClr val="2C3E50"/>
                </a:solidFill>
              </a:rPr>
              <a:t>npm install</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Downloads and installs a package</a:t>
            </a:r>
          </a:p>
        </p:txBody>
      </p:sp>
      <p:sp>
        <p:nvSpPr>
          <p:cNvPr id="4" name="Code"/>
          <p:cNvSpPr/>
          <p:nvPr/>
        </p:nvSpPr>
        <p:spPr>
          <a:xfrm>
            <a:off x="457200" y="1863597"/>
            <a:ext cx="8229600" cy="159181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24292F"/>
                </a:solidFill>
                <a:latin typeface="Consolas"/>
              </a:rPr>
              <a:t>npm install vue           </a:t>
            </a:r>
            <a:r>
              <a:rPr sz="1650" i="1">
                <a:solidFill>
                  <a:srgbClr val="6E7781"/>
                </a:solidFill>
                <a:latin typeface="Consolas"/>
              </a:rPr>
              <a:t># dependencies (the default)</a:t>
            </a:r>
          </a:p>
          <a:p>
            <a:pPr marL="0" indent="0" algn="l">
              <a:lnSpc>
                <a:spcPct val="100000"/>
              </a:lnSpc>
              <a:buNone/>
            </a:pPr>
            <a:r>
              <a:rPr sz="1650">
                <a:solidFill>
                  <a:srgbClr val="24292F"/>
                </a:solidFill>
                <a:latin typeface="Consolas"/>
              </a:rPr>
              <a:t>npm install -D vitest     </a:t>
            </a:r>
            <a:r>
              <a:rPr sz="1650" i="1">
                <a:solidFill>
                  <a:srgbClr val="6E7781"/>
                </a:solidFill>
                <a:latin typeface="Consolas"/>
              </a:rPr>
              <a:t># devDependencies</a:t>
            </a:r>
          </a:p>
          <a:p>
            <a:pPr marL="0" indent="0" algn="l">
              <a:lnSpc>
                <a:spcPct val="100000"/>
              </a:lnSpc>
              <a:buNone/>
            </a:pPr>
            <a:r>
              <a:rPr sz="1650">
                <a:solidFill>
                  <a:srgbClr val="24292F"/>
                </a:solidFill>
                <a:latin typeface="Consolas"/>
              </a:rPr>
              <a:t>npm install -E vue@3.5.13 # exact version, no range</a:t>
            </a:r>
          </a:p>
          <a:p>
            <a:pPr marL="0" indent="0" algn="l">
              <a:lnSpc>
                <a:spcPct val="100000"/>
              </a:lnSpc>
              <a:buNone/>
            </a:pPr>
            <a:r>
              <a:rPr sz="1650">
                <a:solidFill>
                  <a:srgbClr val="24292F"/>
                </a:solidFill>
                <a:latin typeface="Consolas"/>
              </a:rPr>
              <a:t>npm install -g pnpm       </a:t>
            </a:r>
            <a:r>
              <a:rPr sz="1650" i="1">
                <a:solidFill>
                  <a:srgbClr val="6E7781"/>
                </a:solidFill>
                <a:latin typeface="Consolas"/>
              </a:rPr>
              <a:t># global, not in the project</a:t>
            </a:r>
          </a:p>
          <a:p>
            <a:pPr marL="0" indent="0" algn="l">
              <a:lnSpc>
                <a:spcPct val="100000"/>
              </a:lnSpc>
              <a:buNone/>
            </a:pPr>
            <a:r>
              <a:rPr sz="1650">
                <a:solidFill>
                  <a:srgbClr val="24292F"/>
                </a:solidFill>
                <a:latin typeface="Consolas"/>
              </a:rPr>
              <a:t>npm ci                    </a:t>
            </a:r>
            <a:r>
              <a:rPr sz="1650" i="1">
                <a:solidFill>
                  <a:srgbClr val="6E7781"/>
                </a:solidFill>
                <a:latin typeface="Consolas"/>
              </a:rPr>
              <a:t># clean install from lockfile (CI)</a:t>
            </a:r>
          </a:p>
        </p:txBody>
      </p:sp>
      <p:sp>
        <p:nvSpPr>
          <p:cNvPr id="5" name="Body"/>
          <p:cNvSpPr txBox="1"/>
          <p:nvPr/>
        </p:nvSpPr>
        <p:spPr>
          <a:xfrm>
            <a:off x="457200" y="3601720"/>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dependencies</a:t>
            </a:r>
            <a:r>
              <a:rPr sz="2200" b="0" i="0">
                <a:solidFill>
                  <a:srgbClr val="1F2A36"/>
                </a:solidFill>
              </a:rPr>
              <a:t>: needed by your app at runtime</a:t>
            </a:r>
          </a:p>
          <a:p>
            <a:pPr marL="274320" indent="-256032">
              <a:spcAft>
                <a:spcPts val="990"/>
              </a:spcAft>
              <a:buClr>
                <a:srgbClr val="42B883"/>
              </a:buClr>
              <a:buSzPct val="100000"/>
              <a:buFont typeface="Arial"/>
              <a:buChar char="•"/>
            </a:pPr>
            <a:r>
              <a:rPr sz="2200" b="1" i="0">
                <a:solidFill>
                  <a:srgbClr val="1F2A36"/>
                </a:solidFill>
              </a:rPr>
              <a:t>devDependencies</a:t>
            </a:r>
            <a:r>
              <a:rPr sz="2200" b="0" i="0">
                <a:solidFill>
                  <a:srgbClr val="1F2A36"/>
                </a:solidFill>
              </a:rPr>
              <a:t>: only needed to build and test it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54</a:t>
            </a:fld>
            <a:endParaRPr lang="en-US" sz="900">
              <a:solidFill>
                <a:srgbClr val="9AA7B4"/>
              </a:solidFill>
            </a:endParaRPr>
          </a:p>
        </p:txBody>
      </p:sp>
    </p:spTree>
    <p:extLst>
      <p:ext uri="{BB962C8B-B14F-4D97-AF65-F5344CB8AC3E}">
        <p14:creationId xmlns:p14="http://schemas.microsoft.com/office/powerpoint/2010/main" val="1654901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5BCF-D50E-A649-9C2F-6D03180EF1A0}"/>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package.json Fields</a:t>
            </a:r>
          </a:p>
        </p:txBody>
      </p:sp>
      <p:sp>
        <p:nvSpPr>
          <p:cNvPr id="3" name="Body"/>
          <p:cNvSpPr txBox="1"/>
          <p:nvPr/>
        </p:nvSpPr>
        <p:spPr>
          <a:xfrm>
            <a:off x="457200" y="1261872"/>
            <a:ext cx="8229600" cy="805179"/>
          </a:xfrm>
          <a:prstGeom prst="rect">
            <a:avLst/>
          </a:prstGeom>
          <a:noFill/>
        </p:spPr>
        <p:txBody>
          <a:bodyPr wrap="square" lIns="0" tIns="0" rIns="0" bIns="0">
            <a:noAutofit/>
          </a:bodyPr>
          <a:lstStyle/>
          <a:p>
            <a:pPr marL="0" indent="0">
              <a:spcAft>
                <a:spcPts val="900"/>
              </a:spcAft>
              <a:buNone/>
            </a:pPr>
            <a:r>
              <a:rPr sz="2000" b="0" i="0">
                <a:solidFill>
                  <a:srgbClr val="1F2A36"/>
                </a:solidFill>
              </a:rPr>
              <a:t>Every npm package contains this file. It holds metadata about the project:</a:t>
            </a:r>
          </a:p>
        </p:txBody>
      </p:sp>
      <p:sp>
        <p:nvSpPr>
          <p:cNvPr id="4" name="Body"/>
          <p:cNvSpPr txBox="1"/>
          <p:nvPr/>
        </p:nvSpPr>
        <p:spPr>
          <a:xfrm>
            <a:off x="457200" y="2121916"/>
            <a:ext cx="3954780" cy="2340610"/>
          </a:xfrm>
          <a:prstGeom prst="rect">
            <a:avLst/>
          </a:prstGeom>
          <a:noFill/>
        </p:spPr>
        <p:txBody>
          <a:bodyPr wrap="square" lIns="0" tIns="0" rIns="0" bIns="0">
            <a:noAutofit/>
          </a:bodyPr>
          <a:lstStyle/>
          <a:p>
            <a:pPr marL="0" indent="0">
              <a:spcAft>
                <a:spcPts val="769"/>
              </a:spcAft>
              <a:buNone/>
            </a:pPr>
            <a:r>
              <a:rPr sz="2200" b="1" i="0">
                <a:solidFill>
                  <a:srgbClr val="2E8B62"/>
                </a:solidFill>
              </a:rPr>
              <a:t>Identifier metadata</a:t>
            </a:r>
          </a:p>
          <a:p>
            <a:pPr marL="274320" indent="-256032">
              <a:spcAft>
                <a:spcPts val="990"/>
              </a:spcAft>
              <a:buClr>
                <a:srgbClr val="42B883"/>
              </a:buClr>
              <a:buSzPct val="100000"/>
              <a:buFont typeface="Arial"/>
              <a:buChar char="•"/>
            </a:pPr>
            <a:r>
              <a:rPr sz="2090" b="0" i="0">
                <a:solidFill>
                  <a:srgbClr val="8A2B52"/>
                </a:solidFill>
                <a:latin typeface="Consolas"/>
              </a:rPr>
              <a:t>name</a:t>
            </a:r>
          </a:p>
          <a:p>
            <a:pPr marL="274320" indent="-256032">
              <a:spcAft>
                <a:spcPts val="990"/>
              </a:spcAft>
              <a:buClr>
                <a:srgbClr val="42B883"/>
              </a:buClr>
              <a:buSzPct val="100000"/>
              <a:buFont typeface="Arial"/>
              <a:buChar char="•"/>
            </a:pPr>
            <a:r>
              <a:rPr sz="2090" b="0" i="0">
                <a:solidFill>
                  <a:srgbClr val="8A2B52"/>
                </a:solidFill>
                <a:latin typeface="Consolas"/>
              </a:rPr>
              <a:t>version</a:t>
            </a:r>
          </a:p>
          <a:p>
            <a:pPr marL="274320" indent="-256032">
              <a:spcAft>
                <a:spcPts val="990"/>
              </a:spcAft>
              <a:buClr>
                <a:srgbClr val="42B883"/>
              </a:buClr>
              <a:buSzPct val="100000"/>
              <a:buFont typeface="Arial"/>
              <a:buChar char="•"/>
            </a:pPr>
            <a:r>
              <a:rPr sz="2090" b="0" i="0">
                <a:solidFill>
                  <a:srgbClr val="8A2B52"/>
                </a:solidFill>
                <a:latin typeface="Consolas"/>
              </a:rPr>
              <a:t>license</a:t>
            </a:r>
          </a:p>
          <a:p>
            <a:pPr marL="274320" indent="-256032">
              <a:spcAft>
                <a:spcPts val="990"/>
              </a:spcAft>
              <a:buClr>
                <a:srgbClr val="42B883"/>
              </a:buClr>
              <a:buSzPct val="100000"/>
              <a:buFont typeface="Arial"/>
              <a:buChar char="•"/>
            </a:pPr>
            <a:r>
              <a:rPr sz="2090" b="0" i="0">
                <a:solidFill>
                  <a:srgbClr val="8A2B52"/>
                </a:solidFill>
                <a:latin typeface="Consolas"/>
              </a:rPr>
              <a:t>description</a:t>
            </a:r>
          </a:p>
        </p:txBody>
      </p:sp>
      <p:sp>
        <p:nvSpPr>
          <p:cNvPr id="5" name="Body"/>
          <p:cNvSpPr txBox="1"/>
          <p:nvPr/>
        </p:nvSpPr>
        <p:spPr>
          <a:xfrm>
            <a:off x="4732020" y="2121916"/>
            <a:ext cx="3954780" cy="4036568"/>
          </a:xfrm>
          <a:prstGeom prst="rect">
            <a:avLst/>
          </a:prstGeom>
          <a:noFill/>
        </p:spPr>
        <p:txBody>
          <a:bodyPr wrap="square" lIns="0" tIns="0" rIns="0" bIns="0">
            <a:noAutofit/>
          </a:bodyPr>
          <a:lstStyle/>
          <a:p>
            <a:pPr marL="0" indent="0">
              <a:spcAft>
                <a:spcPts val="769"/>
              </a:spcAft>
              <a:buNone/>
            </a:pPr>
            <a:r>
              <a:rPr sz="2200" b="1" i="0">
                <a:solidFill>
                  <a:srgbClr val="2E8B62"/>
                </a:solidFill>
              </a:rPr>
              <a:t>Functional metadata</a:t>
            </a:r>
          </a:p>
          <a:p>
            <a:pPr marL="274320" indent="-256032">
              <a:spcAft>
                <a:spcPts val="990"/>
              </a:spcAft>
              <a:buClr>
                <a:srgbClr val="42B883"/>
              </a:buClr>
              <a:buSzPct val="100000"/>
              <a:buFont typeface="Arial"/>
              <a:buChar char="•"/>
            </a:pPr>
            <a:r>
              <a:rPr sz="2090" b="0" i="0">
                <a:solidFill>
                  <a:srgbClr val="8A2B52"/>
                </a:solidFill>
                <a:latin typeface="Consolas"/>
              </a:rPr>
              <a:t>type</a:t>
            </a:r>
            <a:r>
              <a:rPr sz="2200" b="0" i="0">
                <a:solidFill>
                  <a:srgbClr val="1F2A36"/>
                </a:solidFill>
              </a:rPr>
              <a:t> (</a:t>
            </a:r>
            <a:r>
              <a:rPr sz="2090" b="0" i="0">
                <a:solidFill>
                  <a:srgbClr val="8A2B52"/>
                </a:solidFill>
                <a:latin typeface="Consolas"/>
              </a:rPr>
              <a:t>"module"</a:t>
            </a:r>
            <a:r>
              <a:rPr sz="2200" b="0" i="0">
                <a:solidFill>
                  <a:srgbClr val="1F2A36"/>
                </a:solidFill>
              </a:rPr>
              <a:t>)</a:t>
            </a:r>
          </a:p>
          <a:p>
            <a:pPr marL="274320" indent="-256032">
              <a:spcAft>
                <a:spcPts val="990"/>
              </a:spcAft>
              <a:buClr>
                <a:srgbClr val="42B883"/>
              </a:buClr>
              <a:buSzPct val="100000"/>
              <a:buFont typeface="Arial"/>
              <a:buChar char="•"/>
            </a:pPr>
            <a:r>
              <a:rPr sz="2090" b="0" i="0">
                <a:solidFill>
                  <a:srgbClr val="8A2B52"/>
                </a:solidFill>
                <a:latin typeface="Consolas"/>
              </a:rPr>
              <a:t>main</a:t>
            </a:r>
            <a:r>
              <a:rPr sz="2200" b="0" i="0">
                <a:solidFill>
                  <a:srgbClr val="1F2A36"/>
                </a:solidFill>
              </a:rPr>
              <a:t> / </a:t>
            </a:r>
            <a:r>
              <a:rPr sz="2090" b="0" i="0">
                <a:solidFill>
                  <a:srgbClr val="8A2B52"/>
                </a:solidFill>
                <a:latin typeface="Consolas"/>
              </a:rPr>
              <a:t>exports</a:t>
            </a:r>
            <a:r>
              <a:rPr sz="2200" b="0" i="0">
                <a:solidFill>
                  <a:srgbClr val="1F2A36"/>
                </a:solidFill>
              </a:rPr>
              <a:t> (entry point)</a:t>
            </a:r>
          </a:p>
          <a:p>
            <a:pPr marL="274320" indent="-256032">
              <a:spcAft>
                <a:spcPts val="990"/>
              </a:spcAft>
              <a:buClr>
                <a:srgbClr val="42B883"/>
              </a:buClr>
              <a:buSzPct val="100000"/>
              <a:buFont typeface="Arial"/>
              <a:buChar char="•"/>
            </a:pPr>
            <a:r>
              <a:rPr sz="2090" b="0" i="0">
                <a:solidFill>
                  <a:srgbClr val="8A2B52"/>
                </a:solidFill>
                <a:latin typeface="Consolas"/>
              </a:rPr>
              <a:t>repository</a:t>
            </a:r>
          </a:p>
          <a:p>
            <a:pPr marL="274320" indent="-256032">
              <a:spcAft>
                <a:spcPts val="990"/>
              </a:spcAft>
              <a:buClr>
                <a:srgbClr val="42B883"/>
              </a:buClr>
              <a:buSzPct val="100000"/>
              <a:buFont typeface="Arial"/>
              <a:buChar char="•"/>
            </a:pPr>
            <a:r>
              <a:rPr sz="2090" b="0" i="0">
                <a:solidFill>
                  <a:srgbClr val="8A2B52"/>
                </a:solidFill>
                <a:latin typeface="Consolas"/>
              </a:rPr>
              <a:t>scripts</a:t>
            </a:r>
          </a:p>
          <a:p>
            <a:pPr marL="274320" indent="-256032">
              <a:spcAft>
                <a:spcPts val="990"/>
              </a:spcAft>
              <a:buClr>
                <a:srgbClr val="42B883"/>
              </a:buClr>
              <a:buSzPct val="100000"/>
              <a:buFont typeface="Arial"/>
              <a:buChar char="•"/>
            </a:pPr>
            <a:r>
              <a:rPr sz="2090" b="0" i="0">
                <a:solidFill>
                  <a:srgbClr val="8A2B52"/>
                </a:solidFill>
                <a:latin typeface="Consolas"/>
              </a:rPr>
              <a:t>dependencies</a:t>
            </a:r>
          </a:p>
          <a:p>
            <a:pPr marL="274320" indent="-256032">
              <a:spcAft>
                <a:spcPts val="990"/>
              </a:spcAft>
              <a:buClr>
                <a:srgbClr val="42B883"/>
              </a:buClr>
              <a:buSzPct val="100000"/>
              <a:buFont typeface="Arial"/>
              <a:buChar char="•"/>
            </a:pPr>
            <a:r>
              <a:rPr sz="2090" b="0" i="0">
                <a:solidFill>
                  <a:srgbClr val="8A2B52"/>
                </a:solidFill>
                <a:latin typeface="Consolas"/>
              </a:rPr>
              <a:t>devDependencies</a:t>
            </a:r>
          </a:p>
          <a:p>
            <a:pPr marL="274320" indent="-256032">
              <a:spcAft>
                <a:spcPts val="990"/>
              </a:spcAft>
              <a:buClr>
                <a:srgbClr val="42B883"/>
              </a:buClr>
              <a:buSzPct val="100000"/>
              <a:buFont typeface="Arial"/>
              <a:buChar char="•"/>
            </a:pPr>
            <a:r>
              <a:rPr sz="2090" b="0" i="0">
                <a:solidFill>
                  <a:srgbClr val="8A2B52"/>
                </a:solidFill>
                <a:latin typeface="Consolas"/>
              </a:rPr>
              <a:t>engines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55</a:t>
            </a:fld>
            <a:endParaRPr lang="en-US" sz="900">
              <a:solidFill>
                <a:srgbClr val="9AA7B4"/>
              </a:solidFill>
            </a:endParaRPr>
          </a:p>
        </p:txBody>
      </p:sp>
    </p:spTree>
    <p:extLst>
      <p:ext uri="{BB962C8B-B14F-4D97-AF65-F5344CB8AC3E}">
        <p14:creationId xmlns:p14="http://schemas.microsoft.com/office/powerpoint/2010/main" val="1995097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96EB-90B9-C045-90B0-5943BB46A8D0}"/>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Making a Web Server</a:t>
            </a:r>
          </a:p>
        </p:txBody>
      </p:sp>
      <p:sp>
        <p:nvSpPr>
          <p:cNvPr id="3" name="Chip LAB 08"/>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08</a:t>
            </a:r>
          </a:p>
        </p:txBody>
      </p:sp>
      <p:sp>
        <p:nvSpPr>
          <p:cNvPr id="4"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Write and run a Node HTTP server using ES module syntax.</a:t>
            </a:r>
          </a:p>
        </p:txBody>
      </p:sp>
      <p:sp>
        <p:nvSpPr>
          <p:cNvPr id="6" name="Body"/>
          <p:cNvSpPr txBox="1"/>
          <p:nvPr/>
        </p:nvSpPr>
        <p:spPr>
          <a:xfrm>
            <a:off x="457200" y="2167128"/>
            <a:ext cx="8229600" cy="216153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npm init</a:t>
            </a:r>
            <a:r>
              <a:rPr sz="2000" b="0" i="0">
                <a:solidFill>
                  <a:srgbClr val="1F2A36"/>
                </a:solidFill>
              </a:rPr>
              <a:t> in </a:t>
            </a:r>
            <a:r>
              <a:rPr sz="1900" b="0" i="0">
                <a:solidFill>
                  <a:srgbClr val="8A2B52"/>
                </a:solidFill>
                <a:latin typeface="Consolas"/>
              </a:rPr>
              <a:t>labs/lab08</a:t>
            </a:r>
            <a:r>
              <a:rPr sz="2000" b="0" i="0">
                <a:solidFill>
                  <a:srgbClr val="1F2A36"/>
                </a:solidFill>
              </a:rPr>
              <a:t>, with type </a:t>
            </a:r>
            <a:r>
              <a:rPr sz="1900" b="0" i="0">
                <a:solidFill>
                  <a:srgbClr val="8A2B52"/>
                </a:solidFill>
                <a:latin typeface="Consolas"/>
              </a:rPr>
              <a:t>module</a:t>
            </a:r>
          </a:p>
          <a:p>
            <a:pPr marL="274320" indent="-256032">
              <a:spcAft>
                <a:spcPts val="900"/>
              </a:spcAft>
              <a:buClr>
                <a:srgbClr val="42B883"/>
              </a:buClr>
              <a:buSzPct val="100000"/>
              <a:buFont typeface="Arial"/>
              <a:buChar char="•"/>
            </a:pPr>
            <a:r>
              <a:rPr sz="2000" b="0" i="0">
                <a:solidFill>
                  <a:srgbClr val="1F2A36"/>
                </a:solidFill>
              </a:rPr>
              <a:t>Create </a:t>
            </a:r>
            <a:r>
              <a:rPr sz="1900" b="0" i="0">
                <a:solidFill>
                  <a:srgbClr val="8A2B52"/>
                </a:solidFill>
                <a:latin typeface="Consolas"/>
              </a:rPr>
              <a:t>server.js</a:t>
            </a:r>
            <a:r>
              <a:rPr sz="2000" b="0" i="0">
                <a:solidFill>
                  <a:srgbClr val="1F2A36"/>
                </a:solidFill>
              </a:rPr>
              <a:t> using </a:t>
            </a:r>
            <a:r>
              <a:rPr sz="1900" b="0" i="0">
                <a:solidFill>
                  <a:srgbClr val="8A2B52"/>
                </a:solidFill>
                <a:latin typeface="Consolas"/>
              </a:rPr>
              <a:t>node:http</a:t>
            </a:r>
          </a:p>
          <a:p>
            <a:pPr marL="274320" indent="-256032">
              <a:spcAft>
                <a:spcPts val="900"/>
              </a:spcAft>
              <a:buClr>
                <a:srgbClr val="42B883"/>
              </a:buClr>
              <a:buSzPct val="100000"/>
              <a:buFont typeface="Arial"/>
              <a:buChar char="•"/>
            </a:pPr>
            <a:r>
              <a:rPr sz="2000" b="0" i="0">
                <a:solidFill>
                  <a:srgbClr val="1F2A36"/>
                </a:solidFill>
              </a:rPr>
              <a:t>Run it with </a:t>
            </a:r>
            <a:r>
              <a:rPr sz="1900" b="0" i="0">
                <a:solidFill>
                  <a:srgbClr val="8A2B52"/>
                </a:solidFill>
                <a:latin typeface="Consolas"/>
              </a:rPr>
              <a:t>node server.js</a:t>
            </a:r>
          </a:p>
          <a:p>
            <a:pPr marL="274320" indent="-256032">
              <a:spcAft>
                <a:spcPts val="900"/>
              </a:spcAft>
              <a:buClr>
                <a:srgbClr val="42B883"/>
              </a:buClr>
              <a:buSzPct val="100000"/>
              <a:buFont typeface="Arial"/>
              <a:buChar char="•"/>
            </a:pPr>
            <a:r>
              <a:rPr sz="2000" b="0" i="0">
                <a:solidFill>
                  <a:srgbClr val="1F2A36"/>
                </a:solidFill>
              </a:rPr>
              <a:t>Visit http://127.0.0.1:3000</a:t>
            </a:r>
          </a:p>
          <a:p>
            <a:pPr marL="274320" indent="-256032">
              <a:spcAft>
                <a:spcPts val="900"/>
              </a:spcAft>
              <a:buClr>
                <a:srgbClr val="42B883"/>
              </a:buClr>
              <a:buSzPct val="100000"/>
              <a:buFont typeface="Arial"/>
              <a:buChar char="•"/>
            </a:pPr>
            <a:r>
              <a:rPr sz="2000" b="0" i="0">
                <a:solidFill>
                  <a:srgbClr val="1F2A36"/>
                </a:solidFill>
              </a:rPr>
              <a:t>Change the response to return a full HTML page</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56</a:t>
            </a:fld>
            <a:endParaRPr lang="en-US" sz="900">
              <a:solidFill>
                <a:srgbClr val="9AA7B4"/>
              </a:solidFill>
            </a:endParaRPr>
          </a:p>
        </p:txBody>
      </p:sp>
    </p:spTree>
    <p:extLst>
      <p:ext uri="{BB962C8B-B14F-4D97-AF65-F5344CB8AC3E}">
        <p14:creationId xmlns:p14="http://schemas.microsoft.com/office/powerpoint/2010/main" val="37586628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189E-8376-4146-BB3D-0BC40E04061E}"/>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Code-along: Set Up Your Own Tooling</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demos/Vue-Starter</a:t>
            </a:r>
          </a:p>
        </p:txBody>
      </p:sp>
      <p:sp>
        <p:nvSpPr>
          <p:cNvPr id="5" name="Body"/>
          <p:cNvSpPr txBox="1"/>
          <p:nvPr/>
        </p:nvSpPr>
        <p:spPr>
          <a:xfrm>
            <a:off x="457200" y="2148840"/>
            <a:ext cx="8229600" cy="1219200"/>
          </a:xfrm>
          <a:prstGeom prst="rect">
            <a:avLst/>
          </a:prstGeom>
          <a:noFill/>
        </p:spPr>
        <p:txBody>
          <a:bodyPr wrap="square" lIns="0" tIns="0" rIns="0" bIns="0">
            <a:noAutofit/>
          </a:bodyPr>
          <a:lstStyle/>
          <a:p>
            <a:pPr marL="0" indent="0">
              <a:spcAft>
                <a:spcPts val="900"/>
              </a:spcAft>
              <a:buNone/>
            </a:pPr>
            <a:r>
              <a:rPr sz="2000" b="0" i="0">
                <a:solidFill>
                  <a:srgbClr val="1F2A36"/>
                </a:solidFill>
              </a:rPr>
              <a:t>How a Vue app with single-file components works, starting from an empty directory.</a:t>
            </a:r>
          </a:p>
          <a:p>
            <a:pPr marL="274320" indent="-256032">
              <a:spcAft>
                <a:spcPts val="900"/>
              </a:spcAft>
              <a:buClr>
                <a:srgbClr val="42B883"/>
              </a:buClr>
              <a:buSzPct val="100000"/>
              <a:buFont typeface="Arial"/>
              <a:buChar char="•"/>
            </a:pPr>
            <a:r>
              <a:rPr sz="2000" b="0" i="0">
                <a:solidFill>
                  <a:srgbClr val="1F2A36"/>
                </a:solidFill>
              </a:rPr>
              <a:t>Only three dependencies: </a:t>
            </a:r>
            <a:r>
              <a:rPr sz="1900" b="0" i="0">
                <a:solidFill>
                  <a:srgbClr val="8A2B52"/>
                </a:solidFill>
                <a:latin typeface="Consolas"/>
              </a:rPr>
              <a:t>vue</a:t>
            </a:r>
            <a:r>
              <a:rPr sz="2000" b="0" i="0">
                <a:solidFill>
                  <a:srgbClr val="1F2A36"/>
                </a:solidFill>
              </a:rPr>
              <a:t>, </a:t>
            </a:r>
            <a:r>
              <a:rPr sz="1900" b="0" i="0">
                <a:solidFill>
                  <a:srgbClr val="8A2B52"/>
                </a:solidFill>
                <a:latin typeface="Consolas"/>
              </a:rPr>
              <a:t>vite</a:t>
            </a:r>
            <a:r>
              <a:rPr sz="2000" b="0" i="0">
                <a:solidFill>
                  <a:srgbClr val="1F2A36"/>
                </a:solidFill>
              </a:rPr>
              <a:t>, </a:t>
            </a:r>
            <a:r>
              <a:rPr sz="1900" b="0" i="0">
                <a:solidFill>
                  <a:srgbClr val="8A2B52"/>
                </a:solidFill>
                <a:latin typeface="Consolas"/>
              </a:rPr>
              <a:t>@vitejs/plugin-vue</a:t>
            </a:r>
          </a:p>
        </p:txBody>
      </p:sp>
      <p:sp>
        <p:nvSpPr>
          <p:cNvPr id="6" name="Code"/>
          <p:cNvSpPr/>
          <p:nvPr/>
        </p:nvSpPr>
        <p:spPr>
          <a:xfrm>
            <a:off x="457200" y="3422904"/>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npm init -y</a:t>
            </a:r>
          </a:p>
          <a:p>
            <a:pPr marL="0" indent="0" algn="l">
              <a:lnSpc>
                <a:spcPct val="100000"/>
              </a:lnSpc>
              <a:buNone/>
            </a:pPr>
            <a:r>
              <a:rPr sz="2000">
                <a:solidFill>
                  <a:srgbClr val="24292F"/>
                </a:solidFill>
                <a:latin typeface="Consolas"/>
              </a:rPr>
              <a:t>npm install vue</a:t>
            </a:r>
          </a:p>
          <a:p>
            <a:pPr marL="0" indent="0" algn="l">
              <a:lnSpc>
                <a:spcPct val="100000"/>
              </a:lnSpc>
              <a:buNone/>
            </a:pPr>
            <a:r>
              <a:rPr sz="2000">
                <a:solidFill>
                  <a:srgbClr val="24292F"/>
                </a:solidFill>
                <a:latin typeface="Consolas"/>
              </a:rPr>
              <a:t>npm install -D vite @vitejs/plugin-vue</a:t>
            </a:r>
          </a:p>
        </p:txBody>
      </p:sp>
      <p:sp>
        <p:nvSpPr>
          <p:cNvPr id="7" name="Body"/>
          <p:cNvSpPr txBox="1"/>
          <p:nvPr/>
        </p:nvSpPr>
        <p:spPr>
          <a:xfrm>
            <a:off x="457200" y="4806696"/>
            <a:ext cx="8229600" cy="12192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Add </a:t>
            </a:r>
            <a:r>
              <a:rPr sz="1900" b="0" i="0">
                <a:solidFill>
                  <a:srgbClr val="8A2B52"/>
                </a:solidFill>
                <a:latin typeface="Consolas"/>
              </a:rPr>
              <a:t>index.html</a:t>
            </a:r>
            <a:r>
              <a:rPr sz="2000" b="0" i="0">
                <a:solidFill>
                  <a:srgbClr val="1F2A36"/>
                </a:solidFill>
              </a:rPr>
              <a:t>, </a:t>
            </a:r>
            <a:r>
              <a:rPr sz="1900" b="0" i="0">
                <a:solidFill>
                  <a:srgbClr val="8A2B52"/>
                </a:solidFill>
                <a:latin typeface="Consolas"/>
              </a:rPr>
              <a:t>vite.config.js</a:t>
            </a:r>
            <a:r>
              <a:rPr sz="2000" b="0" i="0">
                <a:solidFill>
                  <a:srgbClr val="1F2A36"/>
                </a:solidFill>
              </a:rPr>
              <a:t>, </a:t>
            </a:r>
            <a:r>
              <a:rPr sz="1900" b="0" i="0">
                <a:solidFill>
                  <a:srgbClr val="8A2B52"/>
                </a:solidFill>
                <a:latin typeface="Consolas"/>
              </a:rPr>
              <a:t>src/main.js</a:t>
            </a:r>
            <a:r>
              <a:rPr sz="2000" b="0" i="0">
                <a:solidFill>
                  <a:srgbClr val="1F2A36"/>
                </a:solidFill>
              </a:rPr>
              <a:t>, </a:t>
            </a:r>
            <a:r>
              <a:rPr sz="1900" b="0" i="0">
                <a:solidFill>
                  <a:srgbClr val="8A2B52"/>
                </a:solidFill>
                <a:latin typeface="Consolas"/>
              </a:rPr>
              <a:t>src/App.vue</a:t>
            </a:r>
          </a:p>
          <a:p>
            <a:pPr marL="274320" indent="-256032">
              <a:spcAft>
                <a:spcPts val="900"/>
              </a:spcAft>
              <a:buClr>
                <a:srgbClr val="42B883"/>
              </a:buClr>
              <a:buSzPct val="100000"/>
              <a:buFont typeface="Arial"/>
              <a:buChar char="•"/>
            </a:pPr>
            <a:r>
              <a:rPr sz="2000" b="0" i="0">
                <a:solidFill>
                  <a:srgbClr val="1F2A36"/>
                </a:solidFill>
              </a:rPr>
              <a:t>Add </a:t>
            </a:r>
            <a:r>
              <a:rPr sz="1900" b="0" i="0">
                <a:solidFill>
                  <a:srgbClr val="8A2B52"/>
                </a:solidFill>
                <a:latin typeface="Consolas"/>
              </a:rPr>
              <a:t>"dev": "vite"</a:t>
            </a:r>
            <a:r>
              <a:rPr sz="2000" b="0" i="0">
                <a:solidFill>
                  <a:srgbClr val="1F2A36"/>
                </a:solidFill>
              </a:rPr>
              <a:t> and </a:t>
            </a:r>
            <a:r>
              <a:rPr sz="1900" b="0" i="0">
                <a:solidFill>
                  <a:srgbClr val="8A2B52"/>
                </a:solidFill>
                <a:latin typeface="Consolas"/>
              </a:rPr>
              <a:t>"build": "vite build"</a:t>
            </a:r>
            <a:r>
              <a:rPr sz="2000" b="0" i="0">
                <a:solidFill>
                  <a:srgbClr val="1F2A36"/>
                </a:solidFill>
              </a:rPr>
              <a:t> scripts</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57</a:t>
            </a:fld>
            <a:endParaRPr lang="en-US" sz="900">
              <a:solidFill>
                <a:srgbClr val="9AA7B4"/>
              </a:solidFill>
            </a:endParaRPr>
          </a:p>
        </p:txBody>
      </p:sp>
    </p:spTree>
    <p:extLst>
      <p:ext uri="{BB962C8B-B14F-4D97-AF65-F5344CB8AC3E}">
        <p14:creationId xmlns:p14="http://schemas.microsoft.com/office/powerpoint/2010/main" val="3326523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Static Code Analysis</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Body"/>
          <p:cNvSpPr txBox="1"/>
          <p:nvPr/>
        </p:nvSpPr>
        <p:spPr>
          <a:xfrm>
            <a:off x="731520" y="2148840"/>
            <a:ext cx="7680960" cy="2340610"/>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Learn about lint tools</a:t>
            </a:r>
          </a:p>
          <a:p>
            <a:pPr marL="274320" indent="-256032">
              <a:spcAft>
                <a:spcPts val="990"/>
              </a:spcAft>
              <a:buClr>
                <a:srgbClr val="42B883"/>
              </a:buClr>
              <a:buSzPct val="100000"/>
              <a:buFont typeface="Arial"/>
              <a:buChar char="•"/>
            </a:pPr>
            <a:r>
              <a:rPr sz="2200" b="0" i="0">
                <a:solidFill>
                  <a:srgbClr val="FFFFFF"/>
                </a:solidFill>
              </a:rPr>
              <a:t>Use ESLint</a:t>
            </a:r>
          </a:p>
          <a:p>
            <a:pPr marL="274320" indent="-256032">
              <a:spcAft>
                <a:spcPts val="990"/>
              </a:spcAft>
              <a:buClr>
                <a:srgbClr val="42B883"/>
              </a:buClr>
              <a:buSzPct val="100000"/>
              <a:buFont typeface="Arial"/>
              <a:buChar char="•"/>
            </a:pPr>
            <a:r>
              <a:rPr sz="2200" b="0" i="0">
                <a:solidFill>
                  <a:srgbClr val="FFFFFF"/>
                </a:solidFill>
              </a:rPr>
              <a:t>Configure ESLint with a flat config</a:t>
            </a:r>
          </a:p>
          <a:p>
            <a:pPr marL="274320" indent="-256032">
              <a:spcAft>
                <a:spcPts val="990"/>
              </a:spcAft>
              <a:buClr>
                <a:srgbClr val="42B883"/>
              </a:buClr>
              <a:buSzPct val="100000"/>
              <a:buFont typeface="Arial"/>
              <a:buChar char="•"/>
            </a:pPr>
            <a:r>
              <a:rPr sz="2200" b="0" i="0">
                <a:solidFill>
                  <a:srgbClr val="FFFFFF"/>
                </a:solidFill>
              </a:rPr>
              <a:t>Manual testing with a local dev server</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58</a:t>
            </a:fld>
            <a:endParaRPr lang="en-US" sz="900">
              <a:solidFill>
                <a:srgbClr val="9FB3C4"/>
              </a:solidFill>
            </a:endParaRPr>
          </a:p>
        </p:txBody>
      </p:sp>
    </p:spTree>
    <p:extLst>
      <p:ext uri="{BB962C8B-B14F-4D97-AF65-F5344CB8AC3E}">
        <p14:creationId xmlns:p14="http://schemas.microsoft.com/office/powerpoint/2010/main" val="16474681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rtl="0">
              <a:buNone/>
            </a:pPr>
            <a:r>
              <a:rPr sz="3000" b="1" i="0" cap="none">
                <a:solidFill>
                  <a:srgbClr val="2C3E50"/>
                </a:solidFill>
              </a:rPr>
              <a:t>Lint Tools</a:t>
            </a:r>
          </a:p>
        </p:txBody>
      </p:sp>
      <p:sp>
        <p:nvSpPr>
          <p:cNvPr id="3" name="Body"/>
          <p:cNvSpPr txBox="1"/>
          <p:nvPr/>
        </p:nvSpPr>
        <p:spPr>
          <a:xfrm>
            <a:off x="457200" y="1261872"/>
            <a:ext cx="8229600" cy="329552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ESLint</a:t>
            </a:r>
            <a:r>
              <a:rPr sz="2200" b="0" i="0">
                <a:solidFill>
                  <a:srgbClr val="1F2A36"/>
                </a:solidFill>
              </a:rPr>
              <a:t> — the standard. Pluggable and "agenda free": it doesn't push a particular style</a:t>
            </a:r>
          </a:p>
          <a:p>
            <a:pPr marL="566928" indent="-256032">
              <a:spcAft>
                <a:spcPts val="855"/>
              </a:spcAft>
              <a:buClr>
                <a:srgbClr val="6B7B8C"/>
              </a:buClr>
              <a:buSzPct val="100000"/>
              <a:buFont typeface="Arial"/>
              <a:buChar char="–"/>
            </a:pPr>
            <a:r>
              <a:rPr sz="1900" b="0" i="0">
                <a:solidFill>
                  <a:srgbClr val="3A4A5A"/>
                </a:solidFill>
              </a:rPr>
              <a:t>Flat config (</a:t>
            </a:r>
            <a:r>
              <a:rPr sz="1805" b="0" i="0">
                <a:solidFill>
                  <a:srgbClr val="8A2B52"/>
                </a:solidFill>
                <a:latin typeface="Consolas"/>
              </a:rPr>
              <a:t>eslint.config.js</a:t>
            </a:r>
            <a:r>
              <a:rPr sz="1900" b="0" i="0">
                <a:solidFill>
                  <a:srgbClr val="3A4A5A"/>
                </a:solidFill>
              </a:rPr>
              <a:t>) since version 9</a:t>
            </a:r>
          </a:p>
          <a:p>
            <a:pPr marL="274320" indent="-256032">
              <a:spcAft>
                <a:spcPts val="990"/>
              </a:spcAft>
              <a:buClr>
                <a:srgbClr val="42B883"/>
              </a:buClr>
              <a:buSzPct val="100000"/>
              <a:buFont typeface="Arial"/>
              <a:buChar char="•"/>
            </a:pPr>
            <a:r>
              <a:rPr sz="2200" b="1" i="0">
                <a:solidFill>
                  <a:srgbClr val="1F2A36"/>
                </a:solidFill>
              </a:rPr>
              <a:t>Biome</a:t>
            </a:r>
            <a:r>
              <a:rPr sz="2200" b="0" i="0">
                <a:solidFill>
                  <a:srgbClr val="1F2A36"/>
                </a:solidFill>
              </a:rPr>
              <a:t> — linter and formatter in one, written in Rust</a:t>
            </a:r>
          </a:p>
          <a:p>
            <a:pPr marL="274320" indent="-256032">
              <a:spcAft>
                <a:spcPts val="990"/>
              </a:spcAft>
              <a:buClr>
                <a:srgbClr val="42B883"/>
              </a:buClr>
              <a:buSzPct val="100000"/>
              <a:buFont typeface="Arial"/>
              <a:buChar char="•"/>
            </a:pPr>
            <a:r>
              <a:rPr sz="2200" b="1" i="0">
                <a:solidFill>
                  <a:srgbClr val="1F2A36"/>
                </a:solidFill>
              </a:rPr>
              <a:t>oxlint</a:t>
            </a:r>
            <a:r>
              <a:rPr sz="2200" b="0" i="0">
                <a:solidFill>
                  <a:srgbClr val="1F2A36"/>
                </a:solidFill>
              </a:rPr>
              <a:t> — a very fast linter, also Rust; often run alongside ESLint</a:t>
            </a:r>
          </a:p>
          <a:p>
            <a:pPr marL="274320" indent="-256032">
              <a:spcAft>
                <a:spcPts val="990"/>
              </a:spcAft>
              <a:buClr>
                <a:srgbClr val="42B883"/>
              </a:buClr>
              <a:buSzPct val="100000"/>
              <a:buFont typeface="Arial"/>
              <a:buChar char="•"/>
            </a:pPr>
            <a:r>
              <a:rPr sz="2200" b="1" i="0">
                <a:solidFill>
                  <a:srgbClr val="1F2A36"/>
                </a:solidFill>
              </a:rPr>
              <a:t>Prettier</a:t>
            </a:r>
            <a:r>
              <a:rPr sz="2200" b="0" i="0">
                <a:solidFill>
                  <a:srgbClr val="1F2A36"/>
                </a:solidFill>
              </a:rPr>
              <a:t> — a formatter, not a linter: it's about layout, not correctness</a:t>
            </a:r>
          </a:p>
        </p:txBody>
      </p:sp>
      <p:sp>
        <p:nvSpPr>
          <p:cNvPr id="4" name="Tip"/>
          <p:cNvSpPr/>
          <p:nvPr/>
        </p:nvSpPr>
        <p:spPr>
          <a:xfrm>
            <a:off x="457200" y="4612258"/>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JSLint and JSHint came first, and are now rarely used.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59</a:t>
            </a:fld>
            <a:endParaRPr lang="en-US" sz="900">
              <a:solidFill>
                <a:srgbClr val="9AA7B4"/>
              </a:solidFill>
            </a:endParaRPr>
          </a:p>
        </p:txBody>
      </p:sp>
    </p:spTree>
    <p:extLst>
      <p:ext uri="{BB962C8B-B14F-4D97-AF65-F5344CB8AC3E}">
        <p14:creationId xmlns:p14="http://schemas.microsoft.com/office/powerpoint/2010/main" val="20702942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Configuring ESLint</a:t>
            </a:r>
          </a:p>
        </p:txBody>
      </p:sp>
      <p:sp>
        <p:nvSpPr>
          <p:cNvPr id="6" name="Body"/>
          <p:cNvSpPr txBox="1"/>
          <p:nvPr/>
        </p:nvSpPr>
        <p:spPr>
          <a:xfrm>
            <a:off x="457200" y="1261872"/>
            <a:ext cx="8229600" cy="1002283"/>
          </a:xfrm>
          <a:prstGeom prst="rect">
            <a:avLst/>
          </a:prstGeom>
          <a:noFill/>
        </p:spPr>
        <p:txBody>
          <a:bodyPr wrap="square" lIns="0" tIns="0" rIns="0" bIns="0">
            <a:noAutofit/>
          </a:bodyPr>
          <a:lstStyle/>
          <a:p>
            <a:pPr marL="0" indent="0">
              <a:spcAft>
                <a:spcPts val="990"/>
              </a:spcAft>
              <a:buNone/>
            </a:pPr>
            <a:r>
              <a:rPr sz="2200" b="0" i="0">
                <a:solidFill>
                  <a:srgbClr val="1F2A36"/>
                </a:solidFill>
              </a:rPr>
              <a:t>Two ways:</a:t>
            </a:r>
          </a:p>
          <a:p>
            <a:pPr marL="274320" indent="-256032">
              <a:spcAft>
                <a:spcPts val="990"/>
              </a:spcAft>
              <a:buClr>
                <a:srgbClr val="42B883"/>
              </a:buClr>
              <a:buSzPct val="100000"/>
              <a:buFont typeface="Arial"/>
              <a:buChar char="•"/>
            </a:pPr>
            <a:r>
              <a:rPr sz="2200" b="1" i="0">
                <a:solidFill>
                  <a:srgbClr val="1F2A36"/>
                </a:solidFill>
              </a:rPr>
              <a:t>Configuration comments</a:t>
            </a:r>
            <a:r>
              <a:rPr sz="2200" b="0" i="0">
                <a:solidFill>
                  <a:srgbClr val="1F2A36"/>
                </a:solidFill>
              </a:rPr>
              <a:t> — embed config in a JS file</a:t>
            </a:r>
          </a:p>
        </p:txBody>
      </p:sp>
      <p:sp>
        <p:nvSpPr>
          <p:cNvPr id="7" name="Code"/>
          <p:cNvSpPr/>
          <p:nvPr/>
        </p:nvSpPr>
        <p:spPr>
          <a:xfrm>
            <a:off x="457200" y="2319020"/>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 eslint eqeqeq: "off", curly: "error" */</a:t>
            </a:r>
          </a:p>
        </p:txBody>
      </p:sp>
      <p:sp>
        <p:nvSpPr>
          <p:cNvPr id="8" name="Body"/>
          <p:cNvSpPr txBox="1"/>
          <p:nvPr/>
        </p:nvSpPr>
        <p:spPr>
          <a:xfrm>
            <a:off x="457200" y="3072892"/>
            <a:ext cx="8229600" cy="234124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Configuration files</a:t>
            </a:r>
            <a:r>
              <a:rPr sz="2200" b="0" i="0">
                <a:solidFill>
                  <a:srgbClr val="1F2A36"/>
                </a:solidFill>
              </a:rPr>
              <a:t> — </a:t>
            </a:r>
            <a:r>
              <a:rPr sz="2090" b="0" i="0">
                <a:solidFill>
                  <a:srgbClr val="8A2B52"/>
                </a:solidFill>
                <a:latin typeface="Consolas"/>
              </a:rPr>
              <a:t>eslint.config.js</a:t>
            </a:r>
            <a:r>
              <a:rPr sz="2200" b="0" i="0">
                <a:solidFill>
                  <a:srgbClr val="1F2A36"/>
                </a:solidFill>
              </a:rPr>
              <a:t>, the "flat config" format</a:t>
            </a:r>
          </a:p>
          <a:p>
            <a:pPr marL="566928" indent="-256032">
              <a:spcAft>
                <a:spcPts val="855"/>
              </a:spcAft>
              <a:buClr>
                <a:srgbClr val="6B7B8C"/>
              </a:buClr>
              <a:buSzPct val="100000"/>
              <a:buFont typeface="Arial"/>
              <a:buChar char="–"/>
            </a:pPr>
            <a:r>
              <a:rPr sz="1900" b="0" i="0">
                <a:solidFill>
                  <a:srgbClr val="3A4A5A"/>
                </a:solidFill>
              </a:rPr>
              <a:t>Flat config became the default in ESLint 9</a:t>
            </a:r>
          </a:p>
          <a:p>
            <a:pPr marL="566928" indent="-256032">
              <a:spcAft>
                <a:spcPts val="855"/>
              </a:spcAft>
              <a:buClr>
                <a:srgbClr val="6B7B8C"/>
              </a:buClr>
              <a:buSzPct val="100000"/>
              <a:buFont typeface="Arial"/>
              <a:buChar char="–"/>
            </a:pPr>
            <a:r>
              <a:rPr sz="1900" b="0" i="0">
                <a:solidFill>
                  <a:srgbClr val="3A4A5A"/>
                </a:solidFill>
              </a:rPr>
              <a:t>It exports an </a:t>
            </a:r>
            <a:r>
              <a:rPr sz="1900" b="1" i="0">
                <a:solidFill>
                  <a:srgbClr val="3A4A5A"/>
                </a:solidFill>
              </a:rPr>
              <a:t>array</a:t>
            </a:r>
            <a:r>
              <a:rPr sz="1900" b="0" i="0">
                <a:solidFill>
                  <a:srgbClr val="3A4A5A"/>
                </a:solidFill>
              </a:rPr>
              <a:t>; each entry applies to the files it matches</a:t>
            </a:r>
          </a:p>
          <a:p>
            <a:pPr marL="566928" indent="-256032">
              <a:spcAft>
                <a:spcPts val="855"/>
              </a:spcAft>
              <a:buClr>
                <a:srgbClr val="6B7B8C"/>
              </a:buClr>
              <a:buSzPct val="100000"/>
              <a:buFont typeface="Arial"/>
              <a:buChar char="–"/>
            </a:pPr>
            <a:r>
              <a:rPr sz="1805" b="0" i="0">
                <a:solidFill>
                  <a:srgbClr val="8A2B52"/>
                </a:solidFill>
                <a:latin typeface="Consolas"/>
              </a:rPr>
              <a:t>.eslintrc.*</a:t>
            </a:r>
            <a:r>
              <a:rPr sz="1900" b="0" i="0">
                <a:solidFill>
                  <a:srgbClr val="3A4A5A"/>
                </a:solidFill>
              </a:rPr>
              <a:t> and </a:t>
            </a:r>
            <a:r>
              <a:rPr sz="1805" b="0" i="0">
                <a:solidFill>
                  <a:srgbClr val="8A2B52"/>
                </a:solidFill>
                <a:latin typeface="Consolas"/>
              </a:rPr>
              <a:t>.eslintignore</a:t>
            </a:r>
            <a:r>
              <a:rPr sz="1900" b="0" i="0">
                <a:solidFill>
                  <a:srgbClr val="3A4A5A"/>
                </a:solidFill>
              </a:rPr>
              <a:t> were removed in ESLint 10 (Feb 2026)</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60</a:t>
            </a:fld>
            <a:endParaRPr lang="en-US" sz="900">
              <a:solidFill>
                <a:srgbClr val="9AA7B4"/>
              </a:solidFill>
            </a:endParaRPr>
          </a:p>
        </p:txBody>
      </p:sp>
    </p:spTree>
    <p:extLst>
      <p:ext uri="{BB962C8B-B14F-4D97-AF65-F5344CB8AC3E}">
        <p14:creationId xmlns:p14="http://schemas.microsoft.com/office/powerpoint/2010/main" val="4517208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ESLint: What Can Be Configured?</a:t>
            </a:r>
          </a:p>
        </p:txBody>
      </p:sp>
      <p:sp>
        <p:nvSpPr>
          <p:cNvPr id="3" name="Body"/>
          <p:cNvSpPr txBox="1"/>
          <p:nvPr/>
        </p:nvSpPr>
        <p:spPr>
          <a:xfrm>
            <a:off x="457200" y="1261872"/>
            <a:ext cx="8229600" cy="387972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1" i="0">
                <a:solidFill>
                  <a:srgbClr val="8A2B52"/>
                </a:solidFill>
                <a:latin typeface="Consolas"/>
              </a:rPr>
              <a:t>languageOptions</a:t>
            </a:r>
          </a:p>
          <a:p>
            <a:pPr marL="566928" indent="-256032">
              <a:spcAft>
                <a:spcPts val="855"/>
              </a:spcAft>
              <a:buClr>
                <a:srgbClr val="6B7B8C"/>
              </a:buClr>
              <a:buSzPct val="100000"/>
              <a:buFont typeface="Arial"/>
              <a:buChar char="–"/>
            </a:pPr>
            <a:r>
              <a:rPr sz="1805" b="0" i="0">
                <a:solidFill>
                  <a:srgbClr val="8A2B52"/>
                </a:solidFill>
                <a:latin typeface="Consolas"/>
              </a:rPr>
              <a:t>ecmaVersion</a:t>
            </a:r>
            <a:r>
              <a:rPr sz="1900" b="0" i="0">
                <a:solidFill>
                  <a:srgbClr val="3A4A5A"/>
                </a:solidFill>
              </a:rPr>
              <a:t>, </a:t>
            </a:r>
            <a:r>
              <a:rPr sz="1805" b="0" i="0">
                <a:solidFill>
                  <a:srgbClr val="8A2B52"/>
                </a:solidFill>
                <a:latin typeface="Consolas"/>
              </a:rPr>
              <a:t>sourceType</a:t>
            </a:r>
            <a:r>
              <a:rPr sz="1900" b="0" i="0">
                <a:solidFill>
                  <a:srgbClr val="3A4A5A"/>
                </a:solidFill>
              </a:rPr>
              <a:t>, and the parser to use</a:t>
            </a:r>
          </a:p>
          <a:p>
            <a:pPr marL="566928" indent="-256032">
              <a:spcAft>
                <a:spcPts val="855"/>
              </a:spcAft>
              <a:buClr>
                <a:srgbClr val="6B7B8C"/>
              </a:buClr>
              <a:buSzPct val="100000"/>
              <a:buFont typeface="Arial"/>
              <a:buChar char="–"/>
            </a:pPr>
            <a:r>
              <a:rPr sz="1805" b="0" i="0">
                <a:solidFill>
                  <a:srgbClr val="8A2B52"/>
                </a:solidFill>
                <a:latin typeface="Consolas"/>
              </a:rPr>
              <a:t>globals</a:t>
            </a:r>
            <a:r>
              <a:rPr sz="1900" b="0" i="0">
                <a:solidFill>
                  <a:srgbClr val="3A4A5A"/>
                </a:solidFill>
              </a:rPr>
              <a:t> — the predefined variables the code can rely on</a:t>
            </a:r>
          </a:p>
          <a:p>
            <a:pPr marL="274320" indent="-256032">
              <a:spcAft>
                <a:spcPts val="990"/>
              </a:spcAft>
              <a:buClr>
                <a:srgbClr val="42B883"/>
              </a:buClr>
              <a:buSzPct val="100000"/>
              <a:buFont typeface="Arial"/>
              <a:buChar char="•"/>
            </a:pPr>
            <a:r>
              <a:rPr sz="2090" b="1" i="0">
                <a:solidFill>
                  <a:srgbClr val="8A2B52"/>
                </a:solidFill>
                <a:latin typeface="Consolas"/>
              </a:rPr>
              <a:t>files</a:t>
            </a:r>
            <a:r>
              <a:rPr sz="2200" b="1" i="0">
                <a:solidFill>
                  <a:srgbClr val="1F2A36"/>
                </a:solidFill>
              </a:rPr>
              <a:t> / </a:t>
            </a:r>
            <a:r>
              <a:rPr sz="2090" b="1" i="0">
                <a:solidFill>
                  <a:srgbClr val="8A2B52"/>
                </a:solidFill>
                <a:latin typeface="Consolas"/>
              </a:rPr>
              <a:t>ignores</a:t>
            </a:r>
          </a:p>
          <a:p>
            <a:pPr marL="566928" indent="-256032">
              <a:spcAft>
                <a:spcPts val="855"/>
              </a:spcAft>
              <a:buClr>
                <a:srgbClr val="6B7B8C"/>
              </a:buClr>
              <a:buSzPct val="100000"/>
              <a:buFont typeface="Arial"/>
              <a:buChar char="–"/>
            </a:pPr>
            <a:r>
              <a:rPr sz="1900" b="0" i="0">
                <a:solidFill>
                  <a:srgbClr val="3A4A5A"/>
                </a:solidFill>
              </a:rPr>
              <a:t>Which paths this configuration object applies to</a:t>
            </a:r>
          </a:p>
          <a:p>
            <a:pPr marL="274320" indent="-256032">
              <a:spcAft>
                <a:spcPts val="990"/>
              </a:spcAft>
              <a:buClr>
                <a:srgbClr val="42B883"/>
              </a:buClr>
              <a:buSzPct val="100000"/>
              <a:buFont typeface="Arial"/>
              <a:buChar char="•"/>
            </a:pPr>
            <a:r>
              <a:rPr sz="2090" b="1" i="0">
                <a:solidFill>
                  <a:srgbClr val="8A2B52"/>
                </a:solidFill>
                <a:latin typeface="Consolas"/>
              </a:rPr>
              <a:t>plugins</a:t>
            </a:r>
          </a:p>
          <a:p>
            <a:pPr marL="566928" indent="-256032">
              <a:spcAft>
                <a:spcPts val="855"/>
              </a:spcAft>
              <a:buClr>
                <a:srgbClr val="6B7B8C"/>
              </a:buClr>
              <a:buSzPct val="100000"/>
              <a:buFont typeface="Arial"/>
              <a:buChar char="–"/>
            </a:pPr>
            <a:r>
              <a:rPr sz="1900" b="0" i="0">
                <a:solidFill>
                  <a:srgbClr val="3A4A5A"/>
                </a:solidFill>
              </a:rPr>
              <a:t>Imported objects now, not strings resolved by name</a:t>
            </a:r>
          </a:p>
          <a:p>
            <a:pPr marL="274320" indent="-256032">
              <a:spcAft>
                <a:spcPts val="990"/>
              </a:spcAft>
              <a:buClr>
                <a:srgbClr val="42B883"/>
              </a:buClr>
              <a:buSzPct val="100000"/>
              <a:buFont typeface="Arial"/>
              <a:buChar char="•"/>
            </a:pPr>
            <a:r>
              <a:rPr sz="2090" b="1" i="0">
                <a:solidFill>
                  <a:srgbClr val="8A2B52"/>
                </a:solidFill>
                <a:latin typeface="Consolas"/>
              </a:rPr>
              <a:t>rules</a:t>
            </a:r>
          </a:p>
          <a:p>
            <a:pPr marL="566928" indent="-256032">
              <a:spcAft>
                <a:spcPts val="855"/>
              </a:spcAft>
              <a:buClr>
                <a:srgbClr val="6B7B8C"/>
              </a:buClr>
              <a:buSzPct val="100000"/>
              <a:buFont typeface="Arial"/>
              <a:buChar char="–"/>
            </a:pPr>
            <a:r>
              <a:rPr sz="1900" b="0" i="0">
                <a:solidFill>
                  <a:srgbClr val="3A4A5A"/>
                </a:solidFill>
              </a:rPr>
              <a:t>Turn rules on at different levels, with options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61</a:t>
            </a:fld>
            <a:endParaRPr lang="en-US" sz="900">
              <a:solidFill>
                <a:srgbClr val="9AA7B4"/>
              </a:solidFill>
            </a:endParaRPr>
          </a:p>
        </p:txBody>
      </p:sp>
    </p:spTree>
    <p:extLst>
      <p:ext uri="{BB962C8B-B14F-4D97-AF65-F5344CB8AC3E}">
        <p14:creationId xmlns:p14="http://schemas.microsoft.com/office/powerpoint/2010/main" val="23554648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ESLint Rules</a:t>
            </a:r>
          </a:p>
        </p:txBody>
      </p:sp>
      <p:sp>
        <p:nvSpPr>
          <p:cNvPr id="3" name="Body"/>
          <p:cNvSpPr txBox="1"/>
          <p:nvPr/>
        </p:nvSpPr>
        <p:spPr>
          <a:xfrm>
            <a:off x="457200" y="1261872"/>
            <a:ext cx="8229600" cy="172681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Three levels:</a:t>
            </a:r>
          </a:p>
          <a:p>
            <a:pPr marL="566928" indent="-256032">
              <a:spcAft>
                <a:spcPts val="855"/>
              </a:spcAft>
              <a:buClr>
                <a:srgbClr val="6B7B8C"/>
              </a:buClr>
              <a:buSzPct val="100000"/>
              <a:buFont typeface="Arial"/>
              <a:buChar char="–"/>
            </a:pPr>
            <a:r>
              <a:rPr sz="1805" b="0" i="0">
                <a:solidFill>
                  <a:srgbClr val="8A2B52"/>
                </a:solidFill>
                <a:latin typeface="Consolas"/>
              </a:rPr>
              <a:t>"off"</a:t>
            </a:r>
            <a:r>
              <a:rPr sz="1900" b="0" i="0">
                <a:solidFill>
                  <a:srgbClr val="3A4A5A"/>
                </a:solidFill>
              </a:rPr>
              <a:t> or </a:t>
            </a:r>
            <a:r>
              <a:rPr sz="1805" b="0" i="0">
                <a:solidFill>
                  <a:srgbClr val="8A2B52"/>
                </a:solidFill>
                <a:latin typeface="Consolas"/>
              </a:rPr>
              <a:t>0</a:t>
            </a:r>
            <a:r>
              <a:rPr sz="1900" b="0" i="0">
                <a:solidFill>
                  <a:srgbClr val="3A4A5A"/>
                </a:solidFill>
              </a:rPr>
              <a:t> — rule not applied</a:t>
            </a:r>
          </a:p>
          <a:p>
            <a:pPr marL="566928" indent="-256032">
              <a:spcAft>
                <a:spcPts val="855"/>
              </a:spcAft>
              <a:buClr>
                <a:srgbClr val="6B7B8C"/>
              </a:buClr>
              <a:buSzPct val="100000"/>
              <a:buFont typeface="Arial"/>
              <a:buChar char="–"/>
            </a:pPr>
            <a:r>
              <a:rPr sz="1805" b="0" i="0">
                <a:solidFill>
                  <a:srgbClr val="8A2B52"/>
                </a:solidFill>
                <a:latin typeface="Consolas"/>
              </a:rPr>
              <a:t>"warn"</a:t>
            </a:r>
            <a:r>
              <a:rPr sz="1900" b="0" i="0">
                <a:solidFill>
                  <a:srgbClr val="3A4A5A"/>
                </a:solidFill>
              </a:rPr>
              <a:t> or </a:t>
            </a:r>
            <a:r>
              <a:rPr sz="1805" b="0" i="0">
                <a:solidFill>
                  <a:srgbClr val="8A2B52"/>
                </a:solidFill>
                <a:latin typeface="Consolas"/>
              </a:rPr>
              <a:t>1</a:t>
            </a:r>
            <a:r>
              <a:rPr sz="1900" b="0" i="0">
                <a:solidFill>
                  <a:srgbClr val="3A4A5A"/>
                </a:solidFill>
              </a:rPr>
              <a:t> — reported, but doesn't fail the run</a:t>
            </a:r>
          </a:p>
          <a:p>
            <a:pPr marL="566928" indent="-256032">
              <a:spcAft>
                <a:spcPts val="855"/>
              </a:spcAft>
              <a:buClr>
                <a:srgbClr val="6B7B8C"/>
              </a:buClr>
              <a:buSzPct val="100000"/>
              <a:buFont typeface="Arial"/>
              <a:buChar char="–"/>
            </a:pPr>
            <a:r>
              <a:rPr sz="1805" b="0" i="0">
                <a:solidFill>
                  <a:srgbClr val="8A2B52"/>
                </a:solidFill>
                <a:latin typeface="Consolas"/>
              </a:rPr>
              <a:t>"error"</a:t>
            </a:r>
            <a:r>
              <a:rPr sz="1900" b="0" i="0">
                <a:solidFill>
                  <a:srgbClr val="3A4A5A"/>
                </a:solidFill>
              </a:rPr>
              <a:t> or </a:t>
            </a:r>
            <a:r>
              <a:rPr sz="1805" b="0" i="0">
                <a:solidFill>
                  <a:srgbClr val="8A2B52"/>
                </a:solidFill>
                <a:latin typeface="Consolas"/>
              </a:rPr>
              <a:t>2</a:t>
            </a:r>
            <a:r>
              <a:rPr sz="1900" b="0" i="0">
                <a:solidFill>
                  <a:srgbClr val="3A4A5A"/>
                </a:solidFill>
              </a:rPr>
              <a:t> — reported, and ESLint exits with an error code</a:t>
            </a:r>
          </a:p>
        </p:txBody>
      </p:sp>
      <p:sp>
        <p:nvSpPr>
          <p:cNvPr id="4" name="Code"/>
          <p:cNvSpPr/>
          <p:nvPr/>
        </p:nvSpPr>
        <p:spPr>
          <a:xfrm>
            <a:off x="457200" y="3043555"/>
            <a:ext cx="8229600" cy="306425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i="1">
                <a:solidFill>
                  <a:srgbClr val="6E7781"/>
                </a:solidFill>
                <a:latin typeface="Consolas"/>
              </a:rPr>
              <a:t>// eslint.config.js</a:t>
            </a:r>
          </a:p>
          <a:p>
            <a:pPr marL="0" indent="0" algn="l">
              <a:lnSpc>
                <a:spcPct val="100000"/>
              </a:lnSpc>
              <a:buNone/>
            </a:pPr>
            <a:r>
              <a:rPr sz="1600">
                <a:solidFill>
                  <a:srgbClr val="CF222E"/>
                </a:solidFill>
                <a:latin typeface="Consolas"/>
              </a:rPr>
              <a:t>export</a:t>
            </a:r>
            <a:r>
              <a:rPr sz="1600">
                <a:solidFill>
                  <a:srgbClr val="24292F"/>
                </a:solidFill>
                <a:latin typeface="Consolas"/>
              </a:rPr>
              <a:t> </a:t>
            </a:r>
            <a:r>
              <a:rPr sz="1600">
                <a:solidFill>
                  <a:srgbClr val="CF222E"/>
                </a:solidFill>
                <a:latin typeface="Consolas"/>
              </a:rPr>
              <a:t>default</a:t>
            </a:r>
            <a:r>
              <a:rPr sz="1600">
                <a:solidFill>
                  <a:srgbClr val="24292F"/>
                </a:solidFill>
                <a:latin typeface="Consolas"/>
              </a:rPr>
              <a:t>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    files: [</a:t>
            </a:r>
            <a:r>
              <a:rPr sz="1600">
                <a:solidFill>
                  <a:srgbClr val="0A3069"/>
                </a:solidFill>
                <a:latin typeface="Consolas"/>
              </a:rPr>
              <a:t>'**/*.js'</a:t>
            </a:r>
            <a:r>
              <a:rPr sz="1600">
                <a:solidFill>
                  <a:srgbClr val="24292F"/>
                </a:solidFill>
                <a:latin typeface="Consolas"/>
              </a:rPr>
              <a:t>],</a:t>
            </a:r>
          </a:p>
          <a:p>
            <a:pPr marL="0" indent="0" algn="l">
              <a:lnSpc>
                <a:spcPct val="100000"/>
              </a:lnSpc>
              <a:buNone/>
            </a:pPr>
            <a:r>
              <a:rPr sz="1600">
                <a:solidFill>
                  <a:srgbClr val="24292F"/>
                </a:solidFill>
                <a:latin typeface="Consolas"/>
              </a:rPr>
              <a:t>    rules: {</a:t>
            </a:r>
          </a:p>
          <a:p>
            <a:pPr marL="0" indent="0" algn="l">
              <a:lnSpc>
                <a:spcPct val="100000"/>
              </a:lnSpc>
              <a:buNone/>
            </a:pPr>
            <a:r>
              <a:rPr sz="1600">
                <a:solidFill>
                  <a:srgbClr val="24292F"/>
                </a:solidFill>
                <a:latin typeface="Consolas"/>
              </a:rPr>
              <a:t>      eqeqeq: </a:t>
            </a:r>
            <a:r>
              <a:rPr sz="1600">
                <a:solidFill>
                  <a:srgbClr val="0A3069"/>
                </a:solidFill>
                <a:latin typeface="Consolas"/>
              </a:rPr>
              <a:t>'off'</a:t>
            </a:r>
            <a:r>
              <a:rPr sz="1600">
                <a:solidFill>
                  <a:srgbClr val="24292F"/>
                </a:solidFill>
                <a:latin typeface="Consolas"/>
              </a:rPr>
              <a:t>,</a:t>
            </a:r>
          </a:p>
          <a:p>
            <a:pPr marL="0" indent="0" algn="l">
              <a:lnSpc>
                <a:spcPct val="100000"/>
              </a:lnSpc>
              <a:buNone/>
            </a:pPr>
            <a:r>
              <a:rPr sz="1600">
                <a:solidFill>
                  <a:srgbClr val="24292F"/>
                </a:solidFill>
                <a:latin typeface="Consolas"/>
              </a:rPr>
              <a:t>      curly: </a:t>
            </a:r>
            <a:r>
              <a:rPr sz="1600">
                <a:solidFill>
                  <a:srgbClr val="0A3069"/>
                </a:solidFill>
                <a:latin typeface="Consolas"/>
              </a:rPr>
              <a:t>'error'</a:t>
            </a:r>
            <a:r>
              <a:rPr sz="1600">
                <a:solidFill>
                  <a:srgbClr val="24292F"/>
                </a:solidFill>
                <a:latin typeface="Consolas"/>
              </a:rPr>
              <a:t>,</a:t>
            </a:r>
          </a:p>
          <a:p>
            <a:pPr marL="0" indent="0" algn="l">
              <a:lnSpc>
                <a:spcPct val="100000"/>
              </a:lnSpc>
              <a:buNone/>
            </a:pPr>
            <a:r>
              <a:rPr sz="1600">
                <a:solidFill>
                  <a:srgbClr val="24292F"/>
                </a:solidFill>
                <a:latin typeface="Consolas"/>
              </a:rPr>
              <a:t>      quotes: [</a:t>
            </a:r>
            <a:r>
              <a:rPr sz="1600">
                <a:solidFill>
                  <a:srgbClr val="0A3069"/>
                </a:solidFill>
                <a:latin typeface="Consolas"/>
              </a:rPr>
              <a:t>'error'</a:t>
            </a:r>
            <a:r>
              <a:rPr sz="1600">
                <a:solidFill>
                  <a:srgbClr val="24292F"/>
                </a:solidFill>
                <a:latin typeface="Consolas"/>
              </a:rPr>
              <a:t>, </a:t>
            </a:r>
            <a:r>
              <a:rPr sz="1600">
                <a:solidFill>
                  <a:srgbClr val="0A3069"/>
                </a:solidFill>
                <a:latin typeface="Consolas"/>
              </a:rPr>
              <a:t>'double'</a:t>
            </a:r>
            <a:r>
              <a:rPr sz="1600">
                <a:solidFill>
                  <a:srgbClr val="24292F"/>
                </a:solidFill>
                <a:latin typeface="Consolas"/>
              </a:rPr>
              <a:t>],</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62</a:t>
            </a:fld>
            <a:endParaRPr lang="en-US" sz="900">
              <a:solidFill>
                <a:srgbClr val="9AA7B4"/>
              </a:solidFill>
            </a:endParaRPr>
          </a:p>
        </p:txBody>
      </p:sp>
    </p:spTree>
    <p:extLst>
      <p:ext uri="{BB962C8B-B14F-4D97-AF65-F5344CB8AC3E}">
        <p14:creationId xmlns:p14="http://schemas.microsoft.com/office/powerpoint/2010/main" val="10336142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lvl="0" indent="0" algn="l" rtl="0">
              <a:buNone/>
            </a:pPr>
            <a:r>
              <a:rPr sz="3000" b="1" i="0" cap="none">
                <a:solidFill>
                  <a:srgbClr val="2C3E50"/>
                </a:solidFill>
              </a:rPr>
              <a:t>Automate Linting</a:t>
            </a:r>
          </a:p>
        </p:txBody>
      </p:sp>
      <p:sp>
        <p:nvSpPr>
          <p:cNvPr id="3" name="Chip LAB 09"/>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09</a:t>
            </a:r>
          </a:p>
        </p:txBody>
      </p:sp>
      <p:sp>
        <p:nvSpPr>
          <p:cNvPr id="4"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Install ESLint, write a flat config, and run the linter automatically before your tests.</a:t>
            </a:r>
          </a:p>
        </p:txBody>
      </p:sp>
      <p:sp>
        <p:nvSpPr>
          <p:cNvPr id="6" name="Body"/>
          <p:cNvSpPr txBox="1"/>
          <p:nvPr/>
        </p:nvSpPr>
        <p:spPr>
          <a:xfrm>
            <a:off x="457200" y="2441448"/>
            <a:ext cx="8229600" cy="216153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npm install --save-dev eslint @eslint/js globals</a:t>
            </a:r>
          </a:p>
          <a:p>
            <a:pPr marL="274320" indent="-256032">
              <a:spcAft>
                <a:spcPts val="900"/>
              </a:spcAft>
              <a:buClr>
                <a:srgbClr val="42B883"/>
              </a:buClr>
              <a:buSzPct val="100000"/>
              <a:buFont typeface="Arial"/>
              <a:buChar char="•"/>
            </a:pPr>
            <a:r>
              <a:rPr sz="2000" b="0" i="0">
                <a:solidFill>
                  <a:srgbClr val="1F2A36"/>
                </a:solidFill>
              </a:rPr>
              <a:t>Write an </a:t>
            </a:r>
            <a:r>
              <a:rPr sz="1900" b="0" i="0">
                <a:solidFill>
                  <a:srgbClr val="8A2B52"/>
                </a:solidFill>
                <a:latin typeface="Consolas"/>
              </a:rPr>
              <a:t>eslint.config.js</a:t>
            </a:r>
            <a:r>
              <a:rPr sz="2000" b="0" i="0">
                <a:solidFill>
                  <a:srgbClr val="1F2A36"/>
                </a:solidFill>
              </a:rPr>
              <a:t> flat config</a:t>
            </a:r>
          </a:p>
          <a:p>
            <a:pPr marL="274320" indent="-256032">
              <a:spcAft>
                <a:spcPts val="900"/>
              </a:spcAft>
              <a:buClr>
                <a:srgbClr val="42B883"/>
              </a:buClr>
              <a:buSzPct val="100000"/>
              <a:buFont typeface="Arial"/>
              <a:buChar char="•"/>
            </a:pPr>
            <a:r>
              <a:rPr sz="2000" b="0" i="0">
                <a:solidFill>
                  <a:srgbClr val="1F2A36"/>
                </a:solidFill>
              </a:rPr>
              <a:t>Create an npm script called </a:t>
            </a:r>
            <a:r>
              <a:rPr sz="1900" b="0" i="0">
                <a:solidFill>
                  <a:srgbClr val="8A2B52"/>
                </a:solidFill>
                <a:latin typeface="Consolas"/>
              </a:rPr>
              <a:t>lint</a:t>
            </a:r>
          </a:p>
          <a:p>
            <a:pPr marL="274320" indent="-256032">
              <a:spcAft>
                <a:spcPts val="900"/>
              </a:spcAft>
              <a:buClr>
                <a:srgbClr val="42B883"/>
              </a:buClr>
              <a:buSzPct val="100000"/>
              <a:buFont typeface="Arial"/>
              <a:buChar char="•"/>
            </a:pPr>
            <a:r>
              <a:rPr sz="2000" b="0" i="0">
                <a:solidFill>
                  <a:srgbClr val="1F2A36"/>
                </a:solidFill>
              </a:rPr>
              <a:t>Fix the errors (or tune the rules) until only warnings remain</a:t>
            </a:r>
          </a:p>
          <a:p>
            <a:pPr marL="274320" indent="-256032">
              <a:spcAft>
                <a:spcPts val="900"/>
              </a:spcAft>
              <a:buClr>
                <a:srgbClr val="42B883"/>
              </a:buClr>
              <a:buSzPct val="100000"/>
              <a:buFont typeface="Arial"/>
              <a:buChar char="•"/>
            </a:pPr>
            <a:r>
              <a:rPr sz="2000" b="0" i="0">
                <a:solidFill>
                  <a:srgbClr val="1F2A36"/>
                </a:solidFill>
              </a:rPr>
              <a:t>Make </a:t>
            </a:r>
            <a:r>
              <a:rPr sz="1900" b="0" i="0">
                <a:solidFill>
                  <a:srgbClr val="8A2B52"/>
                </a:solidFill>
                <a:latin typeface="Consolas"/>
              </a:rPr>
              <a:t>prebuild</a:t>
            </a:r>
            <a:r>
              <a:rPr sz="2000" b="0" i="0">
                <a:solidFill>
                  <a:srgbClr val="1F2A36"/>
                </a:solidFill>
              </a:rPr>
              <a:t> run </a:t>
            </a:r>
            <a:r>
              <a:rPr sz="1900" b="0" i="0">
                <a:solidFill>
                  <a:srgbClr val="8A2B52"/>
                </a:solidFill>
                <a:latin typeface="Consolas"/>
              </a:rPr>
              <a:t>lint</a:t>
            </a:r>
            <a:r>
              <a:rPr sz="2000" b="0" i="0">
                <a:solidFill>
                  <a:srgbClr val="1F2A36"/>
                </a:solidFill>
              </a:rPr>
              <a:t> before </a:t>
            </a:r>
            <a:r>
              <a:rPr sz="1900" b="0" i="0">
                <a:solidFill>
                  <a:srgbClr val="8A2B52"/>
                </a:solidFill>
                <a:latin typeface="Consolas"/>
              </a:rPr>
              <a:t>test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63</a:t>
            </a:fld>
            <a:endParaRPr lang="en-US" sz="900">
              <a:solidFill>
                <a:srgbClr val="9AA7B4"/>
              </a:solidFill>
            </a:endParaRPr>
          </a:p>
        </p:txBody>
      </p:sp>
    </p:spTree>
    <p:extLst>
      <p:ext uri="{BB962C8B-B14F-4D97-AF65-F5344CB8AC3E}">
        <p14:creationId xmlns:p14="http://schemas.microsoft.com/office/powerpoint/2010/main" val="18549553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6A5B-CCB9-EF4B-AE73-9D6203ADA4C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Transpilers</a:t>
            </a:r>
          </a:p>
        </p:txBody>
      </p:sp>
      <p:sp>
        <p:nvSpPr>
          <p:cNvPr id="3" name="Body"/>
          <p:cNvSpPr txBox="1"/>
          <p:nvPr/>
        </p:nvSpPr>
        <p:spPr>
          <a:xfrm>
            <a:off x="457200" y="1261872"/>
            <a:ext cx="8229600" cy="425983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Not all browsers support the same JavaScript and CSS features</a:t>
            </a:r>
          </a:p>
          <a:p>
            <a:pPr marL="566928" indent="-256032">
              <a:spcAft>
                <a:spcPts val="855"/>
              </a:spcAft>
              <a:buClr>
                <a:srgbClr val="6B7B8C"/>
              </a:buClr>
              <a:buSzPct val="100000"/>
              <a:buFont typeface="Arial"/>
              <a:buChar char="–"/>
            </a:pPr>
            <a:r>
              <a:rPr sz="1900" b="0" i="0">
                <a:solidFill>
                  <a:srgbClr val="3A4A5A"/>
                </a:solidFill>
              </a:rPr>
              <a:t>Check support at </a:t>
            </a:r>
            <a:r>
              <a:rPr sz="1900" b="1" i="0">
                <a:solidFill>
                  <a:srgbClr val="3A4A5A"/>
                </a:solidFill>
              </a:rPr>
              <a:t>caniuse.com</a:t>
            </a:r>
          </a:p>
          <a:p>
            <a:pPr marL="274320" indent="-256032">
              <a:spcAft>
                <a:spcPts val="990"/>
              </a:spcAft>
              <a:buClr>
                <a:srgbClr val="42B883"/>
              </a:buClr>
              <a:buSzPct val="100000"/>
              <a:buFont typeface="Arial"/>
              <a:buChar char="•"/>
            </a:pPr>
            <a:r>
              <a:rPr sz="2200" b="0" i="0">
                <a:solidFill>
                  <a:srgbClr val="1F2A36"/>
                </a:solidFill>
              </a:rPr>
              <a:t>Transpilers convert modern code to a form older browsers accept</a:t>
            </a:r>
          </a:p>
          <a:p>
            <a:pPr marL="274320" indent="-256032">
              <a:spcAft>
                <a:spcPts val="990"/>
              </a:spcAft>
              <a:buClr>
                <a:srgbClr val="42B883"/>
              </a:buClr>
              <a:buSzPct val="100000"/>
              <a:buFont typeface="Arial"/>
              <a:buChar char="•"/>
            </a:pPr>
            <a:r>
              <a:rPr sz="2200" b="0" i="0">
                <a:solidFill>
                  <a:srgbClr val="1F2A36"/>
                </a:solidFill>
              </a:rPr>
              <a:t>In a Vite project this happens at build time</a:t>
            </a:r>
          </a:p>
          <a:p>
            <a:pPr marL="566928" indent="-256032">
              <a:spcAft>
                <a:spcPts val="855"/>
              </a:spcAft>
              <a:buClr>
                <a:srgbClr val="6B7B8C"/>
              </a:buClr>
              <a:buSzPct val="100000"/>
              <a:buFont typeface="Arial"/>
              <a:buChar char="–"/>
            </a:pPr>
            <a:r>
              <a:rPr sz="1900" b="0" i="0">
                <a:solidFill>
                  <a:srgbClr val="3A4A5A"/>
                </a:solidFill>
              </a:rPr>
              <a:t>Vite 8 uses </a:t>
            </a:r>
            <a:r>
              <a:rPr sz="1900" b="1" i="0">
                <a:solidFill>
                  <a:srgbClr val="3A4A5A"/>
                </a:solidFill>
              </a:rPr>
              <a:t>Oxc</a:t>
            </a:r>
            <a:r>
              <a:rPr sz="1900" b="0" i="0">
                <a:solidFill>
                  <a:srgbClr val="3A4A5A"/>
                </a:solidFill>
              </a:rPr>
              <a:t> for JavaScript and TypeScript, and </a:t>
            </a:r>
            <a:r>
              <a:rPr sz="1900" b="1" i="0">
                <a:solidFill>
                  <a:srgbClr val="3A4A5A"/>
                </a:solidFill>
              </a:rPr>
              <a:t>Lightning CSS</a:t>
            </a:r>
            <a:r>
              <a:rPr sz="1900" b="0" i="0">
                <a:solidFill>
                  <a:srgbClr val="3A4A5A"/>
                </a:solidFill>
              </a:rPr>
              <a:t> for CSS</a:t>
            </a:r>
          </a:p>
          <a:p>
            <a:pPr marL="566928" indent="-256032">
              <a:spcAft>
                <a:spcPts val="855"/>
              </a:spcAft>
              <a:buClr>
                <a:srgbClr val="6B7B8C"/>
              </a:buClr>
              <a:buSzPct val="100000"/>
              <a:buFont typeface="Arial"/>
              <a:buChar char="–"/>
            </a:pPr>
            <a:r>
              <a:rPr sz="1900" b="0" i="0">
                <a:solidFill>
                  <a:srgbClr val="3A4A5A"/>
                </a:solidFill>
              </a:rPr>
              <a:t>The default target is "baseline widely available" browsers</a:t>
            </a:r>
          </a:p>
          <a:p>
            <a:pPr marL="566928" indent="-256032">
              <a:spcAft>
                <a:spcPts val="855"/>
              </a:spcAft>
              <a:buClr>
                <a:srgbClr val="6B7B8C"/>
              </a:buClr>
              <a:buSzPct val="100000"/>
              <a:buFont typeface="Arial"/>
              <a:buChar char="–"/>
            </a:pPr>
            <a:r>
              <a:rPr sz="1900" b="0" i="0">
                <a:solidFill>
                  <a:srgbClr val="3A4A5A"/>
                </a:solidFill>
              </a:rPr>
              <a:t>Set </a:t>
            </a:r>
            <a:r>
              <a:rPr sz="1805" b="0" i="0">
                <a:solidFill>
                  <a:srgbClr val="8A2B52"/>
                </a:solidFill>
                <a:latin typeface="Consolas"/>
              </a:rPr>
              <a:t>build.target</a:t>
            </a:r>
            <a:r>
              <a:rPr sz="1900" b="0" i="0">
                <a:solidFill>
                  <a:srgbClr val="3A4A5A"/>
                </a:solidFill>
              </a:rPr>
              <a:t> in </a:t>
            </a:r>
            <a:r>
              <a:rPr sz="1805" b="0" i="0">
                <a:solidFill>
                  <a:srgbClr val="8A2B52"/>
                </a:solidFill>
                <a:latin typeface="Consolas"/>
              </a:rPr>
              <a:t>vite.config.js</a:t>
            </a:r>
            <a:r>
              <a:rPr sz="1900" b="0" i="0">
                <a:solidFill>
                  <a:srgbClr val="3A4A5A"/>
                </a:solidFill>
              </a:rPr>
              <a:t> to support older browsers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64</a:t>
            </a:fld>
            <a:endParaRPr lang="en-US" sz="900">
              <a:solidFill>
                <a:srgbClr val="9AA7B4"/>
              </a:solidFill>
            </a:endParaRPr>
          </a:p>
        </p:txBody>
      </p:sp>
    </p:spTree>
    <p:extLst>
      <p:ext uri="{BB962C8B-B14F-4D97-AF65-F5344CB8AC3E}">
        <p14:creationId xmlns:p14="http://schemas.microsoft.com/office/powerpoint/2010/main" val="892470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2BC2EC-2615-E54C-8D68-D71549BFB37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Browser Compatibility Tables</a:t>
            </a:r>
          </a:p>
        </p:txBody>
      </p:sp>
      <p:pic>
        <p:nvPicPr>
          <p:cNvPr id="2" name="Content Placeholder 11" descr="A screenshot of a video game&#10;&#10;Description automatically generated">
            <a:extLst>
              <a:ext uri="{FF2B5EF4-FFF2-40B4-BE49-F238E27FC236}">
                <a16:creationId xmlns:a16="http://schemas.microsoft.com/office/drawing/2014/main" id="{554743B6-9B53-67A8-9E40-951999A4F775}"/>
              </a:ext>
            </a:extLst>
          </p:cNvPr>
          <p:cNvPicPr>
            <a:picLocks noChangeAspect="1"/>
          </p:cNvPicPr>
          <p:nvPr/>
        </p:nvPicPr>
        <p:blipFill>
          <a:blip r:embed="rId3"/>
          <a:stretch>
            <a:fillRect/>
          </a:stretch>
        </p:blipFill>
        <p:spPr>
          <a:xfrm>
            <a:off x="457200" y="1881036"/>
            <a:ext cx="8229600" cy="4195239"/>
          </a:xfrm>
          <a:prstGeom prst="rect">
            <a:avLst/>
          </a:prstGeom>
          <a:ln w="12700">
            <a:solidFill>
              <a:srgbClr val="D6DEE6"/>
            </a:solidFill>
          </a:ln>
        </p:spPr>
      </p:pic>
      <p:sp>
        <p:nvSpPr>
          <p:cNvPr id="6" name="Body"/>
          <p:cNvSpPr txBox="1"/>
          <p:nvPr/>
        </p:nvSpPr>
        <p:spPr>
          <a:xfrm>
            <a:off x="457200" y="1261872"/>
            <a:ext cx="8229600" cy="422656"/>
          </a:xfrm>
          <a:prstGeom prst="rect">
            <a:avLst/>
          </a:prstGeom>
          <a:noFill/>
        </p:spPr>
        <p:txBody>
          <a:bodyPr wrap="square" lIns="0" tIns="0" rIns="0" bIns="0">
            <a:noAutofit/>
          </a:bodyPr>
          <a:lstStyle/>
          <a:p>
            <a:pPr marL="0" indent="0">
              <a:spcAft>
                <a:spcPts val="720"/>
              </a:spcAft>
              <a:buNone/>
            </a:pPr>
            <a:r>
              <a:rPr sz="1600" b="0" i="0">
                <a:solidFill>
                  <a:srgbClr val="1F2A36"/>
                </a:solidFill>
              </a:rPr>
              <a:t>Feature-by-feature support across browsers and versions (compat-table.github.io)</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65</a:t>
            </a:fld>
            <a:endParaRPr lang="en-US" sz="900">
              <a:solidFill>
                <a:srgbClr val="9AA7B4"/>
              </a:solidFill>
            </a:endParaRPr>
          </a:p>
        </p:txBody>
      </p:sp>
    </p:spTree>
    <p:extLst>
      <p:ext uri="{BB962C8B-B14F-4D97-AF65-F5344CB8AC3E}">
        <p14:creationId xmlns:p14="http://schemas.microsoft.com/office/powerpoint/2010/main" val="41267229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rtl="0">
              <a:buNone/>
            </a:pPr>
            <a:r>
              <a:rPr sz="3000" b="1" i="0" cap="none">
                <a:solidFill>
                  <a:srgbClr val="2C3E50"/>
                </a:solidFill>
              </a:rPr>
              <a:t>Babel, esbuild, and Oxc</a:t>
            </a:r>
          </a:p>
        </p:txBody>
      </p:sp>
      <p:sp>
        <p:nvSpPr>
          <p:cNvPr id="3" name="Body"/>
          <p:cNvSpPr txBox="1"/>
          <p:nvPr/>
        </p:nvSpPr>
        <p:spPr>
          <a:xfrm>
            <a:off x="457200" y="1261872"/>
            <a:ext cx="8229600" cy="296735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Babel</a:t>
            </a:r>
            <a:r>
              <a:rPr sz="2200" b="0" i="0">
                <a:solidFill>
                  <a:srgbClr val="1F2A36"/>
                </a:solidFill>
              </a:rPr>
              <a:t> — the original JavaScript transpiler</a:t>
            </a:r>
          </a:p>
          <a:p>
            <a:pPr marL="566928" indent="-256032">
              <a:spcAft>
                <a:spcPts val="855"/>
              </a:spcAft>
              <a:buClr>
                <a:srgbClr val="6B7B8C"/>
              </a:buClr>
              <a:buSzPct val="100000"/>
              <a:buFont typeface="Arial"/>
              <a:buChar char="–"/>
            </a:pPr>
            <a:r>
              <a:rPr sz="1900" b="0" i="0">
                <a:solidFill>
                  <a:srgbClr val="3A4A5A"/>
                </a:solidFill>
              </a:rPr>
              <a:t>Plugin-based; the reference implementation for proposed syntax</a:t>
            </a:r>
          </a:p>
          <a:p>
            <a:pPr marL="274320" indent="-256032">
              <a:spcAft>
                <a:spcPts val="990"/>
              </a:spcAft>
              <a:buClr>
                <a:srgbClr val="42B883"/>
              </a:buClr>
              <a:buSzPct val="100000"/>
              <a:buFont typeface="Arial"/>
              <a:buChar char="•"/>
            </a:pPr>
            <a:r>
              <a:rPr sz="2200" b="1" i="0">
                <a:solidFill>
                  <a:srgbClr val="1F2A36"/>
                </a:solidFill>
              </a:rPr>
              <a:t>esbuild</a:t>
            </a:r>
            <a:r>
              <a:rPr sz="2200" b="0" i="0">
                <a:solidFill>
                  <a:srgbClr val="1F2A36"/>
                </a:solidFill>
              </a:rPr>
              <a:t> — written in Go, roughly 100× faster than Babel</a:t>
            </a:r>
          </a:p>
          <a:p>
            <a:pPr marL="566928" indent="-256032">
              <a:spcAft>
                <a:spcPts val="855"/>
              </a:spcAft>
              <a:buClr>
                <a:srgbClr val="6B7B8C"/>
              </a:buClr>
              <a:buSzPct val="100000"/>
              <a:buFont typeface="Arial"/>
              <a:buChar char="–"/>
            </a:pPr>
            <a:r>
              <a:rPr sz="1900" b="0" i="0">
                <a:solidFill>
                  <a:srgbClr val="3A4A5A"/>
                </a:solidFill>
              </a:rPr>
              <a:t>Vite used it for dev-time transforms through Vite 7</a:t>
            </a:r>
          </a:p>
          <a:p>
            <a:pPr marL="274320" indent="-256032">
              <a:spcAft>
                <a:spcPts val="990"/>
              </a:spcAft>
              <a:buClr>
                <a:srgbClr val="42B883"/>
              </a:buClr>
              <a:buSzPct val="100000"/>
              <a:buFont typeface="Arial"/>
              <a:buChar char="•"/>
            </a:pPr>
            <a:r>
              <a:rPr sz="2200" b="1" i="0">
                <a:solidFill>
                  <a:srgbClr val="1F2A36"/>
                </a:solidFill>
              </a:rPr>
              <a:t>Oxc</a:t>
            </a:r>
            <a:r>
              <a:rPr sz="2200" b="0" i="0">
                <a:solidFill>
                  <a:srgbClr val="1F2A36"/>
                </a:solidFill>
              </a:rPr>
              <a:t> — Rust compiler toolchain (parser, transformer, minifier)</a:t>
            </a:r>
          </a:p>
          <a:p>
            <a:pPr marL="566928" indent="-256032">
              <a:spcAft>
                <a:spcPts val="855"/>
              </a:spcAft>
              <a:buClr>
                <a:srgbClr val="6B7B8C"/>
              </a:buClr>
              <a:buSzPct val="100000"/>
              <a:buFont typeface="Arial"/>
              <a:buChar char="–"/>
            </a:pPr>
            <a:r>
              <a:rPr sz="1900" b="0" i="0">
                <a:solidFill>
                  <a:srgbClr val="3A4A5A"/>
                </a:solidFill>
              </a:rPr>
              <a:t>What Vite 8 uses for transforms</a:t>
            </a:r>
          </a:p>
        </p:txBody>
      </p:sp>
      <p:sp>
        <p:nvSpPr>
          <p:cNvPr id="4" name="Tip"/>
          <p:cNvSpPr/>
          <p:nvPr/>
        </p:nvSpPr>
        <p:spPr>
          <a:xfrm>
            <a:off x="457200" y="4284091"/>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You rarely configure any of these directly in a Vite project.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66</a:t>
            </a:fld>
            <a:endParaRPr lang="en-US" sz="900">
              <a:solidFill>
                <a:srgbClr val="9AA7B4"/>
              </a:solidFill>
            </a:endParaRPr>
          </a:p>
        </p:txBody>
      </p:sp>
    </p:spTree>
    <p:extLst>
      <p:ext uri="{BB962C8B-B14F-4D97-AF65-F5344CB8AC3E}">
        <p14:creationId xmlns:p14="http://schemas.microsoft.com/office/powerpoint/2010/main" val="387727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71884E-BE35-2B43-B7ED-EE02B6FB27D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Transpiling Example</a:t>
            </a:r>
          </a:p>
        </p:txBody>
      </p:sp>
      <p:sp>
        <p:nvSpPr>
          <p:cNvPr id="6"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ES2015</a:t>
            </a:r>
          </a:p>
        </p:txBody>
      </p:sp>
      <p:sp>
        <p:nvSpPr>
          <p:cNvPr id="7" name="Code"/>
          <p:cNvSpPr/>
          <p:nvPr/>
        </p:nvSpPr>
        <p:spPr>
          <a:xfrm>
            <a:off x="457200" y="1835657"/>
            <a:ext cx="395478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let</a:t>
            </a:r>
            <a:r>
              <a:rPr sz="2000">
                <a:solidFill>
                  <a:srgbClr val="24292F"/>
                </a:solidFill>
                <a:latin typeface="Consolas"/>
              </a:rPr>
              <a:t> myFunc = () =&gt; {</a:t>
            </a:r>
          </a:p>
          <a:p>
            <a:pPr marL="0" indent="0" algn="l">
              <a:lnSpc>
                <a:spcPct val="100000"/>
              </a:lnSpc>
              <a:buNone/>
            </a:pPr>
            <a:r>
              <a:rPr sz="2000">
                <a:solidFill>
                  <a:srgbClr val="24292F"/>
                </a:solidFill>
                <a:latin typeface="Consolas"/>
              </a:rPr>
              <a:t>  </a:t>
            </a:r>
            <a:r>
              <a:rPr sz="2000">
                <a:solidFill>
                  <a:srgbClr val="CF222E"/>
                </a:solidFill>
                <a:latin typeface="Consolas"/>
              </a:rPr>
              <a:t>let</a:t>
            </a:r>
            <a:r>
              <a:rPr sz="2000">
                <a:solidFill>
                  <a:srgbClr val="24292F"/>
                </a:solidFill>
                <a:latin typeface="Consolas"/>
              </a:rPr>
              <a:t> myVar = {</a:t>
            </a:r>
          </a:p>
          <a:p>
            <a:pPr marL="0" indent="0" algn="l">
              <a:lnSpc>
                <a:spcPct val="100000"/>
              </a:lnSpc>
              <a:buNone/>
            </a:pPr>
            <a:r>
              <a:rPr sz="2000">
                <a:solidFill>
                  <a:srgbClr val="24292F"/>
                </a:solidFill>
                <a:latin typeface="Consolas"/>
              </a:rPr>
              <a:t>    myProp,</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8"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a:t>
            </a:r>
          </a:p>
        </p:txBody>
      </p:sp>
      <p:sp>
        <p:nvSpPr>
          <p:cNvPr id="9" name="Code"/>
          <p:cNvSpPr/>
          <p:nvPr/>
        </p:nvSpPr>
        <p:spPr>
          <a:xfrm>
            <a:off x="4732020" y="1835657"/>
            <a:ext cx="3954780" cy="18359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0A3069"/>
                </a:solidFill>
                <a:latin typeface="Consolas"/>
              </a:rPr>
              <a:t>"use strict"</a:t>
            </a:r>
            <a:r>
              <a:rPr sz="1400">
                <a:solidFill>
                  <a:srgbClr val="24292F"/>
                </a:solidFill>
                <a:latin typeface="Consolas"/>
              </a:rPr>
              <a:t>;</a:t>
            </a:r>
          </a:p>
          <a:p>
            <a:pPr marL="0" indent="0" algn="l">
              <a:lnSpc>
                <a:spcPct val="100000"/>
              </a:lnSpc>
              <a:buNone/>
            </a:pPr>
            <a:r>
              <a:rPr sz="1400">
                <a:latin typeface="Consolas"/>
              </a:rPr>
              <a:t> </a:t>
            </a:r>
          </a:p>
          <a:p>
            <a:pPr marL="0" indent="0" algn="l">
              <a:lnSpc>
                <a:spcPct val="100000"/>
              </a:lnSpc>
              <a:buNone/>
            </a:pPr>
            <a:r>
              <a:rPr sz="1400">
                <a:solidFill>
                  <a:srgbClr val="CF222E"/>
                </a:solidFill>
                <a:latin typeface="Consolas"/>
              </a:rPr>
              <a:t>var</a:t>
            </a:r>
            <a:r>
              <a:rPr sz="1400">
                <a:solidFill>
                  <a:srgbClr val="24292F"/>
                </a:solidFill>
                <a:latin typeface="Consolas"/>
              </a:rPr>
              <a:t> myFunc = </a:t>
            </a:r>
            <a:r>
              <a:rPr sz="1400">
                <a:solidFill>
                  <a:srgbClr val="CF222E"/>
                </a:solidFill>
                <a:latin typeface="Consolas"/>
              </a:rPr>
              <a:t>function</a:t>
            </a:r>
            <a:r>
              <a:rPr sz="1400">
                <a:solidFill>
                  <a:srgbClr val="24292F"/>
                </a:solidFill>
                <a:latin typeface="Consolas"/>
              </a:rPr>
              <a:t> myFunc() {</a:t>
            </a:r>
          </a:p>
          <a:p>
            <a:pPr marL="0" indent="0" algn="l">
              <a:lnSpc>
                <a:spcPct val="100000"/>
              </a:lnSpc>
              <a:buNone/>
            </a:pPr>
            <a:r>
              <a:rPr sz="1400">
                <a:solidFill>
                  <a:srgbClr val="24292F"/>
                </a:solidFill>
                <a:latin typeface="Consolas"/>
              </a:rPr>
              <a:t>  </a:t>
            </a:r>
            <a:r>
              <a:rPr sz="1400">
                <a:solidFill>
                  <a:srgbClr val="CF222E"/>
                </a:solidFill>
                <a:latin typeface="Consolas"/>
              </a:rPr>
              <a:t>var</a:t>
            </a:r>
            <a:r>
              <a:rPr sz="1400">
                <a:solidFill>
                  <a:srgbClr val="24292F"/>
                </a:solidFill>
                <a:latin typeface="Consolas"/>
              </a:rPr>
              <a:t> myVar = {</a:t>
            </a:r>
          </a:p>
          <a:p>
            <a:pPr marL="0" indent="0" algn="l">
              <a:lnSpc>
                <a:spcPct val="100000"/>
              </a:lnSpc>
              <a:buNone/>
            </a:pPr>
            <a:r>
              <a:rPr sz="1400">
                <a:solidFill>
                  <a:srgbClr val="24292F"/>
                </a:solidFill>
                <a:latin typeface="Consolas"/>
              </a:rPr>
              <a:t>    myProp: myProp</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a:t>
            </a:r>
          </a:p>
        </p:txBody>
      </p:sp>
      <p:sp>
        <p:nvSpPr>
          <p:cNvPr id="10"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1"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67</a:t>
            </a:fld>
            <a:endParaRPr lang="en-US" sz="900">
              <a:solidFill>
                <a:srgbClr val="9AA7B4"/>
              </a:solidFill>
            </a:endParaRPr>
          </a:p>
        </p:txBody>
      </p:sp>
    </p:spTree>
    <p:extLst>
      <p:ext uri="{BB962C8B-B14F-4D97-AF65-F5344CB8AC3E}">
        <p14:creationId xmlns:p14="http://schemas.microsoft.com/office/powerpoint/2010/main" val="1001800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Bundlers</a:t>
            </a:r>
          </a:p>
        </p:txBody>
      </p:sp>
      <p:sp>
        <p:nvSpPr>
          <p:cNvPr id="3" name="Body"/>
          <p:cNvSpPr txBox="1"/>
          <p:nvPr/>
        </p:nvSpPr>
        <p:spPr>
          <a:xfrm>
            <a:off x="457200" y="1261872"/>
            <a:ext cx="8229600" cy="4017009"/>
          </a:xfrm>
          <a:prstGeom prst="rect">
            <a:avLst/>
          </a:prstGeom>
          <a:noFill/>
        </p:spPr>
        <p:txBody>
          <a:bodyPr wrap="square" lIns="0" tIns="0" rIns="0" bIns="0">
            <a:noAutofit/>
          </a:bodyPr>
          <a:lstStyle/>
          <a:p>
            <a:pPr marL="0" indent="0">
              <a:spcAft>
                <a:spcPts val="990"/>
              </a:spcAft>
              <a:buNone/>
            </a:pPr>
            <a:r>
              <a:rPr sz="2200" b="0" i="0">
                <a:solidFill>
                  <a:srgbClr val="1F2A36"/>
                </a:solidFill>
              </a:rPr>
              <a:t>A bundler resolves your import graph and writes deployable files.</a:t>
            </a:r>
          </a:p>
          <a:p>
            <a:pPr marL="274320" indent="-256032">
              <a:spcAft>
                <a:spcPts val="990"/>
              </a:spcAft>
              <a:buClr>
                <a:srgbClr val="42B883"/>
              </a:buClr>
              <a:buSzPct val="100000"/>
              <a:buFont typeface="Arial"/>
              <a:buChar char="•"/>
            </a:pPr>
            <a:r>
              <a:rPr sz="2200" b="1" i="0">
                <a:solidFill>
                  <a:srgbClr val="1F2A36"/>
                </a:solidFill>
              </a:rPr>
              <a:t>webpack</a:t>
            </a:r>
            <a:r>
              <a:rPr sz="2200" b="0" i="0">
                <a:solidFill>
                  <a:srgbClr val="1F2A36"/>
                </a:solidFill>
              </a:rPr>
              <a:t> — the long-time incumbent; configured with loaders and plugins</a:t>
            </a:r>
          </a:p>
          <a:p>
            <a:pPr marL="274320" indent="-256032">
              <a:spcAft>
                <a:spcPts val="990"/>
              </a:spcAft>
              <a:buClr>
                <a:srgbClr val="42B883"/>
              </a:buClr>
              <a:buSzPct val="100000"/>
              <a:buFont typeface="Arial"/>
              <a:buChar char="•"/>
            </a:pPr>
            <a:r>
              <a:rPr sz="2200" b="1" i="0">
                <a:solidFill>
                  <a:srgbClr val="1F2A36"/>
                </a:solidFill>
              </a:rPr>
              <a:t>Rollup</a:t>
            </a:r>
            <a:r>
              <a:rPr sz="2200" b="0" i="0">
                <a:solidFill>
                  <a:srgbClr val="1F2A36"/>
                </a:solidFill>
              </a:rPr>
              <a:t> — what Vite used for production builds through Vite 7</a:t>
            </a:r>
          </a:p>
          <a:p>
            <a:pPr marL="274320" indent="-256032">
              <a:spcAft>
                <a:spcPts val="990"/>
              </a:spcAft>
              <a:buClr>
                <a:srgbClr val="42B883"/>
              </a:buClr>
              <a:buSzPct val="100000"/>
              <a:buFont typeface="Arial"/>
              <a:buChar char="•"/>
            </a:pPr>
            <a:r>
              <a:rPr sz="2200" b="1" i="0">
                <a:solidFill>
                  <a:srgbClr val="1F2A36"/>
                </a:solidFill>
              </a:rPr>
              <a:t>Rolldown</a:t>
            </a:r>
            <a:r>
              <a:rPr sz="2200" b="0" i="0">
                <a:solidFill>
                  <a:srgbClr val="1F2A36"/>
                </a:solidFill>
              </a:rPr>
              <a:t> — Rust, Rollup-compatible; Vite 8's single bundler</a:t>
            </a:r>
          </a:p>
          <a:p>
            <a:pPr marL="274320" indent="-256032">
              <a:spcAft>
                <a:spcPts val="990"/>
              </a:spcAft>
              <a:buClr>
                <a:srgbClr val="42B883"/>
              </a:buClr>
              <a:buSzPct val="100000"/>
              <a:buFont typeface="Arial"/>
              <a:buChar char="•"/>
            </a:pPr>
            <a:r>
              <a:rPr sz="2200" b="1" i="0">
                <a:solidFill>
                  <a:srgbClr val="1F2A36"/>
                </a:solidFill>
              </a:rPr>
              <a:t>esbuild</a:t>
            </a:r>
            <a:r>
              <a:rPr sz="2200" b="0" i="0">
                <a:solidFill>
                  <a:srgbClr val="1F2A36"/>
                </a:solidFill>
              </a:rPr>
              <a:t> — fast Go bundler; Vite 7 used it to pre-bundle dependencies</a:t>
            </a:r>
          </a:p>
        </p:txBody>
      </p:sp>
      <p:sp>
        <p:nvSpPr>
          <p:cNvPr id="4" name="Tip"/>
          <p:cNvSpPr/>
          <p:nvPr/>
        </p:nvSpPr>
        <p:spPr>
          <a:xfrm>
            <a:off x="457200" y="5333746"/>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In development, Vite doesn't bundle your source code at all.</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68</a:t>
            </a:fld>
            <a:endParaRPr lang="en-US" sz="900">
              <a:solidFill>
                <a:srgbClr val="9AA7B4"/>
              </a:solidFill>
            </a:endParaRPr>
          </a:p>
        </p:txBody>
      </p:sp>
    </p:spTree>
    <p:extLst>
      <p:ext uri="{BB962C8B-B14F-4D97-AF65-F5344CB8AC3E}">
        <p14:creationId xmlns:p14="http://schemas.microsoft.com/office/powerpoint/2010/main" val="993974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How Vite Works</a:t>
            </a:r>
          </a:p>
        </p:txBody>
      </p:sp>
      <p:sp>
        <p:nvSpPr>
          <p:cNvPr id="3" name="Body"/>
          <p:cNvSpPr txBox="1"/>
          <p:nvPr/>
        </p:nvSpPr>
        <p:spPr>
          <a:xfrm>
            <a:off x="457200" y="1261872"/>
            <a:ext cx="8229600" cy="403872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In development</a:t>
            </a:r>
          </a:p>
          <a:p>
            <a:pPr marL="566928" indent="-256032">
              <a:spcAft>
                <a:spcPts val="855"/>
              </a:spcAft>
              <a:buClr>
                <a:srgbClr val="6B7B8C"/>
              </a:buClr>
              <a:buSzPct val="100000"/>
              <a:buFont typeface="Arial"/>
              <a:buChar char="–"/>
            </a:pPr>
            <a:r>
              <a:rPr sz="1900" b="0" i="0">
                <a:solidFill>
                  <a:srgbClr val="3A4A5A"/>
                </a:solidFill>
              </a:rPr>
              <a:t>Serves your source over HTTP as native ES modules</a:t>
            </a:r>
          </a:p>
          <a:p>
            <a:pPr marL="566928" indent="-256032">
              <a:spcAft>
                <a:spcPts val="855"/>
              </a:spcAft>
              <a:buClr>
                <a:srgbClr val="6B7B8C"/>
              </a:buClr>
              <a:buSzPct val="100000"/>
              <a:buFont typeface="Arial"/>
              <a:buChar char="–"/>
            </a:pPr>
            <a:r>
              <a:rPr sz="1900" b="0" i="0">
                <a:solidFill>
                  <a:srgbClr val="3A4A5A"/>
                </a:solidFill>
              </a:rPr>
              <a:t>Transforms each file only when the browser asks for it</a:t>
            </a:r>
          </a:p>
          <a:p>
            <a:pPr marL="566928" indent="-256032">
              <a:spcAft>
                <a:spcPts val="855"/>
              </a:spcAft>
              <a:buClr>
                <a:srgbClr val="6B7B8C"/>
              </a:buClr>
              <a:buSzPct val="100000"/>
              <a:buFont typeface="Arial"/>
              <a:buChar char="–"/>
            </a:pPr>
            <a:r>
              <a:rPr sz="1900" b="0" i="0">
                <a:solidFill>
                  <a:srgbClr val="3A4A5A"/>
                </a:solidFill>
              </a:rPr>
              <a:t>Pre-bundles dependencies once, then caches them</a:t>
            </a:r>
          </a:p>
          <a:p>
            <a:pPr marL="274320" indent="-256032">
              <a:spcAft>
                <a:spcPts val="990"/>
              </a:spcAft>
              <a:buClr>
                <a:srgbClr val="42B883"/>
              </a:buClr>
              <a:buSzPct val="100000"/>
              <a:buFont typeface="Arial"/>
              <a:buChar char="•"/>
            </a:pPr>
            <a:r>
              <a:rPr sz="2200" b="1" i="0">
                <a:solidFill>
                  <a:srgbClr val="1F2A36"/>
                </a:solidFill>
              </a:rPr>
              <a:t>In production</a:t>
            </a:r>
            <a:r>
              <a:rPr sz="2200" b="0" i="0">
                <a:solidFill>
                  <a:srgbClr val="1F2A36"/>
                </a:solidFill>
              </a:rPr>
              <a:t> (</a:t>
            </a:r>
            <a:r>
              <a:rPr sz="2090" b="0" i="0">
                <a:solidFill>
                  <a:srgbClr val="8A2B52"/>
                </a:solidFill>
                <a:latin typeface="Consolas"/>
              </a:rPr>
              <a:t>vite build</a:t>
            </a:r>
            <a:r>
              <a:rPr sz="2200" b="0" i="0">
                <a:solidFill>
                  <a:srgbClr val="1F2A36"/>
                </a:solidFill>
              </a:rPr>
              <a:t>)</a:t>
            </a:r>
          </a:p>
          <a:p>
            <a:pPr marL="566928" indent="-256032">
              <a:spcAft>
                <a:spcPts val="855"/>
              </a:spcAft>
              <a:buClr>
                <a:srgbClr val="6B7B8C"/>
              </a:buClr>
              <a:buSzPct val="100000"/>
              <a:buFont typeface="Arial"/>
              <a:buChar char="–"/>
            </a:pPr>
            <a:r>
              <a:rPr sz="1900" b="0" i="0">
                <a:solidFill>
                  <a:srgbClr val="3A4A5A"/>
                </a:solidFill>
              </a:rPr>
              <a:t>Bundles with Rolldown: tree-shaking, code-splitting, minification</a:t>
            </a:r>
          </a:p>
          <a:p>
            <a:pPr marL="566928" indent="-256032">
              <a:spcAft>
                <a:spcPts val="855"/>
              </a:spcAft>
              <a:buClr>
                <a:srgbClr val="6B7B8C"/>
              </a:buClr>
              <a:buSzPct val="100000"/>
              <a:buFont typeface="Arial"/>
              <a:buChar char="–"/>
            </a:pPr>
            <a:r>
              <a:rPr sz="1900" b="0" i="0">
                <a:solidFill>
                  <a:srgbClr val="3A4A5A"/>
                </a:solidFill>
              </a:rPr>
              <a:t>Each lazily imported route becomes its own chunk</a:t>
            </a:r>
          </a:p>
          <a:p>
            <a:pPr marL="274320" indent="-256032">
              <a:spcAft>
                <a:spcPts val="990"/>
              </a:spcAft>
              <a:buClr>
                <a:srgbClr val="42B883"/>
              </a:buClr>
              <a:buSzPct val="100000"/>
              <a:buFont typeface="Arial"/>
              <a:buChar char="•"/>
            </a:pPr>
            <a:r>
              <a:rPr sz="2200" b="1" i="0">
                <a:solidFill>
                  <a:srgbClr val="1F2A36"/>
                </a:solidFill>
              </a:rPr>
              <a:t>Plugins</a:t>
            </a:r>
            <a:r>
              <a:rPr sz="2200" b="0" i="0">
                <a:solidFill>
                  <a:srgbClr val="1F2A36"/>
                </a:solidFill>
              </a:rPr>
              <a:t> extend both pipelines — </a:t>
            </a:r>
            <a:r>
              <a:rPr sz="2090" b="0" i="0">
                <a:solidFill>
                  <a:srgbClr val="8A2B52"/>
                </a:solidFill>
                <a:latin typeface="Consolas"/>
              </a:rPr>
              <a:t>@vitejs/plugin-vue</a:t>
            </a:r>
            <a:r>
              <a:rPr sz="2200" b="0" i="0">
                <a:solidFill>
                  <a:srgbClr val="1F2A36"/>
                </a:solidFill>
              </a:rPr>
              <a:t> compiles SFCs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69</a:t>
            </a:fld>
            <a:endParaRPr lang="en-US" sz="900">
              <a:solidFill>
                <a:srgbClr val="9AA7B4"/>
              </a:solidFill>
            </a:endParaRPr>
          </a:p>
        </p:txBody>
      </p:sp>
    </p:spTree>
    <p:extLst>
      <p:ext uri="{BB962C8B-B14F-4D97-AF65-F5344CB8AC3E}">
        <p14:creationId xmlns:p14="http://schemas.microsoft.com/office/powerpoint/2010/main" val="21600233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The Document Object Model</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Body"/>
          <p:cNvSpPr txBox="1"/>
          <p:nvPr/>
        </p:nvSpPr>
        <p:spPr>
          <a:xfrm>
            <a:off x="731520" y="2148840"/>
            <a:ext cx="7680960" cy="2340610"/>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Understand how the DOM works</a:t>
            </a:r>
          </a:p>
          <a:p>
            <a:pPr marL="274320" indent="-256032">
              <a:spcAft>
                <a:spcPts val="990"/>
              </a:spcAft>
              <a:buClr>
                <a:srgbClr val="42B883"/>
              </a:buClr>
              <a:buSzPct val="100000"/>
              <a:buFont typeface="Arial"/>
              <a:buChar char="•"/>
            </a:pPr>
            <a:r>
              <a:rPr sz="2200" b="0" i="0">
                <a:solidFill>
                  <a:srgbClr val="FFFFFF"/>
                </a:solidFill>
              </a:rPr>
              <a:t>Select DOM nodes</a:t>
            </a:r>
          </a:p>
          <a:p>
            <a:pPr marL="274320" indent="-256032">
              <a:spcAft>
                <a:spcPts val="990"/>
              </a:spcAft>
              <a:buClr>
                <a:srgbClr val="42B883"/>
              </a:buClr>
              <a:buSzPct val="100000"/>
              <a:buFont typeface="Arial"/>
              <a:buChar char="•"/>
            </a:pPr>
            <a:r>
              <a:rPr sz="2200" b="0" i="0">
                <a:solidFill>
                  <a:srgbClr val="FFFFFF"/>
                </a:solidFill>
              </a:rPr>
              <a:t>Manipulate the DOM with JavaScript</a:t>
            </a:r>
          </a:p>
          <a:p>
            <a:pPr marL="274320" indent="-256032">
              <a:spcAft>
                <a:spcPts val="990"/>
              </a:spcAft>
              <a:buClr>
                <a:srgbClr val="42B883"/>
              </a:buClr>
              <a:buSzPct val="100000"/>
              <a:buFont typeface="Arial"/>
              <a:buChar char="•"/>
            </a:pPr>
            <a:r>
              <a:rPr sz="2200" b="0" i="0">
                <a:solidFill>
                  <a:srgbClr val="FFFFFF"/>
                </a:solidFill>
              </a:rPr>
              <a:t>See how libraries and frameworks change that work</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70</a:t>
            </a:fld>
            <a:endParaRPr lang="en-US" sz="900">
              <a:solidFill>
                <a:srgbClr val="9FB3C4"/>
              </a:solidFill>
            </a:endParaRPr>
          </a:p>
        </p:txBody>
      </p:sp>
    </p:spTree>
    <p:extLst>
      <p:ext uri="{BB962C8B-B14F-4D97-AF65-F5344CB8AC3E}">
        <p14:creationId xmlns:p14="http://schemas.microsoft.com/office/powerpoint/2010/main" val="4341508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is the DOM?</a:t>
            </a:r>
          </a:p>
        </p:txBody>
      </p:sp>
      <p:pic>
        <p:nvPicPr>
          <p:cNvPr id="2" name="Content Placeholder 6" descr="450px-JKDOM.SVG.png">
            <a:extLst>
              <a:ext uri="{FF2B5EF4-FFF2-40B4-BE49-F238E27FC236}">
                <a16:creationId xmlns:a16="http://schemas.microsoft.com/office/drawing/2014/main" id="{4113ECF3-14BF-3C10-67BA-E297076837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9507" y="1261872"/>
            <a:ext cx="3408425" cy="4544568"/>
          </a:xfrm>
          <a:prstGeom prst="rect">
            <a:avLst/>
          </a:prstGeom>
          <a:ln w="12700">
            <a:solidFill>
              <a:srgbClr val="D6DEE6"/>
            </a:solidFill>
          </a:ln>
        </p:spPr>
      </p:pic>
      <p:sp>
        <p:nvSpPr>
          <p:cNvPr id="6" name="Body"/>
          <p:cNvSpPr txBox="1"/>
          <p:nvPr/>
        </p:nvSpPr>
        <p:spPr>
          <a:xfrm>
            <a:off x="457200" y="1261872"/>
            <a:ext cx="4389120" cy="356158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browser's JavaScript API for HTML documents</a:t>
            </a:r>
          </a:p>
          <a:p>
            <a:pPr marL="274320" indent="-256032">
              <a:spcAft>
                <a:spcPts val="990"/>
              </a:spcAft>
              <a:buClr>
                <a:srgbClr val="42B883"/>
              </a:buClr>
              <a:buSzPct val="100000"/>
              <a:buFont typeface="Arial"/>
              <a:buChar char="•"/>
            </a:pPr>
            <a:r>
              <a:rPr sz="2200" b="0" i="0">
                <a:solidFill>
                  <a:srgbClr val="1F2A36"/>
                </a:solidFill>
              </a:rPr>
              <a:t>Represents elements as a </a:t>
            </a:r>
            <a:r>
              <a:rPr sz="2200" b="1" i="0">
                <a:solidFill>
                  <a:srgbClr val="1F2A36"/>
                </a:solidFill>
              </a:rPr>
              <a:t>tree</a:t>
            </a:r>
            <a:r>
              <a:rPr sz="2200" b="0" i="0">
                <a:solidFill>
                  <a:srgbClr val="1F2A36"/>
                </a:solidFill>
              </a:rPr>
              <a:t> of objects</a:t>
            </a:r>
          </a:p>
          <a:p>
            <a:pPr marL="274320" indent="-256032">
              <a:spcAft>
                <a:spcPts val="990"/>
              </a:spcAft>
              <a:buClr>
                <a:srgbClr val="42B883"/>
              </a:buClr>
              <a:buSzPct val="100000"/>
              <a:buFont typeface="Arial"/>
              <a:buChar char="•"/>
            </a:pPr>
            <a:r>
              <a:rPr sz="2200" b="0" i="0">
                <a:solidFill>
                  <a:srgbClr val="1F2A36"/>
                </a:solidFill>
              </a:rPr>
              <a:t>Objects in the tree can be found, read and changed with methods</a:t>
            </a:r>
          </a:p>
          <a:p>
            <a:pPr marL="274320" indent="-256032">
              <a:spcAft>
                <a:spcPts val="990"/>
              </a:spcAft>
              <a:buClr>
                <a:srgbClr val="42B883"/>
              </a:buClr>
              <a:buSzPct val="100000"/>
              <a:buFont typeface="Arial"/>
              <a:buChar char="•"/>
            </a:pPr>
            <a:r>
              <a:rPr sz="2200" b="0" i="0">
                <a:solidFill>
                  <a:srgbClr val="1F2A36"/>
                </a:solidFill>
              </a:rPr>
              <a:t>Change the tree, and the browser re-renders the page</a:t>
            </a:r>
          </a:p>
        </p:txBody>
      </p:sp>
      <p:sp>
        <p:nvSpPr>
          <p:cNvPr id="7" name="Caption"/>
          <p:cNvSpPr txBox="1"/>
          <p:nvPr/>
        </p:nvSpPr>
        <p:spPr>
          <a:xfrm>
            <a:off x="457200" y="5989320"/>
            <a:ext cx="8229600" cy="274320"/>
          </a:xfrm>
          <a:prstGeom prst="rect">
            <a:avLst/>
          </a:prstGeom>
          <a:noFill/>
        </p:spPr>
        <p:txBody>
          <a:bodyPr wrap="square" lIns="0" tIns="0" rIns="0" bIns="0">
            <a:noAutofit/>
          </a:bodyPr>
          <a:lstStyle/>
          <a:p>
            <a:pPr algn="r"/>
            <a:r>
              <a:rPr sz="1000" b="0" i="1">
                <a:solidFill>
                  <a:srgbClr val="6B7B8C"/>
                </a:solidFill>
              </a:rPr>
              <a:t>Image: JohnManuel, GFDL / CC BY-SA 3.0, via Wikimedia Commons</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71</a:t>
            </a:fld>
            <a:endParaRPr lang="en-US" sz="900">
              <a:solidFill>
                <a:srgbClr val="9AA7B4"/>
              </a:solidFill>
            </a:endParaRPr>
          </a:p>
        </p:txBody>
      </p:sp>
    </p:spTree>
    <p:extLst>
      <p:ext uri="{BB962C8B-B14F-4D97-AF65-F5344CB8AC3E}">
        <p14:creationId xmlns:p14="http://schemas.microsoft.com/office/powerpoint/2010/main" val="29116454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Understanding Nodes</a:t>
            </a:r>
            <a:endParaRPr lang="en-US" dirty="0"/>
          </a:p>
        </p:txBody>
      </p:sp>
      <p:sp>
        <p:nvSpPr>
          <p:cNvPr id="3" name="Body"/>
          <p:cNvSpPr txBox="1"/>
          <p:nvPr/>
        </p:nvSpPr>
        <p:spPr>
          <a:xfrm>
            <a:off x="457200" y="1261872"/>
            <a:ext cx="8229600" cy="3155188"/>
          </a:xfrm>
          <a:prstGeom prst="rect">
            <a:avLst/>
          </a:prstGeom>
          <a:noFill/>
        </p:spPr>
        <p:txBody>
          <a:bodyPr wrap="square" lIns="0" tIns="0" rIns="0" bIns="0">
            <a:noAutofit/>
          </a:bodyPr>
          <a:lstStyle/>
          <a:p>
            <a:pPr marL="0" indent="0">
              <a:spcAft>
                <a:spcPts val="990"/>
              </a:spcAft>
              <a:buNone/>
            </a:pPr>
            <a:r>
              <a:rPr sz="2200" b="0" i="0">
                <a:solidFill>
                  <a:srgbClr val="1F2A36"/>
                </a:solidFill>
              </a:rPr>
              <a:t>DOM interfaces that inherit from </a:t>
            </a:r>
            <a:r>
              <a:rPr sz="2090" b="0" i="0">
                <a:solidFill>
                  <a:srgbClr val="8A2B52"/>
                </a:solidFill>
                <a:latin typeface="Consolas"/>
              </a:rPr>
              <a:t>Node</a:t>
            </a:r>
            <a:r>
              <a:rPr sz="2200" b="0" i="0">
                <a:solidFill>
                  <a:srgbClr val="1F2A36"/>
                </a:solidFill>
              </a:rPr>
              <a:t>:</a:t>
            </a:r>
          </a:p>
          <a:p>
            <a:pPr marL="274320" indent="-256032">
              <a:spcAft>
                <a:spcPts val="990"/>
              </a:spcAft>
              <a:buClr>
                <a:srgbClr val="42B883"/>
              </a:buClr>
              <a:buSzPct val="100000"/>
              <a:buFont typeface="Arial"/>
              <a:buChar char="•"/>
            </a:pPr>
            <a:r>
              <a:rPr sz="2090" b="0" i="0">
                <a:solidFill>
                  <a:srgbClr val="8A2B52"/>
                </a:solidFill>
                <a:latin typeface="Consolas"/>
              </a:rPr>
              <a:t>Document</a:t>
            </a:r>
          </a:p>
          <a:p>
            <a:pPr marL="274320" indent="-256032">
              <a:spcAft>
                <a:spcPts val="990"/>
              </a:spcAft>
              <a:buClr>
                <a:srgbClr val="42B883"/>
              </a:buClr>
              <a:buSzPct val="100000"/>
              <a:buFont typeface="Arial"/>
              <a:buChar char="•"/>
            </a:pPr>
            <a:r>
              <a:rPr sz="2090" b="0" i="0">
                <a:solidFill>
                  <a:srgbClr val="8A2B52"/>
                </a:solidFill>
                <a:latin typeface="Consolas"/>
              </a:rPr>
              <a:t>Element</a:t>
            </a:r>
          </a:p>
          <a:p>
            <a:pPr marL="274320" indent="-256032">
              <a:spcAft>
                <a:spcPts val="990"/>
              </a:spcAft>
              <a:buClr>
                <a:srgbClr val="42B883"/>
              </a:buClr>
              <a:buSzPct val="100000"/>
              <a:buFont typeface="Arial"/>
              <a:buChar char="•"/>
            </a:pPr>
            <a:r>
              <a:rPr sz="2090" b="0" i="0">
                <a:solidFill>
                  <a:srgbClr val="8A2B52"/>
                </a:solidFill>
                <a:latin typeface="Consolas"/>
              </a:rPr>
              <a:t>CharacterData</a:t>
            </a:r>
          </a:p>
          <a:p>
            <a:pPr marL="566928" indent="-256032">
              <a:spcAft>
                <a:spcPts val="855"/>
              </a:spcAft>
              <a:buClr>
                <a:srgbClr val="6B7B8C"/>
              </a:buClr>
              <a:buSzPct val="100000"/>
              <a:buFont typeface="Arial"/>
              <a:buChar char="–"/>
            </a:pPr>
            <a:r>
              <a:rPr sz="1805" b="0" i="0">
                <a:solidFill>
                  <a:srgbClr val="8A2B52"/>
                </a:solidFill>
                <a:latin typeface="Consolas"/>
              </a:rPr>
              <a:t>Text</a:t>
            </a:r>
          </a:p>
          <a:p>
            <a:pPr marL="566928" indent="-256032">
              <a:spcAft>
                <a:spcPts val="855"/>
              </a:spcAft>
              <a:buClr>
                <a:srgbClr val="6B7B8C"/>
              </a:buClr>
              <a:buSzPct val="100000"/>
              <a:buFont typeface="Arial"/>
              <a:buChar char="–"/>
            </a:pPr>
            <a:r>
              <a:rPr sz="1805" b="0" i="0">
                <a:solidFill>
                  <a:srgbClr val="8A2B52"/>
                </a:solidFill>
                <a:latin typeface="Consolas"/>
              </a:rPr>
              <a:t>Comment</a:t>
            </a:r>
          </a:p>
          <a:p>
            <a:pPr marL="274320" indent="-256032">
              <a:spcAft>
                <a:spcPts val="990"/>
              </a:spcAft>
              <a:buClr>
                <a:srgbClr val="42B883"/>
              </a:buClr>
              <a:buSzPct val="100000"/>
              <a:buFont typeface="Arial"/>
              <a:buChar char="•"/>
            </a:pPr>
            <a:r>
              <a:rPr sz="2090" b="0" i="0">
                <a:solidFill>
                  <a:srgbClr val="8A2B52"/>
                </a:solidFill>
                <a:latin typeface="Consolas"/>
              </a:rPr>
              <a:t>DocumentType</a:t>
            </a:r>
          </a:p>
        </p:txBody>
      </p:sp>
      <p:sp>
        <p:nvSpPr>
          <p:cNvPr id="4" name="Tip"/>
          <p:cNvSpPr/>
          <p:nvPr/>
        </p:nvSpPr>
        <p:spPr>
          <a:xfrm>
            <a:off x="457200" y="4471924"/>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Every </a:t>
            </a:r>
            <a:r>
              <a:rPr sz="1900" b="0" i="0">
                <a:solidFill>
                  <a:srgbClr val="8A2B52"/>
                </a:solidFill>
                <a:latin typeface="Consolas"/>
              </a:rPr>
              <a:t>Node</a:t>
            </a:r>
            <a:r>
              <a:rPr sz="2000" b="0" i="0">
                <a:solidFill>
                  <a:srgbClr val="1F2A36"/>
                </a:solidFill>
              </a:rPr>
              <a:t> also inherits from </a:t>
            </a:r>
            <a:r>
              <a:rPr sz="1900" b="0" i="0">
                <a:solidFill>
                  <a:srgbClr val="8A2B52"/>
                </a:solidFill>
                <a:latin typeface="Consolas"/>
              </a:rPr>
              <a:t>EventTarget</a:t>
            </a:r>
            <a:r>
              <a:rPr sz="2000" b="0" i="0">
                <a:solidFill>
                  <a:srgbClr val="1F2A36"/>
                </a:solidFill>
              </a:rPr>
              <a:t>, so every node can receive events.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72</a:t>
            </a:fld>
            <a:endParaRPr lang="en-US" sz="900">
              <a:solidFill>
                <a:srgbClr val="9AA7B4"/>
              </a:solidFill>
            </a:endParaRPr>
          </a:p>
        </p:txBody>
      </p:sp>
    </p:spTree>
    <p:extLst>
      <p:ext uri="{BB962C8B-B14F-4D97-AF65-F5344CB8AC3E}">
        <p14:creationId xmlns:p14="http://schemas.microsoft.com/office/powerpoint/2010/main" val="25740462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EventTarget</a:t>
            </a:r>
          </a:p>
        </p:txBody>
      </p:sp>
      <p:sp>
        <p:nvSpPr>
          <p:cNvPr id="3" name="Body"/>
          <p:cNvSpPr txBox="1"/>
          <p:nvPr/>
        </p:nvSpPr>
        <p:spPr>
          <a:xfrm>
            <a:off x="457200" y="1261872"/>
            <a:ext cx="8229600" cy="296735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 interface implemented by objects that can receive events (event targets)</a:t>
            </a:r>
          </a:p>
          <a:p>
            <a:pPr marL="274320" indent="-256032">
              <a:spcAft>
                <a:spcPts val="990"/>
              </a:spcAft>
              <a:buClr>
                <a:srgbClr val="42B883"/>
              </a:buClr>
              <a:buSzPct val="100000"/>
              <a:buFont typeface="Arial"/>
              <a:buChar char="•"/>
            </a:pPr>
            <a:r>
              <a:rPr sz="2200" b="0" i="0">
                <a:solidFill>
                  <a:srgbClr val="1F2A36"/>
                </a:solidFill>
              </a:rPr>
              <a:t>Examples:</a:t>
            </a:r>
          </a:p>
          <a:p>
            <a:pPr marL="566928" indent="-256032">
              <a:spcAft>
                <a:spcPts val="855"/>
              </a:spcAft>
              <a:buClr>
                <a:srgbClr val="6B7B8C"/>
              </a:buClr>
              <a:buSzPct val="100000"/>
              <a:buFont typeface="Arial"/>
              <a:buChar char="–"/>
            </a:pPr>
            <a:r>
              <a:rPr sz="1805" b="0" i="0">
                <a:solidFill>
                  <a:srgbClr val="8A2B52"/>
                </a:solidFill>
                <a:latin typeface="Consolas"/>
              </a:rPr>
              <a:t>Element</a:t>
            </a:r>
          </a:p>
          <a:p>
            <a:pPr marL="566928" indent="-256032">
              <a:spcAft>
                <a:spcPts val="855"/>
              </a:spcAft>
              <a:buClr>
                <a:srgbClr val="6B7B8C"/>
              </a:buClr>
              <a:buSzPct val="100000"/>
              <a:buFont typeface="Arial"/>
              <a:buChar char="–"/>
            </a:pPr>
            <a:r>
              <a:rPr sz="1805" b="0" i="0">
                <a:solidFill>
                  <a:srgbClr val="8A2B52"/>
                </a:solidFill>
                <a:latin typeface="Consolas"/>
              </a:rPr>
              <a:t>Document</a:t>
            </a:r>
          </a:p>
          <a:p>
            <a:pPr marL="566928" indent="-256032">
              <a:spcAft>
                <a:spcPts val="855"/>
              </a:spcAft>
              <a:buClr>
                <a:srgbClr val="6B7B8C"/>
              </a:buClr>
              <a:buSzPct val="100000"/>
              <a:buFont typeface="Arial"/>
              <a:buChar char="–"/>
            </a:pPr>
            <a:r>
              <a:rPr sz="1805" b="0" i="0">
                <a:solidFill>
                  <a:srgbClr val="8A2B52"/>
                </a:solidFill>
                <a:latin typeface="Consolas"/>
              </a:rPr>
              <a:t>Window</a:t>
            </a:r>
          </a:p>
          <a:p>
            <a:pPr marL="274320" indent="-256032">
              <a:spcAft>
                <a:spcPts val="990"/>
              </a:spcAft>
              <a:buClr>
                <a:srgbClr val="42B883"/>
              </a:buClr>
              <a:buSzPct val="100000"/>
              <a:buFont typeface="Arial"/>
              <a:buChar char="•"/>
            </a:pPr>
            <a:r>
              <a:rPr sz="2200" b="0" i="0">
                <a:solidFill>
                  <a:srgbClr val="1F2A36"/>
                </a:solidFill>
              </a:rPr>
              <a:t>Event targets let you register handlers:</a:t>
            </a:r>
          </a:p>
        </p:txBody>
      </p:sp>
      <p:sp>
        <p:nvSpPr>
          <p:cNvPr id="4" name="Code"/>
          <p:cNvSpPr/>
          <p:nvPr/>
        </p:nvSpPr>
        <p:spPr>
          <a:xfrm>
            <a:off x="457200" y="4284091"/>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button.addEventListener(</a:t>
            </a:r>
            <a:r>
              <a:rPr sz="2000">
                <a:solidFill>
                  <a:srgbClr val="0A3069"/>
                </a:solidFill>
                <a:latin typeface="Consolas"/>
              </a:rPr>
              <a:t>'click'</a:t>
            </a:r>
            <a:r>
              <a:rPr sz="2000">
                <a:solidFill>
                  <a:srgbClr val="24292F"/>
                </a:solidFill>
                <a:latin typeface="Consolas"/>
              </a:rPr>
              <a:t>, (event) =&gt; {</a:t>
            </a:r>
          </a:p>
          <a:p>
            <a:pPr marL="0" indent="0" algn="l">
              <a:lnSpc>
                <a:spcPct val="100000"/>
              </a:lnSpc>
              <a:buNone/>
            </a:pPr>
            <a:r>
              <a:rPr sz="2000">
                <a:solidFill>
                  <a:srgbClr val="24292F"/>
                </a:solidFill>
                <a:latin typeface="Consolas"/>
              </a:rPr>
              <a:t>  console.log(</a:t>
            </a:r>
            <a:r>
              <a:rPr sz="2000">
                <a:solidFill>
                  <a:srgbClr val="0A3069"/>
                </a:solidFill>
                <a:latin typeface="Consolas"/>
              </a:rPr>
              <a:t>'clicked'</a:t>
            </a:r>
            <a:r>
              <a:rPr sz="2000">
                <a:solidFill>
                  <a:srgbClr val="24292F"/>
                </a:solidFill>
                <a:latin typeface="Consolas"/>
              </a:rPr>
              <a:t>, event.target)</a:t>
            </a:r>
          </a:p>
          <a:p>
            <a:pPr marL="0" indent="0" algn="l">
              <a:lnSpc>
                <a:spcPct val="100000"/>
              </a:lnSpc>
              <a:buNone/>
            </a:pPr>
            <a:r>
              <a:rPr sz="20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73</a:t>
            </a:fld>
            <a:endParaRPr lang="en-US" sz="900">
              <a:solidFill>
                <a:srgbClr val="9AA7B4"/>
              </a:solidFill>
            </a:endParaRPr>
          </a:p>
        </p:txBody>
      </p:sp>
    </p:spTree>
    <p:extLst>
      <p:ext uri="{BB962C8B-B14F-4D97-AF65-F5344CB8AC3E}">
        <p14:creationId xmlns:p14="http://schemas.microsoft.com/office/powerpoint/2010/main" val="19763160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DOM Events</a:t>
            </a:r>
          </a:p>
        </p:txBody>
      </p:sp>
      <p:sp>
        <p:nvSpPr>
          <p:cNvPr id="3" name="Body"/>
          <p:cNvSpPr txBox="1"/>
          <p:nvPr/>
        </p:nvSpPr>
        <p:spPr>
          <a:xfrm>
            <a:off x="457200" y="1261872"/>
            <a:ext cx="8229600" cy="505459"/>
          </a:xfrm>
          <a:prstGeom prst="rect">
            <a:avLst/>
          </a:prstGeom>
          <a:noFill/>
        </p:spPr>
        <p:txBody>
          <a:bodyPr wrap="square" lIns="0" tIns="0" rIns="0" bIns="0">
            <a:noAutofit/>
          </a:bodyPr>
          <a:lstStyle/>
          <a:p>
            <a:pPr marL="0" indent="0">
              <a:spcAft>
                <a:spcPts val="900"/>
              </a:spcAft>
              <a:buNone/>
            </a:pPr>
            <a:r>
              <a:rPr sz="2000" b="0" i="0">
                <a:solidFill>
                  <a:srgbClr val="1F2A36"/>
                </a:solidFill>
              </a:rPr>
              <a:t>Things that happen in the DOM. A few common ones:</a:t>
            </a:r>
          </a:p>
        </p:txBody>
      </p:sp>
      <p:sp>
        <p:nvSpPr>
          <p:cNvPr id="4" name="Body"/>
          <p:cNvSpPr txBox="1"/>
          <p:nvPr/>
        </p:nvSpPr>
        <p:spPr>
          <a:xfrm>
            <a:off x="457200" y="1822195"/>
            <a:ext cx="2529840" cy="3785107"/>
          </a:xfrm>
          <a:prstGeom prst="rect">
            <a:avLst/>
          </a:prstGeom>
          <a:noFill/>
        </p:spPr>
        <p:txBody>
          <a:bodyPr wrap="square" lIns="0" tIns="0" rIns="0" bIns="0">
            <a:noAutofit/>
          </a:bodyPr>
          <a:lstStyle/>
          <a:p>
            <a:pPr marL="0" indent="0">
              <a:spcAft>
                <a:spcPts val="769"/>
              </a:spcAft>
              <a:buNone/>
            </a:pPr>
            <a:r>
              <a:rPr sz="2200" b="1" i="0">
                <a:solidFill>
                  <a:srgbClr val="2E8B62"/>
                </a:solidFill>
              </a:rPr>
              <a:t>Mouse and pointer</a:t>
            </a:r>
          </a:p>
          <a:p>
            <a:pPr marL="274320" indent="-256032">
              <a:spcAft>
                <a:spcPts val="990"/>
              </a:spcAft>
              <a:buClr>
                <a:srgbClr val="42B883"/>
              </a:buClr>
              <a:buSzPct val="100000"/>
              <a:buFont typeface="Arial"/>
              <a:buChar char="•"/>
            </a:pPr>
            <a:r>
              <a:rPr sz="2200" b="0" i="0">
                <a:solidFill>
                  <a:srgbClr val="1F2A36"/>
                </a:solidFill>
              </a:rPr>
              <a:t>click, dblclick</a:t>
            </a:r>
          </a:p>
          <a:p>
            <a:pPr marL="274320" indent="-256032">
              <a:spcAft>
                <a:spcPts val="990"/>
              </a:spcAft>
              <a:buClr>
                <a:srgbClr val="42B883"/>
              </a:buClr>
              <a:buSzPct val="100000"/>
              <a:buFont typeface="Arial"/>
              <a:buChar char="•"/>
            </a:pPr>
            <a:r>
              <a:rPr sz="2200" b="0" i="0">
                <a:solidFill>
                  <a:srgbClr val="1F2A36"/>
                </a:solidFill>
              </a:rPr>
              <a:t>mousedown, mouseup</a:t>
            </a:r>
          </a:p>
          <a:p>
            <a:pPr marL="274320" indent="-256032">
              <a:spcAft>
                <a:spcPts val="990"/>
              </a:spcAft>
              <a:buClr>
                <a:srgbClr val="42B883"/>
              </a:buClr>
              <a:buSzPct val="100000"/>
              <a:buFont typeface="Arial"/>
              <a:buChar char="•"/>
            </a:pPr>
            <a:r>
              <a:rPr sz="2200" b="0" i="0">
                <a:solidFill>
                  <a:srgbClr val="1F2A36"/>
                </a:solidFill>
              </a:rPr>
              <a:t>mouseenter, mouseleave</a:t>
            </a:r>
          </a:p>
          <a:p>
            <a:pPr marL="274320" indent="-256032">
              <a:spcAft>
                <a:spcPts val="990"/>
              </a:spcAft>
              <a:buClr>
                <a:srgbClr val="42B883"/>
              </a:buClr>
              <a:buSzPct val="100000"/>
              <a:buFont typeface="Arial"/>
              <a:buChar char="•"/>
            </a:pPr>
            <a:r>
              <a:rPr sz="2200" b="0" i="0">
                <a:solidFill>
                  <a:srgbClr val="1F2A36"/>
                </a:solidFill>
              </a:rPr>
              <a:t>mouseover, mouseout</a:t>
            </a:r>
          </a:p>
          <a:p>
            <a:pPr marL="274320" indent="-256032">
              <a:spcAft>
                <a:spcPts val="990"/>
              </a:spcAft>
              <a:buClr>
                <a:srgbClr val="42B883"/>
              </a:buClr>
              <a:buSzPct val="100000"/>
              <a:buFont typeface="Arial"/>
              <a:buChar char="•"/>
            </a:pPr>
            <a:r>
              <a:rPr sz="2200" b="0" i="0">
                <a:solidFill>
                  <a:srgbClr val="1F2A36"/>
                </a:solidFill>
              </a:rPr>
              <a:t>mousemove, wheel</a:t>
            </a:r>
          </a:p>
        </p:txBody>
      </p:sp>
      <p:sp>
        <p:nvSpPr>
          <p:cNvPr id="5" name="Body"/>
          <p:cNvSpPr txBox="1"/>
          <p:nvPr/>
        </p:nvSpPr>
        <p:spPr>
          <a:xfrm>
            <a:off x="3307080" y="1822195"/>
            <a:ext cx="2529840" cy="2999994"/>
          </a:xfrm>
          <a:prstGeom prst="rect">
            <a:avLst/>
          </a:prstGeom>
          <a:noFill/>
        </p:spPr>
        <p:txBody>
          <a:bodyPr wrap="square" lIns="0" tIns="0" rIns="0" bIns="0">
            <a:noAutofit/>
          </a:bodyPr>
          <a:lstStyle/>
          <a:p>
            <a:pPr marL="0" indent="0">
              <a:spcAft>
                <a:spcPts val="769"/>
              </a:spcAft>
              <a:buNone/>
            </a:pPr>
            <a:r>
              <a:rPr sz="2200" b="1" i="0">
                <a:solidFill>
                  <a:srgbClr val="2E8B62"/>
                </a:solidFill>
              </a:rPr>
              <a:t>Keyboard and input</a:t>
            </a:r>
          </a:p>
          <a:p>
            <a:pPr marL="274320" indent="-256032">
              <a:spcAft>
                <a:spcPts val="990"/>
              </a:spcAft>
              <a:buClr>
                <a:srgbClr val="42B883"/>
              </a:buClr>
              <a:buSzPct val="100000"/>
              <a:buFont typeface="Arial"/>
              <a:buChar char="•"/>
            </a:pPr>
            <a:r>
              <a:rPr sz="2200" b="0" i="0">
                <a:solidFill>
                  <a:srgbClr val="1F2A36"/>
                </a:solidFill>
              </a:rPr>
              <a:t>keydown, keyup</a:t>
            </a:r>
          </a:p>
          <a:p>
            <a:pPr marL="274320" indent="-256032">
              <a:spcAft>
                <a:spcPts val="990"/>
              </a:spcAft>
              <a:buClr>
                <a:srgbClr val="42B883"/>
              </a:buClr>
              <a:buSzPct val="100000"/>
              <a:buFont typeface="Arial"/>
              <a:buChar char="•"/>
            </a:pPr>
            <a:r>
              <a:rPr sz="2200" b="0" i="0">
                <a:solidFill>
                  <a:srgbClr val="1F2A36"/>
                </a:solidFill>
              </a:rPr>
              <a:t>beforeinput, input</a:t>
            </a:r>
          </a:p>
          <a:p>
            <a:pPr marL="274320" indent="-256032">
              <a:spcAft>
                <a:spcPts val="990"/>
              </a:spcAft>
              <a:buClr>
                <a:srgbClr val="42B883"/>
              </a:buClr>
              <a:buSzPct val="100000"/>
              <a:buFont typeface="Arial"/>
              <a:buChar char="•"/>
            </a:pPr>
            <a:r>
              <a:rPr sz="2200" b="0" i="0">
                <a:solidFill>
                  <a:srgbClr val="1F2A36"/>
                </a:solidFill>
              </a:rPr>
              <a:t>compositionstart, compositionend</a:t>
            </a:r>
          </a:p>
          <a:p>
            <a:pPr marL="274320" indent="-256032">
              <a:spcAft>
                <a:spcPts val="990"/>
              </a:spcAft>
              <a:buClr>
                <a:srgbClr val="42B883"/>
              </a:buClr>
              <a:buSzPct val="100000"/>
              <a:buFont typeface="Arial"/>
              <a:buChar char="•"/>
            </a:pPr>
            <a:r>
              <a:rPr sz="2200" b="0" i="0">
                <a:solidFill>
                  <a:srgbClr val="1F2A36"/>
                </a:solidFill>
              </a:rPr>
              <a:t>select</a:t>
            </a:r>
          </a:p>
        </p:txBody>
      </p:sp>
      <p:sp>
        <p:nvSpPr>
          <p:cNvPr id="6" name="Body"/>
          <p:cNvSpPr txBox="1"/>
          <p:nvPr/>
        </p:nvSpPr>
        <p:spPr>
          <a:xfrm>
            <a:off x="6156960" y="1822195"/>
            <a:ext cx="2529840" cy="3329686"/>
          </a:xfrm>
          <a:prstGeom prst="rect">
            <a:avLst/>
          </a:prstGeom>
          <a:noFill/>
        </p:spPr>
        <p:txBody>
          <a:bodyPr wrap="square" lIns="0" tIns="0" rIns="0" bIns="0">
            <a:noAutofit/>
          </a:bodyPr>
          <a:lstStyle/>
          <a:p>
            <a:pPr marL="0" indent="0">
              <a:spcAft>
                <a:spcPts val="769"/>
              </a:spcAft>
              <a:buNone/>
            </a:pPr>
            <a:r>
              <a:rPr sz="2200" b="1" i="0">
                <a:solidFill>
                  <a:srgbClr val="2E8B62"/>
                </a:solidFill>
              </a:rPr>
              <a:t>Focus, page and media</a:t>
            </a:r>
          </a:p>
          <a:p>
            <a:pPr marL="274320" indent="-256032">
              <a:spcAft>
                <a:spcPts val="990"/>
              </a:spcAft>
              <a:buClr>
                <a:srgbClr val="42B883"/>
              </a:buClr>
              <a:buSzPct val="100000"/>
              <a:buFont typeface="Arial"/>
              <a:buChar char="•"/>
            </a:pPr>
            <a:r>
              <a:rPr sz="2200" b="0" i="0">
                <a:solidFill>
                  <a:srgbClr val="1F2A36"/>
                </a:solidFill>
              </a:rPr>
              <a:t>focus, blur</a:t>
            </a:r>
          </a:p>
          <a:p>
            <a:pPr marL="274320" indent="-256032">
              <a:spcAft>
                <a:spcPts val="990"/>
              </a:spcAft>
              <a:buClr>
                <a:srgbClr val="42B883"/>
              </a:buClr>
              <a:buSzPct val="100000"/>
              <a:buFont typeface="Arial"/>
              <a:buChar char="•"/>
            </a:pPr>
            <a:r>
              <a:rPr sz="2200" b="0" i="0">
                <a:solidFill>
                  <a:srgbClr val="1F2A36"/>
                </a:solidFill>
              </a:rPr>
              <a:t>focusin, focusout</a:t>
            </a:r>
          </a:p>
          <a:p>
            <a:pPr marL="274320" indent="-256032">
              <a:spcAft>
                <a:spcPts val="990"/>
              </a:spcAft>
              <a:buClr>
                <a:srgbClr val="42B883"/>
              </a:buClr>
              <a:buSzPct val="100000"/>
              <a:buFont typeface="Arial"/>
              <a:buChar char="•"/>
            </a:pPr>
            <a:r>
              <a:rPr sz="2200" b="0" i="0">
                <a:solidFill>
                  <a:srgbClr val="1F2A36"/>
                </a:solidFill>
              </a:rPr>
              <a:t>load, error, abort</a:t>
            </a:r>
          </a:p>
          <a:p>
            <a:pPr marL="274320" indent="-256032">
              <a:spcAft>
                <a:spcPts val="990"/>
              </a:spcAft>
              <a:buClr>
                <a:srgbClr val="42B883"/>
              </a:buClr>
              <a:buSzPct val="100000"/>
              <a:buFont typeface="Arial"/>
              <a:buChar char="•"/>
            </a:pPr>
            <a:r>
              <a:rPr sz="2200" b="0" i="0">
                <a:solidFill>
                  <a:srgbClr val="1F2A36"/>
                </a:solidFill>
              </a:rPr>
              <a:t>resize, scroll</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74</a:t>
            </a:fld>
            <a:endParaRPr lang="en-US" sz="900">
              <a:solidFill>
                <a:srgbClr val="9AA7B4"/>
              </a:solidFill>
            </a:endParaRPr>
          </a:p>
        </p:txBody>
      </p:sp>
    </p:spTree>
    <p:extLst>
      <p:ext uri="{BB962C8B-B14F-4D97-AF65-F5344CB8AC3E}">
        <p14:creationId xmlns:p14="http://schemas.microsoft.com/office/powerpoint/2010/main" val="18344276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Other Events</a:t>
            </a:r>
          </a:p>
        </p:txBody>
      </p:sp>
      <p:sp>
        <p:nvSpPr>
          <p:cNvPr id="3" name="Body"/>
          <p:cNvSpPr txBox="1"/>
          <p:nvPr/>
        </p:nvSpPr>
        <p:spPr>
          <a:xfrm>
            <a:off x="457200" y="1261872"/>
            <a:ext cx="8229600" cy="318998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Many interfaces implement or inherit events</a:t>
            </a:r>
          </a:p>
          <a:p>
            <a:pPr marL="566928" indent="-256032">
              <a:spcAft>
                <a:spcPts val="855"/>
              </a:spcAft>
              <a:buClr>
                <a:srgbClr val="6B7B8C"/>
              </a:buClr>
              <a:buSzPct val="100000"/>
              <a:buFont typeface="Arial"/>
              <a:buChar char="–"/>
            </a:pPr>
            <a:r>
              <a:rPr sz="1900" b="0" i="0">
                <a:solidFill>
                  <a:srgbClr val="3A4A5A"/>
                </a:solidFill>
              </a:rPr>
              <a:t>Forms: </a:t>
            </a:r>
            <a:r>
              <a:rPr sz="1805" b="0" i="0">
                <a:solidFill>
                  <a:srgbClr val="8A2B52"/>
                </a:solidFill>
                <a:latin typeface="Consolas"/>
              </a:rPr>
              <a:t>submit</a:t>
            </a:r>
            <a:r>
              <a:rPr sz="1900" b="0" i="0">
                <a:solidFill>
                  <a:srgbClr val="3A4A5A"/>
                </a:solidFill>
              </a:rPr>
              <a:t>, </a:t>
            </a:r>
            <a:r>
              <a:rPr sz="1805" b="0" i="0">
                <a:solidFill>
                  <a:srgbClr val="8A2B52"/>
                </a:solidFill>
                <a:latin typeface="Consolas"/>
              </a:rPr>
              <a:t>reset</a:t>
            </a:r>
            <a:r>
              <a:rPr sz="1900" b="0" i="0">
                <a:solidFill>
                  <a:srgbClr val="3A4A5A"/>
                </a:solidFill>
              </a:rPr>
              <a:t>, </a:t>
            </a:r>
            <a:r>
              <a:rPr sz="1805" b="0" i="0">
                <a:solidFill>
                  <a:srgbClr val="8A2B52"/>
                </a:solidFill>
                <a:latin typeface="Consolas"/>
              </a:rPr>
              <a:t>change</a:t>
            </a:r>
          </a:p>
          <a:p>
            <a:pPr marL="566928" indent="-256032">
              <a:spcAft>
                <a:spcPts val="855"/>
              </a:spcAft>
              <a:buClr>
                <a:srgbClr val="6B7B8C"/>
              </a:buClr>
              <a:buSzPct val="100000"/>
              <a:buFont typeface="Arial"/>
              <a:buChar char="–"/>
            </a:pPr>
            <a:r>
              <a:rPr sz="1900" b="0" i="0">
                <a:solidFill>
                  <a:srgbClr val="3A4A5A"/>
                </a:solidFill>
              </a:rPr>
              <a:t>Network and storage: </a:t>
            </a:r>
            <a:r>
              <a:rPr sz="1805" b="0" i="0">
                <a:solidFill>
                  <a:srgbClr val="8A2B52"/>
                </a:solidFill>
                <a:latin typeface="Consolas"/>
              </a:rPr>
              <a:t>online</a:t>
            </a:r>
            <a:r>
              <a:rPr sz="1900" b="0" i="0">
                <a:solidFill>
                  <a:srgbClr val="3A4A5A"/>
                </a:solidFill>
              </a:rPr>
              <a:t>, </a:t>
            </a:r>
            <a:r>
              <a:rPr sz="1805" b="0" i="0">
                <a:solidFill>
                  <a:srgbClr val="8A2B52"/>
                </a:solidFill>
                <a:latin typeface="Consolas"/>
              </a:rPr>
              <a:t>offline</a:t>
            </a:r>
            <a:r>
              <a:rPr sz="1900" b="0" i="0">
                <a:solidFill>
                  <a:srgbClr val="3A4A5A"/>
                </a:solidFill>
              </a:rPr>
              <a:t>, </a:t>
            </a:r>
            <a:r>
              <a:rPr sz="1805" b="0" i="0">
                <a:solidFill>
                  <a:srgbClr val="8A2B52"/>
                </a:solidFill>
                <a:latin typeface="Consolas"/>
              </a:rPr>
              <a:t>storage</a:t>
            </a:r>
          </a:p>
          <a:p>
            <a:pPr marL="566928" indent="-256032">
              <a:spcAft>
                <a:spcPts val="855"/>
              </a:spcAft>
              <a:buClr>
                <a:srgbClr val="6B7B8C"/>
              </a:buClr>
              <a:buSzPct val="100000"/>
              <a:buFont typeface="Arial"/>
              <a:buChar char="–"/>
            </a:pPr>
            <a:r>
              <a:rPr sz="1900" b="0" i="0">
                <a:solidFill>
                  <a:srgbClr val="3A4A5A"/>
                </a:solidFill>
              </a:rPr>
              <a:t>Media: </a:t>
            </a:r>
            <a:r>
              <a:rPr sz="1805" b="0" i="0">
                <a:solidFill>
                  <a:srgbClr val="8A2B52"/>
                </a:solidFill>
                <a:latin typeface="Consolas"/>
              </a:rPr>
              <a:t>play</a:t>
            </a:r>
            <a:r>
              <a:rPr sz="1900" b="0" i="0">
                <a:solidFill>
                  <a:srgbClr val="3A4A5A"/>
                </a:solidFill>
              </a:rPr>
              <a:t>, </a:t>
            </a:r>
            <a:r>
              <a:rPr sz="1805" b="0" i="0">
                <a:solidFill>
                  <a:srgbClr val="8A2B52"/>
                </a:solidFill>
                <a:latin typeface="Consolas"/>
              </a:rPr>
              <a:t>pause</a:t>
            </a:r>
            <a:r>
              <a:rPr sz="1900" b="0" i="0">
                <a:solidFill>
                  <a:srgbClr val="3A4A5A"/>
                </a:solidFill>
              </a:rPr>
              <a:t>, </a:t>
            </a:r>
            <a:r>
              <a:rPr sz="1805" b="0" i="0">
                <a:solidFill>
                  <a:srgbClr val="8A2B52"/>
                </a:solidFill>
                <a:latin typeface="Consolas"/>
              </a:rPr>
              <a:t>ended</a:t>
            </a:r>
          </a:p>
          <a:p>
            <a:pPr marL="566928" indent="-256032">
              <a:spcAft>
                <a:spcPts val="855"/>
              </a:spcAft>
              <a:buClr>
                <a:srgbClr val="6B7B8C"/>
              </a:buClr>
              <a:buSzPct val="100000"/>
              <a:buFont typeface="Arial"/>
              <a:buChar char="–"/>
            </a:pPr>
            <a:r>
              <a:rPr sz="1900" b="0" i="0">
                <a:solidFill>
                  <a:srgbClr val="3A4A5A"/>
                </a:solidFill>
              </a:rPr>
              <a:t>Page lifecycle: </a:t>
            </a:r>
            <a:r>
              <a:rPr sz="1805" b="0" i="0">
                <a:solidFill>
                  <a:srgbClr val="8A2B52"/>
                </a:solidFill>
                <a:latin typeface="Consolas"/>
              </a:rPr>
              <a:t>DOMContentLoaded</a:t>
            </a:r>
            <a:r>
              <a:rPr sz="1900" b="0" i="0">
                <a:solidFill>
                  <a:srgbClr val="3A4A5A"/>
                </a:solidFill>
              </a:rPr>
              <a:t>, </a:t>
            </a:r>
            <a:r>
              <a:rPr sz="1805" b="0" i="0">
                <a:solidFill>
                  <a:srgbClr val="8A2B52"/>
                </a:solidFill>
                <a:latin typeface="Consolas"/>
              </a:rPr>
              <a:t>visibilitychange</a:t>
            </a:r>
            <a:r>
              <a:rPr sz="1900" b="0" i="0">
                <a:solidFill>
                  <a:srgbClr val="3A4A5A"/>
                </a:solidFill>
              </a:rPr>
              <a:t>, </a:t>
            </a:r>
            <a:r>
              <a:rPr sz="1805" b="0" i="0">
                <a:solidFill>
                  <a:srgbClr val="8A2B52"/>
                </a:solidFill>
                <a:latin typeface="Consolas"/>
              </a:rPr>
              <a:t>pagehide</a:t>
            </a:r>
          </a:p>
          <a:p>
            <a:pPr marL="274320" indent="-256032">
              <a:spcAft>
                <a:spcPts val="990"/>
              </a:spcAft>
              <a:buClr>
                <a:srgbClr val="42B883"/>
              </a:buClr>
              <a:buSzPct val="100000"/>
              <a:buFont typeface="Arial"/>
              <a:buChar char="•"/>
            </a:pPr>
            <a:r>
              <a:rPr sz="2200" b="0" i="0">
                <a:solidFill>
                  <a:srgbClr val="1F2A36"/>
                </a:solidFill>
              </a:rPr>
              <a:t>Full reference: </a:t>
            </a:r>
            <a:r>
              <a:rPr sz="2200" b="1" i="0">
                <a:solidFill>
                  <a:srgbClr val="1F2A36"/>
                </a:solidFill>
              </a:rPr>
              <a:t>developer.mozilla.org/en-US/docs/Web/Events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75</a:t>
            </a:fld>
            <a:endParaRPr lang="en-US" sz="900">
              <a:solidFill>
                <a:srgbClr val="9AA7B4"/>
              </a:solidFill>
            </a:endParaRPr>
          </a:p>
        </p:txBody>
      </p:sp>
    </p:spTree>
    <p:extLst>
      <p:ext uri="{BB962C8B-B14F-4D97-AF65-F5344CB8AC3E}">
        <p14:creationId xmlns:p14="http://schemas.microsoft.com/office/powerpoint/2010/main" val="2867254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Element</a:t>
            </a:r>
          </a:p>
        </p:txBody>
      </p:sp>
      <p:sp>
        <p:nvSpPr>
          <p:cNvPr id="3" name="Body"/>
          <p:cNvSpPr txBox="1"/>
          <p:nvPr/>
        </p:nvSpPr>
        <p:spPr>
          <a:xfrm>
            <a:off x="457200" y="1261872"/>
            <a:ext cx="8229600" cy="805179"/>
          </a:xfrm>
          <a:prstGeom prst="rect">
            <a:avLst/>
          </a:prstGeom>
          <a:noFill/>
        </p:spPr>
        <p:txBody>
          <a:bodyPr wrap="square" lIns="0" tIns="0" rIns="0" bIns="0">
            <a:noAutofit/>
          </a:bodyPr>
          <a:lstStyle/>
          <a:p>
            <a:pPr marL="0" indent="0">
              <a:spcAft>
                <a:spcPts val="900"/>
              </a:spcAft>
              <a:buNone/>
            </a:pPr>
            <a:r>
              <a:rPr sz="2000" b="0" i="0">
                <a:solidFill>
                  <a:srgbClr val="1F2A36"/>
                </a:solidFill>
              </a:rPr>
              <a:t>The interface for elements in a document. It inherits properties and methods from </a:t>
            </a:r>
            <a:r>
              <a:rPr sz="1900" b="0" i="0">
                <a:solidFill>
                  <a:srgbClr val="8A2B52"/>
                </a:solidFill>
                <a:latin typeface="Consolas"/>
              </a:rPr>
              <a:t>Node</a:t>
            </a:r>
            <a:r>
              <a:rPr sz="2000" b="0" i="0">
                <a:solidFill>
                  <a:srgbClr val="1F2A36"/>
                </a:solidFill>
              </a:rPr>
              <a:t> and </a:t>
            </a:r>
            <a:r>
              <a:rPr sz="1900" b="0" i="0">
                <a:solidFill>
                  <a:srgbClr val="8A2B52"/>
                </a:solidFill>
                <a:latin typeface="Consolas"/>
              </a:rPr>
              <a:t>EventTarget</a:t>
            </a:r>
            <a:r>
              <a:rPr sz="2000" b="0" i="0">
                <a:solidFill>
                  <a:srgbClr val="1F2A36"/>
                </a:solidFill>
              </a:rPr>
              <a:t>.</a:t>
            </a:r>
          </a:p>
        </p:txBody>
      </p:sp>
      <p:sp>
        <p:nvSpPr>
          <p:cNvPr id="4" name="Body"/>
          <p:cNvSpPr txBox="1"/>
          <p:nvPr/>
        </p:nvSpPr>
        <p:spPr>
          <a:xfrm>
            <a:off x="457200" y="2121916"/>
            <a:ext cx="3954780" cy="2796032"/>
          </a:xfrm>
          <a:prstGeom prst="rect">
            <a:avLst/>
          </a:prstGeom>
          <a:noFill/>
        </p:spPr>
        <p:txBody>
          <a:bodyPr wrap="square" lIns="0" tIns="0" rIns="0" bIns="0">
            <a:noAutofit/>
          </a:bodyPr>
          <a:lstStyle/>
          <a:p>
            <a:pPr marL="0" indent="0">
              <a:spcAft>
                <a:spcPts val="769"/>
              </a:spcAft>
              <a:buNone/>
            </a:pPr>
            <a:r>
              <a:rPr sz="2200" b="1" i="0">
                <a:solidFill>
                  <a:srgbClr val="2E8B62"/>
                </a:solidFill>
              </a:rPr>
              <a:t>Common properties</a:t>
            </a:r>
          </a:p>
          <a:p>
            <a:pPr marL="274320" indent="-256032">
              <a:spcAft>
                <a:spcPts val="990"/>
              </a:spcAft>
              <a:buClr>
                <a:srgbClr val="42B883"/>
              </a:buClr>
              <a:buSzPct val="100000"/>
              <a:buFont typeface="Arial"/>
              <a:buChar char="•"/>
            </a:pPr>
            <a:r>
              <a:rPr sz="2090" b="0" i="0">
                <a:solidFill>
                  <a:srgbClr val="8A2B52"/>
                </a:solidFill>
                <a:latin typeface="Consolas"/>
              </a:rPr>
              <a:t>innerHTML</a:t>
            </a:r>
            <a:r>
              <a:rPr sz="2200" b="0" i="0">
                <a:solidFill>
                  <a:srgbClr val="1F2A36"/>
                </a:solidFill>
              </a:rPr>
              <a:t>, </a:t>
            </a:r>
            <a:r>
              <a:rPr sz="2090" b="0" i="0">
                <a:solidFill>
                  <a:srgbClr val="8A2B52"/>
                </a:solidFill>
                <a:latin typeface="Consolas"/>
              </a:rPr>
              <a:t>textContent</a:t>
            </a:r>
          </a:p>
          <a:p>
            <a:pPr marL="274320" indent="-256032">
              <a:spcAft>
                <a:spcPts val="990"/>
              </a:spcAft>
              <a:buClr>
                <a:srgbClr val="42B883"/>
              </a:buClr>
              <a:buSzPct val="100000"/>
              <a:buFont typeface="Arial"/>
              <a:buChar char="•"/>
            </a:pPr>
            <a:r>
              <a:rPr sz="2090" b="0" i="0">
                <a:solidFill>
                  <a:srgbClr val="8A2B52"/>
                </a:solidFill>
                <a:latin typeface="Consolas"/>
              </a:rPr>
              <a:t>attributes</a:t>
            </a:r>
          </a:p>
          <a:p>
            <a:pPr marL="274320" indent="-256032">
              <a:spcAft>
                <a:spcPts val="990"/>
              </a:spcAft>
              <a:buClr>
                <a:srgbClr val="42B883"/>
              </a:buClr>
              <a:buSzPct val="100000"/>
              <a:buFont typeface="Arial"/>
              <a:buChar char="•"/>
            </a:pPr>
            <a:r>
              <a:rPr sz="2090" b="0" i="0">
                <a:solidFill>
                  <a:srgbClr val="8A2B52"/>
                </a:solidFill>
                <a:latin typeface="Consolas"/>
              </a:rPr>
              <a:t>classList</a:t>
            </a:r>
          </a:p>
          <a:p>
            <a:pPr marL="274320" indent="-256032">
              <a:spcAft>
                <a:spcPts val="990"/>
              </a:spcAft>
              <a:buClr>
                <a:srgbClr val="42B883"/>
              </a:buClr>
              <a:buSzPct val="100000"/>
              <a:buFont typeface="Arial"/>
              <a:buChar char="•"/>
            </a:pPr>
            <a:r>
              <a:rPr sz="2090" b="0" i="0">
                <a:solidFill>
                  <a:srgbClr val="8A2B52"/>
                </a:solidFill>
                <a:latin typeface="Consolas"/>
              </a:rPr>
              <a:t>id</a:t>
            </a:r>
          </a:p>
          <a:p>
            <a:pPr marL="274320" indent="-256032">
              <a:spcAft>
                <a:spcPts val="990"/>
              </a:spcAft>
              <a:buClr>
                <a:srgbClr val="42B883"/>
              </a:buClr>
              <a:buSzPct val="100000"/>
              <a:buFont typeface="Arial"/>
              <a:buChar char="•"/>
            </a:pPr>
            <a:r>
              <a:rPr sz="2090" b="0" i="0">
                <a:solidFill>
                  <a:srgbClr val="8A2B52"/>
                </a:solidFill>
                <a:latin typeface="Consolas"/>
              </a:rPr>
              <a:t>tagName</a:t>
            </a:r>
          </a:p>
        </p:txBody>
      </p:sp>
      <p:sp>
        <p:nvSpPr>
          <p:cNvPr id="5" name="Body"/>
          <p:cNvSpPr txBox="1"/>
          <p:nvPr/>
        </p:nvSpPr>
        <p:spPr>
          <a:xfrm>
            <a:off x="4732020" y="2121916"/>
            <a:ext cx="3954780" cy="3785107"/>
          </a:xfrm>
          <a:prstGeom prst="rect">
            <a:avLst/>
          </a:prstGeom>
          <a:noFill/>
        </p:spPr>
        <p:txBody>
          <a:bodyPr wrap="square" lIns="0" tIns="0" rIns="0" bIns="0">
            <a:noAutofit/>
          </a:bodyPr>
          <a:lstStyle/>
          <a:p>
            <a:pPr marL="0" indent="0">
              <a:spcAft>
                <a:spcPts val="769"/>
              </a:spcAft>
              <a:buNone/>
            </a:pPr>
            <a:r>
              <a:rPr sz="2200" b="1" i="0">
                <a:solidFill>
                  <a:srgbClr val="2E8B62"/>
                </a:solidFill>
              </a:rPr>
              <a:t>Common methods</a:t>
            </a:r>
          </a:p>
          <a:p>
            <a:pPr marL="274320" indent="-256032">
              <a:spcAft>
                <a:spcPts val="990"/>
              </a:spcAft>
              <a:buClr>
                <a:srgbClr val="42B883"/>
              </a:buClr>
              <a:buSzPct val="100000"/>
              <a:buFont typeface="Arial"/>
              <a:buChar char="•"/>
            </a:pPr>
            <a:r>
              <a:rPr sz="2090" b="0" i="0">
                <a:solidFill>
                  <a:srgbClr val="8A2B52"/>
                </a:solidFill>
                <a:latin typeface="Consolas"/>
              </a:rPr>
              <a:t>querySelector()</a:t>
            </a:r>
            <a:r>
              <a:rPr sz="2200" b="0" i="0">
                <a:solidFill>
                  <a:srgbClr val="1F2A36"/>
                </a:solidFill>
              </a:rPr>
              <a:t>, </a:t>
            </a:r>
            <a:r>
              <a:rPr sz="2090" b="0" i="0">
                <a:solidFill>
                  <a:srgbClr val="8A2B52"/>
                </a:solidFill>
                <a:latin typeface="Consolas"/>
              </a:rPr>
              <a:t>querySelectorAll()</a:t>
            </a:r>
          </a:p>
          <a:p>
            <a:pPr marL="274320" indent="-256032">
              <a:spcAft>
                <a:spcPts val="990"/>
              </a:spcAft>
              <a:buClr>
                <a:srgbClr val="42B883"/>
              </a:buClr>
              <a:buSzPct val="100000"/>
              <a:buFont typeface="Arial"/>
              <a:buChar char="•"/>
            </a:pPr>
            <a:r>
              <a:rPr sz="2090" b="0" i="0">
                <a:solidFill>
                  <a:srgbClr val="8A2B52"/>
                </a:solidFill>
                <a:latin typeface="Consolas"/>
              </a:rPr>
              <a:t>addEventListener()</a:t>
            </a:r>
          </a:p>
          <a:p>
            <a:pPr marL="274320" indent="-256032">
              <a:spcAft>
                <a:spcPts val="990"/>
              </a:spcAft>
              <a:buClr>
                <a:srgbClr val="42B883"/>
              </a:buClr>
              <a:buSzPct val="100000"/>
              <a:buFont typeface="Arial"/>
              <a:buChar char="•"/>
            </a:pPr>
            <a:r>
              <a:rPr sz="2090" b="0" i="0">
                <a:solidFill>
                  <a:srgbClr val="8A2B52"/>
                </a:solidFill>
                <a:latin typeface="Consolas"/>
              </a:rPr>
              <a:t>setAttribute()</a:t>
            </a:r>
            <a:r>
              <a:rPr sz="2200" b="0" i="0">
                <a:solidFill>
                  <a:srgbClr val="1F2A36"/>
                </a:solidFill>
              </a:rPr>
              <a:t>, </a:t>
            </a:r>
            <a:r>
              <a:rPr sz="2090" b="0" i="0">
                <a:solidFill>
                  <a:srgbClr val="8A2B52"/>
                </a:solidFill>
                <a:latin typeface="Consolas"/>
              </a:rPr>
              <a:t>getAttribute()</a:t>
            </a:r>
          </a:p>
          <a:p>
            <a:pPr marL="274320" indent="-256032">
              <a:spcAft>
                <a:spcPts val="990"/>
              </a:spcAft>
              <a:buClr>
                <a:srgbClr val="42B883"/>
              </a:buClr>
              <a:buSzPct val="100000"/>
              <a:buFont typeface="Arial"/>
              <a:buChar char="•"/>
            </a:pPr>
            <a:r>
              <a:rPr sz="2090" b="0" i="0">
                <a:solidFill>
                  <a:srgbClr val="8A2B52"/>
                </a:solidFill>
                <a:latin typeface="Consolas"/>
              </a:rPr>
              <a:t>closest()</a:t>
            </a:r>
            <a:r>
              <a:rPr sz="2200" b="0" i="0">
                <a:solidFill>
                  <a:srgbClr val="1F2A36"/>
                </a:solidFill>
              </a:rPr>
              <a:t>, </a:t>
            </a:r>
            <a:r>
              <a:rPr sz="2090" b="0" i="0">
                <a:solidFill>
                  <a:srgbClr val="8A2B52"/>
                </a:solidFill>
                <a:latin typeface="Consolas"/>
              </a:rPr>
              <a:t>remove()</a:t>
            </a:r>
          </a:p>
          <a:p>
            <a:pPr marL="274320" indent="-256032">
              <a:spcAft>
                <a:spcPts val="990"/>
              </a:spcAft>
              <a:buClr>
                <a:srgbClr val="42B883"/>
              </a:buClr>
              <a:buSzPct val="100000"/>
              <a:buFont typeface="Arial"/>
              <a:buChar char="•"/>
            </a:pPr>
            <a:r>
              <a:rPr sz="2090" b="0" i="0">
                <a:solidFill>
                  <a:srgbClr val="8A2B52"/>
                </a:solidFill>
                <a:latin typeface="Consolas"/>
              </a:rPr>
              <a:t>getElementById()</a:t>
            </a:r>
            <a:r>
              <a:rPr sz="2200" b="0" i="0">
                <a:solidFill>
                  <a:srgbClr val="1F2A36"/>
                </a:solidFill>
              </a:rPr>
              <a:t> (on </a:t>
            </a:r>
            <a:r>
              <a:rPr sz="2090" b="0" i="0">
                <a:solidFill>
                  <a:srgbClr val="8A2B52"/>
                </a:solidFill>
                <a:latin typeface="Consolas"/>
              </a:rPr>
              <a:t>document</a:t>
            </a:r>
            <a:r>
              <a:rPr sz="2200" b="0" i="0">
                <a:solidFill>
                  <a:srgbClr val="1F2A36"/>
                </a:solidFill>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76</a:t>
            </a:fld>
            <a:endParaRPr lang="en-US" sz="900">
              <a:solidFill>
                <a:srgbClr val="9AA7B4"/>
              </a:solidFill>
            </a:endParaRPr>
          </a:p>
        </p:txBody>
      </p:sp>
    </p:spTree>
    <p:extLst>
      <p:ext uri="{BB962C8B-B14F-4D97-AF65-F5344CB8AC3E}">
        <p14:creationId xmlns:p14="http://schemas.microsoft.com/office/powerpoint/2010/main" val="5314790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Manipulating HTML with the DOM</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You can get and set properties of HTML elements with JavaScript through the DOM.</a:t>
            </a:r>
          </a:p>
        </p:txBody>
      </p:sp>
      <p:sp>
        <p:nvSpPr>
          <p:cNvPr id="4" name="Code"/>
          <p:cNvSpPr/>
          <p:nvPr/>
        </p:nvSpPr>
        <p:spPr>
          <a:xfrm>
            <a:off x="457200" y="2193290"/>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&lt;!-- starting HTML --&gt;</a:t>
            </a:r>
          </a:p>
          <a:p>
            <a:pPr marL="0" indent="0" algn="l">
              <a:lnSpc>
                <a:spcPct val="100000"/>
              </a:lnSpc>
              <a:buNone/>
            </a:pPr>
            <a:r>
              <a:rPr sz="2000">
                <a:solidFill>
                  <a:srgbClr val="116329"/>
                </a:solidFill>
                <a:latin typeface="Consolas"/>
              </a:rPr>
              <a:t>&lt;p</a:t>
            </a:r>
            <a:r>
              <a:rPr sz="2000">
                <a:solidFill>
                  <a:srgbClr val="24292F"/>
                </a:solidFill>
                <a:latin typeface="Consolas"/>
              </a:rPr>
              <a:t> </a:t>
            </a:r>
            <a:r>
              <a:rPr sz="2000">
                <a:solidFill>
                  <a:srgbClr val="953800"/>
                </a:solidFill>
                <a:latin typeface="Consolas"/>
              </a:rPr>
              <a:t>id</a:t>
            </a:r>
            <a:r>
              <a:rPr sz="2000">
                <a:solidFill>
                  <a:srgbClr val="24292F"/>
                </a:solidFill>
                <a:latin typeface="Consolas"/>
              </a:rPr>
              <a:t>=</a:t>
            </a:r>
            <a:r>
              <a:rPr sz="2000">
                <a:solidFill>
                  <a:srgbClr val="0A3069"/>
                </a:solidFill>
                <a:latin typeface="Consolas"/>
              </a:rPr>
              <a:t>"favoriteMovie"</a:t>
            </a:r>
            <a:r>
              <a:rPr sz="2000">
                <a:solidFill>
                  <a:srgbClr val="116329"/>
                </a:solidFill>
                <a:latin typeface="Consolas"/>
              </a:rPr>
              <a:t>&gt;</a:t>
            </a:r>
            <a:r>
              <a:rPr sz="2000">
                <a:solidFill>
                  <a:srgbClr val="24292F"/>
                </a:solidFill>
                <a:latin typeface="Consolas"/>
              </a:rPr>
              <a:t>The Matrix</a:t>
            </a:r>
            <a:r>
              <a:rPr sz="2000">
                <a:solidFill>
                  <a:srgbClr val="116329"/>
                </a:solidFill>
                <a:latin typeface="Consolas"/>
              </a:rPr>
              <a:t>&lt;/p&gt;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&lt;script&gt;</a:t>
            </a:r>
          </a:p>
          <a:p>
            <a:pPr marL="0" indent="0" algn="l">
              <a:lnSpc>
                <a:spcPct val="100000"/>
              </a:lnSpc>
              <a:buNone/>
            </a:pPr>
            <a:r>
              <a:rPr sz="2000">
                <a:solidFill>
                  <a:srgbClr val="24292F"/>
                </a:solidFill>
                <a:latin typeface="Consolas"/>
              </a:rPr>
              <a:t>  document.getElementById(</a:t>
            </a:r>
            <a:r>
              <a:rPr sz="2000">
                <a:solidFill>
                  <a:srgbClr val="0A3069"/>
                </a:solidFill>
                <a:latin typeface="Consolas"/>
              </a:rPr>
              <a:t>'favoriteMovie'</a:t>
            </a:r>
            <a:r>
              <a:rPr sz="2000">
                <a:solidFill>
                  <a:srgbClr val="24292F"/>
                </a:solidFill>
                <a:latin typeface="Consolas"/>
              </a:rPr>
              <a:t>)</a:t>
            </a:r>
          </a:p>
          <a:p>
            <a:pPr marL="0" indent="0" algn="l">
              <a:lnSpc>
                <a:spcPct val="100000"/>
              </a:lnSpc>
              <a:buNone/>
            </a:pPr>
            <a:r>
              <a:rPr sz="2000">
                <a:solidFill>
                  <a:srgbClr val="24292F"/>
                </a:solidFill>
                <a:latin typeface="Consolas"/>
              </a:rPr>
              <a:t>    .textContent = </a:t>
            </a:r>
            <a:r>
              <a:rPr sz="2000">
                <a:solidFill>
                  <a:srgbClr val="0A3069"/>
                </a:solidFill>
                <a:latin typeface="Consolas"/>
              </a:rPr>
              <a:t>'The Godfather'</a:t>
            </a:r>
          </a:p>
          <a:p>
            <a:pPr marL="0" indent="0" algn="l">
              <a:lnSpc>
                <a:spcPct val="100000"/>
              </a:lnSpc>
              <a:buNone/>
            </a:pPr>
            <a:r>
              <a:rPr sz="2000">
                <a:solidFill>
                  <a:srgbClr val="116329"/>
                </a:solidFill>
                <a:latin typeface="Consolas"/>
              </a:rPr>
              <a:t>&lt;/script&gt;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the DOM, and the page, now contain --&gt;</a:t>
            </a:r>
          </a:p>
          <a:p>
            <a:pPr marL="0" indent="0" algn="l">
              <a:lnSpc>
                <a:spcPct val="100000"/>
              </a:lnSpc>
              <a:buNone/>
            </a:pPr>
            <a:r>
              <a:rPr sz="2000">
                <a:solidFill>
                  <a:srgbClr val="116329"/>
                </a:solidFill>
                <a:latin typeface="Consolas"/>
              </a:rPr>
              <a:t>&lt;p</a:t>
            </a:r>
            <a:r>
              <a:rPr sz="2000">
                <a:solidFill>
                  <a:srgbClr val="24292F"/>
                </a:solidFill>
                <a:latin typeface="Consolas"/>
              </a:rPr>
              <a:t> </a:t>
            </a:r>
            <a:r>
              <a:rPr sz="2000">
                <a:solidFill>
                  <a:srgbClr val="953800"/>
                </a:solidFill>
                <a:latin typeface="Consolas"/>
              </a:rPr>
              <a:t>id</a:t>
            </a:r>
            <a:r>
              <a:rPr sz="2000">
                <a:solidFill>
                  <a:srgbClr val="24292F"/>
                </a:solidFill>
                <a:latin typeface="Consolas"/>
              </a:rPr>
              <a:t>=</a:t>
            </a:r>
            <a:r>
              <a:rPr sz="2000">
                <a:solidFill>
                  <a:srgbClr val="0A3069"/>
                </a:solidFill>
                <a:latin typeface="Consolas"/>
              </a:rPr>
              <a:t>"favoriteMovie"</a:t>
            </a:r>
            <a:r>
              <a:rPr sz="2000">
                <a:solidFill>
                  <a:srgbClr val="116329"/>
                </a:solidFill>
                <a:latin typeface="Consolas"/>
              </a:rPr>
              <a:t>&gt;</a:t>
            </a:r>
            <a:r>
              <a:rPr sz="2000">
                <a:solidFill>
                  <a:srgbClr val="24292F"/>
                </a:solidFill>
                <a:latin typeface="Consolas"/>
              </a:rPr>
              <a:t>The Godfather</a:t>
            </a:r>
            <a:r>
              <a:rPr sz="2000">
                <a:solidFill>
                  <a:srgbClr val="116329"/>
                </a:solidFill>
                <a:latin typeface="Consolas"/>
              </a:rPr>
              <a:t>&lt;/p&gt;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77</a:t>
            </a:fld>
            <a:endParaRPr lang="en-US" sz="900">
              <a:solidFill>
                <a:srgbClr val="9AA7B4"/>
              </a:solidFill>
            </a:endParaRPr>
          </a:p>
        </p:txBody>
      </p:sp>
    </p:spTree>
    <p:extLst>
      <p:ext uri="{BB962C8B-B14F-4D97-AF65-F5344CB8AC3E}">
        <p14:creationId xmlns:p14="http://schemas.microsoft.com/office/powerpoint/2010/main" val="25189202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Manipulating HTML with the DOM</a:t>
            </a:r>
          </a:p>
        </p:txBody>
      </p:sp>
      <p:sp>
        <p:nvSpPr>
          <p:cNvPr id="3" name="Code"/>
          <p:cNvSpPr/>
          <p:nvPr/>
        </p:nvSpPr>
        <p:spPr>
          <a:xfrm>
            <a:off x="457200" y="1261872"/>
            <a:ext cx="8229600" cy="3497325"/>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116329"/>
                </a:solidFill>
                <a:latin typeface="Consolas"/>
              </a:rPr>
              <a:t>&lt;ol</a:t>
            </a:r>
            <a:r>
              <a:rPr sz="1850">
                <a:solidFill>
                  <a:srgbClr val="24292F"/>
                </a:solidFill>
                <a:latin typeface="Consolas"/>
              </a:rPr>
              <a:t> </a:t>
            </a:r>
            <a:r>
              <a:rPr sz="1850">
                <a:solidFill>
                  <a:srgbClr val="953800"/>
                </a:solidFill>
                <a:latin typeface="Consolas"/>
              </a:rPr>
              <a:t>id</a:t>
            </a:r>
            <a:r>
              <a:rPr sz="1850">
                <a:solidFill>
                  <a:srgbClr val="24292F"/>
                </a:solidFill>
                <a:latin typeface="Consolas"/>
              </a:rPr>
              <a:t>=</a:t>
            </a:r>
            <a:r>
              <a:rPr sz="1850">
                <a:solidFill>
                  <a:srgbClr val="0A3069"/>
                </a:solidFill>
                <a:latin typeface="Consolas"/>
              </a:rPr>
              <a:t>"favoriteSongs"</a:t>
            </a:r>
            <a:r>
              <a:rPr sz="1850">
                <a:solidFill>
                  <a:srgbClr val="116329"/>
                </a:solidFill>
                <a:latin typeface="Consolas"/>
              </a:rPr>
              <a:t>&gt;</a:t>
            </a:r>
          </a:p>
          <a:p>
            <a:pPr marL="0" indent="0" algn="l">
              <a:lnSpc>
                <a:spcPct val="100000"/>
              </a:lnSpc>
              <a:buNone/>
            </a:pPr>
            <a:r>
              <a:rPr sz="1850">
                <a:solidFill>
                  <a:srgbClr val="24292F"/>
                </a:solidFill>
                <a:latin typeface="Consolas"/>
              </a:rPr>
              <a:t>  </a:t>
            </a:r>
            <a:r>
              <a:rPr sz="1850">
                <a:solidFill>
                  <a:srgbClr val="116329"/>
                </a:solidFill>
                <a:latin typeface="Consolas"/>
              </a:rPr>
              <a:t>&lt;li</a:t>
            </a:r>
            <a:r>
              <a:rPr sz="1850">
                <a:solidFill>
                  <a:srgbClr val="24292F"/>
                </a:solidFill>
                <a:latin typeface="Consolas"/>
              </a:rPr>
              <a:t> </a:t>
            </a:r>
            <a:r>
              <a:rPr sz="1850">
                <a:solidFill>
                  <a:srgbClr val="953800"/>
                </a:solidFill>
                <a:latin typeface="Consolas"/>
              </a:rPr>
              <a:t>class</a:t>
            </a:r>
            <a:r>
              <a:rPr sz="1850">
                <a:solidFill>
                  <a:srgbClr val="24292F"/>
                </a:solidFill>
                <a:latin typeface="Consolas"/>
              </a:rPr>
              <a:t>=</a:t>
            </a:r>
            <a:r>
              <a:rPr sz="1850">
                <a:solidFill>
                  <a:srgbClr val="0A3069"/>
                </a:solidFill>
                <a:latin typeface="Consolas"/>
              </a:rPr>
              <a:t>"song"</a:t>
            </a:r>
            <a:r>
              <a:rPr sz="1850">
                <a:solidFill>
                  <a:srgbClr val="116329"/>
                </a:solidFill>
                <a:latin typeface="Consolas"/>
              </a:rPr>
              <a:t>&gt;&lt;/li&gt;</a:t>
            </a:r>
          </a:p>
          <a:p>
            <a:pPr marL="0" indent="0" algn="l">
              <a:lnSpc>
                <a:spcPct val="100000"/>
              </a:lnSpc>
              <a:buNone/>
            </a:pPr>
            <a:r>
              <a:rPr sz="1850">
                <a:solidFill>
                  <a:srgbClr val="24292F"/>
                </a:solidFill>
                <a:latin typeface="Consolas"/>
              </a:rPr>
              <a:t>  </a:t>
            </a:r>
            <a:r>
              <a:rPr sz="1850">
                <a:solidFill>
                  <a:srgbClr val="116329"/>
                </a:solidFill>
                <a:latin typeface="Consolas"/>
              </a:rPr>
              <a:t>&lt;li</a:t>
            </a:r>
            <a:r>
              <a:rPr sz="1850">
                <a:solidFill>
                  <a:srgbClr val="24292F"/>
                </a:solidFill>
                <a:latin typeface="Consolas"/>
              </a:rPr>
              <a:t> </a:t>
            </a:r>
            <a:r>
              <a:rPr sz="1850">
                <a:solidFill>
                  <a:srgbClr val="953800"/>
                </a:solidFill>
                <a:latin typeface="Consolas"/>
              </a:rPr>
              <a:t>class</a:t>
            </a:r>
            <a:r>
              <a:rPr sz="1850">
                <a:solidFill>
                  <a:srgbClr val="24292F"/>
                </a:solidFill>
                <a:latin typeface="Consolas"/>
              </a:rPr>
              <a:t>=</a:t>
            </a:r>
            <a:r>
              <a:rPr sz="1850">
                <a:solidFill>
                  <a:srgbClr val="0A3069"/>
                </a:solidFill>
                <a:latin typeface="Consolas"/>
              </a:rPr>
              <a:t>"song"</a:t>
            </a:r>
            <a:r>
              <a:rPr sz="1850">
                <a:solidFill>
                  <a:srgbClr val="116329"/>
                </a:solidFill>
                <a:latin typeface="Consolas"/>
              </a:rPr>
              <a:t>&gt;&lt;/li&gt;</a:t>
            </a:r>
          </a:p>
          <a:p>
            <a:pPr marL="0" indent="0" algn="l">
              <a:lnSpc>
                <a:spcPct val="100000"/>
              </a:lnSpc>
              <a:buNone/>
            </a:pPr>
            <a:r>
              <a:rPr sz="1850">
                <a:solidFill>
                  <a:srgbClr val="24292F"/>
                </a:solidFill>
                <a:latin typeface="Consolas"/>
              </a:rPr>
              <a:t>  </a:t>
            </a:r>
            <a:r>
              <a:rPr sz="1850">
                <a:solidFill>
                  <a:srgbClr val="116329"/>
                </a:solidFill>
                <a:latin typeface="Consolas"/>
              </a:rPr>
              <a:t>&lt;li</a:t>
            </a:r>
            <a:r>
              <a:rPr sz="1850">
                <a:solidFill>
                  <a:srgbClr val="24292F"/>
                </a:solidFill>
                <a:latin typeface="Consolas"/>
              </a:rPr>
              <a:t> </a:t>
            </a:r>
            <a:r>
              <a:rPr sz="1850">
                <a:solidFill>
                  <a:srgbClr val="953800"/>
                </a:solidFill>
                <a:latin typeface="Consolas"/>
              </a:rPr>
              <a:t>class</a:t>
            </a:r>
            <a:r>
              <a:rPr sz="1850">
                <a:solidFill>
                  <a:srgbClr val="24292F"/>
                </a:solidFill>
                <a:latin typeface="Consolas"/>
              </a:rPr>
              <a:t>=</a:t>
            </a:r>
            <a:r>
              <a:rPr sz="1850">
                <a:solidFill>
                  <a:srgbClr val="0A3069"/>
                </a:solidFill>
                <a:latin typeface="Consolas"/>
              </a:rPr>
              <a:t>"song"</a:t>
            </a:r>
            <a:r>
              <a:rPr sz="1850">
                <a:solidFill>
                  <a:srgbClr val="116329"/>
                </a:solidFill>
                <a:latin typeface="Consolas"/>
              </a:rPr>
              <a:t>&gt;&lt;/li&gt;</a:t>
            </a:r>
          </a:p>
          <a:p>
            <a:pPr marL="0" indent="0" algn="l">
              <a:lnSpc>
                <a:spcPct val="100000"/>
              </a:lnSpc>
              <a:buNone/>
            </a:pPr>
            <a:r>
              <a:rPr sz="1850">
                <a:solidFill>
                  <a:srgbClr val="116329"/>
                </a:solidFill>
                <a:latin typeface="Consolas"/>
              </a:rPr>
              <a:t>&lt;/ol&gt;</a:t>
            </a:r>
          </a:p>
          <a:p>
            <a:pPr marL="0" indent="0" algn="l">
              <a:lnSpc>
                <a:spcPct val="100000"/>
              </a:lnSpc>
              <a:buNone/>
            </a:pPr>
            <a:r>
              <a:rPr sz="1850">
                <a:latin typeface="Consolas"/>
              </a:rPr>
              <a:t> </a:t>
            </a:r>
          </a:p>
          <a:p>
            <a:pPr marL="0" indent="0" algn="l">
              <a:lnSpc>
                <a:spcPct val="100000"/>
              </a:lnSpc>
              <a:buNone/>
            </a:pPr>
            <a:r>
              <a:rPr sz="1850">
                <a:solidFill>
                  <a:srgbClr val="116329"/>
                </a:solidFill>
                <a:latin typeface="Consolas"/>
              </a:rPr>
              <a:t>&lt;script&gt;</a:t>
            </a:r>
          </a:p>
          <a:p>
            <a:pPr marL="0" indent="0" algn="l">
              <a:lnSpc>
                <a:spcPct val="100000"/>
              </a:lnSpc>
              <a:buNone/>
            </a:pPr>
            <a:r>
              <a:rPr sz="1850">
                <a:solidFill>
                  <a:srgbClr val="24292F"/>
                </a:solidFill>
                <a:latin typeface="Consolas"/>
              </a:rPr>
              <a:t>  </a:t>
            </a:r>
            <a:r>
              <a:rPr sz="1850">
                <a:solidFill>
                  <a:srgbClr val="CF222E"/>
                </a:solidFill>
                <a:latin typeface="Consolas"/>
              </a:rPr>
              <a:t>const</a:t>
            </a:r>
            <a:r>
              <a:rPr sz="1850">
                <a:solidFill>
                  <a:srgbClr val="24292F"/>
                </a:solidFill>
                <a:latin typeface="Consolas"/>
              </a:rPr>
              <a:t> mySongs =</a:t>
            </a:r>
          </a:p>
          <a:p>
            <a:pPr marL="0" indent="0" algn="l">
              <a:lnSpc>
                <a:spcPct val="100000"/>
              </a:lnSpc>
              <a:buNone/>
            </a:pPr>
            <a:r>
              <a:rPr sz="1850">
                <a:solidFill>
                  <a:srgbClr val="24292F"/>
                </a:solidFill>
                <a:latin typeface="Consolas"/>
              </a:rPr>
              <a:t>    document.querySelectorAll(</a:t>
            </a:r>
            <a:r>
              <a:rPr sz="1850">
                <a:solidFill>
                  <a:srgbClr val="0A3069"/>
                </a:solidFill>
                <a:latin typeface="Consolas"/>
              </a:rPr>
              <a:t>'#favoriteSongs .song'</a:t>
            </a:r>
            <a:r>
              <a:rPr sz="1850">
                <a:solidFill>
                  <a:srgbClr val="24292F"/>
                </a:solidFill>
                <a:latin typeface="Consolas"/>
              </a:rPr>
              <a:t>)</a:t>
            </a:r>
          </a:p>
          <a:p>
            <a:pPr marL="0" indent="0" algn="l">
              <a:lnSpc>
                <a:spcPct val="100000"/>
              </a:lnSpc>
              <a:buNone/>
            </a:pPr>
            <a:r>
              <a:rPr sz="1850">
                <a:solidFill>
                  <a:srgbClr val="24292F"/>
                </a:solidFill>
                <a:latin typeface="Consolas"/>
              </a:rPr>
              <a:t>  mySongs[</a:t>
            </a:r>
            <a:r>
              <a:rPr sz="1850">
                <a:solidFill>
                  <a:srgbClr val="0550AE"/>
                </a:solidFill>
                <a:latin typeface="Consolas"/>
              </a:rPr>
              <a:t>0</a:t>
            </a:r>
            <a:r>
              <a:rPr sz="1850">
                <a:solidFill>
                  <a:srgbClr val="24292F"/>
                </a:solidFill>
                <a:latin typeface="Consolas"/>
              </a:rPr>
              <a:t>].textContent = </a:t>
            </a:r>
            <a:r>
              <a:rPr sz="1850">
                <a:solidFill>
                  <a:srgbClr val="0A3069"/>
                </a:solidFill>
                <a:latin typeface="Consolas"/>
              </a:rPr>
              <a:t>'My New Favorite Song'</a:t>
            </a:r>
          </a:p>
          <a:p>
            <a:pPr marL="0" indent="0" algn="l">
              <a:lnSpc>
                <a:spcPct val="100000"/>
              </a:lnSpc>
              <a:buNone/>
            </a:pPr>
            <a:r>
              <a:rPr sz="1850">
                <a:solidFill>
                  <a:srgbClr val="116329"/>
                </a:solidFill>
                <a:latin typeface="Consolas"/>
              </a:rPr>
              <a:t>&lt;/script&gt;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78</a:t>
            </a:fld>
            <a:endParaRPr lang="en-US" sz="900">
              <a:solidFill>
                <a:srgbClr val="9AA7B4"/>
              </a:solidFill>
            </a:endParaRPr>
          </a:p>
        </p:txBody>
      </p:sp>
    </p:spTree>
    <p:extLst>
      <p:ext uri="{BB962C8B-B14F-4D97-AF65-F5344CB8AC3E}">
        <p14:creationId xmlns:p14="http://schemas.microsoft.com/office/powerpoint/2010/main" val="32206518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Manipulating HTML with jQuery</a:t>
            </a:r>
          </a:p>
        </p:txBody>
      </p:sp>
      <p:sp>
        <p:nvSpPr>
          <p:cNvPr id="5" name="Code"/>
          <p:cNvSpPr/>
          <p:nvPr/>
        </p:nvSpPr>
        <p:spPr>
          <a:xfrm>
            <a:off x="457200" y="1261872"/>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&lt;ol</a:t>
            </a:r>
            <a:r>
              <a:rPr sz="2000">
                <a:solidFill>
                  <a:srgbClr val="24292F"/>
                </a:solidFill>
                <a:latin typeface="Consolas"/>
              </a:rPr>
              <a:t> </a:t>
            </a:r>
            <a:r>
              <a:rPr sz="2000">
                <a:solidFill>
                  <a:srgbClr val="953800"/>
                </a:solidFill>
                <a:latin typeface="Consolas"/>
              </a:rPr>
              <a:t>id</a:t>
            </a:r>
            <a:r>
              <a:rPr sz="2000">
                <a:solidFill>
                  <a:srgbClr val="24292F"/>
                </a:solidFill>
                <a:latin typeface="Consolas"/>
              </a:rPr>
              <a:t>=</a:t>
            </a:r>
            <a:r>
              <a:rPr sz="2000">
                <a:solidFill>
                  <a:srgbClr val="0A3069"/>
                </a:solidFill>
                <a:latin typeface="Consolas"/>
              </a:rPr>
              <a:t>"favoriteSongs"</a:t>
            </a: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class</a:t>
            </a:r>
            <a:r>
              <a:rPr sz="2000">
                <a:solidFill>
                  <a:srgbClr val="24292F"/>
                </a:solidFill>
                <a:latin typeface="Consolas"/>
              </a:rPr>
              <a:t>=</a:t>
            </a:r>
            <a:r>
              <a:rPr sz="2000">
                <a:solidFill>
                  <a:srgbClr val="0A3069"/>
                </a:solidFill>
                <a:latin typeface="Consolas"/>
              </a:rPr>
              <a:t>"song"</a:t>
            </a:r>
            <a:r>
              <a:rPr sz="2000">
                <a:solidFill>
                  <a:srgbClr val="116329"/>
                </a:solidFill>
                <a:latin typeface="Consolas"/>
              </a:rPr>
              <a:t>&gt;&lt;/li&gt;</a:t>
            </a:r>
          </a:p>
          <a:p>
            <a:pPr marL="0" indent="0" algn="l">
              <a:lnSpc>
                <a:spcPct val="100000"/>
              </a:lnSpc>
              <a:buNone/>
            </a:pPr>
            <a:r>
              <a:rPr sz="2000">
                <a:solidFill>
                  <a:srgbClr val="24292F"/>
                </a:solidFill>
                <a:latin typeface="Consolas"/>
              </a:rPr>
              <a:t>  </a:t>
            </a: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class</a:t>
            </a:r>
            <a:r>
              <a:rPr sz="2000">
                <a:solidFill>
                  <a:srgbClr val="24292F"/>
                </a:solidFill>
                <a:latin typeface="Consolas"/>
              </a:rPr>
              <a:t>=</a:t>
            </a:r>
            <a:r>
              <a:rPr sz="2000">
                <a:solidFill>
                  <a:srgbClr val="0A3069"/>
                </a:solidFill>
                <a:latin typeface="Consolas"/>
              </a:rPr>
              <a:t>"song"</a:t>
            </a:r>
            <a:r>
              <a:rPr sz="2000">
                <a:solidFill>
                  <a:srgbClr val="116329"/>
                </a:solidFill>
                <a:latin typeface="Consolas"/>
              </a:rPr>
              <a:t>&gt;&lt;/li&gt;</a:t>
            </a:r>
          </a:p>
          <a:p>
            <a:pPr marL="0" indent="0" algn="l">
              <a:lnSpc>
                <a:spcPct val="100000"/>
              </a:lnSpc>
              <a:buNone/>
            </a:pPr>
            <a:r>
              <a:rPr sz="2000">
                <a:solidFill>
                  <a:srgbClr val="24292F"/>
                </a:solidFill>
                <a:latin typeface="Consolas"/>
              </a:rPr>
              <a:t>  </a:t>
            </a: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class</a:t>
            </a:r>
            <a:r>
              <a:rPr sz="2000">
                <a:solidFill>
                  <a:srgbClr val="24292F"/>
                </a:solidFill>
                <a:latin typeface="Consolas"/>
              </a:rPr>
              <a:t>=</a:t>
            </a:r>
            <a:r>
              <a:rPr sz="2000">
                <a:solidFill>
                  <a:srgbClr val="0A3069"/>
                </a:solidFill>
                <a:latin typeface="Consolas"/>
              </a:rPr>
              <a:t>"song"</a:t>
            </a:r>
            <a:r>
              <a:rPr sz="2000">
                <a:solidFill>
                  <a:srgbClr val="116329"/>
                </a:solidFill>
                <a:latin typeface="Consolas"/>
              </a:rPr>
              <a:t>&gt;&lt;/li&gt;</a:t>
            </a:r>
          </a:p>
          <a:p>
            <a:pPr marL="0" indent="0" algn="l">
              <a:lnSpc>
                <a:spcPct val="100000"/>
              </a:lnSpc>
              <a:buNone/>
            </a:pPr>
            <a:r>
              <a:rPr sz="2000">
                <a:solidFill>
                  <a:srgbClr val="116329"/>
                </a:solidFill>
                <a:latin typeface="Consolas"/>
              </a:rPr>
              <a:t>&lt;/ol&gt;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&lt;script&gt;</a:t>
            </a:r>
          </a:p>
          <a:p>
            <a:pPr marL="0" indent="0" algn="l">
              <a:lnSpc>
                <a:spcPct val="100000"/>
              </a:lnSpc>
              <a:buNone/>
            </a:pPr>
            <a:r>
              <a:rPr sz="2000">
                <a:solidFill>
                  <a:srgbClr val="24292F"/>
                </a:solidFill>
                <a:latin typeface="Consolas"/>
              </a:rPr>
              <a:t>  $(</a:t>
            </a:r>
            <a:r>
              <a:rPr sz="2000">
                <a:solidFill>
                  <a:srgbClr val="0A3069"/>
                </a:solidFill>
                <a:latin typeface="Consolas"/>
              </a:rPr>
              <a:t>'#favoriteSongs .song'</a:t>
            </a:r>
            <a:r>
              <a:rPr sz="2000">
                <a:solidFill>
                  <a:srgbClr val="24292F"/>
                </a:solidFill>
                <a:latin typeface="Consolas"/>
              </a:rPr>
              <a:t>).first()</a:t>
            </a:r>
          </a:p>
          <a:p>
            <a:pPr marL="0" indent="0" algn="l">
              <a:lnSpc>
                <a:spcPct val="100000"/>
              </a:lnSpc>
              <a:buNone/>
            </a:pPr>
            <a:r>
              <a:rPr sz="2000">
                <a:solidFill>
                  <a:srgbClr val="24292F"/>
                </a:solidFill>
                <a:latin typeface="Consolas"/>
              </a:rPr>
              <a:t>    .text(</a:t>
            </a:r>
            <a:r>
              <a:rPr sz="2000">
                <a:solidFill>
                  <a:srgbClr val="0A3069"/>
                </a:solidFill>
                <a:latin typeface="Consolas"/>
              </a:rPr>
              <a:t>'My New Favorite Song'</a:t>
            </a:r>
            <a:r>
              <a:rPr sz="2000">
                <a:solidFill>
                  <a:srgbClr val="24292F"/>
                </a:solidFill>
                <a:latin typeface="Consolas"/>
              </a:rPr>
              <a:t>)</a:t>
            </a:r>
          </a:p>
          <a:p>
            <a:pPr marL="0" indent="0" algn="l">
              <a:lnSpc>
                <a:spcPct val="100000"/>
              </a:lnSpc>
              <a:buNone/>
            </a:pPr>
            <a:r>
              <a:rPr sz="2000">
                <a:solidFill>
                  <a:srgbClr val="116329"/>
                </a:solidFill>
                <a:latin typeface="Consolas"/>
              </a:rPr>
              <a:t>&lt;/script&gt;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79</a:t>
            </a:fld>
            <a:endParaRPr lang="en-US" sz="900">
              <a:solidFill>
                <a:srgbClr val="9AA7B4"/>
              </a:solidFill>
            </a:endParaRPr>
          </a:p>
        </p:txBody>
      </p:sp>
    </p:spTree>
    <p:extLst>
      <p:ext uri="{BB962C8B-B14F-4D97-AF65-F5344CB8AC3E}">
        <p14:creationId xmlns:p14="http://schemas.microsoft.com/office/powerpoint/2010/main" val="3097357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Manipulating HTML with React</a:t>
            </a:r>
          </a:p>
        </p:txBody>
      </p:sp>
      <p:sp>
        <p:nvSpPr>
          <p:cNvPr id="5" name="Code"/>
          <p:cNvSpPr/>
          <p:nvPr/>
        </p:nvSpPr>
        <p:spPr>
          <a:xfrm>
            <a:off x="457200" y="1261872"/>
            <a:ext cx="8229600" cy="393039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116329"/>
                </a:solidFill>
                <a:latin typeface="Consolas"/>
              </a:rPr>
              <a:t>&lt;div</a:t>
            </a:r>
            <a:r>
              <a:rPr sz="1650">
                <a:solidFill>
                  <a:srgbClr val="24292F"/>
                </a:solidFill>
                <a:latin typeface="Consolas"/>
              </a:rPr>
              <a:t> </a:t>
            </a:r>
            <a:r>
              <a:rPr sz="1650">
                <a:solidFill>
                  <a:srgbClr val="953800"/>
                </a:solidFill>
                <a:latin typeface="Consolas"/>
              </a:rPr>
              <a:t>id</a:t>
            </a:r>
            <a:r>
              <a:rPr sz="1650">
                <a:solidFill>
                  <a:srgbClr val="24292F"/>
                </a:solidFill>
                <a:latin typeface="Consolas"/>
              </a:rPr>
              <a:t>=</a:t>
            </a:r>
            <a:r>
              <a:rPr sz="1650">
                <a:solidFill>
                  <a:srgbClr val="0A3069"/>
                </a:solidFill>
                <a:latin typeface="Consolas"/>
              </a:rPr>
              <a:t>"favoriteSongs"</a:t>
            </a:r>
            <a:r>
              <a:rPr sz="1650">
                <a:solidFill>
                  <a:srgbClr val="116329"/>
                </a:solidFill>
                <a:latin typeface="Consolas"/>
              </a:rPr>
              <a:t>&gt;&lt;/div&gt;</a:t>
            </a:r>
          </a:p>
          <a:p>
            <a:pPr marL="0" indent="0" algn="l">
              <a:lnSpc>
                <a:spcPct val="100000"/>
              </a:lnSpc>
              <a:buNone/>
            </a:pPr>
            <a:r>
              <a:rPr sz="1650">
                <a:latin typeface="Consolas"/>
              </a:rPr>
              <a:t> </a:t>
            </a:r>
          </a:p>
          <a:p>
            <a:pPr marL="0" indent="0" algn="l">
              <a:lnSpc>
                <a:spcPct val="100000"/>
              </a:lnSpc>
              <a:buNone/>
            </a:pPr>
            <a:r>
              <a:rPr sz="1650">
                <a:solidFill>
                  <a:srgbClr val="CF222E"/>
                </a:solidFill>
                <a:latin typeface="Consolas"/>
              </a:rPr>
              <a:t>function</a:t>
            </a:r>
            <a:r>
              <a:rPr sz="1650">
                <a:solidFill>
                  <a:srgbClr val="24292F"/>
                </a:solidFill>
                <a:latin typeface="Consolas"/>
              </a:rPr>
              <a:t> FavoriteSongs({ songs }) {</a:t>
            </a:r>
          </a:p>
          <a:p>
            <a:pPr marL="0" indent="0" algn="l">
              <a:lnSpc>
                <a:spcPct val="100000"/>
              </a:lnSpc>
              <a:buNone/>
            </a:pPr>
            <a:r>
              <a:rPr sz="1650">
                <a:solidFill>
                  <a:srgbClr val="24292F"/>
                </a:solidFill>
                <a:latin typeface="Consolas"/>
              </a:rPr>
              <a:t>  </a:t>
            </a:r>
            <a:r>
              <a:rPr sz="1650">
                <a:solidFill>
                  <a:srgbClr val="CF222E"/>
                </a:solidFill>
                <a:latin typeface="Consolas"/>
              </a:rPr>
              <a:t>return</a:t>
            </a:r>
            <a:r>
              <a:rPr sz="1650">
                <a:solidFill>
                  <a:srgbClr val="24292F"/>
                </a:solidFill>
                <a:latin typeface="Consolas"/>
              </a:rPr>
              <a:t> (</a:t>
            </a:r>
          </a:p>
          <a:p>
            <a:pPr marL="0" indent="0" algn="l">
              <a:lnSpc>
                <a:spcPct val="100000"/>
              </a:lnSpc>
              <a:buNone/>
            </a:pPr>
            <a:r>
              <a:rPr sz="1650">
                <a:solidFill>
                  <a:srgbClr val="24292F"/>
                </a:solidFill>
                <a:latin typeface="Consolas"/>
              </a:rPr>
              <a:t>    </a:t>
            </a:r>
            <a:r>
              <a:rPr sz="1650">
                <a:solidFill>
                  <a:srgbClr val="116329"/>
                </a:solidFill>
                <a:latin typeface="Consolas"/>
              </a:rPr>
              <a:t>&lt;ol&gt;</a:t>
            </a:r>
          </a:p>
          <a:p>
            <a:pPr marL="0" indent="0" algn="l">
              <a:lnSpc>
                <a:spcPct val="100000"/>
              </a:lnSpc>
              <a:buNone/>
            </a:pPr>
            <a:r>
              <a:rPr sz="1650">
                <a:solidFill>
                  <a:srgbClr val="24292F"/>
                </a:solidFill>
                <a:latin typeface="Consolas"/>
              </a:rPr>
              <a:t>      {songs.map((song) =</a:t>
            </a:r>
            <a:r>
              <a:rPr sz="1650">
                <a:solidFill>
                  <a:srgbClr val="116329"/>
                </a:solidFill>
                <a:latin typeface="Consolas"/>
              </a:rPr>
              <a:t>&gt;</a:t>
            </a:r>
            <a:r>
              <a:rPr sz="1650">
                <a:solidFill>
                  <a:srgbClr val="24292F"/>
                </a:solidFill>
                <a:latin typeface="Consolas"/>
              </a:rPr>
              <a:t> (</a:t>
            </a:r>
          </a:p>
          <a:p>
            <a:pPr marL="0" indent="0" algn="l">
              <a:lnSpc>
                <a:spcPct val="100000"/>
              </a:lnSpc>
              <a:buNone/>
            </a:pPr>
            <a:r>
              <a:rPr sz="1650">
                <a:solidFill>
                  <a:srgbClr val="24292F"/>
                </a:solidFill>
                <a:latin typeface="Consolas"/>
              </a:rPr>
              <a:t>        </a:t>
            </a:r>
            <a:r>
              <a:rPr sz="1650">
                <a:solidFill>
                  <a:srgbClr val="116329"/>
                </a:solidFill>
                <a:latin typeface="Consolas"/>
              </a:rPr>
              <a:t>&lt;li</a:t>
            </a:r>
            <a:r>
              <a:rPr sz="1650">
                <a:solidFill>
                  <a:srgbClr val="24292F"/>
                </a:solidFill>
                <a:latin typeface="Consolas"/>
              </a:rPr>
              <a:t> </a:t>
            </a:r>
            <a:r>
              <a:rPr sz="1650">
                <a:solidFill>
                  <a:srgbClr val="953800"/>
                </a:solidFill>
                <a:latin typeface="Consolas"/>
              </a:rPr>
              <a:t>key</a:t>
            </a:r>
            <a:r>
              <a:rPr sz="1650">
                <a:solidFill>
                  <a:srgbClr val="24292F"/>
                </a:solidFill>
                <a:latin typeface="Consolas"/>
              </a:rPr>
              <a:t>={</a:t>
            </a:r>
            <a:r>
              <a:rPr sz="1650">
                <a:solidFill>
                  <a:srgbClr val="953800"/>
                </a:solidFill>
                <a:latin typeface="Consolas"/>
              </a:rPr>
              <a:t>song</a:t>
            </a:r>
            <a:r>
              <a:rPr sz="1650">
                <a:solidFill>
                  <a:srgbClr val="24292F"/>
                </a:solidFill>
                <a:latin typeface="Consolas"/>
              </a:rPr>
              <a:t>.</a:t>
            </a:r>
            <a:r>
              <a:rPr sz="1650">
                <a:solidFill>
                  <a:srgbClr val="953800"/>
                </a:solidFill>
                <a:latin typeface="Consolas"/>
              </a:rPr>
              <a:t>id</a:t>
            </a:r>
            <a:r>
              <a:rPr sz="1650">
                <a:solidFill>
                  <a:srgbClr val="24292F"/>
                </a:solidFill>
                <a:latin typeface="Consolas"/>
              </a:rPr>
              <a:t>} </a:t>
            </a:r>
            <a:r>
              <a:rPr sz="1650">
                <a:solidFill>
                  <a:srgbClr val="953800"/>
                </a:solidFill>
                <a:latin typeface="Consolas"/>
              </a:rPr>
              <a:t>className</a:t>
            </a:r>
            <a:r>
              <a:rPr sz="1650">
                <a:solidFill>
                  <a:srgbClr val="24292F"/>
                </a:solidFill>
                <a:latin typeface="Consolas"/>
              </a:rPr>
              <a:t>=</a:t>
            </a:r>
            <a:r>
              <a:rPr sz="1650">
                <a:solidFill>
                  <a:srgbClr val="0A3069"/>
                </a:solidFill>
                <a:latin typeface="Consolas"/>
              </a:rPr>
              <a:t>"song"</a:t>
            </a:r>
            <a:r>
              <a:rPr sz="1650">
                <a:solidFill>
                  <a:srgbClr val="116329"/>
                </a:solidFill>
                <a:latin typeface="Consolas"/>
              </a:rPr>
              <a:t>&gt;</a:t>
            </a:r>
            <a:r>
              <a:rPr sz="1650">
                <a:solidFill>
                  <a:srgbClr val="24292F"/>
                </a:solidFill>
                <a:latin typeface="Consolas"/>
              </a:rPr>
              <a:t>{song.title}</a:t>
            </a:r>
            <a:r>
              <a:rPr sz="1650">
                <a:solidFill>
                  <a:srgbClr val="116329"/>
                </a:solidFill>
                <a:latin typeface="Consolas"/>
              </a:rPr>
              <a:t>&lt;/li&gt;</a:t>
            </a:r>
          </a:p>
          <a:p>
            <a:pPr marL="0" indent="0" algn="l">
              <a:lnSpc>
                <a:spcPct val="100000"/>
              </a:lnSpc>
              <a:buNone/>
            </a:pPr>
            <a:r>
              <a:rPr sz="1650">
                <a:solidFill>
                  <a:srgbClr val="24292F"/>
                </a:solidFill>
                <a:latin typeface="Consolas"/>
              </a:rPr>
              <a:t>      ))}</a:t>
            </a:r>
          </a:p>
          <a:p>
            <a:pPr marL="0" indent="0" algn="l">
              <a:lnSpc>
                <a:spcPct val="100000"/>
              </a:lnSpc>
              <a:buNone/>
            </a:pPr>
            <a:r>
              <a:rPr sz="1650">
                <a:solidFill>
                  <a:srgbClr val="24292F"/>
                </a:solidFill>
                <a:latin typeface="Consolas"/>
              </a:rPr>
              <a:t>    </a:t>
            </a:r>
            <a:r>
              <a:rPr sz="1650">
                <a:solidFill>
                  <a:srgbClr val="116329"/>
                </a:solidFill>
                <a:latin typeface="Consolas"/>
              </a:rPr>
              <a:t>&lt;/ol&gt;</a:t>
            </a:r>
          </a:p>
          <a:p>
            <a:pPr marL="0" indent="0" algn="l">
              <a:lnSpc>
                <a:spcPct val="100000"/>
              </a:lnSpc>
              <a:buNone/>
            </a:pPr>
            <a:r>
              <a:rPr sz="1650">
                <a:solidFill>
                  <a:srgbClr val="24292F"/>
                </a:solidFill>
                <a:latin typeface="Consolas"/>
              </a:rPr>
              <a:t>  )</a:t>
            </a:r>
          </a:p>
          <a:p>
            <a:pPr marL="0" indent="0" algn="l">
              <a:lnSpc>
                <a:spcPct val="100000"/>
              </a:lnSpc>
              <a:buNone/>
            </a:pPr>
            <a:r>
              <a:rPr sz="1650">
                <a:solidFill>
                  <a:srgbClr val="24292F"/>
                </a:solidFill>
                <a:latin typeface="Consolas"/>
              </a:rPr>
              <a:t>}</a:t>
            </a:r>
          </a:p>
          <a:p>
            <a:pPr marL="0" indent="0" algn="l">
              <a:lnSpc>
                <a:spcPct val="100000"/>
              </a:lnSpc>
              <a:buNone/>
            </a:pPr>
            <a:r>
              <a:rPr sz="1650">
                <a:latin typeface="Consolas"/>
              </a:rPr>
              <a:t> </a:t>
            </a:r>
          </a:p>
          <a:p>
            <a:pPr marL="0" indent="0" algn="l">
              <a:lnSpc>
                <a:spcPct val="100000"/>
              </a:lnSpc>
              <a:buNone/>
            </a:pPr>
            <a:r>
              <a:rPr sz="1650">
                <a:solidFill>
                  <a:srgbClr val="24292F"/>
                </a:solidFill>
                <a:latin typeface="Consolas"/>
              </a:rPr>
              <a:t>createRoot(document.getElementById(</a:t>
            </a:r>
            <a:r>
              <a:rPr sz="1650">
                <a:solidFill>
                  <a:srgbClr val="0A3069"/>
                </a:solidFill>
                <a:latin typeface="Consolas"/>
              </a:rPr>
              <a:t>'favoriteSongs'</a:t>
            </a:r>
            <a:r>
              <a:rPr sz="1650">
                <a:solidFill>
                  <a:srgbClr val="24292F"/>
                </a:solidFill>
                <a:latin typeface="Consolas"/>
              </a:rPr>
              <a:t>))</a:t>
            </a:r>
          </a:p>
          <a:p>
            <a:pPr marL="0" indent="0" algn="l">
              <a:lnSpc>
                <a:spcPct val="100000"/>
              </a:lnSpc>
              <a:buNone/>
            </a:pPr>
            <a:r>
              <a:rPr sz="1650">
                <a:solidFill>
                  <a:srgbClr val="24292F"/>
                </a:solidFill>
                <a:latin typeface="Consolas"/>
              </a:rPr>
              <a:t>  .render(</a:t>
            </a:r>
            <a:r>
              <a:rPr sz="1650">
                <a:solidFill>
                  <a:srgbClr val="116329"/>
                </a:solidFill>
                <a:latin typeface="Consolas"/>
              </a:rPr>
              <a:t>&lt;FavoriteSongs</a:t>
            </a:r>
            <a:r>
              <a:rPr sz="1650">
                <a:solidFill>
                  <a:srgbClr val="24292F"/>
                </a:solidFill>
                <a:latin typeface="Consolas"/>
              </a:rPr>
              <a:t> </a:t>
            </a:r>
            <a:r>
              <a:rPr sz="1650">
                <a:solidFill>
                  <a:srgbClr val="953800"/>
                </a:solidFill>
                <a:latin typeface="Consolas"/>
              </a:rPr>
              <a:t>songs</a:t>
            </a:r>
            <a:r>
              <a:rPr sz="1650">
                <a:solidFill>
                  <a:srgbClr val="24292F"/>
                </a:solidFill>
                <a:latin typeface="Consolas"/>
              </a:rPr>
              <a:t>={</a:t>
            </a:r>
            <a:r>
              <a:rPr sz="1650">
                <a:solidFill>
                  <a:srgbClr val="953800"/>
                </a:solidFill>
                <a:latin typeface="Consolas"/>
              </a:rPr>
              <a:t>songs</a:t>
            </a:r>
            <a:r>
              <a:rPr sz="1650">
                <a:solidFill>
                  <a:srgbClr val="24292F"/>
                </a:solidFill>
                <a:latin typeface="Consolas"/>
              </a:rPr>
              <a:t>} </a:t>
            </a:r>
            <a:r>
              <a:rPr sz="1650">
                <a:solidFill>
                  <a:srgbClr val="116329"/>
                </a:solidFill>
                <a:latin typeface="Consolas"/>
              </a:rPr>
              <a:t>/&gt;</a:t>
            </a:r>
            <a:r>
              <a:rPr sz="1650">
                <a:solidFill>
                  <a:srgbClr val="24292F"/>
                </a:solidFill>
                <a:latin typeface="Consolas"/>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80</a:t>
            </a:fld>
            <a:endParaRPr lang="en-US" sz="900">
              <a:solidFill>
                <a:srgbClr val="9AA7B4"/>
              </a:solidFill>
            </a:endParaRPr>
          </a:p>
        </p:txBody>
      </p:sp>
    </p:spTree>
    <p:extLst>
      <p:ext uri="{BB962C8B-B14F-4D97-AF65-F5344CB8AC3E}">
        <p14:creationId xmlns:p14="http://schemas.microsoft.com/office/powerpoint/2010/main" val="36921492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55855-B8FC-1242-91D7-2AC86C5A1AA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Manipulating HTML with Vue.js</a:t>
            </a:r>
          </a:p>
        </p:txBody>
      </p:sp>
      <p:sp>
        <p:nvSpPr>
          <p:cNvPr id="5" name="Code"/>
          <p:cNvSpPr/>
          <p:nvPr/>
        </p:nvSpPr>
        <p:spPr>
          <a:xfrm>
            <a:off x="457200" y="1261872"/>
            <a:ext cx="8229600" cy="18359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116329"/>
                </a:solidFill>
                <a:latin typeface="Consolas"/>
              </a:rPr>
              <a:t>&lt;div</a:t>
            </a:r>
            <a:r>
              <a:rPr sz="1400">
                <a:solidFill>
                  <a:srgbClr val="24292F"/>
                </a:solidFill>
                <a:latin typeface="Consolas"/>
              </a:rPr>
              <a:t> </a:t>
            </a:r>
            <a:r>
              <a:rPr sz="1400">
                <a:solidFill>
                  <a:srgbClr val="953800"/>
                </a:solidFill>
                <a:latin typeface="Consolas"/>
              </a:rPr>
              <a:t>id</a:t>
            </a:r>
            <a:r>
              <a:rPr sz="1400">
                <a:solidFill>
                  <a:srgbClr val="24292F"/>
                </a:solidFill>
                <a:latin typeface="Consolas"/>
              </a:rPr>
              <a:t>=</a:t>
            </a:r>
            <a:r>
              <a:rPr sz="1400">
                <a:solidFill>
                  <a:srgbClr val="0A3069"/>
                </a:solidFill>
                <a:latin typeface="Consolas"/>
              </a:rPr>
              <a:t>"favoriteSongs"</a:t>
            </a:r>
            <a:r>
              <a:rPr sz="1400">
                <a:solidFill>
                  <a:srgbClr val="116329"/>
                </a:solidFill>
                <a:latin typeface="Consolas"/>
              </a:rPr>
              <a:t>&gt;</a:t>
            </a:r>
          </a:p>
          <a:p>
            <a:pPr marL="0" indent="0" algn="l">
              <a:lnSpc>
                <a:spcPct val="100000"/>
              </a:lnSpc>
              <a:buNone/>
            </a:pPr>
            <a:r>
              <a:rPr sz="1400">
                <a:solidFill>
                  <a:srgbClr val="24292F"/>
                </a:solidFill>
                <a:latin typeface="Consolas"/>
              </a:rPr>
              <a:t>  </a:t>
            </a:r>
            <a:r>
              <a:rPr sz="1400">
                <a:solidFill>
                  <a:srgbClr val="116329"/>
                </a:solidFill>
                <a:latin typeface="Consolas"/>
              </a:rPr>
              <a:t>&lt;ol&gt;</a:t>
            </a:r>
          </a:p>
          <a:p>
            <a:pPr marL="0" indent="0" algn="l">
              <a:lnSpc>
                <a:spcPct val="100000"/>
              </a:lnSpc>
              <a:buNone/>
            </a:pPr>
            <a:r>
              <a:rPr sz="1400">
                <a:solidFill>
                  <a:srgbClr val="24292F"/>
                </a:solidFill>
                <a:latin typeface="Consolas"/>
              </a:rPr>
              <a:t>    </a:t>
            </a:r>
            <a:r>
              <a:rPr sz="1400">
                <a:solidFill>
                  <a:srgbClr val="116329"/>
                </a:solidFill>
                <a:latin typeface="Consolas"/>
              </a:rPr>
              <a:t>&lt;li</a:t>
            </a:r>
            <a:r>
              <a:rPr sz="1400">
                <a:solidFill>
                  <a:srgbClr val="24292F"/>
                </a:solidFill>
                <a:latin typeface="Consolas"/>
              </a:rPr>
              <a:t> </a:t>
            </a:r>
            <a:r>
              <a:rPr sz="1400">
                <a:solidFill>
                  <a:srgbClr val="953800"/>
                </a:solidFill>
                <a:latin typeface="Consolas"/>
              </a:rPr>
              <a:t>v-for</a:t>
            </a:r>
            <a:r>
              <a:rPr sz="1400">
                <a:solidFill>
                  <a:srgbClr val="24292F"/>
                </a:solidFill>
                <a:latin typeface="Consolas"/>
              </a:rPr>
              <a:t>=</a:t>
            </a:r>
            <a:r>
              <a:rPr sz="1400">
                <a:solidFill>
                  <a:srgbClr val="0A3069"/>
                </a:solidFill>
                <a:latin typeface="Consolas"/>
              </a:rPr>
              <a:t>"song in songs"</a:t>
            </a:r>
            <a:r>
              <a:rPr sz="1400">
                <a:solidFill>
                  <a:srgbClr val="24292F"/>
                </a:solidFill>
                <a:latin typeface="Consolas"/>
              </a:rPr>
              <a:t> </a:t>
            </a:r>
            <a:r>
              <a:rPr sz="1400">
                <a:solidFill>
                  <a:srgbClr val="953800"/>
                </a:solidFill>
                <a:latin typeface="Consolas"/>
              </a:rPr>
              <a:t>:key</a:t>
            </a:r>
            <a:r>
              <a:rPr sz="1400">
                <a:solidFill>
                  <a:srgbClr val="24292F"/>
                </a:solidFill>
                <a:latin typeface="Consolas"/>
              </a:rPr>
              <a:t>=</a:t>
            </a:r>
            <a:r>
              <a:rPr sz="1400">
                <a:solidFill>
                  <a:srgbClr val="0A3069"/>
                </a:solidFill>
                <a:latin typeface="Consolas"/>
              </a:rPr>
              <a:t>"song.title"</a:t>
            </a:r>
            <a:r>
              <a:rPr sz="1400">
                <a:solidFill>
                  <a:srgbClr val="116329"/>
                </a:solidFill>
                <a:latin typeface="Consolas"/>
              </a:rPr>
              <a:t>&gt;</a:t>
            </a:r>
          </a:p>
          <a:p>
            <a:pPr marL="0" indent="0" algn="l">
              <a:lnSpc>
                <a:spcPct val="100000"/>
              </a:lnSpc>
              <a:buNone/>
            </a:pPr>
            <a:r>
              <a:rPr sz="1400">
                <a:solidFill>
                  <a:srgbClr val="24292F"/>
                </a:solidFill>
                <a:latin typeface="Consolas"/>
              </a:rPr>
              <a:t>      {{ song.title }}</a:t>
            </a:r>
          </a:p>
          <a:p>
            <a:pPr marL="0" indent="0" algn="l">
              <a:lnSpc>
                <a:spcPct val="100000"/>
              </a:lnSpc>
              <a:buNone/>
            </a:pPr>
            <a:r>
              <a:rPr sz="1400">
                <a:solidFill>
                  <a:srgbClr val="24292F"/>
                </a:solidFill>
                <a:latin typeface="Consolas"/>
              </a:rPr>
              <a:t>    </a:t>
            </a:r>
            <a:r>
              <a:rPr sz="1400">
                <a:solidFill>
                  <a:srgbClr val="116329"/>
                </a:solidFill>
                <a:latin typeface="Consolas"/>
              </a:rPr>
              <a:t>&lt;/li&gt;</a:t>
            </a:r>
          </a:p>
          <a:p>
            <a:pPr marL="0" indent="0" algn="l">
              <a:lnSpc>
                <a:spcPct val="100000"/>
              </a:lnSpc>
              <a:buNone/>
            </a:pPr>
            <a:r>
              <a:rPr sz="1400">
                <a:solidFill>
                  <a:srgbClr val="24292F"/>
                </a:solidFill>
                <a:latin typeface="Consolas"/>
              </a:rPr>
              <a:t>  </a:t>
            </a:r>
            <a:r>
              <a:rPr sz="1400">
                <a:solidFill>
                  <a:srgbClr val="116329"/>
                </a:solidFill>
                <a:latin typeface="Consolas"/>
              </a:rPr>
              <a:t>&lt;/ol&gt;</a:t>
            </a:r>
          </a:p>
          <a:p>
            <a:pPr marL="0" indent="0" algn="l">
              <a:lnSpc>
                <a:spcPct val="100000"/>
              </a:lnSpc>
              <a:buNone/>
            </a:pPr>
            <a:r>
              <a:rPr sz="1400">
                <a:solidFill>
                  <a:srgbClr val="116329"/>
                </a:solidFill>
                <a:latin typeface="Consolas"/>
              </a:rPr>
              <a:t>&lt;/div&gt;</a:t>
            </a:r>
          </a:p>
        </p:txBody>
      </p:sp>
      <p:sp>
        <p:nvSpPr>
          <p:cNvPr id="6" name="Code"/>
          <p:cNvSpPr/>
          <p:nvPr/>
        </p:nvSpPr>
        <p:spPr>
          <a:xfrm>
            <a:off x="457200" y="3244088"/>
            <a:ext cx="8229600" cy="293827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import</a:t>
            </a:r>
            <a:r>
              <a:rPr sz="1400">
                <a:solidFill>
                  <a:srgbClr val="24292F"/>
                </a:solidFill>
                <a:latin typeface="Consolas"/>
              </a:rPr>
              <a:t> { createApp, ref } </a:t>
            </a:r>
            <a:r>
              <a:rPr sz="1400">
                <a:solidFill>
                  <a:srgbClr val="CF222E"/>
                </a:solidFill>
                <a:latin typeface="Consolas"/>
              </a:rPr>
              <a:t>from</a:t>
            </a:r>
            <a:r>
              <a:rPr sz="1400">
                <a:solidFill>
                  <a:srgbClr val="24292F"/>
                </a:solidFill>
                <a:latin typeface="Consolas"/>
              </a:rPr>
              <a:t> </a:t>
            </a:r>
            <a:r>
              <a:rPr sz="1400">
                <a:solidFill>
                  <a:srgbClr val="0A3069"/>
                </a:solidFill>
                <a:latin typeface="Consolas"/>
              </a:rPr>
              <a:t>'vue'</a:t>
            </a:r>
          </a:p>
          <a:p>
            <a:pPr marL="0" indent="0" algn="l">
              <a:lnSpc>
                <a:spcPct val="100000"/>
              </a:lnSpc>
              <a:buNone/>
            </a:pPr>
            <a:r>
              <a:rPr sz="1400">
                <a:latin typeface="Consolas"/>
              </a:rPr>
              <a:t> </a:t>
            </a:r>
          </a:p>
          <a:p>
            <a:pPr marL="0" indent="0" algn="l">
              <a:lnSpc>
                <a:spcPct val="100000"/>
              </a:lnSpc>
              <a:buNone/>
            </a:pPr>
            <a:r>
              <a:rPr sz="1400">
                <a:solidFill>
                  <a:srgbClr val="24292F"/>
                </a:solidFill>
                <a:latin typeface="Consolas"/>
              </a:rPr>
              <a:t>createApp({</a:t>
            </a:r>
          </a:p>
          <a:p>
            <a:pPr marL="0" indent="0" algn="l">
              <a:lnSpc>
                <a:spcPct val="100000"/>
              </a:lnSpc>
              <a:buNone/>
            </a:pPr>
            <a:r>
              <a:rPr sz="1400">
                <a:solidFill>
                  <a:srgbClr val="24292F"/>
                </a:solidFill>
                <a:latin typeface="Consolas"/>
              </a:rPr>
              <a:t>  setup() {</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songs = ref([</a:t>
            </a:r>
          </a:p>
          <a:p>
            <a:pPr marL="0" indent="0" algn="l">
              <a:lnSpc>
                <a:spcPct val="100000"/>
              </a:lnSpc>
              <a:buNone/>
            </a:pPr>
            <a:r>
              <a:rPr sz="1400">
                <a:solidFill>
                  <a:srgbClr val="24292F"/>
                </a:solidFill>
                <a:latin typeface="Consolas"/>
              </a:rPr>
              <a:t>      { title: </a:t>
            </a:r>
            <a:r>
              <a:rPr sz="1400">
                <a:solidFill>
                  <a:srgbClr val="0A3069"/>
                </a:solidFill>
                <a:latin typeface="Consolas"/>
              </a:rPr>
              <a:t>'Walk This Way'</a:t>
            </a:r>
            <a:r>
              <a:rPr sz="1400">
                <a:solidFill>
                  <a:srgbClr val="24292F"/>
                </a:solidFill>
                <a:latin typeface="Consolas"/>
              </a:rPr>
              <a:t> },</a:t>
            </a:r>
          </a:p>
          <a:p>
            <a:pPr marL="0" indent="0" algn="l">
              <a:lnSpc>
                <a:spcPct val="100000"/>
              </a:lnSpc>
              <a:buNone/>
            </a:pPr>
            <a:r>
              <a:rPr sz="1400">
                <a:solidFill>
                  <a:srgbClr val="24292F"/>
                </a:solidFill>
                <a:latin typeface="Consolas"/>
              </a:rPr>
              <a:t>      { title: </a:t>
            </a:r>
            <a:r>
              <a:rPr sz="1400">
                <a:solidFill>
                  <a:srgbClr val="0A3069"/>
                </a:solidFill>
                <a:latin typeface="Consolas"/>
              </a:rPr>
              <a:t>'Give It Away'</a:t>
            </a:r>
            <a:r>
              <a:rPr sz="1400">
                <a:solidFill>
                  <a:srgbClr val="24292F"/>
                </a:solidFill>
                <a:latin typeface="Consolas"/>
              </a:rPr>
              <a:t> },</a:t>
            </a:r>
          </a:p>
          <a:p>
            <a:pPr marL="0" indent="0" algn="l">
              <a:lnSpc>
                <a:spcPct val="100000"/>
              </a:lnSpc>
              <a:buNone/>
            </a:pPr>
            <a:r>
              <a:rPr sz="1400">
                <a:solidFill>
                  <a:srgbClr val="24292F"/>
                </a:solidFill>
                <a:latin typeface="Consolas"/>
              </a:rPr>
              <a:t>      { title: </a:t>
            </a:r>
            <a:r>
              <a:rPr sz="1400">
                <a:solidFill>
                  <a:srgbClr val="0A3069"/>
                </a:solidFill>
                <a:latin typeface="Consolas"/>
              </a:rPr>
              <a:t>'My Way'</a:t>
            </a:r>
            <a:r>
              <a:rPr sz="1400">
                <a:solidFill>
                  <a:srgbClr val="24292F"/>
                </a:solidFill>
                <a:latin typeface="Consolas"/>
              </a:rPr>
              <a:t> },</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    </a:t>
            </a:r>
            <a:r>
              <a:rPr sz="1400">
                <a:solidFill>
                  <a:srgbClr val="CF222E"/>
                </a:solidFill>
                <a:latin typeface="Consolas"/>
              </a:rPr>
              <a:t>return</a:t>
            </a:r>
            <a:r>
              <a:rPr sz="1400">
                <a:solidFill>
                  <a:srgbClr val="24292F"/>
                </a:solidFill>
                <a:latin typeface="Consolas"/>
              </a:rPr>
              <a:t> { songs }</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}).mount(</a:t>
            </a:r>
            <a:r>
              <a:rPr sz="1400">
                <a:solidFill>
                  <a:srgbClr val="0A3069"/>
                </a:solidFill>
                <a:latin typeface="Consolas"/>
              </a:rPr>
              <a:t>'#favoriteSongs'</a:t>
            </a:r>
            <a:r>
              <a:rPr sz="140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81</a:t>
            </a:fld>
            <a:endParaRPr lang="en-US" sz="900">
              <a:solidFill>
                <a:srgbClr val="9AA7B4"/>
              </a:solidFill>
            </a:endParaRPr>
          </a:p>
        </p:txBody>
      </p:sp>
    </p:spTree>
    <p:extLst>
      <p:ext uri="{BB962C8B-B14F-4D97-AF65-F5344CB8AC3E}">
        <p14:creationId xmlns:p14="http://schemas.microsoft.com/office/powerpoint/2010/main" val="2478086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0AC2-5D88-3648-BF20-16C5B1F8955B}"/>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Debugging JavaScript</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1</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Browser DevTools and Vue DevTools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82</a:t>
            </a:fld>
            <a:endParaRPr lang="en-US" sz="900">
              <a:solidFill>
                <a:srgbClr val="9FB3C4"/>
              </a:solidFill>
            </a:endParaRPr>
          </a:p>
        </p:txBody>
      </p:sp>
    </p:spTree>
    <p:extLst>
      <p:ext uri="{BB962C8B-B14F-4D97-AF65-F5344CB8AC3E}">
        <p14:creationId xmlns:p14="http://schemas.microsoft.com/office/powerpoint/2010/main" val="20050658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Browser Development Tools</a:t>
            </a:r>
          </a:p>
        </p:txBody>
      </p:sp>
      <p:sp>
        <p:nvSpPr>
          <p:cNvPr id="3" name="Body"/>
          <p:cNvSpPr txBox="1"/>
          <p:nvPr/>
        </p:nvSpPr>
        <p:spPr>
          <a:xfrm>
            <a:off x="457200" y="1261872"/>
            <a:ext cx="8229600" cy="369036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Every modern browser has them: Chrome, Edge, Firefox, Safari</a:t>
            </a:r>
          </a:p>
          <a:p>
            <a:pPr marL="274320" indent="-256032">
              <a:spcAft>
                <a:spcPts val="990"/>
              </a:spcAft>
              <a:buClr>
                <a:srgbClr val="42B883"/>
              </a:buClr>
              <a:buSzPct val="100000"/>
              <a:buFont typeface="Arial"/>
              <a:buChar char="•"/>
            </a:pPr>
            <a:r>
              <a:rPr sz="2200" b="0" i="0">
                <a:solidFill>
                  <a:srgbClr val="1F2A36"/>
                </a:solidFill>
              </a:rPr>
              <a:t>Open with </a:t>
            </a:r>
            <a:r>
              <a:rPr sz="2200" b="1" i="0">
                <a:solidFill>
                  <a:srgbClr val="1F2A36"/>
                </a:solidFill>
              </a:rPr>
              <a:t>F12</a:t>
            </a:r>
            <a:r>
              <a:rPr sz="2200" b="0" i="0">
                <a:solidFill>
                  <a:srgbClr val="1F2A36"/>
                </a:solidFill>
              </a:rPr>
              <a:t>, </a:t>
            </a:r>
            <a:r>
              <a:rPr sz="2200" b="1" i="0">
                <a:solidFill>
                  <a:srgbClr val="1F2A36"/>
                </a:solidFill>
              </a:rPr>
              <a:t>Ctrl+Shift+I</a:t>
            </a:r>
            <a:r>
              <a:rPr sz="2200" b="0" i="0">
                <a:solidFill>
                  <a:srgbClr val="1F2A36"/>
                </a:solidFill>
              </a:rPr>
              <a:t> (Windows/Linux) or </a:t>
            </a:r>
            <a:r>
              <a:rPr sz="2200" b="1" i="0">
                <a:solidFill>
                  <a:srgbClr val="1F2A36"/>
                </a:solidFill>
              </a:rPr>
              <a:t>Cmd+Option+I</a:t>
            </a:r>
            <a:r>
              <a:rPr sz="2200" b="0" i="0">
                <a:solidFill>
                  <a:srgbClr val="1F2A36"/>
                </a:solidFill>
              </a:rPr>
              <a:t> (macOS)</a:t>
            </a:r>
          </a:p>
          <a:p>
            <a:pPr marL="274320" indent="-256032">
              <a:spcAft>
                <a:spcPts val="990"/>
              </a:spcAft>
              <a:buClr>
                <a:srgbClr val="42B883"/>
              </a:buClr>
              <a:buSzPct val="100000"/>
              <a:buFont typeface="Arial"/>
              <a:buChar char="•"/>
            </a:pPr>
            <a:r>
              <a:rPr sz="2200" b="0" i="0">
                <a:solidFill>
                  <a:srgbClr val="1F2A36"/>
                </a:solidFill>
              </a:rPr>
              <a:t>The panels you'll use most:</a:t>
            </a:r>
          </a:p>
          <a:p>
            <a:pPr marL="566928" indent="-256032">
              <a:spcAft>
                <a:spcPts val="855"/>
              </a:spcAft>
              <a:buClr>
                <a:srgbClr val="6B7B8C"/>
              </a:buClr>
              <a:buSzPct val="100000"/>
              <a:buFont typeface="Arial"/>
              <a:buChar char="–"/>
            </a:pPr>
            <a:r>
              <a:rPr sz="1900" b="1" i="0">
                <a:solidFill>
                  <a:srgbClr val="3A4A5A"/>
                </a:solidFill>
              </a:rPr>
              <a:t>Elements</a:t>
            </a:r>
            <a:r>
              <a:rPr sz="1900" b="0" i="0">
                <a:solidFill>
                  <a:srgbClr val="3A4A5A"/>
                </a:solidFill>
              </a:rPr>
              <a:t> — the live DOM and CSS</a:t>
            </a:r>
          </a:p>
          <a:p>
            <a:pPr marL="566928" indent="-256032">
              <a:spcAft>
                <a:spcPts val="855"/>
              </a:spcAft>
              <a:buClr>
                <a:srgbClr val="6B7B8C"/>
              </a:buClr>
              <a:buSzPct val="100000"/>
              <a:buFont typeface="Arial"/>
              <a:buChar char="–"/>
            </a:pPr>
            <a:r>
              <a:rPr sz="1900" b="1" i="0">
                <a:solidFill>
                  <a:srgbClr val="3A4A5A"/>
                </a:solidFill>
              </a:rPr>
              <a:t>Console</a:t>
            </a:r>
            <a:r>
              <a:rPr sz="1900" b="0" i="0">
                <a:solidFill>
                  <a:srgbClr val="3A4A5A"/>
                </a:solidFill>
              </a:rPr>
              <a:t> — logs, errors, and a JavaScript REPL</a:t>
            </a:r>
          </a:p>
          <a:p>
            <a:pPr marL="566928" indent="-256032">
              <a:spcAft>
                <a:spcPts val="855"/>
              </a:spcAft>
              <a:buClr>
                <a:srgbClr val="6B7B8C"/>
              </a:buClr>
              <a:buSzPct val="100000"/>
              <a:buFont typeface="Arial"/>
              <a:buChar char="–"/>
            </a:pPr>
            <a:r>
              <a:rPr sz="1900" b="1" i="0">
                <a:solidFill>
                  <a:srgbClr val="3A4A5A"/>
                </a:solidFill>
              </a:rPr>
              <a:t>Sources</a:t>
            </a:r>
            <a:r>
              <a:rPr sz="1900" b="0" i="0">
                <a:solidFill>
                  <a:srgbClr val="3A4A5A"/>
                </a:solidFill>
              </a:rPr>
              <a:t> — breakpoints and step-through debugging</a:t>
            </a:r>
          </a:p>
          <a:p>
            <a:pPr marL="566928" indent="-256032">
              <a:spcAft>
                <a:spcPts val="855"/>
              </a:spcAft>
              <a:buClr>
                <a:srgbClr val="6B7B8C"/>
              </a:buClr>
              <a:buSzPct val="100000"/>
              <a:buFont typeface="Arial"/>
              <a:buChar char="–"/>
            </a:pPr>
            <a:r>
              <a:rPr sz="1900" b="1" i="0">
                <a:solidFill>
                  <a:srgbClr val="3A4A5A"/>
                </a:solidFill>
              </a:rPr>
              <a:t>Network</a:t>
            </a:r>
            <a:r>
              <a:rPr sz="1900" b="0" i="0">
                <a:solidFill>
                  <a:srgbClr val="3A4A5A"/>
                </a:solidFill>
              </a:rPr>
              <a:t> — every request, its timing and its response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83</a:t>
            </a:fld>
            <a:endParaRPr lang="en-US" sz="900">
              <a:solidFill>
                <a:srgbClr val="9AA7B4"/>
              </a:solidFill>
            </a:endParaRPr>
          </a:p>
        </p:txBody>
      </p:sp>
    </p:spTree>
    <p:extLst>
      <p:ext uri="{BB962C8B-B14F-4D97-AF65-F5344CB8AC3E}">
        <p14:creationId xmlns:p14="http://schemas.microsoft.com/office/powerpoint/2010/main" val="17653166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Installing and Using the Vue DevTools</a:t>
            </a:r>
          </a:p>
        </p:txBody>
      </p:sp>
      <p:pic>
        <p:nvPicPr>
          <p:cNvPr id="5" name="Picture 4">
            <a:extLst>
              <a:ext uri="{FF2B5EF4-FFF2-40B4-BE49-F238E27FC236}">
                <a16:creationId xmlns:a16="http://schemas.microsoft.com/office/drawing/2014/main" id="{79F4013D-F7D5-DA88-8313-8E2D0F790FBA}"/>
              </a:ext>
            </a:extLst>
          </p:cNvPr>
          <p:cNvPicPr>
            <a:picLocks noChangeAspect="1"/>
          </p:cNvPicPr>
          <p:nvPr/>
        </p:nvPicPr>
        <p:blipFill>
          <a:blip r:embed="rId3"/>
          <a:stretch>
            <a:fillRect/>
          </a:stretch>
        </p:blipFill>
        <p:spPr>
          <a:xfrm>
            <a:off x="4389120" y="2348373"/>
            <a:ext cx="4297680" cy="2645884"/>
          </a:xfrm>
          <a:prstGeom prst="rect">
            <a:avLst/>
          </a:prstGeom>
          <a:ln w="12700">
            <a:solidFill>
              <a:srgbClr val="D6DEE6"/>
            </a:solidFill>
          </a:ln>
        </p:spPr>
      </p:pic>
      <p:sp>
        <p:nvSpPr>
          <p:cNvPr id="6" name="Body"/>
          <p:cNvSpPr txBox="1"/>
          <p:nvPr/>
        </p:nvSpPr>
        <p:spPr>
          <a:xfrm>
            <a:off x="457200" y="1261872"/>
            <a:ext cx="3657600" cy="441883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Install from </a:t>
            </a:r>
            <a:r>
              <a:rPr sz="2200" b="1" i="0">
                <a:solidFill>
                  <a:srgbClr val="1F2A36"/>
                </a:solidFill>
              </a:rPr>
              <a:t>devtools.vuejs.org</a:t>
            </a:r>
          </a:p>
          <a:p>
            <a:pPr marL="566928" indent="-256032">
              <a:spcAft>
                <a:spcPts val="855"/>
              </a:spcAft>
              <a:buClr>
                <a:srgbClr val="6B7B8C"/>
              </a:buClr>
              <a:buSzPct val="100000"/>
              <a:buFont typeface="Arial"/>
              <a:buChar char="–"/>
            </a:pPr>
            <a:r>
              <a:rPr sz="1900" b="0" i="0">
                <a:solidFill>
                  <a:srgbClr val="3A4A5A"/>
                </a:solidFill>
              </a:rPr>
              <a:t>Or add </a:t>
            </a:r>
            <a:r>
              <a:rPr sz="1805" b="0" i="0">
                <a:solidFill>
                  <a:srgbClr val="8A2B52"/>
                </a:solidFill>
                <a:latin typeface="Consolas"/>
              </a:rPr>
              <a:t>vite-plugin-vue-devtools</a:t>
            </a:r>
            <a:r>
              <a:rPr sz="1900" b="0" i="0">
                <a:solidFill>
                  <a:srgbClr val="3A4A5A"/>
                </a:solidFill>
              </a:rPr>
              <a:t> for an in-page version</a:t>
            </a:r>
          </a:p>
          <a:p>
            <a:pPr marL="274320" indent="-256032">
              <a:spcAft>
                <a:spcPts val="990"/>
              </a:spcAft>
              <a:buClr>
                <a:srgbClr val="42B883"/>
              </a:buClr>
              <a:buSzPct val="100000"/>
              <a:buFont typeface="Arial"/>
              <a:buChar char="•"/>
            </a:pPr>
            <a:r>
              <a:rPr sz="2200" b="0" i="0">
                <a:solidFill>
                  <a:srgbClr val="1F2A36"/>
                </a:solidFill>
              </a:rPr>
              <a:t>Adds Vue panels alongside the browser's own</a:t>
            </a:r>
          </a:p>
          <a:p>
            <a:pPr marL="566928" indent="-256032">
              <a:spcAft>
                <a:spcPts val="855"/>
              </a:spcAft>
              <a:buClr>
                <a:srgbClr val="6B7B8C"/>
              </a:buClr>
              <a:buSzPct val="100000"/>
              <a:buFont typeface="Arial"/>
              <a:buChar char="–"/>
            </a:pPr>
            <a:r>
              <a:rPr sz="1900" b="0" i="0">
                <a:solidFill>
                  <a:srgbClr val="3A4A5A"/>
                </a:solidFill>
              </a:rPr>
              <a:t>Component tree, props and state</a:t>
            </a:r>
          </a:p>
          <a:p>
            <a:pPr marL="566928" indent="-256032">
              <a:spcAft>
                <a:spcPts val="855"/>
              </a:spcAft>
              <a:buClr>
                <a:srgbClr val="6B7B8C"/>
              </a:buClr>
              <a:buSzPct val="100000"/>
              <a:buFont typeface="Arial"/>
              <a:buChar char="–"/>
            </a:pPr>
            <a:r>
              <a:rPr sz="1900" b="0" i="0">
                <a:solidFill>
                  <a:srgbClr val="3A4A5A"/>
                </a:solidFill>
              </a:rPr>
              <a:t>Pinia stores and routes</a:t>
            </a:r>
          </a:p>
          <a:p>
            <a:pPr marL="566928" indent="-256032">
              <a:spcAft>
                <a:spcPts val="855"/>
              </a:spcAft>
              <a:buClr>
                <a:srgbClr val="6B7B8C"/>
              </a:buClr>
              <a:buSzPct val="100000"/>
              <a:buFont typeface="Arial"/>
              <a:buChar char="–"/>
            </a:pPr>
            <a:r>
              <a:rPr sz="1900" b="0" i="0">
                <a:solidFill>
                  <a:srgbClr val="3A4A5A"/>
                </a:solidFill>
              </a:rPr>
              <a:t>Events timeline</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84</a:t>
            </a:fld>
            <a:endParaRPr lang="en-US" sz="900">
              <a:solidFill>
                <a:srgbClr val="9AA7B4"/>
              </a:solidFill>
            </a:endParaRPr>
          </a:p>
        </p:txBody>
      </p:sp>
    </p:spTree>
    <p:extLst>
      <p:ext uri="{BB962C8B-B14F-4D97-AF65-F5344CB8AC3E}">
        <p14:creationId xmlns:p14="http://schemas.microsoft.com/office/powerpoint/2010/main" val="8131937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12CA-C837-E349-8D2D-0DD83FB8A19F}"/>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Manual In-Browser Testing and Debugging</a:t>
            </a:r>
          </a:p>
        </p:txBody>
      </p:sp>
      <p:pic>
        <p:nvPicPr>
          <p:cNvPr id="5" name="Content Placeholder 5" descr="A screenshot of a cell phone&#10;&#10;Description automatically generated">
            <a:extLst>
              <a:ext uri="{FF2B5EF4-FFF2-40B4-BE49-F238E27FC236}">
                <a16:creationId xmlns:a16="http://schemas.microsoft.com/office/drawing/2014/main" id="{23F4CD1F-66F0-9543-B6B8-BBCE09383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320" y="2369848"/>
            <a:ext cx="3840480" cy="2941263"/>
          </a:xfrm>
          <a:prstGeom prst="rect">
            <a:avLst/>
          </a:prstGeom>
          <a:ln w="12700">
            <a:solidFill>
              <a:srgbClr val="D6DEE6"/>
            </a:solidFill>
          </a:ln>
        </p:spPr>
      </p:pic>
      <p:sp>
        <p:nvSpPr>
          <p:cNvPr id="6" name="Chip LAB 10"/>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10</a:t>
            </a:r>
          </a:p>
        </p:txBody>
      </p:sp>
      <p:sp>
        <p:nvSpPr>
          <p:cNvPr id="7"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8"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Get comfortable inspecting, changing and stepping through your app in the browser.</a:t>
            </a:r>
          </a:p>
        </p:txBody>
      </p:sp>
      <p:sp>
        <p:nvSpPr>
          <p:cNvPr id="9" name="Body"/>
          <p:cNvSpPr txBox="1"/>
          <p:nvPr/>
        </p:nvSpPr>
        <p:spPr>
          <a:xfrm>
            <a:off x="457200" y="2715768"/>
            <a:ext cx="4160520" cy="3476752"/>
          </a:xfrm>
          <a:prstGeom prst="rect">
            <a:avLst/>
          </a:prstGeom>
          <a:noFill/>
        </p:spPr>
        <p:txBody>
          <a:bodyPr wrap="square" lIns="0" tIns="0" rIns="0" bIns="0">
            <a:noAutofit/>
          </a:bodyPr>
          <a:lstStyle/>
          <a:p>
            <a:pPr marL="274320" indent="-256032">
              <a:spcAft>
                <a:spcPts val="765"/>
              </a:spcAft>
              <a:buClr>
                <a:srgbClr val="42B883"/>
              </a:buClr>
              <a:buSzPct val="100000"/>
              <a:buFont typeface="Arial"/>
              <a:buChar char="•"/>
            </a:pPr>
            <a:r>
              <a:rPr sz="1700" b="0" i="0">
                <a:solidFill>
                  <a:srgbClr val="1F2A36"/>
                </a:solidFill>
              </a:rPr>
              <a:t>Run the Conduit dev server</a:t>
            </a:r>
          </a:p>
          <a:p>
            <a:pPr marL="274320" indent="-256032">
              <a:spcAft>
                <a:spcPts val="765"/>
              </a:spcAft>
              <a:buClr>
                <a:srgbClr val="42B883"/>
              </a:buClr>
              <a:buSzPct val="100000"/>
              <a:buFont typeface="Arial"/>
              <a:buChar char="•"/>
            </a:pPr>
            <a:r>
              <a:rPr sz="1700" b="0" i="0">
                <a:solidFill>
                  <a:srgbClr val="1F2A36"/>
                </a:solidFill>
              </a:rPr>
              <a:t>Install Vue DevTools (extension or Vite plugin)</a:t>
            </a:r>
          </a:p>
          <a:p>
            <a:pPr marL="274320" indent="-256032">
              <a:spcAft>
                <a:spcPts val="765"/>
              </a:spcAft>
              <a:buClr>
                <a:srgbClr val="42B883"/>
              </a:buClr>
              <a:buSzPct val="100000"/>
              <a:buFont typeface="Arial"/>
              <a:buChar char="•"/>
            </a:pPr>
            <a:r>
              <a:rPr sz="1700" b="0" i="0">
                <a:solidFill>
                  <a:srgbClr val="1F2A36"/>
                </a:solidFill>
              </a:rPr>
              <a:t>Elements: edit styles live; hide an element</a:t>
            </a:r>
          </a:p>
          <a:p>
            <a:pPr marL="274320" indent="-256032">
              <a:spcAft>
                <a:spcPts val="765"/>
              </a:spcAft>
              <a:buClr>
                <a:srgbClr val="42B883"/>
              </a:buClr>
              <a:buSzPct val="100000"/>
              <a:buFont typeface="Arial"/>
              <a:buChar char="•"/>
            </a:pPr>
            <a:r>
              <a:rPr sz="1700" b="0" i="0">
                <a:solidFill>
                  <a:srgbClr val="1F2A36"/>
                </a:solidFill>
              </a:rPr>
              <a:t>Console: change </a:t>
            </a:r>
            <a:r>
              <a:rPr sz="1614" b="0" i="0">
                <a:solidFill>
                  <a:srgbClr val="8A2B52"/>
                </a:solidFill>
                <a:latin typeface="Consolas"/>
              </a:rPr>
              <a:t>document.body.innerHTML</a:t>
            </a:r>
          </a:p>
          <a:p>
            <a:pPr marL="274320" indent="-256032">
              <a:spcAft>
                <a:spcPts val="765"/>
              </a:spcAft>
              <a:buClr>
                <a:srgbClr val="42B883"/>
              </a:buClr>
              <a:buSzPct val="100000"/>
              <a:buFont typeface="Arial"/>
              <a:buChar char="•"/>
            </a:pPr>
            <a:r>
              <a:rPr sz="1700" b="0" i="0">
                <a:solidFill>
                  <a:srgbClr val="1F2A36"/>
                </a:solidFill>
              </a:rPr>
              <a:t>Sources: set a breakpoint in a </a:t>
            </a:r>
            <a:r>
              <a:rPr sz="1614" b="0" i="0">
                <a:solidFill>
                  <a:srgbClr val="8A2B52"/>
                </a:solidFill>
                <a:latin typeface="Consolas"/>
              </a:rPr>
              <a:t>.vue</a:t>
            </a:r>
            <a:r>
              <a:rPr sz="1700" b="0" i="0">
                <a:solidFill>
                  <a:srgbClr val="1F2A36"/>
                </a:solidFill>
              </a:rPr>
              <a:t> file and reload</a:t>
            </a:r>
          </a:p>
          <a:p>
            <a:pPr marL="274320" indent="-256032">
              <a:spcAft>
                <a:spcPts val="765"/>
              </a:spcAft>
              <a:buClr>
                <a:srgbClr val="42B883"/>
              </a:buClr>
              <a:buSzPct val="100000"/>
              <a:buFont typeface="Arial"/>
              <a:buChar char="•"/>
            </a:pPr>
            <a:r>
              <a:rPr sz="1700" b="0" i="0">
                <a:solidFill>
                  <a:srgbClr val="1F2A36"/>
                </a:solidFill>
              </a:rPr>
              <a:t>Vue tab: inspect a component's props and state</a:t>
            </a:r>
          </a:p>
        </p:txBody>
      </p:sp>
      <p:sp>
        <p:nvSpPr>
          <p:cNvPr id="10"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1"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85</a:t>
            </a:fld>
            <a:endParaRPr lang="en-US" sz="900">
              <a:solidFill>
                <a:srgbClr val="9AA7B4"/>
              </a:solidFill>
            </a:endParaRPr>
          </a:p>
        </p:txBody>
      </p:sp>
    </p:spTree>
    <p:extLst>
      <p:ext uri="{BB962C8B-B14F-4D97-AF65-F5344CB8AC3E}">
        <p14:creationId xmlns:p14="http://schemas.microsoft.com/office/powerpoint/2010/main" val="41403195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C311-F7BF-4946-B136-170DC1A059C1}"/>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3400" b="1" i="0" cap="none">
                <a:solidFill>
                  <a:srgbClr val="FFFFFF"/>
                </a:solidFill>
              </a:rPr>
              <a:t>Getting Started With Vue.js</a:t>
            </a:r>
            <a:endParaRPr lang="en-US" dirty="0"/>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Core features: templates, directives, reactivity, events and lifecycle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86</a:t>
            </a:fld>
            <a:endParaRPr lang="en-US" sz="900">
              <a:solidFill>
                <a:srgbClr val="9FB3C4"/>
              </a:solidFill>
            </a:endParaRPr>
          </a:p>
        </p:txBody>
      </p:sp>
    </p:spTree>
    <p:extLst>
      <p:ext uri="{BB962C8B-B14F-4D97-AF65-F5344CB8AC3E}">
        <p14:creationId xmlns:p14="http://schemas.microsoft.com/office/powerpoint/2010/main" val="3816196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F581-1563-2A44-ADCA-4EDE837108F0}"/>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Basic Vue.js Features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Composition API, &lt;script setup&gt;, template syntax and directives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87</a:t>
            </a:fld>
            <a:endParaRPr lang="en-US" sz="900">
              <a:solidFill>
                <a:srgbClr val="9FB3C4"/>
              </a:solidFill>
            </a:endParaRPr>
          </a:p>
        </p:txBody>
      </p:sp>
    </p:spTree>
    <p:extLst>
      <p:ext uri="{BB962C8B-B14F-4D97-AF65-F5344CB8AC3E}">
        <p14:creationId xmlns:p14="http://schemas.microsoft.com/office/powerpoint/2010/main" val="2145472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Options API vs. Composition API</a:t>
            </a:r>
          </a:p>
        </p:txBody>
      </p:sp>
      <p:sp>
        <p:nvSpPr>
          <p:cNvPr id="3" name="Tip"/>
          <p:cNvSpPr/>
          <p:nvPr/>
        </p:nvSpPr>
        <p:spPr>
          <a:xfrm>
            <a:off x="457200" y="1261872"/>
            <a:ext cx="8229600" cy="79248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700" b="0" i="0">
                <a:solidFill>
                  <a:srgbClr val="1F2A36"/>
                </a:solidFill>
              </a:rPr>
              <a:t>Both are fully supported. This course uses the Composition API with </a:t>
            </a:r>
            <a:r>
              <a:rPr sz="1614" b="0" i="0">
                <a:solidFill>
                  <a:srgbClr val="8A2B52"/>
                </a:solidFill>
                <a:latin typeface="Consolas"/>
              </a:rPr>
              <a:t>&lt;script setup&gt;</a:t>
            </a:r>
            <a:r>
              <a:rPr sz="1700" b="0" i="0">
                <a:solidFill>
                  <a:srgbClr val="1F2A36"/>
                </a:solidFill>
              </a:rPr>
              <a:t>, which is what current Vue code and documentation use.</a:t>
            </a:r>
          </a:p>
        </p:txBody>
      </p:sp>
      <p:sp>
        <p:nvSpPr>
          <p:cNvPr id="4" name="Body"/>
          <p:cNvSpPr txBox="1"/>
          <p:nvPr/>
        </p:nvSpPr>
        <p:spPr>
          <a:xfrm>
            <a:off x="457200" y="2200656"/>
            <a:ext cx="3954780" cy="2874264"/>
          </a:xfrm>
          <a:prstGeom prst="rect">
            <a:avLst/>
          </a:prstGeom>
          <a:noFill/>
        </p:spPr>
        <p:txBody>
          <a:bodyPr wrap="square" lIns="0" tIns="0" rIns="0" bIns="0">
            <a:noAutofit/>
          </a:bodyPr>
          <a:lstStyle/>
          <a:p>
            <a:pPr marL="0" indent="0">
              <a:spcAft>
                <a:spcPts val="769"/>
              </a:spcAft>
              <a:buNone/>
            </a:pPr>
            <a:r>
              <a:rPr sz="2200" b="1" i="0">
                <a:solidFill>
                  <a:srgbClr val="2E8B62"/>
                </a:solidFill>
              </a:rPr>
              <a:t>Options API</a:t>
            </a:r>
          </a:p>
          <a:p>
            <a:pPr marL="274320" indent="-256032">
              <a:spcAft>
                <a:spcPts val="990"/>
              </a:spcAft>
              <a:buClr>
                <a:srgbClr val="42B883"/>
              </a:buClr>
              <a:buSzPct val="100000"/>
              <a:buFont typeface="Arial"/>
              <a:buChar char="•"/>
            </a:pPr>
            <a:r>
              <a:rPr sz="2200" b="0" i="0">
                <a:solidFill>
                  <a:srgbClr val="1F2A36"/>
                </a:solidFill>
              </a:rPr>
              <a:t>Code grouped by </a:t>
            </a:r>
            <a:r>
              <a:rPr sz="2200" b="1" i="0">
                <a:solidFill>
                  <a:srgbClr val="1F2A36"/>
                </a:solidFill>
              </a:rPr>
              <a:t>option</a:t>
            </a:r>
            <a:r>
              <a:rPr sz="2200" b="0" i="0">
                <a:solidFill>
                  <a:srgbClr val="1F2A36"/>
                </a:solidFill>
              </a:rPr>
              <a:t>: </a:t>
            </a:r>
            <a:r>
              <a:rPr sz="2090" b="0" i="0">
                <a:solidFill>
                  <a:srgbClr val="8A2B52"/>
                </a:solidFill>
                <a:latin typeface="Consolas"/>
              </a:rPr>
              <a:t>data</a:t>
            </a:r>
            <a:r>
              <a:rPr sz="2200" b="0" i="0">
                <a:solidFill>
                  <a:srgbClr val="1F2A36"/>
                </a:solidFill>
              </a:rPr>
              <a:t>, </a:t>
            </a:r>
            <a:r>
              <a:rPr sz="2090" b="0" i="0">
                <a:solidFill>
                  <a:srgbClr val="8A2B52"/>
                </a:solidFill>
                <a:latin typeface="Consolas"/>
              </a:rPr>
              <a:t>computed</a:t>
            </a:r>
            <a:r>
              <a:rPr sz="2200" b="0" i="0">
                <a:solidFill>
                  <a:srgbClr val="1F2A36"/>
                </a:solidFill>
              </a:rPr>
              <a:t>, </a:t>
            </a:r>
            <a:r>
              <a:rPr sz="2090" b="0" i="0">
                <a:solidFill>
                  <a:srgbClr val="8A2B52"/>
                </a:solidFill>
                <a:latin typeface="Consolas"/>
              </a:rPr>
              <a:t>methods</a:t>
            </a:r>
            <a:r>
              <a:rPr sz="2200" b="0" i="0">
                <a:solidFill>
                  <a:srgbClr val="1F2A36"/>
                </a:solidFill>
              </a:rPr>
              <a:t>, </a:t>
            </a:r>
            <a:r>
              <a:rPr sz="2090" b="0" i="0">
                <a:solidFill>
                  <a:srgbClr val="8A2B52"/>
                </a:solidFill>
                <a:latin typeface="Consolas"/>
              </a:rPr>
              <a:t>watch</a:t>
            </a:r>
          </a:p>
          <a:p>
            <a:pPr marL="274320" indent="-256032">
              <a:spcAft>
                <a:spcPts val="990"/>
              </a:spcAft>
              <a:buClr>
                <a:srgbClr val="42B883"/>
              </a:buClr>
              <a:buSzPct val="100000"/>
              <a:buFont typeface="Arial"/>
              <a:buChar char="•"/>
            </a:pPr>
            <a:r>
              <a:rPr sz="2200" b="0" i="0">
                <a:solidFill>
                  <a:srgbClr val="1F2A36"/>
                </a:solidFill>
              </a:rPr>
              <a:t>A single feature is spread across several options</a:t>
            </a:r>
          </a:p>
          <a:p>
            <a:pPr marL="274320" indent="-256032">
              <a:spcAft>
                <a:spcPts val="990"/>
              </a:spcAft>
              <a:buClr>
                <a:srgbClr val="42B883"/>
              </a:buClr>
              <a:buSzPct val="100000"/>
              <a:buFont typeface="Arial"/>
              <a:buChar char="•"/>
            </a:pPr>
            <a:r>
              <a:rPr sz="2200" b="0" i="0">
                <a:solidFill>
                  <a:srgbClr val="1F2A36"/>
                </a:solidFill>
              </a:rPr>
              <a:t>Reuse means </a:t>
            </a:r>
            <a:r>
              <a:rPr sz="2200" b="1" i="0">
                <a:solidFill>
                  <a:srgbClr val="1F2A36"/>
                </a:solidFill>
              </a:rPr>
              <a:t>mixins</a:t>
            </a:r>
          </a:p>
        </p:txBody>
      </p:sp>
      <p:sp>
        <p:nvSpPr>
          <p:cNvPr id="5" name="Body"/>
          <p:cNvSpPr txBox="1"/>
          <p:nvPr/>
        </p:nvSpPr>
        <p:spPr>
          <a:xfrm>
            <a:off x="4732020" y="2200656"/>
            <a:ext cx="3954780" cy="2544572"/>
          </a:xfrm>
          <a:prstGeom prst="rect">
            <a:avLst/>
          </a:prstGeom>
          <a:noFill/>
        </p:spPr>
        <p:txBody>
          <a:bodyPr wrap="square" lIns="0" tIns="0" rIns="0" bIns="0">
            <a:noAutofit/>
          </a:bodyPr>
          <a:lstStyle/>
          <a:p>
            <a:pPr marL="0" indent="0">
              <a:spcAft>
                <a:spcPts val="769"/>
              </a:spcAft>
              <a:buNone/>
            </a:pPr>
            <a:r>
              <a:rPr sz="2200" b="1" i="0">
                <a:solidFill>
                  <a:srgbClr val="2E8B62"/>
                </a:solidFill>
              </a:rPr>
              <a:t>Composition API</a:t>
            </a:r>
          </a:p>
          <a:p>
            <a:pPr marL="274320" indent="-256032">
              <a:spcAft>
                <a:spcPts val="990"/>
              </a:spcAft>
              <a:buClr>
                <a:srgbClr val="42B883"/>
              </a:buClr>
              <a:buSzPct val="100000"/>
              <a:buFont typeface="Arial"/>
              <a:buChar char="•"/>
            </a:pPr>
            <a:r>
              <a:rPr sz="2200" b="0" i="0">
                <a:solidFill>
                  <a:srgbClr val="1F2A36"/>
                </a:solidFill>
              </a:rPr>
              <a:t>Code grouped by </a:t>
            </a:r>
            <a:r>
              <a:rPr sz="2200" b="1" i="0">
                <a:solidFill>
                  <a:srgbClr val="1F2A36"/>
                </a:solidFill>
              </a:rPr>
              <a:t>feature</a:t>
            </a:r>
          </a:p>
          <a:p>
            <a:pPr marL="274320" indent="-256032">
              <a:spcAft>
                <a:spcPts val="990"/>
              </a:spcAft>
              <a:buClr>
                <a:srgbClr val="42B883"/>
              </a:buClr>
              <a:buSzPct val="100000"/>
              <a:buFont typeface="Arial"/>
              <a:buChar char="•"/>
            </a:pPr>
            <a:r>
              <a:rPr sz="2200" b="0" i="0">
                <a:solidFill>
                  <a:srgbClr val="1F2A36"/>
                </a:solidFill>
              </a:rPr>
              <a:t>Reuse means </a:t>
            </a:r>
            <a:r>
              <a:rPr sz="2200" b="1" i="0">
                <a:solidFill>
                  <a:srgbClr val="1F2A36"/>
                </a:solidFill>
              </a:rPr>
              <a:t>composables</a:t>
            </a:r>
            <a:r>
              <a:rPr sz="2200" b="0" i="0">
                <a:solidFill>
                  <a:srgbClr val="1F2A36"/>
                </a:solidFill>
              </a:rPr>
              <a:t> — ordinary functions</a:t>
            </a:r>
          </a:p>
          <a:p>
            <a:pPr marL="274320" indent="-256032">
              <a:spcAft>
                <a:spcPts val="990"/>
              </a:spcAft>
              <a:buClr>
                <a:srgbClr val="42B883"/>
              </a:buClr>
              <a:buSzPct val="100000"/>
              <a:buFont typeface="Arial"/>
              <a:buChar char="•"/>
            </a:pPr>
            <a:r>
              <a:rPr sz="2200" b="0" i="0">
                <a:solidFill>
                  <a:srgbClr val="1F2A36"/>
                </a:solidFill>
              </a:rPr>
              <a:t>Better type inference and IDE support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88</a:t>
            </a:fld>
            <a:endParaRPr lang="en-US" sz="900">
              <a:solidFill>
                <a:srgbClr val="9AA7B4"/>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2060-2F25-DA44-ADF3-D7C0834A059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Creating and Mounting an App</a:t>
            </a:r>
          </a:p>
        </p:txBody>
      </p:sp>
      <p:sp>
        <p:nvSpPr>
          <p:cNvPr id="3" name="Code"/>
          <p:cNvSpPr/>
          <p:nvPr/>
        </p:nvSpPr>
        <p:spPr>
          <a:xfrm>
            <a:off x="457200" y="1261872"/>
            <a:ext cx="8229600" cy="26548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import</a:t>
            </a:r>
            <a:r>
              <a:rPr sz="1500">
                <a:solidFill>
                  <a:srgbClr val="24292F"/>
                </a:solidFill>
                <a:latin typeface="Consolas"/>
              </a:rPr>
              <a:t> { createApp }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'vue'</a:t>
            </a:r>
          </a:p>
          <a:p>
            <a:pPr marL="0" indent="0" algn="l">
              <a:lnSpc>
                <a:spcPct val="100000"/>
              </a:lnSpc>
              <a:buNone/>
            </a:pPr>
            <a:r>
              <a:rPr sz="1500">
                <a:solidFill>
                  <a:srgbClr val="CF222E"/>
                </a:solidFill>
                <a:latin typeface="Consolas"/>
              </a:rPr>
              <a:t>import</a:t>
            </a:r>
            <a:r>
              <a:rPr sz="1500">
                <a:solidFill>
                  <a:srgbClr val="24292F"/>
                </a:solidFill>
                <a:latin typeface="Consolas"/>
              </a:rPr>
              <a:t> { createPinia }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'pinia'</a:t>
            </a:r>
          </a:p>
          <a:p>
            <a:pPr marL="0" indent="0" algn="l">
              <a:lnSpc>
                <a:spcPct val="100000"/>
              </a:lnSpc>
              <a:buNone/>
            </a:pPr>
            <a:r>
              <a:rPr sz="1500">
                <a:solidFill>
                  <a:srgbClr val="CF222E"/>
                </a:solidFill>
                <a:latin typeface="Consolas"/>
              </a:rPr>
              <a:t>import</a:t>
            </a:r>
            <a:r>
              <a:rPr sz="1500">
                <a:solidFill>
                  <a:srgbClr val="24292F"/>
                </a:solidFill>
                <a:latin typeface="Consolas"/>
              </a:rPr>
              <a:t> App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'./App.vue'</a:t>
            </a:r>
          </a:p>
          <a:p>
            <a:pPr marL="0" indent="0" algn="l">
              <a:lnSpc>
                <a:spcPct val="100000"/>
              </a:lnSpc>
              <a:buNone/>
            </a:pPr>
            <a:r>
              <a:rPr sz="1500">
                <a:solidFill>
                  <a:srgbClr val="CF222E"/>
                </a:solidFill>
                <a:latin typeface="Consolas"/>
              </a:rPr>
              <a:t>import</a:t>
            </a:r>
            <a:r>
              <a:rPr sz="1500">
                <a:solidFill>
                  <a:srgbClr val="24292F"/>
                </a:solidFill>
                <a:latin typeface="Consolas"/>
              </a:rPr>
              <a:t> router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'./router'</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const</a:t>
            </a:r>
            <a:r>
              <a:rPr sz="1500">
                <a:solidFill>
                  <a:srgbClr val="24292F"/>
                </a:solidFill>
                <a:latin typeface="Consolas"/>
              </a:rPr>
              <a:t> app = createApp(App)    </a:t>
            </a:r>
            <a:r>
              <a:rPr sz="1500" i="1">
                <a:solidFill>
                  <a:srgbClr val="6E7781"/>
                </a:solidFill>
                <a:latin typeface="Consolas"/>
              </a:rPr>
              <a:t>// an isolated application instance</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app.use(createPinia())        </a:t>
            </a:r>
            <a:r>
              <a:rPr sz="1500" i="1">
                <a:solidFill>
                  <a:srgbClr val="6E7781"/>
                </a:solidFill>
                <a:latin typeface="Consolas"/>
              </a:rPr>
              <a:t>// plugins are installed per app</a:t>
            </a:r>
          </a:p>
          <a:p>
            <a:pPr marL="0" indent="0" algn="l">
              <a:lnSpc>
                <a:spcPct val="100000"/>
              </a:lnSpc>
              <a:buNone/>
            </a:pPr>
            <a:r>
              <a:rPr sz="1500">
                <a:solidFill>
                  <a:srgbClr val="24292F"/>
                </a:solidFill>
                <a:latin typeface="Consolas"/>
              </a:rPr>
              <a:t>app.use(router)</a:t>
            </a:r>
          </a:p>
          <a:p>
            <a:pPr marL="0" indent="0" algn="l">
              <a:lnSpc>
                <a:spcPct val="100000"/>
              </a:lnSpc>
              <a:buNone/>
            </a:pPr>
            <a:r>
              <a:rPr sz="1500">
                <a:solidFill>
                  <a:srgbClr val="24292F"/>
                </a:solidFill>
                <a:latin typeface="Consolas"/>
              </a:rPr>
              <a:t>app.mount(</a:t>
            </a:r>
            <a:r>
              <a:rPr sz="1500">
                <a:solidFill>
                  <a:srgbClr val="0A3069"/>
                </a:solidFill>
                <a:latin typeface="Consolas"/>
              </a:rPr>
              <a:t>'#app'</a:t>
            </a:r>
            <a:r>
              <a:rPr sz="1500">
                <a:solidFill>
                  <a:srgbClr val="24292F"/>
                </a:solidFill>
                <a:latin typeface="Consolas"/>
              </a:rPr>
              <a:t>)             </a:t>
            </a:r>
            <a:r>
              <a:rPr sz="1500" i="1">
                <a:solidFill>
                  <a:srgbClr val="6E7781"/>
                </a:solidFill>
                <a:latin typeface="Consolas"/>
              </a:rPr>
              <a:t>// where to render</a:t>
            </a:r>
          </a:p>
        </p:txBody>
      </p:sp>
      <p:sp>
        <p:nvSpPr>
          <p:cNvPr id="4" name="Tip"/>
          <p:cNvSpPr/>
          <p:nvPr/>
        </p:nvSpPr>
        <p:spPr>
          <a:xfrm>
            <a:off x="457200" y="4062984"/>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There's no global </a:t>
            </a:r>
            <a:r>
              <a:rPr sz="1900" b="0" i="0">
                <a:solidFill>
                  <a:srgbClr val="8A2B52"/>
                </a:solidFill>
                <a:latin typeface="Consolas"/>
              </a:rPr>
              <a:t>Vue</a:t>
            </a:r>
            <a:r>
              <a:rPr sz="2000" b="0" i="0">
                <a:solidFill>
                  <a:srgbClr val="1F2A36"/>
                </a:solidFill>
              </a:rPr>
              <a:t> object, so two apps on the same page never share plugins, components or configuration.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89</a:t>
            </a:fld>
            <a:endParaRPr lang="en-US" sz="900">
              <a:solidFill>
                <a:srgbClr val="9AA7B4"/>
              </a:solidFill>
            </a:endParaRPr>
          </a:p>
        </p:txBody>
      </p:sp>
    </p:spTree>
    <p:extLst>
      <p:ext uri="{BB962C8B-B14F-4D97-AF65-F5344CB8AC3E}">
        <p14:creationId xmlns:p14="http://schemas.microsoft.com/office/powerpoint/2010/main" val="35878620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latin typeface="Consolas"/>
              </a:rPr>
              <a:t>&lt;script setup&gt;</a:t>
            </a:r>
          </a:p>
        </p:txBody>
      </p:sp>
      <p:sp>
        <p:nvSpPr>
          <p:cNvPr id="3" name="Code"/>
          <p:cNvSpPr/>
          <p:nvPr/>
        </p:nvSpPr>
        <p:spPr>
          <a:xfrm>
            <a:off x="457200" y="1261872"/>
            <a:ext cx="8229600" cy="28910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&lt;script</a:t>
            </a:r>
            <a:r>
              <a:rPr sz="1500">
                <a:solidFill>
                  <a:srgbClr val="24292F"/>
                </a:solidFill>
                <a:latin typeface="Consolas"/>
              </a:rPr>
              <a:t> </a:t>
            </a:r>
            <a:r>
              <a:rPr sz="1500">
                <a:solidFill>
                  <a:srgbClr val="953800"/>
                </a:solidFill>
                <a:latin typeface="Consolas"/>
              </a:rPr>
              <a:t>setup</a:t>
            </a:r>
            <a:r>
              <a:rPr sz="1500">
                <a:solidFill>
                  <a:srgbClr val="116329"/>
                </a:solidFill>
                <a:latin typeface="Consolas"/>
              </a:rPr>
              <a:t>&gt;</a:t>
            </a:r>
          </a:p>
          <a:p>
            <a:pPr marL="0" indent="0" algn="l">
              <a:lnSpc>
                <a:spcPct val="100000"/>
              </a:lnSpc>
              <a:buNone/>
            </a:pPr>
            <a:r>
              <a:rPr sz="1500">
                <a:solidFill>
                  <a:srgbClr val="CF222E"/>
                </a:solidFill>
                <a:latin typeface="Consolas"/>
              </a:rPr>
              <a:t>import</a:t>
            </a:r>
            <a:r>
              <a:rPr sz="1500">
                <a:solidFill>
                  <a:srgbClr val="24292F"/>
                </a:solidFill>
                <a:latin typeface="Consolas"/>
              </a:rPr>
              <a:t> { computed, ref }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'vue'</a:t>
            </a:r>
          </a:p>
          <a:p>
            <a:pPr marL="0" indent="0" algn="l">
              <a:lnSpc>
                <a:spcPct val="100000"/>
              </a:lnSpc>
              <a:buNone/>
            </a:pPr>
            <a:r>
              <a:rPr sz="1500">
                <a:solidFill>
                  <a:srgbClr val="CF222E"/>
                </a:solidFill>
                <a:latin typeface="Consolas"/>
              </a:rPr>
              <a:t>import</a:t>
            </a:r>
            <a:r>
              <a:rPr sz="1500">
                <a:solidFill>
                  <a:srgbClr val="24292F"/>
                </a:solidFill>
                <a:latin typeface="Consolas"/>
              </a:rPr>
              <a:t> ArticleList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'./ArticleList.vue'</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const</a:t>
            </a:r>
            <a:r>
              <a:rPr sz="1500">
                <a:solidFill>
                  <a:srgbClr val="24292F"/>
                </a:solidFill>
                <a:latin typeface="Consolas"/>
              </a:rPr>
              <a:t> count = ref(</a:t>
            </a:r>
            <a:r>
              <a:rPr sz="1500">
                <a:solidFill>
                  <a:srgbClr val="0550AE"/>
                </a:solidFill>
                <a:latin typeface="Consolas"/>
              </a:rPr>
              <a:t>0</a:t>
            </a:r>
            <a:r>
              <a:rPr sz="1500">
                <a:solidFill>
                  <a:srgbClr val="24292F"/>
                </a:solidFill>
                <a:latin typeface="Consolas"/>
              </a:rPr>
              <a:t>)                              </a:t>
            </a:r>
            <a:r>
              <a:rPr sz="1500" i="1">
                <a:solidFill>
                  <a:srgbClr val="6E7781"/>
                </a:solidFill>
                <a:latin typeface="Consolas"/>
              </a:rPr>
              <a:t>// state</a:t>
            </a:r>
          </a:p>
          <a:p>
            <a:pPr marL="0" indent="0" algn="l">
              <a:lnSpc>
                <a:spcPct val="100000"/>
              </a:lnSpc>
              <a:buNone/>
            </a:pPr>
            <a:r>
              <a:rPr sz="1500">
                <a:solidFill>
                  <a:srgbClr val="CF222E"/>
                </a:solidFill>
                <a:latin typeface="Consolas"/>
              </a:rPr>
              <a:t>const</a:t>
            </a:r>
            <a:r>
              <a:rPr sz="1500">
                <a:solidFill>
                  <a:srgbClr val="24292F"/>
                </a:solidFill>
                <a:latin typeface="Consolas"/>
              </a:rPr>
              <a:t> doubled = computed(() =</a:t>
            </a:r>
            <a:r>
              <a:rPr sz="1500">
                <a:solidFill>
                  <a:srgbClr val="116329"/>
                </a:solidFill>
                <a:latin typeface="Consolas"/>
              </a:rPr>
              <a:t>&gt;</a:t>
            </a:r>
            <a:r>
              <a:rPr sz="1500">
                <a:solidFill>
                  <a:srgbClr val="24292F"/>
                </a:solidFill>
                <a:latin typeface="Consolas"/>
              </a:rPr>
              <a:t> count.value * </a:t>
            </a:r>
            <a:r>
              <a:rPr sz="1500">
                <a:solidFill>
                  <a:srgbClr val="0550AE"/>
                </a:solidFill>
                <a:latin typeface="Consolas"/>
              </a:rPr>
              <a:t>2</a:t>
            </a:r>
            <a:r>
              <a:rPr sz="1500">
                <a:solidFill>
                  <a:srgbClr val="24292F"/>
                </a:solidFill>
                <a:latin typeface="Consolas"/>
              </a:rPr>
              <a:t>)   </a:t>
            </a:r>
            <a:r>
              <a:rPr sz="1500" i="1">
                <a:solidFill>
                  <a:srgbClr val="6E7781"/>
                </a:solidFill>
                <a:latin typeface="Consolas"/>
              </a:rPr>
              <a:t>// derived state</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function</a:t>
            </a:r>
            <a:r>
              <a:rPr sz="1500">
                <a:solidFill>
                  <a:srgbClr val="24292F"/>
                </a:solidFill>
                <a:latin typeface="Consolas"/>
              </a:rPr>
              <a:t> increment() {                            </a:t>
            </a:r>
            <a:r>
              <a:rPr sz="1500" i="1">
                <a:solidFill>
                  <a:srgbClr val="6E7781"/>
                </a:solidFill>
                <a:latin typeface="Consolas"/>
              </a:rPr>
              <a:t>// behavior</a:t>
            </a:r>
          </a:p>
          <a:p>
            <a:pPr marL="0" indent="0" algn="l">
              <a:lnSpc>
                <a:spcPct val="100000"/>
              </a:lnSpc>
              <a:buNone/>
            </a:pPr>
            <a:r>
              <a:rPr sz="1500">
                <a:solidFill>
                  <a:srgbClr val="24292F"/>
                </a:solidFill>
                <a:latin typeface="Consolas"/>
              </a:rPr>
              <a:t>  count.value++</a:t>
            </a:r>
          </a:p>
          <a:p>
            <a:pPr marL="0" indent="0" algn="l">
              <a:lnSpc>
                <a:spcPct val="100000"/>
              </a:lnSpc>
              <a:buNone/>
            </a:pPr>
            <a:r>
              <a:rPr sz="1500">
                <a:solidFill>
                  <a:srgbClr val="24292F"/>
                </a:solidFill>
                <a:latin typeface="Consolas"/>
              </a:rPr>
              <a:t>}</a:t>
            </a:r>
          </a:p>
          <a:p>
            <a:pPr marL="0" indent="0" algn="l">
              <a:lnSpc>
                <a:spcPct val="100000"/>
              </a:lnSpc>
              <a:buNone/>
            </a:pPr>
            <a:r>
              <a:rPr sz="1500">
                <a:solidFill>
                  <a:srgbClr val="116329"/>
                </a:solidFill>
                <a:latin typeface="Consolas"/>
              </a:rPr>
              <a:t>&lt;/script&gt;</a:t>
            </a:r>
          </a:p>
        </p:txBody>
      </p:sp>
      <p:sp>
        <p:nvSpPr>
          <p:cNvPr id="4" name="Body"/>
          <p:cNvSpPr txBox="1"/>
          <p:nvPr/>
        </p:nvSpPr>
        <p:spPr>
          <a:xfrm>
            <a:off x="457200" y="4299204"/>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Every top-level binding is available to the template — variables, functions and imports</a:t>
            </a:r>
          </a:p>
          <a:p>
            <a:pPr marL="274320" indent="-256032">
              <a:spcAft>
                <a:spcPts val="990"/>
              </a:spcAft>
              <a:buClr>
                <a:srgbClr val="42B883"/>
              </a:buClr>
              <a:buSzPct val="100000"/>
              <a:buFont typeface="Arial"/>
              <a:buChar char="•"/>
            </a:pPr>
            <a:r>
              <a:rPr sz="2200" b="0" i="0">
                <a:solidFill>
                  <a:srgbClr val="1F2A36"/>
                </a:solidFill>
              </a:rPr>
              <a:t>No </a:t>
            </a:r>
            <a:r>
              <a:rPr sz="2090" b="0" i="0">
                <a:solidFill>
                  <a:srgbClr val="8A2B52"/>
                </a:solidFill>
                <a:latin typeface="Consolas"/>
              </a:rPr>
              <a:t>export default</a:t>
            </a:r>
            <a:r>
              <a:rPr sz="2200" b="0" i="0">
                <a:solidFill>
                  <a:srgbClr val="1F2A36"/>
                </a:solidFill>
              </a:rPr>
              <a:t>, no </a:t>
            </a:r>
            <a:r>
              <a:rPr sz="2090" b="0" i="0">
                <a:solidFill>
                  <a:srgbClr val="8A2B52"/>
                </a:solidFill>
                <a:latin typeface="Consolas"/>
              </a:rPr>
              <a:t>components</a:t>
            </a:r>
            <a:r>
              <a:rPr sz="2200" b="0" i="0">
                <a:solidFill>
                  <a:srgbClr val="1F2A36"/>
                </a:solidFill>
              </a:rPr>
              <a:t> object, no </a:t>
            </a:r>
            <a:r>
              <a:rPr sz="2090" b="0" i="0">
                <a:solidFill>
                  <a:srgbClr val="8A2B52"/>
                </a:solidFill>
                <a:latin typeface="Consolas"/>
              </a:rPr>
              <a:t>this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90</a:t>
            </a:fld>
            <a:endParaRPr lang="en-US" sz="900">
              <a:solidFill>
                <a:srgbClr val="9AA7B4"/>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ref and computed</a:t>
            </a:r>
          </a:p>
        </p:txBody>
      </p:sp>
      <p:sp>
        <p:nvSpPr>
          <p:cNvPr id="3" name="Body"/>
          <p:cNvSpPr txBox="1"/>
          <p:nvPr/>
        </p:nvSpPr>
        <p:spPr>
          <a:xfrm>
            <a:off x="457200" y="1261872"/>
            <a:ext cx="8229600" cy="336067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ref(value)</a:t>
            </a:r>
            <a:r>
              <a:rPr sz="2200" b="0" i="0">
                <a:solidFill>
                  <a:srgbClr val="1F2A36"/>
                </a:solidFill>
              </a:rPr>
              <a:t> wraps any value in a reactive container</a:t>
            </a:r>
          </a:p>
          <a:p>
            <a:pPr marL="566928" indent="-256032">
              <a:spcAft>
                <a:spcPts val="855"/>
              </a:spcAft>
              <a:buClr>
                <a:srgbClr val="6B7B8C"/>
              </a:buClr>
              <a:buSzPct val="100000"/>
              <a:buFont typeface="Arial"/>
              <a:buChar char="–"/>
            </a:pPr>
            <a:r>
              <a:rPr sz="1900" b="0" i="0">
                <a:solidFill>
                  <a:srgbClr val="3A4A5A"/>
                </a:solidFill>
              </a:rPr>
              <a:t>Read and write it as </a:t>
            </a:r>
            <a:r>
              <a:rPr sz="1805" b="0" i="0">
                <a:solidFill>
                  <a:srgbClr val="8A2B52"/>
                </a:solidFill>
                <a:latin typeface="Consolas"/>
              </a:rPr>
              <a:t>.value</a:t>
            </a:r>
            <a:r>
              <a:rPr sz="1900" b="0" i="0">
                <a:solidFill>
                  <a:srgbClr val="3A4A5A"/>
                </a:solidFill>
              </a:rPr>
              <a:t> in script</a:t>
            </a:r>
          </a:p>
          <a:p>
            <a:pPr marL="566928" indent="-256032">
              <a:spcAft>
                <a:spcPts val="855"/>
              </a:spcAft>
              <a:buClr>
                <a:srgbClr val="6B7B8C"/>
              </a:buClr>
              <a:buSzPct val="100000"/>
              <a:buFont typeface="Arial"/>
              <a:buChar char="–"/>
            </a:pPr>
            <a:r>
              <a:rPr sz="1900" b="0" i="0">
                <a:solidFill>
                  <a:srgbClr val="3A4A5A"/>
                </a:solidFill>
              </a:rPr>
              <a:t>Vue unwraps it for you in the template</a:t>
            </a:r>
          </a:p>
          <a:p>
            <a:pPr marL="274320" indent="-256032">
              <a:spcAft>
                <a:spcPts val="990"/>
              </a:spcAft>
              <a:buClr>
                <a:srgbClr val="42B883"/>
              </a:buClr>
              <a:buSzPct val="100000"/>
              <a:buFont typeface="Arial"/>
              <a:buChar char="•"/>
            </a:pPr>
            <a:r>
              <a:rPr sz="2090" b="0" i="0">
                <a:solidFill>
                  <a:srgbClr val="8A2B52"/>
                </a:solidFill>
                <a:latin typeface="Consolas"/>
              </a:rPr>
              <a:t>computed(getter)</a:t>
            </a:r>
            <a:r>
              <a:rPr sz="2200" b="0" i="0">
                <a:solidFill>
                  <a:srgbClr val="1F2A36"/>
                </a:solidFill>
              </a:rPr>
              <a:t> derives a cached, read-only value</a:t>
            </a:r>
          </a:p>
          <a:p>
            <a:pPr marL="566928" indent="-256032">
              <a:spcAft>
                <a:spcPts val="855"/>
              </a:spcAft>
              <a:buClr>
                <a:srgbClr val="6B7B8C"/>
              </a:buClr>
              <a:buSzPct val="100000"/>
              <a:buFont typeface="Arial"/>
              <a:buChar char="–"/>
            </a:pPr>
            <a:r>
              <a:rPr sz="1900" b="0" i="0">
                <a:solidFill>
                  <a:srgbClr val="3A4A5A"/>
                </a:solidFill>
              </a:rPr>
              <a:t>Re-evaluates only when something it read has changed</a:t>
            </a:r>
          </a:p>
          <a:p>
            <a:pPr marL="274320" indent="-256032">
              <a:spcAft>
                <a:spcPts val="990"/>
              </a:spcAft>
              <a:buClr>
                <a:srgbClr val="42B883"/>
              </a:buClr>
              <a:buSzPct val="100000"/>
              <a:buFont typeface="Arial"/>
              <a:buChar char="•"/>
            </a:pPr>
            <a:r>
              <a:rPr sz="2090" b="0" i="0">
                <a:solidFill>
                  <a:srgbClr val="8A2B52"/>
                </a:solidFill>
                <a:latin typeface="Consolas"/>
              </a:rPr>
              <a:t>reactive(object)</a:t>
            </a:r>
            <a:r>
              <a:rPr sz="2200" b="0" i="0">
                <a:solidFill>
                  <a:srgbClr val="1F2A36"/>
                </a:solidFill>
              </a:rPr>
              <a:t> makes an object reactive without </a:t>
            </a:r>
            <a:r>
              <a:rPr sz="2090" b="0" i="0">
                <a:solidFill>
                  <a:srgbClr val="8A2B52"/>
                </a:solidFill>
                <a:latin typeface="Consolas"/>
              </a:rPr>
              <a:t>.value</a:t>
            </a:r>
          </a:p>
          <a:p>
            <a:pPr marL="566928" indent="-256032">
              <a:spcAft>
                <a:spcPts val="855"/>
              </a:spcAft>
              <a:buClr>
                <a:srgbClr val="6B7B8C"/>
              </a:buClr>
              <a:buSzPct val="100000"/>
              <a:buFont typeface="Arial"/>
              <a:buChar char="–"/>
            </a:pPr>
            <a:r>
              <a:rPr sz="1900" b="0" i="0">
                <a:solidFill>
                  <a:srgbClr val="3A4A5A"/>
                </a:solidFill>
              </a:rPr>
              <a:t>Objects only, and it doesn't survive destructuring</a:t>
            </a:r>
          </a:p>
        </p:txBody>
      </p:sp>
      <p:sp>
        <p:nvSpPr>
          <p:cNvPr id="4" name="Tip"/>
          <p:cNvSpPr/>
          <p:nvPr/>
        </p:nvSpPr>
        <p:spPr>
          <a:xfrm>
            <a:off x="457200" y="4677410"/>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Reach for </a:t>
            </a:r>
            <a:r>
              <a:rPr sz="1900" b="0" i="0">
                <a:solidFill>
                  <a:srgbClr val="8A2B52"/>
                </a:solidFill>
                <a:latin typeface="Consolas"/>
              </a:rPr>
              <a:t>ref</a:t>
            </a:r>
            <a:r>
              <a:rPr sz="2000" b="0" i="0">
                <a:solidFill>
                  <a:srgbClr val="1F2A36"/>
                </a:solidFill>
              </a:rPr>
              <a:t> by default.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91</a:t>
            </a:fld>
            <a:endParaRPr lang="en-US" sz="900">
              <a:solidFill>
                <a:srgbClr val="9AA7B4"/>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Compiler Macros</a:t>
            </a:r>
          </a:p>
        </p:txBody>
      </p:sp>
      <p:sp>
        <p:nvSpPr>
          <p:cNvPr id="3" name="Body"/>
          <p:cNvSpPr txBox="1"/>
          <p:nvPr/>
        </p:nvSpPr>
        <p:spPr>
          <a:xfrm>
            <a:off x="457200" y="1261872"/>
            <a:ext cx="8229600" cy="4598161"/>
          </a:xfrm>
          <a:prstGeom prst="rect">
            <a:avLst/>
          </a:prstGeom>
          <a:noFill/>
        </p:spPr>
        <p:txBody>
          <a:bodyPr wrap="square" lIns="0" tIns="0" rIns="0" bIns="0">
            <a:noAutofit/>
          </a:bodyPr>
          <a:lstStyle/>
          <a:p>
            <a:pPr marL="0" indent="0">
              <a:spcAft>
                <a:spcPts val="990"/>
              </a:spcAft>
              <a:buNone/>
            </a:pPr>
            <a:r>
              <a:rPr sz="2200" b="0" i="0">
                <a:solidFill>
                  <a:srgbClr val="1F2A36"/>
                </a:solidFill>
              </a:rPr>
              <a:t>Available only at the top level of </a:t>
            </a:r>
            <a:r>
              <a:rPr sz="2090" b="0" i="0">
                <a:solidFill>
                  <a:srgbClr val="8A2B52"/>
                </a:solidFill>
                <a:latin typeface="Consolas"/>
              </a:rPr>
              <a:t>&lt;script setup&gt;</a:t>
            </a:r>
            <a:r>
              <a:rPr sz="2200" b="0" i="0">
                <a:solidFill>
                  <a:srgbClr val="1F2A36"/>
                </a:solidFill>
              </a:rPr>
              <a:t>. They're </a:t>
            </a:r>
            <a:r>
              <a:rPr sz="2200" b="1" i="0">
                <a:solidFill>
                  <a:srgbClr val="1F2A36"/>
                </a:solidFill>
              </a:rPr>
              <a:t>not imported</a:t>
            </a:r>
            <a:r>
              <a:rPr sz="2200" b="0" i="0">
                <a:solidFill>
                  <a:srgbClr val="1F2A36"/>
                </a:solidFill>
              </a:rPr>
              <a:t> — the compiler handles them.</a:t>
            </a:r>
          </a:p>
          <a:p>
            <a:pPr marL="274320" indent="-256032">
              <a:spcAft>
                <a:spcPts val="990"/>
              </a:spcAft>
              <a:buClr>
                <a:srgbClr val="42B883"/>
              </a:buClr>
              <a:buSzPct val="100000"/>
              <a:buFont typeface="Arial"/>
              <a:buChar char="•"/>
            </a:pPr>
            <a:r>
              <a:rPr sz="2090" b="0" i="0">
                <a:solidFill>
                  <a:srgbClr val="8A2B52"/>
                </a:solidFill>
                <a:latin typeface="Consolas"/>
              </a:rPr>
              <a:t>defineProps({ ... })</a:t>
            </a:r>
            <a:r>
              <a:rPr sz="2200" b="0" i="0">
                <a:solidFill>
                  <a:srgbClr val="1F2A36"/>
                </a:solidFill>
              </a:rPr>
              <a:t> — declare the props</a:t>
            </a:r>
          </a:p>
          <a:p>
            <a:pPr marL="274320" indent="-256032">
              <a:spcAft>
                <a:spcPts val="990"/>
              </a:spcAft>
              <a:buClr>
                <a:srgbClr val="42B883"/>
              </a:buClr>
              <a:buSzPct val="100000"/>
              <a:buFont typeface="Arial"/>
              <a:buChar char="•"/>
            </a:pPr>
            <a:r>
              <a:rPr sz="2090" b="0" i="0">
                <a:solidFill>
                  <a:srgbClr val="8A2B52"/>
                </a:solidFill>
                <a:latin typeface="Consolas"/>
              </a:rPr>
              <a:t>defineEmits(['change'])</a:t>
            </a:r>
            <a:r>
              <a:rPr sz="2200" b="0" i="0">
                <a:solidFill>
                  <a:srgbClr val="1F2A36"/>
                </a:solidFill>
              </a:rPr>
              <a:t> — declare the events</a:t>
            </a:r>
          </a:p>
          <a:p>
            <a:pPr marL="274320" indent="-256032">
              <a:spcAft>
                <a:spcPts val="990"/>
              </a:spcAft>
              <a:buClr>
                <a:srgbClr val="42B883"/>
              </a:buClr>
              <a:buSzPct val="100000"/>
              <a:buFont typeface="Arial"/>
              <a:buChar char="•"/>
            </a:pPr>
            <a:r>
              <a:rPr sz="2090" b="0" i="0">
                <a:solidFill>
                  <a:srgbClr val="8A2B52"/>
                </a:solidFill>
                <a:latin typeface="Consolas"/>
              </a:rPr>
              <a:t>defineModel()</a:t>
            </a:r>
            <a:r>
              <a:rPr sz="2200" b="0" i="0">
                <a:solidFill>
                  <a:srgbClr val="1F2A36"/>
                </a:solidFill>
              </a:rPr>
              <a:t> — a writable </a:t>
            </a:r>
            <a:r>
              <a:rPr sz="2090" b="0" i="0">
                <a:solidFill>
                  <a:srgbClr val="8A2B52"/>
                </a:solidFill>
                <a:latin typeface="Consolas"/>
              </a:rPr>
              <a:t>v-model</a:t>
            </a:r>
            <a:r>
              <a:rPr sz="2200" b="0" i="0">
                <a:solidFill>
                  <a:srgbClr val="1F2A36"/>
                </a:solidFill>
              </a:rPr>
              <a:t> ref (3.4+)</a:t>
            </a:r>
          </a:p>
          <a:p>
            <a:pPr marL="274320" indent="-256032">
              <a:spcAft>
                <a:spcPts val="990"/>
              </a:spcAft>
              <a:buClr>
                <a:srgbClr val="42B883"/>
              </a:buClr>
              <a:buSzPct val="100000"/>
              <a:buFont typeface="Arial"/>
              <a:buChar char="•"/>
            </a:pPr>
            <a:r>
              <a:rPr sz="2090" b="0" i="0">
                <a:solidFill>
                  <a:srgbClr val="8A2B52"/>
                </a:solidFill>
                <a:latin typeface="Consolas"/>
              </a:rPr>
              <a:t>defineExpose({ ... })</a:t>
            </a:r>
            <a:r>
              <a:rPr sz="2200" b="0" i="0">
                <a:solidFill>
                  <a:srgbClr val="1F2A36"/>
                </a:solidFill>
              </a:rPr>
              <a:t> — expose members to a parent's template ref</a:t>
            </a:r>
          </a:p>
          <a:p>
            <a:pPr marL="274320" indent="-256032">
              <a:spcAft>
                <a:spcPts val="990"/>
              </a:spcAft>
              <a:buClr>
                <a:srgbClr val="42B883"/>
              </a:buClr>
              <a:buSzPct val="100000"/>
              <a:buFont typeface="Arial"/>
              <a:buChar char="•"/>
            </a:pPr>
            <a:r>
              <a:rPr sz="2090" b="0" i="0">
                <a:solidFill>
                  <a:srgbClr val="8A2B52"/>
                </a:solidFill>
                <a:latin typeface="Consolas"/>
              </a:rPr>
              <a:t>defineOptions({ ... })</a:t>
            </a:r>
            <a:r>
              <a:rPr sz="2200" b="0" i="0">
                <a:solidFill>
                  <a:srgbClr val="1F2A36"/>
                </a:solidFill>
              </a:rPr>
              <a:t> — set component options such as </a:t>
            </a:r>
            <a:r>
              <a:rPr sz="2090" b="0" i="0">
                <a:solidFill>
                  <a:srgbClr val="8A2B52"/>
                </a:solidFill>
                <a:latin typeface="Consolas"/>
              </a:rPr>
              <a:t>name</a:t>
            </a:r>
          </a:p>
          <a:p>
            <a:pPr marL="274320" indent="-256032">
              <a:spcAft>
                <a:spcPts val="990"/>
              </a:spcAft>
              <a:buClr>
                <a:srgbClr val="42B883"/>
              </a:buClr>
              <a:buSzPct val="100000"/>
              <a:buFont typeface="Arial"/>
              <a:buChar char="•"/>
            </a:pPr>
            <a:r>
              <a:rPr sz="2090" b="0" i="0">
                <a:solidFill>
                  <a:srgbClr val="8A2B52"/>
                </a:solidFill>
                <a:latin typeface="Consolas"/>
              </a:rPr>
              <a:t>withDefaults()</a:t>
            </a:r>
            <a:r>
              <a:rPr sz="2200" b="0" i="0">
                <a:solidFill>
                  <a:srgbClr val="1F2A36"/>
                </a:solidFill>
              </a:rPr>
              <a:t> — default values for TypeScript-declared props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92</a:t>
            </a:fld>
            <a:endParaRPr lang="en-US" sz="900">
              <a:solidFill>
                <a:srgbClr val="9AA7B4"/>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58B05-F62F-7E4D-BB89-E7DC3EA1313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App-level Configuration</a:t>
            </a:r>
          </a:p>
        </p:txBody>
      </p:sp>
      <p:sp>
        <p:nvSpPr>
          <p:cNvPr id="3" name="Code"/>
          <p:cNvSpPr/>
          <p:nvPr/>
        </p:nvSpPr>
        <p:spPr>
          <a:xfrm>
            <a:off x="457200" y="1261872"/>
            <a:ext cx="8229600" cy="175717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24292F"/>
                </a:solidFill>
                <a:latin typeface="Consolas"/>
              </a:rPr>
              <a:t>app.component(</a:t>
            </a:r>
            <a:r>
              <a:rPr sz="1550">
                <a:solidFill>
                  <a:srgbClr val="0A3069"/>
                </a:solidFill>
                <a:latin typeface="Consolas"/>
              </a:rPr>
              <a:t>'BaseButton'</a:t>
            </a:r>
            <a:r>
              <a:rPr sz="1550">
                <a:solidFill>
                  <a:srgbClr val="24292F"/>
                </a:solidFill>
                <a:latin typeface="Consolas"/>
              </a:rPr>
              <a:t>, BaseButton)  </a:t>
            </a:r>
            <a:r>
              <a:rPr sz="1550" i="1">
                <a:solidFill>
                  <a:srgbClr val="6E7781"/>
                </a:solidFill>
                <a:latin typeface="Consolas"/>
              </a:rPr>
              <a:t>// global component</a:t>
            </a:r>
          </a:p>
          <a:p>
            <a:pPr marL="0" indent="0" algn="l">
              <a:lnSpc>
                <a:spcPct val="100000"/>
              </a:lnSpc>
              <a:buNone/>
            </a:pPr>
            <a:r>
              <a:rPr sz="1550">
                <a:solidFill>
                  <a:srgbClr val="24292F"/>
                </a:solidFill>
                <a:latin typeface="Consolas"/>
              </a:rPr>
              <a:t>app.directive(</a:t>
            </a:r>
            <a:r>
              <a:rPr sz="1550">
                <a:solidFill>
                  <a:srgbClr val="0A3069"/>
                </a:solidFill>
                <a:latin typeface="Consolas"/>
              </a:rPr>
              <a:t>'focus'</a:t>
            </a:r>
            <a:r>
              <a:rPr sz="1550">
                <a:solidFill>
                  <a:srgbClr val="24292F"/>
                </a:solidFill>
                <a:latin typeface="Consolas"/>
              </a:rPr>
              <a:t>, vFocus)           </a:t>
            </a:r>
            <a:r>
              <a:rPr sz="1550" i="1">
                <a:solidFill>
                  <a:srgbClr val="6E7781"/>
                </a:solidFill>
                <a:latin typeface="Consolas"/>
              </a:rPr>
              <a:t>// custom directive</a:t>
            </a:r>
          </a:p>
          <a:p>
            <a:pPr marL="0" indent="0" algn="l">
              <a:lnSpc>
                <a:spcPct val="100000"/>
              </a:lnSpc>
              <a:buNone/>
            </a:pPr>
            <a:r>
              <a:rPr sz="1550">
                <a:solidFill>
                  <a:srgbClr val="24292F"/>
                </a:solidFill>
                <a:latin typeface="Consolas"/>
              </a:rPr>
              <a:t>app.use(plugin)                          </a:t>
            </a:r>
            <a:r>
              <a:rPr sz="1550" i="1">
                <a:solidFill>
                  <a:srgbClr val="6E7781"/>
                </a:solidFill>
                <a:latin typeface="Consolas"/>
              </a:rPr>
              <a:t>// install a plugin</a:t>
            </a:r>
          </a:p>
          <a:p>
            <a:pPr marL="0" indent="0" algn="l">
              <a:lnSpc>
                <a:spcPct val="100000"/>
              </a:lnSpc>
              <a:buNone/>
            </a:pPr>
            <a:r>
              <a:rPr sz="1550">
                <a:solidFill>
                  <a:srgbClr val="24292F"/>
                </a:solidFill>
                <a:latin typeface="Consolas"/>
              </a:rPr>
              <a:t>app.provide(</a:t>
            </a:r>
            <a:r>
              <a:rPr sz="1550">
                <a:solidFill>
                  <a:srgbClr val="0A3069"/>
                </a:solidFill>
                <a:latin typeface="Consolas"/>
              </a:rPr>
              <a:t>'apiUrl'</a:t>
            </a:r>
            <a:r>
              <a:rPr sz="1550">
                <a:solidFill>
                  <a:srgbClr val="24292F"/>
                </a:solidFill>
                <a:latin typeface="Consolas"/>
              </a:rPr>
              <a:t>, API_URL)           </a:t>
            </a:r>
            <a:r>
              <a:rPr sz="1550" i="1">
                <a:solidFill>
                  <a:srgbClr val="6E7781"/>
                </a:solidFill>
                <a:latin typeface="Consolas"/>
              </a:rPr>
              <a:t>// for every descendant</a:t>
            </a:r>
          </a:p>
          <a:p>
            <a:pPr marL="0" indent="0" algn="l">
              <a:lnSpc>
                <a:spcPct val="100000"/>
              </a:lnSpc>
              <a:buNone/>
            </a:pPr>
            <a:r>
              <a:rPr sz="1550">
                <a:solidFill>
                  <a:srgbClr val="24292F"/>
                </a:solidFill>
                <a:latin typeface="Consolas"/>
              </a:rPr>
              <a:t>app.config.errorHandler = (err) =&gt; {}    </a:t>
            </a:r>
            <a:r>
              <a:rPr sz="1550" i="1">
                <a:solidFill>
                  <a:srgbClr val="6E7781"/>
                </a:solidFill>
                <a:latin typeface="Consolas"/>
              </a:rPr>
              <a:t>// app-wide errors</a:t>
            </a:r>
          </a:p>
          <a:p>
            <a:pPr marL="0" indent="0" algn="l">
              <a:lnSpc>
                <a:spcPct val="100000"/>
              </a:lnSpc>
              <a:buNone/>
            </a:pPr>
            <a:r>
              <a:rPr sz="1550">
                <a:solidFill>
                  <a:srgbClr val="24292F"/>
                </a:solidFill>
                <a:latin typeface="Consolas"/>
              </a:rPr>
              <a:t>app.mount(</a:t>
            </a:r>
            <a:r>
              <a:rPr sz="1550">
                <a:solidFill>
                  <a:srgbClr val="0A3069"/>
                </a:solidFill>
                <a:latin typeface="Consolas"/>
              </a:rPr>
              <a:t>'#app'</a:t>
            </a:r>
            <a:r>
              <a:rPr sz="1550">
                <a:solidFill>
                  <a:srgbClr val="24292F"/>
                </a:solidFill>
                <a:latin typeface="Consolas"/>
              </a:rPr>
              <a:t>)                        </a:t>
            </a:r>
            <a:r>
              <a:rPr sz="1550" i="1">
                <a:solidFill>
                  <a:srgbClr val="6E7781"/>
                </a:solidFill>
                <a:latin typeface="Consolas"/>
              </a:rPr>
              <a:t>// render it</a:t>
            </a:r>
          </a:p>
        </p:txBody>
      </p:sp>
      <p:sp>
        <p:nvSpPr>
          <p:cNvPr id="4" name="Tip"/>
          <p:cNvSpPr/>
          <p:nvPr/>
        </p:nvSpPr>
        <p:spPr>
          <a:xfrm>
            <a:off x="457200" y="3165348"/>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Vue 2 set all of these on the global </a:t>
            </a:r>
            <a:r>
              <a:rPr sz="1900" b="0" i="0">
                <a:solidFill>
                  <a:srgbClr val="8A2B52"/>
                </a:solidFill>
                <a:latin typeface="Consolas"/>
              </a:rPr>
              <a:t>Vue</a:t>
            </a:r>
            <a:r>
              <a:rPr sz="2000" b="0" i="0">
                <a:solidFill>
                  <a:srgbClr val="1F2A36"/>
                </a:solidFill>
              </a:rPr>
              <a:t>; Vue 3 scopes them to the app instance.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93</a:t>
            </a:fld>
            <a:endParaRPr lang="en-US" sz="900">
              <a:solidFill>
                <a:srgbClr val="9AA7B4"/>
              </a:solidFill>
            </a:endParaRPr>
          </a:p>
        </p:txBody>
      </p:sp>
    </p:spTree>
    <p:extLst>
      <p:ext uri="{BB962C8B-B14F-4D97-AF65-F5344CB8AC3E}">
        <p14:creationId xmlns:p14="http://schemas.microsoft.com/office/powerpoint/2010/main" val="5461529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D341-7EF1-6A4D-A3A2-E190A36569C0}"/>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Vue Template Syntax</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Interpolation, expressions and directives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94</a:t>
            </a:fld>
            <a:endParaRPr lang="en-US" sz="900">
              <a:solidFill>
                <a:srgbClr val="9FB3C4"/>
              </a:solidFill>
            </a:endParaRPr>
          </a:p>
        </p:txBody>
      </p:sp>
    </p:spTree>
    <p:extLst>
      <p:ext uri="{BB962C8B-B14F-4D97-AF65-F5344CB8AC3E}">
        <p14:creationId xmlns:p14="http://schemas.microsoft.com/office/powerpoint/2010/main" val="40511565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DCE4-BE88-6D47-AABB-A705E3AE2D7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Templates</a:t>
            </a:r>
          </a:p>
        </p:txBody>
      </p:sp>
      <p:sp>
        <p:nvSpPr>
          <p:cNvPr id="3" name="Body"/>
          <p:cNvSpPr txBox="1"/>
          <p:nvPr/>
        </p:nvSpPr>
        <p:spPr>
          <a:xfrm>
            <a:off x="457200" y="1261872"/>
            <a:ext cx="8229600" cy="279514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 compiles templates into </a:t>
            </a:r>
            <a:r>
              <a:rPr sz="2200" b="1" i="0">
                <a:solidFill>
                  <a:srgbClr val="1F2A36"/>
                </a:solidFill>
              </a:rPr>
              <a:t>render functions</a:t>
            </a:r>
            <a:r>
              <a:rPr sz="2200" b="0" i="0">
                <a:solidFill>
                  <a:srgbClr val="1F2A36"/>
                </a:solidFill>
              </a:rPr>
              <a:t> that produce virtual DOM</a:t>
            </a:r>
          </a:p>
          <a:p>
            <a:pPr marL="566928" indent="-256032">
              <a:spcAft>
                <a:spcPts val="855"/>
              </a:spcAft>
              <a:buClr>
                <a:srgbClr val="6B7B8C"/>
              </a:buClr>
              <a:buSzPct val="100000"/>
              <a:buFont typeface="Arial"/>
              <a:buChar char="–"/>
            </a:pPr>
            <a:r>
              <a:rPr sz="1900" b="0" i="0">
                <a:solidFill>
                  <a:srgbClr val="3A4A5A"/>
                </a:solidFill>
              </a:rPr>
              <a:t>In a Vite project, at build time; with the global build, in the browser</a:t>
            </a:r>
          </a:p>
          <a:p>
            <a:pPr marL="274320" indent="-256032">
              <a:spcAft>
                <a:spcPts val="990"/>
              </a:spcAft>
              <a:buClr>
                <a:srgbClr val="42B883"/>
              </a:buClr>
              <a:buSzPct val="100000"/>
              <a:buFont typeface="Arial"/>
              <a:buChar char="•"/>
            </a:pPr>
            <a:r>
              <a:rPr sz="2200" b="0" i="0">
                <a:solidFill>
                  <a:srgbClr val="1F2A36"/>
                </a:solidFill>
              </a:rPr>
              <a:t>Templates are usually written in HTML</a:t>
            </a:r>
          </a:p>
          <a:p>
            <a:pPr marL="274320" indent="-256032">
              <a:spcAft>
                <a:spcPts val="990"/>
              </a:spcAft>
              <a:buClr>
                <a:srgbClr val="42B883"/>
              </a:buClr>
              <a:buSzPct val="100000"/>
              <a:buFont typeface="Arial"/>
              <a:buChar char="•"/>
            </a:pPr>
            <a:r>
              <a:rPr sz="2200" b="0" i="0">
                <a:solidFill>
                  <a:srgbClr val="1F2A36"/>
                </a:solidFill>
              </a:rPr>
              <a:t>You can also write render functions in JSX, or in JavaScript with </a:t>
            </a:r>
            <a:r>
              <a:rPr sz="2090" b="0" i="0">
                <a:solidFill>
                  <a:srgbClr val="8A2B52"/>
                </a:solidFill>
                <a:latin typeface="Consolas"/>
              </a:rPr>
              <a:t>h()</a:t>
            </a:r>
          </a:p>
        </p:txBody>
      </p:sp>
      <p:sp>
        <p:nvSpPr>
          <p:cNvPr id="4" name="Code"/>
          <p:cNvSpPr/>
          <p:nvPr/>
        </p:nvSpPr>
        <p:spPr>
          <a:xfrm>
            <a:off x="457200" y="4111879"/>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&lt;template&gt;</a:t>
            </a:r>
          </a:p>
          <a:p>
            <a:pPr marL="0" indent="0" algn="l">
              <a:lnSpc>
                <a:spcPct val="100000"/>
              </a:lnSpc>
              <a:buNone/>
            </a:pPr>
            <a:r>
              <a:rPr sz="2000">
                <a:solidFill>
                  <a:srgbClr val="24292F"/>
                </a:solidFill>
                <a:latin typeface="Consolas"/>
              </a:rPr>
              <a:t>  </a:t>
            </a:r>
            <a:r>
              <a:rPr sz="2000">
                <a:solidFill>
                  <a:srgbClr val="116329"/>
                </a:solidFill>
                <a:latin typeface="Consolas"/>
              </a:rPr>
              <a:t>&lt;h1&gt;</a:t>
            </a:r>
            <a:r>
              <a:rPr sz="2000">
                <a:solidFill>
                  <a:srgbClr val="24292F"/>
                </a:solidFill>
                <a:latin typeface="Consolas"/>
              </a:rPr>
              <a:t>{{ title }}</a:t>
            </a:r>
            <a:r>
              <a:rPr sz="2000">
                <a:solidFill>
                  <a:srgbClr val="116329"/>
                </a:solidFill>
                <a:latin typeface="Consolas"/>
              </a:rPr>
              <a:t>&lt;/h1&gt;</a:t>
            </a:r>
          </a:p>
          <a:p>
            <a:pPr marL="0" indent="0" algn="l">
              <a:lnSpc>
                <a:spcPct val="100000"/>
              </a:lnSpc>
              <a:buNone/>
            </a:pPr>
            <a:r>
              <a:rPr sz="2000">
                <a:solidFill>
                  <a:srgbClr val="116329"/>
                </a:solidFill>
                <a:latin typeface="Consolas"/>
              </a:rPr>
              <a:t>&lt;/template&gt;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95</a:t>
            </a:fld>
            <a:endParaRPr lang="en-US" sz="900">
              <a:solidFill>
                <a:srgbClr val="9AA7B4"/>
              </a:solidFill>
            </a:endParaRPr>
          </a:p>
        </p:txBody>
      </p:sp>
    </p:spTree>
    <p:extLst>
      <p:ext uri="{BB962C8B-B14F-4D97-AF65-F5344CB8AC3E}">
        <p14:creationId xmlns:p14="http://schemas.microsoft.com/office/powerpoint/2010/main" val="15133252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23F1-B5E1-5E47-8C01-F861903E962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HTML in Templates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Mustache syntax (double curly braces) for text interpolation</a:t>
            </a:r>
          </a:p>
        </p:txBody>
      </p:sp>
      <p:sp>
        <p:nvSpPr>
          <p:cNvPr id="4" name="Code"/>
          <p:cNvSpPr/>
          <p:nvPr/>
        </p:nvSpPr>
        <p:spPr>
          <a:xfrm>
            <a:off x="457200" y="2193290"/>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&lt;div&gt;</a:t>
            </a:r>
            <a:r>
              <a:rPr sz="2000">
                <a:solidFill>
                  <a:srgbClr val="24292F"/>
                </a:solidFill>
                <a:latin typeface="Consolas"/>
              </a:rPr>
              <a:t>{{ customerName }}</a:t>
            </a:r>
            <a:r>
              <a:rPr sz="2000">
                <a:solidFill>
                  <a:srgbClr val="116329"/>
                </a:solidFill>
                <a:latin typeface="Consolas"/>
              </a:rPr>
              <a:t>&lt;/div&gt;</a:t>
            </a:r>
          </a:p>
        </p:txBody>
      </p:sp>
      <p:sp>
        <p:nvSpPr>
          <p:cNvPr id="5" name="Body"/>
          <p:cNvSpPr txBox="1"/>
          <p:nvPr/>
        </p:nvSpPr>
        <p:spPr>
          <a:xfrm>
            <a:off x="457200" y="294716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Interpolation always outputs </a:t>
            </a:r>
            <a:r>
              <a:rPr sz="2200" b="1" i="0">
                <a:solidFill>
                  <a:srgbClr val="1F2A36"/>
                </a:solidFill>
              </a:rPr>
              <a:t>plain text</a:t>
            </a:r>
            <a:r>
              <a:rPr sz="2200" b="0" i="0">
                <a:solidFill>
                  <a:srgbClr val="1F2A36"/>
                </a:solidFill>
              </a:rPr>
              <a:t> — HTML is escaped</a:t>
            </a:r>
          </a:p>
          <a:p>
            <a:pPr marL="274320" indent="-256032">
              <a:spcAft>
                <a:spcPts val="990"/>
              </a:spcAft>
              <a:buClr>
                <a:srgbClr val="42B883"/>
              </a:buClr>
              <a:buSzPct val="100000"/>
              <a:buFont typeface="Arial"/>
              <a:buChar char="•"/>
            </a:pPr>
            <a:r>
              <a:rPr sz="2200" b="0" i="0">
                <a:solidFill>
                  <a:srgbClr val="1F2A36"/>
                </a:solidFill>
              </a:rPr>
              <a:t>To output HTML, use the </a:t>
            </a:r>
            <a:r>
              <a:rPr sz="2090" b="0" i="0">
                <a:solidFill>
                  <a:srgbClr val="8A2B52"/>
                </a:solidFill>
                <a:latin typeface="Consolas"/>
              </a:rPr>
              <a:t>v-html</a:t>
            </a:r>
            <a:r>
              <a:rPr sz="2200" b="0" i="0">
                <a:solidFill>
                  <a:srgbClr val="1F2A36"/>
                </a:solidFill>
              </a:rPr>
              <a:t> directive</a:t>
            </a:r>
          </a:p>
        </p:txBody>
      </p:sp>
      <p:sp>
        <p:nvSpPr>
          <p:cNvPr id="6" name="Code"/>
          <p:cNvSpPr/>
          <p:nvPr/>
        </p:nvSpPr>
        <p:spPr>
          <a:xfrm>
            <a:off x="457200" y="4334002"/>
            <a:ext cx="8229600" cy="79654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&lt;p&gt;</a:t>
            </a:r>
            <a:r>
              <a:rPr sz="1600">
                <a:solidFill>
                  <a:srgbClr val="24292F"/>
                </a:solidFill>
                <a:latin typeface="Consolas"/>
              </a:rPr>
              <a:t>{{ info }}</a:t>
            </a:r>
            <a:r>
              <a:rPr sz="1600">
                <a:solidFill>
                  <a:srgbClr val="116329"/>
                </a:solidFill>
                <a:latin typeface="Consolas"/>
              </a:rPr>
              <a:t>&lt;/p&gt;</a:t>
            </a:r>
            <a:r>
              <a:rPr sz="1600">
                <a:solidFill>
                  <a:srgbClr val="24292F"/>
                </a:solidFill>
                <a:latin typeface="Consolas"/>
              </a:rPr>
              <a:t>              </a:t>
            </a:r>
            <a:r>
              <a:rPr sz="1600" i="1">
                <a:solidFill>
                  <a:srgbClr val="6E7781"/>
                </a:solidFill>
                <a:latin typeface="Consolas"/>
              </a:rPr>
              <a:t>&lt;!-- shows the tags as text --&gt;</a:t>
            </a:r>
          </a:p>
          <a:p>
            <a:pPr marL="0" indent="0" algn="l">
              <a:lnSpc>
                <a:spcPct val="100000"/>
              </a:lnSpc>
              <a:buNone/>
            </a:pPr>
            <a:r>
              <a:rPr sz="1600">
                <a:solidFill>
                  <a:srgbClr val="116329"/>
                </a:solidFill>
                <a:latin typeface="Consolas"/>
              </a:rPr>
              <a:t>&lt;p</a:t>
            </a:r>
            <a:r>
              <a:rPr sz="1600">
                <a:solidFill>
                  <a:srgbClr val="24292F"/>
                </a:solidFill>
                <a:latin typeface="Consolas"/>
              </a:rPr>
              <a:t> </a:t>
            </a:r>
            <a:r>
              <a:rPr sz="1600">
                <a:solidFill>
                  <a:srgbClr val="953800"/>
                </a:solidFill>
                <a:latin typeface="Consolas"/>
              </a:rPr>
              <a:t>v-html</a:t>
            </a:r>
            <a:r>
              <a:rPr sz="1600">
                <a:solidFill>
                  <a:srgbClr val="24292F"/>
                </a:solidFill>
                <a:latin typeface="Consolas"/>
              </a:rPr>
              <a:t>=</a:t>
            </a:r>
            <a:r>
              <a:rPr sz="1600">
                <a:solidFill>
                  <a:srgbClr val="0A3069"/>
                </a:solidFill>
                <a:latin typeface="Consolas"/>
              </a:rPr>
              <a:t>"info"</a:t>
            </a:r>
            <a:r>
              <a:rPr sz="1600">
                <a:solidFill>
                  <a:srgbClr val="116329"/>
                </a:solidFill>
                <a:latin typeface="Consolas"/>
              </a:rPr>
              <a:t>&gt;&lt;/p&gt;</a:t>
            </a:r>
            <a:r>
              <a:rPr sz="1600">
                <a:solidFill>
                  <a:srgbClr val="24292F"/>
                </a:solidFill>
                <a:latin typeface="Consolas"/>
              </a:rPr>
              <a:t>          </a:t>
            </a:r>
            <a:r>
              <a:rPr sz="1600" i="1">
                <a:solidFill>
                  <a:srgbClr val="6E7781"/>
                </a:solidFill>
                <a:latin typeface="Consolas"/>
              </a:rPr>
              <a:t>&lt;!-- renders info as HTML --&gt;</a:t>
            </a:r>
          </a:p>
        </p:txBody>
      </p:sp>
      <p:sp>
        <p:nvSpPr>
          <p:cNvPr id="7" name="Tip"/>
          <p:cNvSpPr/>
          <p:nvPr/>
        </p:nvSpPr>
        <p:spPr>
          <a:xfrm>
            <a:off x="457200" y="5276850"/>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Only use </a:t>
            </a:r>
            <a:r>
              <a:rPr sz="1900" b="0" i="0">
                <a:solidFill>
                  <a:srgbClr val="8A2B52"/>
                </a:solidFill>
                <a:latin typeface="Consolas"/>
              </a:rPr>
              <a:t>v-html</a:t>
            </a:r>
            <a:r>
              <a:rPr sz="2000" b="0" i="0">
                <a:solidFill>
                  <a:srgbClr val="1F2A36"/>
                </a:solidFill>
              </a:rPr>
              <a:t> with trusted content: it's an XSS risk.</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96</a:t>
            </a:fld>
            <a:endParaRPr lang="en-US" sz="900">
              <a:solidFill>
                <a:srgbClr val="9AA7B4"/>
              </a:solidFill>
            </a:endParaRPr>
          </a:p>
        </p:txBody>
      </p:sp>
    </p:spTree>
    <p:extLst>
      <p:ext uri="{BB962C8B-B14F-4D97-AF65-F5344CB8AC3E}">
        <p14:creationId xmlns:p14="http://schemas.microsoft.com/office/powerpoint/2010/main" val="4566057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CAD5-2D3B-024D-85AA-86A648D2C920}"/>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JavaScript in Templates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Vue supports any single JavaScript </a:t>
            </a:r>
            <a:r>
              <a:rPr sz="2200" b="1" i="0">
                <a:solidFill>
                  <a:srgbClr val="1F2A36"/>
                </a:solidFill>
              </a:rPr>
              <a:t>expression</a:t>
            </a:r>
            <a:r>
              <a:rPr sz="2200" b="0" i="0">
                <a:solidFill>
                  <a:srgbClr val="1F2A36"/>
                </a:solidFill>
              </a:rPr>
              <a:t> inside templates and bindings.</a:t>
            </a:r>
          </a:p>
        </p:txBody>
      </p:sp>
      <p:sp>
        <p:nvSpPr>
          <p:cNvPr id="4" name="Code"/>
          <p:cNvSpPr/>
          <p:nvPr/>
        </p:nvSpPr>
        <p:spPr>
          <a:xfrm>
            <a:off x="457200" y="2193290"/>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&lt;p&gt;</a:t>
            </a:r>
            <a:r>
              <a:rPr sz="2000">
                <a:solidFill>
                  <a:srgbClr val="24292F"/>
                </a:solidFill>
                <a:latin typeface="Consolas"/>
              </a:rPr>
              <a:t>{{ count + </a:t>
            </a:r>
            <a:r>
              <a:rPr sz="2000">
                <a:solidFill>
                  <a:srgbClr val="0550AE"/>
                </a:solidFill>
                <a:latin typeface="Consolas"/>
              </a:rPr>
              <a:t>1</a:t>
            </a:r>
            <a:r>
              <a:rPr sz="2000">
                <a:solidFill>
                  <a:srgbClr val="24292F"/>
                </a:solidFill>
                <a:latin typeface="Consolas"/>
              </a:rPr>
              <a:t> }}</a:t>
            </a:r>
            <a:r>
              <a:rPr sz="2000">
                <a:solidFill>
                  <a:srgbClr val="116329"/>
                </a:solidFill>
                <a:latin typeface="Consolas"/>
              </a:rPr>
              <a:t>&lt;/p&gt;</a:t>
            </a:r>
          </a:p>
          <a:p>
            <a:pPr marL="0" indent="0" algn="l">
              <a:lnSpc>
                <a:spcPct val="100000"/>
              </a:lnSpc>
              <a:buNone/>
            </a:pPr>
            <a:r>
              <a:rPr sz="2000">
                <a:solidFill>
                  <a:srgbClr val="116329"/>
                </a:solidFill>
                <a:latin typeface="Consolas"/>
              </a:rPr>
              <a:t>&lt;p&gt;</a:t>
            </a:r>
            <a:r>
              <a:rPr sz="2000">
                <a:solidFill>
                  <a:srgbClr val="24292F"/>
                </a:solidFill>
                <a:latin typeface="Consolas"/>
              </a:rPr>
              <a:t>{{ ok ? 'YES' : 'NO' }}</a:t>
            </a:r>
            <a:r>
              <a:rPr sz="2000">
                <a:solidFill>
                  <a:srgbClr val="116329"/>
                </a:solidFill>
                <a:latin typeface="Consolas"/>
              </a:rPr>
              <a:t>&lt;/p&gt;</a:t>
            </a:r>
          </a:p>
          <a:p>
            <a:pPr marL="0" indent="0" algn="l">
              <a:lnSpc>
                <a:spcPct val="100000"/>
              </a:lnSpc>
              <a:buNone/>
            </a:pPr>
            <a:r>
              <a:rPr sz="2000">
                <a:solidFill>
                  <a:srgbClr val="116329"/>
                </a:solidFill>
                <a:latin typeface="Consolas"/>
              </a:rPr>
              <a:t>&lt;p&gt;</a:t>
            </a:r>
            <a:r>
              <a:rPr sz="2000">
                <a:solidFill>
                  <a:srgbClr val="24292F"/>
                </a:solidFill>
                <a:latin typeface="Consolas"/>
              </a:rPr>
              <a:t>{{ message.split('').reverse().join('') }}</a:t>
            </a:r>
            <a:r>
              <a:rPr sz="2000">
                <a:solidFill>
                  <a:srgbClr val="116329"/>
                </a:solidFill>
                <a:latin typeface="Consolas"/>
              </a:rPr>
              <a:t>&lt;/p&gt;</a:t>
            </a:r>
          </a:p>
          <a:p>
            <a:pPr marL="0" indent="0" algn="l">
              <a:lnSpc>
                <a:spcPct val="100000"/>
              </a:lnSpc>
              <a:buNone/>
            </a:pPr>
            <a:r>
              <a:rPr sz="2000">
                <a:solidFill>
                  <a:srgbClr val="116329"/>
                </a:solidFill>
                <a:latin typeface="Consolas"/>
              </a:rPr>
              <a:t>&lt;div</a:t>
            </a:r>
            <a:r>
              <a:rPr sz="2000">
                <a:solidFill>
                  <a:srgbClr val="24292F"/>
                </a:solidFill>
                <a:latin typeface="Consolas"/>
              </a:rPr>
              <a:t> </a:t>
            </a:r>
            <a:r>
              <a:rPr sz="2000">
                <a:solidFill>
                  <a:srgbClr val="953800"/>
                </a:solidFill>
                <a:latin typeface="Consolas"/>
              </a:rPr>
              <a:t>:id</a:t>
            </a:r>
            <a:r>
              <a:rPr sz="2000">
                <a:solidFill>
                  <a:srgbClr val="24292F"/>
                </a:solidFill>
                <a:latin typeface="Consolas"/>
              </a:rPr>
              <a:t>=</a:t>
            </a:r>
            <a:r>
              <a:rPr sz="2000">
                <a:solidFill>
                  <a:srgbClr val="0A3069"/>
                </a:solidFill>
                <a:latin typeface="Consolas"/>
              </a:rPr>
              <a:t>"'list-' + id"</a:t>
            </a:r>
            <a:r>
              <a:rPr sz="2000">
                <a:solidFill>
                  <a:srgbClr val="116329"/>
                </a:solidFill>
                <a:latin typeface="Consolas"/>
              </a:rPr>
              <a:t>&gt;&lt;/div&gt;</a:t>
            </a:r>
          </a:p>
        </p:txBody>
      </p:sp>
      <p:sp>
        <p:nvSpPr>
          <p:cNvPr id="5" name="Body"/>
          <p:cNvSpPr txBox="1"/>
          <p:nvPr/>
        </p:nvSpPr>
        <p:spPr>
          <a:xfrm>
            <a:off x="457200" y="389204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Expressions only: no statements (</a:t>
            </a:r>
            <a:r>
              <a:rPr sz="2090" b="0" i="0">
                <a:solidFill>
                  <a:srgbClr val="8A2B52"/>
                </a:solidFill>
                <a:latin typeface="Consolas"/>
              </a:rPr>
              <a:t>let</a:t>
            </a:r>
            <a:r>
              <a:rPr sz="2200" b="0" i="0">
                <a:solidFill>
                  <a:srgbClr val="1F2A36"/>
                </a:solidFill>
              </a:rPr>
              <a:t>, </a:t>
            </a:r>
            <a:r>
              <a:rPr sz="2090" b="0" i="0">
                <a:solidFill>
                  <a:srgbClr val="8A2B52"/>
                </a:solidFill>
                <a:latin typeface="Consolas"/>
              </a:rPr>
              <a:t>if</a:t>
            </a:r>
            <a:r>
              <a:rPr sz="2200" b="0" i="0">
                <a:solidFill>
                  <a:srgbClr val="1F2A36"/>
                </a:solidFill>
              </a:rPr>
              <a:t>, loops)</a:t>
            </a:r>
          </a:p>
          <a:p>
            <a:pPr marL="274320" indent="-256032">
              <a:spcAft>
                <a:spcPts val="990"/>
              </a:spcAft>
              <a:buClr>
                <a:srgbClr val="42B883"/>
              </a:buClr>
              <a:buSzPct val="100000"/>
              <a:buFont typeface="Arial"/>
              <a:buChar char="•"/>
            </a:pPr>
            <a:r>
              <a:rPr sz="2200" b="0" i="0">
                <a:solidFill>
                  <a:srgbClr val="1F2A36"/>
                </a:solidFill>
              </a:rPr>
              <a:t>Keep them short — move logic into a computed property</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97</a:t>
            </a:fld>
            <a:endParaRPr lang="en-US" sz="900">
              <a:solidFill>
                <a:srgbClr val="9AA7B4"/>
              </a:solidFill>
            </a:endParaRPr>
          </a:p>
        </p:txBody>
      </p:sp>
    </p:spTree>
    <p:extLst>
      <p:ext uri="{BB962C8B-B14F-4D97-AF65-F5344CB8AC3E}">
        <p14:creationId xmlns:p14="http://schemas.microsoft.com/office/powerpoint/2010/main" val="302643972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8C372B-37EB-CC4A-B0A7-3EDB3583AA0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Vue.js Directives</a:t>
            </a:r>
          </a:p>
        </p:txBody>
      </p:sp>
      <p:sp>
        <p:nvSpPr>
          <p:cNvPr id="5"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Special attributes that take a JavaScript expression as their value</a:t>
            </a:r>
          </a:p>
          <a:p>
            <a:pPr marL="274320" indent="-256032">
              <a:spcAft>
                <a:spcPts val="990"/>
              </a:spcAft>
              <a:buClr>
                <a:srgbClr val="42B883"/>
              </a:buClr>
              <a:buSzPct val="100000"/>
              <a:buFont typeface="Arial"/>
              <a:buChar char="•"/>
            </a:pPr>
            <a:r>
              <a:rPr sz="2200" b="0" i="0">
                <a:solidFill>
                  <a:srgbClr val="1F2A36"/>
                </a:solidFill>
              </a:rPr>
              <a:t>Prefixed with </a:t>
            </a:r>
            <a:r>
              <a:rPr sz="2090" b="0" i="0">
                <a:solidFill>
                  <a:srgbClr val="8A2B52"/>
                </a:solidFill>
                <a:latin typeface="Consolas"/>
              </a:rPr>
              <a:t>v-</a:t>
            </a:r>
            <a:r>
              <a:rPr sz="2200" b="0" i="0">
                <a:solidFill>
                  <a:srgbClr val="1F2A36"/>
                </a:solidFill>
              </a:rPr>
              <a:t> followed by the directive name</a:t>
            </a:r>
          </a:p>
        </p:txBody>
      </p:sp>
      <p:sp>
        <p:nvSpPr>
          <p:cNvPr id="6" name="Code"/>
          <p:cNvSpPr/>
          <p:nvPr/>
        </p:nvSpPr>
        <p:spPr>
          <a:xfrm>
            <a:off x="457200" y="2648712"/>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&lt;div</a:t>
            </a:r>
            <a:r>
              <a:rPr sz="2000">
                <a:solidFill>
                  <a:srgbClr val="24292F"/>
                </a:solidFill>
                <a:latin typeface="Consolas"/>
              </a:rPr>
              <a:t> </a:t>
            </a:r>
            <a:r>
              <a:rPr sz="2000">
                <a:solidFill>
                  <a:srgbClr val="953800"/>
                </a:solidFill>
                <a:latin typeface="Consolas"/>
              </a:rPr>
              <a:t>v-if</a:t>
            </a:r>
            <a:r>
              <a:rPr sz="2000">
                <a:solidFill>
                  <a:srgbClr val="24292F"/>
                </a:solidFill>
                <a:latin typeface="Consolas"/>
              </a:rPr>
              <a:t>=</a:t>
            </a:r>
            <a:r>
              <a:rPr sz="2000">
                <a:solidFill>
                  <a:srgbClr val="0A3069"/>
                </a:solidFill>
                <a:latin typeface="Consolas"/>
              </a:rPr>
              <a:t>"test"</a:t>
            </a:r>
            <a:r>
              <a:rPr sz="2000">
                <a:solidFill>
                  <a:srgbClr val="116329"/>
                </a:solidFill>
                <a:latin typeface="Consolas"/>
              </a:rPr>
              <a:t>&gt;</a:t>
            </a:r>
            <a:r>
              <a:rPr sz="2000">
                <a:solidFill>
                  <a:srgbClr val="24292F"/>
                </a:solidFill>
                <a:latin typeface="Consolas"/>
              </a:rPr>
              <a:t>The test is true</a:t>
            </a:r>
            <a:r>
              <a:rPr sz="2000">
                <a:solidFill>
                  <a:srgbClr val="116329"/>
                </a:solidFill>
                <a:latin typeface="Consolas"/>
              </a:rPr>
              <a:t>&lt;/div&gt;</a:t>
            </a:r>
          </a:p>
        </p:txBody>
      </p:sp>
      <p:sp>
        <p:nvSpPr>
          <p:cNvPr id="7" name="Body"/>
          <p:cNvSpPr txBox="1"/>
          <p:nvPr/>
        </p:nvSpPr>
        <p:spPr>
          <a:xfrm>
            <a:off x="457200" y="3402584"/>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When the value of the expression changes, Vue updates the DOM</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98</a:t>
            </a:fld>
            <a:endParaRPr lang="en-US" sz="900">
              <a:solidFill>
                <a:srgbClr val="9AA7B4"/>
              </a:solidFill>
            </a:endParaRPr>
          </a:p>
        </p:txBody>
      </p:sp>
    </p:spTree>
    <p:extLst>
      <p:ext uri="{BB962C8B-B14F-4D97-AF65-F5344CB8AC3E}">
        <p14:creationId xmlns:p14="http://schemas.microsoft.com/office/powerpoint/2010/main" val="3477922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E81-8D2D-A64A-B376-61DC734A2DC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Directive Arguments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Some directives take an </a:t>
            </a:r>
            <a:r>
              <a:rPr sz="2200" b="1" i="0">
                <a:solidFill>
                  <a:srgbClr val="1F2A36"/>
                </a:solidFill>
              </a:rPr>
              <a:t>argument</a:t>
            </a:r>
            <a:r>
              <a:rPr sz="2200" b="0" i="0">
                <a:solidFill>
                  <a:srgbClr val="1F2A36"/>
                </a:solidFill>
              </a:rPr>
              <a:t>, written after a colon</a:t>
            </a:r>
          </a:p>
        </p:txBody>
      </p:sp>
      <p:sp>
        <p:nvSpPr>
          <p:cNvPr id="4" name="Code"/>
          <p:cNvSpPr/>
          <p:nvPr/>
        </p:nvSpPr>
        <p:spPr>
          <a:xfrm>
            <a:off x="457200" y="1863597"/>
            <a:ext cx="8229600" cy="9067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a:solidFill>
                  <a:srgbClr val="116329"/>
                </a:solidFill>
                <a:latin typeface="Consolas"/>
              </a:rPr>
              <a:t>&lt;button</a:t>
            </a:r>
            <a:r>
              <a:rPr sz="1950">
                <a:solidFill>
                  <a:srgbClr val="24292F"/>
                </a:solidFill>
                <a:latin typeface="Consolas"/>
              </a:rPr>
              <a:t> </a:t>
            </a:r>
            <a:r>
              <a:rPr sz="1950">
                <a:solidFill>
                  <a:srgbClr val="953800"/>
                </a:solidFill>
                <a:latin typeface="Consolas"/>
              </a:rPr>
              <a:t>v-on:click</a:t>
            </a:r>
            <a:r>
              <a:rPr sz="1950">
                <a:solidFill>
                  <a:srgbClr val="24292F"/>
                </a:solidFill>
                <a:latin typeface="Consolas"/>
              </a:rPr>
              <a:t>=</a:t>
            </a:r>
            <a:r>
              <a:rPr sz="1950">
                <a:solidFill>
                  <a:srgbClr val="0A3069"/>
                </a:solidFill>
                <a:latin typeface="Consolas"/>
              </a:rPr>
              <a:t>"doSomething"</a:t>
            </a:r>
            <a:r>
              <a:rPr sz="1950">
                <a:solidFill>
                  <a:srgbClr val="116329"/>
                </a:solidFill>
                <a:latin typeface="Consolas"/>
              </a:rPr>
              <a:t>&gt;</a:t>
            </a:r>
            <a:r>
              <a:rPr sz="1950">
                <a:solidFill>
                  <a:srgbClr val="24292F"/>
                </a:solidFill>
                <a:latin typeface="Consolas"/>
              </a:rPr>
              <a:t>Click Me</a:t>
            </a:r>
            <a:r>
              <a:rPr sz="1950">
                <a:solidFill>
                  <a:srgbClr val="116329"/>
                </a:solidFill>
                <a:latin typeface="Consolas"/>
              </a:rPr>
              <a:t>&lt;/button&gt;</a:t>
            </a:r>
          </a:p>
          <a:p>
            <a:pPr marL="0" indent="0" algn="l">
              <a:lnSpc>
                <a:spcPct val="100000"/>
              </a:lnSpc>
              <a:buNone/>
            </a:pPr>
            <a:r>
              <a:rPr sz="1950">
                <a:solidFill>
                  <a:srgbClr val="116329"/>
                </a:solidFill>
                <a:latin typeface="Consolas"/>
              </a:rPr>
              <a:t>&lt;a</a:t>
            </a:r>
            <a:r>
              <a:rPr sz="1950">
                <a:solidFill>
                  <a:srgbClr val="24292F"/>
                </a:solidFill>
                <a:latin typeface="Consolas"/>
              </a:rPr>
              <a:t> </a:t>
            </a:r>
            <a:r>
              <a:rPr sz="1950">
                <a:solidFill>
                  <a:srgbClr val="953800"/>
                </a:solidFill>
                <a:latin typeface="Consolas"/>
              </a:rPr>
              <a:t>v-bind:href</a:t>
            </a:r>
            <a:r>
              <a:rPr sz="1950">
                <a:solidFill>
                  <a:srgbClr val="24292F"/>
                </a:solidFill>
                <a:latin typeface="Consolas"/>
              </a:rPr>
              <a:t>=</a:t>
            </a:r>
            <a:r>
              <a:rPr sz="1950">
                <a:solidFill>
                  <a:srgbClr val="0A3069"/>
                </a:solidFill>
                <a:latin typeface="Consolas"/>
              </a:rPr>
              <a:t>"url"</a:t>
            </a:r>
            <a:r>
              <a:rPr sz="1950">
                <a:solidFill>
                  <a:srgbClr val="116329"/>
                </a:solidFill>
                <a:latin typeface="Consolas"/>
              </a:rPr>
              <a:t>&gt;</a:t>
            </a:r>
            <a:r>
              <a:rPr sz="1950">
                <a:solidFill>
                  <a:srgbClr val="24292F"/>
                </a:solidFill>
                <a:latin typeface="Consolas"/>
              </a:rPr>
              <a:t>Link</a:t>
            </a:r>
            <a:r>
              <a:rPr sz="1950">
                <a:solidFill>
                  <a:srgbClr val="116329"/>
                </a:solidFill>
                <a:latin typeface="Consolas"/>
              </a:rPr>
              <a:t>&lt;/a&gt;</a:t>
            </a:r>
          </a:p>
        </p:txBody>
      </p:sp>
      <p:sp>
        <p:nvSpPr>
          <p:cNvPr id="5" name="Body"/>
          <p:cNvSpPr txBox="1"/>
          <p:nvPr/>
        </p:nvSpPr>
        <p:spPr>
          <a:xfrm>
            <a:off x="457200" y="2916682"/>
            <a:ext cx="8229600" cy="178739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v-on:click</a:t>
            </a:r>
            <a:r>
              <a:rPr sz="2200" b="0" i="0">
                <a:solidFill>
                  <a:srgbClr val="1F2A36"/>
                </a:solidFill>
              </a:rPr>
              <a:t> — the argument is the event name</a:t>
            </a:r>
          </a:p>
          <a:p>
            <a:pPr marL="274320" indent="-256032">
              <a:spcAft>
                <a:spcPts val="990"/>
              </a:spcAft>
              <a:buClr>
                <a:srgbClr val="42B883"/>
              </a:buClr>
              <a:buSzPct val="100000"/>
              <a:buFont typeface="Arial"/>
              <a:buChar char="•"/>
            </a:pPr>
            <a:r>
              <a:rPr sz="2090" b="0" i="0">
                <a:solidFill>
                  <a:srgbClr val="8A2B52"/>
                </a:solidFill>
                <a:latin typeface="Consolas"/>
              </a:rPr>
              <a:t>v-bind:href</a:t>
            </a:r>
            <a:r>
              <a:rPr sz="2200" b="0" i="0">
                <a:solidFill>
                  <a:srgbClr val="1F2A36"/>
                </a:solidFill>
              </a:rPr>
              <a:t> — the argument is the attribute name</a:t>
            </a:r>
          </a:p>
          <a:p>
            <a:pPr marL="274320" indent="-256032">
              <a:spcAft>
                <a:spcPts val="990"/>
              </a:spcAft>
              <a:buClr>
                <a:srgbClr val="42B883"/>
              </a:buClr>
              <a:buSzPct val="100000"/>
              <a:buFont typeface="Arial"/>
              <a:buChar char="•"/>
            </a:pPr>
            <a:r>
              <a:rPr sz="2200" b="0" i="0">
                <a:solidFill>
                  <a:srgbClr val="1F2A36"/>
                </a:solidFill>
              </a:rPr>
              <a:t>Arguments can be dynamic: </a:t>
            </a:r>
            <a:r>
              <a:rPr sz="2090" b="0" i="0">
                <a:solidFill>
                  <a:srgbClr val="8A2B52"/>
                </a:solidFill>
                <a:latin typeface="Consolas"/>
              </a:rPr>
              <a:t>v-bind:[attrName]="value"</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99</a:t>
            </a:fld>
            <a:endParaRPr lang="en-US" sz="900">
              <a:solidFill>
                <a:srgbClr val="9AA7B4"/>
              </a:solidFill>
            </a:endParaRPr>
          </a:p>
        </p:txBody>
      </p:sp>
    </p:spTree>
    <p:extLst>
      <p:ext uri="{BB962C8B-B14F-4D97-AF65-F5344CB8AC3E}">
        <p14:creationId xmlns:p14="http://schemas.microsoft.com/office/powerpoint/2010/main" val="24987879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C03F-6608-E840-AC12-2973AA274399}"/>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Directive Modifiers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Modifiers</a:t>
            </a:r>
            <a:r>
              <a:rPr sz="2200" b="0" i="0">
                <a:solidFill>
                  <a:srgbClr val="1F2A36"/>
                </a:solidFill>
              </a:rPr>
              <a:t> change how a directive is bound</a:t>
            </a:r>
          </a:p>
          <a:p>
            <a:pPr marL="274320" indent="-256032">
              <a:spcAft>
                <a:spcPts val="990"/>
              </a:spcAft>
              <a:buClr>
                <a:srgbClr val="42B883"/>
              </a:buClr>
              <a:buSzPct val="100000"/>
              <a:buFont typeface="Arial"/>
              <a:buChar char="•"/>
            </a:pPr>
            <a:r>
              <a:rPr sz="2200" b="0" i="0">
                <a:solidFill>
                  <a:srgbClr val="1F2A36"/>
                </a:solidFill>
              </a:rPr>
              <a:t>They follow a </a:t>
            </a:r>
            <a:r>
              <a:rPr sz="2090" b="0" i="0">
                <a:solidFill>
                  <a:srgbClr val="8A2B52"/>
                </a:solidFill>
                <a:latin typeface="Consolas"/>
              </a:rPr>
              <a:t>.</a:t>
            </a:r>
            <a:r>
              <a:rPr sz="2200" b="0" i="0">
                <a:solidFill>
                  <a:srgbClr val="1F2A36"/>
                </a:solidFill>
              </a:rPr>
              <a:t> after the argument</a:t>
            </a:r>
          </a:p>
        </p:txBody>
      </p:sp>
      <p:sp>
        <p:nvSpPr>
          <p:cNvPr id="4" name="Code"/>
          <p:cNvSpPr/>
          <p:nvPr/>
        </p:nvSpPr>
        <p:spPr>
          <a:xfrm>
            <a:off x="457200" y="2319020"/>
            <a:ext cx="8229600" cy="59969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a:solidFill>
                  <a:srgbClr val="116329"/>
                </a:solidFill>
                <a:latin typeface="Consolas"/>
              </a:rPr>
              <a:t>&lt;form</a:t>
            </a:r>
            <a:r>
              <a:rPr sz="1950">
                <a:solidFill>
                  <a:srgbClr val="24292F"/>
                </a:solidFill>
                <a:latin typeface="Consolas"/>
              </a:rPr>
              <a:t> </a:t>
            </a:r>
            <a:r>
              <a:rPr sz="1950">
                <a:solidFill>
                  <a:srgbClr val="953800"/>
                </a:solidFill>
                <a:latin typeface="Consolas"/>
              </a:rPr>
              <a:t>v-on:submit.prevent</a:t>
            </a:r>
            <a:r>
              <a:rPr sz="1950">
                <a:solidFill>
                  <a:srgbClr val="24292F"/>
                </a:solidFill>
                <a:latin typeface="Consolas"/>
              </a:rPr>
              <a:t>=</a:t>
            </a:r>
            <a:r>
              <a:rPr sz="1950">
                <a:solidFill>
                  <a:srgbClr val="0A3069"/>
                </a:solidFill>
                <a:latin typeface="Consolas"/>
              </a:rPr>
              <a:t>"doSomething"</a:t>
            </a:r>
            <a:r>
              <a:rPr sz="1950">
                <a:solidFill>
                  <a:srgbClr val="116329"/>
                </a:solidFill>
                <a:latin typeface="Consolas"/>
              </a:rPr>
              <a:t>&gt;</a:t>
            </a:r>
            <a:r>
              <a:rPr sz="1950">
                <a:solidFill>
                  <a:srgbClr val="24292F"/>
                </a:solidFill>
                <a:latin typeface="Consolas"/>
              </a:rPr>
              <a:t>...</a:t>
            </a:r>
            <a:r>
              <a:rPr sz="1950">
                <a:solidFill>
                  <a:srgbClr val="116329"/>
                </a:solidFill>
                <a:latin typeface="Consolas"/>
              </a:rPr>
              <a:t>&lt;/form&gt;</a:t>
            </a:r>
          </a:p>
        </p:txBody>
      </p:sp>
      <p:sp>
        <p:nvSpPr>
          <p:cNvPr id="5" name="Body"/>
          <p:cNvSpPr txBox="1"/>
          <p:nvPr/>
        </p:nvSpPr>
        <p:spPr>
          <a:xfrm>
            <a:off x="457200" y="3065018"/>
            <a:ext cx="8229600" cy="166166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.prevent</a:t>
            </a:r>
            <a:r>
              <a:rPr sz="2200" b="0" i="0">
                <a:solidFill>
                  <a:srgbClr val="1F2A36"/>
                </a:solidFill>
              </a:rPr>
              <a:t> calls </a:t>
            </a:r>
            <a:r>
              <a:rPr sz="2090" b="0" i="0">
                <a:solidFill>
                  <a:srgbClr val="8A2B52"/>
                </a:solidFill>
                <a:latin typeface="Consolas"/>
              </a:rPr>
              <a:t>event.preventDefault()</a:t>
            </a:r>
            <a:r>
              <a:rPr sz="2200" b="0" i="0">
                <a:solidFill>
                  <a:srgbClr val="1F2A36"/>
                </a:solidFill>
              </a:rPr>
              <a:t> before calling </a:t>
            </a:r>
            <a:r>
              <a:rPr sz="2090" b="0" i="0">
                <a:solidFill>
                  <a:srgbClr val="8A2B52"/>
                </a:solidFill>
                <a:latin typeface="Consolas"/>
              </a:rPr>
              <a:t>doSomething</a:t>
            </a:r>
            <a:r>
              <a:rPr sz="2200" b="0" i="0">
                <a:solidFill>
                  <a:srgbClr val="1F2A36"/>
                </a:solidFill>
              </a:rPr>
              <a:t>, so the browser doesn't submit and reload the page</a:t>
            </a:r>
          </a:p>
          <a:p>
            <a:pPr marL="274320" indent="-256032">
              <a:spcAft>
                <a:spcPts val="990"/>
              </a:spcAft>
              <a:buClr>
                <a:srgbClr val="42B883"/>
              </a:buClr>
              <a:buSzPct val="100000"/>
              <a:buFont typeface="Arial"/>
              <a:buChar char="•"/>
            </a:pPr>
            <a:r>
              <a:rPr sz="2200" b="0" i="0">
                <a:solidFill>
                  <a:srgbClr val="1F2A36"/>
                </a:solidFill>
              </a:rPr>
              <a:t>Modifiers can be chained: </a:t>
            </a:r>
            <a:r>
              <a:rPr sz="2090" b="0" i="0">
                <a:solidFill>
                  <a:srgbClr val="8A2B52"/>
                </a:solidFill>
                <a:latin typeface="Consolas"/>
              </a:rPr>
              <a:t>@click.stop.prevent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100</a:t>
            </a:fld>
            <a:endParaRPr lang="en-US" sz="900">
              <a:solidFill>
                <a:srgbClr val="9AA7B4"/>
              </a:solidFill>
            </a:endParaRPr>
          </a:p>
        </p:txBody>
      </p:sp>
    </p:spTree>
    <p:extLst>
      <p:ext uri="{BB962C8B-B14F-4D97-AF65-F5344CB8AC3E}">
        <p14:creationId xmlns:p14="http://schemas.microsoft.com/office/powerpoint/2010/main" val="12214230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2A31-5DD9-594D-9E9D-BCEE8D03FE4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Vue.js Built-in Directives</a:t>
            </a:r>
          </a:p>
        </p:txBody>
      </p:sp>
      <p:sp>
        <p:nvSpPr>
          <p:cNvPr id="3" name="Body"/>
          <p:cNvSpPr txBox="1"/>
          <p:nvPr/>
        </p:nvSpPr>
        <p:spPr>
          <a:xfrm>
            <a:off x="457200" y="1261872"/>
            <a:ext cx="3954780" cy="4444492"/>
          </a:xfrm>
          <a:prstGeom prst="rect">
            <a:avLst/>
          </a:prstGeom>
          <a:noFill/>
        </p:spPr>
        <p:txBody>
          <a:bodyPr wrap="square" lIns="0" tIns="0" rIns="0" bIns="0">
            <a:noAutofit/>
          </a:bodyPr>
          <a:lstStyle/>
          <a:p>
            <a:pPr marL="0" indent="0">
              <a:spcAft>
                <a:spcPts val="769"/>
              </a:spcAft>
              <a:buNone/>
            </a:pPr>
            <a:r>
              <a:rPr sz="2200" b="1" i="0">
                <a:solidFill>
                  <a:srgbClr val="2E8B62"/>
                </a:solidFill>
              </a:rPr>
              <a:t>Most used</a:t>
            </a:r>
          </a:p>
          <a:p>
            <a:pPr marL="274320" indent="-256032">
              <a:spcAft>
                <a:spcPts val="990"/>
              </a:spcAft>
              <a:buClr>
                <a:srgbClr val="42B883"/>
              </a:buClr>
              <a:buSzPct val="100000"/>
              <a:buFont typeface="Arial"/>
              <a:buChar char="•"/>
            </a:pPr>
            <a:r>
              <a:rPr sz="2090" b="0" i="0">
                <a:solidFill>
                  <a:srgbClr val="8A2B52"/>
                </a:solidFill>
                <a:latin typeface="Consolas"/>
              </a:rPr>
              <a:t>v-bind</a:t>
            </a:r>
            <a:r>
              <a:rPr sz="2200" b="0" i="0">
                <a:solidFill>
                  <a:srgbClr val="1F2A36"/>
                </a:solidFill>
              </a:rPr>
              <a:t> — bind attributes to data</a:t>
            </a:r>
          </a:p>
          <a:p>
            <a:pPr marL="274320" indent="-256032">
              <a:spcAft>
                <a:spcPts val="990"/>
              </a:spcAft>
              <a:buClr>
                <a:srgbClr val="42B883"/>
              </a:buClr>
              <a:buSzPct val="100000"/>
              <a:buFont typeface="Arial"/>
              <a:buChar char="•"/>
            </a:pPr>
            <a:r>
              <a:rPr sz="2090" b="0" i="0">
                <a:solidFill>
                  <a:srgbClr val="8A2B52"/>
                </a:solidFill>
                <a:latin typeface="Consolas"/>
              </a:rPr>
              <a:t>v-if</a:t>
            </a:r>
            <a:r>
              <a:rPr sz="2200" b="0" i="0">
                <a:solidFill>
                  <a:srgbClr val="1F2A36"/>
                </a:solidFill>
              </a:rPr>
              <a:t> / </a:t>
            </a:r>
            <a:r>
              <a:rPr sz="2090" b="0" i="0">
                <a:solidFill>
                  <a:srgbClr val="8A2B52"/>
                </a:solidFill>
                <a:latin typeface="Consolas"/>
              </a:rPr>
              <a:t>v-else-if</a:t>
            </a:r>
            <a:r>
              <a:rPr sz="2200" b="0" i="0">
                <a:solidFill>
                  <a:srgbClr val="1F2A36"/>
                </a:solidFill>
              </a:rPr>
              <a:t> / </a:t>
            </a:r>
            <a:r>
              <a:rPr sz="2090" b="0" i="0">
                <a:solidFill>
                  <a:srgbClr val="8A2B52"/>
                </a:solidFill>
                <a:latin typeface="Consolas"/>
              </a:rPr>
              <a:t>v-else</a:t>
            </a:r>
            <a:r>
              <a:rPr sz="2200" b="0" i="0">
                <a:solidFill>
                  <a:srgbClr val="1F2A36"/>
                </a:solidFill>
              </a:rPr>
              <a:t> — conditional rendering</a:t>
            </a:r>
          </a:p>
          <a:p>
            <a:pPr marL="274320" indent="-256032">
              <a:spcAft>
                <a:spcPts val="990"/>
              </a:spcAft>
              <a:buClr>
                <a:srgbClr val="42B883"/>
              </a:buClr>
              <a:buSzPct val="100000"/>
              <a:buFont typeface="Arial"/>
              <a:buChar char="•"/>
            </a:pPr>
            <a:r>
              <a:rPr sz="2090" b="0" i="0">
                <a:solidFill>
                  <a:srgbClr val="8A2B52"/>
                </a:solidFill>
                <a:latin typeface="Consolas"/>
              </a:rPr>
              <a:t>v-for</a:t>
            </a:r>
            <a:r>
              <a:rPr sz="2200" b="0" i="0">
                <a:solidFill>
                  <a:srgbClr val="1F2A36"/>
                </a:solidFill>
              </a:rPr>
              <a:t> — loop over arrays and objects</a:t>
            </a:r>
          </a:p>
          <a:p>
            <a:pPr marL="274320" indent="-256032">
              <a:spcAft>
                <a:spcPts val="990"/>
              </a:spcAft>
              <a:buClr>
                <a:srgbClr val="42B883"/>
              </a:buClr>
              <a:buSzPct val="100000"/>
              <a:buFont typeface="Arial"/>
              <a:buChar char="•"/>
            </a:pPr>
            <a:r>
              <a:rPr sz="2090" b="0" i="0">
                <a:solidFill>
                  <a:srgbClr val="8A2B52"/>
                </a:solidFill>
                <a:latin typeface="Consolas"/>
              </a:rPr>
              <a:t>v-on</a:t>
            </a:r>
            <a:r>
              <a:rPr sz="2200" b="0" i="0">
                <a:solidFill>
                  <a:srgbClr val="1F2A36"/>
                </a:solidFill>
              </a:rPr>
              <a:t> — event handling</a:t>
            </a:r>
          </a:p>
          <a:p>
            <a:pPr marL="274320" indent="-256032">
              <a:spcAft>
                <a:spcPts val="990"/>
              </a:spcAft>
              <a:buClr>
                <a:srgbClr val="42B883"/>
              </a:buClr>
              <a:buSzPct val="100000"/>
              <a:buFont typeface="Arial"/>
              <a:buChar char="•"/>
            </a:pPr>
            <a:r>
              <a:rPr sz="2090" b="0" i="0">
                <a:solidFill>
                  <a:srgbClr val="8A2B52"/>
                </a:solidFill>
                <a:latin typeface="Consolas"/>
              </a:rPr>
              <a:t>v-model</a:t>
            </a:r>
            <a:r>
              <a:rPr sz="2200" b="0" i="0">
                <a:solidFill>
                  <a:srgbClr val="1F2A36"/>
                </a:solidFill>
              </a:rPr>
              <a:t> — two-way binding for inputs</a:t>
            </a:r>
          </a:p>
        </p:txBody>
      </p:sp>
      <p:sp>
        <p:nvSpPr>
          <p:cNvPr id="4" name="Body"/>
          <p:cNvSpPr txBox="1"/>
          <p:nvPr/>
        </p:nvSpPr>
        <p:spPr>
          <a:xfrm>
            <a:off x="4732020" y="1261872"/>
            <a:ext cx="3954780" cy="4114799"/>
          </a:xfrm>
          <a:prstGeom prst="rect">
            <a:avLst/>
          </a:prstGeom>
          <a:noFill/>
        </p:spPr>
        <p:txBody>
          <a:bodyPr wrap="square" lIns="0" tIns="0" rIns="0" bIns="0">
            <a:noAutofit/>
          </a:bodyPr>
          <a:lstStyle/>
          <a:p>
            <a:pPr marL="0" indent="0">
              <a:spcAft>
                <a:spcPts val="769"/>
              </a:spcAft>
              <a:buNone/>
            </a:pPr>
            <a:r>
              <a:rPr sz="2200" b="1" i="0">
                <a:solidFill>
                  <a:srgbClr val="2E8B62"/>
                </a:solidFill>
              </a:rPr>
              <a:t>Also built in</a:t>
            </a:r>
          </a:p>
          <a:p>
            <a:pPr marL="274320" indent="-256032">
              <a:spcAft>
                <a:spcPts val="990"/>
              </a:spcAft>
              <a:buClr>
                <a:srgbClr val="42B883"/>
              </a:buClr>
              <a:buSzPct val="100000"/>
              <a:buFont typeface="Arial"/>
              <a:buChar char="•"/>
            </a:pPr>
            <a:r>
              <a:rPr sz="2090" b="0" i="0">
                <a:solidFill>
                  <a:srgbClr val="8A2B52"/>
                </a:solidFill>
                <a:latin typeface="Consolas"/>
              </a:rPr>
              <a:t>v-show</a:t>
            </a:r>
            <a:r>
              <a:rPr sz="2200" b="0" i="0">
                <a:solidFill>
                  <a:srgbClr val="1F2A36"/>
                </a:solidFill>
              </a:rPr>
              <a:t> — toggle </a:t>
            </a:r>
            <a:r>
              <a:rPr sz="2090" b="0" i="0">
                <a:solidFill>
                  <a:srgbClr val="8A2B52"/>
                </a:solidFill>
                <a:latin typeface="Consolas"/>
              </a:rPr>
              <a:t>display</a:t>
            </a:r>
          </a:p>
          <a:p>
            <a:pPr marL="274320" indent="-256032">
              <a:spcAft>
                <a:spcPts val="990"/>
              </a:spcAft>
              <a:buClr>
                <a:srgbClr val="42B883"/>
              </a:buClr>
              <a:buSzPct val="100000"/>
              <a:buFont typeface="Arial"/>
              <a:buChar char="•"/>
            </a:pPr>
            <a:r>
              <a:rPr sz="2090" b="0" i="0">
                <a:solidFill>
                  <a:srgbClr val="8A2B52"/>
                </a:solidFill>
                <a:latin typeface="Consolas"/>
              </a:rPr>
              <a:t>v-html</a:t>
            </a:r>
            <a:r>
              <a:rPr sz="2200" b="0" i="0">
                <a:solidFill>
                  <a:srgbClr val="1F2A36"/>
                </a:solidFill>
              </a:rPr>
              <a:t>, </a:t>
            </a:r>
            <a:r>
              <a:rPr sz="2090" b="0" i="0">
                <a:solidFill>
                  <a:srgbClr val="8A2B52"/>
                </a:solidFill>
                <a:latin typeface="Consolas"/>
              </a:rPr>
              <a:t>v-text</a:t>
            </a:r>
            <a:r>
              <a:rPr sz="2200" b="0" i="0">
                <a:solidFill>
                  <a:srgbClr val="1F2A36"/>
                </a:solidFill>
              </a:rPr>
              <a:t> — set content</a:t>
            </a:r>
          </a:p>
          <a:p>
            <a:pPr marL="274320" indent="-256032">
              <a:spcAft>
                <a:spcPts val="990"/>
              </a:spcAft>
              <a:buClr>
                <a:srgbClr val="42B883"/>
              </a:buClr>
              <a:buSzPct val="100000"/>
              <a:buFont typeface="Arial"/>
              <a:buChar char="•"/>
            </a:pPr>
            <a:r>
              <a:rPr sz="2090" b="0" i="0">
                <a:solidFill>
                  <a:srgbClr val="8A2B52"/>
                </a:solidFill>
                <a:latin typeface="Consolas"/>
              </a:rPr>
              <a:t>v-slot</a:t>
            </a:r>
            <a:r>
              <a:rPr sz="2200" b="0" i="0">
                <a:solidFill>
                  <a:srgbClr val="1F2A36"/>
                </a:solidFill>
              </a:rPr>
              <a:t> — named and scoped slots</a:t>
            </a:r>
          </a:p>
          <a:p>
            <a:pPr marL="274320" indent="-256032">
              <a:spcAft>
                <a:spcPts val="990"/>
              </a:spcAft>
              <a:buClr>
                <a:srgbClr val="42B883"/>
              </a:buClr>
              <a:buSzPct val="100000"/>
              <a:buFont typeface="Arial"/>
              <a:buChar char="•"/>
            </a:pPr>
            <a:r>
              <a:rPr sz="2090" b="0" i="0">
                <a:solidFill>
                  <a:srgbClr val="8A2B52"/>
                </a:solidFill>
                <a:latin typeface="Consolas"/>
              </a:rPr>
              <a:t>v-once</a:t>
            </a:r>
            <a:r>
              <a:rPr sz="2200" b="0" i="0">
                <a:solidFill>
                  <a:srgbClr val="1F2A36"/>
                </a:solidFill>
              </a:rPr>
              <a:t>, </a:t>
            </a:r>
            <a:r>
              <a:rPr sz="2090" b="0" i="0">
                <a:solidFill>
                  <a:srgbClr val="8A2B52"/>
                </a:solidFill>
                <a:latin typeface="Consolas"/>
              </a:rPr>
              <a:t>v-memo</a:t>
            </a:r>
            <a:r>
              <a:rPr sz="2200" b="0" i="0">
                <a:solidFill>
                  <a:srgbClr val="1F2A36"/>
                </a:solidFill>
              </a:rPr>
              <a:t> — skip re-rendering</a:t>
            </a:r>
          </a:p>
          <a:p>
            <a:pPr marL="274320" indent="-256032">
              <a:spcAft>
                <a:spcPts val="990"/>
              </a:spcAft>
              <a:buClr>
                <a:srgbClr val="42B883"/>
              </a:buClr>
              <a:buSzPct val="100000"/>
              <a:buFont typeface="Arial"/>
              <a:buChar char="•"/>
            </a:pPr>
            <a:r>
              <a:rPr sz="2090" b="0" i="0">
                <a:solidFill>
                  <a:srgbClr val="8A2B52"/>
                </a:solidFill>
                <a:latin typeface="Consolas"/>
              </a:rPr>
              <a:t>v-pre</a:t>
            </a:r>
            <a:r>
              <a:rPr sz="2200" b="0" i="0">
                <a:solidFill>
                  <a:srgbClr val="1F2A36"/>
                </a:solidFill>
              </a:rPr>
              <a:t>, </a:t>
            </a:r>
            <a:r>
              <a:rPr sz="2090" b="0" i="0">
                <a:solidFill>
                  <a:srgbClr val="8A2B52"/>
                </a:solidFill>
                <a:latin typeface="Consolas"/>
              </a:rPr>
              <a:t>v-cloak</a:t>
            </a:r>
            <a:r>
              <a:rPr sz="2200" b="0" i="0">
                <a:solidFill>
                  <a:srgbClr val="1F2A36"/>
                </a:solidFill>
              </a:rPr>
              <a:t> — compilation control</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101</a:t>
            </a:fld>
            <a:endParaRPr lang="en-US" sz="900">
              <a:solidFill>
                <a:srgbClr val="9AA7B4"/>
              </a:solidFill>
            </a:endParaRPr>
          </a:p>
        </p:txBody>
      </p:sp>
    </p:spTree>
    <p:extLst>
      <p:ext uri="{BB962C8B-B14F-4D97-AF65-F5344CB8AC3E}">
        <p14:creationId xmlns:p14="http://schemas.microsoft.com/office/powerpoint/2010/main" val="17890816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E3D4D-DB46-EB46-BB81-9EA720275BE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Custom Directives</a:t>
            </a:r>
          </a:p>
        </p:txBody>
      </p:sp>
      <p:sp>
        <p:nvSpPr>
          <p:cNvPr id="3"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Components are the main way to reuse code</a:t>
            </a:r>
          </a:p>
          <a:p>
            <a:pPr marL="274320" indent="-256032">
              <a:spcAft>
                <a:spcPts val="990"/>
              </a:spcAft>
              <a:buClr>
                <a:srgbClr val="42B883"/>
              </a:buClr>
              <a:buSzPct val="100000"/>
              <a:buFont typeface="Arial"/>
              <a:buChar char="•"/>
            </a:pPr>
            <a:r>
              <a:rPr sz="2200" b="0" i="0">
                <a:solidFill>
                  <a:srgbClr val="1F2A36"/>
                </a:solidFill>
              </a:rPr>
              <a:t>Sometimes you need low-level DOM access on plain elements</a:t>
            </a:r>
          </a:p>
        </p:txBody>
      </p:sp>
      <p:sp>
        <p:nvSpPr>
          <p:cNvPr id="4" name="Code"/>
          <p:cNvSpPr/>
          <p:nvPr/>
        </p:nvSpPr>
        <p:spPr>
          <a:xfrm>
            <a:off x="457200" y="2648712"/>
            <a:ext cx="8229600" cy="26548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&lt;script</a:t>
            </a:r>
            <a:r>
              <a:rPr sz="1500">
                <a:solidFill>
                  <a:srgbClr val="24292F"/>
                </a:solidFill>
                <a:latin typeface="Consolas"/>
              </a:rPr>
              <a:t> </a:t>
            </a:r>
            <a:r>
              <a:rPr sz="1500">
                <a:solidFill>
                  <a:srgbClr val="953800"/>
                </a:solidFill>
                <a:latin typeface="Consolas"/>
              </a:rPr>
              <a:t>setup</a:t>
            </a:r>
            <a:r>
              <a:rPr sz="1500">
                <a:solidFill>
                  <a:srgbClr val="116329"/>
                </a:solidFill>
                <a:latin typeface="Consolas"/>
              </a:rPr>
              <a:t>&gt;</a:t>
            </a:r>
          </a:p>
          <a:p>
            <a:pPr marL="0" indent="0" algn="l">
              <a:lnSpc>
                <a:spcPct val="100000"/>
              </a:lnSpc>
              <a:buNone/>
            </a:pPr>
            <a:r>
              <a:rPr sz="1500" i="1">
                <a:solidFill>
                  <a:srgbClr val="6E7781"/>
                </a:solidFill>
                <a:latin typeface="Consolas"/>
              </a:rPr>
              <a:t>// in &lt;script setup&gt;, vFocus is usable as v-focus</a:t>
            </a:r>
          </a:p>
          <a:p>
            <a:pPr marL="0" indent="0" algn="l">
              <a:lnSpc>
                <a:spcPct val="100000"/>
              </a:lnSpc>
              <a:buNone/>
            </a:pPr>
            <a:r>
              <a:rPr sz="1500">
                <a:solidFill>
                  <a:srgbClr val="CF222E"/>
                </a:solidFill>
                <a:latin typeface="Consolas"/>
              </a:rPr>
              <a:t>const</a:t>
            </a:r>
            <a:r>
              <a:rPr sz="1500">
                <a:solidFill>
                  <a:srgbClr val="24292F"/>
                </a:solidFill>
                <a:latin typeface="Consolas"/>
              </a:rPr>
              <a:t> vFocus = {</a:t>
            </a:r>
          </a:p>
          <a:p>
            <a:pPr marL="0" indent="0" algn="l">
              <a:lnSpc>
                <a:spcPct val="100000"/>
              </a:lnSpc>
              <a:buNone/>
            </a:pPr>
            <a:r>
              <a:rPr sz="1500">
                <a:solidFill>
                  <a:srgbClr val="24292F"/>
                </a:solidFill>
                <a:latin typeface="Consolas"/>
              </a:rPr>
              <a:t>  mounted: (el) =</a:t>
            </a:r>
            <a:r>
              <a:rPr sz="1500">
                <a:solidFill>
                  <a:srgbClr val="116329"/>
                </a:solidFill>
                <a:latin typeface="Consolas"/>
              </a:rPr>
              <a:t>&gt;</a:t>
            </a:r>
            <a:r>
              <a:rPr sz="1500">
                <a:solidFill>
                  <a:srgbClr val="24292F"/>
                </a:solidFill>
                <a:latin typeface="Consolas"/>
              </a:rPr>
              <a:t> el.focus(),</a:t>
            </a:r>
          </a:p>
          <a:p>
            <a:pPr marL="0" indent="0" algn="l">
              <a:lnSpc>
                <a:spcPct val="100000"/>
              </a:lnSpc>
              <a:buNone/>
            </a:pPr>
            <a:r>
              <a:rPr sz="1500">
                <a:solidFill>
                  <a:srgbClr val="24292F"/>
                </a:solidFill>
                <a:latin typeface="Consolas"/>
              </a:rPr>
              <a:t>}</a:t>
            </a:r>
          </a:p>
          <a:p>
            <a:pPr marL="0" indent="0" algn="l">
              <a:lnSpc>
                <a:spcPct val="100000"/>
              </a:lnSpc>
              <a:buNone/>
            </a:pPr>
            <a:r>
              <a:rPr sz="1500">
                <a:solidFill>
                  <a:srgbClr val="116329"/>
                </a:solidFill>
                <a:latin typeface="Consolas"/>
              </a:rPr>
              <a:t>&lt;/script&gt;</a:t>
            </a:r>
          </a:p>
          <a:p>
            <a:pPr marL="0" indent="0" algn="l">
              <a:lnSpc>
                <a:spcPct val="100000"/>
              </a:lnSpc>
              <a:buNone/>
            </a:pPr>
            <a:r>
              <a:rPr sz="1500">
                <a:latin typeface="Consolas"/>
              </a:rPr>
              <a:t> </a:t>
            </a:r>
          </a:p>
          <a:p>
            <a:pPr marL="0" indent="0" algn="l">
              <a:lnSpc>
                <a:spcPct val="100000"/>
              </a:lnSpc>
              <a:buNone/>
            </a:pPr>
            <a:r>
              <a:rPr sz="1500">
                <a:solidFill>
                  <a:srgbClr val="116329"/>
                </a:solidFill>
                <a:latin typeface="Consolas"/>
              </a:rPr>
              <a:t>&lt;template&gt;</a:t>
            </a:r>
          </a:p>
          <a:p>
            <a:pPr marL="0" indent="0" algn="l">
              <a:lnSpc>
                <a:spcPct val="100000"/>
              </a:lnSpc>
              <a:buNone/>
            </a:pPr>
            <a:r>
              <a:rPr sz="1500">
                <a:solidFill>
                  <a:srgbClr val="24292F"/>
                </a:solidFill>
                <a:latin typeface="Consolas"/>
              </a:rPr>
              <a:t>  </a:t>
            </a:r>
            <a:r>
              <a:rPr sz="1500">
                <a:solidFill>
                  <a:srgbClr val="116329"/>
                </a:solidFill>
                <a:latin typeface="Consolas"/>
              </a:rPr>
              <a:t>&lt;input</a:t>
            </a:r>
            <a:r>
              <a:rPr sz="1500">
                <a:solidFill>
                  <a:srgbClr val="24292F"/>
                </a:solidFill>
                <a:latin typeface="Consolas"/>
              </a:rPr>
              <a:t> </a:t>
            </a:r>
            <a:r>
              <a:rPr sz="1500">
                <a:solidFill>
                  <a:srgbClr val="953800"/>
                </a:solidFill>
                <a:latin typeface="Consolas"/>
              </a:rPr>
              <a:t>v</a:t>
            </a:r>
            <a:r>
              <a:rPr sz="1500">
                <a:solidFill>
                  <a:srgbClr val="24292F"/>
                </a:solidFill>
                <a:latin typeface="Consolas"/>
              </a:rPr>
              <a:t>-</a:t>
            </a:r>
            <a:r>
              <a:rPr sz="1500">
                <a:solidFill>
                  <a:srgbClr val="953800"/>
                </a:solidFill>
                <a:latin typeface="Consolas"/>
              </a:rPr>
              <a:t>focus</a:t>
            </a:r>
            <a:r>
              <a:rPr sz="1500">
                <a:solidFill>
                  <a:srgbClr val="24292F"/>
                </a:solidFill>
                <a:latin typeface="Consolas"/>
              </a:rPr>
              <a:t> </a:t>
            </a:r>
            <a:r>
              <a:rPr sz="1500">
                <a:solidFill>
                  <a:srgbClr val="116329"/>
                </a:solidFill>
                <a:latin typeface="Consolas"/>
              </a:rPr>
              <a:t>/&gt;</a:t>
            </a:r>
          </a:p>
          <a:p>
            <a:pPr marL="0" indent="0" algn="l">
              <a:lnSpc>
                <a:spcPct val="100000"/>
              </a:lnSpc>
              <a:buNone/>
            </a:pPr>
            <a:r>
              <a:rPr sz="1500">
                <a:solidFill>
                  <a:srgbClr val="116329"/>
                </a:solidFill>
                <a:latin typeface="Consolas"/>
              </a:rPr>
              <a:t>&lt;/template&gt;</a:t>
            </a:r>
          </a:p>
        </p:txBody>
      </p:sp>
      <p:sp>
        <p:nvSpPr>
          <p:cNvPr id="5" name="Body"/>
          <p:cNvSpPr txBox="1"/>
          <p:nvPr/>
        </p:nvSpPr>
        <p:spPr>
          <a:xfrm>
            <a:off x="457200" y="5449824"/>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Hook names match the component lifecycle: Vue 2's </a:t>
            </a:r>
            <a:r>
              <a:rPr sz="2090" b="0" i="0">
                <a:solidFill>
                  <a:srgbClr val="8A2B52"/>
                </a:solidFill>
                <a:latin typeface="Consolas"/>
              </a:rPr>
              <a:t>inserted</a:t>
            </a:r>
            <a:r>
              <a:rPr sz="2200" b="0" i="0">
                <a:solidFill>
                  <a:srgbClr val="1F2A36"/>
                </a:solidFill>
              </a:rPr>
              <a:t> is now </a:t>
            </a:r>
            <a:r>
              <a:rPr sz="2090" b="0" i="0">
                <a:solidFill>
                  <a:srgbClr val="8A2B52"/>
                </a:solidFill>
                <a:latin typeface="Consolas"/>
              </a:rPr>
              <a:t>mounted</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102</a:t>
            </a:fld>
            <a:endParaRPr lang="en-US" sz="900">
              <a:solidFill>
                <a:srgbClr val="9AA7B4"/>
              </a:solidFill>
            </a:endParaRPr>
          </a:p>
        </p:txBody>
      </p:sp>
    </p:spTree>
    <p:extLst>
      <p:ext uri="{BB962C8B-B14F-4D97-AF65-F5344CB8AC3E}">
        <p14:creationId xmlns:p14="http://schemas.microsoft.com/office/powerpoint/2010/main" val="29988002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1B1-2B89-4549-A150-A354EA3C7BB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Loops and Lists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Use </a:t>
            </a:r>
            <a:r>
              <a:rPr sz="2090" b="0" i="0">
                <a:solidFill>
                  <a:srgbClr val="8A2B52"/>
                </a:solidFill>
                <a:latin typeface="Consolas"/>
              </a:rPr>
              <a:t>v-for</a:t>
            </a:r>
            <a:r>
              <a:rPr sz="2200" b="0" i="0">
                <a:solidFill>
                  <a:srgbClr val="1F2A36"/>
                </a:solidFill>
              </a:rPr>
              <a:t> to render a list of items from an array or object.</a:t>
            </a:r>
          </a:p>
        </p:txBody>
      </p:sp>
      <p:sp>
        <p:nvSpPr>
          <p:cNvPr id="4" name="Code"/>
          <p:cNvSpPr/>
          <p:nvPr/>
        </p:nvSpPr>
        <p:spPr>
          <a:xfrm>
            <a:off x="457200" y="2193290"/>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&lt;ul&gt;</a:t>
            </a:r>
          </a:p>
          <a:p>
            <a:pPr marL="0" indent="0" algn="l">
              <a:lnSpc>
                <a:spcPct val="100000"/>
              </a:lnSpc>
              <a:buNone/>
            </a:pPr>
            <a:r>
              <a:rPr sz="2000">
                <a:solidFill>
                  <a:srgbClr val="24292F"/>
                </a:solidFill>
                <a:latin typeface="Consolas"/>
              </a:rPr>
              <a:t>  </a:t>
            </a: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v-for</a:t>
            </a:r>
            <a:r>
              <a:rPr sz="2000">
                <a:solidFill>
                  <a:srgbClr val="24292F"/>
                </a:solidFill>
                <a:latin typeface="Consolas"/>
              </a:rPr>
              <a:t>=</a:t>
            </a:r>
            <a:r>
              <a:rPr sz="2000">
                <a:solidFill>
                  <a:srgbClr val="0A3069"/>
                </a:solidFill>
                <a:latin typeface="Consolas"/>
              </a:rPr>
              <a:t>"song in songs"</a:t>
            </a:r>
            <a:r>
              <a:rPr sz="2000">
                <a:solidFill>
                  <a:srgbClr val="24292F"/>
                </a:solidFill>
                <a:latin typeface="Consolas"/>
              </a:rPr>
              <a:t> </a:t>
            </a:r>
            <a:r>
              <a:rPr sz="2000">
                <a:solidFill>
                  <a:srgbClr val="953800"/>
                </a:solidFill>
                <a:latin typeface="Consolas"/>
              </a:rPr>
              <a:t>:key</a:t>
            </a:r>
            <a:r>
              <a:rPr sz="2000">
                <a:solidFill>
                  <a:srgbClr val="24292F"/>
                </a:solidFill>
                <a:latin typeface="Consolas"/>
              </a:rPr>
              <a:t>=</a:t>
            </a:r>
            <a:r>
              <a:rPr sz="2000">
                <a:solidFill>
                  <a:srgbClr val="0A3069"/>
                </a:solidFill>
                <a:latin typeface="Consolas"/>
              </a:rPr>
              <a:t>"song.id"</a:t>
            </a:r>
            <a:r>
              <a:rPr sz="2000">
                <a:solidFill>
                  <a:srgbClr val="116329"/>
                </a:solidFill>
                <a:latin typeface="Consolas"/>
              </a:rPr>
              <a:t>&gt;</a:t>
            </a:r>
          </a:p>
          <a:p>
            <a:pPr marL="0" indent="0" algn="l">
              <a:lnSpc>
                <a:spcPct val="100000"/>
              </a:lnSpc>
              <a:buNone/>
            </a:pPr>
            <a:r>
              <a:rPr sz="2000">
                <a:solidFill>
                  <a:srgbClr val="24292F"/>
                </a:solidFill>
                <a:latin typeface="Consolas"/>
              </a:rPr>
              <a:t>    {{ song.title }}</a:t>
            </a:r>
          </a:p>
          <a:p>
            <a:pPr marL="0" indent="0" algn="l">
              <a:lnSpc>
                <a:spcPct val="100000"/>
              </a:lnSpc>
              <a:buNone/>
            </a:pPr>
            <a:r>
              <a:rPr sz="2000">
                <a:solidFill>
                  <a:srgbClr val="24292F"/>
                </a:solidFill>
                <a:latin typeface="Consolas"/>
              </a:rPr>
              <a:t>  </a:t>
            </a:r>
            <a:r>
              <a:rPr sz="2000">
                <a:solidFill>
                  <a:srgbClr val="116329"/>
                </a:solidFill>
                <a:latin typeface="Consolas"/>
              </a:rPr>
              <a:t>&lt;/li&gt;</a:t>
            </a:r>
          </a:p>
          <a:p>
            <a:pPr marL="0" indent="0" algn="l">
              <a:lnSpc>
                <a:spcPct val="100000"/>
              </a:lnSpc>
              <a:buNone/>
            </a:pPr>
            <a:r>
              <a:rPr sz="2000">
                <a:solidFill>
                  <a:srgbClr val="116329"/>
                </a:solidFill>
                <a:latin typeface="Consolas"/>
              </a:rPr>
              <a:t>&lt;/ul&gt;</a:t>
            </a:r>
          </a:p>
        </p:txBody>
      </p:sp>
      <p:sp>
        <p:nvSpPr>
          <p:cNvPr id="5" name="Code"/>
          <p:cNvSpPr/>
          <p:nvPr/>
        </p:nvSpPr>
        <p:spPr>
          <a:xfrm>
            <a:off x="457200" y="4207002"/>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songs = ref([</a:t>
            </a:r>
          </a:p>
          <a:p>
            <a:pPr marL="0" indent="0" algn="l">
              <a:lnSpc>
                <a:spcPct val="100000"/>
              </a:lnSpc>
              <a:buNone/>
            </a:pPr>
            <a:r>
              <a:rPr sz="2000">
                <a:solidFill>
                  <a:srgbClr val="24292F"/>
                </a:solidFill>
                <a:latin typeface="Consolas"/>
              </a:rPr>
              <a:t>  { id: </a:t>
            </a:r>
            <a:r>
              <a:rPr sz="2000">
                <a:solidFill>
                  <a:srgbClr val="0550AE"/>
                </a:solidFill>
                <a:latin typeface="Consolas"/>
              </a:rPr>
              <a:t>1</a:t>
            </a:r>
            <a:r>
              <a:rPr sz="2000">
                <a:solidFill>
                  <a:srgbClr val="24292F"/>
                </a:solidFill>
                <a:latin typeface="Consolas"/>
              </a:rPr>
              <a:t>, title: </a:t>
            </a:r>
            <a:r>
              <a:rPr sz="2000">
                <a:solidFill>
                  <a:srgbClr val="0A3069"/>
                </a:solidFill>
                <a:latin typeface="Consolas"/>
              </a:rPr>
              <a:t>'Hotel California'</a:t>
            </a:r>
            <a:r>
              <a:rPr sz="2000">
                <a:solidFill>
                  <a:srgbClr val="24292F"/>
                </a:solidFill>
                <a:latin typeface="Consolas"/>
              </a:rPr>
              <a:t> },</a:t>
            </a:r>
          </a:p>
          <a:p>
            <a:pPr marL="0" indent="0" algn="l">
              <a:lnSpc>
                <a:spcPct val="100000"/>
              </a:lnSpc>
              <a:buNone/>
            </a:pPr>
            <a:r>
              <a:rPr sz="2000">
                <a:solidFill>
                  <a:srgbClr val="24292F"/>
                </a:solidFill>
                <a:latin typeface="Consolas"/>
              </a:rPr>
              <a:t>  { id: </a:t>
            </a:r>
            <a:r>
              <a:rPr sz="2000">
                <a:solidFill>
                  <a:srgbClr val="0550AE"/>
                </a:solidFill>
                <a:latin typeface="Consolas"/>
              </a:rPr>
              <a:t>2</a:t>
            </a:r>
            <a:r>
              <a:rPr sz="2000">
                <a:solidFill>
                  <a:srgbClr val="24292F"/>
                </a:solidFill>
                <a:latin typeface="Consolas"/>
              </a:rPr>
              <a:t>, title: </a:t>
            </a:r>
            <a:r>
              <a:rPr sz="2000">
                <a:solidFill>
                  <a:srgbClr val="0A3069"/>
                </a:solidFill>
                <a:latin typeface="Consolas"/>
              </a:rPr>
              <a:t>'April in Paris'</a:t>
            </a: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103</a:t>
            </a:fld>
            <a:endParaRPr lang="en-US" sz="900">
              <a:solidFill>
                <a:srgbClr val="9AA7B4"/>
              </a:solidFill>
            </a:endParaRPr>
          </a:p>
        </p:txBody>
      </p:sp>
    </p:spTree>
    <p:extLst>
      <p:ext uri="{BB962C8B-B14F-4D97-AF65-F5344CB8AC3E}">
        <p14:creationId xmlns:p14="http://schemas.microsoft.com/office/powerpoint/2010/main" val="28441099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6AB7-0228-0242-B446-A2766448E6D1}"/>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key</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Always provide a </a:t>
            </a:r>
            <a:r>
              <a:rPr sz="2090" b="0" i="0">
                <a:solidFill>
                  <a:srgbClr val="8A2B52"/>
                </a:solidFill>
                <a:latin typeface="Consolas"/>
              </a:rPr>
              <a:t>key</a:t>
            </a:r>
            <a:r>
              <a:rPr sz="2200" b="0" i="0">
                <a:solidFill>
                  <a:srgbClr val="1F2A36"/>
                </a:solidFill>
              </a:rPr>
              <a:t> with </a:t>
            </a:r>
            <a:r>
              <a:rPr sz="2090" b="0" i="0">
                <a:solidFill>
                  <a:srgbClr val="8A2B52"/>
                </a:solidFill>
                <a:latin typeface="Consolas"/>
              </a:rPr>
              <a:t>v-for</a:t>
            </a:r>
          </a:p>
        </p:txBody>
      </p:sp>
      <p:sp>
        <p:nvSpPr>
          <p:cNvPr id="4" name="Code"/>
          <p:cNvSpPr/>
          <p:nvPr/>
        </p:nvSpPr>
        <p:spPr>
          <a:xfrm>
            <a:off x="457200" y="1863597"/>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v-for</a:t>
            </a:r>
            <a:r>
              <a:rPr sz="2000">
                <a:solidFill>
                  <a:srgbClr val="24292F"/>
                </a:solidFill>
                <a:latin typeface="Consolas"/>
              </a:rPr>
              <a:t>=</a:t>
            </a:r>
            <a:r>
              <a:rPr sz="2000">
                <a:solidFill>
                  <a:srgbClr val="0A3069"/>
                </a:solidFill>
                <a:latin typeface="Consolas"/>
              </a:rPr>
              <a:t>"song in songs"</a:t>
            </a:r>
            <a:r>
              <a:rPr sz="2000">
                <a:solidFill>
                  <a:srgbClr val="24292F"/>
                </a:solidFill>
                <a:latin typeface="Consolas"/>
              </a:rPr>
              <a:t> </a:t>
            </a:r>
            <a:r>
              <a:rPr sz="2000">
                <a:solidFill>
                  <a:srgbClr val="953800"/>
                </a:solidFill>
                <a:latin typeface="Consolas"/>
              </a:rPr>
              <a:t>:key</a:t>
            </a:r>
            <a:r>
              <a:rPr sz="2000">
                <a:solidFill>
                  <a:srgbClr val="24292F"/>
                </a:solidFill>
                <a:latin typeface="Consolas"/>
              </a:rPr>
              <a:t>=</a:t>
            </a:r>
            <a:r>
              <a:rPr sz="2000">
                <a:solidFill>
                  <a:srgbClr val="0A3069"/>
                </a:solidFill>
                <a:latin typeface="Consolas"/>
              </a:rPr>
              <a:t>"song.id"</a:t>
            </a:r>
            <a:r>
              <a:rPr sz="2000">
                <a:solidFill>
                  <a:srgbClr val="116329"/>
                </a:solidFill>
                <a:latin typeface="Consolas"/>
              </a:rPr>
              <a:t>&gt;</a:t>
            </a:r>
          </a:p>
          <a:p>
            <a:pPr marL="0" indent="0" algn="l">
              <a:lnSpc>
                <a:spcPct val="100000"/>
              </a:lnSpc>
              <a:buNone/>
            </a:pPr>
            <a:r>
              <a:rPr sz="2000">
                <a:solidFill>
                  <a:srgbClr val="24292F"/>
                </a:solidFill>
                <a:latin typeface="Consolas"/>
              </a:rPr>
              <a:t>  {{ song.title }}</a:t>
            </a:r>
          </a:p>
          <a:p>
            <a:pPr marL="0" indent="0" algn="l">
              <a:lnSpc>
                <a:spcPct val="100000"/>
              </a:lnSpc>
              <a:buNone/>
            </a:pPr>
            <a:r>
              <a:rPr sz="2000">
                <a:solidFill>
                  <a:srgbClr val="116329"/>
                </a:solidFill>
                <a:latin typeface="Consolas"/>
              </a:rPr>
              <a:t>&lt;/li&gt;</a:t>
            </a:r>
          </a:p>
        </p:txBody>
      </p:sp>
      <p:sp>
        <p:nvSpPr>
          <p:cNvPr id="5" name="Body"/>
          <p:cNvSpPr txBox="1"/>
          <p:nvPr/>
        </p:nvSpPr>
        <p:spPr>
          <a:xfrm>
            <a:off x="457200" y="3247390"/>
            <a:ext cx="8229600" cy="244678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key gives each element a stable </a:t>
            </a:r>
            <a:r>
              <a:rPr sz="2200" b="1" i="0">
                <a:solidFill>
                  <a:srgbClr val="1F2A36"/>
                </a:solidFill>
              </a:rPr>
              <a:t>identity</a:t>
            </a:r>
            <a:r>
              <a:rPr sz="2200" b="0" i="0">
                <a:solidFill>
                  <a:srgbClr val="1F2A36"/>
                </a:solidFill>
              </a:rPr>
              <a:t>, so Vue can reuse, move and remove the right DOM nodes</a:t>
            </a:r>
          </a:p>
          <a:p>
            <a:pPr marL="274320" indent="-256032">
              <a:spcAft>
                <a:spcPts val="990"/>
              </a:spcAft>
              <a:buClr>
                <a:srgbClr val="42B883"/>
              </a:buClr>
              <a:buSzPct val="100000"/>
              <a:buFont typeface="Arial"/>
              <a:buChar char="•"/>
            </a:pPr>
            <a:r>
              <a:rPr sz="2200" b="0" i="0">
                <a:solidFill>
                  <a:srgbClr val="1F2A36"/>
                </a:solidFill>
              </a:rPr>
              <a:t>Use a stable, unique id — </a:t>
            </a:r>
            <a:r>
              <a:rPr sz="2200" b="1" i="0">
                <a:solidFill>
                  <a:srgbClr val="1F2A36"/>
                </a:solidFill>
              </a:rPr>
              <a:t>not</a:t>
            </a:r>
            <a:r>
              <a:rPr sz="2200" b="0" i="0">
                <a:solidFill>
                  <a:srgbClr val="1F2A36"/>
                </a:solidFill>
              </a:rPr>
              <a:t> the array index</a:t>
            </a:r>
          </a:p>
          <a:p>
            <a:pPr marL="274320" indent="-256032">
              <a:spcAft>
                <a:spcPts val="990"/>
              </a:spcAft>
              <a:buClr>
                <a:srgbClr val="42B883"/>
              </a:buClr>
              <a:buSzPct val="100000"/>
              <a:buFont typeface="Arial"/>
              <a:buChar char="•"/>
            </a:pPr>
            <a:r>
              <a:rPr sz="2200" b="0" i="0">
                <a:solidFill>
                  <a:srgbClr val="1F2A36"/>
                </a:solidFill>
              </a:rPr>
              <a:t>The key goes on the element that carries </a:t>
            </a:r>
            <a:r>
              <a:rPr sz="2090" b="0" i="0">
                <a:solidFill>
                  <a:srgbClr val="8A2B52"/>
                </a:solidFill>
                <a:latin typeface="Consolas"/>
              </a:rPr>
              <a:t>v-for</a:t>
            </a:r>
            <a:r>
              <a:rPr sz="2200" b="0" i="0">
                <a:solidFill>
                  <a:srgbClr val="1F2A36"/>
                </a:solidFill>
              </a:rPr>
              <a:t>, including a </a:t>
            </a:r>
            <a:r>
              <a:rPr sz="2090" b="0" i="0">
                <a:solidFill>
                  <a:srgbClr val="8A2B52"/>
                </a:solidFill>
                <a:latin typeface="Consolas"/>
              </a:rPr>
              <a:t>&lt;template v-for&gt;</a:t>
            </a:r>
            <a:r>
              <a:rPr sz="2200" b="0" i="0">
                <a:solidFill>
                  <a:srgbClr val="1F2A36"/>
                </a:solidFill>
              </a:rPr>
              <a:t> (Vue 2 didn't allow that)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104</a:t>
            </a:fld>
            <a:endParaRPr lang="en-US" sz="900">
              <a:solidFill>
                <a:srgbClr val="9AA7B4"/>
              </a:solidFill>
            </a:endParaRPr>
          </a:p>
        </p:txBody>
      </p:sp>
    </p:spTree>
    <p:extLst>
      <p:ext uri="{BB962C8B-B14F-4D97-AF65-F5344CB8AC3E}">
        <p14:creationId xmlns:p14="http://schemas.microsoft.com/office/powerpoint/2010/main" val="22187565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CAA5-B433-F84D-A628-2562C9AFEDF1}"/>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v-for</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Renders a list based on an </a:t>
            </a:r>
            <a:r>
              <a:rPr sz="2200" b="1" i="0">
                <a:solidFill>
                  <a:srgbClr val="1F2A36"/>
                </a:solidFill>
              </a:rPr>
              <a:t>array</a:t>
            </a:r>
            <a:r>
              <a:rPr sz="2200" b="0" i="0">
                <a:solidFill>
                  <a:srgbClr val="1F2A36"/>
                </a:solidFill>
              </a:rPr>
              <a:t>, an </a:t>
            </a:r>
            <a:r>
              <a:rPr sz="2200" b="1" i="0">
                <a:solidFill>
                  <a:srgbClr val="1F2A36"/>
                </a:solidFill>
              </a:rPr>
              <a:t>object</a:t>
            </a:r>
            <a:r>
              <a:rPr sz="2200" b="0" i="0">
                <a:solidFill>
                  <a:srgbClr val="1F2A36"/>
                </a:solidFill>
              </a:rPr>
              <a:t>, or a </a:t>
            </a:r>
            <a:r>
              <a:rPr sz="2200" b="1" i="0">
                <a:solidFill>
                  <a:srgbClr val="1F2A36"/>
                </a:solidFill>
              </a:rPr>
              <a:t>number range</a:t>
            </a:r>
          </a:p>
        </p:txBody>
      </p:sp>
      <p:sp>
        <p:nvSpPr>
          <p:cNvPr id="4" name="Code"/>
          <p:cNvSpPr/>
          <p:nvPr/>
        </p:nvSpPr>
        <p:spPr>
          <a:xfrm>
            <a:off x="457200" y="2193290"/>
            <a:ext cx="8229600" cy="227685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116329"/>
                </a:solidFill>
                <a:latin typeface="Consolas"/>
              </a:rPr>
              <a:t>&lt;li</a:t>
            </a:r>
            <a:r>
              <a:rPr sz="1800">
                <a:solidFill>
                  <a:srgbClr val="24292F"/>
                </a:solidFill>
                <a:latin typeface="Consolas"/>
              </a:rPr>
              <a:t> </a:t>
            </a:r>
            <a:r>
              <a:rPr sz="1800">
                <a:solidFill>
                  <a:srgbClr val="953800"/>
                </a:solidFill>
                <a:latin typeface="Consolas"/>
              </a:rPr>
              <a:t>v-for</a:t>
            </a:r>
            <a:r>
              <a:rPr sz="1800">
                <a:solidFill>
                  <a:srgbClr val="24292F"/>
                </a:solidFill>
                <a:latin typeface="Consolas"/>
              </a:rPr>
              <a:t>=</a:t>
            </a:r>
            <a:r>
              <a:rPr sz="1800">
                <a:solidFill>
                  <a:srgbClr val="0A3069"/>
                </a:solidFill>
                <a:latin typeface="Consolas"/>
              </a:rPr>
              <a:t>"(song, index) in songs"</a:t>
            </a:r>
            <a:r>
              <a:rPr sz="1800">
                <a:solidFill>
                  <a:srgbClr val="24292F"/>
                </a:solidFill>
                <a:latin typeface="Consolas"/>
              </a:rPr>
              <a:t> </a:t>
            </a:r>
            <a:r>
              <a:rPr sz="1800">
                <a:solidFill>
                  <a:srgbClr val="953800"/>
                </a:solidFill>
                <a:latin typeface="Consolas"/>
              </a:rPr>
              <a:t>:key</a:t>
            </a:r>
            <a:r>
              <a:rPr sz="1800">
                <a:solidFill>
                  <a:srgbClr val="24292F"/>
                </a:solidFill>
                <a:latin typeface="Consolas"/>
              </a:rPr>
              <a:t>=</a:t>
            </a:r>
            <a:r>
              <a:rPr sz="1800">
                <a:solidFill>
                  <a:srgbClr val="0A3069"/>
                </a:solidFill>
                <a:latin typeface="Consolas"/>
              </a:rPr>
              <a:t>"song.id"</a:t>
            </a:r>
            <a:r>
              <a:rPr sz="1800">
                <a:solidFill>
                  <a:srgbClr val="116329"/>
                </a:solidFill>
                <a:latin typeface="Consolas"/>
              </a:rPr>
              <a:t>&gt;</a:t>
            </a:r>
          </a:p>
          <a:p>
            <a:pPr marL="0" indent="0" algn="l">
              <a:lnSpc>
                <a:spcPct val="100000"/>
              </a:lnSpc>
              <a:buNone/>
            </a:pPr>
            <a:r>
              <a:rPr sz="1800">
                <a:solidFill>
                  <a:srgbClr val="24292F"/>
                </a:solidFill>
                <a:latin typeface="Consolas"/>
              </a:rPr>
              <a:t>  {{ index }}: {{ song.title }}</a:t>
            </a:r>
          </a:p>
          <a:p>
            <a:pPr marL="0" indent="0" algn="l">
              <a:lnSpc>
                <a:spcPct val="100000"/>
              </a:lnSpc>
              <a:buNone/>
            </a:pPr>
            <a:r>
              <a:rPr sz="1800">
                <a:solidFill>
                  <a:srgbClr val="116329"/>
                </a:solidFill>
                <a:latin typeface="Consolas"/>
              </a:rPr>
              <a:t>&lt;/li&gt;</a:t>
            </a:r>
          </a:p>
          <a:p>
            <a:pPr marL="0" indent="0" algn="l">
              <a:lnSpc>
                <a:spcPct val="100000"/>
              </a:lnSpc>
              <a:buNone/>
            </a:pPr>
            <a:r>
              <a:rPr sz="1800">
                <a:solidFill>
                  <a:srgbClr val="116329"/>
                </a:solidFill>
                <a:latin typeface="Consolas"/>
              </a:rPr>
              <a:t>&lt;li</a:t>
            </a:r>
            <a:r>
              <a:rPr sz="1800">
                <a:solidFill>
                  <a:srgbClr val="24292F"/>
                </a:solidFill>
                <a:latin typeface="Consolas"/>
              </a:rPr>
              <a:t> </a:t>
            </a:r>
            <a:r>
              <a:rPr sz="1800">
                <a:solidFill>
                  <a:srgbClr val="953800"/>
                </a:solidFill>
                <a:latin typeface="Consolas"/>
              </a:rPr>
              <a:t>v-for</a:t>
            </a:r>
            <a:r>
              <a:rPr sz="1800">
                <a:solidFill>
                  <a:srgbClr val="24292F"/>
                </a:solidFill>
                <a:latin typeface="Consolas"/>
              </a:rPr>
              <a:t>=</a:t>
            </a:r>
            <a:r>
              <a:rPr sz="1800">
                <a:solidFill>
                  <a:srgbClr val="0A3069"/>
                </a:solidFill>
                <a:latin typeface="Consolas"/>
              </a:rPr>
              <a:t>"(value, key) in person"</a:t>
            </a:r>
            <a:r>
              <a:rPr sz="1800">
                <a:solidFill>
                  <a:srgbClr val="24292F"/>
                </a:solidFill>
                <a:latin typeface="Consolas"/>
              </a:rPr>
              <a:t> </a:t>
            </a:r>
            <a:r>
              <a:rPr sz="1800">
                <a:solidFill>
                  <a:srgbClr val="953800"/>
                </a:solidFill>
                <a:latin typeface="Consolas"/>
              </a:rPr>
              <a:t>:key</a:t>
            </a:r>
            <a:r>
              <a:rPr sz="1800">
                <a:solidFill>
                  <a:srgbClr val="24292F"/>
                </a:solidFill>
                <a:latin typeface="Consolas"/>
              </a:rPr>
              <a:t>=</a:t>
            </a:r>
            <a:r>
              <a:rPr sz="1800">
                <a:solidFill>
                  <a:srgbClr val="0A3069"/>
                </a:solidFill>
                <a:latin typeface="Consolas"/>
              </a:rPr>
              <a:t>"key"</a:t>
            </a:r>
            <a:r>
              <a:rPr sz="1800">
                <a:solidFill>
                  <a:srgbClr val="116329"/>
                </a:solidFill>
                <a:latin typeface="Consolas"/>
              </a:rPr>
              <a:t>&gt;</a:t>
            </a:r>
          </a:p>
          <a:p>
            <a:pPr marL="0" indent="0" algn="l">
              <a:lnSpc>
                <a:spcPct val="100000"/>
              </a:lnSpc>
              <a:buNone/>
            </a:pPr>
            <a:r>
              <a:rPr sz="1800">
                <a:solidFill>
                  <a:srgbClr val="24292F"/>
                </a:solidFill>
                <a:latin typeface="Consolas"/>
              </a:rPr>
              <a:t>  {{ key }}: {{ value }}</a:t>
            </a:r>
          </a:p>
          <a:p>
            <a:pPr marL="0" indent="0" algn="l">
              <a:lnSpc>
                <a:spcPct val="100000"/>
              </a:lnSpc>
              <a:buNone/>
            </a:pPr>
            <a:r>
              <a:rPr sz="1800">
                <a:solidFill>
                  <a:srgbClr val="116329"/>
                </a:solidFill>
                <a:latin typeface="Consolas"/>
              </a:rPr>
              <a:t>&lt;/li&gt;</a:t>
            </a:r>
          </a:p>
          <a:p>
            <a:pPr marL="0" indent="0" algn="l">
              <a:lnSpc>
                <a:spcPct val="100000"/>
              </a:lnSpc>
              <a:buNone/>
            </a:pPr>
            <a:r>
              <a:rPr sz="1800">
                <a:solidFill>
                  <a:srgbClr val="116329"/>
                </a:solidFill>
                <a:latin typeface="Consolas"/>
              </a:rPr>
              <a:t>&lt;span</a:t>
            </a:r>
            <a:r>
              <a:rPr sz="1800">
                <a:solidFill>
                  <a:srgbClr val="24292F"/>
                </a:solidFill>
                <a:latin typeface="Consolas"/>
              </a:rPr>
              <a:t> </a:t>
            </a:r>
            <a:r>
              <a:rPr sz="1800">
                <a:solidFill>
                  <a:srgbClr val="953800"/>
                </a:solidFill>
                <a:latin typeface="Consolas"/>
              </a:rPr>
              <a:t>v-for</a:t>
            </a:r>
            <a:r>
              <a:rPr sz="1800">
                <a:solidFill>
                  <a:srgbClr val="24292F"/>
                </a:solidFill>
                <a:latin typeface="Consolas"/>
              </a:rPr>
              <a:t>=</a:t>
            </a:r>
            <a:r>
              <a:rPr sz="1800">
                <a:solidFill>
                  <a:srgbClr val="0A3069"/>
                </a:solidFill>
                <a:latin typeface="Consolas"/>
              </a:rPr>
              <a:t>"n in 5"</a:t>
            </a:r>
            <a:r>
              <a:rPr sz="1800">
                <a:solidFill>
                  <a:srgbClr val="24292F"/>
                </a:solidFill>
                <a:latin typeface="Consolas"/>
              </a:rPr>
              <a:t> </a:t>
            </a:r>
            <a:r>
              <a:rPr sz="1800">
                <a:solidFill>
                  <a:srgbClr val="953800"/>
                </a:solidFill>
                <a:latin typeface="Consolas"/>
              </a:rPr>
              <a:t>:key</a:t>
            </a:r>
            <a:r>
              <a:rPr sz="1800">
                <a:solidFill>
                  <a:srgbClr val="24292F"/>
                </a:solidFill>
                <a:latin typeface="Consolas"/>
              </a:rPr>
              <a:t>=</a:t>
            </a:r>
            <a:r>
              <a:rPr sz="1800">
                <a:solidFill>
                  <a:srgbClr val="0A3069"/>
                </a:solidFill>
                <a:latin typeface="Consolas"/>
              </a:rPr>
              <a:t>"n"</a:t>
            </a:r>
            <a:r>
              <a:rPr sz="1800">
                <a:solidFill>
                  <a:srgbClr val="116329"/>
                </a:solidFill>
                <a:latin typeface="Consolas"/>
              </a:rPr>
              <a:t>&gt;</a:t>
            </a:r>
            <a:r>
              <a:rPr sz="1800">
                <a:solidFill>
                  <a:srgbClr val="24292F"/>
                </a:solidFill>
                <a:latin typeface="Consolas"/>
              </a:rPr>
              <a:t>{{ n }}</a:t>
            </a:r>
            <a:r>
              <a:rPr sz="1800">
                <a:solidFill>
                  <a:srgbClr val="116329"/>
                </a:solidFill>
                <a:latin typeface="Consolas"/>
              </a:rPr>
              <a:t>&lt;/span&gt;</a:t>
            </a:r>
          </a:p>
        </p:txBody>
      </p:sp>
      <p:sp>
        <p:nvSpPr>
          <p:cNvPr id="5" name="Body"/>
          <p:cNvSpPr txBox="1"/>
          <p:nvPr/>
        </p:nvSpPr>
        <p:spPr>
          <a:xfrm>
            <a:off x="457200" y="4616450"/>
            <a:ext cx="8229600" cy="166166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Often used with HTML lists, table rows, and repeated components</a:t>
            </a:r>
          </a:p>
          <a:p>
            <a:pPr marL="274320" indent="-256032">
              <a:spcAft>
                <a:spcPts val="990"/>
              </a:spcAft>
              <a:buClr>
                <a:srgbClr val="42B883"/>
              </a:buClr>
              <a:buSzPct val="100000"/>
              <a:buFont typeface="Arial"/>
              <a:buChar char="•"/>
            </a:pPr>
            <a:r>
              <a:rPr sz="2090" b="0" i="0">
                <a:solidFill>
                  <a:srgbClr val="8A2B52"/>
                </a:solidFill>
                <a:latin typeface="Consolas"/>
              </a:rPr>
              <a:t>v-for</a:t>
            </a:r>
            <a:r>
              <a:rPr sz="2200" b="0" i="0">
                <a:solidFill>
                  <a:srgbClr val="1F2A36"/>
                </a:solidFill>
              </a:rPr>
              <a:t> can repeat a </a:t>
            </a:r>
            <a:r>
              <a:rPr sz="2090" b="0" i="0">
                <a:solidFill>
                  <a:srgbClr val="8A2B52"/>
                </a:solidFill>
                <a:latin typeface="Consolas"/>
              </a:rPr>
              <a:t>&lt;template&gt;</a:t>
            </a:r>
            <a:r>
              <a:rPr sz="2200" b="0" i="0">
                <a:solidFill>
                  <a:srgbClr val="1F2A36"/>
                </a:solidFill>
              </a:rPr>
              <a:t> to output several elements per item</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105</a:t>
            </a:fld>
            <a:endParaRPr lang="en-US" sz="900">
              <a:solidFill>
                <a:srgbClr val="9AA7B4"/>
              </a:solidFill>
            </a:endParaRPr>
          </a:p>
        </p:txBody>
      </p:sp>
    </p:spTree>
    <p:extLst>
      <p:ext uri="{BB962C8B-B14F-4D97-AF65-F5344CB8AC3E}">
        <p14:creationId xmlns:p14="http://schemas.microsoft.com/office/powerpoint/2010/main" val="15842979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6E9C-84E1-6345-8ED2-A3F0BBD5DE2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v-for with Arrays</a:t>
            </a:r>
          </a:p>
        </p:txBody>
      </p:sp>
      <p:sp>
        <p:nvSpPr>
          <p:cNvPr id="3" name="Body"/>
          <p:cNvSpPr txBox="1"/>
          <p:nvPr/>
        </p:nvSpPr>
        <p:spPr>
          <a:xfrm>
            <a:off x="457200" y="1261872"/>
            <a:ext cx="593217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Template</a:t>
            </a:r>
          </a:p>
        </p:txBody>
      </p:sp>
      <p:sp>
        <p:nvSpPr>
          <p:cNvPr id="4" name="Code"/>
          <p:cNvSpPr/>
          <p:nvPr/>
        </p:nvSpPr>
        <p:spPr>
          <a:xfrm>
            <a:off x="457200" y="1835657"/>
            <a:ext cx="5932170" cy="14737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&lt;ul</a:t>
            </a:r>
            <a:r>
              <a:rPr sz="1500">
                <a:solidFill>
                  <a:srgbClr val="24292F"/>
                </a:solidFill>
                <a:latin typeface="Consolas"/>
              </a:rPr>
              <a:t> </a:t>
            </a:r>
            <a:r>
              <a:rPr sz="1500">
                <a:solidFill>
                  <a:srgbClr val="953800"/>
                </a:solidFill>
                <a:latin typeface="Consolas"/>
              </a:rPr>
              <a:t>id</a:t>
            </a:r>
            <a:r>
              <a:rPr sz="1500">
                <a:solidFill>
                  <a:srgbClr val="24292F"/>
                </a:solidFill>
                <a:latin typeface="Consolas"/>
              </a:rPr>
              <a:t>=</a:t>
            </a:r>
            <a:r>
              <a:rPr sz="1500">
                <a:solidFill>
                  <a:srgbClr val="0A3069"/>
                </a:solidFill>
                <a:latin typeface="Consolas"/>
              </a:rPr>
              <a:t>"favorite-songs"</a:t>
            </a:r>
            <a:r>
              <a:rPr sz="1500">
                <a:solidFill>
                  <a:srgbClr val="116329"/>
                </a:solidFill>
                <a:latin typeface="Consolas"/>
              </a:rPr>
              <a:t>&gt;</a:t>
            </a:r>
          </a:p>
          <a:p>
            <a:pPr marL="0" indent="0" algn="l">
              <a:lnSpc>
                <a:spcPct val="100000"/>
              </a:lnSpc>
              <a:buNone/>
            </a:pPr>
            <a:r>
              <a:rPr sz="1500">
                <a:solidFill>
                  <a:srgbClr val="24292F"/>
                </a:solidFill>
                <a:latin typeface="Consolas"/>
              </a:rPr>
              <a:t>  </a:t>
            </a:r>
            <a:r>
              <a:rPr sz="1500">
                <a:solidFill>
                  <a:srgbClr val="116329"/>
                </a:solidFill>
                <a:latin typeface="Consolas"/>
              </a:rPr>
              <a:t>&lt;li</a:t>
            </a:r>
            <a:r>
              <a:rPr sz="1500">
                <a:solidFill>
                  <a:srgbClr val="24292F"/>
                </a:solidFill>
                <a:latin typeface="Consolas"/>
              </a:rPr>
              <a:t> </a:t>
            </a:r>
            <a:r>
              <a:rPr sz="1500">
                <a:solidFill>
                  <a:srgbClr val="953800"/>
                </a:solidFill>
                <a:latin typeface="Consolas"/>
              </a:rPr>
              <a:t>v-for</a:t>
            </a:r>
            <a:r>
              <a:rPr sz="1500">
                <a:solidFill>
                  <a:srgbClr val="24292F"/>
                </a:solidFill>
                <a:latin typeface="Consolas"/>
              </a:rPr>
              <a:t>=</a:t>
            </a:r>
            <a:r>
              <a:rPr sz="1500">
                <a:solidFill>
                  <a:srgbClr val="0A3069"/>
                </a:solidFill>
                <a:latin typeface="Consolas"/>
              </a:rPr>
              <a:t>"song in songs"</a:t>
            </a:r>
            <a:r>
              <a:rPr sz="1500">
                <a:solidFill>
                  <a:srgbClr val="24292F"/>
                </a:solidFill>
                <a:latin typeface="Consolas"/>
              </a:rPr>
              <a:t> </a:t>
            </a:r>
            <a:r>
              <a:rPr sz="1500">
                <a:solidFill>
                  <a:srgbClr val="953800"/>
                </a:solidFill>
                <a:latin typeface="Consolas"/>
              </a:rPr>
              <a:t>:key</a:t>
            </a:r>
            <a:r>
              <a:rPr sz="1500">
                <a:solidFill>
                  <a:srgbClr val="24292F"/>
                </a:solidFill>
                <a:latin typeface="Consolas"/>
              </a:rPr>
              <a:t>=</a:t>
            </a:r>
            <a:r>
              <a:rPr sz="1500">
                <a:solidFill>
                  <a:srgbClr val="0A3069"/>
                </a:solidFill>
                <a:latin typeface="Consolas"/>
              </a:rPr>
              <a:t>"song.title"</a:t>
            </a:r>
            <a:r>
              <a:rPr sz="1500">
                <a:solidFill>
                  <a:srgbClr val="116329"/>
                </a:solidFill>
                <a:latin typeface="Consolas"/>
              </a:rPr>
              <a:t>&gt;</a:t>
            </a:r>
          </a:p>
          <a:p>
            <a:pPr marL="0" indent="0" algn="l">
              <a:lnSpc>
                <a:spcPct val="100000"/>
              </a:lnSpc>
              <a:buNone/>
            </a:pPr>
            <a:r>
              <a:rPr sz="1500">
                <a:solidFill>
                  <a:srgbClr val="24292F"/>
                </a:solidFill>
                <a:latin typeface="Consolas"/>
              </a:rPr>
              <a:t>    {{ song.title }}</a:t>
            </a:r>
          </a:p>
          <a:p>
            <a:pPr marL="0" indent="0" algn="l">
              <a:lnSpc>
                <a:spcPct val="100000"/>
              </a:lnSpc>
              <a:buNone/>
            </a:pPr>
            <a:r>
              <a:rPr sz="1500">
                <a:solidFill>
                  <a:srgbClr val="24292F"/>
                </a:solidFill>
                <a:latin typeface="Consolas"/>
              </a:rPr>
              <a:t>  </a:t>
            </a:r>
            <a:r>
              <a:rPr sz="1500">
                <a:solidFill>
                  <a:srgbClr val="116329"/>
                </a:solidFill>
                <a:latin typeface="Consolas"/>
              </a:rPr>
              <a:t>&lt;/li&gt;</a:t>
            </a:r>
          </a:p>
          <a:p>
            <a:pPr marL="0" indent="0" algn="l">
              <a:lnSpc>
                <a:spcPct val="100000"/>
              </a:lnSpc>
              <a:buNone/>
            </a:pPr>
            <a:r>
              <a:rPr sz="1500">
                <a:solidFill>
                  <a:srgbClr val="116329"/>
                </a:solidFill>
                <a:latin typeface="Consolas"/>
              </a:rPr>
              <a:t>&lt;/ul&gt;</a:t>
            </a:r>
          </a:p>
        </p:txBody>
      </p:sp>
      <p:sp>
        <p:nvSpPr>
          <p:cNvPr id="5" name="Body"/>
          <p:cNvSpPr txBox="1"/>
          <p:nvPr/>
        </p:nvSpPr>
        <p:spPr>
          <a:xfrm>
            <a:off x="457200" y="3455670"/>
            <a:ext cx="593217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State</a:t>
            </a:r>
          </a:p>
        </p:txBody>
      </p:sp>
      <p:sp>
        <p:nvSpPr>
          <p:cNvPr id="6" name="Code"/>
          <p:cNvSpPr/>
          <p:nvPr/>
        </p:nvSpPr>
        <p:spPr>
          <a:xfrm>
            <a:off x="457200" y="4029456"/>
            <a:ext cx="593217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songs = ref([</a:t>
            </a:r>
          </a:p>
          <a:p>
            <a:pPr marL="0" indent="0" algn="l">
              <a:lnSpc>
                <a:spcPct val="100000"/>
              </a:lnSpc>
              <a:buNone/>
            </a:pPr>
            <a:r>
              <a:rPr sz="2000">
                <a:solidFill>
                  <a:srgbClr val="24292F"/>
                </a:solidFill>
                <a:latin typeface="Consolas"/>
              </a:rPr>
              <a:t>  { title: </a:t>
            </a:r>
            <a:r>
              <a:rPr sz="2000">
                <a:solidFill>
                  <a:srgbClr val="0A3069"/>
                </a:solidFill>
                <a:latin typeface="Consolas"/>
              </a:rPr>
              <a:t>'Hotel California'</a:t>
            </a:r>
            <a:r>
              <a:rPr sz="2000">
                <a:solidFill>
                  <a:srgbClr val="24292F"/>
                </a:solidFill>
                <a:latin typeface="Consolas"/>
              </a:rPr>
              <a:t> },</a:t>
            </a:r>
          </a:p>
          <a:p>
            <a:pPr marL="0" indent="0" algn="l">
              <a:lnSpc>
                <a:spcPct val="100000"/>
              </a:lnSpc>
              <a:buNone/>
            </a:pPr>
            <a:r>
              <a:rPr sz="2000">
                <a:solidFill>
                  <a:srgbClr val="24292F"/>
                </a:solidFill>
                <a:latin typeface="Consolas"/>
              </a:rPr>
              <a:t>  { title: </a:t>
            </a:r>
            <a:r>
              <a:rPr sz="2000">
                <a:solidFill>
                  <a:srgbClr val="0A3069"/>
                </a:solidFill>
                <a:latin typeface="Consolas"/>
              </a:rPr>
              <a:t>'April in Paris'</a:t>
            </a: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7" name="Body"/>
          <p:cNvSpPr txBox="1"/>
          <p:nvPr/>
        </p:nvSpPr>
        <p:spPr>
          <a:xfrm>
            <a:off x="6709410" y="1261872"/>
            <a:ext cx="1977390" cy="2089149"/>
          </a:xfrm>
          <a:prstGeom prst="rect">
            <a:avLst/>
          </a:prstGeom>
          <a:noFill/>
        </p:spPr>
        <p:txBody>
          <a:bodyPr wrap="square" lIns="0" tIns="0" rIns="0" bIns="0">
            <a:noAutofit/>
          </a:bodyPr>
          <a:lstStyle/>
          <a:p>
            <a:pPr marL="0" indent="0">
              <a:spcAft>
                <a:spcPts val="769"/>
              </a:spcAft>
              <a:buNone/>
            </a:pPr>
            <a:r>
              <a:rPr sz="2200" b="1" i="0">
                <a:solidFill>
                  <a:srgbClr val="2E8B62"/>
                </a:solidFill>
              </a:rPr>
              <a:t>Result</a:t>
            </a:r>
          </a:p>
          <a:p>
            <a:pPr marL="274320" indent="-256032">
              <a:spcAft>
                <a:spcPts val="990"/>
              </a:spcAft>
              <a:buClr>
                <a:srgbClr val="42B883"/>
              </a:buClr>
              <a:buSzPct val="100000"/>
              <a:buFont typeface="Arial"/>
              <a:buChar char="•"/>
            </a:pPr>
            <a:r>
              <a:rPr sz="2200" b="0" i="0">
                <a:solidFill>
                  <a:srgbClr val="1F2A36"/>
                </a:solidFill>
              </a:rPr>
              <a:t>Hotel California</a:t>
            </a:r>
          </a:p>
          <a:p>
            <a:pPr marL="274320" indent="-256032">
              <a:spcAft>
                <a:spcPts val="990"/>
              </a:spcAft>
              <a:buClr>
                <a:srgbClr val="42B883"/>
              </a:buClr>
              <a:buSzPct val="100000"/>
              <a:buFont typeface="Arial"/>
              <a:buChar char="•"/>
            </a:pPr>
            <a:r>
              <a:rPr sz="2200" b="0" i="0">
                <a:solidFill>
                  <a:srgbClr val="1F2A36"/>
                </a:solidFill>
              </a:rPr>
              <a:t>April in Paris</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106</a:t>
            </a:fld>
            <a:endParaRPr lang="en-US" sz="900">
              <a:solidFill>
                <a:srgbClr val="9AA7B4"/>
              </a:solidFill>
            </a:endParaRPr>
          </a:p>
        </p:txBody>
      </p:sp>
    </p:spTree>
    <p:extLst>
      <p:ext uri="{BB962C8B-B14F-4D97-AF65-F5344CB8AC3E}">
        <p14:creationId xmlns:p14="http://schemas.microsoft.com/office/powerpoint/2010/main" val="6282289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8D76-4EF2-424D-8172-DD0F88EAF4F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v-for with Objects</a:t>
            </a:r>
          </a:p>
        </p:txBody>
      </p:sp>
      <p:sp>
        <p:nvSpPr>
          <p:cNvPr id="3" name="Body"/>
          <p:cNvSpPr txBox="1"/>
          <p:nvPr/>
        </p:nvSpPr>
        <p:spPr>
          <a:xfrm>
            <a:off x="457200" y="1261872"/>
            <a:ext cx="8229600" cy="505459"/>
          </a:xfrm>
          <a:prstGeom prst="rect">
            <a:avLst/>
          </a:prstGeom>
          <a:noFill/>
        </p:spPr>
        <p:txBody>
          <a:bodyPr wrap="square" lIns="0" tIns="0" rIns="0" bIns="0">
            <a:noAutofit/>
          </a:bodyPr>
          <a:lstStyle/>
          <a:p>
            <a:pPr marL="0" indent="0">
              <a:spcAft>
                <a:spcPts val="900"/>
              </a:spcAft>
              <a:buNone/>
            </a:pPr>
            <a:r>
              <a:rPr sz="2000" b="0" i="0">
                <a:solidFill>
                  <a:srgbClr val="1F2A36"/>
                </a:solidFill>
              </a:rPr>
              <a:t>With an object, </a:t>
            </a:r>
            <a:r>
              <a:rPr sz="1900" b="0" i="0">
                <a:solidFill>
                  <a:srgbClr val="8A2B52"/>
                </a:solidFill>
                <a:latin typeface="Consolas"/>
              </a:rPr>
              <a:t>v-for</a:t>
            </a:r>
            <a:r>
              <a:rPr sz="2000" b="0" i="0">
                <a:solidFill>
                  <a:srgbClr val="1F2A36"/>
                </a:solidFill>
              </a:rPr>
              <a:t> iterates over the object's properties.</a:t>
            </a:r>
          </a:p>
        </p:txBody>
      </p:sp>
      <p:sp>
        <p:nvSpPr>
          <p:cNvPr id="4" name="Body"/>
          <p:cNvSpPr txBox="1"/>
          <p:nvPr/>
        </p:nvSpPr>
        <p:spPr>
          <a:xfrm>
            <a:off x="457200" y="1822195"/>
            <a:ext cx="593217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Template</a:t>
            </a:r>
          </a:p>
        </p:txBody>
      </p:sp>
      <p:sp>
        <p:nvSpPr>
          <p:cNvPr id="5" name="Code"/>
          <p:cNvSpPr/>
          <p:nvPr/>
        </p:nvSpPr>
        <p:spPr>
          <a:xfrm>
            <a:off x="457200" y="2395981"/>
            <a:ext cx="5932170" cy="143433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116329"/>
                </a:solidFill>
                <a:latin typeface="Consolas"/>
              </a:rPr>
              <a:t>&lt;ul&gt;</a:t>
            </a:r>
          </a:p>
          <a:p>
            <a:pPr marL="0" indent="0" algn="l">
              <a:lnSpc>
                <a:spcPct val="100000"/>
              </a:lnSpc>
              <a:buNone/>
            </a:pPr>
            <a:r>
              <a:rPr sz="1450">
                <a:solidFill>
                  <a:srgbClr val="24292F"/>
                </a:solidFill>
                <a:latin typeface="Consolas"/>
              </a:rPr>
              <a:t>  </a:t>
            </a:r>
            <a:r>
              <a:rPr sz="1450">
                <a:solidFill>
                  <a:srgbClr val="116329"/>
                </a:solidFill>
                <a:latin typeface="Consolas"/>
              </a:rPr>
              <a:t>&lt;li</a:t>
            </a:r>
            <a:r>
              <a:rPr sz="1450">
                <a:solidFill>
                  <a:srgbClr val="24292F"/>
                </a:solidFill>
                <a:latin typeface="Consolas"/>
              </a:rPr>
              <a:t> </a:t>
            </a:r>
            <a:r>
              <a:rPr sz="1450">
                <a:solidFill>
                  <a:srgbClr val="953800"/>
                </a:solidFill>
                <a:latin typeface="Consolas"/>
              </a:rPr>
              <a:t>v-for</a:t>
            </a:r>
            <a:r>
              <a:rPr sz="1450">
                <a:solidFill>
                  <a:srgbClr val="24292F"/>
                </a:solidFill>
                <a:latin typeface="Consolas"/>
              </a:rPr>
              <a:t>=</a:t>
            </a:r>
            <a:r>
              <a:rPr sz="1450">
                <a:solidFill>
                  <a:srgbClr val="0A3069"/>
                </a:solidFill>
                <a:latin typeface="Consolas"/>
              </a:rPr>
              <a:t>"(value, key) in person"</a:t>
            </a:r>
            <a:r>
              <a:rPr sz="1450">
                <a:solidFill>
                  <a:srgbClr val="24292F"/>
                </a:solidFill>
                <a:latin typeface="Consolas"/>
              </a:rPr>
              <a:t> </a:t>
            </a:r>
            <a:r>
              <a:rPr sz="1450">
                <a:solidFill>
                  <a:srgbClr val="953800"/>
                </a:solidFill>
                <a:latin typeface="Consolas"/>
              </a:rPr>
              <a:t>:key</a:t>
            </a:r>
            <a:r>
              <a:rPr sz="1450">
                <a:solidFill>
                  <a:srgbClr val="24292F"/>
                </a:solidFill>
                <a:latin typeface="Consolas"/>
              </a:rPr>
              <a:t>=</a:t>
            </a:r>
            <a:r>
              <a:rPr sz="1450">
                <a:solidFill>
                  <a:srgbClr val="0A3069"/>
                </a:solidFill>
                <a:latin typeface="Consolas"/>
              </a:rPr>
              <a:t>"key"</a:t>
            </a:r>
            <a:r>
              <a:rPr sz="1450">
                <a:solidFill>
                  <a:srgbClr val="116329"/>
                </a:solidFill>
                <a:latin typeface="Consolas"/>
              </a:rPr>
              <a:t>&gt;</a:t>
            </a:r>
          </a:p>
          <a:p>
            <a:pPr marL="0" indent="0" algn="l">
              <a:lnSpc>
                <a:spcPct val="100000"/>
              </a:lnSpc>
              <a:buNone/>
            </a:pPr>
            <a:r>
              <a:rPr sz="1450">
                <a:solidFill>
                  <a:srgbClr val="24292F"/>
                </a:solidFill>
                <a:latin typeface="Consolas"/>
              </a:rPr>
              <a:t>    {{ key }}: {{ value }}</a:t>
            </a:r>
          </a:p>
          <a:p>
            <a:pPr marL="0" indent="0" algn="l">
              <a:lnSpc>
                <a:spcPct val="100000"/>
              </a:lnSpc>
              <a:buNone/>
            </a:pPr>
            <a:r>
              <a:rPr sz="1450">
                <a:solidFill>
                  <a:srgbClr val="24292F"/>
                </a:solidFill>
                <a:latin typeface="Consolas"/>
              </a:rPr>
              <a:t>  </a:t>
            </a:r>
            <a:r>
              <a:rPr sz="1450">
                <a:solidFill>
                  <a:srgbClr val="116329"/>
                </a:solidFill>
                <a:latin typeface="Consolas"/>
              </a:rPr>
              <a:t>&lt;/li&gt;</a:t>
            </a:r>
          </a:p>
          <a:p>
            <a:pPr marL="0" indent="0" algn="l">
              <a:lnSpc>
                <a:spcPct val="100000"/>
              </a:lnSpc>
              <a:buNone/>
            </a:pPr>
            <a:r>
              <a:rPr sz="1450">
                <a:solidFill>
                  <a:srgbClr val="116329"/>
                </a:solidFill>
                <a:latin typeface="Consolas"/>
              </a:rPr>
              <a:t>&lt;/ul&gt;</a:t>
            </a:r>
          </a:p>
        </p:txBody>
      </p:sp>
      <p:sp>
        <p:nvSpPr>
          <p:cNvPr id="6" name="Body"/>
          <p:cNvSpPr txBox="1"/>
          <p:nvPr/>
        </p:nvSpPr>
        <p:spPr>
          <a:xfrm>
            <a:off x="457200" y="3976623"/>
            <a:ext cx="593217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State</a:t>
            </a:r>
          </a:p>
        </p:txBody>
      </p:sp>
      <p:sp>
        <p:nvSpPr>
          <p:cNvPr id="7" name="Code"/>
          <p:cNvSpPr/>
          <p:nvPr/>
        </p:nvSpPr>
        <p:spPr>
          <a:xfrm>
            <a:off x="457200" y="4550410"/>
            <a:ext cx="593217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person = ref({</a:t>
            </a:r>
          </a:p>
          <a:p>
            <a:pPr marL="0" indent="0" algn="l">
              <a:lnSpc>
                <a:spcPct val="100000"/>
              </a:lnSpc>
              <a:buNone/>
            </a:pPr>
            <a:r>
              <a:rPr sz="2000">
                <a:solidFill>
                  <a:srgbClr val="24292F"/>
                </a:solidFill>
                <a:latin typeface="Consolas"/>
              </a:rPr>
              <a:t>  firstName: </a:t>
            </a:r>
            <a:r>
              <a:rPr sz="2000">
                <a:solidFill>
                  <a:srgbClr val="0A3069"/>
                </a:solidFill>
                <a:latin typeface="Consolas"/>
              </a:rPr>
              <a:t>'Joe'</a:t>
            </a:r>
            <a:r>
              <a:rPr sz="2000">
                <a:solidFill>
                  <a:srgbClr val="24292F"/>
                </a:solidFill>
                <a:latin typeface="Consolas"/>
              </a:rPr>
              <a:t>,</a:t>
            </a:r>
          </a:p>
          <a:p>
            <a:pPr marL="0" indent="0" algn="l">
              <a:lnSpc>
                <a:spcPct val="100000"/>
              </a:lnSpc>
              <a:buNone/>
            </a:pPr>
            <a:r>
              <a:rPr sz="2000">
                <a:solidFill>
                  <a:srgbClr val="24292F"/>
                </a:solidFill>
                <a:latin typeface="Consolas"/>
              </a:rPr>
              <a:t>  lastName: </a:t>
            </a:r>
            <a:r>
              <a:rPr sz="2000">
                <a:solidFill>
                  <a:srgbClr val="0A3069"/>
                </a:solidFill>
                <a:latin typeface="Consolas"/>
              </a:rPr>
              <a:t>'Smith'</a:t>
            </a:r>
            <a:r>
              <a:rPr sz="2000">
                <a:solidFill>
                  <a:srgbClr val="24292F"/>
                </a:solidFill>
                <a:latin typeface="Consolas"/>
              </a:rPr>
              <a:t>,</a:t>
            </a:r>
          </a:p>
          <a:p>
            <a:pPr marL="0" indent="0" algn="l">
              <a:lnSpc>
                <a:spcPct val="100000"/>
              </a:lnSpc>
              <a:buNone/>
            </a:pPr>
            <a:r>
              <a:rPr sz="2000">
                <a:solidFill>
                  <a:srgbClr val="24292F"/>
                </a:solidFill>
                <a:latin typeface="Consolas"/>
              </a:rPr>
              <a:t>})</a:t>
            </a:r>
          </a:p>
        </p:txBody>
      </p:sp>
      <p:sp>
        <p:nvSpPr>
          <p:cNvPr id="8" name="Body"/>
          <p:cNvSpPr txBox="1"/>
          <p:nvPr/>
        </p:nvSpPr>
        <p:spPr>
          <a:xfrm>
            <a:off x="6709410" y="1822195"/>
            <a:ext cx="1977390" cy="2089149"/>
          </a:xfrm>
          <a:prstGeom prst="rect">
            <a:avLst/>
          </a:prstGeom>
          <a:noFill/>
        </p:spPr>
        <p:txBody>
          <a:bodyPr wrap="square" lIns="0" tIns="0" rIns="0" bIns="0">
            <a:noAutofit/>
          </a:bodyPr>
          <a:lstStyle/>
          <a:p>
            <a:pPr marL="0" indent="0">
              <a:spcAft>
                <a:spcPts val="769"/>
              </a:spcAft>
              <a:buNone/>
            </a:pPr>
            <a:r>
              <a:rPr sz="2200" b="1" i="0">
                <a:solidFill>
                  <a:srgbClr val="2E8B62"/>
                </a:solidFill>
              </a:rPr>
              <a:t>Result</a:t>
            </a:r>
          </a:p>
          <a:p>
            <a:pPr marL="274320" indent="-256032">
              <a:spcAft>
                <a:spcPts val="990"/>
              </a:spcAft>
              <a:buClr>
                <a:srgbClr val="42B883"/>
              </a:buClr>
              <a:buSzPct val="100000"/>
              <a:buFont typeface="Arial"/>
              <a:buChar char="•"/>
            </a:pPr>
            <a:r>
              <a:rPr sz="2200" b="0" i="0">
                <a:solidFill>
                  <a:srgbClr val="1F2A36"/>
                </a:solidFill>
              </a:rPr>
              <a:t>firstName: Joe</a:t>
            </a:r>
          </a:p>
          <a:p>
            <a:pPr marL="274320" indent="-256032">
              <a:spcAft>
                <a:spcPts val="990"/>
              </a:spcAft>
              <a:buClr>
                <a:srgbClr val="42B883"/>
              </a:buClr>
              <a:buSzPct val="100000"/>
              <a:buFont typeface="Arial"/>
              <a:buChar char="•"/>
            </a:pPr>
            <a:r>
              <a:rPr sz="2200" b="0" i="0">
                <a:solidFill>
                  <a:srgbClr val="1F2A36"/>
                </a:solidFill>
              </a:rPr>
              <a:t>lastName: Smith</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107</a:t>
            </a:fld>
            <a:endParaRPr lang="en-US" sz="900">
              <a:solidFill>
                <a:srgbClr val="9AA7B4"/>
              </a:solidFill>
            </a:endParaRPr>
          </a:p>
        </p:txBody>
      </p:sp>
    </p:spTree>
    <p:extLst>
      <p:ext uri="{BB962C8B-B14F-4D97-AF65-F5344CB8AC3E}">
        <p14:creationId xmlns:p14="http://schemas.microsoft.com/office/powerpoint/2010/main" val="32046659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817F-D47B-B347-A447-5C3B6AE47AB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Conditional Rendering</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Use </a:t>
            </a:r>
            <a:r>
              <a:rPr sz="2090" b="0" i="0">
                <a:solidFill>
                  <a:srgbClr val="8A2B52"/>
                </a:solidFill>
                <a:latin typeface="Consolas"/>
              </a:rPr>
              <a:t>v-if</a:t>
            </a:r>
            <a:r>
              <a:rPr sz="2200" b="0" i="0">
                <a:solidFill>
                  <a:srgbClr val="1F2A36"/>
                </a:solidFill>
              </a:rPr>
              <a:t>, </a:t>
            </a:r>
            <a:r>
              <a:rPr sz="2090" b="0" i="0">
                <a:solidFill>
                  <a:srgbClr val="8A2B52"/>
                </a:solidFill>
                <a:latin typeface="Consolas"/>
              </a:rPr>
              <a:t>v-else-if</a:t>
            </a:r>
            <a:r>
              <a:rPr sz="2200" b="0" i="0">
                <a:solidFill>
                  <a:srgbClr val="1F2A36"/>
                </a:solidFill>
              </a:rPr>
              <a:t> and </a:t>
            </a:r>
            <a:r>
              <a:rPr sz="2090" b="0" i="0">
                <a:solidFill>
                  <a:srgbClr val="8A2B52"/>
                </a:solidFill>
                <a:latin typeface="Consolas"/>
              </a:rPr>
              <a:t>v-else</a:t>
            </a:r>
            <a:r>
              <a:rPr sz="2200" b="0" i="0">
                <a:solidFill>
                  <a:srgbClr val="1F2A36"/>
                </a:solidFill>
              </a:rPr>
              <a:t>:</a:t>
            </a:r>
          </a:p>
        </p:txBody>
      </p:sp>
      <p:sp>
        <p:nvSpPr>
          <p:cNvPr id="4" name="Code"/>
          <p:cNvSpPr/>
          <p:nvPr/>
        </p:nvSpPr>
        <p:spPr>
          <a:xfrm>
            <a:off x="457200" y="1863597"/>
            <a:ext cx="8229600" cy="116662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116329"/>
                </a:solidFill>
                <a:latin typeface="Consolas"/>
              </a:rPr>
              <a:t>&lt;h1</a:t>
            </a:r>
            <a:r>
              <a:rPr sz="1850">
                <a:solidFill>
                  <a:srgbClr val="24292F"/>
                </a:solidFill>
                <a:latin typeface="Consolas"/>
              </a:rPr>
              <a:t> </a:t>
            </a:r>
            <a:r>
              <a:rPr sz="1850">
                <a:solidFill>
                  <a:srgbClr val="953800"/>
                </a:solidFill>
                <a:latin typeface="Consolas"/>
              </a:rPr>
              <a:t>v-if</a:t>
            </a:r>
            <a:r>
              <a:rPr sz="1850">
                <a:solidFill>
                  <a:srgbClr val="24292F"/>
                </a:solidFill>
                <a:latin typeface="Consolas"/>
              </a:rPr>
              <a:t>=</a:t>
            </a:r>
            <a:r>
              <a:rPr sz="1850">
                <a:solidFill>
                  <a:srgbClr val="0A3069"/>
                </a:solidFill>
                <a:latin typeface="Consolas"/>
              </a:rPr>
              <a:t>"thing === true"</a:t>
            </a:r>
            <a:r>
              <a:rPr sz="1850">
                <a:solidFill>
                  <a:srgbClr val="116329"/>
                </a:solidFill>
                <a:latin typeface="Consolas"/>
              </a:rPr>
              <a:t>&gt;</a:t>
            </a:r>
            <a:r>
              <a:rPr sz="1850">
                <a:solidFill>
                  <a:srgbClr val="24292F"/>
                </a:solidFill>
                <a:latin typeface="Consolas"/>
              </a:rPr>
              <a:t>It is so</a:t>
            </a:r>
            <a:r>
              <a:rPr sz="1850">
                <a:solidFill>
                  <a:srgbClr val="116329"/>
                </a:solidFill>
                <a:latin typeface="Consolas"/>
              </a:rPr>
              <a:t>&lt;/h1&gt;</a:t>
            </a:r>
          </a:p>
          <a:p>
            <a:pPr marL="0" indent="0" algn="l">
              <a:lnSpc>
                <a:spcPct val="100000"/>
              </a:lnSpc>
              <a:buNone/>
            </a:pPr>
            <a:r>
              <a:rPr sz="1850">
                <a:solidFill>
                  <a:srgbClr val="116329"/>
                </a:solidFill>
                <a:latin typeface="Consolas"/>
              </a:rPr>
              <a:t>&lt;h1</a:t>
            </a:r>
            <a:r>
              <a:rPr sz="1850">
                <a:solidFill>
                  <a:srgbClr val="24292F"/>
                </a:solidFill>
                <a:latin typeface="Consolas"/>
              </a:rPr>
              <a:t> </a:t>
            </a:r>
            <a:r>
              <a:rPr sz="1850">
                <a:solidFill>
                  <a:srgbClr val="953800"/>
                </a:solidFill>
                <a:latin typeface="Consolas"/>
              </a:rPr>
              <a:t>v-else-if</a:t>
            </a:r>
            <a:r>
              <a:rPr sz="1850">
                <a:solidFill>
                  <a:srgbClr val="24292F"/>
                </a:solidFill>
                <a:latin typeface="Consolas"/>
              </a:rPr>
              <a:t>=</a:t>
            </a:r>
            <a:r>
              <a:rPr sz="1850">
                <a:solidFill>
                  <a:srgbClr val="0A3069"/>
                </a:solidFill>
                <a:latin typeface="Consolas"/>
              </a:rPr>
              <a:t>"thing === undefined"</a:t>
            </a:r>
            <a:r>
              <a:rPr sz="1850">
                <a:solidFill>
                  <a:srgbClr val="116329"/>
                </a:solidFill>
                <a:latin typeface="Consolas"/>
              </a:rPr>
              <a:t>&gt;</a:t>
            </a:r>
            <a:r>
              <a:rPr sz="1850">
                <a:solidFill>
                  <a:srgbClr val="24292F"/>
                </a:solidFill>
                <a:latin typeface="Consolas"/>
              </a:rPr>
              <a:t>We don't know</a:t>
            </a:r>
            <a:r>
              <a:rPr sz="1850">
                <a:solidFill>
                  <a:srgbClr val="116329"/>
                </a:solidFill>
                <a:latin typeface="Consolas"/>
              </a:rPr>
              <a:t>&lt;/h1&gt;</a:t>
            </a:r>
          </a:p>
          <a:p>
            <a:pPr marL="0" indent="0" algn="l">
              <a:lnSpc>
                <a:spcPct val="100000"/>
              </a:lnSpc>
              <a:buNone/>
            </a:pPr>
            <a:r>
              <a:rPr sz="1850">
                <a:solidFill>
                  <a:srgbClr val="116329"/>
                </a:solidFill>
                <a:latin typeface="Consolas"/>
              </a:rPr>
              <a:t>&lt;h1</a:t>
            </a:r>
            <a:r>
              <a:rPr sz="1850">
                <a:solidFill>
                  <a:srgbClr val="24292F"/>
                </a:solidFill>
                <a:latin typeface="Consolas"/>
              </a:rPr>
              <a:t> </a:t>
            </a:r>
            <a:r>
              <a:rPr sz="1850">
                <a:solidFill>
                  <a:srgbClr val="953800"/>
                </a:solidFill>
                <a:latin typeface="Consolas"/>
              </a:rPr>
              <a:t>v</a:t>
            </a:r>
            <a:r>
              <a:rPr sz="1850">
                <a:solidFill>
                  <a:srgbClr val="24292F"/>
                </a:solidFill>
                <a:latin typeface="Consolas"/>
              </a:rPr>
              <a:t>-</a:t>
            </a:r>
            <a:r>
              <a:rPr sz="1850">
                <a:solidFill>
                  <a:srgbClr val="953800"/>
                </a:solidFill>
                <a:latin typeface="Consolas"/>
              </a:rPr>
              <a:t>else</a:t>
            </a:r>
            <a:r>
              <a:rPr sz="1850">
                <a:solidFill>
                  <a:srgbClr val="116329"/>
                </a:solidFill>
                <a:latin typeface="Consolas"/>
              </a:rPr>
              <a:t>&gt;</a:t>
            </a:r>
            <a:r>
              <a:rPr sz="1850">
                <a:solidFill>
                  <a:srgbClr val="24292F"/>
                </a:solidFill>
                <a:latin typeface="Consolas"/>
              </a:rPr>
              <a:t>It is not so</a:t>
            </a:r>
            <a:r>
              <a:rPr sz="1850">
                <a:solidFill>
                  <a:srgbClr val="116329"/>
                </a:solidFill>
                <a:latin typeface="Consolas"/>
              </a:rPr>
              <a:t>&lt;/h1&gt;</a:t>
            </a:r>
          </a:p>
        </p:txBody>
      </p:sp>
      <p:sp>
        <p:nvSpPr>
          <p:cNvPr id="5" name="Body"/>
          <p:cNvSpPr txBox="1"/>
          <p:nvPr/>
        </p:nvSpPr>
        <p:spPr>
          <a:xfrm>
            <a:off x="457200" y="3176523"/>
            <a:ext cx="8229600" cy="244678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v-else-if</a:t>
            </a:r>
            <a:r>
              <a:rPr sz="2200" b="0" i="0">
                <a:solidFill>
                  <a:srgbClr val="1F2A36"/>
                </a:solidFill>
              </a:rPr>
              <a:t> and </a:t>
            </a:r>
            <a:r>
              <a:rPr sz="2090" b="0" i="0">
                <a:solidFill>
                  <a:srgbClr val="8A2B52"/>
                </a:solidFill>
                <a:latin typeface="Consolas"/>
              </a:rPr>
              <a:t>v-else</a:t>
            </a:r>
            <a:r>
              <a:rPr sz="2200" b="0" i="0">
                <a:solidFill>
                  <a:srgbClr val="1F2A36"/>
                </a:solidFill>
              </a:rPr>
              <a:t> must immediately follow a </a:t>
            </a:r>
            <a:r>
              <a:rPr sz="2090" b="0" i="0">
                <a:solidFill>
                  <a:srgbClr val="8A2B52"/>
                </a:solidFill>
                <a:latin typeface="Consolas"/>
              </a:rPr>
              <a:t>v-if</a:t>
            </a:r>
            <a:r>
              <a:rPr sz="2200" b="0" i="0">
                <a:solidFill>
                  <a:srgbClr val="1F2A36"/>
                </a:solidFill>
              </a:rPr>
              <a:t> or </a:t>
            </a:r>
            <a:r>
              <a:rPr sz="2090" b="0" i="0">
                <a:solidFill>
                  <a:srgbClr val="8A2B52"/>
                </a:solidFill>
                <a:latin typeface="Consolas"/>
              </a:rPr>
              <a:t>v-else-if</a:t>
            </a:r>
            <a:r>
              <a:rPr sz="2200" b="0" i="0">
                <a:solidFill>
                  <a:srgbClr val="1F2A36"/>
                </a:solidFill>
              </a:rPr>
              <a:t> element</a:t>
            </a:r>
          </a:p>
          <a:p>
            <a:pPr marL="274320" indent="-256032">
              <a:spcAft>
                <a:spcPts val="990"/>
              </a:spcAft>
              <a:buClr>
                <a:srgbClr val="42B883"/>
              </a:buClr>
              <a:buSzPct val="100000"/>
              <a:buFont typeface="Arial"/>
              <a:buChar char="•"/>
            </a:pPr>
            <a:r>
              <a:rPr sz="2200" b="0" i="0">
                <a:solidFill>
                  <a:srgbClr val="1F2A36"/>
                </a:solidFill>
              </a:rPr>
              <a:t>Put </a:t>
            </a:r>
            <a:r>
              <a:rPr sz="2090" b="0" i="0">
                <a:solidFill>
                  <a:srgbClr val="8A2B52"/>
                </a:solidFill>
                <a:latin typeface="Consolas"/>
              </a:rPr>
              <a:t>v-if</a:t>
            </a:r>
            <a:r>
              <a:rPr sz="2200" b="0" i="0">
                <a:solidFill>
                  <a:srgbClr val="1F2A36"/>
                </a:solidFill>
              </a:rPr>
              <a:t> on a </a:t>
            </a:r>
            <a:r>
              <a:rPr sz="2090" b="0" i="0">
                <a:solidFill>
                  <a:srgbClr val="8A2B52"/>
                </a:solidFill>
                <a:latin typeface="Consolas"/>
              </a:rPr>
              <a:t>&lt;template&gt;</a:t>
            </a:r>
            <a:r>
              <a:rPr sz="2200" b="0" i="0">
                <a:solidFill>
                  <a:srgbClr val="1F2A36"/>
                </a:solidFill>
              </a:rPr>
              <a:t> to toggle several elements at once</a:t>
            </a:r>
          </a:p>
          <a:p>
            <a:pPr marL="274320" indent="-256032">
              <a:spcAft>
                <a:spcPts val="990"/>
              </a:spcAft>
              <a:buClr>
                <a:srgbClr val="42B883"/>
              </a:buClr>
              <a:buSzPct val="100000"/>
              <a:buFont typeface="Arial"/>
              <a:buChar char="•"/>
            </a:pPr>
            <a:r>
              <a:rPr sz="2200" b="0" i="0">
                <a:solidFill>
                  <a:srgbClr val="1F2A36"/>
                </a:solidFill>
              </a:rPr>
              <a:t>Avoid </a:t>
            </a:r>
            <a:r>
              <a:rPr sz="2090" b="0" i="0">
                <a:solidFill>
                  <a:srgbClr val="8A2B52"/>
                </a:solidFill>
                <a:latin typeface="Consolas"/>
              </a:rPr>
              <a:t>v-if</a:t>
            </a:r>
            <a:r>
              <a:rPr sz="2200" b="0" i="0">
                <a:solidFill>
                  <a:srgbClr val="1F2A36"/>
                </a:solidFill>
              </a:rPr>
              <a:t> and </a:t>
            </a:r>
            <a:r>
              <a:rPr sz="2090" b="0" i="0">
                <a:solidFill>
                  <a:srgbClr val="8A2B52"/>
                </a:solidFill>
                <a:latin typeface="Consolas"/>
              </a:rPr>
              <a:t>v-for</a:t>
            </a:r>
            <a:r>
              <a:rPr sz="2200" b="0" i="0">
                <a:solidFill>
                  <a:srgbClr val="1F2A36"/>
                </a:solidFill>
              </a:rPr>
              <a:t> on the same element — wrap one in a </a:t>
            </a:r>
            <a:r>
              <a:rPr sz="2090" b="0" i="0">
                <a:solidFill>
                  <a:srgbClr val="8A2B52"/>
                </a:solidFill>
                <a:latin typeface="Consolas"/>
              </a:rPr>
              <a:t>&lt;template&gt;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108</a:t>
            </a:fld>
            <a:endParaRPr lang="en-US" sz="900">
              <a:solidFill>
                <a:srgbClr val="9AA7B4"/>
              </a:solidFill>
            </a:endParaRPr>
          </a:p>
        </p:txBody>
      </p:sp>
    </p:spTree>
    <p:extLst>
      <p:ext uri="{BB962C8B-B14F-4D97-AF65-F5344CB8AC3E}">
        <p14:creationId xmlns:p14="http://schemas.microsoft.com/office/powerpoint/2010/main" val="21385280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2AC3-9D6E-6F48-8D9C-03FBA7CC64AF}"/>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v-if vs. v-show</a:t>
            </a:r>
          </a:p>
        </p:txBody>
      </p:sp>
      <p:sp>
        <p:nvSpPr>
          <p:cNvPr id="3" name="Code"/>
          <p:cNvSpPr/>
          <p:nvPr/>
        </p:nvSpPr>
        <p:spPr>
          <a:xfrm>
            <a:off x="457200" y="1261872"/>
            <a:ext cx="8229600" cy="89103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00">
                <a:solidFill>
                  <a:srgbClr val="116329"/>
                </a:solidFill>
                <a:latin typeface="Consolas"/>
              </a:rPr>
              <a:t>&lt;p</a:t>
            </a:r>
            <a:r>
              <a:rPr sz="1900">
                <a:solidFill>
                  <a:srgbClr val="24292F"/>
                </a:solidFill>
                <a:latin typeface="Consolas"/>
              </a:rPr>
              <a:t> </a:t>
            </a:r>
            <a:r>
              <a:rPr sz="1900">
                <a:solidFill>
                  <a:srgbClr val="953800"/>
                </a:solidFill>
                <a:latin typeface="Consolas"/>
              </a:rPr>
              <a:t>v-if</a:t>
            </a:r>
            <a:r>
              <a:rPr sz="1900">
                <a:solidFill>
                  <a:srgbClr val="24292F"/>
                </a:solidFill>
                <a:latin typeface="Consolas"/>
              </a:rPr>
              <a:t>=</a:t>
            </a:r>
            <a:r>
              <a:rPr sz="1900">
                <a:solidFill>
                  <a:srgbClr val="0A3069"/>
                </a:solidFill>
                <a:latin typeface="Consolas"/>
              </a:rPr>
              <a:t>"loggedIn"</a:t>
            </a:r>
            <a:r>
              <a:rPr sz="1900">
                <a:solidFill>
                  <a:srgbClr val="116329"/>
                </a:solidFill>
                <a:latin typeface="Consolas"/>
              </a:rPr>
              <a:t>&gt;</a:t>
            </a:r>
            <a:r>
              <a:rPr sz="1900">
                <a:solidFill>
                  <a:srgbClr val="24292F"/>
                </a:solidFill>
                <a:latin typeface="Consolas"/>
              </a:rPr>
              <a:t>Welcome back!</a:t>
            </a:r>
            <a:r>
              <a:rPr sz="1900">
                <a:solidFill>
                  <a:srgbClr val="116329"/>
                </a:solidFill>
                <a:latin typeface="Consolas"/>
              </a:rPr>
              <a:t>&lt;/p&gt;</a:t>
            </a:r>
          </a:p>
          <a:p>
            <a:pPr marL="0" indent="0" algn="l">
              <a:lnSpc>
                <a:spcPct val="100000"/>
              </a:lnSpc>
              <a:buNone/>
            </a:pPr>
            <a:r>
              <a:rPr sz="1900">
                <a:solidFill>
                  <a:srgbClr val="116329"/>
                </a:solidFill>
                <a:latin typeface="Consolas"/>
              </a:rPr>
              <a:t>&lt;p</a:t>
            </a:r>
            <a:r>
              <a:rPr sz="1900">
                <a:solidFill>
                  <a:srgbClr val="24292F"/>
                </a:solidFill>
                <a:latin typeface="Consolas"/>
              </a:rPr>
              <a:t> </a:t>
            </a:r>
            <a:r>
              <a:rPr sz="1900">
                <a:solidFill>
                  <a:srgbClr val="953800"/>
                </a:solidFill>
                <a:latin typeface="Consolas"/>
              </a:rPr>
              <a:t>v-show</a:t>
            </a:r>
            <a:r>
              <a:rPr sz="1900">
                <a:solidFill>
                  <a:srgbClr val="24292F"/>
                </a:solidFill>
                <a:latin typeface="Consolas"/>
              </a:rPr>
              <a:t>=</a:t>
            </a:r>
            <a:r>
              <a:rPr sz="1900">
                <a:solidFill>
                  <a:srgbClr val="0A3069"/>
                </a:solidFill>
                <a:latin typeface="Consolas"/>
              </a:rPr>
              <a:t>"menuOpen"</a:t>
            </a:r>
            <a:r>
              <a:rPr sz="1900">
                <a:solidFill>
                  <a:srgbClr val="116329"/>
                </a:solidFill>
                <a:latin typeface="Consolas"/>
              </a:rPr>
              <a:t>&gt;</a:t>
            </a:r>
            <a:r>
              <a:rPr sz="1900">
                <a:solidFill>
                  <a:srgbClr val="24292F"/>
                </a:solidFill>
                <a:latin typeface="Consolas"/>
              </a:rPr>
              <a:t>Menu</a:t>
            </a:r>
            <a:r>
              <a:rPr sz="1900">
                <a:solidFill>
                  <a:srgbClr val="116329"/>
                </a:solidFill>
                <a:latin typeface="Consolas"/>
              </a:rPr>
              <a:t>&lt;/p&gt;</a:t>
            </a:r>
          </a:p>
        </p:txBody>
      </p:sp>
      <p:sp>
        <p:nvSpPr>
          <p:cNvPr id="4" name="Body"/>
          <p:cNvSpPr txBox="1"/>
          <p:nvPr/>
        </p:nvSpPr>
        <p:spPr>
          <a:xfrm>
            <a:off x="457200" y="2299208"/>
            <a:ext cx="3954780" cy="3931919"/>
          </a:xfrm>
          <a:prstGeom prst="rect">
            <a:avLst/>
          </a:prstGeom>
          <a:noFill/>
        </p:spPr>
        <p:txBody>
          <a:bodyPr wrap="square" lIns="0" tIns="0" rIns="0" bIns="0">
            <a:noAutofit/>
          </a:bodyPr>
          <a:lstStyle/>
          <a:p>
            <a:pPr marL="0" indent="0">
              <a:spcAft>
                <a:spcPts val="735"/>
              </a:spcAft>
              <a:buNone/>
            </a:pPr>
            <a:r>
              <a:rPr sz="2100" b="1" i="0">
                <a:solidFill>
                  <a:srgbClr val="2E8B62"/>
                </a:solidFill>
              </a:rPr>
              <a:t>v-if</a:t>
            </a:r>
          </a:p>
          <a:p>
            <a:pPr marL="274320" indent="-256032">
              <a:spcAft>
                <a:spcPts val="945"/>
              </a:spcAft>
              <a:buClr>
                <a:srgbClr val="42B883"/>
              </a:buClr>
              <a:buSzPct val="100000"/>
              <a:buFont typeface="Arial"/>
              <a:buChar char="•"/>
            </a:pPr>
            <a:r>
              <a:rPr sz="2100" b="0" i="0">
                <a:solidFill>
                  <a:srgbClr val="1F2A36"/>
                </a:solidFill>
              </a:rPr>
              <a:t>Adds and removes the element</a:t>
            </a:r>
          </a:p>
          <a:p>
            <a:pPr marL="274320" indent="-256032">
              <a:spcAft>
                <a:spcPts val="945"/>
              </a:spcAft>
              <a:buClr>
                <a:srgbClr val="42B883"/>
              </a:buClr>
              <a:buSzPct val="100000"/>
              <a:buFont typeface="Arial"/>
              <a:buChar char="•"/>
            </a:pPr>
            <a:r>
              <a:rPr sz="2100" b="0" i="0">
                <a:solidFill>
                  <a:srgbClr val="1F2A36"/>
                </a:solidFill>
              </a:rPr>
              <a:t>Lazy: nothing renders until true</a:t>
            </a:r>
          </a:p>
          <a:p>
            <a:pPr marL="274320" indent="-256032">
              <a:spcAft>
                <a:spcPts val="945"/>
              </a:spcAft>
              <a:buClr>
                <a:srgbClr val="42B883"/>
              </a:buClr>
              <a:buSzPct val="100000"/>
              <a:buFont typeface="Arial"/>
              <a:buChar char="•"/>
            </a:pPr>
            <a:r>
              <a:rPr sz="2100" b="0" i="0">
                <a:solidFill>
                  <a:srgbClr val="1F2A36"/>
                </a:solidFill>
              </a:rPr>
              <a:t>Child components are created and destroyed</a:t>
            </a:r>
          </a:p>
          <a:p>
            <a:pPr marL="274320" indent="-256032">
              <a:spcAft>
                <a:spcPts val="945"/>
              </a:spcAft>
              <a:buClr>
                <a:srgbClr val="42B883"/>
              </a:buClr>
              <a:buSzPct val="100000"/>
              <a:buFont typeface="Arial"/>
              <a:buChar char="•"/>
            </a:pPr>
            <a:r>
              <a:rPr sz="2100" b="0" i="0">
                <a:solidFill>
                  <a:srgbClr val="1F2A36"/>
                </a:solidFill>
              </a:rPr>
              <a:t>Higher </a:t>
            </a:r>
            <a:r>
              <a:rPr sz="2100" b="1" i="0">
                <a:solidFill>
                  <a:srgbClr val="1F2A36"/>
                </a:solidFill>
              </a:rPr>
              <a:t>toggle</a:t>
            </a:r>
            <a:r>
              <a:rPr sz="2100" b="0" i="0">
                <a:solidFill>
                  <a:srgbClr val="1F2A36"/>
                </a:solidFill>
              </a:rPr>
              <a:t> cost</a:t>
            </a:r>
          </a:p>
          <a:p>
            <a:pPr marL="274320" indent="-256032">
              <a:spcAft>
                <a:spcPts val="945"/>
              </a:spcAft>
              <a:buClr>
                <a:srgbClr val="42B883"/>
              </a:buClr>
              <a:buSzPct val="100000"/>
              <a:buFont typeface="Arial"/>
              <a:buChar char="•"/>
            </a:pPr>
            <a:r>
              <a:rPr sz="2100" b="0" i="0">
                <a:solidFill>
                  <a:srgbClr val="1F2A36"/>
                </a:solidFill>
              </a:rPr>
              <a:t>Works with </a:t>
            </a:r>
            <a:r>
              <a:rPr sz="1995" b="0" i="0">
                <a:solidFill>
                  <a:srgbClr val="8A2B52"/>
                </a:solidFill>
                <a:latin typeface="Consolas"/>
              </a:rPr>
              <a:t>v-else</a:t>
            </a:r>
            <a:r>
              <a:rPr sz="2100" b="0" i="0">
                <a:solidFill>
                  <a:srgbClr val="1F2A36"/>
                </a:solidFill>
              </a:rPr>
              <a:t> and </a:t>
            </a:r>
            <a:r>
              <a:rPr sz="1995" b="0" i="0">
                <a:solidFill>
                  <a:srgbClr val="8A2B52"/>
                </a:solidFill>
                <a:latin typeface="Consolas"/>
              </a:rPr>
              <a:t>&lt;template&gt;</a:t>
            </a:r>
          </a:p>
        </p:txBody>
      </p:sp>
      <p:sp>
        <p:nvSpPr>
          <p:cNvPr id="5" name="Body"/>
          <p:cNvSpPr txBox="1"/>
          <p:nvPr/>
        </p:nvSpPr>
        <p:spPr>
          <a:xfrm>
            <a:off x="4732020" y="2299208"/>
            <a:ext cx="3954780" cy="3617214"/>
          </a:xfrm>
          <a:prstGeom prst="rect">
            <a:avLst/>
          </a:prstGeom>
          <a:noFill/>
        </p:spPr>
        <p:txBody>
          <a:bodyPr wrap="square" lIns="0" tIns="0" rIns="0" bIns="0">
            <a:noAutofit/>
          </a:bodyPr>
          <a:lstStyle/>
          <a:p>
            <a:pPr marL="0" indent="0">
              <a:spcAft>
                <a:spcPts val="735"/>
              </a:spcAft>
              <a:buNone/>
            </a:pPr>
            <a:r>
              <a:rPr sz="2100" b="1" i="0">
                <a:solidFill>
                  <a:srgbClr val="2E8B62"/>
                </a:solidFill>
              </a:rPr>
              <a:t>v-show</a:t>
            </a:r>
          </a:p>
          <a:p>
            <a:pPr marL="274320" indent="-256032">
              <a:spcAft>
                <a:spcPts val="945"/>
              </a:spcAft>
              <a:buClr>
                <a:srgbClr val="42B883"/>
              </a:buClr>
              <a:buSzPct val="100000"/>
              <a:buFont typeface="Arial"/>
              <a:buChar char="•"/>
            </a:pPr>
            <a:r>
              <a:rPr sz="2100" b="0" i="0">
                <a:solidFill>
                  <a:srgbClr val="1F2A36"/>
                </a:solidFill>
              </a:rPr>
              <a:t>Always renders; toggles CSS </a:t>
            </a:r>
            <a:r>
              <a:rPr sz="1995" b="0" i="0">
                <a:solidFill>
                  <a:srgbClr val="8A2B52"/>
                </a:solidFill>
                <a:latin typeface="Consolas"/>
              </a:rPr>
              <a:t>display</a:t>
            </a:r>
          </a:p>
          <a:p>
            <a:pPr marL="274320" indent="-256032">
              <a:spcAft>
                <a:spcPts val="945"/>
              </a:spcAft>
              <a:buClr>
                <a:srgbClr val="42B883"/>
              </a:buClr>
              <a:buSzPct val="100000"/>
              <a:buFont typeface="Arial"/>
              <a:buChar char="•"/>
            </a:pPr>
            <a:r>
              <a:rPr sz="2100" b="0" i="0">
                <a:solidFill>
                  <a:srgbClr val="1F2A36"/>
                </a:solidFill>
              </a:rPr>
              <a:t>Element and children stay alive</a:t>
            </a:r>
          </a:p>
          <a:p>
            <a:pPr marL="274320" indent="-256032">
              <a:spcAft>
                <a:spcPts val="945"/>
              </a:spcAft>
              <a:buClr>
                <a:srgbClr val="42B883"/>
              </a:buClr>
              <a:buSzPct val="100000"/>
              <a:buFont typeface="Arial"/>
              <a:buChar char="•"/>
            </a:pPr>
            <a:r>
              <a:rPr sz="2100" b="0" i="0">
                <a:solidFill>
                  <a:srgbClr val="1F2A36"/>
                </a:solidFill>
              </a:rPr>
              <a:t>Higher </a:t>
            </a:r>
            <a:r>
              <a:rPr sz="2100" b="1" i="0">
                <a:solidFill>
                  <a:srgbClr val="1F2A36"/>
                </a:solidFill>
              </a:rPr>
              <a:t>initial render</a:t>
            </a:r>
            <a:r>
              <a:rPr sz="2100" b="0" i="0">
                <a:solidFill>
                  <a:srgbClr val="1F2A36"/>
                </a:solidFill>
              </a:rPr>
              <a:t> cost</a:t>
            </a:r>
          </a:p>
          <a:p>
            <a:pPr marL="274320" indent="-256032">
              <a:spcAft>
                <a:spcPts val="945"/>
              </a:spcAft>
              <a:buClr>
                <a:srgbClr val="42B883"/>
              </a:buClr>
              <a:buSzPct val="100000"/>
              <a:buFont typeface="Arial"/>
              <a:buChar char="•"/>
            </a:pPr>
            <a:r>
              <a:rPr sz="2100" b="0" i="0">
                <a:solidFill>
                  <a:srgbClr val="1F2A36"/>
                </a:solidFill>
              </a:rPr>
              <a:t>Cheap to toggle</a:t>
            </a:r>
          </a:p>
          <a:p>
            <a:pPr marL="274320" indent="-256032">
              <a:spcAft>
                <a:spcPts val="945"/>
              </a:spcAft>
              <a:buClr>
                <a:srgbClr val="42B883"/>
              </a:buClr>
              <a:buSzPct val="100000"/>
              <a:buFont typeface="Arial"/>
              <a:buChar char="•"/>
            </a:pPr>
            <a:r>
              <a:rPr sz="2100" b="0" i="0">
                <a:solidFill>
                  <a:srgbClr val="1F2A36"/>
                </a:solidFill>
              </a:rPr>
              <a:t>No </a:t>
            </a:r>
            <a:r>
              <a:rPr sz="1995" b="0" i="0">
                <a:solidFill>
                  <a:srgbClr val="8A2B52"/>
                </a:solidFill>
                <a:latin typeface="Consolas"/>
              </a:rPr>
              <a:t>v-else</a:t>
            </a:r>
            <a:r>
              <a:rPr sz="2100" b="0" i="0">
                <a:solidFill>
                  <a:srgbClr val="1F2A36"/>
                </a:solidFill>
              </a:rPr>
              <a:t>; not on </a:t>
            </a:r>
            <a:r>
              <a:rPr sz="1995" b="0" i="0">
                <a:solidFill>
                  <a:srgbClr val="8A2B52"/>
                </a:solidFill>
                <a:latin typeface="Consolas"/>
              </a:rPr>
              <a:t>&lt;template&gt;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109</a:t>
            </a:fld>
            <a:endParaRPr lang="en-US" sz="900">
              <a:solidFill>
                <a:srgbClr val="9AA7B4"/>
              </a:solidFill>
            </a:endParaRPr>
          </a:p>
        </p:txBody>
      </p:sp>
    </p:spTree>
    <p:extLst>
      <p:ext uri="{BB962C8B-B14F-4D97-AF65-F5344CB8AC3E}">
        <p14:creationId xmlns:p14="http://schemas.microsoft.com/office/powerpoint/2010/main" val="39613036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2A5809-FFF2-964A-8720-128BE5F65E74}"/>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Static Vue View</a:t>
            </a:r>
          </a:p>
        </p:txBody>
      </p:sp>
      <p:pic>
        <p:nvPicPr>
          <p:cNvPr id="7" name="Content Placeholder 2" descr="A screenshot of a cell phone&#10;&#10;Description automatically generated">
            <a:extLst>
              <a:ext uri="{FF2B5EF4-FFF2-40B4-BE49-F238E27FC236}">
                <a16:creationId xmlns:a16="http://schemas.microsoft.com/office/drawing/2014/main" id="{19A898B9-A106-1B1E-8D8C-08F050453DDC}"/>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8" name="Chip LAB 11"/>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11</a:t>
            </a:r>
          </a:p>
        </p:txBody>
      </p:sp>
      <p:sp>
        <p:nvSpPr>
          <p:cNvPr id="9" name="Chip 4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45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Render the article list from JSON with v-for, v-if and props.</a:t>
            </a:r>
          </a:p>
        </p:txBody>
      </p:sp>
      <p:sp>
        <p:nvSpPr>
          <p:cNvPr id="11" name="Body"/>
          <p:cNvSpPr txBox="1"/>
          <p:nvPr/>
        </p:nvSpPr>
        <p:spPr>
          <a:xfrm>
            <a:off x="457200" y="2441448"/>
            <a:ext cx="4160520" cy="3481705"/>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900" b="0" i="0">
                <a:solidFill>
                  <a:srgbClr val="1F2A36"/>
                </a:solidFill>
              </a:rPr>
              <a:t>Create </a:t>
            </a:r>
            <a:r>
              <a:rPr sz="1900" b="1" i="0">
                <a:solidFill>
                  <a:srgbClr val="1F2A36"/>
                </a:solidFill>
              </a:rPr>
              <a:t>GlobalFeed</a:t>
            </a:r>
            <a:r>
              <a:rPr sz="1900" b="0" i="0">
                <a:solidFill>
                  <a:srgbClr val="1F2A36"/>
                </a:solidFill>
              </a:rPr>
              <a:t>, </a:t>
            </a:r>
            <a:r>
              <a:rPr sz="1900" b="1" i="0">
                <a:solidFill>
                  <a:srgbClr val="1F2A36"/>
                </a:solidFill>
              </a:rPr>
              <a:t>ArticleList</a:t>
            </a:r>
            <a:r>
              <a:rPr sz="1900" b="0" i="0">
                <a:solidFill>
                  <a:srgbClr val="1F2A36"/>
                </a:solidFill>
              </a:rPr>
              <a:t> and </a:t>
            </a:r>
            <a:r>
              <a:rPr sz="1900" b="1" i="0">
                <a:solidFill>
                  <a:srgbClr val="1F2A36"/>
                </a:solidFill>
              </a:rPr>
              <a:t>ArticlePreview</a:t>
            </a:r>
          </a:p>
          <a:p>
            <a:pPr marL="274320" indent="-256032">
              <a:spcAft>
                <a:spcPts val="855"/>
              </a:spcAft>
              <a:buClr>
                <a:srgbClr val="42B883"/>
              </a:buClr>
              <a:buSzPct val="100000"/>
              <a:buFont typeface="Arial"/>
              <a:buChar char="•"/>
            </a:pPr>
            <a:r>
              <a:rPr sz="1900" b="0" i="0">
                <a:solidFill>
                  <a:srgbClr val="1F2A36"/>
                </a:solidFill>
              </a:rPr>
              <a:t>Load </a:t>
            </a:r>
            <a:r>
              <a:rPr sz="1805" b="0" i="0">
                <a:solidFill>
                  <a:srgbClr val="8A2B52"/>
                </a:solidFill>
                <a:latin typeface="Consolas"/>
              </a:rPr>
              <a:t>articles.json</a:t>
            </a:r>
            <a:r>
              <a:rPr sz="1900" b="0" i="0">
                <a:solidFill>
                  <a:srgbClr val="1F2A36"/>
                </a:solidFill>
              </a:rPr>
              <a:t> into a </a:t>
            </a:r>
            <a:r>
              <a:rPr sz="1805" b="0" i="0">
                <a:solidFill>
                  <a:srgbClr val="8A2B52"/>
                </a:solidFill>
                <a:latin typeface="Consolas"/>
              </a:rPr>
              <a:t>ref</a:t>
            </a:r>
          </a:p>
          <a:p>
            <a:pPr marL="274320" indent="-256032">
              <a:spcAft>
                <a:spcPts val="855"/>
              </a:spcAft>
              <a:buClr>
                <a:srgbClr val="42B883"/>
              </a:buClr>
              <a:buSzPct val="100000"/>
              <a:buFont typeface="Arial"/>
              <a:buChar char="•"/>
            </a:pPr>
            <a:r>
              <a:rPr sz="1900" b="0" i="0">
                <a:solidFill>
                  <a:srgbClr val="1F2A36"/>
                </a:solidFill>
              </a:rPr>
              <a:t>Use </a:t>
            </a:r>
            <a:r>
              <a:rPr sz="1805" b="0" i="0">
                <a:solidFill>
                  <a:srgbClr val="8A2B52"/>
                </a:solidFill>
                <a:latin typeface="Consolas"/>
              </a:rPr>
              <a:t>v-if</a:t>
            </a:r>
            <a:r>
              <a:rPr sz="1900" b="0" i="0">
                <a:solidFill>
                  <a:srgbClr val="1F2A36"/>
                </a:solidFill>
              </a:rPr>
              <a:t> for the empty state and </a:t>
            </a:r>
            <a:r>
              <a:rPr sz="1805" b="0" i="0">
                <a:solidFill>
                  <a:srgbClr val="8A2B52"/>
                </a:solidFill>
                <a:latin typeface="Consolas"/>
              </a:rPr>
              <a:t>v-for</a:t>
            </a:r>
            <a:r>
              <a:rPr sz="1900" b="0" i="0">
                <a:solidFill>
                  <a:srgbClr val="1F2A36"/>
                </a:solidFill>
              </a:rPr>
              <a:t> (with </a:t>
            </a:r>
            <a:r>
              <a:rPr sz="1805" b="0" i="0">
                <a:solidFill>
                  <a:srgbClr val="8A2B52"/>
                </a:solidFill>
                <a:latin typeface="Consolas"/>
              </a:rPr>
              <a:t>:key</a:t>
            </a:r>
            <a:r>
              <a:rPr sz="1900" b="0" i="0">
                <a:solidFill>
                  <a:srgbClr val="1F2A36"/>
                </a:solidFill>
              </a:rPr>
              <a:t>) for the list</a:t>
            </a:r>
          </a:p>
          <a:p>
            <a:pPr marL="274320" indent="-256032">
              <a:spcAft>
                <a:spcPts val="855"/>
              </a:spcAft>
              <a:buClr>
                <a:srgbClr val="42B883"/>
              </a:buClr>
              <a:buSzPct val="100000"/>
              <a:buFont typeface="Arial"/>
              <a:buChar char="•"/>
            </a:pPr>
            <a:r>
              <a:rPr sz="1900" b="0" i="0">
                <a:solidFill>
                  <a:srgbClr val="1F2A36"/>
                </a:solidFill>
              </a:rPr>
              <a:t>Pass each article to ArticlePreview as a prop with </a:t>
            </a:r>
            <a:r>
              <a:rPr sz="1805" b="0" i="0">
                <a:solidFill>
                  <a:srgbClr val="8A2B52"/>
                </a:solidFill>
                <a:latin typeface="Consolas"/>
              </a:rPr>
              <a:t>defineProps</a:t>
            </a:r>
          </a:p>
          <a:p>
            <a:pPr marL="274320" indent="-256032">
              <a:spcAft>
                <a:spcPts val="855"/>
              </a:spcAft>
              <a:buClr>
                <a:srgbClr val="42B883"/>
              </a:buClr>
              <a:buSzPct val="100000"/>
              <a:buFont typeface="Arial"/>
              <a:buChar char="•"/>
            </a:pPr>
            <a:r>
              <a:rPr sz="1900" b="0" i="0">
                <a:solidFill>
                  <a:srgbClr val="1F2A36"/>
                </a:solidFill>
              </a:rPr>
              <a:t>Add tests for the new components</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110</a:t>
            </a:fld>
            <a:endParaRPr lang="en-US" sz="900">
              <a:solidFill>
                <a:srgbClr val="9AA7B4"/>
              </a:solidFill>
            </a:endParaRPr>
          </a:p>
        </p:txBody>
      </p:sp>
    </p:spTree>
    <p:extLst>
      <p:ext uri="{BB962C8B-B14F-4D97-AF65-F5344CB8AC3E}">
        <p14:creationId xmlns:p14="http://schemas.microsoft.com/office/powerpoint/2010/main" val="40723251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0827A-EA1F-B04E-9C75-B2A4BF813EA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Binding HTML Classes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:class</a:t>
            </a:r>
            <a:r>
              <a:rPr sz="2200" b="0" i="0">
                <a:solidFill>
                  <a:srgbClr val="1F2A36"/>
                </a:solidFill>
              </a:rPr>
              <a:t> can take an </a:t>
            </a:r>
            <a:r>
              <a:rPr sz="2200" b="1" i="0">
                <a:solidFill>
                  <a:srgbClr val="1F2A36"/>
                </a:solidFill>
              </a:rPr>
              <a:t>object</a:t>
            </a:r>
            <a:r>
              <a:rPr sz="2200" b="0" i="0">
                <a:solidFill>
                  <a:srgbClr val="1F2A36"/>
                </a:solidFill>
              </a:rPr>
              <a:t> to toggle classes on and off</a:t>
            </a:r>
          </a:p>
        </p:txBody>
      </p:sp>
      <p:sp>
        <p:nvSpPr>
          <p:cNvPr id="4" name="Code"/>
          <p:cNvSpPr/>
          <p:nvPr/>
        </p:nvSpPr>
        <p:spPr>
          <a:xfrm>
            <a:off x="457200" y="1863597"/>
            <a:ext cx="8229600" cy="5288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&lt;div</a:t>
            </a:r>
            <a:r>
              <a:rPr sz="1500">
                <a:solidFill>
                  <a:srgbClr val="24292F"/>
                </a:solidFill>
                <a:latin typeface="Consolas"/>
              </a:rPr>
              <a:t> </a:t>
            </a:r>
            <a:r>
              <a:rPr sz="1500">
                <a:solidFill>
                  <a:srgbClr val="953800"/>
                </a:solidFill>
                <a:latin typeface="Consolas"/>
              </a:rPr>
              <a:t>:class</a:t>
            </a:r>
            <a:r>
              <a:rPr sz="1500">
                <a:solidFill>
                  <a:srgbClr val="24292F"/>
                </a:solidFill>
                <a:latin typeface="Consolas"/>
              </a:rPr>
              <a:t>=</a:t>
            </a:r>
            <a:r>
              <a:rPr sz="1500">
                <a:solidFill>
                  <a:srgbClr val="0A3069"/>
                </a:solidFill>
                <a:latin typeface="Consolas"/>
              </a:rPr>
              <a:t>"{ active: isActive, 'text-danger': hasError }"</a:t>
            </a:r>
            <a:r>
              <a:rPr sz="1500">
                <a:solidFill>
                  <a:srgbClr val="116329"/>
                </a:solidFill>
                <a:latin typeface="Consolas"/>
              </a:rPr>
              <a:t>&gt;&lt;/div&gt;</a:t>
            </a:r>
          </a:p>
        </p:txBody>
      </p:sp>
      <p:sp>
        <p:nvSpPr>
          <p:cNvPr id="5" name="Body"/>
          <p:cNvSpPr txBox="1"/>
          <p:nvPr/>
        </p:nvSpPr>
        <p:spPr>
          <a:xfrm>
            <a:off x="457200" y="2538729"/>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…or an </a:t>
            </a:r>
            <a:r>
              <a:rPr sz="2200" b="1" i="0">
                <a:solidFill>
                  <a:srgbClr val="1F2A36"/>
                </a:solidFill>
              </a:rPr>
              <a:t>array</a:t>
            </a:r>
            <a:r>
              <a:rPr sz="2200" b="0" i="0">
                <a:solidFill>
                  <a:srgbClr val="1F2A36"/>
                </a:solidFill>
              </a:rPr>
              <a:t> to apply a list of classes</a:t>
            </a:r>
          </a:p>
        </p:txBody>
      </p:sp>
      <p:sp>
        <p:nvSpPr>
          <p:cNvPr id="6" name="Code"/>
          <p:cNvSpPr/>
          <p:nvPr/>
        </p:nvSpPr>
        <p:spPr>
          <a:xfrm>
            <a:off x="457200" y="3140456"/>
            <a:ext cx="8229600" cy="58394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116329"/>
                </a:solidFill>
                <a:latin typeface="Consolas"/>
              </a:rPr>
              <a:t>&lt;div</a:t>
            </a:r>
            <a:r>
              <a:rPr sz="1850">
                <a:solidFill>
                  <a:srgbClr val="24292F"/>
                </a:solidFill>
                <a:latin typeface="Consolas"/>
              </a:rPr>
              <a:t> </a:t>
            </a:r>
            <a:r>
              <a:rPr sz="1850">
                <a:solidFill>
                  <a:srgbClr val="953800"/>
                </a:solidFill>
                <a:latin typeface="Consolas"/>
              </a:rPr>
              <a:t>:class</a:t>
            </a:r>
            <a:r>
              <a:rPr sz="1850">
                <a:solidFill>
                  <a:srgbClr val="24292F"/>
                </a:solidFill>
                <a:latin typeface="Consolas"/>
              </a:rPr>
              <a:t>=</a:t>
            </a:r>
            <a:r>
              <a:rPr sz="1850">
                <a:solidFill>
                  <a:srgbClr val="0A3069"/>
                </a:solidFill>
                <a:latin typeface="Consolas"/>
              </a:rPr>
              <a:t>"[baseClass, { active: isActive }]"</a:t>
            </a:r>
            <a:r>
              <a:rPr sz="1850">
                <a:solidFill>
                  <a:srgbClr val="116329"/>
                </a:solidFill>
                <a:latin typeface="Consolas"/>
              </a:rPr>
              <a:t>&gt;&lt;/div&gt;</a:t>
            </a:r>
          </a:p>
        </p:txBody>
      </p:sp>
      <p:sp>
        <p:nvSpPr>
          <p:cNvPr id="7" name="Body"/>
          <p:cNvSpPr txBox="1"/>
          <p:nvPr/>
        </p:nvSpPr>
        <p:spPr>
          <a:xfrm>
            <a:off x="457200" y="3870706"/>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 merges these with any static </a:t>
            </a:r>
            <a:r>
              <a:rPr sz="2090" b="0" i="0">
                <a:solidFill>
                  <a:srgbClr val="8A2B52"/>
                </a:solidFill>
                <a:latin typeface="Consolas"/>
              </a:rPr>
              <a:t>class</a:t>
            </a:r>
            <a:r>
              <a:rPr sz="2200" b="0" i="0">
                <a:solidFill>
                  <a:srgbClr val="1F2A36"/>
                </a:solidFill>
              </a:rPr>
              <a:t> attribute on the element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111</a:t>
            </a:fld>
            <a:endParaRPr lang="en-US" sz="900">
              <a:solidFill>
                <a:srgbClr val="9AA7B4"/>
              </a:solidFill>
            </a:endParaRPr>
          </a:p>
        </p:txBody>
      </p:sp>
    </p:spTree>
    <p:extLst>
      <p:ext uri="{BB962C8B-B14F-4D97-AF65-F5344CB8AC3E}">
        <p14:creationId xmlns:p14="http://schemas.microsoft.com/office/powerpoint/2010/main" val="13228552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F292-8BC6-FC4A-BC0C-EDEA44C4474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Adding Styles Conditionally</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Bind a computed property or a ref to the class to change styles based on conditions.</a:t>
            </a:r>
          </a:p>
        </p:txBody>
      </p:sp>
      <p:sp>
        <p:nvSpPr>
          <p:cNvPr id="4" name="Code"/>
          <p:cNvSpPr/>
          <p:nvPr/>
        </p:nvSpPr>
        <p:spPr>
          <a:xfrm>
            <a:off x="457200" y="2193290"/>
            <a:ext cx="8229600" cy="57607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116329"/>
                </a:solidFill>
                <a:latin typeface="Consolas"/>
              </a:rPr>
              <a:t>&lt;div</a:t>
            </a:r>
            <a:r>
              <a:rPr sz="1800">
                <a:solidFill>
                  <a:srgbClr val="24292F"/>
                </a:solidFill>
                <a:latin typeface="Consolas"/>
              </a:rPr>
              <a:t> </a:t>
            </a:r>
            <a:r>
              <a:rPr sz="1800">
                <a:solidFill>
                  <a:srgbClr val="953800"/>
                </a:solidFill>
                <a:latin typeface="Consolas"/>
              </a:rPr>
              <a:t>:class</a:t>
            </a:r>
            <a:r>
              <a:rPr sz="1800">
                <a:solidFill>
                  <a:srgbClr val="24292F"/>
                </a:solidFill>
                <a:latin typeface="Consolas"/>
              </a:rPr>
              <a:t>=</a:t>
            </a:r>
            <a:r>
              <a:rPr sz="1800">
                <a:solidFill>
                  <a:srgbClr val="0A3069"/>
                </a:solidFill>
                <a:latin typeface="Consolas"/>
              </a:rPr>
              <a:t>"[{ active: isActive }, errorClass]"</a:t>
            </a:r>
            <a:r>
              <a:rPr sz="1800">
                <a:solidFill>
                  <a:srgbClr val="116329"/>
                </a:solidFill>
                <a:latin typeface="Consolas"/>
              </a:rPr>
              <a:t>&gt;&lt;/div&gt;</a:t>
            </a:r>
          </a:p>
        </p:txBody>
      </p:sp>
      <p:sp>
        <p:nvSpPr>
          <p:cNvPr id="5" name="Code"/>
          <p:cNvSpPr/>
          <p:nvPr/>
        </p:nvSpPr>
        <p:spPr>
          <a:xfrm>
            <a:off x="457200" y="2915666"/>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isActive = ref(</a:t>
            </a:r>
            <a:r>
              <a:rPr sz="2000">
                <a:solidFill>
                  <a:srgbClr val="CF222E"/>
                </a:solidFill>
                <a:latin typeface="Consolas"/>
              </a:rPr>
              <a:t>true</a:t>
            </a:r>
            <a:r>
              <a:rPr sz="2000">
                <a:solidFill>
                  <a:srgbClr val="24292F"/>
                </a:solidFill>
                <a:latin typeface="Consolas"/>
              </a:rPr>
              <a:t>)</a:t>
            </a:r>
          </a:p>
          <a:p>
            <a:pPr marL="0" indent="0" algn="l">
              <a:lnSpc>
                <a:spcPct val="100000"/>
              </a:lnSpc>
              <a:buNone/>
            </a:pPr>
            <a:r>
              <a:rPr sz="2000">
                <a:solidFill>
                  <a:srgbClr val="CF222E"/>
                </a:solidFill>
                <a:latin typeface="Consolas"/>
              </a:rPr>
              <a:t>const</a:t>
            </a:r>
            <a:r>
              <a:rPr sz="2000">
                <a:solidFill>
                  <a:srgbClr val="24292F"/>
                </a:solidFill>
                <a:latin typeface="Consolas"/>
              </a:rPr>
              <a:t> hasError = ref(</a:t>
            </a:r>
            <a:r>
              <a:rPr sz="2000">
                <a:solidFill>
                  <a:srgbClr val="CF222E"/>
                </a:solidFill>
                <a:latin typeface="Consolas"/>
              </a:rPr>
              <a:t>false</a:t>
            </a: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errorClass = computed(() =&gt;</a:t>
            </a:r>
          </a:p>
          <a:p>
            <a:pPr marL="0" indent="0" algn="l">
              <a:lnSpc>
                <a:spcPct val="100000"/>
              </a:lnSpc>
              <a:buNone/>
            </a:pPr>
            <a:r>
              <a:rPr sz="2000">
                <a:solidFill>
                  <a:srgbClr val="24292F"/>
                </a:solidFill>
                <a:latin typeface="Consolas"/>
              </a:rPr>
              <a:t>  hasError.value ? </a:t>
            </a:r>
            <a:r>
              <a:rPr sz="2000">
                <a:solidFill>
                  <a:srgbClr val="0A3069"/>
                </a:solidFill>
                <a:latin typeface="Consolas"/>
              </a:rPr>
              <a:t>'text-danger'</a:t>
            </a:r>
            <a:r>
              <a:rPr sz="2000">
                <a:solidFill>
                  <a:srgbClr val="24292F"/>
                </a:solidFill>
                <a:latin typeface="Consolas"/>
              </a:rPr>
              <a:t> : </a:t>
            </a:r>
            <a:r>
              <a:rPr sz="2000">
                <a:solidFill>
                  <a:srgbClr val="0A3069"/>
                </a:solidFill>
                <a:latin typeface="Consolas"/>
              </a:rPr>
              <a:t>''</a:t>
            </a:r>
          </a:p>
          <a:p>
            <a:pPr marL="0" indent="0" algn="l">
              <a:lnSpc>
                <a:spcPct val="100000"/>
              </a:lnSpc>
              <a:buNone/>
            </a:pPr>
            <a:r>
              <a:rPr sz="2000">
                <a:solidFill>
                  <a:srgbClr val="24292F"/>
                </a:solidFill>
                <a:latin typeface="Consolas"/>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112</a:t>
            </a:fld>
            <a:endParaRPr lang="en-US" sz="900">
              <a:solidFill>
                <a:srgbClr val="9AA7B4"/>
              </a:solidFill>
            </a:endParaRPr>
          </a:p>
        </p:txBody>
      </p:sp>
    </p:spTree>
    <p:extLst>
      <p:ext uri="{BB962C8B-B14F-4D97-AF65-F5344CB8AC3E}">
        <p14:creationId xmlns:p14="http://schemas.microsoft.com/office/powerpoint/2010/main" val="7195220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C6C4-07E5-F440-BAEA-F1B0A187E30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Binding Styles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Inline object syntax for </a:t>
            </a:r>
            <a:r>
              <a:rPr sz="2090" b="0" i="0">
                <a:solidFill>
                  <a:srgbClr val="8A2B52"/>
                </a:solidFill>
                <a:latin typeface="Consolas"/>
              </a:rPr>
              <a:t>:style</a:t>
            </a:r>
            <a:r>
              <a:rPr sz="2200" b="0" i="0">
                <a:solidFill>
                  <a:srgbClr val="1F2A36"/>
                </a:solidFill>
              </a:rPr>
              <a:t> (camelCase or quoted kebab-case keys)</a:t>
            </a:r>
          </a:p>
        </p:txBody>
      </p:sp>
      <p:sp>
        <p:nvSpPr>
          <p:cNvPr id="4" name="Code"/>
          <p:cNvSpPr/>
          <p:nvPr/>
        </p:nvSpPr>
        <p:spPr>
          <a:xfrm>
            <a:off x="457200" y="2193290"/>
            <a:ext cx="8229600" cy="13004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&lt;div</a:t>
            </a:r>
            <a:r>
              <a:rPr sz="1600">
                <a:solidFill>
                  <a:srgbClr val="24292F"/>
                </a:solidFill>
                <a:latin typeface="Consolas"/>
              </a:rPr>
              <a:t> </a:t>
            </a:r>
            <a:r>
              <a:rPr sz="1600">
                <a:solidFill>
                  <a:srgbClr val="953800"/>
                </a:solidFill>
                <a:latin typeface="Consolas"/>
              </a:rPr>
              <a:t>:style</a:t>
            </a:r>
            <a:r>
              <a:rPr sz="1600">
                <a:solidFill>
                  <a:srgbClr val="24292F"/>
                </a:solidFill>
                <a:latin typeface="Consolas"/>
              </a:rPr>
              <a:t>=</a:t>
            </a:r>
            <a:r>
              <a:rPr sz="1600">
                <a:solidFill>
                  <a:srgbClr val="0A3069"/>
                </a:solidFill>
                <a:latin typeface="Consolas"/>
              </a:rPr>
              <a:t>"{</a:t>
            </a:r>
          </a:p>
          <a:p>
            <a:pPr marL="0" indent="0" algn="l">
              <a:lnSpc>
                <a:spcPct val="100000"/>
              </a:lnSpc>
              <a:buNone/>
            </a:pPr>
            <a:r>
              <a:rPr sz="1600">
                <a:solidFill>
                  <a:srgbClr val="24292F"/>
                </a:solidFill>
                <a:latin typeface="Consolas"/>
              </a:rPr>
              <a:t>  color: activeColor,</a:t>
            </a:r>
          </a:p>
          <a:p>
            <a:pPr marL="0" indent="0" algn="l">
              <a:lnSpc>
                <a:spcPct val="100000"/>
              </a:lnSpc>
              <a:buNone/>
            </a:pPr>
            <a:r>
              <a:rPr sz="1600">
                <a:solidFill>
                  <a:srgbClr val="24292F"/>
                </a:solidFill>
                <a:latin typeface="Consolas"/>
              </a:rPr>
              <a:t>  fontSize: fontSize + </a:t>
            </a:r>
            <a:r>
              <a:rPr sz="1600">
                <a:solidFill>
                  <a:srgbClr val="0A3069"/>
                </a:solidFill>
                <a:latin typeface="Consolas"/>
              </a:rPr>
              <a:t>'px'</a:t>
            </a:r>
          </a:p>
          <a:p>
            <a:pPr marL="0" indent="0" algn="l">
              <a:lnSpc>
                <a:spcPct val="100000"/>
              </a:lnSpc>
              <a:buNone/>
            </a:pPr>
            <a:r>
              <a:rPr sz="1600">
                <a:solidFill>
                  <a:srgbClr val="24292F"/>
                </a:solidFill>
                <a:latin typeface="Consolas"/>
              </a:rPr>
              <a:t>}</a:t>
            </a:r>
            <a:r>
              <a:rPr sz="1600">
                <a:solidFill>
                  <a:srgbClr val="0A3069"/>
                </a:solidFill>
                <a:latin typeface="Consolas"/>
              </a:rPr>
              <a:t>"&gt;&lt;/div&gt;</a:t>
            </a:r>
          </a:p>
        </p:txBody>
      </p:sp>
      <p:sp>
        <p:nvSpPr>
          <p:cNvPr id="5" name="Body"/>
          <p:cNvSpPr txBox="1"/>
          <p:nvPr/>
        </p:nvSpPr>
        <p:spPr>
          <a:xfrm>
            <a:off x="457200" y="3640074"/>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Bind to a style object to keep the template cleaner</a:t>
            </a:r>
          </a:p>
        </p:txBody>
      </p:sp>
      <p:sp>
        <p:nvSpPr>
          <p:cNvPr id="6" name="Code"/>
          <p:cNvSpPr/>
          <p:nvPr/>
        </p:nvSpPr>
        <p:spPr>
          <a:xfrm>
            <a:off x="457200" y="4241800"/>
            <a:ext cx="8229600" cy="5445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&lt;div</a:t>
            </a:r>
            <a:r>
              <a:rPr sz="1600">
                <a:solidFill>
                  <a:srgbClr val="24292F"/>
                </a:solidFill>
                <a:latin typeface="Consolas"/>
              </a:rPr>
              <a:t> </a:t>
            </a:r>
            <a:r>
              <a:rPr sz="1600">
                <a:solidFill>
                  <a:srgbClr val="953800"/>
                </a:solidFill>
                <a:latin typeface="Consolas"/>
              </a:rPr>
              <a:t>:style</a:t>
            </a:r>
            <a:r>
              <a:rPr sz="1600">
                <a:solidFill>
                  <a:srgbClr val="24292F"/>
                </a:solidFill>
                <a:latin typeface="Consolas"/>
              </a:rPr>
              <a:t>=</a:t>
            </a:r>
            <a:r>
              <a:rPr sz="1600">
                <a:solidFill>
                  <a:srgbClr val="0A3069"/>
                </a:solidFill>
                <a:latin typeface="Consolas"/>
              </a:rPr>
              <a:t>"styleObject"</a:t>
            </a:r>
            <a:r>
              <a:rPr sz="1600">
                <a:solidFill>
                  <a:srgbClr val="116329"/>
                </a:solidFill>
                <a:latin typeface="Consolas"/>
              </a:rPr>
              <a:t>&gt;&lt;/div&gt;</a:t>
            </a:r>
          </a:p>
        </p:txBody>
      </p:sp>
      <p:sp>
        <p:nvSpPr>
          <p:cNvPr id="7" name="Code"/>
          <p:cNvSpPr/>
          <p:nvPr/>
        </p:nvSpPr>
        <p:spPr>
          <a:xfrm>
            <a:off x="457200" y="4932680"/>
            <a:ext cx="8229600" cy="13004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styleObject = reactive({</a:t>
            </a:r>
          </a:p>
          <a:p>
            <a:pPr marL="0" indent="0" algn="l">
              <a:lnSpc>
                <a:spcPct val="100000"/>
              </a:lnSpc>
              <a:buNone/>
            </a:pPr>
            <a:r>
              <a:rPr sz="1600">
                <a:solidFill>
                  <a:srgbClr val="24292F"/>
                </a:solidFill>
                <a:latin typeface="Consolas"/>
              </a:rPr>
              <a:t>  color: </a:t>
            </a:r>
            <a:r>
              <a:rPr sz="1600">
                <a:solidFill>
                  <a:srgbClr val="0A3069"/>
                </a:solidFill>
                <a:latin typeface="Consolas"/>
              </a:rPr>
              <a:t>'red'</a:t>
            </a:r>
            <a:r>
              <a:rPr sz="1600">
                <a:solidFill>
                  <a:srgbClr val="24292F"/>
                </a:solidFill>
                <a:latin typeface="Consolas"/>
              </a:rPr>
              <a:t>,</a:t>
            </a:r>
          </a:p>
          <a:p>
            <a:pPr marL="0" indent="0" algn="l">
              <a:lnSpc>
                <a:spcPct val="100000"/>
              </a:lnSpc>
              <a:buNone/>
            </a:pPr>
            <a:r>
              <a:rPr sz="1600">
                <a:solidFill>
                  <a:srgbClr val="24292F"/>
                </a:solidFill>
                <a:latin typeface="Consolas"/>
              </a:rPr>
              <a:t>  fontSize: </a:t>
            </a:r>
            <a:r>
              <a:rPr sz="1600">
                <a:solidFill>
                  <a:srgbClr val="0A3069"/>
                </a:solidFill>
                <a:latin typeface="Consolas"/>
              </a:rPr>
              <a:t>'13px'</a:t>
            </a:r>
            <a:r>
              <a:rPr sz="1600">
                <a:solidFill>
                  <a:srgbClr val="24292F"/>
                </a:solidFill>
                <a:latin typeface="Consolas"/>
              </a:rPr>
              <a:t>,</a:t>
            </a:r>
          </a:p>
          <a:p>
            <a:pPr marL="0" indent="0" algn="l">
              <a:lnSpc>
                <a:spcPct val="100000"/>
              </a:lnSpc>
              <a:buNone/>
            </a:pPr>
            <a:r>
              <a:rPr sz="1600">
                <a:solidFill>
                  <a:srgbClr val="24292F"/>
                </a:solidFill>
                <a:latin typeface="Consolas"/>
              </a:rPr>
              <a: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113</a:t>
            </a:fld>
            <a:endParaRPr lang="en-US" sz="900">
              <a:solidFill>
                <a:srgbClr val="9AA7B4"/>
              </a:solidFill>
            </a:endParaRPr>
          </a:p>
        </p:txBody>
      </p:sp>
    </p:spTree>
    <p:extLst>
      <p:ext uri="{BB962C8B-B14F-4D97-AF65-F5344CB8AC3E}">
        <p14:creationId xmlns:p14="http://schemas.microsoft.com/office/powerpoint/2010/main" val="30247369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52EB-7FD8-D540-A792-E399C88DDE7B}"/>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Outputting Raw HTML</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demos/output-raw-html</a:t>
            </a:r>
          </a:p>
        </p:txBody>
      </p:sp>
      <p:sp>
        <p:nvSpPr>
          <p:cNvPr id="5" name="Body"/>
          <p:cNvSpPr txBox="1"/>
          <p:nvPr/>
        </p:nvSpPr>
        <p:spPr>
          <a:xfrm>
            <a:off x="457200" y="2148840"/>
            <a:ext cx="8229600" cy="13335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Open </a:t>
            </a:r>
            <a:r>
              <a:rPr sz="1900" b="0" i="0">
                <a:solidFill>
                  <a:srgbClr val="8A2B52"/>
                </a:solidFill>
                <a:latin typeface="Consolas"/>
              </a:rPr>
              <a:t>index.html</a:t>
            </a:r>
            <a:r>
              <a:rPr sz="2000" b="0" i="0">
                <a:solidFill>
                  <a:srgbClr val="1F2A36"/>
                </a:solidFill>
              </a:rPr>
              <a:t> in a browser — no build step</a:t>
            </a:r>
          </a:p>
          <a:p>
            <a:pPr marL="274320" indent="-256032">
              <a:spcAft>
                <a:spcPts val="900"/>
              </a:spcAft>
              <a:buClr>
                <a:srgbClr val="42B883"/>
              </a:buClr>
              <a:buSzPct val="100000"/>
              <a:buFont typeface="Arial"/>
              <a:buChar char="•"/>
            </a:pPr>
            <a:r>
              <a:rPr sz="2000" b="0" i="0">
                <a:solidFill>
                  <a:srgbClr val="1F2A36"/>
                </a:solidFill>
              </a:rPr>
              <a:t>Compare </a:t>
            </a:r>
            <a:r>
              <a:rPr sz="1900" b="0" i="0">
                <a:solidFill>
                  <a:srgbClr val="8A2B52"/>
                </a:solidFill>
                <a:latin typeface="Consolas"/>
              </a:rPr>
              <a:t>{{ rawHtml }}</a:t>
            </a:r>
            <a:r>
              <a:rPr sz="2000" b="0" i="0">
                <a:solidFill>
                  <a:srgbClr val="1F2A36"/>
                </a:solidFill>
              </a:rPr>
              <a:t> with </a:t>
            </a:r>
            <a:r>
              <a:rPr sz="1900" b="0" i="0">
                <a:solidFill>
                  <a:srgbClr val="8A2B52"/>
                </a:solidFill>
                <a:latin typeface="Consolas"/>
              </a:rPr>
              <a:t>v-html="rawHtml"</a:t>
            </a:r>
          </a:p>
          <a:p>
            <a:pPr marL="274320" indent="-256032">
              <a:spcAft>
                <a:spcPts val="900"/>
              </a:spcAft>
              <a:buClr>
                <a:srgbClr val="42B883"/>
              </a:buClr>
              <a:buSzPct val="100000"/>
              <a:buFont typeface="Arial"/>
              <a:buChar char="•"/>
            </a:pPr>
            <a:r>
              <a:rPr sz="2000" b="0" i="0">
                <a:solidFill>
                  <a:srgbClr val="1F2A36"/>
                </a:solidFill>
              </a:rPr>
              <a:t>Look at the ref in </a:t>
            </a:r>
            <a:r>
              <a:rPr sz="1900" b="0" i="0">
                <a:solidFill>
                  <a:srgbClr val="8A2B52"/>
                </a:solidFill>
                <a:latin typeface="Consolas"/>
              </a:rPr>
              <a:t>js/index.js</a:t>
            </a:r>
          </a:p>
        </p:txBody>
      </p:sp>
      <p:sp>
        <p:nvSpPr>
          <p:cNvPr id="6" name="Tip"/>
          <p:cNvSpPr/>
          <p:nvPr/>
        </p:nvSpPr>
        <p:spPr>
          <a:xfrm>
            <a:off x="457200" y="3537204"/>
            <a:ext cx="8229600" cy="54864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709" b="0" i="0">
                <a:solidFill>
                  <a:srgbClr val="8A2B52"/>
                </a:solidFill>
                <a:latin typeface="Consolas"/>
              </a:rPr>
              <a:t>v-html</a:t>
            </a:r>
            <a:r>
              <a:rPr sz="1800" b="0" i="0">
                <a:solidFill>
                  <a:srgbClr val="1F2A36"/>
                </a:solidFill>
              </a:rPr>
              <a:t> sets </a:t>
            </a:r>
            <a:r>
              <a:rPr sz="1709" b="0" i="0">
                <a:solidFill>
                  <a:srgbClr val="8A2B52"/>
                </a:solidFill>
                <a:latin typeface="Consolas"/>
              </a:rPr>
              <a:t>innerHTML</a:t>
            </a:r>
            <a:r>
              <a:rPr sz="1800" b="0" i="0">
                <a:solidFill>
                  <a:srgbClr val="1F2A36"/>
                </a:solidFill>
              </a:rPr>
              <a:t>. Never use it with user-supplied content.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114</a:t>
            </a:fld>
            <a:endParaRPr lang="en-US" sz="900">
              <a:solidFill>
                <a:srgbClr val="9AA7B4"/>
              </a:solidFill>
            </a:endParaRPr>
          </a:p>
        </p:txBody>
      </p:sp>
    </p:spTree>
    <p:extLst>
      <p:ext uri="{BB962C8B-B14F-4D97-AF65-F5344CB8AC3E}">
        <p14:creationId xmlns:p14="http://schemas.microsoft.com/office/powerpoint/2010/main" val="28052303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5427-6362-5443-A7A8-28A78F639C82}"/>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Styling Vue Components</a:t>
            </a:r>
          </a:p>
        </p:txBody>
      </p:sp>
      <p:pic>
        <p:nvPicPr>
          <p:cNvPr id="6" name="Content Placeholder 6" descr="A screenshot of a cell phone&#10;&#10;Description automatically generated">
            <a:extLst>
              <a:ext uri="{FF2B5EF4-FFF2-40B4-BE49-F238E27FC236}">
                <a16:creationId xmlns:a16="http://schemas.microsoft.com/office/drawing/2014/main" id="{5A9D9A8F-82DA-41E3-07CE-D73DEC6FCE32}"/>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7" name="Chip LAB 12"/>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12</a:t>
            </a:r>
          </a:p>
        </p:txBody>
      </p:sp>
      <p:sp>
        <p:nvSpPr>
          <p:cNvPr id="8" name="Chip 2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25 min</a:t>
            </a:r>
          </a:p>
        </p:txBody>
      </p:sp>
      <p:sp>
        <p:nvSpPr>
          <p:cNvPr id="9"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Style HomeContent and TheFooter with scoped CSS.</a:t>
            </a:r>
          </a:p>
        </p:txBody>
      </p:sp>
      <p:sp>
        <p:nvSpPr>
          <p:cNvPr id="10" name="Body"/>
          <p:cNvSpPr txBox="1"/>
          <p:nvPr/>
        </p:nvSpPr>
        <p:spPr>
          <a:xfrm>
            <a:off x="457200" y="2441448"/>
            <a:ext cx="4160520" cy="294639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Add a </a:t>
            </a:r>
            <a:r>
              <a:rPr sz="1900" b="0" i="0">
                <a:solidFill>
                  <a:srgbClr val="8A2B52"/>
                </a:solidFill>
                <a:latin typeface="Consolas"/>
              </a:rPr>
              <a:t>&lt;style scoped&gt;</a:t>
            </a:r>
            <a:r>
              <a:rPr sz="2000" b="0" i="0">
                <a:solidFill>
                  <a:srgbClr val="1F2A36"/>
                </a:solidFill>
              </a:rPr>
              <a:t> block to HomeContent</a:t>
            </a:r>
          </a:p>
          <a:p>
            <a:pPr marL="274320" indent="-256032">
              <a:spcAft>
                <a:spcPts val="900"/>
              </a:spcAft>
              <a:buClr>
                <a:srgbClr val="42B883"/>
              </a:buClr>
              <a:buSzPct val="100000"/>
              <a:buFont typeface="Arial"/>
              <a:buChar char="•"/>
            </a:pPr>
            <a:r>
              <a:rPr sz="2000" b="0" i="0">
                <a:solidFill>
                  <a:srgbClr val="1F2A36"/>
                </a:solidFill>
              </a:rPr>
              <a:t>Style the banner, sidebar and feed toggle</a:t>
            </a:r>
          </a:p>
          <a:p>
            <a:pPr marL="274320" indent="-256032">
              <a:spcAft>
                <a:spcPts val="900"/>
              </a:spcAft>
              <a:buClr>
                <a:srgbClr val="42B883"/>
              </a:buClr>
              <a:buSzPct val="100000"/>
              <a:buFont typeface="Arial"/>
              <a:buChar char="•"/>
            </a:pPr>
            <a:r>
              <a:rPr sz="2000" b="0" i="0">
                <a:solidFill>
                  <a:srgbClr val="1F2A36"/>
                </a:solidFill>
              </a:rPr>
              <a:t>Add scoped styles to TheFooter</a:t>
            </a:r>
          </a:p>
          <a:p>
            <a:pPr marL="274320" indent="-256032">
              <a:spcAft>
                <a:spcPts val="900"/>
              </a:spcAft>
              <a:buClr>
                <a:srgbClr val="42B883"/>
              </a:buClr>
              <a:buSzPct val="100000"/>
              <a:buFont typeface="Arial"/>
              <a:buChar char="•"/>
            </a:pPr>
            <a:r>
              <a:rPr sz="2000" b="0" i="0">
                <a:solidFill>
                  <a:srgbClr val="1F2A36"/>
                </a:solidFill>
              </a:rPr>
              <a:t>Inspect the result in DevTools — find the </a:t>
            </a:r>
            <a:r>
              <a:rPr sz="1900" b="0" i="0">
                <a:solidFill>
                  <a:srgbClr val="8A2B52"/>
                </a:solidFill>
                <a:latin typeface="Consolas"/>
              </a:rPr>
              <a:t>data-v-…</a:t>
            </a:r>
            <a:r>
              <a:rPr sz="2000" b="0" i="0">
                <a:solidFill>
                  <a:srgbClr val="1F2A36"/>
                </a:solidFill>
              </a:rPr>
              <a:t> attributes</a:t>
            </a:r>
          </a:p>
        </p:txBody>
      </p:sp>
      <p:sp>
        <p:nvSpPr>
          <p:cNvPr id="11"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2"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115</a:t>
            </a:fld>
            <a:endParaRPr lang="en-US" sz="900">
              <a:solidFill>
                <a:srgbClr val="9AA7B4"/>
              </a:solidFill>
            </a:endParaRPr>
          </a:p>
        </p:txBody>
      </p:sp>
    </p:spTree>
    <p:extLst>
      <p:ext uri="{BB962C8B-B14F-4D97-AF65-F5344CB8AC3E}">
        <p14:creationId xmlns:p14="http://schemas.microsoft.com/office/powerpoint/2010/main" val="347952021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22765-83E3-CA41-A8E4-780FC379C903}"/>
              </a:ext>
            </a:extLst>
          </p:cNvPr>
          <p:cNvSpPr>
            <a:spLocks noGrp="1"/>
          </p:cNvSpPr>
          <p:nvPr>
            <p:ph type="title"/>
          </p:nvPr>
        </p:nvSpPr>
        <p:spPr>
          <a:xfrm>
            <a:off x="731520" y="914400"/>
            <a:ext cx="7680960" cy="1097280"/>
          </a:xfrm>
        </p:spPr>
        <p:txBody>
          <a:bodyPr wrap="square" lIns="0" tIns="0" rIns="0" bIns="0" anchor="t">
            <a:noAutofit/>
          </a:bodyPr>
          <a:lstStyle/>
          <a:p>
            <a:pPr marL="0" indent="0" algn="l">
              <a:buNone/>
            </a:pPr>
            <a:r>
              <a:rPr sz="4000" b="1" i="0" cap="none">
                <a:solidFill>
                  <a:srgbClr val="FFFFFF"/>
                </a:solidFill>
              </a:rPr>
              <a:t>Computed Properties</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Code"/>
          <p:cNvSpPr/>
          <p:nvPr/>
        </p:nvSpPr>
        <p:spPr>
          <a:xfrm>
            <a:off x="731520" y="2240280"/>
            <a:ext cx="7680960" cy="151543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294">
                <a:solidFill>
                  <a:srgbClr val="CF222E"/>
                </a:solidFill>
                <a:latin typeface="Consolas"/>
              </a:rPr>
              <a:t>import</a:t>
            </a:r>
            <a:r>
              <a:rPr sz="1294">
                <a:solidFill>
                  <a:srgbClr val="24292F"/>
                </a:solidFill>
                <a:latin typeface="Consolas"/>
              </a:rPr>
              <a:t> { computed, ref } </a:t>
            </a:r>
            <a:r>
              <a:rPr sz="1294">
                <a:solidFill>
                  <a:srgbClr val="CF222E"/>
                </a:solidFill>
                <a:latin typeface="Consolas"/>
              </a:rPr>
              <a:t>from</a:t>
            </a:r>
            <a:r>
              <a:rPr sz="1294">
                <a:solidFill>
                  <a:srgbClr val="24292F"/>
                </a:solidFill>
                <a:latin typeface="Consolas"/>
              </a:rPr>
              <a:t> </a:t>
            </a:r>
            <a:r>
              <a:rPr sz="1294">
                <a:solidFill>
                  <a:srgbClr val="0A3069"/>
                </a:solidFill>
                <a:latin typeface="Consolas"/>
              </a:rPr>
              <a:t>'vue'</a:t>
            </a:r>
          </a:p>
          <a:p>
            <a:pPr marL="0" indent="0" algn="l">
              <a:lnSpc>
                <a:spcPct val="100000"/>
              </a:lnSpc>
              <a:buNone/>
            </a:pPr>
            <a:r>
              <a:rPr sz="1294">
                <a:latin typeface="Consolas"/>
              </a:rPr>
              <a:t> </a:t>
            </a:r>
          </a:p>
          <a:p>
            <a:pPr marL="0" indent="0" algn="l">
              <a:lnSpc>
                <a:spcPct val="100000"/>
              </a:lnSpc>
              <a:buNone/>
            </a:pPr>
            <a:r>
              <a:rPr sz="1294">
                <a:solidFill>
                  <a:srgbClr val="CF222E"/>
                </a:solidFill>
                <a:latin typeface="Consolas"/>
              </a:rPr>
              <a:t>const</a:t>
            </a:r>
            <a:r>
              <a:rPr sz="1294">
                <a:solidFill>
                  <a:srgbClr val="24292F"/>
                </a:solidFill>
                <a:latin typeface="Consolas"/>
              </a:rPr>
              <a:t> firstName = ref(</a:t>
            </a:r>
            <a:r>
              <a:rPr sz="1294">
                <a:solidFill>
                  <a:srgbClr val="0A3069"/>
                </a:solidFill>
                <a:latin typeface="Consolas"/>
              </a:rPr>
              <a:t>'Ada'</a:t>
            </a:r>
            <a:r>
              <a:rPr sz="1294">
                <a:solidFill>
                  <a:srgbClr val="24292F"/>
                </a:solidFill>
                <a:latin typeface="Consolas"/>
              </a:rPr>
              <a:t>)</a:t>
            </a:r>
          </a:p>
          <a:p>
            <a:pPr marL="0" indent="0" algn="l">
              <a:lnSpc>
                <a:spcPct val="100000"/>
              </a:lnSpc>
              <a:buNone/>
            </a:pPr>
            <a:r>
              <a:rPr sz="1294">
                <a:solidFill>
                  <a:srgbClr val="CF222E"/>
                </a:solidFill>
                <a:latin typeface="Consolas"/>
              </a:rPr>
              <a:t>const</a:t>
            </a:r>
            <a:r>
              <a:rPr sz="1294">
                <a:solidFill>
                  <a:srgbClr val="24292F"/>
                </a:solidFill>
                <a:latin typeface="Consolas"/>
              </a:rPr>
              <a:t> lastName = ref(</a:t>
            </a:r>
            <a:r>
              <a:rPr sz="1294">
                <a:solidFill>
                  <a:srgbClr val="0A3069"/>
                </a:solidFill>
                <a:latin typeface="Consolas"/>
              </a:rPr>
              <a:t>'Lovelace'</a:t>
            </a:r>
            <a:r>
              <a:rPr sz="1294">
                <a:solidFill>
                  <a:srgbClr val="24292F"/>
                </a:solidFill>
                <a:latin typeface="Consolas"/>
              </a:rPr>
              <a:t>)</a:t>
            </a:r>
          </a:p>
          <a:p>
            <a:pPr marL="0" indent="0" algn="l">
              <a:lnSpc>
                <a:spcPct val="100000"/>
              </a:lnSpc>
              <a:buNone/>
            </a:pPr>
            <a:r>
              <a:rPr sz="1294">
                <a:latin typeface="Consolas"/>
              </a:rPr>
              <a:t> </a:t>
            </a:r>
          </a:p>
          <a:p>
            <a:pPr marL="0" indent="0" algn="l">
              <a:lnSpc>
                <a:spcPct val="100000"/>
              </a:lnSpc>
              <a:buNone/>
            </a:pPr>
            <a:r>
              <a:rPr sz="1294">
                <a:solidFill>
                  <a:srgbClr val="CF222E"/>
                </a:solidFill>
                <a:latin typeface="Consolas"/>
              </a:rPr>
              <a:t>const</a:t>
            </a:r>
            <a:r>
              <a:rPr sz="1294">
                <a:solidFill>
                  <a:srgbClr val="24292F"/>
                </a:solidFill>
                <a:latin typeface="Consolas"/>
              </a:rPr>
              <a:t> fullName = computed(() =&gt; </a:t>
            </a:r>
            <a:r>
              <a:rPr sz="1294">
                <a:solidFill>
                  <a:srgbClr val="0A3069"/>
                </a:solidFill>
                <a:latin typeface="Consolas"/>
              </a:rPr>
              <a:t>`${firstName.value} ${lastName.value}`</a:t>
            </a:r>
            <a:r>
              <a:rPr sz="1294">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116</a:t>
            </a:fld>
            <a:endParaRPr lang="en-US" sz="900">
              <a:solidFill>
                <a:srgbClr val="9FB3C4"/>
              </a:solidFill>
            </a:endParaRPr>
          </a:p>
        </p:txBody>
      </p:sp>
    </p:spTree>
    <p:extLst>
      <p:ext uri="{BB962C8B-B14F-4D97-AF65-F5344CB8AC3E}">
        <p14:creationId xmlns:p14="http://schemas.microsoft.com/office/powerpoint/2010/main" val="12564664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C9E2-1903-AD4C-80C8-F3740B3631C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Computed Properties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Useful for logic too complex to sit in a template</a:t>
            </a:r>
          </a:p>
          <a:p>
            <a:pPr marL="274320" indent="-256032">
              <a:spcAft>
                <a:spcPts val="990"/>
              </a:spcAft>
              <a:buClr>
                <a:srgbClr val="42B883"/>
              </a:buClr>
              <a:buSzPct val="100000"/>
              <a:buFont typeface="Arial"/>
              <a:buChar char="•"/>
            </a:pPr>
            <a:r>
              <a:rPr sz="2200" b="0" i="0">
                <a:solidFill>
                  <a:srgbClr val="1F2A36"/>
                </a:solidFill>
              </a:rPr>
              <a:t>Created by calling </a:t>
            </a:r>
            <a:r>
              <a:rPr sz="2090" b="0" i="0">
                <a:solidFill>
                  <a:srgbClr val="8A2B52"/>
                </a:solidFill>
                <a:latin typeface="Consolas"/>
              </a:rPr>
              <a:t>computed()</a:t>
            </a:r>
            <a:r>
              <a:rPr sz="2200" b="0" i="0">
                <a:solidFill>
                  <a:srgbClr val="1F2A36"/>
                </a:solidFill>
              </a:rPr>
              <a:t> with a getter function</a:t>
            </a:r>
          </a:p>
        </p:txBody>
      </p:sp>
      <p:sp>
        <p:nvSpPr>
          <p:cNvPr id="4" name="Code"/>
          <p:cNvSpPr/>
          <p:nvPr/>
        </p:nvSpPr>
        <p:spPr>
          <a:xfrm>
            <a:off x="457200" y="2319020"/>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message = ref(</a:t>
            </a:r>
            <a:r>
              <a:rPr sz="2000">
                <a:solidFill>
                  <a:srgbClr val="0A3069"/>
                </a:solidFill>
                <a:latin typeface="Consolas"/>
              </a:rPr>
              <a:t>'Hi There'</a:t>
            </a: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reversedMessage = computed(() =&gt;</a:t>
            </a:r>
          </a:p>
          <a:p>
            <a:pPr marL="0" indent="0" algn="l">
              <a:lnSpc>
                <a:spcPct val="100000"/>
              </a:lnSpc>
              <a:buNone/>
            </a:pPr>
            <a:r>
              <a:rPr sz="2000">
                <a:solidFill>
                  <a:srgbClr val="24292F"/>
                </a:solidFill>
                <a:latin typeface="Consolas"/>
              </a:rPr>
              <a:t>  message.value.split(</a:t>
            </a:r>
            <a:r>
              <a:rPr sz="2000">
                <a:solidFill>
                  <a:srgbClr val="0A3069"/>
                </a:solidFill>
                <a:latin typeface="Consolas"/>
              </a:rPr>
              <a:t>''</a:t>
            </a:r>
            <a:r>
              <a:rPr sz="2000">
                <a:solidFill>
                  <a:srgbClr val="24292F"/>
                </a:solidFill>
                <a:latin typeface="Consolas"/>
              </a:rPr>
              <a:t>).reverse().join(</a:t>
            </a:r>
            <a:r>
              <a:rPr sz="2000">
                <a:solidFill>
                  <a:srgbClr val="0A3069"/>
                </a:solidFill>
                <a:latin typeface="Consolas"/>
              </a:rPr>
              <a:t>''</a:t>
            </a:r>
            <a:r>
              <a:rPr sz="2000">
                <a:solidFill>
                  <a:srgbClr val="24292F"/>
                </a:solidFill>
                <a:latin typeface="Consolas"/>
              </a:rPr>
              <a:t>)</a:t>
            </a:r>
          </a:p>
          <a:p>
            <a:pPr marL="0" indent="0" algn="l">
              <a:lnSpc>
                <a:spcPct val="100000"/>
              </a:lnSpc>
              <a:buNone/>
            </a:pPr>
            <a:r>
              <a:rPr sz="2000">
                <a:solidFill>
                  <a:srgbClr val="24292F"/>
                </a:solidFill>
                <a:latin typeface="Consolas"/>
              </a:rPr>
              <a:t>)</a:t>
            </a:r>
          </a:p>
        </p:txBody>
      </p:sp>
      <p:sp>
        <p:nvSpPr>
          <p:cNvPr id="5" name="Body"/>
          <p:cNvSpPr txBox="1"/>
          <p:nvPr/>
        </p:nvSpPr>
        <p:spPr>
          <a:xfrm>
            <a:off x="457200" y="4332732"/>
            <a:ext cx="8229600" cy="133350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computed()</a:t>
            </a:r>
            <a:r>
              <a:rPr sz="2200" b="0" i="0">
                <a:solidFill>
                  <a:srgbClr val="1F2A36"/>
                </a:solidFill>
              </a:rPr>
              <a:t> returns a read-only </a:t>
            </a:r>
            <a:r>
              <a:rPr sz="2200" b="1" i="0">
                <a:solidFill>
                  <a:srgbClr val="1F2A36"/>
                </a:solidFill>
              </a:rPr>
              <a:t>ref</a:t>
            </a:r>
          </a:p>
          <a:p>
            <a:pPr marL="566928" indent="-256032">
              <a:spcAft>
                <a:spcPts val="855"/>
              </a:spcAft>
              <a:buClr>
                <a:srgbClr val="6B7B8C"/>
              </a:buClr>
              <a:buSzPct val="100000"/>
              <a:buFont typeface="Arial"/>
              <a:buChar char="–"/>
            </a:pPr>
            <a:r>
              <a:rPr sz="1805" b="0" i="0">
                <a:solidFill>
                  <a:srgbClr val="8A2B52"/>
                </a:solidFill>
                <a:latin typeface="Consolas"/>
              </a:rPr>
              <a:t>reversedMessage.value</a:t>
            </a:r>
            <a:r>
              <a:rPr sz="1900" b="0" i="0">
                <a:solidFill>
                  <a:srgbClr val="3A4A5A"/>
                </a:solidFill>
              </a:rPr>
              <a:t> in script</a:t>
            </a:r>
          </a:p>
          <a:p>
            <a:pPr marL="566928" indent="-256032">
              <a:spcAft>
                <a:spcPts val="855"/>
              </a:spcAft>
              <a:buClr>
                <a:srgbClr val="6B7B8C"/>
              </a:buClr>
              <a:buSzPct val="100000"/>
              <a:buFont typeface="Arial"/>
              <a:buChar char="–"/>
            </a:pPr>
            <a:r>
              <a:rPr sz="1805" b="0" i="0">
                <a:solidFill>
                  <a:srgbClr val="8A2B52"/>
                </a:solidFill>
                <a:latin typeface="Consolas"/>
              </a:rPr>
              <a:t>{{ reversedMessage }}</a:t>
            </a:r>
            <a:r>
              <a:rPr sz="1900" b="0" i="0">
                <a:solidFill>
                  <a:srgbClr val="3A4A5A"/>
                </a:solidFill>
              </a:rPr>
              <a:t> in the template</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117</a:t>
            </a:fld>
            <a:endParaRPr lang="en-US" sz="900">
              <a:solidFill>
                <a:srgbClr val="9AA7B4"/>
              </a:solidFill>
            </a:endParaRPr>
          </a:p>
        </p:txBody>
      </p:sp>
    </p:spTree>
    <p:extLst>
      <p:ext uri="{BB962C8B-B14F-4D97-AF65-F5344CB8AC3E}">
        <p14:creationId xmlns:p14="http://schemas.microsoft.com/office/powerpoint/2010/main" val="18739330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D653B-508B-F54D-AFB8-C163A07E5519}"/>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Benefits of Computed Properties</a:t>
            </a:r>
          </a:p>
        </p:txBody>
      </p:sp>
      <p:sp>
        <p:nvSpPr>
          <p:cNvPr id="3" name="Body"/>
          <p:cNvSpPr txBox="1"/>
          <p:nvPr/>
        </p:nvSpPr>
        <p:spPr>
          <a:xfrm>
            <a:off x="457200" y="1261872"/>
            <a:ext cx="8229600" cy="21170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Cached</a:t>
            </a:r>
            <a:r>
              <a:rPr sz="2200" b="0" i="0">
                <a:solidFill>
                  <a:srgbClr val="1F2A36"/>
                </a:solidFill>
              </a:rPr>
              <a:t>: unlike a function call in the template, a computed property doesn't re-run unless a reactive value it read has changed</a:t>
            </a:r>
          </a:p>
          <a:p>
            <a:pPr marL="274320" indent="-256032">
              <a:spcAft>
                <a:spcPts val="990"/>
              </a:spcAft>
              <a:buClr>
                <a:srgbClr val="42B883"/>
              </a:buClr>
              <a:buSzPct val="100000"/>
              <a:buFont typeface="Arial"/>
              <a:buChar char="•"/>
            </a:pPr>
            <a:r>
              <a:rPr sz="2200" b="1" i="0">
                <a:solidFill>
                  <a:srgbClr val="1F2A36"/>
                </a:solidFill>
              </a:rPr>
              <a:t>Declarative</a:t>
            </a:r>
            <a:r>
              <a:rPr sz="2200" b="0" i="0">
                <a:solidFill>
                  <a:srgbClr val="1F2A36"/>
                </a:solidFill>
              </a:rPr>
              <a:t>: often a cleaner alternative to a watcher</a:t>
            </a:r>
          </a:p>
          <a:p>
            <a:pPr marL="274320" indent="-256032">
              <a:spcAft>
                <a:spcPts val="990"/>
              </a:spcAft>
              <a:buClr>
                <a:srgbClr val="42B883"/>
              </a:buClr>
              <a:buSzPct val="100000"/>
              <a:buFont typeface="Arial"/>
              <a:buChar char="•"/>
            </a:pPr>
            <a:r>
              <a:rPr sz="2200" b="1" i="0">
                <a:solidFill>
                  <a:srgbClr val="1F2A36"/>
                </a:solidFill>
              </a:rPr>
              <a:t>Readable and testable</a:t>
            </a:r>
            <a:r>
              <a:rPr sz="2200" b="0" i="0">
                <a:solidFill>
                  <a:srgbClr val="1F2A36"/>
                </a:solidFill>
              </a:rPr>
              <a:t>: the logic has a name</a:t>
            </a:r>
          </a:p>
        </p:txBody>
      </p:sp>
      <p:sp>
        <p:nvSpPr>
          <p:cNvPr id="4" name="Tip"/>
          <p:cNvSpPr/>
          <p:nvPr/>
        </p:nvSpPr>
        <p:spPr>
          <a:xfrm>
            <a:off x="457200" y="3433826"/>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A getter should have no side effects. Don't mutate state, make requests or touch the DOM inside one.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118</a:t>
            </a:fld>
            <a:endParaRPr lang="en-US" sz="900">
              <a:solidFill>
                <a:srgbClr val="9AA7B4"/>
              </a:solidFill>
            </a:endParaRPr>
          </a:p>
        </p:txBody>
      </p:sp>
    </p:spTree>
    <p:extLst>
      <p:ext uri="{BB962C8B-B14F-4D97-AF65-F5344CB8AC3E}">
        <p14:creationId xmlns:p14="http://schemas.microsoft.com/office/powerpoint/2010/main" val="31700629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99CE-0F31-EC49-B332-20618D306D25}"/>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2400" b="1" i="0" cap="none">
                <a:solidFill>
                  <a:srgbClr val="2C3E50"/>
                </a:solidFill>
              </a:rPr>
              <a:t>Filtering and Sorting a List with a Computed Property</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demos/filter-with-computed-property</a:t>
            </a:r>
          </a:p>
        </p:txBody>
      </p:sp>
      <p:sp>
        <p:nvSpPr>
          <p:cNvPr id="5" name="Body"/>
          <p:cNvSpPr txBox="1"/>
          <p:nvPr/>
        </p:nvSpPr>
        <p:spPr>
          <a:xfrm>
            <a:off x="457200" y="2148840"/>
            <a:ext cx="8229600" cy="204723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Open </a:t>
            </a:r>
            <a:r>
              <a:rPr sz="1900" b="0" i="0">
                <a:solidFill>
                  <a:srgbClr val="8A2B52"/>
                </a:solidFill>
                <a:latin typeface="Consolas"/>
              </a:rPr>
              <a:t>index.html</a:t>
            </a:r>
            <a:r>
              <a:rPr sz="2000" b="0" i="0">
                <a:solidFill>
                  <a:srgbClr val="1F2A36"/>
                </a:solidFill>
              </a:rPr>
              <a:t> in a browser</a:t>
            </a:r>
          </a:p>
          <a:p>
            <a:pPr marL="274320" indent="-256032">
              <a:spcAft>
                <a:spcPts val="900"/>
              </a:spcAft>
              <a:buClr>
                <a:srgbClr val="42B883"/>
              </a:buClr>
              <a:buSzPct val="100000"/>
              <a:buFont typeface="Arial"/>
              <a:buChar char="•"/>
            </a:pPr>
            <a:r>
              <a:rPr sz="2000" b="0" i="0">
                <a:solidFill>
                  <a:srgbClr val="1F2A36"/>
                </a:solidFill>
              </a:rPr>
              <a:t>Type in the box to filter by name or age</a:t>
            </a:r>
          </a:p>
          <a:p>
            <a:pPr marL="274320" indent="-256032">
              <a:spcAft>
                <a:spcPts val="900"/>
              </a:spcAft>
              <a:buClr>
                <a:srgbClr val="42B883"/>
              </a:buClr>
              <a:buSzPct val="100000"/>
              <a:buFont typeface="Arial"/>
              <a:buChar char="•"/>
            </a:pPr>
            <a:r>
              <a:rPr sz="2000" b="0" i="0">
                <a:solidFill>
                  <a:srgbClr val="1F2A36"/>
                </a:solidFill>
              </a:rPr>
              <a:t>Click a column heading to sort; click again to reverse</a:t>
            </a:r>
          </a:p>
          <a:p>
            <a:pPr marL="274320" indent="-256032">
              <a:spcAft>
                <a:spcPts val="900"/>
              </a:spcAft>
              <a:buClr>
                <a:srgbClr val="42B883"/>
              </a:buClr>
              <a:buSzPct val="100000"/>
              <a:buFont typeface="Arial"/>
              <a:buChar char="•"/>
            </a:pPr>
            <a:r>
              <a:rPr sz="2000" b="0" i="0">
                <a:solidFill>
                  <a:srgbClr val="1F2A36"/>
                </a:solidFill>
              </a:rPr>
              <a:t>Read </a:t>
            </a:r>
            <a:r>
              <a:rPr sz="1900" b="0" i="0">
                <a:solidFill>
                  <a:srgbClr val="8A2B52"/>
                </a:solidFill>
                <a:latin typeface="Consolas"/>
              </a:rPr>
              <a:t>js/index.js</a:t>
            </a:r>
            <a:r>
              <a:rPr sz="2000" b="0" i="0">
                <a:solidFill>
                  <a:srgbClr val="1F2A36"/>
                </a:solidFill>
              </a:rPr>
              <a:t>: one computed property, </a:t>
            </a:r>
            <a:r>
              <a:rPr sz="1900" b="0" i="0">
                <a:solidFill>
                  <a:srgbClr val="8A2B52"/>
                </a:solidFill>
                <a:latin typeface="Consolas"/>
              </a:rPr>
              <a:t>filterIt</a:t>
            </a:r>
            <a:r>
              <a:rPr sz="2000" b="0" i="0">
                <a:solidFill>
                  <a:srgbClr val="1F2A36"/>
                </a:solidFill>
              </a:rPr>
              <a:t>, does both</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119</a:t>
            </a:fld>
            <a:endParaRPr lang="en-US" sz="900">
              <a:solidFill>
                <a:srgbClr val="9AA7B4"/>
              </a:solidFill>
            </a:endParaRPr>
          </a:p>
        </p:txBody>
      </p:sp>
    </p:spTree>
    <p:extLst>
      <p:ext uri="{BB962C8B-B14F-4D97-AF65-F5344CB8AC3E}">
        <p14:creationId xmlns:p14="http://schemas.microsoft.com/office/powerpoint/2010/main" val="2553693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53B0-23FB-2D49-B02D-C9D91922C17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Setters in Computed Properties</a:t>
            </a:r>
          </a:p>
        </p:txBody>
      </p:sp>
      <p:sp>
        <p:nvSpPr>
          <p:cNvPr id="3"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Computed properties are getter-only by default</a:t>
            </a:r>
          </a:p>
          <a:p>
            <a:pPr marL="274320" indent="-256032">
              <a:spcAft>
                <a:spcPts val="990"/>
              </a:spcAft>
              <a:buClr>
                <a:srgbClr val="42B883"/>
              </a:buClr>
              <a:buSzPct val="100000"/>
              <a:buFont typeface="Arial"/>
              <a:buChar char="•"/>
            </a:pPr>
            <a:r>
              <a:rPr sz="2200" b="0" i="0">
                <a:solidFill>
                  <a:srgbClr val="1F2A36"/>
                </a:solidFill>
              </a:rPr>
              <a:t>Pass an object with </a:t>
            </a:r>
            <a:r>
              <a:rPr sz="2090" b="0" i="0">
                <a:solidFill>
                  <a:srgbClr val="8A2B52"/>
                </a:solidFill>
                <a:latin typeface="Consolas"/>
              </a:rPr>
              <a:t>get</a:t>
            </a:r>
            <a:r>
              <a:rPr sz="2200" b="0" i="0">
                <a:solidFill>
                  <a:srgbClr val="1F2A36"/>
                </a:solidFill>
              </a:rPr>
              <a:t> and </a:t>
            </a:r>
            <a:r>
              <a:rPr sz="2090" b="0" i="0">
                <a:solidFill>
                  <a:srgbClr val="8A2B52"/>
                </a:solidFill>
                <a:latin typeface="Consolas"/>
              </a:rPr>
              <a:t>set</a:t>
            </a:r>
            <a:r>
              <a:rPr sz="2200" b="0" i="0">
                <a:solidFill>
                  <a:srgbClr val="1F2A36"/>
                </a:solidFill>
              </a:rPr>
              <a:t> when you need to write to one</a:t>
            </a:r>
          </a:p>
        </p:txBody>
      </p:sp>
      <p:sp>
        <p:nvSpPr>
          <p:cNvPr id="4" name="Code"/>
          <p:cNvSpPr/>
          <p:nvPr/>
        </p:nvSpPr>
        <p:spPr>
          <a:xfrm>
            <a:off x="457200" y="2648712"/>
            <a:ext cx="8229600" cy="32847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00">
                <a:solidFill>
                  <a:srgbClr val="CF222E"/>
                </a:solidFill>
                <a:latin typeface="Consolas"/>
              </a:rPr>
              <a:t>const</a:t>
            </a:r>
            <a:r>
              <a:rPr sz="1900">
                <a:solidFill>
                  <a:srgbClr val="24292F"/>
                </a:solidFill>
                <a:latin typeface="Consolas"/>
              </a:rPr>
              <a:t> fullName = computed({</a:t>
            </a:r>
          </a:p>
          <a:p>
            <a:pPr marL="0" indent="0" algn="l">
              <a:lnSpc>
                <a:spcPct val="100000"/>
              </a:lnSpc>
              <a:buNone/>
            </a:pPr>
            <a:r>
              <a:rPr sz="1900">
                <a:solidFill>
                  <a:srgbClr val="24292F"/>
                </a:solidFill>
                <a:latin typeface="Consolas"/>
              </a:rPr>
              <a:t>  </a:t>
            </a:r>
            <a:r>
              <a:rPr sz="1900">
                <a:solidFill>
                  <a:srgbClr val="CF222E"/>
                </a:solidFill>
                <a:latin typeface="Consolas"/>
              </a:rPr>
              <a:t>get</a:t>
            </a:r>
            <a:r>
              <a:rPr sz="1900">
                <a:solidFill>
                  <a:srgbClr val="24292F"/>
                </a:solidFill>
                <a:latin typeface="Consolas"/>
              </a:rPr>
              <a:t>: () =&gt; </a:t>
            </a:r>
            <a:r>
              <a:rPr sz="1900">
                <a:solidFill>
                  <a:srgbClr val="0A3069"/>
                </a:solidFill>
                <a:latin typeface="Consolas"/>
              </a:rPr>
              <a:t>`${firstName.value} ${lastName.value}`</a:t>
            </a:r>
            <a:r>
              <a:rPr sz="1900">
                <a:solidFill>
                  <a:srgbClr val="24292F"/>
                </a:solidFill>
                <a:latin typeface="Consolas"/>
              </a:rPr>
              <a:t>,</a:t>
            </a:r>
          </a:p>
          <a:p>
            <a:pPr marL="0" indent="0" algn="l">
              <a:lnSpc>
                <a:spcPct val="100000"/>
              </a:lnSpc>
              <a:buNone/>
            </a:pPr>
            <a:r>
              <a:rPr sz="1900">
                <a:solidFill>
                  <a:srgbClr val="24292F"/>
                </a:solidFill>
                <a:latin typeface="Consolas"/>
              </a:rPr>
              <a:t>  </a:t>
            </a:r>
            <a:r>
              <a:rPr sz="1900">
                <a:solidFill>
                  <a:srgbClr val="CF222E"/>
                </a:solidFill>
                <a:latin typeface="Consolas"/>
              </a:rPr>
              <a:t>set</a:t>
            </a:r>
            <a:r>
              <a:rPr sz="1900">
                <a:solidFill>
                  <a:srgbClr val="24292F"/>
                </a:solidFill>
                <a:latin typeface="Consolas"/>
              </a:rPr>
              <a:t>: (newValue) =&gt; {</a:t>
            </a:r>
          </a:p>
          <a:p>
            <a:pPr marL="0" indent="0" algn="l">
              <a:lnSpc>
                <a:spcPct val="100000"/>
              </a:lnSpc>
              <a:buNone/>
            </a:pPr>
            <a:r>
              <a:rPr sz="1900">
                <a:solidFill>
                  <a:srgbClr val="24292F"/>
                </a:solidFill>
                <a:latin typeface="Consolas"/>
              </a:rPr>
              <a:t>    </a:t>
            </a:r>
            <a:r>
              <a:rPr sz="1900">
                <a:solidFill>
                  <a:srgbClr val="CF222E"/>
                </a:solidFill>
                <a:latin typeface="Consolas"/>
              </a:rPr>
              <a:t>const</a:t>
            </a:r>
            <a:r>
              <a:rPr sz="1900">
                <a:solidFill>
                  <a:srgbClr val="24292F"/>
                </a:solidFill>
                <a:latin typeface="Consolas"/>
              </a:rPr>
              <a:t> names = newValue.split(</a:t>
            </a:r>
            <a:r>
              <a:rPr sz="1900">
                <a:solidFill>
                  <a:srgbClr val="0A3069"/>
                </a:solidFill>
                <a:latin typeface="Consolas"/>
              </a:rPr>
              <a:t>' '</a:t>
            </a:r>
            <a:r>
              <a:rPr sz="1900">
                <a:solidFill>
                  <a:srgbClr val="24292F"/>
                </a:solidFill>
                <a:latin typeface="Consolas"/>
              </a:rPr>
              <a:t>)</a:t>
            </a:r>
          </a:p>
          <a:p>
            <a:pPr marL="0" indent="0" algn="l">
              <a:lnSpc>
                <a:spcPct val="100000"/>
              </a:lnSpc>
              <a:buNone/>
            </a:pPr>
            <a:r>
              <a:rPr sz="1900">
                <a:solidFill>
                  <a:srgbClr val="24292F"/>
                </a:solidFill>
                <a:latin typeface="Consolas"/>
              </a:rPr>
              <a:t>    firstName.value = names[</a:t>
            </a:r>
            <a:r>
              <a:rPr sz="1900">
                <a:solidFill>
                  <a:srgbClr val="0550AE"/>
                </a:solidFill>
                <a:latin typeface="Consolas"/>
              </a:rPr>
              <a:t>0</a:t>
            </a:r>
            <a:r>
              <a:rPr sz="1900">
                <a:solidFill>
                  <a:srgbClr val="24292F"/>
                </a:solidFill>
                <a:latin typeface="Consolas"/>
              </a:rPr>
              <a:t>]</a:t>
            </a:r>
          </a:p>
          <a:p>
            <a:pPr marL="0" indent="0" algn="l">
              <a:lnSpc>
                <a:spcPct val="100000"/>
              </a:lnSpc>
              <a:buNone/>
            </a:pPr>
            <a:r>
              <a:rPr sz="1900">
                <a:solidFill>
                  <a:srgbClr val="24292F"/>
                </a:solidFill>
                <a:latin typeface="Consolas"/>
              </a:rPr>
              <a:t>    lastName.value = names.at(-</a:t>
            </a:r>
            <a:r>
              <a:rPr sz="1900">
                <a:solidFill>
                  <a:srgbClr val="0550AE"/>
                </a:solidFill>
                <a:latin typeface="Consolas"/>
              </a:rPr>
              <a:t>1</a:t>
            </a:r>
            <a:r>
              <a:rPr sz="1900">
                <a:solidFill>
                  <a:srgbClr val="24292F"/>
                </a:solidFill>
                <a:latin typeface="Consolas"/>
              </a:rPr>
              <a:t>)</a:t>
            </a:r>
          </a:p>
          <a:p>
            <a:pPr marL="0" indent="0" algn="l">
              <a:lnSpc>
                <a:spcPct val="100000"/>
              </a:lnSpc>
              <a:buNone/>
            </a:pPr>
            <a:r>
              <a:rPr sz="1900">
                <a:solidFill>
                  <a:srgbClr val="24292F"/>
                </a:solidFill>
                <a:latin typeface="Consolas"/>
              </a:rPr>
              <a:t>  },</a:t>
            </a:r>
          </a:p>
          <a:p>
            <a:pPr marL="0" indent="0" algn="l">
              <a:lnSpc>
                <a:spcPct val="100000"/>
              </a:lnSpc>
              <a:buNone/>
            </a:pPr>
            <a:r>
              <a:rPr sz="1900">
                <a:solidFill>
                  <a:srgbClr val="24292F"/>
                </a:solidFill>
                <a:latin typeface="Consolas"/>
              </a:rPr>
              <a:t>})</a:t>
            </a:r>
          </a:p>
          <a:p>
            <a:pPr marL="0" indent="0" algn="l">
              <a:lnSpc>
                <a:spcPct val="100000"/>
              </a:lnSpc>
              <a:buNone/>
            </a:pPr>
            <a:r>
              <a:rPr sz="1900">
                <a:latin typeface="Consolas"/>
              </a:rPr>
              <a:t> </a:t>
            </a:r>
          </a:p>
          <a:p>
            <a:pPr marL="0" indent="0" algn="l">
              <a:lnSpc>
                <a:spcPct val="100000"/>
              </a:lnSpc>
              <a:buNone/>
            </a:pPr>
            <a:r>
              <a:rPr sz="1900">
                <a:solidFill>
                  <a:srgbClr val="24292F"/>
                </a:solidFill>
                <a:latin typeface="Consolas"/>
              </a:rPr>
              <a:t>fullName.value = </a:t>
            </a:r>
            <a:r>
              <a:rPr sz="1900">
                <a:solidFill>
                  <a:srgbClr val="0A3069"/>
                </a:solidFill>
                <a:latin typeface="Consolas"/>
              </a:rPr>
              <a:t>'Grace Hopper'</a:t>
            </a:r>
            <a:r>
              <a:rPr sz="1900">
                <a:solidFill>
                  <a:srgbClr val="24292F"/>
                </a:solidFill>
                <a:latin typeface="Consolas"/>
              </a:rPr>
              <a:t>   </a:t>
            </a:r>
            <a:r>
              <a:rPr sz="1900" i="1">
                <a:solidFill>
                  <a:srgbClr val="6E7781"/>
                </a:solidFill>
                <a:latin typeface="Consolas"/>
              </a:rPr>
              <a:t>// calls set()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120</a:t>
            </a:fld>
            <a:endParaRPr lang="en-US" sz="900">
              <a:solidFill>
                <a:srgbClr val="9AA7B4"/>
              </a:solidFill>
            </a:endParaRPr>
          </a:p>
        </p:txBody>
      </p:sp>
    </p:spTree>
    <p:extLst>
      <p:ext uri="{BB962C8B-B14F-4D97-AF65-F5344CB8AC3E}">
        <p14:creationId xmlns:p14="http://schemas.microsoft.com/office/powerpoint/2010/main" val="7245431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8496-1C66-664F-BA53-89411EDE49B4}"/>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Computed Properties</a:t>
            </a:r>
          </a:p>
        </p:txBody>
      </p:sp>
      <p:pic>
        <p:nvPicPr>
          <p:cNvPr id="6" name="Content Placeholder 6">
            <a:extLst>
              <a:ext uri="{FF2B5EF4-FFF2-40B4-BE49-F238E27FC236}">
                <a16:creationId xmlns:a16="http://schemas.microsoft.com/office/drawing/2014/main" id="{50FE6924-0B72-A149-6A1C-D568907DE922}"/>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7" name="Chip LAB 13"/>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13</a:t>
            </a:r>
          </a:p>
        </p:txBody>
      </p:sp>
      <p:sp>
        <p:nvSpPr>
          <p:cNvPr id="8" name="Chip 1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15 min</a:t>
            </a:r>
          </a:p>
        </p:txBody>
      </p:sp>
      <p:sp>
        <p:nvSpPr>
          <p:cNvPr id="9"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Use a computed property to build each article's link.</a:t>
            </a:r>
          </a:p>
        </p:txBody>
      </p:sp>
      <p:sp>
        <p:nvSpPr>
          <p:cNvPr id="10" name="Body"/>
          <p:cNvSpPr txBox="1"/>
          <p:nvPr/>
        </p:nvSpPr>
        <p:spPr>
          <a:xfrm>
            <a:off x="457200" y="2441448"/>
            <a:ext cx="4160520" cy="324612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In ArticlePreview, capture the return value of </a:t>
            </a:r>
            <a:r>
              <a:rPr sz="1900" b="0" i="0">
                <a:solidFill>
                  <a:srgbClr val="8A2B52"/>
                </a:solidFill>
                <a:latin typeface="Consolas"/>
              </a:rPr>
              <a:t>defineProps</a:t>
            </a:r>
          </a:p>
          <a:p>
            <a:pPr marL="274320" indent="-256032">
              <a:spcAft>
                <a:spcPts val="900"/>
              </a:spcAft>
              <a:buClr>
                <a:srgbClr val="42B883"/>
              </a:buClr>
              <a:buSzPct val="100000"/>
              <a:buFont typeface="Arial"/>
              <a:buChar char="•"/>
            </a:pPr>
            <a:r>
              <a:rPr sz="2000" b="0" i="0">
                <a:solidFill>
                  <a:srgbClr val="1F2A36"/>
                </a:solidFill>
              </a:rPr>
              <a:t>Create an </a:t>
            </a:r>
            <a:r>
              <a:rPr sz="1900" b="0" i="0">
                <a:solidFill>
                  <a:srgbClr val="8A2B52"/>
                </a:solidFill>
                <a:latin typeface="Consolas"/>
              </a:rPr>
              <a:t>articleLink</a:t>
            </a:r>
            <a:r>
              <a:rPr sz="2000" b="0" i="0">
                <a:solidFill>
                  <a:srgbClr val="1F2A36"/>
                </a:solidFill>
              </a:rPr>
              <a:t> computed property from </a:t>
            </a:r>
            <a:r>
              <a:rPr sz="1900" b="0" i="0">
                <a:solidFill>
                  <a:srgbClr val="8A2B52"/>
                </a:solidFill>
                <a:latin typeface="Consolas"/>
              </a:rPr>
              <a:t>props.article.slug</a:t>
            </a:r>
          </a:p>
          <a:p>
            <a:pPr marL="274320" indent="-256032">
              <a:spcAft>
                <a:spcPts val="900"/>
              </a:spcAft>
              <a:buClr>
                <a:srgbClr val="42B883"/>
              </a:buClr>
              <a:buSzPct val="100000"/>
              <a:buFont typeface="Arial"/>
              <a:buChar char="•"/>
            </a:pPr>
            <a:r>
              <a:rPr sz="2000" b="0" i="0">
                <a:solidFill>
                  <a:srgbClr val="1F2A36"/>
                </a:solidFill>
              </a:rPr>
              <a:t>Bind the "Read more..." link with </a:t>
            </a:r>
            <a:r>
              <a:rPr sz="1900" b="0" i="0">
                <a:solidFill>
                  <a:srgbClr val="8A2B52"/>
                </a:solidFill>
                <a:latin typeface="Consolas"/>
              </a:rPr>
              <a:t>:href</a:t>
            </a:r>
            <a:r>
              <a:rPr sz="2000" b="0" i="0">
                <a:solidFill>
                  <a:srgbClr val="1F2A36"/>
                </a:solidFill>
              </a:rPr>
              <a:t> (or </a:t>
            </a:r>
            <a:r>
              <a:rPr sz="1900" b="0" i="0">
                <a:solidFill>
                  <a:srgbClr val="8A2B52"/>
                </a:solidFill>
                <a:latin typeface="Consolas"/>
              </a:rPr>
              <a:t>:to</a:t>
            </a:r>
            <a:r>
              <a:rPr sz="2000" b="0" i="0">
                <a:solidFill>
                  <a:srgbClr val="1F2A36"/>
                </a:solidFill>
              </a:rPr>
              <a:t> later)</a:t>
            </a:r>
          </a:p>
          <a:p>
            <a:pPr marL="274320" indent="-256032">
              <a:spcAft>
                <a:spcPts val="900"/>
              </a:spcAft>
              <a:buClr>
                <a:srgbClr val="42B883"/>
              </a:buClr>
              <a:buSzPct val="100000"/>
              <a:buFont typeface="Arial"/>
              <a:buChar char="•"/>
            </a:pPr>
            <a:r>
              <a:rPr sz="2000" b="0" i="0">
                <a:solidFill>
                  <a:srgbClr val="1F2A36"/>
                </a:solidFill>
              </a:rPr>
              <a:t>Challenge: format the article's </a:t>
            </a:r>
            <a:r>
              <a:rPr sz="1900" b="0" i="0">
                <a:solidFill>
                  <a:srgbClr val="8A2B52"/>
                </a:solidFill>
                <a:latin typeface="Consolas"/>
              </a:rPr>
              <a:t>createdAt</a:t>
            </a:r>
            <a:r>
              <a:rPr sz="2000" b="0" i="0">
                <a:solidFill>
                  <a:srgbClr val="1F2A36"/>
                </a:solidFill>
              </a:rPr>
              <a:t> date</a:t>
            </a:r>
          </a:p>
        </p:txBody>
      </p:sp>
      <p:sp>
        <p:nvSpPr>
          <p:cNvPr id="11"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2"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121</a:t>
            </a:fld>
            <a:endParaRPr lang="en-US" sz="900">
              <a:solidFill>
                <a:srgbClr val="9AA7B4"/>
              </a:solidFill>
            </a:endParaRPr>
          </a:p>
        </p:txBody>
      </p:sp>
    </p:spTree>
    <p:extLst>
      <p:ext uri="{BB962C8B-B14F-4D97-AF65-F5344CB8AC3E}">
        <p14:creationId xmlns:p14="http://schemas.microsoft.com/office/powerpoint/2010/main" val="39037034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a:xfrm>
            <a:off x="731520" y="914400"/>
            <a:ext cx="7680960" cy="1097280"/>
          </a:xfrm>
        </p:spPr>
        <p:txBody>
          <a:bodyPr wrap="square" lIns="0" tIns="0" rIns="0" bIns="0" anchor="t">
            <a:noAutofit/>
          </a:bodyPr>
          <a:lstStyle/>
          <a:p>
            <a:pPr marL="0" indent="0" algn="l">
              <a:buNone/>
            </a:pPr>
            <a:r>
              <a:rPr sz="4000" b="1" i="0" cap="none">
                <a:solidFill>
                  <a:srgbClr val="FFFFFF"/>
                </a:solidFill>
              </a:rPr>
              <a:t>Reactive State</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2011680"/>
            <a:ext cx="7680960" cy="457200"/>
          </a:xfrm>
          <a:prstGeom prst="rect">
            <a:avLst/>
          </a:prstGeom>
          <a:noFill/>
        </p:spPr>
        <p:txBody>
          <a:bodyPr wrap="square" lIns="0" tIns="0" rIns="0" bIns="0">
            <a:noAutofit/>
          </a:bodyPr>
          <a:lstStyle/>
          <a:p>
            <a:r>
              <a:rPr sz="1800" b="0" i="1">
                <a:solidFill>
                  <a:srgbClr val="C9D6E2"/>
                </a:solidFill>
              </a:rPr>
              <a:t>A ref is the default choice: reactive() can't hold a primitive, and loses reactivity if you destructure it.</a:t>
            </a:r>
          </a:p>
        </p:txBody>
      </p:sp>
      <p:sp>
        <p:nvSpPr>
          <p:cNvPr id="5" name="Code"/>
          <p:cNvSpPr/>
          <p:nvPr/>
        </p:nvSpPr>
        <p:spPr>
          <a:xfrm>
            <a:off x="731520" y="2697480"/>
            <a:ext cx="7680960" cy="12113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8">
                <a:solidFill>
                  <a:srgbClr val="CF222E"/>
                </a:solidFill>
                <a:latin typeface="Consolas"/>
              </a:rPr>
              <a:t>import</a:t>
            </a:r>
            <a:r>
              <a:rPr sz="1458">
                <a:solidFill>
                  <a:srgbClr val="24292F"/>
                </a:solidFill>
                <a:latin typeface="Consolas"/>
              </a:rPr>
              <a:t> { reactive, ref } </a:t>
            </a:r>
            <a:r>
              <a:rPr sz="1458">
                <a:solidFill>
                  <a:srgbClr val="CF222E"/>
                </a:solidFill>
                <a:latin typeface="Consolas"/>
              </a:rPr>
              <a:t>from</a:t>
            </a:r>
            <a:r>
              <a:rPr sz="1458">
                <a:solidFill>
                  <a:srgbClr val="24292F"/>
                </a:solidFill>
                <a:latin typeface="Consolas"/>
              </a:rPr>
              <a:t> </a:t>
            </a:r>
            <a:r>
              <a:rPr sz="1458">
                <a:solidFill>
                  <a:srgbClr val="0A3069"/>
                </a:solidFill>
                <a:latin typeface="Consolas"/>
              </a:rPr>
              <a:t>'vue'</a:t>
            </a:r>
          </a:p>
          <a:p>
            <a:pPr marL="0" indent="0" algn="l">
              <a:lnSpc>
                <a:spcPct val="100000"/>
              </a:lnSpc>
              <a:buNone/>
            </a:pPr>
            <a:r>
              <a:rPr sz="1458">
                <a:latin typeface="Consolas"/>
              </a:rPr>
              <a:t> </a:t>
            </a:r>
          </a:p>
          <a:p>
            <a:pPr marL="0" indent="0" algn="l">
              <a:lnSpc>
                <a:spcPct val="100000"/>
              </a:lnSpc>
              <a:buNone/>
            </a:pPr>
            <a:r>
              <a:rPr sz="1458">
                <a:solidFill>
                  <a:srgbClr val="CF222E"/>
                </a:solidFill>
                <a:latin typeface="Consolas"/>
              </a:rPr>
              <a:t>const</a:t>
            </a:r>
            <a:r>
              <a:rPr sz="1458">
                <a:solidFill>
                  <a:srgbClr val="24292F"/>
                </a:solidFill>
                <a:latin typeface="Consolas"/>
              </a:rPr>
              <a:t> count = ref(</a:t>
            </a:r>
            <a:r>
              <a:rPr sz="1458">
                <a:solidFill>
                  <a:srgbClr val="0550AE"/>
                </a:solidFill>
                <a:latin typeface="Consolas"/>
              </a:rPr>
              <a:t>0</a:t>
            </a:r>
            <a:r>
              <a:rPr sz="1458">
                <a:solidFill>
                  <a:srgbClr val="24292F"/>
                </a:solidFill>
                <a:latin typeface="Consolas"/>
              </a:rPr>
              <a:t>)                 </a:t>
            </a:r>
            <a:r>
              <a:rPr sz="1458" i="1">
                <a:solidFill>
                  <a:srgbClr val="6E7781"/>
                </a:solidFill>
                <a:latin typeface="Consolas"/>
              </a:rPr>
              <a:t>// any value; use .value</a:t>
            </a:r>
          </a:p>
          <a:p>
            <a:pPr marL="0" indent="0" algn="l">
              <a:lnSpc>
                <a:spcPct val="100000"/>
              </a:lnSpc>
              <a:buNone/>
            </a:pPr>
            <a:r>
              <a:rPr sz="1458">
                <a:solidFill>
                  <a:srgbClr val="CF222E"/>
                </a:solidFill>
                <a:latin typeface="Consolas"/>
              </a:rPr>
              <a:t>const</a:t>
            </a:r>
            <a:r>
              <a:rPr sz="1458">
                <a:solidFill>
                  <a:srgbClr val="24292F"/>
                </a:solidFill>
                <a:latin typeface="Consolas"/>
              </a:rPr>
              <a:t> user = reactive({ name: </a:t>
            </a:r>
            <a:r>
              <a:rPr sz="1458">
                <a:solidFill>
                  <a:srgbClr val="0A3069"/>
                </a:solidFill>
                <a:latin typeface="Consolas"/>
              </a:rPr>
              <a:t>''</a:t>
            </a:r>
            <a:r>
              <a:rPr sz="1458">
                <a:solidFill>
                  <a:srgbClr val="24292F"/>
                </a:solidFill>
                <a:latin typeface="Consolas"/>
              </a:rPr>
              <a:t> })  </a:t>
            </a:r>
            <a:r>
              <a:rPr sz="1458" i="1">
                <a:solidFill>
                  <a:srgbClr val="6E7781"/>
                </a:solidFill>
                <a:latin typeface="Consolas"/>
              </a:rPr>
              <a:t>// objects only; no .value</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122</a:t>
            </a:fld>
            <a:endParaRPr lang="en-US" sz="900">
              <a:solidFill>
                <a:srgbClr val="9FB3C4"/>
              </a:solidFill>
            </a:endParaRPr>
          </a:p>
        </p:txBody>
      </p:sp>
    </p:spTree>
    <p:extLst>
      <p:ext uri="{BB962C8B-B14F-4D97-AF65-F5344CB8AC3E}">
        <p14:creationId xmlns:p14="http://schemas.microsoft.com/office/powerpoint/2010/main" val="25278326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1AE3FF-39D3-6C42-B186-99B6F0586D8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ref and reactive</a:t>
            </a:r>
          </a:p>
        </p:txBody>
      </p:sp>
      <p:sp>
        <p:nvSpPr>
          <p:cNvPr id="4" name="Body"/>
          <p:cNvSpPr txBox="1"/>
          <p:nvPr/>
        </p:nvSpPr>
        <p:spPr>
          <a:xfrm>
            <a:off x="457200" y="1261872"/>
            <a:ext cx="8229600" cy="323189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State lives in refs, declared at the top of </a:t>
            </a:r>
            <a:r>
              <a:rPr sz="2090" b="0" i="0">
                <a:solidFill>
                  <a:srgbClr val="8A2B52"/>
                </a:solidFill>
                <a:latin typeface="Consolas"/>
              </a:rPr>
              <a:t>&lt;script setup&gt;</a:t>
            </a:r>
          </a:p>
          <a:p>
            <a:pPr marL="274320" indent="-256032">
              <a:spcAft>
                <a:spcPts val="990"/>
              </a:spcAft>
              <a:buClr>
                <a:srgbClr val="42B883"/>
              </a:buClr>
              <a:buSzPct val="100000"/>
              <a:buFont typeface="Arial"/>
              <a:buChar char="•"/>
            </a:pPr>
            <a:r>
              <a:rPr sz="2200" b="0" i="0">
                <a:solidFill>
                  <a:srgbClr val="1F2A36"/>
                </a:solidFill>
              </a:rPr>
              <a:t>When a ref changes, every component that read it re-renders</a:t>
            </a:r>
          </a:p>
          <a:p>
            <a:pPr marL="274320" indent="-256032">
              <a:spcAft>
                <a:spcPts val="990"/>
              </a:spcAft>
              <a:buClr>
                <a:srgbClr val="42B883"/>
              </a:buClr>
              <a:buSzPct val="100000"/>
              <a:buFont typeface="Arial"/>
              <a:buChar char="•"/>
            </a:pPr>
            <a:r>
              <a:rPr sz="2200" b="0" i="0">
                <a:solidFill>
                  <a:srgbClr val="1F2A36"/>
                </a:solidFill>
              </a:rPr>
              <a:t>Vue 3 tracks state with a </a:t>
            </a:r>
            <a:r>
              <a:rPr sz="2200" b="1" i="0">
                <a:solidFill>
                  <a:srgbClr val="1F2A36"/>
                </a:solidFill>
              </a:rPr>
              <a:t>Proxy</a:t>
            </a:r>
            <a:r>
              <a:rPr sz="2200" b="0" i="0">
                <a:solidFill>
                  <a:srgbClr val="1F2A36"/>
                </a:solidFill>
              </a:rPr>
              <a:t>, so properties added or deleted after creation are reactive too</a:t>
            </a:r>
          </a:p>
          <a:p>
            <a:pPr marL="274320" indent="-256032">
              <a:spcAft>
                <a:spcPts val="990"/>
              </a:spcAft>
              <a:buClr>
                <a:srgbClr val="42B883"/>
              </a:buClr>
              <a:buSzPct val="100000"/>
              <a:buFont typeface="Arial"/>
              <a:buChar char="•"/>
            </a:pPr>
            <a:r>
              <a:rPr sz="2090" b="0" i="0">
                <a:solidFill>
                  <a:srgbClr val="8A2B52"/>
                </a:solidFill>
                <a:latin typeface="Consolas"/>
              </a:rPr>
              <a:t>Vue.set</a:t>
            </a:r>
            <a:r>
              <a:rPr sz="2200" b="0" i="0">
                <a:solidFill>
                  <a:srgbClr val="1F2A36"/>
                </a:solidFill>
              </a:rPr>
              <a:t> and </a:t>
            </a:r>
            <a:r>
              <a:rPr sz="2090" b="0" i="0">
                <a:solidFill>
                  <a:srgbClr val="8A2B52"/>
                </a:solidFill>
                <a:latin typeface="Consolas"/>
              </a:rPr>
              <a:t>vm.$set</a:t>
            </a:r>
            <a:r>
              <a:rPr sz="2200" b="0" i="0">
                <a:solidFill>
                  <a:srgbClr val="1F2A36"/>
                </a:solidFill>
              </a:rPr>
              <a:t> existed only to work around that limit in Vue 2, and were removed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123</a:t>
            </a:fld>
            <a:endParaRPr lang="en-US" sz="900">
              <a:solidFill>
                <a:srgbClr val="9AA7B4"/>
              </a:solidFill>
            </a:endParaRPr>
          </a:p>
        </p:txBody>
      </p:sp>
    </p:spTree>
    <p:extLst>
      <p:ext uri="{BB962C8B-B14F-4D97-AF65-F5344CB8AC3E}">
        <p14:creationId xmlns:p14="http://schemas.microsoft.com/office/powerpoint/2010/main" val="12698572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55C5-FB32-3B47-A8F7-DC98007D31F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Vue.js Data Binding</a:t>
            </a:r>
          </a:p>
        </p:txBody>
      </p:sp>
      <p:sp>
        <p:nvSpPr>
          <p:cNvPr id="3" name="Body"/>
          <p:cNvSpPr txBox="1"/>
          <p:nvPr/>
        </p:nvSpPr>
        <p:spPr>
          <a:xfrm>
            <a:off x="457200" y="1261872"/>
            <a:ext cx="8229600" cy="205498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1" i="0">
                <a:solidFill>
                  <a:srgbClr val="8A2B52"/>
                </a:solidFill>
                <a:latin typeface="Consolas"/>
              </a:rPr>
              <a:t>v-bind</a:t>
            </a:r>
            <a:r>
              <a:rPr sz="2200" b="0" i="0">
                <a:solidFill>
                  <a:srgbClr val="1F2A36"/>
                </a:solidFill>
              </a:rPr>
              <a:t> (shorthand </a:t>
            </a:r>
            <a:r>
              <a:rPr sz="2090" b="0" i="0">
                <a:solidFill>
                  <a:srgbClr val="8A2B52"/>
                </a:solidFill>
                <a:latin typeface="Consolas"/>
              </a:rPr>
              <a:t>:</a:t>
            </a:r>
            <a:r>
              <a:rPr sz="2200" b="0" i="0">
                <a:solidFill>
                  <a:srgbClr val="1F2A36"/>
                </a:solidFill>
              </a:rPr>
              <a:t>) binds an attribute or prop to a reactive value — </a:t>
            </a:r>
            <a:r>
              <a:rPr sz="2200" b="1" i="0">
                <a:solidFill>
                  <a:srgbClr val="1F2A36"/>
                </a:solidFill>
              </a:rPr>
              <a:t>one-way</a:t>
            </a:r>
          </a:p>
          <a:p>
            <a:pPr marL="566928" indent="-256032">
              <a:spcAft>
                <a:spcPts val="855"/>
              </a:spcAft>
              <a:buClr>
                <a:srgbClr val="6B7B8C"/>
              </a:buClr>
              <a:buSzPct val="100000"/>
              <a:buFont typeface="Arial"/>
              <a:buChar char="–"/>
            </a:pPr>
            <a:r>
              <a:rPr sz="1900" b="0" i="0">
                <a:solidFill>
                  <a:srgbClr val="3A4A5A"/>
                </a:solidFill>
              </a:rPr>
              <a:t>Vue keeps the attribute up to date with the value</a:t>
            </a:r>
          </a:p>
          <a:p>
            <a:pPr marL="274320" indent="-256032">
              <a:spcAft>
                <a:spcPts val="990"/>
              </a:spcAft>
              <a:buClr>
                <a:srgbClr val="42B883"/>
              </a:buClr>
              <a:buSzPct val="100000"/>
              <a:buFont typeface="Arial"/>
              <a:buChar char="•"/>
            </a:pPr>
            <a:r>
              <a:rPr sz="2090" b="1" i="0">
                <a:solidFill>
                  <a:srgbClr val="8A2B52"/>
                </a:solidFill>
                <a:latin typeface="Consolas"/>
              </a:rPr>
              <a:t>v-model</a:t>
            </a:r>
            <a:r>
              <a:rPr sz="2200" b="0" i="0">
                <a:solidFill>
                  <a:srgbClr val="1F2A36"/>
                </a:solidFill>
              </a:rPr>
              <a:t> creates </a:t>
            </a:r>
            <a:r>
              <a:rPr sz="2200" b="1" i="0">
                <a:solidFill>
                  <a:srgbClr val="1F2A36"/>
                </a:solidFill>
              </a:rPr>
              <a:t>two-way</a:t>
            </a:r>
            <a:r>
              <a:rPr sz="2200" b="0" i="0">
                <a:solidFill>
                  <a:srgbClr val="1F2A36"/>
                </a:solidFill>
              </a:rPr>
              <a:t> binding between an input and a ref</a:t>
            </a:r>
          </a:p>
        </p:txBody>
      </p:sp>
      <p:sp>
        <p:nvSpPr>
          <p:cNvPr id="4" name="Code"/>
          <p:cNvSpPr/>
          <p:nvPr/>
        </p:nvSpPr>
        <p:spPr>
          <a:xfrm>
            <a:off x="457200" y="3371722"/>
            <a:ext cx="8229600" cy="79654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&lt;img</a:t>
            </a:r>
            <a:r>
              <a:rPr sz="1600">
                <a:solidFill>
                  <a:srgbClr val="24292F"/>
                </a:solidFill>
                <a:latin typeface="Consolas"/>
              </a:rPr>
              <a:t> </a:t>
            </a:r>
            <a:r>
              <a:rPr sz="1600">
                <a:solidFill>
                  <a:srgbClr val="953800"/>
                </a:solidFill>
                <a:latin typeface="Consolas"/>
              </a:rPr>
              <a:t>:src</a:t>
            </a:r>
            <a:r>
              <a:rPr sz="1600">
                <a:solidFill>
                  <a:srgbClr val="24292F"/>
                </a:solidFill>
                <a:latin typeface="Consolas"/>
              </a:rPr>
              <a:t>=</a:t>
            </a:r>
            <a:r>
              <a:rPr sz="1600">
                <a:solidFill>
                  <a:srgbClr val="0A3069"/>
                </a:solidFill>
                <a:latin typeface="Consolas"/>
              </a:rPr>
              <a:t>"imageSrc"</a:t>
            </a:r>
            <a:r>
              <a:rPr sz="1600">
                <a:solidFill>
                  <a:srgbClr val="24292F"/>
                </a:solidFill>
                <a:latin typeface="Consolas"/>
              </a:rPr>
              <a:t> </a:t>
            </a:r>
            <a:r>
              <a:rPr sz="1600">
                <a:solidFill>
                  <a:srgbClr val="953800"/>
                </a:solidFill>
                <a:latin typeface="Consolas"/>
              </a:rPr>
              <a:t>:alt</a:t>
            </a:r>
            <a:r>
              <a:rPr sz="1600">
                <a:solidFill>
                  <a:srgbClr val="24292F"/>
                </a:solidFill>
                <a:latin typeface="Consolas"/>
              </a:rPr>
              <a:t>=</a:t>
            </a:r>
            <a:r>
              <a:rPr sz="1600">
                <a:solidFill>
                  <a:srgbClr val="0A3069"/>
                </a:solidFill>
                <a:latin typeface="Consolas"/>
              </a:rPr>
              <a:t>"caption"</a:t>
            </a:r>
            <a:r>
              <a:rPr sz="1600">
                <a:solidFill>
                  <a:srgbClr val="116329"/>
                </a:solidFill>
                <a:latin typeface="Consolas"/>
              </a:rPr>
              <a:t>&gt;</a:t>
            </a:r>
            <a:r>
              <a:rPr sz="1600">
                <a:solidFill>
                  <a:srgbClr val="24292F"/>
                </a:solidFill>
                <a:latin typeface="Consolas"/>
              </a:rPr>
              <a:t>     </a:t>
            </a:r>
            <a:r>
              <a:rPr sz="1600" i="1">
                <a:solidFill>
                  <a:srgbClr val="6E7781"/>
                </a:solidFill>
                <a:latin typeface="Consolas"/>
              </a:rPr>
              <a:t>&lt;!-- state → DOM --&gt;</a:t>
            </a:r>
          </a:p>
          <a:p>
            <a:pPr marL="0" indent="0" algn="l">
              <a:lnSpc>
                <a:spcPct val="100000"/>
              </a:lnSpc>
              <a:buNone/>
            </a:pPr>
            <a:r>
              <a:rPr sz="1600">
                <a:solidFill>
                  <a:srgbClr val="116329"/>
                </a:solidFill>
                <a:latin typeface="Consolas"/>
              </a:rPr>
              <a:t>&lt;input</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"searchText"</a:t>
            </a:r>
            <a:r>
              <a:rPr sz="1600">
                <a:solidFill>
                  <a:srgbClr val="116329"/>
                </a:solidFill>
                <a:latin typeface="Consolas"/>
              </a:rPr>
              <a:t>&gt;</a:t>
            </a:r>
            <a:r>
              <a:rPr sz="1600">
                <a:solidFill>
                  <a:srgbClr val="24292F"/>
                </a:solidFill>
                <a:latin typeface="Consolas"/>
              </a:rPr>
              <a:t>              </a:t>
            </a:r>
            <a:r>
              <a:rPr sz="1600" i="1">
                <a:solidFill>
                  <a:srgbClr val="6E7781"/>
                </a:solidFill>
                <a:latin typeface="Consolas"/>
              </a:rPr>
              <a:t>&lt;!-- state ↔ DOM --&gt;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124</a:t>
            </a:fld>
            <a:endParaRPr lang="en-US" sz="900">
              <a:solidFill>
                <a:srgbClr val="9AA7B4"/>
              </a:solidFill>
            </a:endParaRPr>
          </a:p>
        </p:txBody>
      </p:sp>
    </p:spTree>
    <p:extLst>
      <p:ext uri="{BB962C8B-B14F-4D97-AF65-F5344CB8AC3E}">
        <p14:creationId xmlns:p14="http://schemas.microsoft.com/office/powerpoint/2010/main" val="412165052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D358-B98F-2B4D-B17A-19AFED71B7C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v-bind directive</a:t>
            </a:r>
          </a:p>
        </p:txBody>
      </p:sp>
      <p:sp>
        <p:nvSpPr>
          <p:cNvPr id="3" name="Code"/>
          <p:cNvSpPr/>
          <p:nvPr/>
        </p:nvSpPr>
        <p:spPr>
          <a:xfrm>
            <a:off x="457200" y="1261872"/>
            <a:ext cx="8229600" cy="45918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i="1">
                <a:solidFill>
                  <a:srgbClr val="6E7781"/>
                </a:solidFill>
                <a:latin typeface="Consolas"/>
              </a:rPr>
              <a:t>&lt;!-- bind an attribute --&gt;</a:t>
            </a:r>
          </a:p>
          <a:p>
            <a:pPr marL="0" indent="0" algn="l">
              <a:lnSpc>
                <a:spcPct val="100000"/>
              </a:lnSpc>
              <a:buNone/>
            </a:pPr>
            <a:r>
              <a:rPr sz="1950">
                <a:solidFill>
                  <a:srgbClr val="116329"/>
                </a:solidFill>
                <a:latin typeface="Consolas"/>
              </a:rPr>
              <a:t>&lt;img</a:t>
            </a:r>
            <a:r>
              <a:rPr sz="1950">
                <a:solidFill>
                  <a:srgbClr val="24292F"/>
                </a:solidFill>
                <a:latin typeface="Consolas"/>
              </a:rPr>
              <a:t> </a:t>
            </a:r>
            <a:r>
              <a:rPr sz="1950">
                <a:solidFill>
                  <a:srgbClr val="953800"/>
                </a:solidFill>
                <a:latin typeface="Consolas"/>
              </a:rPr>
              <a:t>v-bind:src</a:t>
            </a:r>
            <a:r>
              <a:rPr sz="1950">
                <a:solidFill>
                  <a:srgbClr val="24292F"/>
                </a:solidFill>
                <a:latin typeface="Consolas"/>
              </a:rPr>
              <a:t>=</a:t>
            </a:r>
            <a:r>
              <a:rPr sz="1950">
                <a:solidFill>
                  <a:srgbClr val="0A3069"/>
                </a:solidFill>
                <a:latin typeface="Consolas"/>
              </a:rPr>
              <a:t>"imageSrc"</a:t>
            </a:r>
            <a:r>
              <a:rPr sz="1950">
                <a:solidFill>
                  <a:srgbClr val="116329"/>
                </a:solidFill>
                <a:latin typeface="Consolas"/>
              </a:rPr>
              <a:t>&gt;</a:t>
            </a:r>
          </a:p>
          <a:p>
            <a:pPr marL="0" indent="0" algn="l">
              <a:lnSpc>
                <a:spcPct val="100000"/>
              </a:lnSpc>
              <a:buNone/>
            </a:pPr>
            <a:r>
              <a:rPr sz="1950">
                <a:latin typeface="Consolas"/>
              </a:rPr>
              <a:t> </a:t>
            </a:r>
          </a:p>
          <a:p>
            <a:pPr marL="0" indent="0" algn="l">
              <a:lnSpc>
                <a:spcPct val="100000"/>
              </a:lnSpc>
              <a:buNone/>
            </a:pPr>
            <a:r>
              <a:rPr sz="1950" i="1">
                <a:solidFill>
                  <a:srgbClr val="6E7781"/>
                </a:solidFill>
                <a:latin typeface="Consolas"/>
              </a:rPr>
              <a:t>&lt;!-- dynamic attribute name --&gt;</a:t>
            </a:r>
          </a:p>
          <a:p>
            <a:pPr marL="0" indent="0" algn="l">
              <a:lnSpc>
                <a:spcPct val="100000"/>
              </a:lnSpc>
              <a:buNone/>
            </a:pPr>
            <a:r>
              <a:rPr sz="1950">
                <a:solidFill>
                  <a:srgbClr val="116329"/>
                </a:solidFill>
                <a:latin typeface="Consolas"/>
              </a:rPr>
              <a:t>&lt;button</a:t>
            </a:r>
            <a:r>
              <a:rPr sz="1950">
                <a:solidFill>
                  <a:srgbClr val="24292F"/>
                </a:solidFill>
                <a:latin typeface="Consolas"/>
              </a:rPr>
              <a:t> </a:t>
            </a:r>
            <a:r>
              <a:rPr sz="1950">
                <a:solidFill>
                  <a:srgbClr val="953800"/>
                </a:solidFill>
                <a:latin typeface="Consolas"/>
              </a:rPr>
              <a:t>v-bind:[key]</a:t>
            </a:r>
            <a:r>
              <a:rPr sz="1950">
                <a:solidFill>
                  <a:srgbClr val="24292F"/>
                </a:solidFill>
                <a:latin typeface="Consolas"/>
              </a:rPr>
              <a:t>=</a:t>
            </a:r>
            <a:r>
              <a:rPr sz="1950">
                <a:solidFill>
                  <a:srgbClr val="0A3069"/>
                </a:solidFill>
                <a:latin typeface="Consolas"/>
              </a:rPr>
              <a:t>"value"</a:t>
            </a:r>
            <a:r>
              <a:rPr sz="1950">
                <a:solidFill>
                  <a:srgbClr val="116329"/>
                </a:solidFill>
                <a:latin typeface="Consolas"/>
              </a:rPr>
              <a:t>&gt;&lt;/button&gt;</a:t>
            </a:r>
          </a:p>
          <a:p>
            <a:pPr marL="0" indent="0" algn="l">
              <a:lnSpc>
                <a:spcPct val="100000"/>
              </a:lnSpc>
              <a:buNone/>
            </a:pPr>
            <a:r>
              <a:rPr sz="1950">
                <a:latin typeface="Consolas"/>
              </a:rPr>
              <a:t> </a:t>
            </a:r>
          </a:p>
          <a:p>
            <a:pPr marL="0" indent="0" algn="l">
              <a:lnSpc>
                <a:spcPct val="100000"/>
              </a:lnSpc>
              <a:buNone/>
            </a:pPr>
            <a:r>
              <a:rPr sz="1950" i="1">
                <a:solidFill>
                  <a:srgbClr val="6E7781"/>
                </a:solidFill>
                <a:latin typeface="Consolas"/>
              </a:rPr>
              <a:t>&lt;!-- inline string concatenation --&gt;</a:t>
            </a:r>
          </a:p>
          <a:p>
            <a:pPr marL="0" indent="0" algn="l">
              <a:lnSpc>
                <a:spcPct val="100000"/>
              </a:lnSpc>
              <a:buNone/>
            </a:pPr>
            <a:r>
              <a:rPr sz="1950">
                <a:solidFill>
                  <a:srgbClr val="116329"/>
                </a:solidFill>
                <a:latin typeface="Consolas"/>
              </a:rPr>
              <a:t>&lt;img</a:t>
            </a:r>
            <a:r>
              <a:rPr sz="1950">
                <a:solidFill>
                  <a:srgbClr val="24292F"/>
                </a:solidFill>
                <a:latin typeface="Consolas"/>
              </a:rPr>
              <a:t> </a:t>
            </a:r>
            <a:r>
              <a:rPr sz="1950">
                <a:solidFill>
                  <a:srgbClr val="953800"/>
                </a:solidFill>
                <a:latin typeface="Consolas"/>
              </a:rPr>
              <a:t>v-bind:src</a:t>
            </a:r>
            <a:r>
              <a:rPr sz="1950">
                <a:solidFill>
                  <a:srgbClr val="24292F"/>
                </a:solidFill>
                <a:latin typeface="Consolas"/>
              </a:rPr>
              <a:t>=</a:t>
            </a:r>
            <a:r>
              <a:rPr sz="1950">
                <a:solidFill>
                  <a:srgbClr val="0A3069"/>
                </a:solidFill>
                <a:latin typeface="Consolas"/>
              </a:rPr>
              <a:t>"'/path/to/images/' + filename"</a:t>
            </a:r>
            <a:r>
              <a:rPr sz="1950">
                <a:solidFill>
                  <a:srgbClr val="116329"/>
                </a:solidFill>
                <a:latin typeface="Consolas"/>
              </a:rPr>
              <a:t>&gt;</a:t>
            </a:r>
          </a:p>
          <a:p>
            <a:pPr marL="0" indent="0" algn="l">
              <a:lnSpc>
                <a:spcPct val="100000"/>
              </a:lnSpc>
              <a:buNone/>
            </a:pPr>
            <a:r>
              <a:rPr sz="1950">
                <a:latin typeface="Consolas"/>
              </a:rPr>
              <a:t> </a:t>
            </a:r>
          </a:p>
          <a:p>
            <a:pPr marL="0" indent="0" algn="l">
              <a:lnSpc>
                <a:spcPct val="100000"/>
              </a:lnSpc>
              <a:buNone/>
            </a:pPr>
            <a:r>
              <a:rPr sz="1950" i="1">
                <a:solidFill>
                  <a:srgbClr val="6E7781"/>
                </a:solidFill>
                <a:latin typeface="Consolas"/>
              </a:rPr>
              <a:t>&lt;!-- bind several attributes from an object --&gt;</a:t>
            </a:r>
          </a:p>
          <a:p>
            <a:pPr marL="0" indent="0" algn="l">
              <a:lnSpc>
                <a:spcPct val="100000"/>
              </a:lnSpc>
              <a:buNone/>
            </a:pPr>
            <a:r>
              <a:rPr sz="1950">
                <a:solidFill>
                  <a:srgbClr val="116329"/>
                </a:solidFill>
                <a:latin typeface="Consolas"/>
              </a:rPr>
              <a:t>&lt;input</a:t>
            </a:r>
            <a:r>
              <a:rPr sz="1950">
                <a:solidFill>
                  <a:srgbClr val="24292F"/>
                </a:solidFill>
                <a:latin typeface="Consolas"/>
              </a:rPr>
              <a:t> </a:t>
            </a:r>
            <a:r>
              <a:rPr sz="1950">
                <a:solidFill>
                  <a:srgbClr val="953800"/>
                </a:solidFill>
                <a:latin typeface="Consolas"/>
              </a:rPr>
              <a:t>v-bind</a:t>
            </a:r>
            <a:r>
              <a:rPr sz="1950">
                <a:solidFill>
                  <a:srgbClr val="24292F"/>
                </a:solidFill>
                <a:latin typeface="Consolas"/>
              </a:rPr>
              <a:t>=</a:t>
            </a:r>
            <a:r>
              <a:rPr sz="1950">
                <a:solidFill>
                  <a:srgbClr val="0A3069"/>
                </a:solidFill>
                <a:latin typeface="Consolas"/>
              </a:rPr>
              <a:t>"{ id: fieldId, placeholder: hint }"</a:t>
            </a:r>
            <a:r>
              <a:rPr sz="1950">
                <a:solidFill>
                  <a:srgbClr val="116329"/>
                </a:solidFill>
                <a:latin typeface="Consolas"/>
              </a:rPr>
              <a:t>&gt;</a:t>
            </a:r>
          </a:p>
          <a:p>
            <a:pPr marL="0" indent="0" algn="l">
              <a:lnSpc>
                <a:spcPct val="100000"/>
              </a:lnSpc>
              <a:buNone/>
            </a:pPr>
            <a:r>
              <a:rPr sz="1950">
                <a:latin typeface="Consolas"/>
              </a:rPr>
              <a:t> </a:t>
            </a:r>
          </a:p>
          <a:p>
            <a:pPr marL="0" indent="0" algn="l">
              <a:lnSpc>
                <a:spcPct val="100000"/>
              </a:lnSpc>
              <a:buNone/>
            </a:pPr>
            <a:r>
              <a:rPr sz="1950" i="1">
                <a:solidFill>
                  <a:srgbClr val="6E7781"/>
                </a:solidFill>
                <a:latin typeface="Consolas"/>
              </a:rPr>
              <a:t>&lt;!-- same-name shorthand (Vue 3.4+): :id="id" --&gt;</a:t>
            </a:r>
          </a:p>
          <a:p>
            <a:pPr marL="0" indent="0" algn="l">
              <a:lnSpc>
                <a:spcPct val="100000"/>
              </a:lnSpc>
              <a:buNone/>
            </a:pPr>
            <a:r>
              <a:rPr sz="1950">
                <a:solidFill>
                  <a:srgbClr val="116329"/>
                </a:solidFill>
                <a:latin typeface="Consolas"/>
              </a:rPr>
              <a:t>&lt;div</a:t>
            </a:r>
            <a:r>
              <a:rPr sz="1950">
                <a:solidFill>
                  <a:srgbClr val="24292F"/>
                </a:solidFill>
                <a:latin typeface="Consolas"/>
              </a:rPr>
              <a:t> :</a:t>
            </a:r>
            <a:r>
              <a:rPr sz="1950">
                <a:solidFill>
                  <a:srgbClr val="953800"/>
                </a:solidFill>
                <a:latin typeface="Consolas"/>
              </a:rPr>
              <a:t>id</a:t>
            </a:r>
            <a:r>
              <a:rPr sz="1950">
                <a:solidFill>
                  <a:srgbClr val="116329"/>
                </a:solidFill>
                <a:latin typeface="Consolas"/>
              </a:rPr>
              <a:t>&gt;&lt;/div&gt;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125</a:t>
            </a:fld>
            <a:endParaRPr lang="en-US" sz="900">
              <a:solidFill>
                <a:srgbClr val="9AA7B4"/>
              </a:solidFill>
            </a:endParaRPr>
          </a:p>
        </p:txBody>
      </p:sp>
    </p:spTree>
    <p:extLst>
      <p:ext uri="{BB962C8B-B14F-4D97-AF65-F5344CB8AC3E}">
        <p14:creationId xmlns:p14="http://schemas.microsoft.com/office/powerpoint/2010/main" val="20505064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1B4A-1735-084D-A8E2-F4E28C88CF61}"/>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Value Binding</a:t>
            </a:r>
          </a:p>
        </p:txBody>
      </p:sp>
      <p:sp>
        <p:nvSpPr>
          <p:cNvPr id="3" name="Body"/>
          <p:cNvSpPr txBox="1"/>
          <p:nvPr/>
        </p:nvSpPr>
        <p:spPr>
          <a:xfrm>
            <a:off x="457200" y="1261872"/>
            <a:ext cx="8229600" cy="166166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v-model</a:t>
            </a:r>
            <a:r>
              <a:rPr sz="2200" b="0" i="0">
                <a:solidFill>
                  <a:srgbClr val="1F2A36"/>
                </a:solidFill>
              </a:rPr>
              <a:t> gives checkboxes, radio buttons and select options a value</a:t>
            </a:r>
          </a:p>
          <a:p>
            <a:pPr marL="274320" indent="-256032">
              <a:spcAft>
                <a:spcPts val="990"/>
              </a:spcAft>
              <a:buClr>
                <a:srgbClr val="42B883"/>
              </a:buClr>
              <a:buSzPct val="100000"/>
              <a:buFont typeface="Arial"/>
              <a:buChar char="•"/>
            </a:pPr>
            <a:r>
              <a:rPr sz="2200" b="0" i="0">
                <a:solidFill>
                  <a:srgbClr val="1F2A36"/>
                </a:solidFill>
              </a:rPr>
              <a:t>Use </a:t>
            </a:r>
            <a:r>
              <a:rPr sz="2090" b="0" i="0">
                <a:solidFill>
                  <a:srgbClr val="8A2B52"/>
                </a:solidFill>
                <a:latin typeface="Consolas"/>
              </a:rPr>
              <a:t>v-bind</a:t>
            </a:r>
            <a:r>
              <a:rPr sz="2200" b="0" i="0">
                <a:solidFill>
                  <a:srgbClr val="1F2A36"/>
                </a:solidFill>
              </a:rPr>
              <a:t> to make that value dynamic, or something other than a string</a:t>
            </a:r>
          </a:p>
        </p:txBody>
      </p:sp>
      <p:sp>
        <p:nvSpPr>
          <p:cNvPr id="4" name="Code"/>
          <p:cNvSpPr/>
          <p:nvPr/>
        </p:nvSpPr>
        <p:spPr>
          <a:xfrm>
            <a:off x="457200" y="2978404"/>
            <a:ext cx="8229600" cy="323748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i="1">
                <a:solidFill>
                  <a:srgbClr val="6E7781"/>
                </a:solidFill>
                <a:latin typeface="Consolas"/>
              </a:rPr>
              <a:t>&lt;!-- toggle is 'yes' or 'no' instead of true / false --&gt;</a:t>
            </a:r>
          </a:p>
          <a:p>
            <a:pPr marL="0" indent="0" algn="l">
              <a:lnSpc>
                <a:spcPct val="100000"/>
              </a:lnSpc>
              <a:buNone/>
            </a:pPr>
            <a:r>
              <a:rPr sz="1700">
                <a:solidFill>
                  <a:srgbClr val="116329"/>
                </a:solidFill>
                <a:latin typeface="Consolas"/>
              </a:rPr>
              <a:t>&lt;input</a:t>
            </a:r>
            <a:r>
              <a:rPr sz="1700">
                <a:solidFill>
                  <a:srgbClr val="24292F"/>
                </a:solidFill>
                <a:latin typeface="Consolas"/>
              </a:rPr>
              <a:t> </a:t>
            </a:r>
            <a:r>
              <a:rPr sz="1700">
                <a:solidFill>
                  <a:srgbClr val="953800"/>
                </a:solidFill>
                <a:latin typeface="Consolas"/>
              </a:rPr>
              <a:t>type</a:t>
            </a:r>
            <a:r>
              <a:rPr sz="1700">
                <a:solidFill>
                  <a:srgbClr val="24292F"/>
                </a:solidFill>
                <a:latin typeface="Consolas"/>
              </a:rPr>
              <a:t>=</a:t>
            </a:r>
            <a:r>
              <a:rPr sz="1700">
                <a:solidFill>
                  <a:srgbClr val="0A3069"/>
                </a:solidFill>
                <a:latin typeface="Consolas"/>
              </a:rPr>
              <a:t>"checkbox"</a:t>
            </a:r>
            <a:r>
              <a:rPr sz="1700">
                <a:solidFill>
                  <a:srgbClr val="24292F"/>
                </a:solidFill>
                <a:latin typeface="Consolas"/>
              </a:rPr>
              <a:t> </a:t>
            </a:r>
            <a:r>
              <a:rPr sz="1700">
                <a:solidFill>
                  <a:srgbClr val="953800"/>
                </a:solidFill>
                <a:latin typeface="Consolas"/>
              </a:rPr>
              <a:t>v-model</a:t>
            </a:r>
            <a:r>
              <a:rPr sz="1700">
                <a:solidFill>
                  <a:srgbClr val="24292F"/>
                </a:solidFill>
                <a:latin typeface="Consolas"/>
              </a:rPr>
              <a:t>=</a:t>
            </a:r>
            <a:r>
              <a:rPr sz="1700">
                <a:solidFill>
                  <a:srgbClr val="0A3069"/>
                </a:solidFill>
                <a:latin typeface="Consolas"/>
              </a:rPr>
              <a:t>"toggle"</a:t>
            </a:r>
          </a:p>
          <a:p>
            <a:pPr marL="0" indent="0" algn="l">
              <a:lnSpc>
                <a:spcPct val="100000"/>
              </a:lnSpc>
              <a:buNone/>
            </a:pPr>
            <a:r>
              <a:rPr sz="1700">
                <a:solidFill>
                  <a:srgbClr val="24292F"/>
                </a:solidFill>
                <a:latin typeface="Consolas"/>
              </a:rPr>
              <a:t>       </a:t>
            </a:r>
            <a:r>
              <a:rPr sz="1700">
                <a:solidFill>
                  <a:srgbClr val="CF222E"/>
                </a:solidFill>
                <a:latin typeface="Consolas"/>
              </a:rPr>
              <a:t>true</a:t>
            </a:r>
            <a:r>
              <a:rPr sz="1700">
                <a:solidFill>
                  <a:srgbClr val="24292F"/>
                </a:solidFill>
                <a:latin typeface="Consolas"/>
              </a:rPr>
              <a:t>-value=</a:t>
            </a:r>
            <a:r>
              <a:rPr sz="1700">
                <a:solidFill>
                  <a:srgbClr val="0A3069"/>
                </a:solidFill>
                <a:latin typeface="Consolas"/>
              </a:rPr>
              <a:t>"yes"</a:t>
            </a:r>
            <a:r>
              <a:rPr sz="1700">
                <a:solidFill>
                  <a:srgbClr val="24292F"/>
                </a:solidFill>
                <a:latin typeface="Consolas"/>
              </a:rPr>
              <a:t> </a:t>
            </a:r>
            <a:r>
              <a:rPr sz="1700">
                <a:solidFill>
                  <a:srgbClr val="CF222E"/>
                </a:solidFill>
                <a:latin typeface="Consolas"/>
              </a:rPr>
              <a:t>false</a:t>
            </a:r>
            <a:r>
              <a:rPr sz="1700">
                <a:solidFill>
                  <a:srgbClr val="24292F"/>
                </a:solidFill>
                <a:latin typeface="Consolas"/>
              </a:rPr>
              <a:t>-value=</a:t>
            </a:r>
            <a:r>
              <a:rPr sz="1700">
                <a:solidFill>
                  <a:srgbClr val="0A3069"/>
                </a:solidFill>
                <a:latin typeface="Consolas"/>
              </a:rPr>
              <a:t>"no"</a:t>
            </a:r>
            <a:r>
              <a:rPr sz="1700">
                <a:solidFill>
                  <a:srgbClr val="116329"/>
                </a:solidFill>
                <a:latin typeface="Consolas"/>
              </a:rPr>
              <a:t>&gt;</a:t>
            </a:r>
          </a:p>
          <a:p>
            <a:pPr marL="0" indent="0" algn="l">
              <a:lnSpc>
                <a:spcPct val="100000"/>
              </a:lnSpc>
              <a:buNone/>
            </a:pPr>
            <a:r>
              <a:rPr sz="1700">
                <a:latin typeface="Consolas"/>
              </a:rPr>
              <a:t> </a:t>
            </a:r>
          </a:p>
          <a:p>
            <a:pPr marL="0" indent="0" algn="l">
              <a:lnSpc>
                <a:spcPct val="100000"/>
              </a:lnSpc>
              <a:buNone/>
            </a:pPr>
            <a:r>
              <a:rPr sz="1700" i="1">
                <a:solidFill>
                  <a:srgbClr val="6E7781"/>
                </a:solidFill>
                <a:latin typeface="Consolas"/>
              </a:rPr>
              <a:t>&lt;!-- pick is set to the value of the variable a --&gt;</a:t>
            </a:r>
          </a:p>
          <a:p>
            <a:pPr marL="0" indent="0" algn="l">
              <a:lnSpc>
                <a:spcPct val="100000"/>
              </a:lnSpc>
              <a:buNone/>
            </a:pPr>
            <a:r>
              <a:rPr sz="1700">
                <a:solidFill>
                  <a:srgbClr val="116329"/>
                </a:solidFill>
                <a:latin typeface="Consolas"/>
              </a:rPr>
              <a:t>&lt;input</a:t>
            </a:r>
            <a:r>
              <a:rPr sz="1700">
                <a:solidFill>
                  <a:srgbClr val="24292F"/>
                </a:solidFill>
                <a:latin typeface="Consolas"/>
              </a:rPr>
              <a:t> </a:t>
            </a:r>
            <a:r>
              <a:rPr sz="1700">
                <a:solidFill>
                  <a:srgbClr val="953800"/>
                </a:solidFill>
                <a:latin typeface="Consolas"/>
              </a:rPr>
              <a:t>type</a:t>
            </a:r>
            <a:r>
              <a:rPr sz="1700">
                <a:solidFill>
                  <a:srgbClr val="24292F"/>
                </a:solidFill>
                <a:latin typeface="Consolas"/>
              </a:rPr>
              <a:t>=</a:t>
            </a:r>
            <a:r>
              <a:rPr sz="1700">
                <a:solidFill>
                  <a:srgbClr val="0A3069"/>
                </a:solidFill>
                <a:latin typeface="Consolas"/>
              </a:rPr>
              <a:t>"radio"</a:t>
            </a:r>
            <a:r>
              <a:rPr sz="1700">
                <a:solidFill>
                  <a:srgbClr val="24292F"/>
                </a:solidFill>
                <a:latin typeface="Consolas"/>
              </a:rPr>
              <a:t> </a:t>
            </a:r>
            <a:r>
              <a:rPr sz="1700">
                <a:solidFill>
                  <a:srgbClr val="953800"/>
                </a:solidFill>
                <a:latin typeface="Consolas"/>
              </a:rPr>
              <a:t>v-model</a:t>
            </a:r>
            <a:r>
              <a:rPr sz="1700">
                <a:solidFill>
                  <a:srgbClr val="24292F"/>
                </a:solidFill>
                <a:latin typeface="Consolas"/>
              </a:rPr>
              <a:t>=</a:t>
            </a:r>
            <a:r>
              <a:rPr sz="1700">
                <a:solidFill>
                  <a:srgbClr val="0A3069"/>
                </a:solidFill>
                <a:latin typeface="Consolas"/>
              </a:rPr>
              <a:t>"pick"</a:t>
            </a:r>
            <a:r>
              <a:rPr sz="1700">
                <a:solidFill>
                  <a:srgbClr val="24292F"/>
                </a:solidFill>
                <a:latin typeface="Consolas"/>
              </a:rPr>
              <a:t> </a:t>
            </a:r>
            <a:r>
              <a:rPr sz="1700">
                <a:solidFill>
                  <a:srgbClr val="953800"/>
                </a:solidFill>
                <a:latin typeface="Consolas"/>
              </a:rPr>
              <a:t>:value</a:t>
            </a:r>
            <a:r>
              <a:rPr sz="1700">
                <a:solidFill>
                  <a:srgbClr val="24292F"/>
                </a:solidFill>
                <a:latin typeface="Consolas"/>
              </a:rPr>
              <a:t>=</a:t>
            </a:r>
            <a:r>
              <a:rPr sz="1700">
                <a:solidFill>
                  <a:srgbClr val="0A3069"/>
                </a:solidFill>
                <a:latin typeface="Consolas"/>
              </a:rPr>
              <a:t>"a"</a:t>
            </a:r>
            <a:r>
              <a:rPr sz="1700">
                <a:solidFill>
                  <a:srgbClr val="116329"/>
                </a:solidFill>
                <a:latin typeface="Consolas"/>
              </a:rPr>
              <a:t>&gt;</a:t>
            </a:r>
          </a:p>
          <a:p>
            <a:pPr marL="0" indent="0" algn="l">
              <a:lnSpc>
                <a:spcPct val="100000"/>
              </a:lnSpc>
              <a:buNone/>
            </a:pPr>
            <a:r>
              <a:rPr sz="1700">
                <a:latin typeface="Consolas"/>
              </a:rPr>
              <a:t> </a:t>
            </a:r>
          </a:p>
          <a:p>
            <a:pPr marL="0" indent="0" algn="l">
              <a:lnSpc>
                <a:spcPct val="100000"/>
              </a:lnSpc>
              <a:buNone/>
            </a:pPr>
            <a:r>
              <a:rPr sz="1700" i="1">
                <a:solidFill>
                  <a:srgbClr val="6E7781"/>
                </a:solidFill>
                <a:latin typeface="Consolas"/>
              </a:rPr>
              <a:t>&lt;!-- selected is set to the object, not a string --&gt;</a:t>
            </a:r>
          </a:p>
          <a:p>
            <a:pPr marL="0" indent="0" algn="l">
              <a:lnSpc>
                <a:spcPct val="100000"/>
              </a:lnSpc>
              <a:buNone/>
            </a:pPr>
            <a:r>
              <a:rPr sz="1700">
                <a:solidFill>
                  <a:srgbClr val="116329"/>
                </a:solidFill>
                <a:latin typeface="Consolas"/>
              </a:rPr>
              <a:t>&lt;select</a:t>
            </a:r>
            <a:r>
              <a:rPr sz="1700">
                <a:solidFill>
                  <a:srgbClr val="24292F"/>
                </a:solidFill>
                <a:latin typeface="Consolas"/>
              </a:rPr>
              <a:t> </a:t>
            </a:r>
            <a:r>
              <a:rPr sz="1700">
                <a:solidFill>
                  <a:srgbClr val="953800"/>
                </a:solidFill>
                <a:latin typeface="Consolas"/>
              </a:rPr>
              <a:t>v-model</a:t>
            </a:r>
            <a:r>
              <a:rPr sz="1700">
                <a:solidFill>
                  <a:srgbClr val="24292F"/>
                </a:solidFill>
                <a:latin typeface="Consolas"/>
              </a:rPr>
              <a:t>=</a:t>
            </a:r>
            <a:r>
              <a:rPr sz="1700">
                <a:solidFill>
                  <a:srgbClr val="0A3069"/>
                </a:solidFill>
                <a:latin typeface="Consolas"/>
              </a:rPr>
              <a:t>"selected"</a:t>
            </a:r>
            <a:r>
              <a:rPr sz="1700">
                <a:solidFill>
                  <a:srgbClr val="116329"/>
                </a:solidFill>
                <a:latin typeface="Consolas"/>
              </a:rPr>
              <a:t>&gt;</a:t>
            </a:r>
          </a:p>
          <a:p>
            <a:pPr marL="0" indent="0" algn="l">
              <a:lnSpc>
                <a:spcPct val="100000"/>
              </a:lnSpc>
              <a:buNone/>
            </a:pPr>
            <a:r>
              <a:rPr sz="1700">
                <a:solidFill>
                  <a:srgbClr val="24292F"/>
                </a:solidFill>
                <a:latin typeface="Consolas"/>
              </a:rPr>
              <a:t>  </a:t>
            </a:r>
            <a:r>
              <a:rPr sz="1700">
                <a:solidFill>
                  <a:srgbClr val="116329"/>
                </a:solidFill>
                <a:latin typeface="Consolas"/>
              </a:rPr>
              <a:t>&lt;option</a:t>
            </a:r>
            <a:r>
              <a:rPr sz="1700">
                <a:solidFill>
                  <a:srgbClr val="24292F"/>
                </a:solidFill>
                <a:latin typeface="Consolas"/>
              </a:rPr>
              <a:t> </a:t>
            </a:r>
            <a:r>
              <a:rPr sz="1700">
                <a:solidFill>
                  <a:srgbClr val="953800"/>
                </a:solidFill>
                <a:latin typeface="Consolas"/>
              </a:rPr>
              <a:t>:value</a:t>
            </a:r>
            <a:r>
              <a:rPr sz="1700">
                <a:solidFill>
                  <a:srgbClr val="24292F"/>
                </a:solidFill>
                <a:latin typeface="Consolas"/>
              </a:rPr>
              <a:t>=</a:t>
            </a:r>
            <a:r>
              <a:rPr sz="1700">
                <a:solidFill>
                  <a:srgbClr val="0A3069"/>
                </a:solidFill>
                <a:latin typeface="Consolas"/>
              </a:rPr>
              <a:t>"{ id: 1 }"</a:t>
            </a:r>
            <a:r>
              <a:rPr sz="1700">
                <a:solidFill>
                  <a:srgbClr val="116329"/>
                </a:solidFill>
                <a:latin typeface="Consolas"/>
              </a:rPr>
              <a:t>&gt;</a:t>
            </a:r>
            <a:r>
              <a:rPr sz="1700">
                <a:solidFill>
                  <a:srgbClr val="24292F"/>
                </a:solidFill>
                <a:latin typeface="Consolas"/>
              </a:rPr>
              <a:t>One</a:t>
            </a:r>
            <a:r>
              <a:rPr sz="1700">
                <a:solidFill>
                  <a:srgbClr val="116329"/>
                </a:solidFill>
                <a:latin typeface="Consolas"/>
              </a:rPr>
              <a:t>&lt;/option&gt;</a:t>
            </a:r>
          </a:p>
          <a:p>
            <a:pPr marL="0" indent="0" algn="l">
              <a:lnSpc>
                <a:spcPct val="100000"/>
              </a:lnSpc>
              <a:buNone/>
            </a:pPr>
            <a:r>
              <a:rPr sz="1700">
                <a:solidFill>
                  <a:srgbClr val="116329"/>
                </a:solidFill>
                <a:latin typeface="Consolas"/>
              </a:rPr>
              <a:t>&lt;/select&gt;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126</a:t>
            </a:fld>
            <a:endParaRPr lang="en-US" sz="900">
              <a:solidFill>
                <a:srgbClr val="9AA7B4"/>
              </a:solidFill>
            </a:endParaRPr>
          </a:p>
        </p:txBody>
      </p:sp>
    </p:spTree>
    <p:extLst>
      <p:ext uri="{BB962C8B-B14F-4D97-AF65-F5344CB8AC3E}">
        <p14:creationId xmlns:p14="http://schemas.microsoft.com/office/powerpoint/2010/main" val="6809749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DECF-E4E8-2142-B7F5-48679ED3E617}"/>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2-way Binding</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v-model, arrays, and the reactivity caveats that remain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127</a:t>
            </a:fld>
            <a:endParaRPr lang="en-US" sz="900">
              <a:solidFill>
                <a:srgbClr val="9FB3C4"/>
              </a:solidFill>
            </a:endParaRPr>
          </a:p>
        </p:txBody>
      </p:sp>
    </p:spTree>
    <p:extLst>
      <p:ext uri="{BB962C8B-B14F-4D97-AF65-F5344CB8AC3E}">
        <p14:creationId xmlns:p14="http://schemas.microsoft.com/office/powerpoint/2010/main" val="7649113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5518-1C08-2E43-94FE-5C80DD6B289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v-model directive</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Creates two-way data binding on </a:t>
            </a:r>
            <a:r>
              <a:rPr sz="2090" b="0" i="0">
                <a:solidFill>
                  <a:srgbClr val="8A2B52"/>
                </a:solidFill>
                <a:latin typeface="Consolas"/>
              </a:rPr>
              <a:t>&lt;input&gt;</a:t>
            </a:r>
            <a:r>
              <a:rPr sz="2200" b="0" i="0">
                <a:solidFill>
                  <a:srgbClr val="1F2A36"/>
                </a:solidFill>
              </a:rPr>
              <a:t>, </a:t>
            </a:r>
            <a:r>
              <a:rPr sz="2090" b="0" i="0">
                <a:solidFill>
                  <a:srgbClr val="8A2B52"/>
                </a:solidFill>
                <a:latin typeface="Consolas"/>
              </a:rPr>
              <a:t>&lt;textarea&gt;</a:t>
            </a:r>
            <a:r>
              <a:rPr sz="2200" b="0" i="0">
                <a:solidFill>
                  <a:srgbClr val="1F2A36"/>
                </a:solidFill>
              </a:rPr>
              <a:t> and </a:t>
            </a:r>
            <a:r>
              <a:rPr sz="2090" b="0" i="0">
                <a:solidFill>
                  <a:srgbClr val="8A2B52"/>
                </a:solidFill>
                <a:latin typeface="Consolas"/>
              </a:rPr>
              <a:t>&lt;select&gt;</a:t>
            </a:r>
            <a:r>
              <a:rPr sz="2200" b="0" i="0">
                <a:solidFill>
                  <a:srgbClr val="1F2A36"/>
                </a:solidFill>
              </a:rPr>
              <a:t> elements</a:t>
            </a:r>
          </a:p>
        </p:txBody>
      </p:sp>
      <p:sp>
        <p:nvSpPr>
          <p:cNvPr id="4" name="Code"/>
          <p:cNvSpPr/>
          <p:nvPr/>
        </p:nvSpPr>
        <p:spPr>
          <a:xfrm>
            <a:off x="457200" y="2193290"/>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v-model</a:t>
            </a:r>
            <a:r>
              <a:rPr sz="2000">
                <a:solidFill>
                  <a:srgbClr val="24292F"/>
                </a:solidFill>
                <a:latin typeface="Consolas"/>
              </a:rPr>
              <a:t>=</a:t>
            </a:r>
            <a:r>
              <a:rPr sz="2000">
                <a:solidFill>
                  <a:srgbClr val="0A3069"/>
                </a:solidFill>
                <a:latin typeface="Consolas"/>
              </a:rPr>
              <a:t>"message"</a:t>
            </a:r>
            <a:r>
              <a:rPr sz="2000">
                <a:solidFill>
                  <a:srgbClr val="116329"/>
                </a:solidFill>
                <a:latin typeface="Consolas"/>
              </a:rPr>
              <a:t>&gt;</a:t>
            </a:r>
          </a:p>
          <a:p>
            <a:pPr marL="0" indent="0" algn="l">
              <a:lnSpc>
                <a:spcPct val="100000"/>
              </a:lnSpc>
              <a:buNone/>
            </a:pPr>
            <a:r>
              <a:rPr sz="2000">
                <a:solidFill>
                  <a:srgbClr val="116329"/>
                </a:solidFill>
                <a:latin typeface="Consolas"/>
              </a:rPr>
              <a:t>&lt;p&gt;</a:t>
            </a:r>
            <a:r>
              <a:rPr sz="2000">
                <a:solidFill>
                  <a:srgbClr val="24292F"/>
                </a:solidFill>
                <a:latin typeface="Consolas"/>
              </a:rPr>
              <a:t>Message is: {{ message }}</a:t>
            </a:r>
            <a:r>
              <a:rPr sz="2000">
                <a:solidFill>
                  <a:srgbClr val="116329"/>
                </a:solidFill>
                <a:latin typeface="Consolas"/>
              </a:rPr>
              <a:t>&lt;/p&gt;</a:t>
            </a:r>
          </a:p>
        </p:txBody>
      </p:sp>
      <p:sp>
        <p:nvSpPr>
          <p:cNvPr id="5" name="Body"/>
          <p:cNvSpPr txBox="1"/>
          <p:nvPr/>
        </p:nvSpPr>
        <p:spPr>
          <a:xfrm>
            <a:off x="457200" y="3262122"/>
            <a:ext cx="8229600" cy="284162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Picks the right property and event for each element type</a:t>
            </a:r>
          </a:p>
          <a:p>
            <a:pPr marL="566928" indent="-256032">
              <a:spcAft>
                <a:spcPts val="855"/>
              </a:spcAft>
              <a:buClr>
                <a:srgbClr val="6B7B8C"/>
              </a:buClr>
              <a:buSzPct val="100000"/>
              <a:buFont typeface="Arial"/>
              <a:buChar char="–"/>
            </a:pPr>
            <a:r>
              <a:rPr sz="1900" b="0" i="0">
                <a:solidFill>
                  <a:srgbClr val="3A4A5A"/>
                </a:solidFill>
              </a:rPr>
              <a:t>text and textarea: </a:t>
            </a:r>
            <a:r>
              <a:rPr sz="1805" b="0" i="0">
                <a:solidFill>
                  <a:srgbClr val="8A2B52"/>
                </a:solidFill>
                <a:latin typeface="Consolas"/>
              </a:rPr>
              <a:t>value</a:t>
            </a:r>
            <a:r>
              <a:rPr sz="1900" b="0" i="0">
                <a:solidFill>
                  <a:srgbClr val="3A4A5A"/>
                </a:solidFill>
              </a:rPr>
              <a:t> + </a:t>
            </a:r>
            <a:r>
              <a:rPr sz="1805" b="0" i="0">
                <a:solidFill>
                  <a:srgbClr val="8A2B52"/>
                </a:solidFill>
                <a:latin typeface="Consolas"/>
              </a:rPr>
              <a:t>input</a:t>
            </a:r>
          </a:p>
          <a:p>
            <a:pPr marL="566928" indent="-256032">
              <a:spcAft>
                <a:spcPts val="855"/>
              </a:spcAft>
              <a:buClr>
                <a:srgbClr val="6B7B8C"/>
              </a:buClr>
              <a:buSzPct val="100000"/>
              <a:buFont typeface="Arial"/>
              <a:buChar char="–"/>
            </a:pPr>
            <a:r>
              <a:rPr sz="1900" b="0" i="0">
                <a:solidFill>
                  <a:srgbClr val="3A4A5A"/>
                </a:solidFill>
              </a:rPr>
              <a:t>checkbox and radio: </a:t>
            </a:r>
            <a:r>
              <a:rPr sz="1805" b="0" i="0">
                <a:solidFill>
                  <a:srgbClr val="8A2B52"/>
                </a:solidFill>
                <a:latin typeface="Consolas"/>
              </a:rPr>
              <a:t>checked</a:t>
            </a:r>
            <a:r>
              <a:rPr sz="1900" b="0" i="0">
                <a:solidFill>
                  <a:srgbClr val="3A4A5A"/>
                </a:solidFill>
              </a:rPr>
              <a:t> + </a:t>
            </a:r>
            <a:r>
              <a:rPr sz="1805" b="0" i="0">
                <a:solidFill>
                  <a:srgbClr val="8A2B52"/>
                </a:solidFill>
                <a:latin typeface="Consolas"/>
              </a:rPr>
              <a:t>change</a:t>
            </a:r>
          </a:p>
          <a:p>
            <a:pPr marL="566928" indent="-256032">
              <a:spcAft>
                <a:spcPts val="855"/>
              </a:spcAft>
              <a:buClr>
                <a:srgbClr val="6B7B8C"/>
              </a:buClr>
              <a:buSzPct val="100000"/>
              <a:buFont typeface="Arial"/>
              <a:buChar char="–"/>
            </a:pPr>
            <a:r>
              <a:rPr sz="1900" b="0" i="0">
                <a:solidFill>
                  <a:srgbClr val="3A4A5A"/>
                </a:solidFill>
              </a:rPr>
              <a:t>select: </a:t>
            </a:r>
            <a:r>
              <a:rPr sz="1805" b="0" i="0">
                <a:solidFill>
                  <a:srgbClr val="8A2B52"/>
                </a:solidFill>
                <a:latin typeface="Consolas"/>
              </a:rPr>
              <a:t>value</a:t>
            </a:r>
            <a:r>
              <a:rPr sz="1900" b="0" i="0">
                <a:solidFill>
                  <a:srgbClr val="3A4A5A"/>
                </a:solidFill>
              </a:rPr>
              <a:t> + </a:t>
            </a:r>
            <a:r>
              <a:rPr sz="1805" b="0" i="0">
                <a:solidFill>
                  <a:srgbClr val="8A2B52"/>
                </a:solidFill>
                <a:latin typeface="Consolas"/>
              </a:rPr>
              <a:t>change</a:t>
            </a:r>
          </a:p>
          <a:p>
            <a:pPr marL="274320" indent="-256032">
              <a:spcAft>
                <a:spcPts val="990"/>
              </a:spcAft>
              <a:buClr>
                <a:srgbClr val="42B883"/>
              </a:buClr>
              <a:buSzPct val="100000"/>
              <a:buFont typeface="Arial"/>
              <a:buChar char="•"/>
            </a:pPr>
            <a:r>
              <a:rPr sz="2090" b="0" i="0">
                <a:solidFill>
                  <a:srgbClr val="8A2B52"/>
                </a:solidFill>
                <a:latin typeface="Consolas"/>
              </a:rPr>
              <a:t>v-model</a:t>
            </a:r>
            <a:r>
              <a:rPr sz="2200" b="0" i="0">
                <a:solidFill>
                  <a:srgbClr val="1F2A36"/>
                </a:solidFill>
              </a:rPr>
              <a:t> ignores the initial </a:t>
            </a:r>
            <a:r>
              <a:rPr sz="2090" b="0" i="0">
                <a:solidFill>
                  <a:srgbClr val="8A2B52"/>
                </a:solidFill>
                <a:latin typeface="Consolas"/>
              </a:rPr>
              <a:t>value</a:t>
            </a:r>
            <a:r>
              <a:rPr sz="2200" b="0" i="0">
                <a:solidFill>
                  <a:srgbClr val="1F2A36"/>
                </a:solidFill>
              </a:rPr>
              <a:t>, </a:t>
            </a:r>
            <a:r>
              <a:rPr sz="2090" b="0" i="0">
                <a:solidFill>
                  <a:srgbClr val="8A2B52"/>
                </a:solidFill>
                <a:latin typeface="Consolas"/>
              </a:rPr>
              <a:t>checked</a:t>
            </a:r>
            <a:r>
              <a:rPr sz="2200" b="0" i="0">
                <a:solidFill>
                  <a:srgbClr val="1F2A36"/>
                </a:solidFill>
              </a:rPr>
              <a:t> or </a:t>
            </a:r>
            <a:r>
              <a:rPr sz="2090" b="0" i="0">
                <a:solidFill>
                  <a:srgbClr val="8A2B52"/>
                </a:solidFill>
                <a:latin typeface="Consolas"/>
              </a:rPr>
              <a:t>selected</a:t>
            </a:r>
            <a:r>
              <a:rPr sz="2200" b="0" i="0">
                <a:solidFill>
                  <a:srgbClr val="1F2A36"/>
                </a:solidFill>
              </a:rPr>
              <a:t> attributes — your state is the source of truth</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128</a:t>
            </a:fld>
            <a:endParaRPr lang="en-US" sz="900">
              <a:solidFill>
                <a:srgbClr val="9AA7B4"/>
              </a:solidFill>
            </a:endParaRPr>
          </a:p>
        </p:txBody>
      </p:sp>
    </p:spTree>
    <p:extLst>
      <p:ext uri="{BB962C8B-B14F-4D97-AF65-F5344CB8AC3E}">
        <p14:creationId xmlns:p14="http://schemas.microsoft.com/office/powerpoint/2010/main" val="28938722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93D0-D8C1-6346-B21C-9EE190FDC3F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Working with Arrays</a:t>
            </a:r>
          </a:p>
        </p:txBody>
      </p:sp>
      <p:sp>
        <p:nvSpPr>
          <p:cNvPr id="3" name="Body"/>
          <p:cNvSpPr txBox="1"/>
          <p:nvPr/>
        </p:nvSpPr>
        <p:spPr>
          <a:xfrm>
            <a:off x="457200" y="1261872"/>
            <a:ext cx="8229600" cy="329704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Every array mutation is reactive, because Vue 3 observes the array through a Proxy:</a:t>
            </a:r>
          </a:p>
          <a:p>
            <a:pPr marL="566928" indent="-256032">
              <a:spcAft>
                <a:spcPts val="855"/>
              </a:spcAft>
              <a:buClr>
                <a:srgbClr val="6B7B8C"/>
              </a:buClr>
              <a:buSzPct val="100000"/>
              <a:buFont typeface="Arial"/>
              <a:buChar char="–"/>
            </a:pPr>
            <a:r>
              <a:rPr sz="1805" b="0" i="0">
                <a:solidFill>
                  <a:srgbClr val="8A2B52"/>
                </a:solidFill>
                <a:latin typeface="Consolas"/>
              </a:rPr>
              <a:t>push</a:t>
            </a:r>
            <a:r>
              <a:rPr sz="1900" b="0" i="0">
                <a:solidFill>
                  <a:srgbClr val="3A4A5A"/>
                </a:solidFill>
              </a:rPr>
              <a:t>, </a:t>
            </a:r>
            <a:r>
              <a:rPr sz="1805" b="0" i="0">
                <a:solidFill>
                  <a:srgbClr val="8A2B52"/>
                </a:solidFill>
                <a:latin typeface="Consolas"/>
              </a:rPr>
              <a:t>pop</a:t>
            </a:r>
            <a:r>
              <a:rPr sz="1900" b="0" i="0">
                <a:solidFill>
                  <a:srgbClr val="3A4A5A"/>
                </a:solidFill>
              </a:rPr>
              <a:t>, </a:t>
            </a:r>
            <a:r>
              <a:rPr sz="1805" b="0" i="0">
                <a:solidFill>
                  <a:srgbClr val="8A2B52"/>
                </a:solidFill>
                <a:latin typeface="Consolas"/>
              </a:rPr>
              <a:t>shift</a:t>
            </a:r>
            <a:r>
              <a:rPr sz="1900" b="0" i="0">
                <a:solidFill>
                  <a:srgbClr val="3A4A5A"/>
                </a:solidFill>
              </a:rPr>
              <a:t>, </a:t>
            </a:r>
            <a:r>
              <a:rPr sz="1805" b="0" i="0">
                <a:solidFill>
                  <a:srgbClr val="8A2B52"/>
                </a:solidFill>
                <a:latin typeface="Consolas"/>
              </a:rPr>
              <a:t>unshift</a:t>
            </a:r>
            <a:r>
              <a:rPr sz="1900" b="0" i="0">
                <a:solidFill>
                  <a:srgbClr val="3A4A5A"/>
                </a:solidFill>
              </a:rPr>
              <a:t>, </a:t>
            </a:r>
            <a:r>
              <a:rPr sz="1805" b="0" i="0">
                <a:solidFill>
                  <a:srgbClr val="8A2B52"/>
                </a:solidFill>
                <a:latin typeface="Consolas"/>
              </a:rPr>
              <a:t>splice</a:t>
            </a:r>
            <a:r>
              <a:rPr sz="1900" b="0" i="0">
                <a:solidFill>
                  <a:srgbClr val="3A4A5A"/>
                </a:solidFill>
              </a:rPr>
              <a:t>, </a:t>
            </a:r>
            <a:r>
              <a:rPr sz="1805" b="0" i="0">
                <a:solidFill>
                  <a:srgbClr val="8A2B52"/>
                </a:solidFill>
                <a:latin typeface="Consolas"/>
              </a:rPr>
              <a:t>sort</a:t>
            </a:r>
            <a:r>
              <a:rPr sz="1900" b="0" i="0">
                <a:solidFill>
                  <a:srgbClr val="3A4A5A"/>
                </a:solidFill>
              </a:rPr>
              <a:t>, </a:t>
            </a:r>
            <a:r>
              <a:rPr sz="1805" b="0" i="0">
                <a:solidFill>
                  <a:srgbClr val="8A2B52"/>
                </a:solidFill>
                <a:latin typeface="Consolas"/>
              </a:rPr>
              <a:t>reverse</a:t>
            </a:r>
          </a:p>
          <a:p>
            <a:pPr marL="566928" indent="-256032">
              <a:spcAft>
                <a:spcPts val="855"/>
              </a:spcAft>
              <a:buClr>
                <a:srgbClr val="6B7B8C"/>
              </a:buClr>
              <a:buSzPct val="100000"/>
              <a:buFont typeface="Arial"/>
              <a:buChar char="–"/>
            </a:pPr>
            <a:r>
              <a:rPr sz="1805" b="0" i="0">
                <a:solidFill>
                  <a:srgbClr val="8A2B52"/>
                </a:solidFill>
                <a:latin typeface="Consolas"/>
              </a:rPr>
              <a:t>items[0] = value</a:t>
            </a:r>
            <a:r>
              <a:rPr sz="1900" b="0" i="0">
                <a:solidFill>
                  <a:srgbClr val="3A4A5A"/>
                </a:solidFill>
              </a:rPr>
              <a:t> — assignment by index</a:t>
            </a:r>
          </a:p>
          <a:p>
            <a:pPr marL="566928" indent="-256032">
              <a:spcAft>
                <a:spcPts val="855"/>
              </a:spcAft>
              <a:buClr>
                <a:srgbClr val="6B7B8C"/>
              </a:buClr>
              <a:buSzPct val="100000"/>
              <a:buFont typeface="Arial"/>
              <a:buChar char="–"/>
            </a:pPr>
            <a:r>
              <a:rPr sz="1805" b="0" i="0">
                <a:solidFill>
                  <a:srgbClr val="8A2B52"/>
                </a:solidFill>
                <a:latin typeface="Consolas"/>
              </a:rPr>
              <a:t>items.length = 0</a:t>
            </a:r>
          </a:p>
          <a:p>
            <a:pPr marL="274320" indent="-256032">
              <a:spcAft>
                <a:spcPts val="990"/>
              </a:spcAft>
              <a:buClr>
                <a:srgbClr val="42B883"/>
              </a:buClr>
              <a:buSzPct val="100000"/>
              <a:buFont typeface="Arial"/>
              <a:buChar char="•"/>
            </a:pPr>
            <a:r>
              <a:rPr sz="2200" b="0" i="0">
                <a:solidFill>
                  <a:srgbClr val="1F2A36"/>
                </a:solidFill>
              </a:rPr>
              <a:t>Vue 2 couldn't detect the last two, and needed </a:t>
            </a:r>
            <a:r>
              <a:rPr sz="2090" b="0" i="0">
                <a:solidFill>
                  <a:srgbClr val="8A2B52"/>
                </a:solidFill>
                <a:latin typeface="Consolas"/>
              </a:rPr>
              <a:t>Vue.set</a:t>
            </a:r>
            <a:r>
              <a:rPr sz="2200" b="0" i="0">
                <a:solidFill>
                  <a:srgbClr val="1F2A36"/>
                </a:solidFill>
              </a:rPr>
              <a:t> and </a:t>
            </a:r>
            <a:r>
              <a:rPr sz="2090" b="0" i="0">
                <a:solidFill>
                  <a:srgbClr val="8A2B52"/>
                </a:solidFill>
                <a:latin typeface="Consolas"/>
              </a:rPr>
              <a:t>splice</a:t>
            </a:r>
            <a:r>
              <a:rPr sz="2200" b="0" i="0">
                <a:solidFill>
                  <a:srgbClr val="1F2A36"/>
                </a:solidFill>
              </a:rPr>
              <a:t> as workarounds</a:t>
            </a:r>
          </a:p>
          <a:p>
            <a:pPr marL="274320" indent="-256032">
              <a:spcAft>
                <a:spcPts val="990"/>
              </a:spcAft>
              <a:buClr>
                <a:srgbClr val="42B883"/>
              </a:buClr>
              <a:buSzPct val="100000"/>
              <a:buFont typeface="Arial"/>
              <a:buChar char="•"/>
            </a:pPr>
            <a:r>
              <a:rPr sz="2200" b="0" i="0">
                <a:solidFill>
                  <a:srgbClr val="1F2A36"/>
                </a:solidFill>
              </a:rPr>
              <a:t>Replacing the array wholesale is still often clearer:</a:t>
            </a:r>
          </a:p>
        </p:txBody>
      </p:sp>
      <p:sp>
        <p:nvSpPr>
          <p:cNvPr id="4" name="Code"/>
          <p:cNvSpPr/>
          <p:nvPr/>
        </p:nvSpPr>
        <p:spPr>
          <a:xfrm>
            <a:off x="457200" y="4613783"/>
            <a:ext cx="8229600" cy="58394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24292F"/>
                </a:solidFill>
                <a:latin typeface="Consolas"/>
              </a:rPr>
              <a:t>items.value = items.value.filter((item) =&gt; !item.done)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129</a:t>
            </a:fld>
            <a:endParaRPr lang="en-US" sz="900">
              <a:solidFill>
                <a:srgbClr val="9AA7B4"/>
              </a:solidFill>
            </a:endParaRPr>
          </a:p>
        </p:txBody>
      </p:sp>
    </p:spTree>
    <p:extLst>
      <p:ext uri="{BB962C8B-B14F-4D97-AF65-F5344CB8AC3E}">
        <p14:creationId xmlns:p14="http://schemas.microsoft.com/office/powerpoint/2010/main" val="288412876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E92-86A7-0544-9362-A575AEC1A93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Reactivity Caveats</a:t>
            </a:r>
          </a:p>
        </p:txBody>
      </p:sp>
      <p:sp>
        <p:nvSpPr>
          <p:cNvPr id="3" name="Body"/>
          <p:cNvSpPr txBox="1"/>
          <p:nvPr/>
        </p:nvSpPr>
        <p:spPr>
          <a:xfrm>
            <a:off x="457200" y="1261872"/>
            <a:ext cx="8229600" cy="3581780"/>
          </a:xfrm>
          <a:prstGeom prst="rect">
            <a:avLst/>
          </a:prstGeom>
          <a:noFill/>
        </p:spPr>
        <p:txBody>
          <a:bodyPr wrap="square" lIns="0" tIns="0" rIns="0" bIns="0">
            <a:noAutofit/>
          </a:bodyPr>
          <a:lstStyle/>
          <a:p>
            <a:pPr marL="0" indent="0">
              <a:spcAft>
                <a:spcPts val="945"/>
              </a:spcAft>
              <a:buNone/>
            </a:pPr>
            <a:r>
              <a:rPr sz="2100" b="0" i="0">
                <a:solidFill>
                  <a:srgbClr val="1F2A36"/>
                </a:solidFill>
              </a:rPr>
              <a:t>Proxy-based reactivity is deep and covers add and delete, but a few things still break tracking:</a:t>
            </a:r>
          </a:p>
          <a:p>
            <a:pPr marL="274320" indent="-256032">
              <a:spcAft>
                <a:spcPts val="945"/>
              </a:spcAft>
              <a:buClr>
                <a:srgbClr val="42B883"/>
              </a:buClr>
              <a:buSzPct val="100000"/>
              <a:buFont typeface="Arial"/>
              <a:buChar char="•"/>
            </a:pPr>
            <a:r>
              <a:rPr sz="2100" b="1" i="0">
                <a:solidFill>
                  <a:srgbClr val="1F2A36"/>
                </a:solidFill>
              </a:rPr>
              <a:t>Destructuring a </a:t>
            </a:r>
            <a:r>
              <a:rPr sz="1995" b="1" i="0">
                <a:solidFill>
                  <a:srgbClr val="8A2B52"/>
                </a:solidFill>
                <a:latin typeface="Consolas"/>
              </a:rPr>
              <a:t>reactive()</a:t>
            </a:r>
            <a:r>
              <a:rPr sz="2100" b="1" i="0">
                <a:solidFill>
                  <a:srgbClr val="1F2A36"/>
                </a:solidFill>
              </a:rPr>
              <a:t> object</a:t>
            </a:r>
            <a:r>
              <a:rPr sz="2100" b="0" i="0">
                <a:solidFill>
                  <a:srgbClr val="1F2A36"/>
                </a:solidFill>
              </a:rPr>
              <a:t> copies the values out</a:t>
            </a:r>
          </a:p>
          <a:p>
            <a:pPr marL="566928" indent="-256032">
              <a:spcAft>
                <a:spcPts val="810"/>
              </a:spcAft>
              <a:buClr>
                <a:srgbClr val="6B7B8C"/>
              </a:buClr>
              <a:buSzPct val="100000"/>
              <a:buFont typeface="Arial"/>
              <a:buChar char="–"/>
            </a:pPr>
            <a:r>
              <a:rPr sz="1800" b="0" i="0">
                <a:solidFill>
                  <a:srgbClr val="3A4A5A"/>
                </a:solidFill>
              </a:rPr>
              <a:t>Use </a:t>
            </a:r>
            <a:r>
              <a:rPr sz="1709" b="0" i="0">
                <a:solidFill>
                  <a:srgbClr val="8A2B52"/>
                </a:solidFill>
                <a:latin typeface="Consolas"/>
              </a:rPr>
              <a:t>toRefs()</a:t>
            </a:r>
            <a:r>
              <a:rPr sz="1800" b="0" i="0">
                <a:solidFill>
                  <a:srgbClr val="3A4A5A"/>
                </a:solidFill>
              </a:rPr>
              <a:t>, or a </a:t>
            </a:r>
            <a:r>
              <a:rPr sz="1709" b="0" i="0">
                <a:solidFill>
                  <a:srgbClr val="8A2B52"/>
                </a:solidFill>
                <a:latin typeface="Consolas"/>
              </a:rPr>
              <a:t>ref</a:t>
            </a:r>
            <a:r>
              <a:rPr sz="1800" b="0" i="0">
                <a:solidFill>
                  <a:srgbClr val="3A4A5A"/>
                </a:solidFill>
              </a:rPr>
              <a:t>, instead</a:t>
            </a:r>
          </a:p>
          <a:p>
            <a:pPr marL="274320" indent="-256032">
              <a:spcAft>
                <a:spcPts val="945"/>
              </a:spcAft>
              <a:buClr>
                <a:srgbClr val="42B883"/>
              </a:buClr>
              <a:buSzPct val="100000"/>
              <a:buFont typeface="Arial"/>
              <a:buChar char="•"/>
            </a:pPr>
            <a:r>
              <a:rPr sz="2100" b="1" i="0">
                <a:solidFill>
                  <a:srgbClr val="1F2A36"/>
                </a:solidFill>
              </a:rPr>
              <a:t>Replacing a </a:t>
            </a:r>
            <a:r>
              <a:rPr sz="1995" b="1" i="0">
                <a:solidFill>
                  <a:srgbClr val="8A2B52"/>
                </a:solidFill>
                <a:latin typeface="Consolas"/>
              </a:rPr>
              <a:t>reactive()</a:t>
            </a:r>
            <a:r>
              <a:rPr sz="2100" b="1" i="0">
                <a:solidFill>
                  <a:srgbClr val="1F2A36"/>
                </a:solidFill>
              </a:rPr>
              <a:t> object wholesale</a:t>
            </a:r>
            <a:r>
              <a:rPr sz="2100" b="0" i="0">
                <a:solidFill>
                  <a:srgbClr val="1F2A36"/>
                </a:solidFill>
              </a:rPr>
              <a:t> drops the old proxy</a:t>
            </a:r>
          </a:p>
          <a:p>
            <a:pPr marL="274320" indent="-256032">
              <a:spcAft>
                <a:spcPts val="945"/>
              </a:spcAft>
              <a:buClr>
                <a:srgbClr val="42B883"/>
              </a:buClr>
              <a:buSzPct val="100000"/>
              <a:buFont typeface="Arial"/>
              <a:buChar char="•"/>
            </a:pPr>
            <a:r>
              <a:rPr sz="2100" b="1" i="0">
                <a:solidFill>
                  <a:srgbClr val="1F2A36"/>
                </a:solidFill>
              </a:rPr>
              <a:t>Reassigning a ref without </a:t>
            </a:r>
            <a:r>
              <a:rPr sz="1995" b="1" i="0">
                <a:solidFill>
                  <a:srgbClr val="8A2B52"/>
                </a:solidFill>
                <a:latin typeface="Consolas"/>
              </a:rPr>
              <a:t>.value</a:t>
            </a:r>
            <a:r>
              <a:rPr sz="2100" b="0" i="0">
                <a:solidFill>
                  <a:srgbClr val="1F2A36"/>
                </a:solidFill>
              </a:rPr>
              <a:t> inside </a:t>
            </a:r>
            <a:r>
              <a:rPr sz="1995" b="0" i="0">
                <a:solidFill>
                  <a:srgbClr val="8A2B52"/>
                </a:solidFill>
                <a:latin typeface="Consolas"/>
              </a:rPr>
              <a:t>&lt;script setup&gt;</a:t>
            </a:r>
          </a:p>
          <a:p>
            <a:pPr marL="274320" indent="-256032">
              <a:spcAft>
                <a:spcPts val="945"/>
              </a:spcAft>
              <a:buClr>
                <a:srgbClr val="42B883"/>
              </a:buClr>
              <a:buSzPct val="100000"/>
              <a:buFont typeface="Arial"/>
              <a:buChar char="•"/>
            </a:pPr>
            <a:r>
              <a:rPr sz="2100" b="1" i="0">
                <a:solidFill>
                  <a:srgbClr val="1F2A36"/>
                </a:solidFill>
              </a:rPr>
              <a:t>Passing </a:t>
            </a:r>
            <a:r>
              <a:rPr sz="1995" b="1" i="0">
                <a:solidFill>
                  <a:srgbClr val="8A2B52"/>
                </a:solidFill>
                <a:latin typeface="Consolas"/>
              </a:rPr>
              <a:t>props.x</a:t>
            </a:r>
            <a:r>
              <a:rPr sz="2100" b="1" i="0">
                <a:solidFill>
                  <a:srgbClr val="1F2A36"/>
                </a:solidFill>
              </a:rPr>
              <a:t> to a function</a:t>
            </a:r>
            <a:r>
              <a:rPr sz="2100" b="0" i="0">
                <a:solidFill>
                  <a:srgbClr val="1F2A36"/>
                </a:solidFill>
              </a:rPr>
              <a:t> passes the current value, not a live reference</a:t>
            </a:r>
          </a:p>
        </p:txBody>
      </p:sp>
      <p:sp>
        <p:nvSpPr>
          <p:cNvPr id="4" name="Tip"/>
          <p:cNvSpPr/>
          <p:nvPr/>
        </p:nvSpPr>
        <p:spPr>
          <a:xfrm>
            <a:off x="457200" y="4898516"/>
            <a:ext cx="8229600" cy="85344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900" b="0" i="0">
                <a:solidFill>
                  <a:srgbClr val="1F2A36"/>
                </a:solidFill>
              </a:rPr>
              <a:t>Map, Set, Date and class instances are supported, but a plain object is usually the simpler choice.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130</a:t>
            </a:fld>
            <a:endParaRPr lang="en-US" sz="900">
              <a:solidFill>
                <a:srgbClr val="9AA7B4"/>
              </a:solidFill>
            </a:endParaRPr>
          </a:p>
        </p:txBody>
      </p:sp>
    </p:spTree>
    <p:extLst>
      <p:ext uri="{BB962C8B-B14F-4D97-AF65-F5344CB8AC3E}">
        <p14:creationId xmlns:p14="http://schemas.microsoft.com/office/powerpoint/2010/main" val="15941904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Destructuring and Reactivity</a:t>
            </a:r>
          </a:p>
        </p:txBody>
      </p:sp>
      <p:sp>
        <p:nvSpPr>
          <p:cNvPr id="3" name="Code"/>
          <p:cNvSpPr/>
          <p:nvPr/>
        </p:nvSpPr>
        <p:spPr>
          <a:xfrm>
            <a:off x="457200" y="1261872"/>
            <a:ext cx="8229600" cy="18516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CF222E"/>
                </a:solidFill>
                <a:latin typeface="Consolas"/>
              </a:rPr>
              <a:t>const</a:t>
            </a:r>
            <a:r>
              <a:rPr sz="1650">
                <a:solidFill>
                  <a:srgbClr val="24292F"/>
                </a:solidFill>
                <a:latin typeface="Consolas"/>
              </a:rPr>
              <a:t> state = reactive({ count: </a:t>
            </a:r>
            <a:r>
              <a:rPr sz="1650">
                <a:solidFill>
                  <a:srgbClr val="0550AE"/>
                </a:solidFill>
                <a:latin typeface="Consolas"/>
              </a:rPr>
              <a:t>0</a:t>
            </a:r>
            <a:r>
              <a:rPr sz="1650">
                <a:solidFill>
                  <a:srgbClr val="24292F"/>
                </a:solidFill>
                <a:latin typeface="Consolas"/>
              </a:rPr>
              <a:t> })</a:t>
            </a:r>
          </a:p>
          <a:p>
            <a:pPr marL="0" indent="0" algn="l">
              <a:lnSpc>
                <a:spcPct val="100000"/>
              </a:lnSpc>
              <a:buNone/>
            </a:pPr>
            <a:r>
              <a:rPr sz="1650">
                <a:latin typeface="Consolas"/>
              </a:rPr>
              <a:t> </a:t>
            </a:r>
          </a:p>
          <a:p>
            <a:pPr marL="0" indent="0" algn="l">
              <a:lnSpc>
                <a:spcPct val="100000"/>
              </a:lnSpc>
              <a:buNone/>
            </a:pPr>
            <a:r>
              <a:rPr sz="1650">
                <a:solidFill>
                  <a:srgbClr val="CF222E"/>
                </a:solidFill>
                <a:latin typeface="Consolas"/>
              </a:rPr>
              <a:t>const</a:t>
            </a:r>
            <a:r>
              <a:rPr sz="1650">
                <a:solidFill>
                  <a:srgbClr val="24292F"/>
                </a:solidFill>
                <a:latin typeface="Consolas"/>
              </a:rPr>
              <a:t> { count } = state          </a:t>
            </a:r>
            <a:r>
              <a:rPr sz="1650" i="1">
                <a:solidFill>
                  <a:srgbClr val="6E7781"/>
                </a:solidFill>
                <a:latin typeface="Consolas"/>
              </a:rPr>
              <a:t>// a plain 0: not reactive</a:t>
            </a:r>
          </a:p>
          <a:p>
            <a:pPr marL="0" indent="0" algn="l">
              <a:lnSpc>
                <a:spcPct val="100000"/>
              </a:lnSpc>
              <a:buNone/>
            </a:pPr>
            <a:r>
              <a:rPr sz="1650">
                <a:latin typeface="Consolas"/>
              </a:rPr>
              <a:t> </a:t>
            </a:r>
          </a:p>
          <a:p>
            <a:pPr marL="0" indent="0" algn="l">
              <a:lnSpc>
                <a:spcPct val="100000"/>
              </a:lnSpc>
              <a:buNone/>
            </a:pPr>
            <a:r>
              <a:rPr sz="1650">
                <a:solidFill>
                  <a:srgbClr val="CF222E"/>
                </a:solidFill>
                <a:latin typeface="Consolas"/>
              </a:rPr>
              <a:t>const</a:t>
            </a:r>
            <a:r>
              <a:rPr sz="1650">
                <a:solidFill>
                  <a:srgbClr val="24292F"/>
                </a:solidFill>
                <a:latin typeface="Consolas"/>
              </a:rPr>
              <a:t> { count } = toRefs(state)  </a:t>
            </a:r>
            <a:r>
              <a:rPr sz="1650" i="1">
                <a:solidFill>
                  <a:srgbClr val="6E7781"/>
                </a:solidFill>
                <a:latin typeface="Consolas"/>
              </a:rPr>
              <a:t>// a ref: still live</a:t>
            </a:r>
          </a:p>
          <a:p>
            <a:pPr marL="0" indent="0" algn="l">
              <a:lnSpc>
                <a:spcPct val="100000"/>
              </a:lnSpc>
              <a:buNone/>
            </a:pPr>
            <a:r>
              <a:rPr sz="1650">
                <a:solidFill>
                  <a:srgbClr val="24292F"/>
                </a:solidFill>
                <a:latin typeface="Consolas"/>
              </a:rPr>
              <a:t>count.value++                    </a:t>
            </a:r>
            <a:r>
              <a:rPr sz="1650" i="1">
                <a:solidFill>
                  <a:srgbClr val="6E7781"/>
                </a:solidFill>
                <a:latin typeface="Consolas"/>
              </a:rPr>
              <a:t>// updates state.count too</a:t>
            </a:r>
          </a:p>
        </p:txBody>
      </p:sp>
      <p:sp>
        <p:nvSpPr>
          <p:cNvPr id="4" name="Tip"/>
          <p:cNvSpPr/>
          <p:nvPr/>
        </p:nvSpPr>
        <p:spPr>
          <a:xfrm>
            <a:off x="457200" y="3259836"/>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The same rule applies to Pinia stores, which is why you destructure them through </a:t>
            </a:r>
            <a:r>
              <a:rPr sz="1900" b="0" i="0">
                <a:solidFill>
                  <a:srgbClr val="8A2B52"/>
                </a:solidFill>
                <a:latin typeface="Consolas"/>
              </a:rPr>
              <a:t>storeToRefs()</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131</a:t>
            </a:fld>
            <a:endParaRPr lang="en-US" sz="900">
              <a:solidFill>
                <a:srgbClr val="9AA7B4"/>
              </a:solidFill>
            </a:endParaRPr>
          </a:p>
        </p:txBody>
      </p:sp>
    </p:spTree>
    <p:extLst>
      <p:ext uri="{BB962C8B-B14F-4D97-AF65-F5344CB8AC3E}">
        <p14:creationId xmlns:p14="http://schemas.microsoft.com/office/powerpoint/2010/main" val="300969156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v-bind Shorthand</a:t>
            </a:r>
          </a:p>
        </p:txBody>
      </p:sp>
      <p:sp>
        <p:nvSpPr>
          <p:cNvPr id="3" name="Code"/>
          <p:cNvSpPr/>
          <p:nvPr/>
        </p:nvSpPr>
        <p:spPr>
          <a:xfrm>
            <a:off x="457200" y="1261872"/>
            <a:ext cx="8229600" cy="37571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&lt;!-- full syntax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v-bind:href</a:t>
            </a:r>
            <a:r>
              <a:rPr sz="2000">
                <a:solidFill>
                  <a:srgbClr val="24292F"/>
                </a:solidFill>
                <a:latin typeface="Consolas"/>
              </a:rPr>
              <a:t>=</a:t>
            </a:r>
            <a:r>
              <a:rPr sz="2000">
                <a:solidFill>
                  <a:srgbClr val="0A3069"/>
                </a:solidFill>
                <a:latin typeface="Consolas"/>
              </a:rPr>
              <a:t>"url"</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shorthand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:href</a:t>
            </a:r>
            <a:r>
              <a:rPr sz="2000">
                <a:solidFill>
                  <a:srgbClr val="24292F"/>
                </a:solidFill>
                <a:latin typeface="Consolas"/>
              </a:rPr>
              <a:t>=</a:t>
            </a:r>
            <a:r>
              <a:rPr sz="2000">
                <a:solidFill>
                  <a:srgbClr val="0A3069"/>
                </a:solidFill>
                <a:latin typeface="Consolas"/>
              </a:rPr>
              <a:t>"url"</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shorthand with a dynamic argument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:[key]</a:t>
            </a:r>
            <a:r>
              <a:rPr sz="2000">
                <a:solidFill>
                  <a:srgbClr val="24292F"/>
                </a:solidFill>
                <a:latin typeface="Consolas"/>
              </a:rPr>
              <a:t>=</a:t>
            </a:r>
            <a:r>
              <a:rPr sz="2000">
                <a:solidFill>
                  <a:srgbClr val="0A3069"/>
                </a:solidFill>
                <a:latin typeface="Consolas"/>
              </a:rPr>
              <a:t>"url"</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same-name shorthand (3.4+)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href</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p:txBody>
      </p:sp>
      <p:sp>
        <p:nvSpPr>
          <p:cNvPr id="4" name="Tip"/>
          <p:cNvSpPr/>
          <p:nvPr/>
        </p:nvSpPr>
        <p:spPr>
          <a:xfrm>
            <a:off x="457200" y="5165344"/>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In real Vue code you'll almost always see </a:t>
            </a:r>
            <a:r>
              <a:rPr sz="1900" b="0" i="0">
                <a:solidFill>
                  <a:srgbClr val="8A2B52"/>
                </a:solidFill>
                <a:latin typeface="Consolas"/>
              </a:rPr>
              <a:t>:</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132</a:t>
            </a:fld>
            <a:endParaRPr lang="en-US" sz="900">
              <a:solidFill>
                <a:srgbClr val="9AA7B4"/>
              </a:solidFill>
            </a:endParaRPr>
          </a:p>
        </p:txBody>
      </p:sp>
    </p:spTree>
    <p:extLst>
      <p:ext uri="{BB962C8B-B14F-4D97-AF65-F5344CB8AC3E}">
        <p14:creationId xmlns:p14="http://schemas.microsoft.com/office/powerpoint/2010/main" val="349311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0FDC77-66C0-6A41-A1E8-DEE20F4AF1B7}"/>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Methods and State</a:t>
            </a:r>
          </a:p>
        </p:txBody>
      </p:sp>
      <p:pic>
        <p:nvPicPr>
          <p:cNvPr id="7" name="Content Placeholder 3">
            <a:extLst>
              <a:ext uri="{FF2B5EF4-FFF2-40B4-BE49-F238E27FC236}">
                <a16:creationId xmlns:a16="http://schemas.microsoft.com/office/drawing/2014/main" id="{9759B8E1-C84A-F81A-52C5-9E36ABB418C0}"/>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8" name="Chip LAB 14"/>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14</a:t>
            </a:r>
          </a:p>
        </p:txBody>
      </p:sp>
      <p:sp>
        <p:nvSpPr>
          <p:cNvPr id="9" name="Chip 4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40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Add a favorite button to each article, toggled by a function that updates a ref.</a:t>
            </a:r>
          </a:p>
        </p:txBody>
      </p:sp>
      <p:sp>
        <p:nvSpPr>
          <p:cNvPr id="11" name="Body"/>
          <p:cNvSpPr txBox="1"/>
          <p:nvPr/>
        </p:nvSpPr>
        <p:spPr>
          <a:xfrm>
            <a:off x="457200" y="2715768"/>
            <a:ext cx="4160520" cy="3481705"/>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900" b="0" i="0">
                <a:solidFill>
                  <a:srgbClr val="1F2A36"/>
                </a:solidFill>
              </a:rPr>
              <a:t>Add a </a:t>
            </a:r>
            <a:r>
              <a:rPr sz="1805" b="0" i="0">
                <a:solidFill>
                  <a:srgbClr val="8A2B52"/>
                </a:solidFill>
                <a:latin typeface="Consolas"/>
              </a:rPr>
              <a:t>favorited</a:t>
            </a:r>
            <a:r>
              <a:rPr sz="1900" b="0" i="0">
                <a:solidFill>
                  <a:srgbClr val="1F2A36"/>
                </a:solidFill>
              </a:rPr>
              <a:t> ref to ArticlePreview</a:t>
            </a:r>
          </a:p>
          <a:p>
            <a:pPr marL="274320" indent="-256032">
              <a:spcAft>
                <a:spcPts val="855"/>
              </a:spcAft>
              <a:buClr>
                <a:srgbClr val="42B883"/>
              </a:buClr>
              <a:buSzPct val="100000"/>
              <a:buFont typeface="Arial"/>
              <a:buChar char="•"/>
            </a:pPr>
            <a:r>
              <a:rPr sz="1900" b="0" i="0">
                <a:solidFill>
                  <a:srgbClr val="1F2A36"/>
                </a:solidFill>
              </a:rPr>
              <a:t>Write </a:t>
            </a:r>
            <a:r>
              <a:rPr sz="1805" b="0" i="0">
                <a:solidFill>
                  <a:srgbClr val="8A2B52"/>
                </a:solidFill>
                <a:latin typeface="Consolas"/>
              </a:rPr>
              <a:t>toggleFavorite()</a:t>
            </a:r>
            <a:r>
              <a:rPr sz="1900" b="0" i="0">
                <a:solidFill>
                  <a:srgbClr val="1F2A36"/>
                </a:solidFill>
              </a:rPr>
              <a:t> — no </a:t>
            </a:r>
            <a:r>
              <a:rPr sz="1805" b="0" i="0">
                <a:solidFill>
                  <a:srgbClr val="8A2B52"/>
                </a:solidFill>
                <a:latin typeface="Consolas"/>
              </a:rPr>
              <a:t>methods</a:t>
            </a:r>
            <a:r>
              <a:rPr sz="1900" b="0" i="0">
                <a:solidFill>
                  <a:srgbClr val="1F2A36"/>
                </a:solidFill>
              </a:rPr>
              <a:t> object needed</a:t>
            </a:r>
          </a:p>
          <a:p>
            <a:pPr marL="274320" indent="-256032">
              <a:spcAft>
                <a:spcPts val="855"/>
              </a:spcAft>
              <a:buClr>
                <a:srgbClr val="42B883"/>
              </a:buClr>
              <a:buSzPct val="100000"/>
              <a:buFont typeface="Arial"/>
              <a:buChar char="•"/>
            </a:pPr>
            <a:r>
              <a:rPr sz="1900" b="0" i="0">
                <a:solidFill>
                  <a:srgbClr val="1F2A36"/>
                </a:solidFill>
              </a:rPr>
              <a:t>Add a button with </a:t>
            </a:r>
            <a:r>
              <a:rPr sz="1805" b="0" i="0">
                <a:solidFill>
                  <a:srgbClr val="8A2B52"/>
                </a:solidFill>
                <a:latin typeface="Consolas"/>
              </a:rPr>
              <a:t>@click="toggleFavorite"</a:t>
            </a:r>
          </a:p>
          <a:p>
            <a:pPr marL="274320" indent="-256032">
              <a:spcAft>
                <a:spcPts val="855"/>
              </a:spcAft>
              <a:buClr>
                <a:srgbClr val="42B883"/>
              </a:buClr>
              <a:buSzPct val="100000"/>
              <a:buFont typeface="Arial"/>
              <a:buChar char="•"/>
            </a:pPr>
            <a:r>
              <a:rPr sz="1900" b="0" i="0">
                <a:solidFill>
                  <a:srgbClr val="1F2A36"/>
                </a:solidFill>
              </a:rPr>
              <a:t>Switch its style with </a:t>
            </a:r>
            <a:r>
              <a:rPr sz="1805" b="0" i="0">
                <a:solidFill>
                  <a:srgbClr val="8A2B52"/>
                </a:solidFill>
                <a:latin typeface="Consolas"/>
              </a:rPr>
              <a:t>:class</a:t>
            </a:r>
            <a:r>
              <a:rPr sz="1900" b="0" i="0">
                <a:solidFill>
                  <a:srgbClr val="1F2A36"/>
                </a:solidFill>
              </a:rPr>
              <a:t> (</a:t>
            </a:r>
            <a:r>
              <a:rPr sz="1805" b="0" i="0">
                <a:solidFill>
                  <a:srgbClr val="8A2B52"/>
                </a:solidFill>
                <a:latin typeface="Consolas"/>
              </a:rPr>
              <a:t>btn-primary</a:t>
            </a:r>
            <a:r>
              <a:rPr sz="1900" b="0" i="0">
                <a:solidFill>
                  <a:srgbClr val="1F2A36"/>
                </a:solidFill>
              </a:rPr>
              <a:t> / </a:t>
            </a:r>
            <a:r>
              <a:rPr sz="1805" b="0" i="0">
                <a:solidFill>
                  <a:srgbClr val="8A2B52"/>
                </a:solidFill>
                <a:latin typeface="Consolas"/>
              </a:rPr>
              <a:t>btn-outline-primary</a:t>
            </a:r>
            <a:r>
              <a:rPr sz="1900" b="0" i="0">
                <a:solidFill>
                  <a:srgbClr val="1F2A36"/>
                </a:solidFill>
              </a:rPr>
              <a:t>)</a:t>
            </a:r>
          </a:p>
          <a:p>
            <a:pPr marL="274320" indent="-256032">
              <a:spcAft>
                <a:spcPts val="855"/>
              </a:spcAft>
              <a:buClr>
                <a:srgbClr val="42B883"/>
              </a:buClr>
              <a:buSzPct val="100000"/>
              <a:buFont typeface="Arial"/>
              <a:buChar char="•"/>
            </a:pPr>
            <a:r>
              <a:rPr sz="1900" b="0" i="0">
                <a:solidFill>
                  <a:srgbClr val="1F2A36"/>
                </a:solidFill>
              </a:rPr>
              <a:t>Challenge: add a favorites count</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133</a:t>
            </a:fld>
            <a:endParaRPr lang="en-US" sz="900">
              <a:solidFill>
                <a:srgbClr val="9AA7B4"/>
              </a:solidFill>
            </a:endParaRPr>
          </a:p>
        </p:txBody>
      </p:sp>
    </p:spTree>
    <p:extLst>
      <p:ext uri="{BB962C8B-B14F-4D97-AF65-F5344CB8AC3E}">
        <p14:creationId xmlns:p14="http://schemas.microsoft.com/office/powerpoint/2010/main" val="328700972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09C1-476C-214D-AEDA-3802C78DE6D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 Handling</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a:t>
            </a:r>
            <a:r>
              <a:rPr sz="2090" b="0" i="0">
                <a:solidFill>
                  <a:srgbClr val="8A2B52"/>
                </a:solidFill>
                <a:latin typeface="Consolas"/>
              </a:rPr>
              <a:t>v-on</a:t>
            </a:r>
            <a:r>
              <a:rPr sz="2200" b="0" i="0">
                <a:solidFill>
                  <a:srgbClr val="1F2A36"/>
                </a:solidFill>
              </a:rPr>
              <a:t> directive (shorthand </a:t>
            </a:r>
            <a:r>
              <a:rPr sz="2090" b="0" i="0">
                <a:solidFill>
                  <a:srgbClr val="8A2B52"/>
                </a:solidFill>
                <a:latin typeface="Consolas"/>
              </a:rPr>
              <a:t>@</a:t>
            </a:r>
            <a:r>
              <a:rPr sz="2200" b="0" i="0">
                <a:solidFill>
                  <a:srgbClr val="1F2A36"/>
                </a:solidFill>
              </a:rPr>
              <a:t>) attaches an event listener</a:t>
            </a:r>
          </a:p>
        </p:txBody>
      </p:sp>
      <p:sp>
        <p:nvSpPr>
          <p:cNvPr id="4" name="Code"/>
          <p:cNvSpPr/>
          <p:nvPr/>
        </p:nvSpPr>
        <p:spPr>
          <a:xfrm>
            <a:off x="457200" y="2193290"/>
            <a:ext cx="8229600" cy="85953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116329"/>
                </a:solidFill>
                <a:latin typeface="Consolas"/>
              </a:rPr>
              <a:t>&lt;button</a:t>
            </a:r>
            <a:r>
              <a:rPr sz="1800">
                <a:solidFill>
                  <a:srgbClr val="24292F"/>
                </a:solidFill>
                <a:latin typeface="Consolas"/>
              </a:rPr>
              <a:t> </a:t>
            </a:r>
            <a:r>
              <a:rPr sz="1800">
                <a:solidFill>
                  <a:srgbClr val="953800"/>
                </a:solidFill>
                <a:latin typeface="Consolas"/>
              </a:rPr>
              <a:t>@click</a:t>
            </a:r>
            <a:r>
              <a:rPr sz="1800">
                <a:solidFill>
                  <a:srgbClr val="24292F"/>
                </a:solidFill>
                <a:latin typeface="Consolas"/>
              </a:rPr>
              <a:t>=</a:t>
            </a:r>
            <a:r>
              <a:rPr sz="1800">
                <a:solidFill>
                  <a:srgbClr val="0A3069"/>
                </a:solidFill>
                <a:latin typeface="Consolas"/>
              </a:rPr>
              <a:t>"counter += 1"</a:t>
            </a:r>
            <a:r>
              <a:rPr sz="1800">
                <a:solidFill>
                  <a:srgbClr val="116329"/>
                </a:solidFill>
                <a:latin typeface="Consolas"/>
              </a:rPr>
              <a:t>&gt;</a:t>
            </a:r>
            <a:r>
              <a:rPr sz="1800">
                <a:solidFill>
                  <a:srgbClr val="24292F"/>
                </a:solidFill>
                <a:latin typeface="Consolas"/>
              </a:rPr>
              <a:t>Add </a:t>
            </a:r>
            <a:r>
              <a:rPr sz="1800">
                <a:solidFill>
                  <a:srgbClr val="0550AE"/>
                </a:solidFill>
                <a:latin typeface="Consolas"/>
              </a:rPr>
              <a:t>1</a:t>
            </a:r>
            <a:r>
              <a:rPr sz="1800">
                <a:solidFill>
                  <a:srgbClr val="116329"/>
                </a:solidFill>
                <a:latin typeface="Consolas"/>
              </a:rPr>
              <a:t>&lt;/button&gt;</a:t>
            </a:r>
          </a:p>
          <a:p>
            <a:pPr marL="0" indent="0" algn="l">
              <a:lnSpc>
                <a:spcPct val="100000"/>
              </a:lnSpc>
              <a:buNone/>
            </a:pPr>
            <a:r>
              <a:rPr sz="1800">
                <a:solidFill>
                  <a:srgbClr val="116329"/>
                </a:solidFill>
                <a:latin typeface="Consolas"/>
              </a:rPr>
              <a:t>&lt;p&gt;</a:t>
            </a:r>
            <a:r>
              <a:rPr sz="1800">
                <a:solidFill>
                  <a:srgbClr val="24292F"/>
                </a:solidFill>
                <a:latin typeface="Consolas"/>
              </a:rPr>
              <a:t>The button has been clicked {{ counter }} times.</a:t>
            </a:r>
            <a:r>
              <a:rPr sz="1800">
                <a:solidFill>
                  <a:srgbClr val="116329"/>
                </a:solidFill>
                <a:latin typeface="Consolas"/>
              </a:rPr>
              <a:t>&lt;/p&gt;</a:t>
            </a:r>
          </a:p>
        </p:txBody>
      </p:sp>
      <p:sp>
        <p:nvSpPr>
          <p:cNvPr id="5" name="Code"/>
          <p:cNvSpPr/>
          <p:nvPr/>
        </p:nvSpPr>
        <p:spPr>
          <a:xfrm>
            <a:off x="457200" y="3199130"/>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import</a:t>
            </a:r>
            <a:r>
              <a:rPr sz="2000">
                <a:solidFill>
                  <a:srgbClr val="24292F"/>
                </a:solidFill>
                <a:latin typeface="Consolas"/>
              </a:rPr>
              <a:t> { ref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'vue'</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counter = ref(</a:t>
            </a:r>
            <a:r>
              <a:rPr sz="2000">
                <a:solidFill>
                  <a:srgbClr val="0550AE"/>
                </a:solidFill>
                <a:latin typeface="Consolas"/>
              </a:rPr>
              <a:t>0</a:t>
            </a:r>
            <a:r>
              <a:rPr sz="2000">
                <a:solidFill>
                  <a:srgbClr val="24292F"/>
                </a:solidFill>
                <a:latin typeface="Consolas"/>
              </a:rPr>
              <a:t>)</a:t>
            </a:r>
          </a:p>
        </p:txBody>
      </p:sp>
      <p:sp>
        <p:nvSpPr>
          <p:cNvPr id="6" name="Body"/>
          <p:cNvSpPr txBox="1"/>
          <p:nvPr/>
        </p:nvSpPr>
        <p:spPr>
          <a:xfrm>
            <a:off x="457200" y="458292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 removes the listener for you when the element is destroyed</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134</a:t>
            </a:fld>
            <a:endParaRPr lang="en-US" sz="900">
              <a:solidFill>
                <a:srgbClr val="9AA7B4"/>
              </a:solidFill>
            </a:endParaRPr>
          </a:p>
        </p:txBody>
      </p:sp>
    </p:spTree>
    <p:extLst>
      <p:ext uri="{BB962C8B-B14F-4D97-AF65-F5344CB8AC3E}">
        <p14:creationId xmlns:p14="http://schemas.microsoft.com/office/powerpoint/2010/main" val="19573675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B328-B254-7A44-8A5D-A9E1DF73086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Inline Event Handling</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Use small bits of JavaScript directly in the value of </a:t>
            </a:r>
            <a:r>
              <a:rPr sz="2090" b="0" i="0">
                <a:solidFill>
                  <a:srgbClr val="8A2B52"/>
                </a:solidFill>
                <a:latin typeface="Consolas"/>
              </a:rPr>
              <a:t>v-on</a:t>
            </a:r>
            <a:r>
              <a:rPr sz="2200" b="0" i="0">
                <a:solidFill>
                  <a:srgbClr val="1F2A36"/>
                </a:solidFill>
              </a:rPr>
              <a:t>.</a:t>
            </a:r>
          </a:p>
        </p:txBody>
      </p:sp>
      <p:sp>
        <p:nvSpPr>
          <p:cNvPr id="4" name="Code"/>
          <p:cNvSpPr/>
          <p:nvPr/>
        </p:nvSpPr>
        <p:spPr>
          <a:xfrm>
            <a:off x="457200" y="2193290"/>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116329"/>
                </a:solidFill>
                <a:latin typeface="Consolas"/>
              </a:rPr>
              <a:t>&lt;button</a:t>
            </a:r>
            <a:r>
              <a:rPr sz="1500">
                <a:solidFill>
                  <a:srgbClr val="24292F"/>
                </a:solidFill>
                <a:latin typeface="Consolas"/>
              </a:rPr>
              <a:t> </a:t>
            </a:r>
            <a:r>
              <a:rPr sz="1500">
                <a:solidFill>
                  <a:srgbClr val="953800"/>
                </a:solidFill>
                <a:latin typeface="Consolas"/>
              </a:rPr>
              <a:t>@click</a:t>
            </a:r>
            <a:r>
              <a:rPr sz="1500">
                <a:solidFill>
                  <a:srgbClr val="24292F"/>
                </a:solidFill>
                <a:latin typeface="Consolas"/>
              </a:rPr>
              <a:t>=</a:t>
            </a:r>
            <a:r>
              <a:rPr sz="1500">
                <a:solidFill>
                  <a:srgbClr val="0A3069"/>
                </a:solidFill>
                <a:latin typeface="Consolas"/>
              </a:rPr>
              <a:t>"count++"</a:t>
            </a:r>
            <a:r>
              <a:rPr sz="1500">
                <a:solidFill>
                  <a:srgbClr val="116329"/>
                </a:solidFill>
                <a:latin typeface="Consolas"/>
              </a:rPr>
              <a:t>&gt;</a:t>
            </a:r>
            <a:r>
              <a:rPr sz="1500">
                <a:solidFill>
                  <a:srgbClr val="24292F"/>
                </a:solidFill>
                <a:latin typeface="Consolas"/>
              </a:rPr>
              <a:t>Add </a:t>
            </a:r>
            <a:r>
              <a:rPr sz="1500">
                <a:solidFill>
                  <a:srgbClr val="0550AE"/>
                </a:solidFill>
                <a:latin typeface="Consolas"/>
              </a:rPr>
              <a:t>1</a:t>
            </a:r>
            <a:r>
              <a:rPr sz="1500">
                <a:solidFill>
                  <a:srgbClr val="116329"/>
                </a:solidFill>
                <a:latin typeface="Consolas"/>
              </a:rPr>
              <a:t>&lt;/button&gt;</a:t>
            </a:r>
          </a:p>
          <a:p>
            <a:pPr marL="0" indent="0" algn="l">
              <a:lnSpc>
                <a:spcPct val="100000"/>
              </a:lnSpc>
              <a:buNone/>
            </a:pPr>
            <a:r>
              <a:rPr sz="1500">
                <a:solidFill>
                  <a:srgbClr val="116329"/>
                </a:solidFill>
                <a:latin typeface="Consolas"/>
              </a:rPr>
              <a:t>&lt;button</a:t>
            </a:r>
            <a:r>
              <a:rPr sz="1500">
                <a:solidFill>
                  <a:srgbClr val="24292F"/>
                </a:solidFill>
                <a:latin typeface="Consolas"/>
              </a:rPr>
              <a:t> </a:t>
            </a:r>
            <a:r>
              <a:rPr sz="1500">
                <a:solidFill>
                  <a:srgbClr val="953800"/>
                </a:solidFill>
                <a:latin typeface="Consolas"/>
              </a:rPr>
              <a:t>@click</a:t>
            </a:r>
            <a:r>
              <a:rPr sz="1500">
                <a:solidFill>
                  <a:srgbClr val="24292F"/>
                </a:solidFill>
                <a:latin typeface="Consolas"/>
              </a:rPr>
              <a:t>=</a:t>
            </a:r>
            <a:r>
              <a:rPr sz="1500">
                <a:solidFill>
                  <a:srgbClr val="0A3069"/>
                </a:solidFill>
                <a:latin typeface="Consolas"/>
              </a:rPr>
              <a:t>"say('hi')"</a:t>
            </a:r>
            <a:r>
              <a:rPr sz="1500">
                <a:solidFill>
                  <a:srgbClr val="116329"/>
                </a:solidFill>
                <a:latin typeface="Consolas"/>
              </a:rPr>
              <a:t>&gt;</a:t>
            </a:r>
            <a:r>
              <a:rPr sz="1500">
                <a:solidFill>
                  <a:srgbClr val="24292F"/>
                </a:solidFill>
                <a:latin typeface="Consolas"/>
              </a:rPr>
              <a:t>Say hi</a:t>
            </a:r>
            <a:r>
              <a:rPr sz="1500">
                <a:solidFill>
                  <a:srgbClr val="116329"/>
                </a:solidFill>
                <a:latin typeface="Consolas"/>
              </a:rPr>
              <a:t>&lt;/button&gt;</a:t>
            </a:r>
          </a:p>
          <a:p>
            <a:pPr marL="0" indent="0" algn="l">
              <a:lnSpc>
                <a:spcPct val="100000"/>
              </a:lnSpc>
              <a:buNone/>
            </a:pPr>
            <a:r>
              <a:rPr sz="1500">
                <a:latin typeface="Consolas"/>
              </a:rPr>
              <a:t> </a:t>
            </a:r>
          </a:p>
          <a:p>
            <a:pPr marL="0" indent="0" algn="l">
              <a:lnSpc>
                <a:spcPct val="100000"/>
              </a:lnSpc>
              <a:buNone/>
            </a:pPr>
            <a:r>
              <a:rPr sz="1500" i="1">
                <a:solidFill>
                  <a:srgbClr val="6E7781"/>
                </a:solidFill>
                <a:latin typeface="Consolas"/>
              </a:rPr>
              <a:t>&lt;!-- pass the native event with $event --&gt;</a:t>
            </a:r>
          </a:p>
          <a:p>
            <a:pPr marL="0" indent="0" algn="l">
              <a:lnSpc>
                <a:spcPct val="100000"/>
              </a:lnSpc>
              <a:buNone/>
            </a:pPr>
            <a:r>
              <a:rPr sz="1500">
                <a:solidFill>
                  <a:srgbClr val="116329"/>
                </a:solidFill>
                <a:latin typeface="Consolas"/>
              </a:rPr>
              <a:t>&lt;button</a:t>
            </a:r>
            <a:r>
              <a:rPr sz="1500">
                <a:solidFill>
                  <a:srgbClr val="24292F"/>
                </a:solidFill>
                <a:latin typeface="Consolas"/>
              </a:rPr>
              <a:t> </a:t>
            </a:r>
            <a:r>
              <a:rPr sz="1500">
                <a:solidFill>
                  <a:srgbClr val="953800"/>
                </a:solidFill>
                <a:latin typeface="Consolas"/>
              </a:rPr>
              <a:t>@click</a:t>
            </a:r>
            <a:r>
              <a:rPr sz="1500">
                <a:solidFill>
                  <a:srgbClr val="24292F"/>
                </a:solidFill>
                <a:latin typeface="Consolas"/>
              </a:rPr>
              <a:t>=</a:t>
            </a:r>
            <a:r>
              <a:rPr sz="1500">
                <a:solidFill>
                  <a:srgbClr val="0A3069"/>
                </a:solidFill>
                <a:latin typeface="Consolas"/>
              </a:rPr>
              <a:t>"warn('Not yet', $event)"</a:t>
            </a:r>
            <a:r>
              <a:rPr sz="1500">
                <a:solidFill>
                  <a:srgbClr val="116329"/>
                </a:solidFill>
                <a:latin typeface="Consolas"/>
              </a:rPr>
              <a:t>&gt;</a:t>
            </a:r>
            <a:r>
              <a:rPr sz="1500">
                <a:solidFill>
                  <a:srgbClr val="24292F"/>
                </a:solidFill>
                <a:latin typeface="Consolas"/>
              </a:rPr>
              <a:t>Submit</a:t>
            </a:r>
            <a:r>
              <a:rPr sz="1500">
                <a:solidFill>
                  <a:srgbClr val="116329"/>
                </a:solidFill>
                <a:latin typeface="Consolas"/>
              </a:rPr>
              <a:t>&lt;/button&gt;</a:t>
            </a:r>
          </a:p>
          <a:p>
            <a:pPr marL="0" indent="0" algn="l">
              <a:lnSpc>
                <a:spcPct val="100000"/>
              </a:lnSpc>
              <a:buNone/>
            </a:pPr>
            <a:r>
              <a:rPr sz="1500">
                <a:latin typeface="Consolas"/>
              </a:rPr>
              <a:t> </a:t>
            </a:r>
          </a:p>
          <a:p>
            <a:pPr marL="0" indent="0" algn="l">
              <a:lnSpc>
                <a:spcPct val="100000"/>
              </a:lnSpc>
              <a:buNone/>
            </a:pPr>
            <a:r>
              <a:rPr sz="1500" i="1">
                <a:solidFill>
                  <a:srgbClr val="6E7781"/>
                </a:solidFill>
                <a:latin typeface="Consolas"/>
              </a:rPr>
              <a:t>&lt;!-- or use an inline arrow function --&gt;</a:t>
            </a:r>
          </a:p>
          <a:p>
            <a:pPr marL="0" indent="0" algn="l">
              <a:lnSpc>
                <a:spcPct val="100000"/>
              </a:lnSpc>
              <a:buNone/>
            </a:pPr>
            <a:r>
              <a:rPr sz="1500">
                <a:solidFill>
                  <a:srgbClr val="116329"/>
                </a:solidFill>
                <a:latin typeface="Consolas"/>
              </a:rPr>
              <a:t>&lt;button</a:t>
            </a:r>
            <a:r>
              <a:rPr sz="1500">
                <a:solidFill>
                  <a:srgbClr val="24292F"/>
                </a:solidFill>
                <a:latin typeface="Consolas"/>
              </a:rPr>
              <a:t> </a:t>
            </a:r>
            <a:r>
              <a:rPr sz="1500">
                <a:solidFill>
                  <a:srgbClr val="953800"/>
                </a:solidFill>
                <a:latin typeface="Consolas"/>
              </a:rPr>
              <a:t>@click</a:t>
            </a:r>
            <a:r>
              <a:rPr sz="1500">
                <a:solidFill>
                  <a:srgbClr val="24292F"/>
                </a:solidFill>
                <a:latin typeface="Consolas"/>
              </a:rPr>
              <a:t>=</a:t>
            </a:r>
            <a:r>
              <a:rPr sz="1500">
                <a:solidFill>
                  <a:srgbClr val="0A3069"/>
                </a:solidFill>
                <a:latin typeface="Consolas"/>
              </a:rPr>
              <a:t>"(event) =&gt; warn('Not yet', event)"</a:t>
            </a:r>
            <a:r>
              <a:rPr sz="1500">
                <a:solidFill>
                  <a:srgbClr val="116329"/>
                </a:solidFill>
                <a:latin typeface="Consolas"/>
              </a:rPr>
              <a:t>&gt;</a:t>
            </a:r>
            <a:r>
              <a:rPr sz="1500">
                <a:solidFill>
                  <a:srgbClr val="24292F"/>
                </a:solidFill>
                <a:latin typeface="Consolas"/>
              </a:rPr>
              <a:t>Submit</a:t>
            </a:r>
            <a:r>
              <a:rPr sz="1500">
                <a:solidFill>
                  <a:srgbClr val="116329"/>
                </a:solidFill>
                <a:latin typeface="Consolas"/>
              </a:rPr>
              <a:t>&lt;/button&gt;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135</a:t>
            </a:fld>
            <a:endParaRPr lang="en-US" sz="900">
              <a:solidFill>
                <a:srgbClr val="9AA7B4"/>
              </a:solidFill>
            </a:endParaRPr>
          </a:p>
        </p:txBody>
      </p:sp>
    </p:spTree>
    <p:extLst>
      <p:ext uri="{BB962C8B-B14F-4D97-AF65-F5344CB8AC3E}">
        <p14:creationId xmlns:p14="http://schemas.microsoft.com/office/powerpoint/2010/main" val="17178047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8435-A15B-AD41-8BFD-80A860F947C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 Handling with Methods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Declare a function in </a:t>
            </a:r>
            <a:r>
              <a:rPr sz="2090" b="0" i="0">
                <a:solidFill>
                  <a:srgbClr val="8A2B52"/>
                </a:solidFill>
                <a:latin typeface="Consolas"/>
              </a:rPr>
              <a:t>&lt;script setup&gt;</a:t>
            </a:r>
            <a:r>
              <a:rPr sz="2200" b="0" i="0">
                <a:solidFill>
                  <a:srgbClr val="1F2A36"/>
                </a:solidFill>
              </a:rPr>
              <a:t> and use it with </a:t>
            </a:r>
            <a:r>
              <a:rPr sz="2090" b="0" i="0">
                <a:solidFill>
                  <a:srgbClr val="8A2B52"/>
                </a:solidFill>
                <a:latin typeface="Consolas"/>
              </a:rPr>
              <a:t>v-on</a:t>
            </a:r>
            <a:r>
              <a:rPr sz="2200" b="0" i="0">
                <a:solidFill>
                  <a:srgbClr val="1F2A36"/>
                </a:solidFill>
              </a:rPr>
              <a:t>.</a:t>
            </a:r>
          </a:p>
        </p:txBody>
      </p:sp>
      <p:sp>
        <p:nvSpPr>
          <p:cNvPr id="4" name="Code"/>
          <p:cNvSpPr/>
          <p:nvPr/>
        </p:nvSpPr>
        <p:spPr>
          <a:xfrm>
            <a:off x="457200" y="2193290"/>
            <a:ext cx="8229600" cy="230835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name = ref(</a:t>
            </a:r>
            <a:r>
              <a:rPr sz="1600">
                <a:solidFill>
                  <a:srgbClr val="0A3069"/>
                </a:solidFill>
                <a:latin typeface="Consolas"/>
              </a:rPr>
              <a:t>'Vue.js'</a:t>
            </a: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function</a:t>
            </a:r>
            <a:r>
              <a:rPr sz="1600">
                <a:solidFill>
                  <a:srgbClr val="24292F"/>
                </a:solidFill>
                <a:latin typeface="Consolas"/>
              </a:rPr>
              <a:t> greet(event) {</a:t>
            </a:r>
          </a:p>
          <a:p>
            <a:pPr marL="0" indent="0" algn="l">
              <a:lnSpc>
                <a:spcPct val="100000"/>
              </a:lnSpc>
              <a:buNone/>
            </a:pPr>
            <a:r>
              <a:rPr sz="1600">
                <a:solidFill>
                  <a:srgbClr val="24292F"/>
                </a:solidFill>
                <a:latin typeface="Consolas"/>
              </a:rPr>
              <a:t>  alert(</a:t>
            </a:r>
            <a:r>
              <a:rPr sz="1600">
                <a:solidFill>
                  <a:srgbClr val="0A3069"/>
                </a:solidFill>
                <a:latin typeface="Consolas"/>
              </a:rPr>
              <a:t>`Hello ${name.value}!`</a:t>
            </a:r>
            <a:r>
              <a:rPr sz="1600">
                <a:solidFill>
                  <a:srgbClr val="24292F"/>
                </a:solidFill>
                <a:latin typeface="Consolas"/>
              </a:rPr>
              <a:t>)</a:t>
            </a:r>
          </a:p>
          <a:p>
            <a:pPr marL="0" indent="0" algn="l">
              <a:lnSpc>
                <a:spcPct val="100000"/>
              </a:lnSpc>
              <a:buNone/>
            </a:pPr>
            <a:r>
              <a:rPr sz="1600">
                <a:solidFill>
                  <a:srgbClr val="24292F"/>
                </a:solidFill>
                <a:latin typeface="Consolas"/>
              </a:rPr>
              <a:t>  </a:t>
            </a:r>
            <a:r>
              <a:rPr sz="1600">
                <a:solidFill>
                  <a:srgbClr val="CF222E"/>
                </a:solidFill>
                <a:latin typeface="Consolas"/>
              </a:rPr>
              <a:t>if</a:t>
            </a:r>
            <a:r>
              <a:rPr sz="1600">
                <a:solidFill>
                  <a:srgbClr val="24292F"/>
                </a:solidFill>
                <a:latin typeface="Consolas"/>
              </a:rPr>
              <a:t> (event) {</a:t>
            </a:r>
          </a:p>
          <a:p>
            <a:pPr marL="0" indent="0" algn="l">
              <a:lnSpc>
                <a:spcPct val="100000"/>
              </a:lnSpc>
              <a:buNone/>
            </a:pPr>
            <a:r>
              <a:rPr sz="1600">
                <a:solidFill>
                  <a:srgbClr val="24292F"/>
                </a:solidFill>
                <a:latin typeface="Consolas"/>
              </a:rPr>
              <a:t>    alert(event.target.tagName)</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p:txBody>
      </p:sp>
      <p:sp>
        <p:nvSpPr>
          <p:cNvPr id="5" name="Code"/>
          <p:cNvSpPr/>
          <p:nvPr/>
        </p:nvSpPr>
        <p:spPr>
          <a:xfrm>
            <a:off x="457200" y="4647946"/>
            <a:ext cx="8229600" cy="5445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&lt;button</a:t>
            </a:r>
            <a:r>
              <a:rPr sz="1600">
                <a:solidFill>
                  <a:srgbClr val="24292F"/>
                </a:solidFill>
                <a:latin typeface="Consolas"/>
              </a:rPr>
              <a:t> </a:t>
            </a:r>
            <a:r>
              <a:rPr sz="1600">
                <a:solidFill>
                  <a:srgbClr val="953800"/>
                </a:solidFill>
                <a:latin typeface="Consolas"/>
              </a:rPr>
              <a:t>@click</a:t>
            </a:r>
            <a:r>
              <a:rPr sz="1600">
                <a:solidFill>
                  <a:srgbClr val="24292F"/>
                </a:solidFill>
                <a:latin typeface="Consolas"/>
              </a:rPr>
              <a:t>=</a:t>
            </a:r>
            <a:r>
              <a:rPr sz="1600">
                <a:solidFill>
                  <a:srgbClr val="0A3069"/>
                </a:solidFill>
                <a:latin typeface="Consolas"/>
              </a:rPr>
              <a:t>"greet"</a:t>
            </a:r>
            <a:r>
              <a:rPr sz="1600">
                <a:solidFill>
                  <a:srgbClr val="116329"/>
                </a:solidFill>
                <a:latin typeface="Consolas"/>
              </a:rPr>
              <a:t>&gt;</a:t>
            </a:r>
            <a:r>
              <a:rPr sz="1600">
                <a:solidFill>
                  <a:srgbClr val="24292F"/>
                </a:solidFill>
                <a:latin typeface="Consolas"/>
              </a:rPr>
              <a:t>Greet</a:t>
            </a:r>
            <a:r>
              <a:rPr sz="1600">
                <a:solidFill>
                  <a:srgbClr val="116329"/>
                </a:solidFill>
                <a:latin typeface="Consolas"/>
              </a:rPr>
              <a:t>&lt;/button&gt;</a:t>
            </a:r>
          </a:p>
        </p:txBody>
      </p:sp>
      <p:sp>
        <p:nvSpPr>
          <p:cNvPr id="6" name="Body"/>
          <p:cNvSpPr txBox="1"/>
          <p:nvPr/>
        </p:nvSpPr>
        <p:spPr>
          <a:xfrm>
            <a:off x="457200" y="5338826"/>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When you pass the function by name, Vue calls it with the native event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136</a:t>
            </a:fld>
            <a:endParaRPr lang="en-US" sz="900">
              <a:solidFill>
                <a:srgbClr val="9AA7B4"/>
              </a:solidFill>
            </a:endParaRPr>
          </a:p>
        </p:txBody>
      </p:sp>
    </p:spTree>
    <p:extLst>
      <p:ext uri="{BB962C8B-B14F-4D97-AF65-F5344CB8AC3E}">
        <p14:creationId xmlns:p14="http://schemas.microsoft.com/office/powerpoint/2010/main" val="65484785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5030-6672-DA4B-99F2-0500E96EC30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Event Modifiers</a:t>
            </a:r>
          </a:p>
        </p:txBody>
      </p:sp>
      <p:sp>
        <p:nvSpPr>
          <p:cNvPr id="3" name="Body"/>
          <p:cNvSpPr txBox="1"/>
          <p:nvPr/>
        </p:nvSpPr>
        <p:spPr>
          <a:xfrm>
            <a:off x="457200" y="1261872"/>
            <a:ext cx="8229600" cy="3938777"/>
          </a:xfrm>
          <a:prstGeom prst="rect">
            <a:avLst/>
          </a:prstGeom>
          <a:noFill/>
        </p:spPr>
        <p:txBody>
          <a:bodyPr wrap="square" lIns="0" tIns="0" rIns="0" bIns="0">
            <a:noAutofit/>
          </a:bodyPr>
          <a:lstStyle/>
          <a:p>
            <a:pPr marL="0" indent="0">
              <a:spcAft>
                <a:spcPts val="990"/>
              </a:spcAft>
              <a:buNone/>
            </a:pPr>
            <a:r>
              <a:rPr sz="2090" b="0" i="0">
                <a:solidFill>
                  <a:srgbClr val="8A2B52"/>
                </a:solidFill>
                <a:latin typeface="Consolas"/>
              </a:rPr>
              <a:t>v-on</a:t>
            </a:r>
            <a:r>
              <a:rPr sz="2200" b="0" i="0">
                <a:solidFill>
                  <a:srgbClr val="1F2A36"/>
                </a:solidFill>
              </a:rPr>
              <a:t> modifiers handle common DOM event details for you:</a:t>
            </a:r>
          </a:p>
          <a:p>
            <a:pPr marL="274320" indent="-256032">
              <a:spcAft>
                <a:spcPts val="990"/>
              </a:spcAft>
              <a:buClr>
                <a:srgbClr val="42B883"/>
              </a:buClr>
              <a:buSzPct val="100000"/>
              <a:buFont typeface="Arial"/>
              <a:buChar char="•"/>
            </a:pPr>
            <a:r>
              <a:rPr sz="2090" b="0" i="0">
                <a:solidFill>
                  <a:srgbClr val="8A2B52"/>
                </a:solidFill>
                <a:latin typeface="Consolas"/>
              </a:rPr>
              <a:t>.stop</a:t>
            </a:r>
            <a:r>
              <a:rPr sz="2200" b="0" i="0">
                <a:solidFill>
                  <a:srgbClr val="1F2A36"/>
                </a:solidFill>
              </a:rPr>
              <a:t> — </a:t>
            </a:r>
            <a:r>
              <a:rPr sz="2090" b="0" i="0">
                <a:solidFill>
                  <a:srgbClr val="8A2B52"/>
                </a:solidFill>
                <a:latin typeface="Consolas"/>
              </a:rPr>
              <a:t>event.stopPropagation()</a:t>
            </a:r>
          </a:p>
          <a:p>
            <a:pPr marL="274320" indent="-256032">
              <a:spcAft>
                <a:spcPts val="990"/>
              </a:spcAft>
              <a:buClr>
                <a:srgbClr val="42B883"/>
              </a:buClr>
              <a:buSzPct val="100000"/>
              <a:buFont typeface="Arial"/>
              <a:buChar char="•"/>
            </a:pPr>
            <a:r>
              <a:rPr sz="2090" b="0" i="0">
                <a:solidFill>
                  <a:srgbClr val="8A2B52"/>
                </a:solidFill>
                <a:latin typeface="Consolas"/>
              </a:rPr>
              <a:t>.prevent</a:t>
            </a:r>
            <a:r>
              <a:rPr sz="2200" b="0" i="0">
                <a:solidFill>
                  <a:srgbClr val="1F2A36"/>
                </a:solidFill>
              </a:rPr>
              <a:t> — </a:t>
            </a:r>
            <a:r>
              <a:rPr sz="2090" b="0" i="0">
                <a:solidFill>
                  <a:srgbClr val="8A2B52"/>
                </a:solidFill>
                <a:latin typeface="Consolas"/>
              </a:rPr>
              <a:t>event.preventDefault()</a:t>
            </a:r>
          </a:p>
          <a:p>
            <a:pPr marL="274320" indent="-256032">
              <a:spcAft>
                <a:spcPts val="990"/>
              </a:spcAft>
              <a:buClr>
                <a:srgbClr val="42B883"/>
              </a:buClr>
              <a:buSzPct val="100000"/>
              <a:buFont typeface="Arial"/>
              <a:buChar char="•"/>
            </a:pPr>
            <a:r>
              <a:rPr sz="2090" b="0" i="0">
                <a:solidFill>
                  <a:srgbClr val="8A2B52"/>
                </a:solidFill>
                <a:latin typeface="Consolas"/>
              </a:rPr>
              <a:t>.self</a:t>
            </a:r>
            <a:r>
              <a:rPr sz="2200" b="0" i="0">
                <a:solidFill>
                  <a:srgbClr val="1F2A36"/>
                </a:solidFill>
              </a:rPr>
              <a:t> — only if </a:t>
            </a:r>
            <a:r>
              <a:rPr sz="2090" b="0" i="0">
                <a:solidFill>
                  <a:srgbClr val="8A2B52"/>
                </a:solidFill>
                <a:latin typeface="Consolas"/>
              </a:rPr>
              <a:t>event.target</a:t>
            </a:r>
            <a:r>
              <a:rPr sz="2200" b="0" i="0">
                <a:solidFill>
                  <a:srgbClr val="1F2A36"/>
                </a:solidFill>
              </a:rPr>
              <a:t> is the element itself</a:t>
            </a:r>
          </a:p>
          <a:p>
            <a:pPr marL="274320" indent="-256032">
              <a:spcAft>
                <a:spcPts val="990"/>
              </a:spcAft>
              <a:buClr>
                <a:srgbClr val="42B883"/>
              </a:buClr>
              <a:buSzPct val="100000"/>
              <a:buFont typeface="Arial"/>
              <a:buChar char="•"/>
            </a:pPr>
            <a:r>
              <a:rPr sz="2090" b="0" i="0">
                <a:solidFill>
                  <a:srgbClr val="8A2B52"/>
                </a:solidFill>
                <a:latin typeface="Consolas"/>
              </a:rPr>
              <a:t>.capture</a:t>
            </a:r>
            <a:r>
              <a:rPr sz="2200" b="0" i="0">
                <a:solidFill>
                  <a:srgbClr val="1F2A36"/>
                </a:solidFill>
              </a:rPr>
              <a:t> — listen in the capture phase (outer handlers run first)</a:t>
            </a:r>
          </a:p>
          <a:p>
            <a:pPr marL="274320" indent="-256032">
              <a:spcAft>
                <a:spcPts val="990"/>
              </a:spcAft>
              <a:buClr>
                <a:srgbClr val="42B883"/>
              </a:buClr>
              <a:buSzPct val="100000"/>
              <a:buFont typeface="Arial"/>
              <a:buChar char="•"/>
            </a:pPr>
            <a:r>
              <a:rPr sz="2090" b="0" i="0">
                <a:solidFill>
                  <a:srgbClr val="8A2B52"/>
                </a:solidFill>
                <a:latin typeface="Consolas"/>
              </a:rPr>
              <a:t>.once</a:t>
            </a:r>
            <a:r>
              <a:rPr sz="2200" b="0" i="0">
                <a:solidFill>
                  <a:srgbClr val="1F2A36"/>
                </a:solidFill>
              </a:rPr>
              <a:t> — run the handler at most once</a:t>
            </a:r>
          </a:p>
          <a:p>
            <a:pPr marL="274320" indent="-256032">
              <a:spcAft>
                <a:spcPts val="990"/>
              </a:spcAft>
              <a:buClr>
                <a:srgbClr val="42B883"/>
              </a:buClr>
              <a:buSzPct val="100000"/>
              <a:buFont typeface="Arial"/>
              <a:buChar char="•"/>
            </a:pPr>
            <a:r>
              <a:rPr sz="2090" b="0" i="0">
                <a:solidFill>
                  <a:srgbClr val="8A2B52"/>
                </a:solidFill>
                <a:latin typeface="Consolas"/>
              </a:rPr>
              <a:t>.passive</a:t>
            </a:r>
            <a:r>
              <a:rPr sz="2200" b="0" i="0">
                <a:solidFill>
                  <a:srgbClr val="1F2A36"/>
                </a:solidFill>
              </a:rPr>
              <a:t> — tell the browser you won't call </a:t>
            </a:r>
            <a:r>
              <a:rPr sz="2090" b="0" i="0">
                <a:solidFill>
                  <a:srgbClr val="8A2B52"/>
                </a:solidFill>
                <a:latin typeface="Consolas"/>
              </a:rPr>
              <a:t>preventDefault()</a:t>
            </a:r>
            <a:r>
              <a:rPr sz="2200" b="0" i="0">
                <a:solidFill>
                  <a:srgbClr val="1F2A36"/>
                </a:solidFill>
              </a:rPr>
              <a:t> (smoother scrolling)</a:t>
            </a:r>
          </a:p>
        </p:txBody>
      </p:sp>
      <p:sp>
        <p:nvSpPr>
          <p:cNvPr id="4" name="Code"/>
          <p:cNvSpPr/>
          <p:nvPr/>
        </p:nvSpPr>
        <p:spPr>
          <a:xfrm>
            <a:off x="457200" y="5255514"/>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&lt;form</a:t>
            </a:r>
            <a:r>
              <a:rPr sz="2000">
                <a:solidFill>
                  <a:srgbClr val="24292F"/>
                </a:solidFill>
                <a:latin typeface="Consolas"/>
              </a:rPr>
              <a:t> </a:t>
            </a:r>
            <a:r>
              <a:rPr sz="2000">
                <a:solidFill>
                  <a:srgbClr val="953800"/>
                </a:solidFill>
                <a:latin typeface="Consolas"/>
              </a:rPr>
              <a:t>@submit.prevent</a:t>
            </a:r>
            <a:r>
              <a:rPr sz="2000">
                <a:solidFill>
                  <a:srgbClr val="24292F"/>
                </a:solidFill>
                <a:latin typeface="Consolas"/>
              </a:rPr>
              <a:t>=</a:t>
            </a:r>
            <a:r>
              <a:rPr sz="2000">
                <a:solidFill>
                  <a:srgbClr val="0A3069"/>
                </a:solidFill>
                <a:latin typeface="Consolas"/>
              </a:rPr>
              <a:t>"onSubmit"</a:t>
            </a:r>
            <a:r>
              <a:rPr sz="2000">
                <a:solidFill>
                  <a:srgbClr val="116329"/>
                </a:solidFill>
                <a:latin typeface="Consolas"/>
              </a:rPr>
              <a:t>&gt;</a:t>
            </a:r>
            <a:r>
              <a:rPr sz="2000">
                <a:solidFill>
                  <a:srgbClr val="24292F"/>
                </a:solidFill>
                <a:latin typeface="Consolas"/>
              </a:rPr>
              <a:t>…</a:t>
            </a:r>
            <a:r>
              <a:rPr sz="2000">
                <a:solidFill>
                  <a:srgbClr val="116329"/>
                </a:solidFill>
                <a:latin typeface="Consolas"/>
              </a:rPr>
              <a:t>&lt;/form&gt;</a:t>
            </a:r>
          </a:p>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@keyup.enter</a:t>
            </a:r>
            <a:r>
              <a:rPr sz="2000">
                <a:solidFill>
                  <a:srgbClr val="24292F"/>
                </a:solidFill>
                <a:latin typeface="Consolas"/>
              </a:rPr>
              <a:t>=</a:t>
            </a:r>
            <a:r>
              <a:rPr sz="2000">
                <a:solidFill>
                  <a:srgbClr val="0A3069"/>
                </a:solidFill>
                <a:latin typeface="Consolas"/>
              </a:rPr>
              <a:t>"search"</a:t>
            </a:r>
            <a:r>
              <a:rPr sz="2000">
                <a:solidFill>
                  <a:srgbClr val="116329"/>
                </a:solidFill>
                <a:latin typeface="Consolas"/>
              </a:rPr>
              <a:t>&gt;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137</a:t>
            </a:fld>
            <a:endParaRPr lang="en-US" sz="900">
              <a:solidFill>
                <a:srgbClr val="9AA7B4"/>
              </a:solidFill>
            </a:endParaRPr>
          </a:p>
        </p:txBody>
      </p:sp>
    </p:spTree>
    <p:extLst>
      <p:ext uri="{BB962C8B-B14F-4D97-AF65-F5344CB8AC3E}">
        <p14:creationId xmlns:p14="http://schemas.microsoft.com/office/powerpoint/2010/main" val="93899683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v-on Shorthand</a:t>
            </a:r>
          </a:p>
        </p:txBody>
      </p:sp>
      <p:sp>
        <p:nvSpPr>
          <p:cNvPr id="3" name="Code"/>
          <p:cNvSpPr/>
          <p:nvPr/>
        </p:nvSpPr>
        <p:spPr>
          <a:xfrm>
            <a:off x="457200" y="1261872"/>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&lt;!-- full syntax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v-on:click</a:t>
            </a:r>
            <a:r>
              <a:rPr sz="2000">
                <a:solidFill>
                  <a:srgbClr val="24292F"/>
                </a:solidFill>
                <a:latin typeface="Consolas"/>
              </a:rPr>
              <a:t>=</a:t>
            </a:r>
            <a:r>
              <a:rPr sz="2000">
                <a:solidFill>
                  <a:srgbClr val="0A3069"/>
                </a:solidFill>
                <a:latin typeface="Consolas"/>
              </a:rPr>
              <a:t>"doSomething"</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shorthand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@click</a:t>
            </a:r>
            <a:r>
              <a:rPr sz="2000">
                <a:solidFill>
                  <a:srgbClr val="24292F"/>
                </a:solidFill>
                <a:latin typeface="Consolas"/>
              </a:rPr>
              <a:t>=</a:t>
            </a:r>
            <a:r>
              <a:rPr sz="2000">
                <a:solidFill>
                  <a:srgbClr val="0A3069"/>
                </a:solidFill>
                <a:latin typeface="Consolas"/>
              </a:rPr>
              <a:t>"doSomething"</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a:p>
            <a:pPr marL="0" indent="0" algn="l">
              <a:lnSpc>
                <a:spcPct val="100000"/>
              </a:lnSpc>
              <a:buNone/>
            </a:pPr>
            <a:r>
              <a:rPr sz="2000">
                <a:latin typeface="Consolas"/>
              </a:rPr>
              <a:t> </a:t>
            </a:r>
          </a:p>
          <a:p>
            <a:pPr marL="0" indent="0" algn="l">
              <a:lnSpc>
                <a:spcPct val="100000"/>
              </a:lnSpc>
              <a:buNone/>
            </a:pPr>
            <a:r>
              <a:rPr sz="2000" i="1">
                <a:solidFill>
                  <a:srgbClr val="6E7781"/>
                </a:solidFill>
                <a:latin typeface="Consolas"/>
              </a:rPr>
              <a:t>&lt;!-- shorthand with a dynamic event name --&gt;</a:t>
            </a:r>
          </a:p>
          <a:p>
            <a:pPr marL="0" indent="0" algn="l">
              <a:lnSpc>
                <a:spcPct val="100000"/>
              </a:lnSpc>
              <a:buNone/>
            </a:pPr>
            <a:r>
              <a:rPr sz="2000">
                <a:solidFill>
                  <a:srgbClr val="116329"/>
                </a:solidFill>
                <a:latin typeface="Consolas"/>
              </a:rPr>
              <a:t>&lt;a</a:t>
            </a:r>
            <a:r>
              <a:rPr sz="2000">
                <a:solidFill>
                  <a:srgbClr val="24292F"/>
                </a:solidFill>
                <a:latin typeface="Consolas"/>
              </a:rPr>
              <a:t> </a:t>
            </a:r>
            <a:r>
              <a:rPr sz="2000">
                <a:solidFill>
                  <a:srgbClr val="953800"/>
                </a:solidFill>
                <a:latin typeface="Consolas"/>
              </a:rPr>
              <a:t>@[event]</a:t>
            </a:r>
            <a:r>
              <a:rPr sz="2000">
                <a:solidFill>
                  <a:srgbClr val="24292F"/>
                </a:solidFill>
                <a:latin typeface="Consolas"/>
              </a:rPr>
              <a:t>=</a:t>
            </a:r>
            <a:r>
              <a:rPr sz="2000">
                <a:solidFill>
                  <a:srgbClr val="0A3069"/>
                </a:solidFill>
                <a:latin typeface="Consolas"/>
              </a:rPr>
              <a:t>"doSomething"</a:t>
            </a:r>
            <a:r>
              <a:rPr sz="2000">
                <a:solidFill>
                  <a:srgbClr val="116329"/>
                </a:solidFill>
                <a:latin typeface="Consolas"/>
              </a:rPr>
              <a:t>&gt;</a:t>
            </a:r>
            <a:r>
              <a:rPr sz="2000">
                <a:solidFill>
                  <a:srgbClr val="24292F"/>
                </a:solidFill>
                <a:latin typeface="Consolas"/>
              </a:rPr>
              <a:t> ... </a:t>
            </a:r>
            <a:r>
              <a:rPr sz="2000">
                <a:solidFill>
                  <a:srgbClr val="116329"/>
                </a:solidFill>
                <a:latin typeface="Consolas"/>
              </a:rPr>
              <a:t>&lt;/a&gt;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138</a:t>
            </a:fld>
            <a:endParaRPr lang="en-US" sz="900">
              <a:solidFill>
                <a:srgbClr val="9AA7B4"/>
              </a:solidFill>
            </a:endParaRPr>
          </a:p>
        </p:txBody>
      </p:sp>
    </p:spTree>
    <p:extLst>
      <p:ext uri="{BB962C8B-B14F-4D97-AF65-F5344CB8AC3E}">
        <p14:creationId xmlns:p14="http://schemas.microsoft.com/office/powerpoint/2010/main" val="39912663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1A911-0245-3D41-BCBA-E04619FA5AF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Listening to Child Component Events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Child components </a:t>
            </a:r>
            <a:r>
              <a:rPr sz="2200" b="1" i="0">
                <a:solidFill>
                  <a:srgbClr val="1F2A36"/>
                </a:solidFill>
              </a:rPr>
              <a:t>declare</a:t>
            </a:r>
            <a:r>
              <a:rPr sz="2200" b="0" i="0">
                <a:solidFill>
                  <a:srgbClr val="1F2A36"/>
                </a:solidFill>
              </a:rPr>
              <a:t> and </a:t>
            </a:r>
            <a:r>
              <a:rPr sz="2200" b="1" i="0">
                <a:solidFill>
                  <a:srgbClr val="1F2A36"/>
                </a:solidFill>
              </a:rPr>
              <a:t>emit</a:t>
            </a:r>
            <a:r>
              <a:rPr sz="2200" b="0" i="0">
                <a:solidFill>
                  <a:srgbClr val="1F2A36"/>
                </a:solidFill>
              </a:rPr>
              <a:t> events</a:t>
            </a:r>
          </a:p>
        </p:txBody>
      </p:sp>
      <p:sp>
        <p:nvSpPr>
          <p:cNvPr id="4" name="Code"/>
          <p:cNvSpPr/>
          <p:nvPr/>
        </p:nvSpPr>
        <p:spPr>
          <a:xfrm>
            <a:off x="457200" y="1863597"/>
            <a:ext cx="8229600" cy="205638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i="1">
                <a:solidFill>
                  <a:srgbClr val="6E7781"/>
                </a:solidFill>
                <a:latin typeface="Consolas"/>
              </a:rPr>
              <a:t>&lt;!-- BlogPost.vue --&gt;</a:t>
            </a:r>
          </a:p>
          <a:p>
            <a:pPr marL="0" indent="0" algn="l">
              <a:lnSpc>
                <a:spcPct val="100000"/>
              </a:lnSpc>
              <a:buNone/>
            </a:pPr>
            <a:r>
              <a:rPr sz="1600">
                <a:solidFill>
                  <a:srgbClr val="116329"/>
                </a:solidFill>
                <a:latin typeface="Consolas"/>
              </a:rPr>
              <a:t>&lt;script</a:t>
            </a:r>
            <a:r>
              <a:rPr sz="1600">
                <a:solidFill>
                  <a:srgbClr val="24292F"/>
                </a:solidFill>
                <a:latin typeface="Consolas"/>
              </a:rPr>
              <a:t> </a:t>
            </a:r>
            <a:r>
              <a:rPr sz="1600">
                <a:solidFill>
                  <a:srgbClr val="953800"/>
                </a:solidFill>
                <a:latin typeface="Consolas"/>
              </a:rPr>
              <a:t>setup</a:t>
            </a:r>
            <a:r>
              <a:rPr sz="1600">
                <a:solidFill>
                  <a:srgbClr val="116329"/>
                </a:solidFill>
                <a:latin typeface="Consolas"/>
              </a:rPr>
              <a:t>&gt;</a:t>
            </a:r>
          </a:p>
          <a:p>
            <a:pPr marL="0" indent="0" algn="l">
              <a:lnSpc>
                <a:spcPct val="100000"/>
              </a:lnSpc>
              <a:buNone/>
            </a:pPr>
            <a:r>
              <a:rPr sz="1600">
                <a:solidFill>
                  <a:srgbClr val="CF222E"/>
                </a:solidFill>
                <a:latin typeface="Consolas"/>
              </a:rPr>
              <a:t>const</a:t>
            </a:r>
            <a:r>
              <a:rPr sz="1600">
                <a:solidFill>
                  <a:srgbClr val="24292F"/>
                </a:solidFill>
                <a:latin typeface="Consolas"/>
              </a:rPr>
              <a:t> emit = defineEmits([</a:t>
            </a:r>
            <a:r>
              <a:rPr sz="1600">
                <a:solidFill>
                  <a:srgbClr val="0A3069"/>
                </a:solidFill>
                <a:latin typeface="Consolas"/>
              </a:rPr>
              <a:t>'enlarge-text'</a:t>
            </a:r>
            <a:r>
              <a:rPr sz="1600">
                <a:solidFill>
                  <a:srgbClr val="24292F"/>
                </a:solidFill>
                <a:latin typeface="Consolas"/>
              </a:rPr>
              <a:t>])</a:t>
            </a:r>
          </a:p>
          <a:p>
            <a:pPr marL="0" indent="0" algn="l">
              <a:lnSpc>
                <a:spcPct val="100000"/>
              </a:lnSpc>
              <a:buNone/>
            </a:pPr>
            <a:r>
              <a:rPr sz="1600">
                <a:solidFill>
                  <a:srgbClr val="116329"/>
                </a:solidFill>
                <a:latin typeface="Consolas"/>
              </a:rPr>
              <a:t>&lt;/script&gt;</a:t>
            </a:r>
          </a:p>
          <a:p>
            <a:pPr marL="0" indent="0" algn="l">
              <a:lnSpc>
                <a:spcPct val="100000"/>
              </a:lnSpc>
              <a:buNone/>
            </a:pPr>
            <a:r>
              <a:rPr sz="1600">
                <a:solidFill>
                  <a:srgbClr val="116329"/>
                </a:solidFill>
                <a:latin typeface="Consolas"/>
              </a:rPr>
              <a:t>&lt;template&gt;</a:t>
            </a:r>
          </a:p>
          <a:p>
            <a:pPr marL="0" indent="0" algn="l">
              <a:lnSpc>
                <a:spcPct val="100000"/>
              </a:lnSpc>
              <a:buNone/>
            </a:pPr>
            <a:r>
              <a:rPr sz="1600">
                <a:solidFill>
                  <a:srgbClr val="24292F"/>
                </a:solidFill>
                <a:latin typeface="Consolas"/>
              </a:rPr>
              <a:t>  </a:t>
            </a:r>
            <a:r>
              <a:rPr sz="1600">
                <a:solidFill>
                  <a:srgbClr val="116329"/>
                </a:solidFill>
                <a:latin typeface="Consolas"/>
              </a:rPr>
              <a:t>&lt;button</a:t>
            </a:r>
            <a:r>
              <a:rPr sz="1600">
                <a:solidFill>
                  <a:srgbClr val="24292F"/>
                </a:solidFill>
                <a:latin typeface="Consolas"/>
              </a:rPr>
              <a:t> </a:t>
            </a:r>
            <a:r>
              <a:rPr sz="1600">
                <a:solidFill>
                  <a:srgbClr val="953800"/>
                </a:solidFill>
                <a:latin typeface="Consolas"/>
              </a:rPr>
              <a:t>@click</a:t>
            </a:r>
            <a:r>
              <a:rPr sz="1600">
                <a:solidFill>
                  <a:srgbClr val="24292F"/>
                </a:solidFill>
                <a:latin typeface="Consolas"/>
              </a:rPr>
              <a:t>=</a:t>
            </a:r>
            <a:r>
              <a:rPr sz="1600">
                <a:solidFill>
                  <a:srgbClr val="0A3069"/>
                </a:solidFill>
                <a:latin typeface="Consolas"/>
              </a:rPr>
              <a:t>"emit('enlarge-text')"</a:t>
            </a:r>
            <a:r>
              <a:rPr sz="1600">
                <a:solidFill>
                  <a:srgbClr val="116329"/>
                </a:solidFill>
                <a:latin typeface="Consolas"/>
              </a:rPr>
              <a:t>&gt;</a:t>
            </a:r>
            <a:r>
              <a:rPr sz="1600">
                <a:solidFill>
                  <a:srgbClr val="24292F"/>
                </a:solidFill>
                <a:latin typeface="Consolas"/>
              </a:rPr>
              <a:t>Enlarge text</a:t>
            </a:r>
            <a:r>
              <a:rPr sz="1600">
                <a:solidFill>
                  <a:srgbClr val="116329"/>
                </a:solidFill>
                <a:latin typeface="Consolas"/>
              </a:rPr>
              <a:t>&lt;/button&gt;</a:t>
            </a:r>
          </a:p>
          <a:p>
            <a:pPr marL="0" indent="0" algn="l">
              <a:lnSpc>
                <a:spcPct val="100000"/>
              </a:lnSpc>
              <a:buNone/>
            </a:pPr>
            <a:r>
              <a:rPr sz="1600">
                <a:solidFill>
                  <a:srgbClr val="116329"/>
                </a:solidFill>
                <a:latin typeface="Consolas"/>
              </a:rPr>
              <a:t>&lt;/template&gt;</a:t>
            </a:r>
          </a:p>
        </p:txBody>
      </p:sp>
      <p:sp>
        <p:nvSpPr>
          <p:cNvPr id="5" name="Body"/>
          <p:cNvSpPr txBox="1"/>
          <p:nvPr/>
        </p:nvSpPr>
        <p:spPr>
          <a:xfrm>
            <a:off x="457200" y="4066285"/>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Parent components </a:t>
            </a:r>
            <a:r>
              <a:rPr sz="2200" b="1" i="0">
                <a:solidFill>
                  <a:srgbClr val="1F2A36"/>
                </a:solidFill>
              </a:rPr>
              <a:t>listen</a:t>
            </a:r>
            <a:r>
              <a:rPr sz="2200" b="0" i="0">
                <a:solidFill>
                  <a:srgbClr val="1F2A36"/>
                </a:solidFill>
              </a:rPr>
              <a:t> for them</a:t>
            </a:r>
          </a:p>
        </p:txBody>
      </p:sp>
      <p:sp>
        <p:nvSpPr>
          <p:cNvPr id="6" name="Code"/>
          <p:cNvSpPr/>
          <p:nvPr/>
        </p:nvSpPr>
        <p:spPr>
          <a:xfrm>
            <a:off x="457200" y="4668012"/>
            <a:ext cx="8229600" cy="5445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&lt;BlogPost</a:t>
            </a:r>
            <a:r>
              <a:rPr sz="1600">
                <a:solidFill>
                  <a:srgbClr val="24292F"/>
                </a:solidFill>
                <a:latin typeface="Consolas"/>
              </a:rPr>
              <a:t> </a:t>
            </a:r>
            <a:r>
              <a:rPr sz="1600">
                <a:solidFill>
                  <a:srgbClr val="953800"/>
                </a:solidFill>
                <a:latin typeface="Consolas"/>
              </a:rPr>
              <a:t>@enlarge-text</a:t>
            </a:r>
            <a:r>
              <a:rPr sz="1600">
                <a:solidFill>
                  <a:srgbClr val="24292F"/>
                </a:solidFill>
                <a:latin typeface="Consolas"/>
              </a:rPr>
              <a:t>=</a:t>
            </a:r>
            <a:r>
              <a:rPr sz="1600">
                <a:solidFill>
                  <a:srgbClr val="0A3069"/>
                </a:solidFill>
                <a:latin typeface="Consolas"/>
              </a:rPr>
              <a:t>"postFontSize += 0.1"</a:t>
            </a:r>
            <a:r>
              <a:rPr sz="1600">
                <a:solidFill>
                  <a:srgbClr val="24292F"/>
                </a:solidFill>
                <a:latin typeface="Consolas"/>
              </a:rPr>
              <a:t> </a:t>
            </a:r>
            <a:r>
              <a:rPr sz="1600">
                <a:solidFill>
                  <a:srgbClr val="116329"/>
                </a:solidFill>
                <a:latin typeface="Consolas"/>
              </a:rPr>
              <a:t>/&gt;</a:t>
            </a:r>
          </a:p>
        </p:txBody>
      </p:sp>
      <p:sp>
        <p:nvSpPr>
          <p:cNvPr id="7" name="Tip"/>
          <p:cNvSpPr/>
          <p:nvPr/>
        </p:nvSpPr>
        <p:spPr>
          <a:xfrm>
            <a:off x="457200" y="535889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An undeclared listener falls through to the child's root element as a native attribute, so always declare your events.</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139</a:t>
            </a:fld>
            <a:endParaRPr lang="en-US" sz="900">
              <a:solidFill>
                <a:srgbClr val="9AA7B4"/>
              </a:solidFill>
            </a:endParaRPr>
          </a:p>
        </p:txBody>
      </p:sp>
    </p:spTree>
    <p:extLst>
      <p:ext uri="{BB962C8B-B14F-4D97-AF65-F5344CB8AC3E}">
        <p14:creationId xmlns:p14="http://schemas.microsoft.com/office/powerpoint/2010/main" val="39255399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555E-6B81-5240-8BD8-DF876E37553F}"/>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Emitting a Value With an Event</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emit</a:t>
            </a:r>
            <a:r>
              <a:rPr sz="2200" b="0" i="0">
                <a:solidFill>
                  <a:srgbClr val="1F2A36"/>
                </a:solidFill>
              </a:rPr>
              <a:t> takes extra arguments: the event's payload</a:t>
            </a:r>
          </a:p>
        </p:txBody>
      </p:sp>
      <p:sp>
        <p:nvSpPr>
          <p:cNvPr id="4" name="Code"/>
          <p:cNvSpPr/>
          <p:nvPr/>
        </p:nvSpPr>
        <p:spPr>
          <a:xfrm>
            <a:off x="457200" y="1863597"/>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emit = defineEmits([</a:t>
            </a:r>
            <a:r>
              <a:rPr sz="2000">
                <a:solidFill>
                  <a:srgbClr val="0A3069"/>
                </a:solidFill>
                <a:latin typeface="Consolas"/>
              </a:rPr>
              <a:t>'enlarge-text'</a:t>
            </a:r>
            <a:r>
              <a:rPr sz="2000">
                <a:solidFill>
                  <a:srgbClr val="24292F"/>
                </a:solidFill>
                <a:latin typeface="Consolas"/>
              </a:rPr>
              <a:t>])</a:t>
            </a:r>
          </a:p>
        </p:txBody>
      </p:sp>
      <p:sp>
        <p:nvSpPr>
          <p:cNvPr id="5" name="Code"/>
          <p:cNvSpPr/>
          <p:nvPr/>
        </p:nvSpPr>
        <p:spPr>
          <a:xfrm>
            <a:off x="457200" y="2617470"/>
            <a:ext cx="8229600" cy="53670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116329"/>
                </a:solidFill>
                <a:latin typeface="Consolas"/>
              </a:rPr>
              <a:t>&lt;button</a:t>
            </a:r>
            <a:r>
              <a:rPr sz="1550">
                <a:solidFill>
                  <a:srgbClr val="24292F"/>
                </a:solidFill>
                <a:latin typeface="Consolas"/>
              </a:rPr>
              <a:t> </a:t>
            </a:r>
            <a:r>
              <a:rPr sz="1550">
                <a:solidFill>
                  <a:srgbClr val="953800"/>
                </a:solidFill>
                <a:latin typeface="Consolas"/>
              </a:rPr>
              <a:t>@click</a:t>
            </a:r>
            <a:r>
              <a:rPr sz="1550">
                <a:solidFill>
                  <a:srgbClr val="24292F"/>
                </a:solidFill>
                <a:latin typeface="Consolas"/>
              </a:rPr>
              <a:t>=</a:t>
            </a:r>
            <a:r>
              <a:rPr sz="1550">
                <a:solidFill>
                  <a:srgbClr val="0A3069"/>
                </a:solidFill>
                <a:latin typeface="Consolas"/>
              </a:rPr>
              <a:t>"emit('enlarge-text', 0.1)"</a:t>
            </a:r>
            <a:r>
              <a:rPr sz="1550">
                <a:solidFill>
                  <a:srgbClr val="116329"/>
                </a:solidFill>
                <a:latin typeface="Consolas"/>
              </a:rPr>
              <a:t>&gt;</a:t>
            </a:r>
            <a:r>
              <a:rPr sz="1550">
                <a:solidFill>
                  <a:srgbClr val="24292F"/>
                </a:solidFill>
                <a:latin typeface="Consolas"/>
              </a:rPr>
              <a:t>Enlarge text</a:t>
            </a:r>
            <a:r>
              <a:rPr sz="1550">
                <a:solidFill>
                  <a:srgbClr val="116329"/>
                </a:solidFill>
                <a:latin typeface="Consolas"/>
              </a:rPr>
              <a:t>&lt;/button&gt;</a:t>
            </a:r>
          </a:p>
        </p:txBody>
      </p:sp>
      <p:sp>
        <p:nvSpPr>
          <p:cNvPr id="6" name="Body"/>
          <p:cNvSpPr txBox="1"/>
          <p:nvPr/>
        </p:nvSpPr>
        <p:spPr>
          <a:xfrm>
            <a:off x="457200" y="3300476"/>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parent receives them as handler arguments</a:t>
            </a:r>
          </a:p>
        </p:txBody>
      </p:sp>
      <p:sp>
        <p:nvSpPr>
          <p:cNvPr id="7" name="Code"/>
          <p:cNvSpPr/>
          <p:nvPr/>
        </p:nvSpPr>
        <p:spPr>
          <a:xfrm>
            <a:off x="457200" y="3902202"/>
            <a:ext cx="8229600" cy="977645"/>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116329"/>
                </a:solidFill>
                <a:latin typeface="Consolas"/>
              </a:rPr>
              <a:t>&lt;BlogPost</a:t>
            </a:r>
            <a:r>
              <a:rPr sz="1450">
                <a:solidFill>
                  <a:srgbClr val="24292F"/>
                </a:solidFill>
                <a:latin typeface="Consolas"/>
              </a:rPr>
              <a:t> </a:t>
            </a:r>
            <a:r>
              <a:rPr sz="1450">
                <a:solidFill>
                  <a:srgbClr val="953800"/>
                </a:solidFill>
                <a:latin typeface="Consolas"/>
              </a:rPr>
              <a:t>@enlarge-text</a:t>
            </a:r>
            <a:r>
              <a:rPr sz="1450">
                <a:solidFill>
                  <a:srgbClr val="24292F"/>
                </a:solidFill>
                <a:latin typeface="Consolas"/>
              </a:rPr>
              <a:t>=</a:t>
            </a:r>
            <a:r>
              <a:rPr sz="1450">
                <a:solidFill>
                  <a:srgbClr val="0A3069"/>
                </a:solidFill>
                <a:latin typeface="Consolas"/>
              </a:rPr>
              <a:t>"postFontSize += $event"</a:t>
            </a:r>
            <a:r>
              <a:rPr sz="1450">
                <a:solidFill>
                  <a:srgbClr val="24292F"/>
                </a:solidFill>
                <a:latin typeface="Consolas"/>
              </a:rPr>
              <a:t> </a:t>
            </a:r>
            <a:r>
              <a:rPr sz="1450">
                <a:solidFill>
                  <a:srgbClr val="116329"/>
                </a:solidFill>
                <a:latin typeface="Consolas"/>
              </a:rPr>
              <a:t>/&gt;</a:t>
            </a:r>
          </a:p>
          <a:p>
            <a:pPr marL="0" indent="0" algn="l">
              <a:lnSpc>
                <a:spcPct val="100000"/>
              </a:lnSpc>
              <a:buNone/>
            </a:pPr>
            <a:r>
              <a:rPr sz="1450">
                <a:solidFill>
                  <a:srgbClr val="116329"/>
                </a:solidFill>
                <a:latin typeface="Consolas"/>
              </a:rPr>
              <a:t>&lt;BlogPost</a:t>
            </a:r>
            <a:r>
              <a:rPr sz="1450">
                <a:solidFill>
                  <a:srgbClr val="24292F"/>
                </a:solidFill>
                <a:latin typeface="Consolas"/>
              </a:rPr>
              <a:t> </a:t>
            </a:r>
            <a:r>
              <a:rPr sz="1450">
                <a:solidFill>
                  <a:srgbClr val="953800"/>
                </a:solidFill>
                <a:latin typeface="Consolas"/>
              </a:rPr>
              <a:t>@enlarge-text</a:t>
            </a:r>
            <a:r>
              <a:rPr sz="1450">
                <a:solidFill>
                  <a:srgbClr val="24292F"/>
                </a:solidFill>
                <a:latin typeface="Consolas"/>
              </a:rPr>
              <a:t>=</a:t>
            </a:r>
            <a:r>
              <a:rPr sz="1450">
                <a:solidFill>
                  <a:srgbClr val="0A3069"/>
                </a:solidFill>
                <a:latin typeface="Consolas"/>
              </a:rPr>
              <a:t>"(n) =&gt; (postFontSize += n)"</a:t>
            </a:r>
            <a:r>
              <a:rPr sz="1450">
                <a:solidFill>
                  <a:srgbClr val="24292F"/>
                </a:solidFill>
                <a:latin typeface="Consolas"/>
              </a:rPr>
              <a:t> </a:t>
            </a:r>
            <a:r>
              <a:rPr sz="1450">
                <a:solidFill>
                  <a:srgbClr val="116329"/>
                </a:solidFill>
                <a:latin typeface="Consolas"/>
              </a:rPr>
              <a:t>/&gt;</a:t>
            </a:r>
          </a:p>
          <a:p>
            <a:pPr marL="0" indent="0" algn="l">
              <a:lnSpc>
                <a:spcPct val="100000"/>
              </a:lnSpc>
              <a:buNone/>
            </a:pPr>
            <a:r>
              <a:rPr sz="1450">
                <a:solidFill>
                  <a:srgbClr val="116329"/>
                </a:solidFill>
                <a:latin typeface="Consolas"/>
              </a:rPr>
              <a:t>&lt;BlogPost</a:t>
            </a:r>
            <a:r>
              <a:rPr sz="1450">
                <a:solidFill>
                  <a:srgbClr val="24292F"/>
                </a:solidFill>
                <a:latin typeface="Consolas"/>
              </a:rPr>
              <a:t> </a:t>
            </a:r>
            <a:r>
              <a:rPr sz="1450">
                <a:solidFill>
                  <a:srgbClr val="953800"/>
                </a:solidFill>
                <a:latin typeface="Consolas"/>
              </a:rPr>
              <a:t>@enlarge-text</a:t>
            </a:r>
            <a:r>
              <a:rPr sz="1450">
                <a:solidFill>
                  <a:srgbClr val="24292F"/>
                </a:solidFill>
                <a:latin typeface="Consolas"/>
              </a:rPr>
              <a:t>=</a:t>
            </a:r>
            <a:r>
              <a:rPr sz="1450">
                <a:solidFill>
                  <a:srgbClr val="0A3069"/>
                </a:solidFill>
                <a:latin typeface="Consolas"/>
              </a:rPr>
              <a:t>"enlarge"</a:t>
            </a:r>
            <a:r>
              <a:rPr sz="1450">
                <a:solidFill>
                  <a:srgbClr val="24292F"/>
                </a:solidFill>
                <a:latin typeface="Consolas"/>
              </a:rPr>
              <a:t> </a:t>
            </a:r>
            <a:r>
              <a:rPr sz="1450">
                <a:solidFill>
                  <a:srgbClr val="116329"/>
                </a:solidFill>
                <a:latin typeface="Consolas"/>
              </a:rPr>
              <a:t>/&gt;</a:t>
            </a:r>
            <a:r>
              <a:rPr sz="1450">
                <a:solidFill>
                  <a:srgbClr val="24292F"/>
                </a:solidFill>
                <a:latin typeface="Consolas"/>
              </a:rPr>
              <a:t>   </a:t>
            </a:r>
            <a:r>
              <a:rPr sz="1450" i="1">
                <a:solidFill>
                  <a:srgbClr val="6E7781"/>
                </a:solidFill>
                <a:latin typeface="Consolas"/>
              </a:rPr>
              <a:t>&lt;!-- function enlarge(n) --&gt;</a:t>
            </a:r>
          </a:p>
        </p:txBody>
      </p:sp>
      <p:sp>
        <p:nvSpPr>
          <p:cNvPr id="8" name="Tip"/>
          <p:cNvSpPr/>
          <p:nvPr/>
        </p:nvSpPr>
        <p:spPr>
          <a:xfrm>
            <a:off x="457200" y="502615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Vue 2's </a:t>
            </a:r>
            <a:r>
              <a:rPr sz="1900" b="0" i="0">
                <a:solidFill>
                  <a:srgbClr val="8A2B52"/>
                </a:solidFill>
                <a:latin typeface="Consolas"/>
              </a:rPr>
              <a:t>$on</a:t>
            </a:r>
            <a:r>
              <a:rPr sz="2000" b="0" i="0">
                <a:solidFill>
                  <a:srgbClr val="1F2A36"/>
                </a:solidFill>
              </a:rPr>
              <a:t> / </a:t>
            </a:r>
            <a:r>
              <a:rPr sz="1900" b="0" i="0">
                <a:solidFill>
                  <a:srgbClr val="8A2B52"/>
                </a:solidFill>
                <a:latin typeface="Consolas"/>
              </a:rPr>
              <a:t>$off</a:t>
            </a:r>
            <a:r>
              <a:rPr sz="2000" b="0" i="0">
                <a:solidFill>
                  <a:srgbClr val="1F2A36"/>
                </a:solidFill>
              </a:rPr>
              <a:t> / </a:t>
            </a:r>
            <a:r>
              <a:rPr sz="1900" b="0" i="0">
                <a:solidFill>
                  <a:srgbClr val="8A2B52"/>
                </a:solidFill>
                <a:latin typeface="Consolas"/>
              </a:rPr>
              <a:t>$once</a:t>
            </a:r>
            <a:r>
              <a:rPr sz="2000" b="0" i="0">
                <a:solidFill>
                  <a:srgbClr val="1F2A36"/>
                </a:solidFill>
              </a:rPr>
              <a:t> "event bus" was removed in Vue 3. Use a store or provide/inject instead.</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140</a:t>
            </a:fld>
            <a:endParaRPr lang="en-US" sz="900">
              <a:solidFill>
                <a:srgbClr val="9AA7B4"/>
              </a:solidFill>
            </a:endParaRPr>
          </a:p>
        </p:txBody>
      </p:sp>
    </p:spTree>
    <p:extLst>
      <p:ext uri="{BB962C8B-B14F-4D97-AF65-F5344CB8AC3E}">
        <p14:creationId xmlns:p14="http://schemas.microsoft.com/office/powerpoint/2010/main" val="35249405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3D06-F774-A04C-ACB6-89317FDEAE6C}"/>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Events</a:t>
            </a:r>
          </a:p>
        </p:txBody>
      </p:sp>
      <p:pic>
        <p:nvPicPr>
          <p:cNvPr id="7" name="Content Placeholder 5">
            <a:extLst>
              <a:ext uri="{FF2B5EF4-FFF2-40B4-BE49-F238E27FC236}">
                <a16:creationId xmlns:a16="http://schemas.microsoft.com/office/drawing/2014/main" id="{0A0FDD9F-41B7-DA23-AF29-3D69FC782069}"/>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8" name="Chip LAB 15"/>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15</a:t>
            </a:r>
          </a:p>
        </p:txBody>
      </p:sp>
      <p:sp>
        <p:nvSpPr>
          <p:cNvPr id="9" name="Chip 4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40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Let each article preview ask its parent to change the font size of the whole list.</a:t>
            </a:r>
          </a:p>
        </p:txBody>
      </p:sp>
      <p:sp>
        <p:nvSpPr>
          <p:cNvPr id="11" name="Body"/>
          <p:cNvSpPr txBox="1"/>
          <p:nvPr/>
        </p:nvSpPr>
        <p:spPr>
          <a:xfrm>
            <a:off x="457200" y="2715768"/>
            <a:ext cx="4160520" cy="3481705"/>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900" b="0" i="0">
                <a:solidFill>
                  <a:srgbClr val="1F2A36"/>
                </a:solidFill>
              </a:rPr>
              <a:t>Add an </a:t>
            </a:r>
            <a:r>
              <a:rPr sz="1805" b="0" i="0">
                <a:solidFill>
                  <a:srgbClr val="8A2B52"/>
                </a:solidFill>
                <a:latin typeface="Consolas"/>
              </a:rPr>
              <a:t>articleFontSize</a:t>
            </a:r>
            <a:r>
              <a:rPr sz="1900" b="0" i="0">
                <a:solidFill>
                  <a:srgbClr val="1F2A36"/>
                </a:solidFill>
              </a:rPr>
              <a:t> ref to ArticleList</a:t>
            </a:r>
          </a:p>
          <a:p>
            <a:pPr marL="274320" indent="-256032">
              <a:spcAft>
                <a:spcPts val="855"/>
              </a:spcAft>
              <a:buClr>
                <a:srgbClr val="42B883"/>
              </a:buClr>
              <a:buSzPct val="100000"/>
              <a:buFont typeface="Arial"/>
              <a:buChar char="•"/>
            </a:pPr>
            <a:r>
              <a:rPr sz="1900" b="0" i="0">
                <a:solidFill>
                  <a:srgbClr val="1F2A36"/>
                </a:solidFill>
              </a:rPr>
              <a:t>Bind it with </a:t>
            </a:r>
            <a:r>
              <a:rPr sz="1805" b="0" i="0">
                <a:solidFill>
                  <a:srgbClr val="8A2B52"/>
                </a:solidFill>
                <a:latin typeface="Consolas"/>
              </a:rPr>
              <a:t>:style</a:t>
            </a:r>
            <a:r>
              <a:rPr sz="1900" b="0" i="0">
                <a:solidFill>
                  <a:srgbClr val="1F2A36"/>
                </a:solidFill>
              </a:rPr>
              <a:t> on each ArticlePreview</a:t>
            </a:r>
          </a:p>
          <a:p>
            <a:pPr marL="274320" indent="-256032">
              <a:spcAft>
                <a:spcPts val="855"/>
              </a:spcAft>
              <a:buClr>
                <a:srgbClr val="42B883"/>
              </a:buClr>
              <a:buSzPct val="100000"/>
              <a:buFont typeface="Arial"/>
              <a:buChar char="•"/>
            </a:pPr>
            <a:r>
              <a:rPr sz="1900" b="0" i="0">
                <a:solidFill>
                  <a:srgbClr val="1F2A36"/>
                </a:solidFill>
              </a:rPr>
              <a:t>Declare </a:t>
            </a:r>
            <a:r>
              <a:rPr sz="1805" b="0" i="0">
                <a:solidFill>
                  <a:srgbClr val="8A2B52"/>
                </a:solidFill>
                <a:latin typeface="Consolas"/>
              </a:rPr>
              <a:t>enlarge-text</a:t>
            </a:r>
            <a:r>
              <a:rPr sz="1900" b="0" i="0">
                <a:solidFill>
                  <a:srgbClr val="1F2A36"/>
                </a:solidFill>
              </a:rPr>
              <a:t> with </a:t>
            </a:r>
            <a:r>
              <a:rPr sz="1805" b="0" i="0">
                <a:solidFill>
                  <a:srgbClr val="8A2B52"/>
                </a:solidFill>
                <a:latin typeface="Consolas"/>
              </a:rPr>
              <a:t>defineEmits</a:t>
            </a:r>
            <a:r>
              <a:rPr sz="1900" b="0" i="0">
                <a:solidFill>
                  <a:srgbClr val="1F2A36"/>
                </a:solidFill>
              </a:rPr>
              <a:t> in ArticlePreview</a:t>
            </a:r>
          </a:p>
          <a:p>
            <a:pPr marL="274320" indent="-256032">
              <a:spcAft>
                <a:spcPts val="855"/>
              </a:spcAft>
              <a:buClr>
                <a:srgbClr val="42B883"/>
              </a:buClr>
              <a:buSzPct val="100000"/>
              <a:buFont typeface="Arial"/>
              <a:buChar char="•"/>
            </a:pPr>
            <a:r>
              <a:rPr sz="1900" b="0" i="0">
                <a:solidFill>
                  <a:srgbClr val="1F2A36"/>
                </a:solidFill>
              </a:rPr>
              <a:t>Emit it from an "Enlarge Text" button</a:t>
            </a:r>
          </a:p>
          <a:p>
            <a:pPr marL="274320" indent="-256032">
              <a:spcAft>
                <a:spcPts val="855"/>
              </a:spcAft>
              <a:buClr>
                <a:srgbClr val="42B883"/>
              </a:buClr>
              <a:buSzPct val="100000"/>
              <a:buFont typeface="Arial"/>
              <a:buChar char="•"/>
            </a:pPr>
            <a:r>
              <a:rPr sz="1900" b="0" i="0">
                <a:solidFill>
                  <a:srgbClr val="1F2A36"/>
                </a:solidFill>
              </a:rPr>
              <a:t>Listen with </a:t>
            </a:r>
            <a:r>
              <a:rPr sz="1805" b="0" i="0">
                <a:solidFill>
                  <a:srgbClr val="8A2B52"/>
                </a:solidFill>
                <a:latin typeface="Consolas"/>
              </a:rPr>
              <a:t>@enlarge-text</a:t>
            </a:r>
            <a:r>
              <a:rPr sz="1900" b="0" i="0">
                <a:solidFill>
                  <a:srgbClr val="1F2A36"/>
                </a:solidFill>
              </a:rPr>
              <a:t> in ArticleList; add "Shrink Text"</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141</a:t>
            </a:fld>
            <a:endParaRPr lang="en-US" sz="900">
              <a:solidFill>
                <a:srgbClr val="9AA7B4"/>
              </a:solidFill>
            </a:endParaRPr>
          </a:p>
        </p:txBody>
      </p:sp>
    </p:spTree>
    <p:extLst>
      <p:ext uri="{BB962C8B-B14F-4D97-AF65-F5344CB8AC3E}">
        <p14:creationId xmlns:p14="http://schemas.microsoft.com/office/powerpoint/2010/main" val="12453272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C4C545-108A-ED45-9147-6F97A547EF99}"/>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Watchers</a:t>
            </a:r>
          </a:p>
        </p:txBody>
      </p:sp>
      <p:sp>
        <p:nvSpPr>
          <p:cNvPr id="4" name="Body"/>
          <p:cNvSpPr txBox="1"/>
          <p:nvPr/>
        </p:nvSpPr>
        <p:spPr>
          <a:xfrm>
            <a:off x="457200" y="1261872"/>
            <a:ext cx="8229600" cy="166166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general way to react to state changes with </a:t>
            </a:r>
            <a:r>
              <a:rPr sz="2200" b="1" i="0">
                <a:solidFill>
                  <a:srgbClr val="1F2A36"/>
                </a:solidFill>
              </a:rPr>
              <a:t>side effects</a:t>
            </a:r>
          </a:p>
          <a:p>
            <a:pPr marL="274320" indent="-256032">
              <a:spcAft>
                <a:spcPts val="990"/>
              </a:spcAft>
              <a:buClr>
                <a:srgbClr val="42B883"/>
              </a:buClr>
              <a:buSzPct val="100000"/>
              <a:buFont typeface="Arial"/>
              <a:buChar char="•"/>
            </a:pPr>
            <a:r>
              <a:rPr sz="2200" b="0" i="0">
                <a:solidFill>
                  <a:srgbClr val="1F2A36"/>
                </a:solidFill>
              </a:rPr>
              <a:t>Most useful for asynchronous or expensive work in response to changing data</a:t>
            </a:r>
          </a:p>
        </p:txBody>
      </p:sp>
      <p:sp>
        <p:nvSpPr>
          <p:cNvPr id="5" name="Code"/>
          <p:cNvSpPr/>
          <p:nvPr/>
        </p:nvSpPr>
        <p:spPr>
          <a:xfrm>
            <a:off x="457200" y="2978404"/>
            <a:ext cx="8229600" cy="32059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CF222E"/>
                </a:solidFill>
                <a:latin typeface="Consolas"/>
              </a:rPr>
              <a:t>import</a:t>
            </a:r>
            <a:r>
              <a:rPr sz="1850">
                <a:solidFill>
                  <a:srgbClr val="24292F"/>
                </a:solidFill>
                <a:latin typeface="Consolas"/>
              </a:rPr>
              <a:t> { ref, watch } </a:t>
            </a:r>
            <a:r>
              <a:rPr sz="1850">
                <a:solidFill>
                  <a:srgbClr val="CF222E"/>
                </a:solidFill>
                <a:latin typeface="Consolas"/>
              </a:rPr>
              <a:t>from</a:t>
            </a:r>
            <a:r>
              <a:rPr sz="1850">
                <a:solidFill>
                  <a:srgbClr val="24292F"/>
                </a:solidFill>
                <a:latin typeface="Consolas"/>
              </a:rPr>
              <a:t> </a:t>
            </a:r>
            <a:r>
              <a:rPr sz="1850">
                <a:solidFill>
                  <a:srgbClr val="0A3069"/>
                </a:solidFill>
                <a:latin typeface="Consolas"/>
              </a:rPr>
              <a:t>'vue'</a:t>
            </a:r>
          </a:p>
          <a:p>
            <a:pPr marL="0" indent="0" algn="l">
              <a:lnSpc>
                <a:spcPct val="100000"/>
              </a:lnSpc>
              <a:buNone/>
            </a:pPr>
            <a:r>
              <a:rPr sz="1850">
                <a:latin typeface="Consolas"/>
              </a:rPr>
              <a:t> </a:t>
            </a:r>
          </a:p>
          <a:p>
            <a:pPr marL="0" indent="0" algn="l">
              <a:lnSpc>
                <a:spcPct val="100000"/>
              </a:lnSpc>
              <a:buNone/>
            </a:pPr>
            <a:r>
              <a:rPr sz="1850">
                <a:solidFill>
                  <a:srgbClr val="CF222E"/>
                </a:solidFill>
                <a:latin typeface="Consolas"/>
              </a:rPr>
              <a:t>const</a:t>
            </a:r>
            <a:r>
              <a:rPr sz="1850">
                <a:solidFill>
                  <a:srgbClr val="24292F"/>
                </a:solidFill>
                <a:latin typeface="Consolas"/>
              </a:rPr>
              <a:t> question = ref(</a:t>
            </a:r>
            <a:r>
              <a:rPr sz="1850">
                <a:solidFill>
                  <a:srgbClr val="0A3069"/>
                </a:solidFill>
                <a:latin typeface="Consolas"/>
              </a:rPr>
              <a:t>''</a:t>
            </a:r>
            <a:r>
              <a:rPr sz="1850">
                <a:solidFill>
                  <a:srgbClr val="24292F"/>
                </a:solidFill>
                <a:latin typeface="Consolas"/>
              </a:rPr>
              <a:t>)</a:t>
            </a:r>
          </a:p>
          <a:p>
            <a:pPr marL="0" indent="0" algn="l">
              <a:lnSpc>
                <a:spcPct val="100000"/>
              </a:lnSpc>
              <a:buNone/>
            </a:pPr>
            <a:r>
              <a:rPr sz="1850">
                <a:solidFill>
                  <a:srgbClr val="CF222E"/>
                </a:solidFill>
                <a:latin typeface="Consolas"/>
              </a:rPr>
              <a:t>const</a:t>
            </a:r>
            <a:r>
              <a:rPr sz="1850">
                <a:solidFill>
                  <a:srgbClr val="24292F"/>
                </a:solidFill>
                <a:latin typeface="Consolas"/>
              </a:rPr>
              <a:t> answer = ref(</a:t>
            </a:r>
            <a:r>
              <a:rPr sz="1850">
                <a:solidFill>
                  <a:srgbClr val="0A3069"/>
                </a:solidFill>
                <a:latin typeface="Consolas"/>
              </a:rPr>
              <a:t>'Ask me a question!'</a:t>
            </a:r>
            <a:r>
              <a:rPr sz="1850">
                <a:solidFill>
                  <a:srgbClr val="24292F"/>
                </a:solidFill>
                <a:latin typeface="Consolas"/>
              </a:rPr>
              <a:t>)</a:t>
            </a:r>
          </a:p>
          <a:p>
            <a:pPr marL="0" indent="0" algn="l">
              <a:lnSpc>
                <a:spcPct val="100000"/>
              </a:lnSpc>
              <a:buNone/>
            </a:pPr>
            <a:r>
              <a:rPr sz="1850">
                <a:latin typeface="Consolas"/>
              </a:rPr>
              <a:t> </a:t>
            </a:r>
          </a:p>
          <a:p>
            <a:pPr marL="0" indent="0" algn="l">
              <a:lnSpc>
                <a:spcPct val="100000"/>
              </a:lnSpc>
              <a:buNone/>
            </a:pPr>
            <a:r>
              <a:rPr sz="1850">
                <a:solidFill>
                  <a:srgbClr val="24292F"/>
                </a:solidFill>
                <a:latin typeface="Consolas"/>
              </a:rPr>
              <a:t>watch(question, </a:t>
            </a:r>
            <a:r>
              <a:rPr sz="1850">
                <a:solidFill>
                  <a:srgbClr val="CF222E"/>
                </a:solidFill>
                <a:latin typeface="Consolas"/>
              </a:rPr>
              <a:t>async</a:t>
            </a:r>
            <a:r>
              <a:rPr sz="1850">
                <a:solidFill>
                  <a:srgbClr val="24292F"/>
                </a:solidFill>
                <a:latin typeface="Consolas"/>
              </a:rPr>
              <a:t> (newQuestion, oldQuestion) =&gt; {</a:t>
            </a:r>
          </a:p>
          <a:p>
            <a:pPr marL="0" indent="0" algn="l">
              <a:lnSpc>
                <a:spcPct val="100000"/>
              </a:lnSpc>
              <a:buNone/>
            </a:pPr>
            <a:r>
              <a:rPr sz="1850">
                <a:solidFill>
                  <a:srgbClr val="24292F"/>
                </a:solidFill>
                <a:latin typeface="Consolas"/>
              </a:rPr>
              <a:t>  </a:t>
            </a:r>
            <a:r>
              <a:rPr sz="1850">
                <a:solidFill>
                  <a:srgbClr val="CF222E"/>
                </a:solidFill>
                <a:latin typeface="Consolas"/>
              </a:rPr>
              <a:t>if</a:t>
            </a:r>
            <a:r>
              <a:rPr sz="1850">
                <a:solidFill>
                  <a:srgbClr val="24292F"/>
                </a:solidFill>
                <a:latin typeface="Consolas"/>
              </a:rPr>
              <a:t> (!newQuestion.endsWith(</a:t>
            </a:r>
            <a:r>
              <a:rPr sz="1850">
                <a:solidFill>
                  <a:srgbClr val="0A3069"/>
                </a:solidFill>
                <a:latin typeface="Consolas"/>
              </a:rPr>
              <a:t>'?'</a:t>
            </a:r>
            <a:r>
              <a:rPr sz="1850">
                <a:solidFill>
                  <a:srgbClr val="24292F"/>
                </a:solidFill>
                <a:latin typeface="Consolas"/>
              </a:rPr>
              <a:t>)) </a:t>
            </a:r>
            <a:r>
              <a:rPr sz="1850">
                <a:solidFill>
                  <a:srgbClr val="CF222E"/>
                </a:solidFill>
                <a:latin typeface="Consolas"/>
              </a:rPr>
              <a:t>return</a:t>
            </a:r>
          </a:p>
          <a:p>
            <a:pPr marL="0" indent="0" algn="l">
              <a:lnSpc>
                <a:spcPct val="100000"/>
              </a:lnSpc>
              <a:buNone/>
            </a:pPr>
            <a:r>
              <a:rPr sz="1850">
                <a:solidFill>
                  <a:srgbClr val="24292F"/>
                </a:solidFill>
                <a:latin typeface="Consolas"/>
              </a:rPr>
              <a:t>  answer.value = </a:t>
            </a:r>
            <a:r>
              <a:rPr sz="1850">
                <a:solidFill>
                  <a:srgbClr val="0A3069"/>
                </a:solidFill>
                <a:latin typeface="Consolas"/>
              </a:rPr>
              <a:t>'Thinking...'</a:t>
            </a:r>
          </a:p>
          <a:p>
            <a:pPr marL="0" indent="0" algn="l">
              <a:lnSpc>
                <a:spcPct val="100000"/>
              </a:lnSpc>
              <a:buNone/>
            </a:pPr>
            <a:r>
              <a:rPr sz="1850">
                <a:solidFill>
                  <a:srgbClr val="24292F"/>
                </a:solidFill>
                <a:latin typeface="Consolas"/>
              </a:rPr>
              <a:t>  answer.value = </a:t>
            </a:r>
            <a:r>
              <a:rPr sz="1850">
                <a:solidFill>
                  <a:srgbClr val="CF222E"/>
                </a:solidFill>
                <a:latin typeface="Consolas"/>
              </a:rPr>
              <a:t>await</a:t>
            </a:r>
            <a:r>
              <a:rPr sz="1850">
                <a:solidFill>
                  <a:srgbClr val="24292F"/>
                </a:solidFill>
                <a:latin typeface="Consolas"/>
              </a:rPr>
              <a:t> getAnswer(newQuestion)</a:t>
            </a:r>
          </a:p>
          <a:p>
            <a:pPr marL="0" indent="0" algn="l">
              <a:lnSpc>
                <a:spcPct val="100000"/>
              </a:lnSpc>
              <a:buNone/>
            </a:pPr>
            <a:r>
              <a:rPr sz="1850">
                <a:solidFill>
                  <a:srgbClr val="24292F"/>
                </a:solidFill>
                <a:latin typeface="Consolas"/>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142</a:t>
            </a:fld>
            <a:endParaRPr lang="en-US" sz="900">
              <a:solidFill>
                <a:srgbClr val="9AA7B4"/>
              </a:solidFill>
            </a:endParaRPr>
          </a:p>
        </p:txBody>
      </p:sp>
    </p:spTree>
    <p:extLst>
      <p:ext uri="{BB962C8B-B14F-4D97-AF65-F5344CB8AC3E}">
        <p14:creationId xmlns:p14="http://schemas.microsoft.com/office/powerpoint/2010/main" val="32311471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19BF-F6F4-7048-BFE1-BF358E2CAFD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watch and watchEffect</a:t>
            </a:r>
          </a:p>
        </p:txBody>
      </p:sp>
      <p:sp>
        <p:nvSpPr>
          <p:cNvPr id="3" name="Body"/>
          <p:cNvSpPr txBox="1"/>
          <p:nvPr/>
        </p:nvSpPr>
        <p:spPr>
          <a:xfrm>
            <a:off x="457200" y="1261872"/>
            <a:ext cx="8229600" cy="2710179"/>
          </a:xfrm>
          <a:prstGeom prst="rect">
            <a:avLst/>
          </a:prstGeom>
          <a:noFill/>
        </p:spPr>
        <p:txBody>
          <a:bodyPr wrap="square" lIns="0" tIns="0" rIns="0" bIns="0">
            <a:noAutofit/>
          </a:bodyPr>
          <a:lstStyle/>
          <a:p>
            <a:pPr marL="0" indent="0">
              <a:spcAft>
                <a:spcPts val="700"/>
              </a:spcAft>
              <a:buNone/>
            </a:pPr>
            <a:r>
              <a:rPr sz="2000" b="1" i="0">
                <a:solidFill>
                  <a:srgbClr val="2E8B62"/>
                </a:solidFill>
              </a:rPr>
              <a:t>watch(source, callback)</a:t>
            </a:r>
          </a:p>
          <a:p>
            <a:pPr marL="274320" indent="-256032">
              <a:spcAft>
                <a:spcPts val="900"/>
              </a:spcAft>
              <a:buClr>
                <a:srgbClr val="42B883"/>
              </a:buClr>
              <a:buSzPct val="100000"/>
              <a:buFont typeface="Arial"/>
              <a:buChar char="•"/>
            </a:pPr>
            <a:r>
              <a:rPr sz="2000" b="0" i="0">
                <a:solidFill>
                  <a:srgbClr val="1F2A36"/>
                </a:solidFill>
              </a:rPr>
              <a:t>Explicit about what it tracks; gives you the new </a:t>
            </a:r>
            <a:r>
              <a:rPr sz="2000" b="1" i="0">
                <a:solidFill>
                  <a:srgbClr val="1F2A36"/>
                </a:solidFill>
              </a:rPr>
              <a:t>and</a:t>
            </a:r>
            <a:r>
              <a:rPr sz="2000" b="0" i="0">
                <a:solidFill>
                  <a:srgbClr val="1F2A36"/>
                </a:solidFill>
              </a:rPr>
              <a:t> old value</a:t>
            </a:r>
          </a:p>
          <a:p>
            <a:pPr marL="274320" indent="-256032">
              <a:spcAft>
                <a:spcPts val="900"/>
              </a:spcAft>
              <a:buClr>
                <a:srgbClr val="42B883"/>
              </a:buClr>
              <a:buSzPct val="100000"/>
              <a:buFont typeface="Arial"/>
              <a:buChar char="•"/>
            </a:pPr>
            <a:r>
              <a:rPr sz="2000" b="1" i="0">
                <a:solidFill>
                  <a:srgbClr val="1F2A36"/>
                </a:solidFill>
              </a:rPr>
              <a:t>Lazy</a:t>
            </a:r>
            <a:r>
              <a:rPr sz="2000" b="0" i="0">
                <a:solidFill>
                  <a:srgbClr val="1F2A36"/>
                </a:solidFill>
              </a:rPr>
              <a:t>: doesn't run until the source changes (unless </a:t>
            </a:r>
            <a:r>
              <a:rPr sz="1900" b="0" i="0">
                <a:solidFill>
                  <a:srgbClr val="8A2B52"/>
                </a:solidFill>
                <a:latin typeface="Consolas"/>
              </a:rPr>
              <a:t>{ immediate: true }</a:t>
            </a:r>
            <a:r>
              <a:rPr sz="2000" b="0" i="0">
                <a:solidFill>
                  <a:srgbClr val="1F2A36"/>
                </a:solidFill>
              </a:rPr>
              <a:t>)</a:t>
            </a:r>
          </a:p>
          <a:p>
            <a:pPr marL="0" indent="0">
              <a:spcAft>
                <a:spcPts val="700"/>
              </a:spcAft>
              <a:buNone/>
            </a:pPr>
            <a:r>
              <a:rPr sz="2000" b="1" i="0">
                <a:solidFill>
                  <a:srgbClr val="2E8B62"/>
                </a:solidFill>
              </a:rPr>
              <a:t>watchEffect(callback)</a:t>
            </a:r>
          </a:p>
          <a:p>
            <a:pPr marL="274320" indent="-256032">
              <a:spcAft>
                <a:spcPts val="900"/>
              </a:spcAft>
              <a:buClr>
                <a:srgbClr val="42B883"/>
              </a:buClr>
              <a:buSzPct val="100000"/>
              <a:buFont typeface="Arial"/>
              <a:buChar char="•"/>
            </a:pPr>
            <a:r>
              <a:rPr sz="2000" b="0" i="0">
                <a:solidFill>
                  <a:srgbClr val="1F2A36"/>
                </a:solidFill>
              </a:rPr>
              <a:t>Tracks whatever the callback reads, automatically; runs once </a:t>
            </a:r>
            <a:r>
              <a:rPr sz="2000" b="1" i="0">
                <a:solidFill>
                  <a:srgbClr val="1F2A36"/>
                </a:solidFill>
              </a:rPr>
              <a:t>immediately</a:t>
            </a:r>
          </a:p>
        </p:txBody>
      </p:sp>
      <p:sp>
        <p:nvSpPr>
          <p:cNvPr id="4" name="Code"/>
          <p:cNvSpPr/>
          <p:nvPr/>
        </p:nvSpPr>
        <p:spPr>
          <a:xfrm>
            <a:off x="457200" y="4026915"/>
            <a:ext cx="8229600" cy="95402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24292F"/>
                </a:solidFill>
                <a:latin typeface="Consolas"/>
              </a:rPr>
              <a:t>watchEffect(() =&gt; {</a:t>
            </a:r>
          </a:p>
          <a:p>
            <a:pPr marL="0" indent="0" algn="l">
              <a:lnSpc>
                <a:spcPct val="100000"/>
              </a:lnSpc>
              <a:buNone/>
            </a:pPr>
            <a:r>
              <a:rPr sz="1400">
                <a:solidFill>
                  <a:srgbClr val="24292F"/>
                </a:solidFill>
                <a:latin typeface="Consolas"/>
              </a:rPr>
              <a:t>  document.title = </a:t>
            </a:r>
            <a:r>
              <a:rPr sz="1400">
                <a:solidFill>
                  <a:srgbClr val="0A3069"/>
                </a:solidFill>
                <a:latin typeface="Consolas"/>
              </a:rPr>
              <a:t>`${count.value} new posts`</a:t>
            </a:r>
          </a:p>
          <a:p>
            <a:pPr marL="0" indent="0" algn="l">
              <a:lnSpc>
                <a:spcPct val="100000"/>
              </a:lnSpc>
              <a:buNone/>
            </a:pPr>
            <a:r>
              <a:rPr sz="1400">
                <a:solidFill>
                  <a:srgbClr val="24292F"/>
                </a:solidFill>
                <a:latin typeface="Consolas"/>
              </a:rPr>
              <a:t>})</a:t>
            </a:r>
          </a:p>
        </p:txBody>
      </p:sp>
      <p:sp>
        <p:nvSpPr>
          <p:cNvPr id="5" name="Tip"/>
          <p:cNvSpPr/>
          <p:nvPr/>
        </p:nvSpPr>
        <p:spPr>
          <a:xfrm>
            <a:off x="457200" y="5127243"/>
            <a:ext cx="8229600" cy="109728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800" b="0" i="0">
                <a:solidFill>
                  <a:srgbClr val="1F2A36"/>
                </a:solidFill>
              </a:rPr>
              <a:t>Both return a stop function and stop automatically when the component unmounts. Reach for </a:t>
            </a:r>
            <a:r>
              <a:rPr sz="1709" b="0" i="0">
                <a:solidFill>
                  <a:srgbClr val="8A2B52"/>
                </a:solidFill>
                <a:latin typeface="Consolas"/>
              </a:rPr>
              <a:t>computed()</a:t>
            </a:r>
            <a:r>
              <a:rPr sz="1800" b="0" i="0">
                <a:solidFill>
                  <a:srgbClr val="1F2A36"/>
                </a:solidFill>
              </a:rPr>
              <a:t> first — a watcher is for side effects.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143</a:t>
            </a:fld>
            <a:endParaRPr lang="en-US" sz="900">
              <a:solidFill>
                <a:srgbClr val="9AA7B4"/>
              </a:solidFill>
            </a:endParaRPr>
          </a:p>
        </p:txBody>
      </p:sp>
    </p:spTree>
    <p:extLst>
      <p:ext uri="{BB962C8B-B14F-4D97-AF65-F5344CB8AC3E}">
        <p14:creationId xmlns:p14="http://schemas.microsoft.com/office/powerpoint/2010/main" val="25674277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DFB4C6-BD46-874D-9A9C-55CCDDD97B9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Component Lifecycle</a:t>
            </a:r>
          </a:p>
        </p:txBody>
      </p:sp>
      <p:pic>
        <p:nvPicPr>
          <p:cNvPr id="2" name="Content Placeholder 6">
            <a:extLst>
              <a:ext uri="{FF2B5EF4-FFF2-40B4-BE49-F238E27FC236}">
                <a16:creationId xmlns:a16="http://schemas.microsoft.com/office/drawing/2014/main" id="{2136A776-8887-41FB-8AEB-9605C665157D}"/>
              </a:ext>
            </a:extLst>
          </p:cNvPr>
          <p:cNvPicPr>
            <a:picLocks noChangeAspect="1"/>
          </p:cNvPicPr>
          <p:nvPr/>
        </p:nvPicPr>
        <p:blipFill rotWithShape="1">
          <a:blip r:embed="rId3"/>
          <a:srcRect t="6759" r="-1" b="17044"/>
          <a:stretch/>
        </p:blipFill>
        <p:spPr>
          <a:xfrm>
            <a:off x="5746098" y="1261872"/>
            <a:ext cx="2498123" cy="4818888"/>
          </a:xfrm>
          <a:prstGeom prst="rect">
            <a:avLst/>
          </a:prstGeom>
          <a:ln w="12700">
            <a:solidFill>
              <a:srgbClr val="D6DEE6"/>
            </a:solidFill>
          </a:ln>
        </p:spPr>
      </p:pic>
      <p:sp>
        <p:nvSpPr>
          <p:cNvPr id="6" name="Body"/>
          <p:cNvSpPr txBox="1"/>
          <p:nvPr/>
        </p:nvSpPr>
        <p:spPr>
          <a:xfrm>
            <a:off x="457200" y="1261872"/>
            <a:ext cx="4572000" cy="3209162"/>
          </a:xfrm>
          <a:prstGeom prst="rect">
            <a:avLst/>
          </a:prstGeom>
          <a:noFill/>
        </p:spPr>
        <p:txBody>
          <a:bodyPr wrap="square" lIns="0" tIns="0" rIns="0" bIns="0">
            <a:noAutofit/>
          </a:bodyPr>
          <a:lstStyle/>
          <a:p>
            <a:pPr marL="0" indent="0">
              <a:spcAft>
                <a:spcPts val="945"/>
              </a:spcAft>
              <a:buNone/>
            </a:pPr>
            <a:r>
              <a:rPr sz="2100" b="0" i="0">
                <a:solidFill>
                  <a:srgbClr val="1F2A36"/>
                </a:solidFill>
              </a:rPr>
              <a:t>Functions imported from </a:t>
            </a:r>
            <a:r>
              <a:rPr sz="1995" b="0" i="0">
                <a:solidFill>
                  <a:srgbClr val="8A2B52"/>
                </a:solidFill>
                <a:latin typeface="Consolas"/>
              </a:rPr>
              <a:t>vue</a:t>
            </a:r>
            <a:r>
              <a:rPr sz="2100" b="0" i="0">
                <a:solidFill>
                  <a:srgbClr val="1F2A36"/>
                </a:solidFill>
              </a:rPr>
              <a:t> and called inside </a:t>
            </a:r>
            <a:r>
              <a:rPr sz="1995" b="0" i="0">
                <a:solidFill>
                  <a:srgbClr val="8A2B52"/>
                </a:solidFill>
                <a:latin typeface="Consolas"/>
              </a:rPr>
              <a:t>&lt;script setup&gt;</a:t>
            </a:r>
            <a:r>
              <a:rPr sz="2100" b="0" i="0">
                <a:solidFill>
                  <a:srgbClr val="1F2A36"/>
                </a:solidFill>
              </a:rPr>
              <a:t>:</a:t>
            </a:r>
          </a:p>
          <a:p>
            <a:pPr marL="274320" indent="-256032">
              <a:spcAft>
                <a:spcPts val="945"/>
              </a:spcAft>
              <a:buClr>
                <a:srgbClr val="42B883"/>
              </a:buClr>
              <a:buSzPct val="100000"/>
              <a:buFont typeface="Arial"/>
              <a:buChar char="•"/>
            </a:pPr>
            <a:r>
              <a:rPr sz="1995" b="0" i="0">
                <a:solidFill>
                  <a:srgbClr val="8A2B52"/>
                </a:solidFill>
                <a:latin typeface="Consolas"/>
              </a:rPr>
              <a:t>onBeforeMount</a:t>
            </a:r>
            <a:r>
              <a:rPr sz="2100" b="0" i="0">
                <a:solidFill>
                  <a:srgbClr val="1F2A36"/>
                </a:solidFill>
              </a:rPr>
              <a:t> / </a:t>
            </a:r>
            <a:r>
              <a:rPr sz="1995" b="0" i="0">
                <a:solidFill>
                  <a:srgbClr val="8A2B52"/>
                </a:solidFill>
                <a:latin typeface="Consolas"/>
              </a:rPr>
              <a:t>onMounted</a:t>
            </a:r>
          </a:p>
          <a:p>
            <a:pPr marL="274320" indent="-256032">
              <a:spcAft>
                <a:spcPts val="945"/>
              </a:spcAft>
              <a:buClr>
                <a:srgbClr val="42B883"/>
              </a:buClr>
              <a:buSzPct val="100000"/>
              <a:buFont typeface="Arial"/>
              <a:buChar char="•"/>
            </a:pPr>
            <a:r>
              <a:rPr sz="1995" b="0" i="0">
                <a:solidFill>
                  <a:srgbClr val="8A2B52"/>
                </a:solidFill>
                <a:latin typeface="Consolas"/>
              </a:rPr>
              <a:t>onBeforeUpdate</a:t>
            </a:r>
            <a:r>
              <a:rPr sz="2100" b="0" i="0">
                <a:solidFill>
                  <a:srgbClr val="1F2A36"/>
                </a:solidFill>
              </a:rPr>
              <a:t> / </a:t>
            </a:r>
            <a:r>
              <a:rPr sz="1995" b="0" i="0">
                <a:solidFill>
                  <a:srgbClr val="8A2B52"/>
                </a:solidFill>
                <a:latin typeface="Consolas"/>
              </a:rPr>
              <a:t>onUpdated</a:t>
            </a:r>
          </a:p>
          <a:p>
            <a:pPr marL="274320" indent="-256032">
              <a:spcAft>
                <a:spcPts val="945"/>
              </a:spcAft>
              <a:buClr>
                <a:srgbClr val="42B883"/>
              </a:buClr>
              <a:buSzPct val="100000"/>
              <a:buFont typeface="Arial"/>
              <a:buChar char="•"/>
            </a:pPr>
            <a:r>
              <a:rPr sz="1995" b="0" i="0">
                <a:solidFill>
                  <a:srgbClr val="8A2B52"/>
                </a:solidFill>
                <a:latin typeface="Consolas"/>
              </a:rPr>
              <a:t>onBeforeUnmount</a:t>
            </a:r>
            <a:r>
              <a:rPr sz="2100" b="0" i="0">
                <a:solidFill>
                  <a:srgbClr val="1F2A36"/>
                </a:solidFill>
              </a:rPr>
              <a:t> / </a:t>
            </a:r>
            <a:r>
              <a:rPr sz="1995" b="0" i="0">
                <a:solidFill>
                  <a:srgbClr val="8A2B52"/>
                </a:solidFill>
                <a:latin typeface="Consolas"/>
              </a:rPr>
              <a:t>onUnmounted</a:t>
            </a:r>
          </a:p>
          <a:p>
            <a:pPr marL="274320" indent="-256032">
              <a:spcAft>
                <a:spcPts val="945"/>
              </a:spcAft>
              <a:buClr>
                <a:srgbClr val="42B883"/>
              </a:buClr>
              <a:buSzPct val="100000"/>
              <a:buFont typeface="Arial"/>
              <a:buChar char="•"/>
            </a:pPr>
            <a:r>
              <a:rPr sz="1995" b="0" i="0">
                <a:solidFill>
                  <a:srgbClr val="8A2B52"/>
                </a:solidFill>
                <a:latin typeface="Consolas"/>
              </a:rPr>
              <a:t>onErrorCaptured</a:t>
            </a:r>
            <a:r>
              <a:rPr sz="2100" b="0" i="0">
                <a:solidFill>
                  <a:srgbClr val="1F2A36"/>
                </a:solidFill>
              </a:rPr>
              <a:t>, </a:t>
            </a:r>
            <a:r>
              <a:rPr sz="1995" b="0" i="0">
                <a:solidFill>
                  <a:srgbClr val="8A2B52"/>
                </a:solidFill>
                <a:latin typeface="Consolas"/>
              </a:rPr>
              <a:t>onActivated</a:t>
            </a:r>
            <a:r>
              <a:rPr sz="2100" b="0" i="0">
                <a:solidFill>
                  <a:srgbClr val="1F2A36"/>
                </a:solidFill>
              </a:rPr>
              <a:t>, </a:t>
            </a:r>
            <a:r>
              <a:rPr sz="1995" b="0" i="0">
                <a:solidFill>
                  <a:srgbClr val="8A2B52"/>
                </a:solidFill>
                <a:latin typeface="Consolas"/>
              </a:rPr>
              <a:t>onDeactivated</a:t>
            </a:r>
          </a:p>
        </p:txBody>
      </p:sp>
      <p:sp>
        <p:nvSpPr>
          <p:cNvPr id="7" name="Tip"/>
          <p:cNvSpPr/>
          <p:nvPr/>
        </p:nvSpPr>
        <p:spPr>
          <a:xfrm>
            <a:off x="457200" y="4525899"/>
            <a:ext cx="4572000" cy="143256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900" b="0" i="0">
                <a:solidFill>
                  <a:srgbClr val="1F2A36"/>
                </a:solidFill>
              </a:rPr>
              <a:t>There's no </a:t>
            </a:r>
            <a:r>
              <a:rPr sz="1805" b="0" i="0">
                <a:solidFill>
                  <a:srgbClr val="8A2B52"/>
                </a:solidFill>
                <a:latin typeface="Consolas"/>
              </a:rPr>
              <a:t>onCreated</a:t>
            </a:r>
            <a:r>
              <a:rPr sz="1900" b="0" i="0">
                <a:solidFill>
                  <a:srgbClr val="1F2A36"/>
                </a:solidFill>
              </a:rPr>
              <a:t>: the body of </a:t>
            </a:r>
            <a:r>
              <a:rPr sz="1805" b="0" i="0">
                <a:solidFill>
                  <a:srgbClr val="8A2B52"/>
                </a:solidFill>
                <a:latin typeface="Consolas"/>
              </a:rPr>
              <a:t>&lt;script setup&gt;</a:t>
            </a:r>
            <a:r>
              <a:rPr sz="1900" b="0" i="0">
                <a:solidFill>
                  <a:srgbClr val="1F2A36"/>
                </a:solidFill>
              </a:rPr>
              <a:t> is that hook. Vue 2 named the unmount pair </a:t>
            </a:r>
            <a:r>
              <a:rPr sz="1805" b="0" i="0">
                <a:solidFill>
                  <a:srgbClr val="8A2B52"/>
                </a:solidFill>
                <a:latin typeface="Consolas"/>
              </a:rPr>
              <a:t>beforeDestroy</a:t>
            </a:r>
            <a:r>
              <a:rPr sz="1900" b="0" i="0">
                <a:solidFill>
                  <a:srgbClr val="1F2A36"/>
                </a:solidFill>
              </a:rPr>
              <a:t> and </a:t>
            </a:r>
            <a:r>
              <a:rPr sz="1805" b="0" i="0">
                <a:solidFill>
                  <a:srgbClr val="8A2B52"/>
                </a:solidFill>
                <a:latin typeface="Consolas"/>
              </a:rPr>
              <a:t>destroyed</a:t>
            </a:r>
            <a:r>
              <a:rPr sz="1900" b="0" i="0">
                <a:solidFill>
                  <a:srgbClr val="1F2A36"/>
                </a:solidFill>
              </a:rPr>
              <a: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144</a:t>
            </a:fld>
            <a:endParaRPr lang="en-US" sz="900">
              <a:solidFill>
                <a:srgbClr val="9AA7B4"/>
              </a:solidFill>
            </a:endParaRPr>
          </a:p>
        </p:txBody>
      </p:sp>
    </p:spTree>
    <p:extLst>
      <p:ext uri="{BB962C8B-B14F-4D97-AF65-F5344CB8AC3E}">
        <p14:creationId xmlns:p14="http://schemas.microsoft.com/office/powerpoint/2010/main" val="373483049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1F8D-8428-4B43-9DCE-5D63D29567E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Setup (replacing beforeCreate / created)</a:t>
            </a:r>
          </a:p>
        </p:txBody>
      </p:sp>
      <p:sp>
        <p:nvSpPr>
          <p:cNvPr id="3" name="Body"/>
          <p:cNvSpPr txBox="1"/>
          <p:nvPr/>
        </p:nvSpPr>
        <p:spPr>
          <a:xfrm>
            <a:off x="457200" y="1261872"/>
            <a:ext cx="8229600" cy="296735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body of </a:t>
            </a:r>
            <a:r>
              <a:rPr sz="2090" b="0" i="0">
                <a:solidFill>
                  <a:srgbClr val="8A2B52"/>
                </a:solidFill>
                <a:latin typeface="Consolas"/>
              </a:rPr>
              <a:t>&lt;script setup&gt;</a:t>
            </a:r>
            <a:r>
              <a:rPr sz="2200" b="0" i="0">
                <a:solidFill>
                  <a:srgbClr val="1F2A36"/>
                </a:solidFill>
              </a:rPr>
              <a:t> runs once per component instance, before it's mounted</a:t>
            </a:r>
          </a:p>
          <a:p>
            <a:pPr marL="274320" indent="-256032">
              <a:spcAft>
                <a:spcPts val="990"/>
              </a:spcAft>
              <a:buClr>
                <a:srgbClr val="42B883"/>
              </a:buClr>
              <a:buSzPct val="100000"/>
              <a:buFont typeface="Arial"/>
              <a:buChar char="•"/>
            </a:pPr>
            <a:r>
              <a:rPr sz="2200" b="0" i="0">
                <a:solidFill>
                  <a:srgbClr val="1F2A36"/>
                </a:solidFill>
              </a:rPr>
              <a:t>State and props exist; there's </a:t>
            </a:r>
            <a:r>
              <a:rPr sz="2200" b="1" i="0">
                <a:solidFill>
                  <a:srgbClr val="1F2A36"/>
                </a:solidFill>
              </a:rPr>
              <a:t>no DOM yet</a:t>
            </a:r>
          </a:p>
          <a:p>
            <a:pPr marL="274320" indent="-256032">
              <a:spcAft>
                <a:spcPts val="990"/>
              </a:spcAft>
              <a:buClr>
                <a:srgbClr val="42B883"/>
              </a:buClr>
              <a:buSzPct val="100000"/>
              <a:buFont typeface="Arial"/>
              <a:buChar char="•"/>
            </a:pPr>
            <a:r>
              <a:rPr sz="2200" b="0" i="0">
                <a:solidFill>
                  <a:srgbClr val="1F2A36"/>
                </a:solidFill>
              </a:rPr>
              <a:t>This is where you:</a:t>
            </a:r>
          </a:p>
          <a:p>
            <a:pPr marL="566928" indent="-256032">
              <a:spcAft>
                <a:spcPts val="855"/>
              </a:spcAft>
              <a:buClr>
                <a:srgbClr val="6B7B8C"/>
              </a:buClr>
              <a:buSzPct val="100000"/>
              <a:buFont typeface="Arial"/>
              <a:buChar char="–"/>
            </a:pPr>
            <a:r>
              <a:rPr sz="1900" b="0" i="0">
                <a:solidFill>
                  <a:srgbClr val="3A4A5A"/>
                </a:solidFill>
              </a:rPr>
              <a:t>declare refs, computed values and functions</a:t>
            </a:r>
          </a:p>
          <a:p>
            <a:pPr marL="566928" indent="-256032">
              <a:spcAft>
                <a:spcPts val="855"/>
              </a:spcAft>
              <a:buClr>
                <a:srgbClr val="6B7B8C"/>
              </a:buClr>
              <a:buSzPct val="100000"/>
              <a:buFont typeface="Arial"/>
              <a:buChar char="–"/>
            </a:pPr>
            <a:r>
              <a:rPr sz="1900" b="0" i="0">
                <a:solidFill>
                  <a:srgbClr val="3A4A5A"/>
                </a:solidFill>
              </a:rPr>
              <a:t>register lifecycle hooks and watchers</a:t>
            </a:r>
          </a:p>
          <a:p>
            <a:pPr marL="566928" indent="-256032">
              <a:spcAft>
                <a:spcPts val="855"/>
              </a:spcAft>
              <a:buClr>
                <a:srgbClr val="6B7B8C"/>
              </a:buClr>
              <a:buSzPct val="100000"/>
              <a:buFont typeface="Arial"/>
              <a:buChar char="–"/>
            </a:pPr>
            <a:r>
              <a:rPr sz="1900" b="0" i="0">
                <a:solidFill>
                  <a:srgbClr val="3A4A5A"/>
                </a:solidFill>
              </a:rPr>
              <a:t>start any request whose result the first render doesn't need</a:t>
            </a:r>
          </a:p>
        </p:txBody>
      </p:sp>
      <p:sp>
        <p:nvSpPr>
          <p:cNvPr id="4" name="Code"/>
          <p:cNvSpPr/>
          <p:nvPr/>
        </p:nvSpPr>
        <p:spPr>
          <a:xfrm>
            <a:off x="457200" y="4284091"/>
            <a:ext cx="8229600" cy="189890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CF222E"/>
                </a:solidFill>
                <a:latin typeface="Consolas"/>
              </a:rPr>
              <a:t>const</a:t>
            </a:r>
            <a:r>
              <a:rPr sz="1700">
                <a:solidFill>
                  <a:srgbClr val="24292F"/>
                </a:solidFill>
                <a:latin typeface="Consolas"/>
              </a:rPr>
              <a:t> articles = ref([])</a:t>
            </a:r>
          </a:p>
          <a:p>
            <a:pPr marL="0" indent="0" algn="l">
              <a:lnSpc>
                <a:spcPct val="100000"/>
              </a:lnSpc>
              <a:buNone/>
            </a:pPr>
            <a:r>
              <a:rPr sz="1700">
                <a:solidFill>
                  <a:srgbClr val="CF222E"/>
                </a:solidFill>
                <a:latin typeface="Consolas"/>
              </a:rPr>
              <a:t>const</a:t>
            </a:r>
            <a:r>
              <a:rPr sz="1700">
                <a:solidFill>
                  <a:srgbClr val="24292F"/>
                </a:solidFill>
                <a:latin typeface="Consolas"/>
              </a:rPr>
              <a:t> loading = ref(</a:t>
            </a:r>
            <a:r>
              <a:rPr sz="1700">
                <a:solidFill>
                  <a:srgbClr val="CF222E"/>
                </a:solidFill>
                <a:latin typeface="Consolas"/>
              </a:rPr>
              <a:t>true</a:t>
            </a:r>
            <a:r>
              <a:rPr sz="1700">
                <a:solidFill>
                  <a:srgbClr val="24292F"/>
                </a:solidFill>
                <a:latin typeface="Consolas"/>
              </a:rPr>
              <a:t>)</a:t>
            </a:r>
          </a:p>
          <a:p>
            <a:pPr marL="0" indent="0" algn="l">
              <a:lnSpc>
                <a:spcPct val="100000"/>
              </a:lnSpc>
              <a:buNone/>
            </a:pPr>
            <a:r>
              <a:rPr sz="1700">
                <a:solidFill>
                  <a:srgbClr val="24292F"/>
                </a:solidFill>
                <a:latin typeface="Consolas"/>
              </a:rPr>
              <a:t>fetchArticles().then((list) =&gt; {</a:t>
            </a:r>
          </a:p>
          <a:p>
            <a:pPr marL="0" indent="0" algn="l">
              <a:lnSpc>
                <a:spcPct val="100000"/>
              </a:lnSpc>
              <a:buNone/>
            </a:pPr>
            <a:r>
              <a:rPr sz="1700">
                <a:solidFill>
                  <a:srgbClr val="24292F"/>
                </a:solidFill>
                <a:latin typeface="Consolas"/>
              </a:rPr>
              <a:t>  articles.value = list</a:t>
            </a:r>
          </a:p>
          <a:p>
            <a:pPr marL="0" indent="0" algn="l">
              <a:lnSpc>
                <a:spcPct val="100000"/>
              </a:lnSpc>
              <a:buNone/>
            </a:pPr>
            <a:r>
              <a:rPr sz="1700">
                <a:solidFill>
                  <a:srgbClr val="24292F"/>
                </a:solidFill>
                <a:latin typeface="Consolas"/>
              </a:rPr>
              <a:t>  loading.value = </a:t>
            </a:r>
            <a:r>
              <a:rPr sz="1700">
                <a:solidFill>
                  <a:srgbClr val="CF222E"/>
                </a:solidFill>
                <a:latin typeface="Consolas"/>
              </a:rPr>
              <a:t>false</a:t>
            </a:r>
          </a:p>
          <a:p>
            <a:pPr marL="0" indent="0" algn="l">
              <a:lnSpc>
                <a:spcPct val="100000"/>
              </a:lnSpc>
              <a:buNone/>
            </a:pPr>
            <a:r>
              <a:rPr sz="17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145</a:t>
            </a:fld>
            <a:endParaRPr lang="en-US" sz="900">
              <a:solidFill>
                <a:srgbClr val="9AA7B4"/>
              </a:solidFill>
            </a:endParaRPr>
          </a:p>
        </p:txBody>
      </p:sp>
    </p:spTree>
    <p:extLst>
      <p:ext uri="{BB962C8B-B14F-4D97-AF65-F5344CB8AC3E}">
        <p14:creationId xmlns:p14="http://schemas.microsoft.com/office/powerpoint/2010/main" val="72219441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683E-08CA-9C40-9493-7941B9E7B25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onBeforeMount</a:t>
            </a:r>
            <a:endParaRPr lang="en-US" b="0" i="0" u="none" strike="noStrike" baseline="0" dirty="0">
              <a:solidFill>
                <a:srgbClr val="000000"/>
              </a:solidFill>
              <a:latin typeface="Calibri Light" panose="020F0302020204030204" pitchFamily="34" charset="0"/>
            </a:endParaRP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Runs after setup, right before the first render is inserted into the DOM</a:t>
            </a:r>
          </a:p>
        </p:txBody>
      </p:sp>
      <p:sp>
        <p:nvSpPr>
          <p:cNvPr id="4" name="Code"/>
          <p:cNvSpPr/>
          <p:nvPr/>
        </p:nvSpPr>
        <p:spPr>
          <a:xfrm>
            <a:off x="457200" y="2193290"/>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import</a:t>
            </a:r>
            <a:r>
              <a:rPr sz="2000">
                <a:solidFill>
                  <a:srgbClr val="24292F"/>
                </a:solidFill>
                <a:latin typeface="Consolas"/>
              </a:rPr>
              <a:t> { onBeforeMount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'vue'</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onBeforeMount(() =&gt; {</a:t>
            </a:r>
          </a:p>
          <a:p>
            <a:pPr marL="0" indent="0" algn="l">
              <a:lnSpc>
                <a:spcPct val="100000"/>
              </a:lnSpc>
              <a:buNone/>
            </a:pPr>
            <a:r>
              <a:rPr sz="2000">
                <a:solidFill>
                  <a:srgbClr val="24292F"/>
                </a:solidFill>
                <a:latin typeface="Consolas"/>
              </a:rPr>
              <a:t>  console.log(</a:t>
            </a:r>
            <a:r>
              <a:rPr sz="2000">
                <a:solidFill>
                  <a:srgbClr val="0A3069"/>
                </a:solidFill>
                <a:latin typeface="Consolas"/>
              </a:rPr>
              <a:t>'about to render'</a:t>
            </a:r>
            <a:r>
              <a:rPr sz="2000">
                <a:solidFill>
                  <a:srgbClr val="24292F"/>
                </a:solidFill>
                <a:latin typeface="Consolas"/>
              </a:rPr>
              <a:t>)</a:t>
            </a:r>
          </a:p>
          <a:p>
            <a:pPr marL="0" indent="0" algn="l">
              <a:lnSpc>
                <a:spcPct val="100000"/>
              </a:lnSpc>
              <a:buNone/>
            </a:pPr>
            <a:r>
              <a:rPr sz="2000">
                <a:solidFill>
                  <a:srgbClr val="24292F"/>
                </a:solidFill>
                <a:latin typeface="Consolas"/>
              </a:rPr>
              <a:t>})</a:t>
            </a:r>
          </a:p>
        </p:txBody>
      </p:sp>
      <p:sp>
        <p:nvSpPr>
          <p:cNvPr id="5" name="Body"/>
          <p:cNvSpPr txBox="1"/>
          <p:nvPr/>
        </p:nvSpPr>
        <p:spPr>
          <a:xfrm>
            <a:off x="457200" y="420700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Rarely needed: setup already runs before mounting</a:t>
            </a:r>
          </a:p>
          <a:p>
            <a:pPr marL="274320" indent="-256032">
              <a:spcAft>
                <a:spcPts val="990"/>
              </a:spcAft>
              <a:buClr>
                <a:srgbClr val="42B883"/>
              </a:buClr>
              <a:buSzPct val="100000"/>
              <a:buFont typeface="Arial"/>
              <a:buChar char="•"/>
            </a:pPr>
            <a:r>
              <a:rPr sz="2200" b="0" i="0">
                <a:solidFill>
                  <a:srgbClr val="1F2A36"/>
                </a:solidFill>
              </a:rPr>
              <a:t>Not called during server-side rendering</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146</a:t>
            </a:fld>
            <a:endParaRPr lang="en-US" sz="900">
              <a:solidFill>
                <a:srgbClr val="9AA7B4"/>
              </a:solidFill>
            </a:endParaRPr>
          </a:p>
        </p:txBody>
      </p:sp>
    </p:spTree>
    <p:extLst>
      <p:ext uri="{BB962C8B-B14F-4D97-AF65-F5344CB8AC3E}">
        <p14:creationId xmlns:p14="http://schemas.microsoft.com/office/powerpoint/2010/main" val="28911288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777C-0114-B34D-898E-F130F01A73B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onMounted</a:t>
            </a:r>
          </a:p>
        </p:txBody>
      </p:sp>
      <p:sp>
        <p:nvSpPr>
          <p:cNvPr id="3" name="Body"/>
          <p:cNvSpPr txBox="1"/>
          <p:nvPr/>
        </p:nvSpPr>
        <p:spPr>
          <a:xfrm>
            <a:off x="457200" y="1261872"/>
            <a:ext cx="8229600" cy="178739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component's DOM has been created and inserted</a:t>
            </a:r>
          </a:p>
          <a:p>
            <a:pPr marL="274320" indent="-256032">
              <a:spcAft>
                <a:spcPts val="990"/>
              </a:spcAft>
              <a:buClr>
                <a:srgbClr val="42B883"/>
              </a:buClr>
              <a:buSzPct val="100000"/>
              <a:buFont typeface="Arial"/>
              <a:buChar char="•"/>
            </a:pPr>
            <a:r>
              <a:rPr sz="2200" b="0" i="0">
                <a:solidFill>
                  <a:srgbClr val="1F2A36"/>
                </a:solidFill>
              </a:rPr>
              <a:t>Full access to the rendered DOM through </a:t>
            </a:r>
            <a:r>
              <a:rPr sz="2200" b="1" i="0">
                <a:solidFill>
                  <a:srgbClr val="1F2A36"/>
                </a:solidFill>
              </a:rPr>
              <a:t>template refs</a:t>
            </a:r>
          </a:p>
          <a:p>
            <a:pPr marL="274320" indent="-256032">
              <a:spcAft>
                <a:spcPts val="990"/>
              </a:spcAft>
              <a:buClr>
                <a:srgbClr val="42B883"/>
              </a:buClr>
              <a:buSzPct val="100000"/>
              <a:buFont typeface="Arial"/>
              <a:buChar char="•"/>
            </a:pPr>
            <a:r>
              <a:rPr sz="2200" b="0" i="0">
                <a:solidFill>
                  <a:srgbClr val="1F2A36"/>
                </a:solidFill>
              </a:rPr>
              <a:t>Use for measuring elements, focusing inputs, and integrating non-Vue libraries</a:t>
            </a:r>
          </a:p>
        </p:txBody>
      </p:sp>
      <p:sp>
        <p:nvSpPr>
          <p:cNvPr id="4" name="Code"/>
          <p:cNvSpPr/>
          <p:nvPr/>
        </p:nvSpPr>
        <p:spPr>
          <a:xfrm>
            <a:off x="457200" y="3104134"/>
            <a:ext cx="8229600" cy="199339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CF222E"/>
                </a:solidFill>
                <a:latin typeface="Consolas"/>
              </a:rPr>
              <a:t>const</a:t>
            </a:r>
            <a:r>
              <a:rPr sz="1800">
                <a:solidFill>
                  <a:srgbClr val="24292F"/>
                </a:solidFill>
                <a:latin typeface="Consolas"/>
              </a:rPr>
              <a:t> input = ref(</a:t>
            </a:r>
            <a:r>
              <a:rPr sz="1800">
                <a:solidFill>
                  <a:srgbClr val="CF222E"/>
                </a:solidFill>
                <a:latin typeface="Consolas"/>
              </a:rPr>
              <a:t>null</a:t>
            </a:r>
            <a:r>
              <a:rPr sz="1800">
                <a:solidFill>
                  <a:srgbClr val="24292F"/>
                </a:solidFill>
                <a:latin typeface="Consolas"/>
              </a:rPr>
              <a:t>)          </a:t>
            </a:r>
            <a:r>
              <a:rPr sz="1800" i="1">
                <a:solidFill>
                  <a:srgbClr val="6E7781"/>
                </a:solidFill>
                <a:latin typeface="Consolas"/>
              </a:rPr>
              <a:t>// &lt;input ref="input"&gt;</a:t>
            </a:r>
          </a:p>
          <a:p>
            <a:pPr marL="0" indent="0" algn="l">
              <a:lnSpc>
                <a:spcPct val="100000"/>
              </a:lnSpc>
              <a:buNone/>
            </a:pPr>
            <a:r>
              <a:rPr sz="1800">
                <a:latin typeface="Consolas"/>
              </a:rPr>
              <a:t> </a:t>
            </a:r>
          </a:p>
          <a:p>
            <a:pPr marL="0" indent="0" algn="l">
              <a:lnSpc>
                <a:spcPct val="100000"/>
              </a:lnSpc>
              <a:buNone/>
            </a:pPr>
            <a:r>
              <a:rPr sz="1800">
                <a:solidFill>
                  <a:srgbClr val="24292F"/>
                </a:solidFill>
                <a:latin typeface="Consolas"/>
              </a:rPr>
              <a:t>onMounted(</a:t>
            </a:r>
            <a:r>
              <a:rPr sz="1800">
                <a:solidFill>
                  <a:srgbClr val="CF222E"/>
                </a:solidFill>
                <a:latin typeface="Consolas"/>
              </a:rPr>
              <a:t>async</a:t>
            </a:r>
            <a:r>
              <a:rPr sz="1800">
                <a:solidFill>
                  <a:srgbClr val="24292F"/>
                </a:solidFill>
                <a:latin typeface="Consolas"/>
              </a:rPr>
              <a:t> () =&gt; {</a:t>
            </a:r>
          </a:p>
          <a:p>
            <a:pPr marL="0" indent="0" algn="l">
              <a:lnSpc>
                <a:spcPct val="100000"/>
              </a:lnSpc>
              <a:buNone/>
            </a:pPr>
            <a:r>
              <a:rPr sz="1800">
                <a:solidFill>
                  <a:srgbClr val="24292F"/>
                </a:solidFill>
                <a:latin typeface="Consolas"/>
              </a:rPr>
              <a:t>  input.value.focus()</a:t>
            </a:r>
          </a:p>
          <a:p>
            <a:pPr marL="0" indent="0" algn="l">
              <a:lnSpc>
                <a:spcPct val="100000"/>
              </a:lnSpc>
              <a:buNone/>
            </a:pPr>
            <a:r>
              <a:rPr sz="1800">
                <a:solidFill>
                  <a:srgbClr val="24292F"/>
                </a:solidFill>
                <a:latin typeface="Consolas"/>
              </a:rPr>
              <a:t>  articles.value = </a:t>
            </a:r>
            <a:r>
              <a:rPr sz="1800">
                <a:solidFill>
                  <a:srgbClr val="CF222E"/>
                </a:solidFill>
                <a:latin typeface="Consolas"/>
              </a:rPr>
              <a:t>await</a:t>
            </a:r>
            <a:r>
              <a:rPr sz="1800">
                <a:solidFill>
                  <a:srgbClr val="24292F"/>
                </a:solidFill>
                <a:latin typeface="Consolas"/>
              </a:rPr>
              <a:t> fetchArticles()</a:t>
            </a:r>
          </a:p>
          <a:p>
            <a:pPr marL="0" indent="0" algn="l">
              <a:lnSpc>
                <a:spcPct val="100000"/>
              </a:lnSpc>
              <a:buNone/>
            </a:pPr>
            <a:r>
              <a:rPr sz="1800">
                <a:solidFill>
                  <a:srgbClr val="24292F"/>
                </a:solidFill>
                <a:latin typeface="Consolas"/>
              </a:rPr>
              <a:t>})</a:t>
            </a:r>
          </a:p>
        </p:txBody>
      </p:sp>
      <p:sp>
        <p:nvSpPr>
          <p:cNvPr id="5" name="Body"/>
          <p:cNvSpPr txBox="1"/>
          <p:nvPr/>
        </p:nvSpPr>
        <p:spPr>
          <a:xfrm>
            <a:off x="457200" y="5243830"/>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Children are mounted before their parent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147</a:t>
            </a:fld>
            <a:endParaRPr lang="en-US" sz="900">
              <a:solidFill>
                <a:srgbClr val="9AA7B4"/>
              </a:solidFill>
            </a:endParaRPr>
          </a:p>
        </p:txBody>
      </p:sp>
    </p:spTree>
    <p:extLst>
      <p:ext uri="{BB962C8B-B14F-4D97-AF65-F5344CB8AC3E}">
        <p14:creationId xmlns:p14="http://schemas.microsoft.com/office/powerpoint/2010/main" val="37204201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28DA-2D54-1C42-B200-13DE93EDB13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onBeforeUpdate</a:t>
            </a:r>
          </a:p>
        </p:txBody>
      </p:sp>
      <p:sp>
        <p:nvSpPr>
          <p:cNvPr id="3" name="Body"/>
          <p:cNvSpPr txBox="1"/>
          <p:nvPr/>
        </p:nvSpPr>
        <p:spPr>
          <a:xfrm>
            <a:off x="457200" y="1261872"/>
            <a:ext cx="8229600" cy="139560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Runs after state changes, </a:t>
            </a:r>
            <a:r>
              <a:rPr sz="2200" b="1" i="0">
                <a:solidFill>
                  <a:srgbClr val="1F2A36"/>
                </a:solidFill>
              </a:rPr>
              <a:t>before</a:t>
            </a:r>
            <a:r>
              <a:rPr sz="2200" b="0" i="0">
                <a:solidFill>
                  <a:srgbClr val="1F2A36"/>
                </a:solidFill>
              </a:rPr>
              <a:t> the DOM is patched</a:t>
            </a:r>
          </a:p>
          <a:p>
            <a:pPr marL="274320" indent="-256032">
              <a:spcAft>
                <a:spcPts val="990"/>
              </a:spcAft>
              <a:buClr>
                <a:srgbClr val="42B883"/>
              </a:buClr>
              <a:buSzPct val="100000"/>
              <a:buFont typeface="Arial"/>
              <a:buChar char="•"/>
            </a:pPr>
            <a:r>
              <a:rPr sz="2200" b="0" i="0">
                <a:solidFill>
                  <a:srgbClr val="1F2A36"/>
                </a:solidFill>
              </a:rPr>
              <a:t>Use it to read the DOM as it was before the update</a:t>
            </a:r>
          </a:p>
          <a:p>
            <a:pPr marL="566928" indent="-256032">
              <a:spcAft>
                <a:spcPts val="855"/>
              </a:spcAft>
              <a:buClr>
                <a:srgbClr val="6B7B8C"/>
              </a:buClr>
              <a:buSzPct val="100000"/>
              <a:buFont typeface="Arial"/>
              <a:buChar char="–"/>
            </a:pPr>
            <a:r>
              <a:rPr sz="1900" b="0" i="0">
                <a:solidFill>
                  <a:srgbClr val="3A4A5A"/>
                </a:solidFill>
              </a:rPr>
              <a:t>for example, to record a scroll position</a:t>
            </a:r>
          </a:p>
        </p:txBody>
      </p:sp>
      <p:sp>
        <p:nvSpPr>
          <p:cNvPr id="4" name="Code"/>
          <p:cNvSpPr/>
          <p:nvPr/>
        </p:nvSpPr>
        <p:spPr>
          <a:xfrm>
            <a:off x="457200" y="2712339"/>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let</a:t>
            </a:r>
            <a:r>
              <a:rPr sz="2000">
                <a:solidFill>
                  <a:srgbClr val="24292F"/>
                </a:solidFill>
                <a:latin typeface="Consolas"/>
              </a:rPr>
              <a:t> previousHeight = </a:t>
            </a:r>
            <a:r>
              <a:rPr sz="2000">
                <a:solidFill>
                  <a:srgbClr val="0550AE"/>
                </a:solidFill>
                <a:latin typeface="Consolas"/>
              </a:rPr>
              <a:t>0</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onBeforeUpdate(() =&gt; {</a:t>
            </a:r>
          </a:p>
          <a:p>
            <a:pPr marL="0" indent="0" algn="l">
              <a:lnSpc>
                <a:spcPct val="100000"/>
              </a:lnSpc>
              <a:buNone/>
            </a:pPr>
            <a:r>
              <a:rPr sz="2000">
                <a:solidFill>
                  <a:srgbClr val="24292F"/>
                </a:solidFill>
                <a:latin typeface="Consolas"/>
              </a:rPr>
              <a:t>  previousHeight = list.value.scrollHeight</a:t>
            </a:r>
          </a:p>
          <a:p>
            <a:pPr marL="0" indent="0" algn="l">
              <a:lnSpc>
                <a:spcPct val="100000"/>
              </a:lnSpc>
              <a:buNone/>
            </a:pPr>
            <a:r>
              <a:rPr sz="20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148</a:t>
            </a:fld>
            <a:endParaRPr lang="en-US" sz="900">
              <a:solidFill>
                <a:srgbClr val="9AA7B4"/>
              </a:solidFill>
            </a:endParaRPr>
          </a:p>
        </p:txBody>
      </p:sp>
    </p:spTree>
    <p:extLst>
      <p:ext uri="{BB962C8B-B14F-4D97-AF65-F5344CB8AC3E}">
        <p14:creationId xmlns:p14="http://schemas.microsoft.com/office/powerpoint/2010/main" val="178188341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E616-A87C-1446-A254-F157FB183F0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onUpdated</a:t>
            </a:r>
          </a:p>
        </p:txBody>
      </p:sp>
      <p:sp>
        <p:nvSpPr>
          <p:cNvPr id="3" name="Body"/>
          <p:cNvSpPr txBox="1"/>
          <p:nvPr/>
        </p:nvSpPr>
        <p:spPr>
          <a:xfrm>
            <a:off x="457200" y="1261872"/>
            <a:ext cx="8229600" cy="21170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Runs after a state change has re-rendered and patched the DOM</a:t>
            </a:r>
          </a:p>
          <a:p>
            <a:pPr marL="274320" indent="-256032">
              <a:spcAft>
                <a:spcPts val="990"/>
              </a:spcAft>
              <a:buClr>
                <a:srgbClr val="42B883"/>
              </a:buClr>
              <a:buSzPct val="100000"/>
              <a:buFont typeface="Arial"/>
              <a:buChar char="•"/>
            </a:pPr>
            <a:r>
              <a:rPr sz="2200" b="0" i="0">
                <a:solidFill>
                  <a:srgbClr val="1F2A36"/>
                </a:solidFill>
              </a:rPr>
              <a:t>Don't change state here without a guard — you'll create an update loop</a:t>
            </a:r>
          </a:p>
          <a:p>
            <a:pPr marL="274320" indent="-256032">
              <a:spcAft>
                <a:spcPts val="990"/>
              </a:spcAft>
              <a:buClr>
                <a:srgbClr val="42B883"/>
              </a:buClr>
              <a:buSzPct val="100000"/>
              <a:buFont typeface="Arial"/>
              <a:buChar char="•"/>
            </a:pPr>
            <a:r>
              <a:rPr sz="2200" b="0" i="0">
                <a:solidFill>
                  <a:srgbClr val="1F2A36"/>
                </a:solidFill>
              </a:rPr>
              <a:t>To react to one specific value, prefer </a:t>
            </a:r>
            <a:r>
              <a:rPr sz="2090" b="0" i="0">
                <a:solidFill>
                  <a:srgbClr val="8A2B52"/>
                </a:solidFill>
                <a:latin typeface="Consolas"/>
              </a:rPr>
              <a:t>watch()</a:t>
            </a:r>
          </a:p>
        </p:txBody>
      </p:sp>
      <p:sp>
        <p:nvSpPr>
          <p:cNvPr id="4" name="Code"/>
          <p:cNvSpPr/>
          <p:nvPr/>
        </p:nvSpPr>
        <p:spPr>
          <a:xfrm>
            <a:off x="457200" y="3433826"/>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onUpdated(() =&gt; {</a:t>
            </a:r>
          </a:p>
          <a:p>
            <a:pPr marL="0" indent="0" algn="l">
              <a:lnSpc>
                <a:spcPct val="100000"/>
              </a:lnSpc>
              <a:buNone/>
            </a:pPr>
            <a:r>
              <a:rPr sz="2000">
                <a:solidFill>
                  <a:srgbClr val="24292F"/>
                </a:solidFill>
                <a:latin typeface="Consolas"/>
              </a:rPr>
              <a:t>  </a:t>
            </a:r>
            <a:r>
              <a:rPr sz="2000">
                <a:solidFill>
                  <a:srgbClr val="CF222E"/>
                </a:solidFill>
                <a:latin typeface="Consolas"/>
              </a:rPr>
              <a:t>const</a:t>
            </a:r>
            <a:r>
              <a:rPr sz="2000">
                <a:solidFill>
                  <a:srgbClr val="24292F"/>
                </a:solidFill>
                <a:latin typeface="Consolas"/>
              </a:rPr>
              <a:t> el = list.value</a:t>
            </a:r>
          </a:p>
          <a:p>
            <a:pPr marL="0" indent="0" algn="l">
              <a:lnSpc>
                <a:spcPct val="100000"/>
              </a:lnSpc>
              <a:buNone/>
            </a:pPr>
            <a:r>
              <a:rPr sz="2000">
                <a:solidFill>
                  <a:srgbClr val="24292F"/>
                </a:solidFill>
                <a:latin typeface="Consolas"/>
              </a:rPr>
              <a:t>  </a:t>
            </a:r>
            <a:r>
              <a:rPr sz="2000">
                <a:solidFill>
                  <a:srgbClr val="CF222E"/>
                </a:solidFill>
                <a:latin typeface="Consolas"/>
              </a:rPr>
              <a:t>if</a:t>
            </a:r>
            <a:r>
              <a:rPr sz="2000">
                <a:solidFill>
                  <a:srgbClr val="24292F"/>
                </a:solidFill>
                <a:latin typeface="Consolas"/>
              </a:rPr>
              <a:t> (wasAtBottom) el.scrollTop = el.scrollHeight</a:t>
            </a:r>
          </a:p>
          <a:p>
            <a:pPr marL="0" indent="0" algn="l">
              <a:lnSpc>
                <a:spcPct val="100000"/>
              </a:lnSpc>
              <a:buNone/>
            </a:pPr>
            <a:r>
              <a:rPr sz="20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149</a:t>
            </a:fld>
            <a:endParaRPr lang="en-US" sz="900">
              <a:solidFill>
                <a:srgbClr val="9AA7B4"/>
              </a:solidFill>
            </a:endParaRPr>
          </a:p>
        </p:txBody>
      </p:sp>
    </p:spTree>
    <p:extLst>
      <p:ext uri="{BB962C8B-B14F-4D97-AF65-F5344CB8AC3E}">
        <p14:creationId xmlns:p14="http://schemas.microsoft.com/office/powerpoint/2010/main" val="3805779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ABD1-5991-5A46-9B5F-B1EE386AAFB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onBeforeUnmount</a:t>
            </a:r>
          </a:p>
        </p:txBody>
      </p:sp>
      <p:sp>
        <p:nvSpPr>
          <p:cNvPr id="3" name="Body"/>
          <p:cNvSpPr txBox="1"/>
          <p:nvPr/>
        </p:nvSpPr>
        <p:spPr>
          <a:xfrm>
            <a:off x="457200" y="1261872"/>
            <a:ext cx="8229600" cy="323494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Fires right before teardown, while the component is still fully functional</a:t>
            </a:r>
          </a:p>
          <a:p>
            <a:pPr marL="274320" indent="-256032">
              <a:spcAft>
                <a:spcPts val="990"/>
              </a:spcAft>
              <a:buClr>
                <a:srgbClr val="42B883"/>
              </a:buClr>
              <a:buSzPct val="100000"/>
              <a:buFont typeface="Arial"/>
              <a:buChar char="•"/>
            </a:pPr>
            <a:r>
              <a:rPr sz="2200" b="0" i="0">
                <a:solidFill>
                  <a:srgbClr val="1F2A36"/>
                </a:solidFill>
              </a:rPr>
              <a:t>Clean up anything </a:t>
            </a:r>
            <a:r>
              <a:rPr sz="2200" b="1" i="0">
                <a:solidFill>
                  <a:srgbClr val="1F2A36"/>
                </a:solidFill>
              </a:rPr>
              <a:t>you</a:t>
            </a:r>
            <a:r>
              <a:rPr sz="2200" b="0" i="0">
                <a:solidFill>
                  <a:srgbClr val="1F2A36"/>
                </a:solidFill>
              </a:rPr>
              <a:t> created that Vue doesn't know about:</a:t>
            </a:r>
          </a:p>
          <a:p>
            <a:pPr marL="566928" indent="-256032">
              <a:spcAft>
                <a:spcPts val="855"/>
              </a:spcAft>
              <a:buClr>
                <a:srgbClr val="6B7B8C"/>
              </a:buClr>
              <a:buSzPct val="100000"/>
              <a:buFont typeface="Arial"/>
              <a:buChar char="–"/>
            </a:pPr>
            <a:r>
              <a:rPr sz="1900" b="0" i="0">
                <a:solidFill>
                  <a:srgbClr val="3A4A5A"/>
                </a:solidFill>
              </a:rPr>
              <a:t>timers (</a:t>
            </a:r>
            <a:r>
              <a:rPr sz="1805" b="0" i="0">
                <a:solidFill>
                  <a:srgbClr val="8A2B52"/>
                </a:solidFill>
                <a:latin typeface="Consolas"/>
              </a:rPr>
              <a:t>setInterval</a:t>
            </a:r>
            <a:r>
              <a:rPr sz="1900" b="0" i="0">
                <a:solidFill>
                  <a:srgbClr val="3A4A5A"/>
                </a:solidFill>
              </a:rPr>
              <a:t>)</a:t>
            </a:r>
          </a:p>
          <a:p>
            <a:pPr marL="566928" indent="-256032">
              <a:spcAft>
                <a:spcPts val="855"/>
              </a:spcAft>
              <a:buClr>
                <a:srgbClr val="6B7B8C"/>
              </a:buClr>
              <a:buSzPct val="100000"/>
              <a:buFont typeface="Arial"/>
              <a:buChar char="–"/>
            </a:pPr>
            <a:r>
              <a:rPr sz="1900" b="0" i="0">
                <a:solidFill>
                  <a:srgbClr val="3A4A5A"/>
                </a:solidFill>
              </a:rPr>
              <a:t>subscriptions (WebSocket, event source)</a:t>
            </a:r>
          </a:p>
          <a:p>
            <a:pPr marL="566928" indent="-256032">
              <a:spcAft>
                <a:spcPts val="855"/>
              </a:spcAft>
              <a:buClr>
                <a:srgbClr val="6B7B8C"/>
              </a:buClr>
              <a:buSzPct val="100000"/>
              <a:buFont typeface="Arial"/>
              <a:buChar char="–"/>
            </a:pPr>
            <a:r>
              <a:rPr sz="1900" b="0" i="0">
                <a:solidFill>
                  <a:srgbClr val="3A4A5A"/>
                </a:solidFill>
              </a:rPr>
              <a:t>listeners on </a:t>
            </a:r>
            <a:r>
              <a:rPr sz="1805" b="0" i="0">
                <a:solidFill>
                  <a:srgbClr val="8A2B52"/>
                </a:solidFill>
                <a:latin typeface="Consolas"/>
              </a:rPr>
              <a:t>window</a:t>
            </a:r>
            <a:r>
              <a:rPr sz="1900" b="0" i="0">
                <a:solidFill>
                  <a:srgbClr val="3A4A5A"/>
                </a:solidFill>
              </a:rPr>
              <a:t> or </a:t>
            </a:r>
            <a:r>
              <a:rPr sz="1805" b="0" i="0">
                <a:solidFill>
                  <a:srgbClr val="8A2B52"/>
                </a:solidFill>
                <a:latin typeface="Consolas"/>
              </a:rPr>
              <a:t>document</a:t>
            </a:r>
          </a:p>
          <a:p>
            <a:pPr marL="566928" indent="-256032">
              <a:spcAft>
                <a:spcPts val="855"/>
              </a:spcAft>
              <a:buClr>
                <a:srgbClr val="6B7B8C"/>
              </a:buClr>
              <a:buSzPct val="100000"/>
              <a:buFont typeface="Arial"/>
              <a:buChar char="–"/>
            </a:pPr>
            <a:r>
              <a:rPr sz="1900" b="0" i="0">
                <a:solidFill>
                  <a:srgbClr val="3A4A5A"/>
                </a:solidFill>
              </a:rPr>
              <a:t>instances of non-Vue libraries (charts, maps, editors)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150</a:t>
            </a:fld>
            <a:endParaRPr lang="en-US" sz="900">
              <a:solidFill>
                <a:srgbClr val="9AA7B4"/>
              </a:solidFill>
            </a:endParaRPr>
          </a:p>
        </p:txBody>
      </p:sp>
    </p:spTree>
    <p:extLst>
      <p:ext uri="{BB962C8B-B14F-4D97-AF65-F5344CB8AC3E}">
        <p14:creationId xmlns:p14="http://schemas.microsoft.com/office/powerpoint/2010/main" val="33428836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A449-5536-5B40-B0FF-E28E7609380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onUnmounted</a:t>
            </a:r>
          </a:p>
        </p:txBody>
      </p:sp>
      <p:sp>
        <p:nvSpPr>
          <p:cNvPr id="3" name="Body"/>
          <p:cNvSpPr txBox="1"/>
          <p:nvPr/>
        </p:nvSpPr>
        <p:spPr>
          <a:xfrm>
            <a:off x="457200" y="1261872"/>
            <a:ext cx="8229600" cy="257251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Everything attached to the component has been torn down and removed from the DOM</a:t>
            </a:r>
          </a:p>
          <a:p>
            <a:pPr marL="274320" indent="-256032">
              <a:spcAft>
                <a:spcPts val="990"/>
              </a:spcAft>
              <a:buClr>
                <a:srgbClr val="42B883"/>
              </a:buClr>
              <a:buSzPct val="100000"/>
              <a:buFont typeface="Arial"/>
              <a:buChar char="•"/>
            </a:pPr>
            <a:r>
              <a:rPr sz="2200" b="0" i="0">
                <a:solidFill>
                  <a:srgbClr val="1F2A36"/>
                </a:solidFill>
              </a:rPr>
              <a:t>Watchers and lifecycle hooks are stopped for you</a:t>
            </a:r>
          </a:p>
          <a:p>
            <a:pPr marL="274320" indent="-256032">
              <a:spcAft>
                <a:spcPts val="990"/>
              </a:spcAft>
              <a:buClr>
                <a:srgbClr val="42B883"/>
              </a:buClr>
              <a:buSzPct val="100000"/>
              <a:buFont typeface="Arial"/>
              <a:buChar char="•"/>
            </a:pPr>
            <a:r>
              <a:rPr sz="2200" b="0" i="0">
                <a:solidFill>
                  <a:srgbClr val="1F2A36"/>
                </a:solidFill>
              </a:rPr>
              <a:t>Anything you set up by hand is </a:t>
            </a:r>
            <a:r>
              <a:rPr sz="2200" b="1" i="0">
                <a:solidFill>
                  <a:srgbClr val="1F2A36"/>
                </a:solidFill>
              </a:rPr>
              <a:t>not</a:t>
            </a:r>
          </a:p>
          <a:p>
            <a:pPr marL="274320" indent="-256032">
              <a:spcAft>
                <a:spcPts val="990"/>
              </a:spcAft>
              <a:buClr>
                <a:srgbClr val="42B883"/>
              </a:buClr>
              <a:buSzPct val="100000"/>
              <a:buFont typeface="Arial"/>
              <a:buChar char="•"/>
            </a:pPr>
            <a:r>
              <a:rPr sz="2090" b="0" i="0">
                <a:solidFill>
                  <a:srgbClr val="8A2B52"/>
                </a:solidFill>
                <a:latin typeface="Consolas"/>
              </a:rPr>
              <a:t>onBeforeUnmount</a:t>
            </a:r>
            <a:r>
              <a:rPr sz="2200" b="0" i="0">
                <a:solidFill>
                  <a:srgbClr val="1F2A36"/>
                </a:solidFill>
              </a:rPr>
              <a:t> and </a:t>
            </a:r>
            <a:r>
              <a:rPr sz="2090" b="0" i="0">
                <a:solidFill>
                  <a:srgbClr val="8A2B52"/>
                </a:solidFill>
                <a:latin typeface="Consolas"/>
              </a:rPr>
              <a:t>onUnmounted</a:t>
            </a:r>
            <a:r>
              <a:rPr sz="2200" b="0" i="0">
                <a:solidFill>
                  <a:srgbClr val="1F2A36"/>
                </a:solidFill>
              </a:rPr>
              <a:t> are both fine for cleanup; use </a:t>
            </a:r>
            <a:r>
              <a:rPr sz="2090" b="0" i="0">
                <a:solidFill>
                  <a:srgbClr val="8A2B52"/>
                </a:solidFill>
                <a:latin typeface="Consolas"/>
              </a:rPr>
              <a:t>onBeforeUnmount</a:t>
            </a:r>
            <a:r>
              <a:rPr sz="2200" b="0" i="0">
                <a:solidFill>
                  <a:srgbClr val="1F2A36"/>
                </a:solidFill>
              </a:rPr>
              <a:t> if you need the DOM</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151</a:t>
            </a:fld>
            <a:endParaRPr lang="en-US" sz="900">
              <a:solidFill>
                <a:srgbClr val="9AA7B4"/>
              </a:solidFill>
            </a:endParaRPr>
          </a:p>
        </p:txBody>
      </p:sp>
    </p:spTree>
    <p:extLst>
      <p:ext uri="{BB962C8B-B14F-4D97-AF65-F5344CB8AC3E}">
        <p14:creationId xmlns:p14="http://schemas.microsoft.com/office/powerpoint/2010/main" val="17302211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5D59-3A41-FB4C-9BD8-43B3711FB39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Lifecycle Hooks in Practice</a:t>
            </a:r>
          </a:p>
        </p:txBody>
      </p:sp>
      <p:sp>
        <p:nvSpPr>
          <p:cNvPr id="3" name="Code"/>
          <p:cNvSpPr/>
          <p:nvPr/>
        </p:nvSpPr>
        <p:spPr>
          <a:xfrm>
            <a:off x="457200" y="1261872"/>
            <a:ext cx="8229600" cy="482803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116329"/>
                </a:solidFill>
                <a:latin typeface="Consolas"/>
              </a:rPr>
              <a:t>&lt;script</a:t>
            </a:r>
            <a:r>
              <a:rPr sz="1800">
                <a:solidFill>
                  <a:srgbClr val="24292F"/>
                </a:solidFill>
                <a:latin typeface="Consolas"/>
              </a:rPr>
              <a:t> </a:t>
            </a:r>
            <a:r>
              <a:rPr sz="1800">
                <a:solidFill>
                  <a:srgbClr val="953800"/>
                </a:solidFill>
                <a:latin typeface="Consolas"/>
              </a:rPr>
              <a:t>setup</a:t>
            </a:r>
            <a:r>
              <a:rPr sz="1800">
                <a:solidFill>
                  <a:srgbClr val="116329"/>
                </a:solidFill>
                <a:latin typeface="Consolas"/>
              </a:rPr>
              <a:t>&gt;</a:t>
            </a:r>
          </a:p>
          <a:p>
            <a:pPr marL="0" indent="0" algn="l">
              <a:lnSpc>
                <a:spcPct val="100000"/>
              </a:lnSpc>
              <a:buNone/>
            </a:pPr>
            <a:r>
              <a:rPr sz="1800">
                <a:solidFill>
                  <a:srgbClr val="CF222E"/>
                </a:solidFill>
                <a:latin typeface="Consolas"/>
              </a:rPr>
              <a:t>import</a:t>
            </a:r>
            <a:r>
              <a:rPr sz="1800">
                <a:solidFill>
                  <a:srgbClr val="24292F"/>
                </a:solidFill>
                <a:latin typeface="Consolas"/>
              </a:rPr>
              <a:t> { onMounted, onUnmounted, ref } </a:t>
            </a:r>
            <a:r>
              <a:rPr sz="1800">
                <a:solidFill>
                  <a:srgbClr val="CF222E"/>
                </a:solidFill>
                <a:latin typeface="Consolas"/>
              </a:rPr>
              <a:t>from</a:t>
            </a:r>
            <a:r>
              <a:rPr sz="1800">
                <a:solidFill>
                  <a:srgbClr val="24292F"/>
                </a:solidFill>
                <a:latin typeface="Consolas"/>
              </a:rPr>
              <a:t> </a:t>
            </a:r>
            <a:r>
              <a:rPr sz="1800">
                <a:solidFill>
                  <a:srgbClr val="0A3069"/>
                </a:solidFill>
                <a:latin typeface="Consolas"/>
              </a:rPr>
              <a:t>'vue'</a:t>
            </a:r>
          </a:p>
          <a:p>
            <a:pPr marL="0" indent="0" algn="l">
              <a:lnSpc>
                <a:spcPct val="100000"/>
              </a:lnSpc>
              <a:buNone/>
            </a:pPr>
            <a:r>
              <a:rPr sz="1800">
                <a:latin typeface="Consolas"/>
              </a:rPr>
              <a:t> </a:t>
            </a:r>
          </a:p>
          <a:p>
            <a:pPr marL="0" indent="0" algn="l">
              <a:lnSpc>
                <a:spcPct val="100000"/>
              </a:lnSpc>
              <a:buNone/>
            </a:pPr>
            <a:r>
              <a:rPr sz="1800">
                <a:solidFill>
                  <a:srgbClr val="CF222E"/>
                </a:solidFill>
                <a:latin typeface="Consolas"/>
              </a:rPr>
              <a:t>const</a:t>
            </a:r>
            <a:r>
              <a:rPr sz="1800">
                <a:solidFill>
                  <a:srgbClr val="24292F"/>
                </a:solidFill>
                <a:latin typeface="Consolas"/>
              </a:rPr>
              <a:t> seconds = ref(</a:t>
            </a:r>
            <a:r>
              <a:rPr sz="1800">
                <a:solidFill>
                  <a:srgbClr val="0550AE"/>
                </a:solidFill>
                <a:latin typeface="Consolas"/>
              </a:rPr>
              <a:t>0</a:t>
            </a:r>
            <a:r>
              <a:rPr sz="1800">
                <a:solidFill>
                  <a:srgbClr val="24292F"/>
                </a:solidFill>
                <a:latin typeface="Consolas"/>
              </a:rPr>
              <a:t>)</a:t>
            </a:r>
          </a:p>
          <a:p>
            <a:pPr marL="0" indent="0" algn="l">
              <a:lnSpc>
                <a:spcPct val="100000"/>
              </a:lnSpc>
              <a:buNone/>
            </a:pPr>
            <a:r>
              <a:rPr sz="1800">
                <a:solidFill>
                  <a:srgbClr val="CF222E"/>
                </a:solidFill>
                <a:latin typeface="Consolas"/>
              </a:rPr>
              <a:t>let</a:t>
            </a:r>
            <a:r>
              <a:rPr sz="1800">
                <a:solidFill>
                  <a:srgbClr val="24292F"/>
                </a:solidFill>
                <a:latin typeface="Consolas"/>
              </a:rPr>
              <a:t> timer</a:t>
            </a:r>
          </a:p>
          <a:p>
            <a:pPr marL="0" indent="0" algn="l">
              <a:lnSpc>
                <a:spcPct val="100000"/>
              </a:lnSpc>
              <a:buNone/>
            </a:pPr>
            <a:r>
              <a:rPr sz="1800">
                <a:latin typeface="Consolas"/>
              </a:rPr>
              <a:t> </a:t>
            </a:r>
          </a:p>
          <a:p>
            <a:pPr marL="0" indent="0" algn="l">
              <a:lnSpc>
                <a:spcPct val="100000"/>
              </a:lnSpc>
              <a:buNone/>
            </a:pPr>
            <a:r>
              <a:rPr sz="1800">
                <a:solidFill>
                  <a:srgbClr val="24292F"/>
                </a:solidFill>
                <a:latin typeface="Consolas"/>
              </a:rPr>
              <a:t>onMounted(() =</a:t>
            </a:r>
            <a:r>
              <a:rPr sz="1800">
                <a:solidFill>
                  <a:srgbClr val="116329"/>
                </a:solidFill>
                <a:latin typeface="Consolas"/>
              </a:rPr>
              <a:t>&gt;</a:t>
            </a:r>
            <a:r>
              <a:rPr sz="1800">
                <a:solidFill>
                  <a:srgbClr val="24292F"/>
                </a:solidFill>
                <a:latin typeface="Consolas"/>
              </a:rPr>
              <a:t> {</a:t>
            </a:r>
          </a:p>
          <a:p>
            <a:pPr marL="0" indent="0" algn="l">
              <a:lnSpc>
                <a:spcPct val="100000"/>
              </a:lnSpc>
              <a:buNone/>
            </a:pPr>
            <a:r>
              <a:rPr sz="1800">
                <a:solidFill>
                  <a:srgbClr val="24292F"/>
                </a:solidFill>
                <a:latin typeface="Consolas"/>
              </a:rPr>
              <a:t>  timer = setInterval(() =</a:t>
            </a:r>
            <a:r>
              <a:rPr sz="1800">
                <a:solidFill>
                  <a:srgbClr val="116329"/>
                </a:solidFill>
                <a:latin typeface="Consolas"/>
              </a:rPr>
              <a:t>&gt;</a:t>
            </a:r>
            <a:r>
              <a:rPr sz="1800">
                <a:solidFill>
                  <a:srgbClr val="24292F"/>
                </a:solidFill>
                <a:latin typeface="Consolas"/>
              </a:rPr>
              <a:t> seconds.value++, </a:t>
            </a:r>
            <a:r>
              <a:rPr sz="1800">
                <a:solidFill>
                  <a:srgbClr val="0550AE"/>
                </a:solidFill>
                <a:latin typeface="Consolas"/>
              </a:rPr>
              <a:t>1000</a:t>
            </a:r>
            <a:r>
              <a:rPr sz="1800">
                <a:solidFill>
                  <a:srgbClr val="24292F"/>
                </a:solidFill>
                <a:latin typeface="Consolas"/>
              </a:rPr>
              <a:t>)</a:t>
            </a:r>
          </a:p>
          <a:p>
            <a:pPr marL="0" indent="0" algn="l">
              <a:lnSpc>
                <a:spcPct val="100000"/>
              </a:lnSpc>
              <a:buNone/>
            </a:pPr>
            <a:r>
              <a:rPr sz="1800">
                <a:solidFill>
                  <a:srgbClr val="24292F"/>
                </a:solidFill>
                <a:latin typeface="Consolas"/>
              </a:rPr>
              <a:t>})</a:t>
            </a:r>
          </a:p>
          <a:p>
            <a:pPr marL="0" indent="0" algn="l">
              <a:lnSpc>
                <a:spcPct val="100000"/>
              </a:lnSpc>
              <a:buNone/>
            </a:pPr>
            <a:r>
              <a:rPr sz="1800">
                <a:latin typeface="Consolas"/>
              </a:rPr>
              <a:t> </a:t>
            </a:r>
          </a:p>
          <a:p>
            <a:pPr marL="0" indent="0" algn="l">
              <a:lnSpc>
                <a:spcPct val="100000"/>
              </a:lnSpc>
              <a:buNone/>
            </a:pPr>
            <a:r>
              <a:rPr sz="1800">
                <a:solidFill>
                  <a:srgbClr val="24292F"/>
                </a:solidFill>
                <a:latin typeface="Consolas"/>
              </a:rPr>
              <a:t>onUnmounted(() =</a:t>
            </a:r>
            <a:r>
              <a:rPr sz="1800">
                <a:solidFill>
                  <a:srgbClr val="116329"/>
                </a:solidFill>
                <a:latin typeface="Consolas"/>
              </a:rPr>
              <a:t>&gt;</a:t>
            </a:r>
            <a:r>
              <a:rPr sz="1800">
                <a:solidFill>
                  <a:srgbClr val="24292F"/>
                </a:solidFill>
                <a:latin typeface="Consolas"/>
              </a:rPr>
              <a:t> clearInterval(timer))</a:t>
            </a:r>
          </a:p>
          <a:p>
            <a:pPr marL="0" indent="0" algn="l">
              <a:lnSpc>
                <a:spcPct val="100000"/>
              </a:lnSpc>
              <a:buNone/>
            </a:pPr>
            <a:r>
              <a:rPr sz="1800">
                <a:solidFill>
                  <a:srgbClr val="116329"/>
                </a:solidFill>
                <a:latin typeface="Consolas"/>
              </a:rPr>
              <a:t>&lt;/script&gt;</a:t>
            </a:r>
          </a:p>
          <a:p>
            <a:pPr marL="0" indent="0" algn="l">
              <a:lnSpc>
                <a:spcPct val="100000"/>
              </a:lnSpc>
              <a:buNone/>
            </a:pPr>
            <a:r>
              <a:rPr sz="1800">
                <a:latin typeface="Consolas"/>
              </a:rPr>
              <a:t> </a:t>
            </a:r>
          </a:p>
          <a:p>
            <a:pPr marL="0" indent="0" algn="l">
              <a:lnSpc>
                <a:spcPct val="100000"/>
              </a:lnSpc>
              <a:buNone/>
            </a:pPr>
            <a:r>
              <a:rPr sz="1800">
                <a:solidFill>
                  <a:srgbClr val="116329"/>
                </a:solidFill>
                <a:latin typeface="Consolas"/>
              </a:rPr>
              <a:t>&lt;template&gt;</a:t>
            </a:r>
          </a:p>
          <a:p>
            <a:pPr marL="0" indent="0" algn="l">
              <a:lnSpc>
                <a:spcPct val="100000"/>
              </a:lnSpc>
              <a:buNone/>
            </a:pPr>
            <a:r>
              <a:rPr sz="1800">
                <a:solidFill>
                  <a:srgbClr val="24292F"/>
                </a:solidFill>
                <a:latin typeface="Consolas"/>
              </a:rPr>
              <a:t>  </a:t>
            </a:r>
            <a:r>
              <a:rPr sz="1800">
                <a:solidFill>
                  <a:srgbClr val="116329"/>
                </a:solidFill>
                <a:latin typeface="Consolas"/>
              </a:rPr>
              <a:t>&lt;p&gt;</a:t>
            </a:r>
            <a:r>
              <a:rPr sz="1800">
                <a:solidFill>
                  <a:srgbClr val="24292F"/>
                </a:solidFill>
                <a:latin typeface="Consolas"/>
              </a:rPr>
              <a:t>You've been here {{ seconds }} seconds.</a:t>
            </a:r>
            <a:r>
              <a:rPr sz="1800">
                <a:solidFill>
                  <a:srgbClr val="116329"/>
                </a:solidFill>
                <a:latin typeface="Consolas"/>
              </a:rPr>
              <a:t>&lt;/p&gt;</a:t>
            </a:r>
          </a:p>
          <a:p>
            <a:pPr marL="0" indent="0" algn="l">
              <a:lnSpc>
                <a:spcPct val="100000"/>
              </a:lnSpc>
              <a:buNone/>
            </a:pPr>
            <a:r>
              <a:rPr sz="1800">
                <a:solidFill>
                  <a:srgbClr val="116329"/>
                </a:solidFill>
                <a:latin typeface="Consolas"/>
              </a:rPr>
              <a:t>&lt;/template&gt;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152</a:t>
            </a:fld>
            <a:endParaRPr lang="en-US" sz="900">
              <a:solidFill>
                <a:srgbClr val="9AA7B4"/>
              </a:solidFill>
            </a:endParaRPr>
          </a:p>
        </p:txBody>
      </p:sp>
    </p:spTree>
    <p:extLst>
      <p:ext uri="{BB962C8B-B14F-4D97-AF65-F5344CB8AC3E}">
        <p14:creationId xmlns:p14="http://schemas.microsoft.com/office/powerpoint/2010/main" val="19565861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2C35-AC03-594C-A743-A92278474CE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Lifecycle Hooks</a:t>
            </a:r>
          </a:p>
        </p:txBody>
      </p:sp>
      <p:sp>
        <p:nvSpPr>
          <p:cNvPr id="3" name="Body"/>
          <p:cNvSpPr txBox="1"/>
          <p:nvPr/>
        </p:nvSpPr>
        <p:spPr>
          <a:xfrm>
            <a:off x="457200" y="1261872"/>
            <a:ext cx="8229600" cy="244830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Hooks must be called </a:t>
            </a:r>
            <a:r>
              <a:rPr sz="2200" b="1" i="0">
                <a:solidFill>
                  <a:srgbClr val="1F2A36"/>
                </a:solidFill>
              </a:rPr>
              <a:t>synchronously</a:t>
            </a:r>
            <a:r>
              <a:rPr sz="2200" b="0" i="0">
                <a:solidFill>
                  <a:srgbClr val="1F2A36"/>
                </a:solidFill>
              </a:rPr>
              <a:t> in the body of </a:t>
            </a:r>
            <a:r>
              <a:rPr sz="2090" b="0" i="0">
                <a:solidFill>
                  <a:srgbClr val="8A2B52"/>
                </a:solidFill>
                <a:latin typeface="Consolas"/>
              </a:rPr>
              <a:t>&lt;script setup&gt;</a:t>
            </a:r>
          </a:p>
          <a:p>
            <a:pPr marL="566928" indent="-256032">
              <a:spcAft>
                <a:spcPts val="855"/>
              </a:spcAft>
              <a:buClr>
                <a:srgbClr val="6B7B8C"/>
              </a:buClr>
              <a:buSzPct val="100000"/>
              <a:buFont typeface="Arial"/>
              <a:buChar char="–"/>
            </a:pPr>
            <a:r>
              <a:rPr sz="1900" b="0" i="0">
                <a:solidFill>
                  <a:srgbClr val="3A4A5A"/>
                </a:solidFill>
              </a:rPr>
              <a:t>Not inside a callback, a promise handler, or a condition</a:t>
            </a:r>
          </a:p>
          <a:p>
            <a:pPr marL="566928" indent="-256032">
              <a:spcAft>
                <a:spcPts val="855"/>
              </a:spcAft>
              <a:buClr>
                <a:srgbClr val="6B7B8C"/>
              </a:buClr>
              <a:buSzPct val="100000"/>
              <a:buFont typeface="Arial"/>
              <a:buChar char="–"/>
            </a:pPr>
            <a:r>
              <a:rPr sz="1900" b="0" i="0">
                <a:solidFill>
                  <a:srgbClr val="3A4A5A"/>
                </a:solidFill>
              </a:rPr>
              <a:t>That's how Vue knows which component instance to attach them to</a:t>
            </a:r>
          </a:p>
          <a:p>
            <a:pPr marL="274320" indent="-256032">
              <a:spcAft>
                <a:spcPts val="990"/>
              </a:spcAft>
              <a:buClr>
                <a:srgbClr val="42B883"/>
              </a:buClr>
              <a:buSzPct val="100000"/>
              <a:buFont typeface="Arial"/>
              <a:buChar char="•"/>
            </a:pPr>
            <a:r>
              <a:rPr sz="2200" b="0" i="0">
                <a:solidFill>
                  <a:srgbClr val="1F2A36"/>
                </a:solidFill>
              </a:rPr>
              <a:t>They can be called from a </a:t>
            </a:r>
            <a:r>
              <a:rPr sz="2200" b="1" i="0">
                <a:solidFill>
                  <a:srgbClr val="1F2A36"/>
                </a:solidFill>
              </a:rPr>
              <a:t>composable</a:t>
            </a:r>
            <a:r>
              <a:rPr sz="2200" b="0" i="0">
                <a:solidFill>
                  <a:srgbClr val="1F2A36"/>
                </a:solidFill>
              </a:rPr>
              <a:t>, because a composable is itself called synchronously from setup</a:t>
            </a:r>
          </a:p>
        </p:txBody>
      </p:sp>
      <p:sp>
        <p:nvSpPr>
          <p:cNvPr id="4" name="Code"/>
          <p:cNvSpPr/>
          <p:nvPr/>
        </p:nvSpPr>
        <p:spPr>
          <a:xfrm>
            <a:off x="457200" y="3765041"/>
            <a:ext cx="8229600" cy="84378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i="1">
                <a:solidFill>
                  <a:srgbClr val="6E7781"/>
                </a:solidFill>
                <a:latin typeface="Consolas"/>
              </a:rPr>
              <a:t>// ✗ too late: Vue no longer knows the current component</a:t>
            </a:r>
          </a:p>
          <a:p>
            <a:pPr marL="0" indent="0" algn="l">
              <a:lnSpc>
                <a:spcPct val="100000"/>
              </a:lnSpc>
              <a:buNone/>
            </a:pPr>
            <a:r>
              <a:rPr sz="1750">
                <a:solidFill>
                  <a:srgbClr val="24292F"/>
                </a:solidFill>
                <a:latin typeface="Consolas"/>
              </a:rPr>
              <a:t>setTimeout(() =&gt; onMounted(() =&gt; {}), </a:t>
            </a:r>
            <a:r>
              <a:rPr sz="1750">
                <a:solidFill>
                  <a:srgbClr val="0550AE"/>
                </a:solidFill>
                <a:latin typeface="Consolas"/>
              </a:rPr>
              <a:t>0</a:t>
            </a:r>
            <a:r>
              <a:rPr sz="175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153</a:t>
            </a:fld>
            <a:endParaRPr lang="en-US" sz="900">
              <a:solidFill>
                <a:srgbClr val="9AA7B4"/>
              </a:solidFill>
            </a:endParaRPr>
          </a:p>
        </p:txBody>
      </p:sp>
    </p:spTree>
    <p:extLst>
      <p:ext uri="{BB962C8B-B14F-4D97-AF65-F5344CB8AC3E}">
        <p14:creationId xmlns:p14="http://schemas.microsoft.com/office/powerpoint/2010/main" val="118726026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2D0D-880E-3940-969F-52BF8135BB28}"/>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Component Lifecycle</a:t>
            </a:r>
          </a:p>
        </p:txBody>
      </p:sp>
      <p:pic>
        <p:nvPicPr>
          <p:cNvPr id="7" name="Content Placeholder 5">
            <a:extLst>
              <a:ext uri="{FF2B5EF4-FFF2-40B4-BE49-F238E27FC236}">
                <a16:creationId xmlns:a16="http://schemas.microsoft.com/office/drawing/2014/main" id="{5BA68A5C-8321-EE29-303E-94007CCEA1A7}"/>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8" name="Chip LAB 16"/>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16</a:t>
            </a:r>
          </a:p>
        </p:txBody>
      </p:sp>
      <p:sp>
        <p:nvSpPr>
          <p:cNvPr id="9"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Load articles from the real Conduit API when ArticleList mounts.</a:t>
            </a:r>
          </a:p>
        </p:txBody>
      </p:sp>
      <p:sp>
        <p:nvSpPr>
          <p:cNvPr id="11" name="Body"/>
          <p:cNvSpPr txBox="1"/>
          <p:nvPr/>
        </p:nvSpPr>
        <p:spPr>
          <a:xfrm>
            <a:off x="457200" y="2441448"/>
            <a:ext cx="4160520" cy="3573017"/>
          </a:xfrm>
          <a:prstGeom prst="rect">
            <a:avLst/>
          </a:prstGeom>
          <a:noFill/>
        </p:spPr>
        <p:txBody>
          <a:bodyPr wrap="square" lIns="0" tIns="0" rIns="0" bIns="0">
            <a:noAutofit/>
          </a:bodyPr>
          <a:lstStyle/>
          <a:p>
            <a:pPr marL="274320" indent="-256032">
              <a:spcAft>
                <a:spcPts val="810"/>
              </a:spcAft>
              <a:buClr>
                <a:srgbClr val="42B883"/>
              </a:buClr>
              <a:buSzPct val="100000"/>
              <a:buFont typeface="Arial"/>
              <a:buChar char="•"/>
            </a:pPr>
            <a:r>
              <a:rPr sz="1800" b="0" i="0">
                <a:solidFill>
                  <a:srgbClr val="1F2A36"/>
                </a:solidFill>
              </a:rPr>
              <a:t>Create </a:t>
            </a:r>
            <a:r>
              <a:rPr sz="1709" b="0" i="0">
                <a:solidFill>
                  <a:srgbClr val="8A2B52"/>
                </a:solidFill>
                <a:latin typeface="Consolas"/>
              </a:rPr>
              <a:t>src/common/config.js</a:t>
            </a:r>
            <a:r>
              <a:rPr sz="1800" b="0" i="0">
                <a:solidFill>
                  <a:srgbClr val="1F2A36"/>
                </a:solidFill>
              </a:rPr>
              <a:t> with </a:t>
            </a:r>
            <a:r>
              <a:rPr sz="1709" b="0" i="0">
                <a:solidFill>
                  <a:srgbClr val="8A2B52"/>
                </a:solidFill>
                <a:latin typeface="Consolas"/>
              </a:rPr>
              <a:t>API_URL</a:t>
            </a:r>
            <a:r>
              <a:rPr sz="1800" b="0" i="0">
                <a:solidFill>
                  <a:srgbClr val="1F2A36"/>
                </a:solidFill>
              </a:rPr>
              <a:t> (from </a:t>
            </a:r>
            <a:r>
              <a:rPr sz="1709" b="0" i="0">
                <a:solidFill>
                  <a:srgbClr val="8A2B52"/>
                </a:solidFill>
                <a:latin typeface="Consolas"/>
              </a:rPr>
              <a:t>import.meta.env.VITE_API_URL</a:t>
            </a:r>
            <a:r>
              <a:rPr sz="1800" b="0" i="0">
                <a:solidFill>
                  <a:srgbClr val="1F2A36"/>
                </a:solidFill>
              </a:rPr>
              <a:t>)</a:t>
            </a:r>
          </a:p>
          <a:p>
            <a:pPr marL="274320" indent="-256032">
              <a:spcAft>
                <a:spcPts val="810"/>
              </a:spcAft>
              <a:buClr>
                <a:srgbClr val="42B883"/>
              </a:buClr>
              <a:buSzPct val="100000"/>
              <a:buFont typeface="Arial"/>
              <a:buChar char="•"/>
            </a:pPr>
            <a:r>
              <a:rPr sz="1709" b="0" i="0">
                <a:solidFill>
                  <a:srgbClr val="8A2B52"/>
                </a:solidFill>
                <a:latin typeface="Consolas"/>
              </a:rPr>
              <a:t>npm install axios</a:t>
            </a:r>
          </a:p>
          <a:p>
            <a:pPr marL="274320" indent="-256032">
              <a:spcAft>
                <a:spcPts val="810"/>
              </a:spcAft>
              <a:buClr>
                <a:srgbClr val="42B883"/>
              </a:buClr>
              <a:buSzPct val="100000"/>
              <a:buFont typeface="Arial"/>
              <a:buChar char="•"/>
            </a:pPr>
            <a:r>
              <a:rPr sz="1800" b="0" i="0">
                <a:solidFill>
                  <a:srgbClr val="1F2A36"/>
                </a:solidFill>
              </a:rPr>
              <a:t>Create </a:t>
            </a:r>
            <a:r>
              <a:rPr sz="1709" b="0" i="0">
                <a:solidFill>
                  <a:srgbClr val="8A2B52"/>
                </a:solidFill>
                <a:latin typeface="Consolas"/>
              </a:rPr>
              <a:t>api.service.js</a:t>
            </a:r>
            <a:r>
              <a:rPr sz="1800" b="0" i="0">
                <a:solidFill>
                  <a:srgbClr val="1F2A36"/>
                </a:solidFill>
              </a:rPr>
              <a:t> with an axios instance and a </a:t>
            </a:r>
            <a:r>
              <a:rPr sz="1709" b="0" i="0">
                <a:solidFill>
                  <a:srgbClr val="8A2B52"/>
                </a:solidFill>
                <a:latin typeface="Consolas"/>
              </a:rPr>
              <a:t>query()</a:t>
            </a:r>
            <a:r>
              <a:rPr sz="1800" b="0" i="0">
                <a:solidFill>
                  <a:srgbClr val="1F2A36"/>
                </a:solidFill>
              </a:rPr>
              <a:t> method</a:t>
            </a:r>
          </a:p>
          <a:p>
            <a:pPr marL="274320" indent="-256032">
              <a:spcAft>
                <a:spcPts val="810"/>
              </a:spcAft>
              <a:buClr>
                <a:srgbClr val="42B883"/>
              </a:buClr>
              <a:buSzPct val="100000"/>
              <a:buFont typeface="Arial"/>
              <a:buChar char="•"/>
            </a:pPr>
            <a:r>
              <a:rPr sz="1800" b="0" i="0">
                <a:solidFill>
                  <a:srgbClr val="1F2A36"/>
                </a:solidFill>
              </a:rPr>
              <a:t>Fetch articles in </a:t>
            </a:r>
            <a:r>
              <a:rPr sz="1709" b="0" i="0">
                <a:solidFill>
                  <a:srgbClr val="8A2B52"/>
                </a:solidFill>
                <a:latin typeface="Consolas"/>
              </a:rPr>
              <a:t>onMounted</a:t>
            </a:r>
            <a:r>
              <a:rPr sz="1800" b="0" i="0">
                <a:solidFill>
                  <a:srgbClr val="1F2A36"/>
                </a:solidFill>
              </a:rPr>
              <a:t> and assign them to the </a:t>
            </a:r>
            <a:r>
              <a:rPr sz="1709" b="0" i="0">
                <a:solidFill>
                  <a:srgbClr val="8A2B52"/>
                </a:solidFill>
                <a:latin typeface="Consolas"/>
              </a:rPr>
              <a:t>articles</a:t>
            </a:r>
            <a:r>
              <a:rPr sz="1800" b="0" i="0">
                <a:solidFill>
                  <a:srgbClr val="1F2A36"/>
                </a:solidFill>
              </a:rPr>
              <a:t> ref</a:t>
            </a:r>
          </a:p>
          <a:p>
            <a:pPr marL="274320" indent="-256032">
              <a:spcAft>
                <a:spcPts val="810"/>
              </a:spcAft>
              <a:buClr>
                <a:srgbClr val="42B883"/>
              </a:buClr>
              <a:buSzPct val="100000"/>
              <a:buFont typeface="Arial"/>
              <a:buChar char="•"/>
            </a:pPr>
            <a:r>
              <a:rPr sz="1800" b="0" i="0">
                <a:solidFill>
                  <a:srgbClr val="1F2A36"/>
                </a:solidFill>
              </a:rPr>
              <a:t>Remove the JSON import; start with </a:t>
            </a:r>
            <a:r>
              <a:rPr sz="1709" b="0" i="0">
                <a:solidFill>
                  <a:srgbClr val="8A2B52"/>
                </a:solidFill>
                <a:latin typeface="Consolas"/>
              </a:rPr>
              <a:t>ref([])</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154</a:t>
            </a:fld>
            <a:endParaRPr lang="en-US" sz="900">
              <a:solidFill>
                <a:srgbClr val="9AA7B4"/>
              </a:solidFill>
            </a:endParaRPr>
          </a:p>
        </p:txBody>
      </p:sp>
    </p:spTree>
    <p:extLst>
      <p:ext uri="{BB962C8B-B14F-4D97-AF65-F5344CB8AC3E}">
        <p14:creationId xmlns:p14="http://schemas.microsoft.com/office/powerpoint/2010/main" val="237564144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C0B2-2A56-594A-AC58-C35BF261EE44}"/>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Vue and Forms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2</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Text inputs, checkboxes, radio buttons, selects and modifiers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155</a:t>
            </a:fld>
            <a:endParaRPr lang="en-US" sz="900">
              <a:solidFill>
                <a:srgbClr val="9FB3C4"/>
              </a:solidFill>
            </a:endParaRPr>
          </a:p>
        </p:txBody>
      </p:sp>
    </p:spTree>
    <p:extLst>
      <p:ext uri="{BB962C8B-B14F-4D97-AF65-F5344CB8AC3E}">
        <p14:creationId xmlns:p14="http://schemas.microsoft.com/office/powerpoint/2010/main" val="250319983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1706-0A26-6E47-98BC-DAB14F9C35FF}"/>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Input Bindings</a:t>
            </a:r>
          </a:p>
        </p:txBody>
      </p:sp>
      <p:sp>
        <p:nvSpPr>
          <p:cNvPr id="3" name="Code"/>
          <p:cNvSpPr/>
          <p:nvPr/>
        </p:nvSpPr>
        <p:spPr>
          <a:xfrm>
            <a:off x="457200" y="1261872"/>
            <a:ext cx="8229600" cy="356819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&lt;input</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"yourAnswer"</a:t>
            </a:r>
            <a:r>
              <a:rPr sz="1600">
                <a:solidFill>
                  <a:srgbClr val="116329"/>
                </a:solidFill>
                <a:latin typeface="Consolas"/>
              </a:rPr>
              <a:t>&gt;</a:t>
            </a:r>
          </a:p>
          <a:p>
            <a:pPr marL="0" indent="0" algn="l">
              <a:lnSpc>
                <a:spcPct val="100000"/>
              </a:lnSpc>
              <a:buNone/>
            </a:pPr>
            <a:r>
              <a:rPr sz="1600">
                <a:solidFill>
                  <a:srgbClr val="116329"/>
                </a:solidFill>
                <a:latin typeface="Consolas"/>
              </a:rPr>
              <a:t>&lt;textarea</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"yourAnswer"</a:t>
            </a:r>
            <a:r>
              <a:rPr sz="1600">
                <a:solidFill>
                  <a:srgbClr val="116329"/>
                </a:solidFill>
                <a:latin typeface="Consolas"/>
              </a:rPr>
              <a:t>&gt;&lt;/textarea&gt;</a:t>
            </a:r>
          </a:p>
          <a:p>
            <a:pPr marL="0" indent="0" algn="l">
              <a:lnSpc>
                <a:spcPct val="100000"/>
              </a:lnSpc>
              <a:buNone/>
            </a:pPr>
            <a:r>
              <a:rPr sz="1600">
                <a:latin typeface="Consolas"/>
              </a:rPr>
              <a:t> </a:t>
            </a:r>
          </a:p>
          <a:p>
            <a:pPr marL="0" indent="0" algn="l">
              <a:lnSpc>
                <a:spcPct val="100000"/>
              </a:lnSpc>
              <a:buNone/>
            </a:pPr>
            <a:r>
              <a:rPr sz="1600">
                <a:solidFill>
                  <a:srgbClr val="116329"/>
                </a:solidFill>
                <a:latin typeface="Consolas"/>
              </a:rPr>
              <a:t>&lt;input</a:t>
            </a:r>
            <a:r>
              <a:rPr sz="1600">
                <a:solidFill>
                  <a:srgbClr val="24292F"/>
                </a:solidFill>
                <a:latin typeface="Consolas"/>
              </a:rPr>
              <a:t> </a:t>
            </a:r>
            <a:r>
              <a:rPr sz="1600">
                <a:solidFill>
                  <a:srgbClr val="953800"/>
                </a:solidFill>
                <a:latin typeface="Consolas"/>
              </a:rPr>
              <a:t>type</a:t>
            </a:r>
            <a:r>
              <a:rPr sz="1600">
                <a:solidFill>
                  <a:srgbClr val="24292F"/>
                </a:solidFill>
                <a:latin typeface="Consolas"/>
              </a:rPr>
              <a:t>=</a:t>
            </a:r>
            <a:r>
              <a:rPr sz="1600">
                <a:solidFill>
                  <a:srgbClr val="0A3069"/>
                </a:solidFill>
                <a:latin typeface="Consolas"/>
              </a:rPr>
              <a:t>"checkbox"</a:t>
            </a:r>
            <a:r>
              <a:rPr sz="1600">
                <a:solidFill>
                  <a:srgbClr val="24292F"/>
                </a:solidFill>
                <a:latin typeface="Consolas"/>
              </a:rPr>
              <a:t> </a:t>
            </a:r>
            <a:r>
              <a:rPr sz="1600">
                <a:solidFill>
                  <a:srgbClr val="953800"/>
                </a:solidFill>
                <a:latin typeface="Consolas"/>
              </a:rPr>
              <a:t>id</a:t>
            </a:r>
            <a:r>
              <a:rPr sz="1600">
                <a:solidFill>
                  <a:srgbClr val="24292F"/>
                </a:solidFill>
                <a:latin typeface="Consolas"/>
              </a:rPr>
              <a:t>=</a:t>
            </a:r>
            <a:r>
              <a:rPr sz="1600">
                <a:solidFill>
                  <a:srgbClr val="0A3069"/>
                </a:solidFill>
                <a:latin typeface="Consolas"/>
              </a:rPr>
              <a:t>"agree"</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"checked"</a:t>
            </a:r>
            <a:r>
              <a:rPr sz="1600">
                <a:solidFill>
                  <a:srgbClr val="116329"/>
                </a:solidFill>
                <a:latin typeface="Consolas"/>
              </a:rPr>
              <a:t>&gt;</a:t>
            </a:r>
          </a:p>
          <a:p>
            <a:pPr marL="0" indent="0" algn="l">
              <a:lnSpc>
                <a:spcPct val="100000"/>
              </a:lnSpc>
              <a:buNone/>
            </a:pPr>
            <a:r>
              <a:rPr sz="1600">
                <a:latin typeface="Consolas"/>
              </a:rPr>
              <a:t> </a:t>
            </a:r>
          </a:p>
          <a:p>
            <a:pPr marL="0" indent="0" algn="l">
              <a:lnSpc>
                <a:spcPct val="100000"/>
              </a:lnSpc>
              <a:buNone/>
            </a:pPr>
            <a:r>
              <a:rPr sz="1600">
                <a:solidFill>
                  <a:srgbClr val="116329"/>
                </a:solidFill>
                <a:latin typeface="Consolas"/>
              </a:rPr>
              <a:t>&lt;input</a:t>
            </a:r>
            <a:r>
              <a:rPr sz="1600">
                <a:solidFill>
                  <a:srgbClr val="24292F"/>
                </a:solidFill>
                <a:latin typeface="Consolas"/>
              </a:rPr>
              <a:t> </a:t>
            </a:r>
            <a:r>
              <a:rPr sz="1600">
                <a:solidFill>
                  <a:srgbClr val="953800"/>
                </a:solidFill>
                <a:latin typeface="Consolas"/>
              </a:rPr>
              <a:t>type</a:t>
            </a:r>
            <a:r>
              <a:rPr sz="1600">
                <a:solidFill>
                  <a:srgbClr val="24292F"/>
                </a:solidFill>
                <a:latin typeface="Consolas"/>
              </a:rPr>
              <a:t>=</a:t>
            </a:r>
            <a:r>
              <a:rPr sz="1600">
                <a:solidFill>
                  <a:srgbClr val="0A3069"/>
                </a:solidFill>
                <a:latin typeface="Consolas"/>
              </a:rPr>
              <a:t>"radio"</a:t>
            </a:r>
            <a:r>
              <a:rPr sz="1600">
                <a:solidFill>
                  <a:srgbClr val="24292F"/>
                </a:solidFill>
                <a:latin typeface="Consolas"/>
              </a:rPr>
              <a:t> </a:t>
            </a:r>
            <a:r>
              <a:rPr sz="1600">
                <a:solidFill>
                  <a:srgbClr val="953800"/>
                </a:solidFill>
                <a:latin typeface="Consolas"/>
              </a:rPr>
              <a:t>id</a:t>
            </a:r>
            <a:r>
              <a:rPr sz="1600">
                <a:solidFill>
                  <a:srgbClr val="24292F"/>
                </a:solidFill>
                <a:latin typeface="Consolas"/>
              </a:rPr>
              <a:t>=</a:t>
            </a:r>
            <a:r>
              <a:rPr sz="1600">
                <a:solidFill>
                  <a:srgbClr val="0A3069"/>
                </a:solidFill>
                <a:latin typeface="Consolas"/>
              </a:rPr>
              <a:t>"first"</a:t>
            </a:r>
            <a:r>
              <a:rPr sz="1600">
                <a:solidFill>
                  <a:srgbClr val="24292F"/>
                </a:solidFill>
                <a:latin typeface="Consolas"/>
              </a:rPr>
              <a:t> </a:t>
            </a:r>
            <a:r>
              <a:rPr sz="1600">
                <a:solidFill>
                  <a:srgbClr val="953800"/>
                </a:solidFill>
                <a:latin typeface="Consolas"/>
              </a:rPr>
              <a:t>value</a:t>
            </a:r>
            <a:r>
              <a:rPr sz="1600">
                <a:solidFill>
                  <a:srgbClr val="24292F"/>
                </a:solidFill>
                <a:latin typeface="Consolas"/>
              </a:rPr>
              <a:t>=</a:t>
            </a:r>
            <a:r>
              <a:rPr sz="1600">
                <a:solidFill>
                  <a:srgbClr val="0A3069"/>
                </a:solidFill>
                <a:latin typeface="Consolas"/>
              </a:rPr>
              <a:t>"First"</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"picked"</a:t>
            </a:r>
            <a:r>
              <a:rPr sz="1600">
                <a:solidFill>
                  <a:srgbClr val="116329"/>
                </a:solidFill>
                <a:latin typeface="Consolas"/>
              </a:rPr>
              <a:t>&gt;</a:t>
            </a:r>
          </a:p>
          <a:p>
            <a:pPr marL="0" indent="0" algn="l">
              <a:lnSpc>
                <a:spcPct val="100000"/>
              </a:lnSpc>
              <a:buNone/>
            </a:pPr>
            <a:r>
              <a:rPr sz="1600">
                <a:latin typeface="Consolas"/>
              </a:rPr>
              <a:t> </a:t>
            </a:r>
          </a:p>
          <a:p>
            <a:pPr marL="0" indent="0" algn="l">
              <a:lnSpc>
                <a:spcPct val="100000"/>
              </a:lnSpc>
              <a:buNone/>
            </a:pPr>
            <a:r>
              <a:rPr sz="1600">
                <a:solidFill>
                  <a:srgbClr val="116329"/>
                </a:solidFill>
                <a:latin typeface="Consolas"/>
              </a:rPr>
              <a:t>&lt;select</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"selected"</a:t>
            </a:r>
            <a:r>
              <a:rPr sz="1600">
                <a:solidFill>
                  <a:srgbClr val="116329"/>
                </a:solidFill>
                <a:latin typeface="Consolas"/>
              </a:rPr>
              <a:t>&gt;</a:t>
            </a:r>
          </a:p>
          <a:p>
            <a:pPr marL="0" indent="0" algn="l">
              <a:lnSpc>
                <a:spcPct val="100000"/>
              </a:lnSpc>
              <a:buNone/>
            </a:pPr>
            <a:r>
              <a:rPr sz="1600">
                <a:solidFill>
                  <a:srgbClr val="24292F"/>
                </a:solidFill>
                <a:latin typeface="Consolas"/>
              </a:rPr>
              <a:t>  </a:t>
            </a:r>
            <a:r>
              <a:rPr sz="1600">
                <a:solidFill>
                  <a:srgbClr val="116329"/>
                </a:solidFill>
                <a:latin typeface="Consolas"/>
              </a:rPr>
              <a:t>&lt;option</a:t>
            </a:r>
            <a:r>
              <a:rPr sz="1600">
                <a:solidFill>
                  <a:srgbClr val="24292F"/>
                </a:solidFill>
                <a:latin typeface="Consolas"/>
              </a:rPr>
              <a:t> </a:t>
            </a:r>
            <a:r>
              <a:rPr sz="1600">
                <a:solidFill>
                  <a:srgbClr val="953800"/>
                </a:solidFill>
                <a:latin typeface="Consolas"/>
              </a:rPr>
              <a:t>disabled</a:t>
            </a:r>
            <a:r>
              <a:rPr sz="1600">
                <a:solidFill>
                  <a:srgbClr val="24292F"/>
                </a:solidFill>
                <a:latin typeface="Consolas"/>
              </a:rPr>
              <a:t> </a:t>
            </a:r>
            <a:r>
              <a:rPr sz="1600">
                <a:solidFill>
                  <a:srgbClr val="953800"/>
                </a:solidFill>
                <a:latin typeface="Consolas"/>
              </a:rPr>
              <a:t>value</a:t>
            </a:r>
            <a:r>
              <a:rPr sz="1600">
                <a:solidFill>
                  <a:srgbClr val="24292F"/>
                </a:solidFill>
                <a:latin typeface="Consolas"/>
              </a:rPr>
              <a:t>=</a:t>
            </a:r>
            <a:r>
              <a:rPr sz="1600">
                <a:solidFill>
                  <a:srgbClr val="0A3069"/>
                </a:solidFill>
                <a:latin typeface="Consolas"/>
              </a:rPr>
              <a:t>""</a:t>
            </a:r>
            <a:r>
              <a:rPr sz="1600">
                <a:solidFill>
                  <a:srgbClr val="116329"/>
                </a:solidFill>
                <a:latin typeface="Consolas"/>
              </a:rPr>
              <a:t>&gt;</a:t>
            </a:r>
            <a:r>
              <a:rPr sz="1600">
                <a:solidFill>
                  <a:srgbClr val="24292F"/>
                </a:solidFill>
                <a:latin typeface="Consolas"/>
              </a:rPr>
              <a:t>Please select one</a:t>
            </a:r>
            <a:r>
              <a:rPr sz="1600">
                <a:solidFill>
                  <a:srgbClr val="116329"/>
                </a:solidFill>
                <a:latin typeface="Consolas"/>
              </a:rPr>
              <a:t>&lt;/option&gt;</a:t>
            </a:r>
          </a:p>
          <a:p>
            <a:pPr marL="0" indent="0" algn="l">
              <a:lnSpc>
                <a:spcPct val="100000"/>
              </a:lnSpc>
              <a:buNone/>
            </a:pPr>
            <a:r>
              <a:rPr sz="1600">
                <a:solidFill>
                  <a:srgbClr val="24292F"/>
                </a:solidFill>
                <a:latin typeface="Consolas"/>
              </a:rPr>
              <a:t>  </a:t>
            </a:r>
            <a:r>
              <a:rPr sz="1600">
                <a:solidFill>
                  <a:srgbClr val="116329"/>
                </a:solidFill>
                <a:latin typeface="Consolas"/>
              </a:rPr>
              <a:t>&lt;option&gt;</a:t>
            </a:r>
            <a:r>
              <a:rPr sz="1600">
                <a:solidFill>
                  <a:srgbClr val="24292F"/>
                </a:solidFill>
                <a:latin typeface="Consolas"/>
              </a:rPr>
              <a:t>A</a:t>
            </a:r>
            <a:r>
              <a:rPr sz="1600">
                <a:solidFill>
                  <a:srgbClr val="116329"/>
                </a:solidFill>
                <a:latin typeface="Consolas"/>
              </a:rPr>
              <a:t>&lt;/option&gt;</a:t>
            </a:r>
          </a:p>
          <a:p>
            <a:pPr marL="0" indent="0" algn="l">
              <a:lnSpc>
                <a:spcPct val="100000"/>
              </a:lnSpc>
              <a:buNone/>
            </a:pPr>
            <a:r>
              <a:rPr sz="1600">
                <a:solidFill>
                  <a:srgbClr val="24292F"/>
                </a:solidFill>
                <a:latin typeface="Consolas"/>
              </a:rPr>
              <a:t>  </a:t>
            </a:r>
            <a:r>
              <a:rPr sz="1600">
                <a:solidFill>
                  <a:srgbClr val="116329"/>
                </a:solidFill>
                <a:latin typeface="Consolas"/>
              </a:rPr>
              <a:t>&lt;option&gt;</a:t>
            </a:r>
            <a:r>
              <a:rPr sz="1600">
                <a:solidFill>
                  <a:srgbClr val="24292F"/>
                </a:solidFill>
                <a:latin typeface="Consolas"/>
              </a:rPr>
              <a:t>B</a:t>
            </a:r>
            <a:r>
              <a:rPr sz="1600">
                <a:solidFill>
                  <a:srgbClr val="116329"/>
                </a:solidFill>
                <a:latin typeface="Consolas"/>
              </a:rPr>
              <a:t>&lt;/option&gt;</a:t>
            </a:r>
          </a:p>
          <a:p>
            <a:pPr marL="0" indent="0" algn="l">
              <a:lnSpc>
                <a:spcPct val="100000"/>
              </a:lnSpc>
              <a:buNone/>
            </a:pPr>
            <a:r>
              <a:rPr sz="1600">
                <a:solidFill>
                  <a:srgbClr val="24292F"/>
                </a:solidFill>
                <a:latin typeface="Consolas"/>
              </a:rPr>
              <a:t>  </a:t>
            </a:r>
            <a:r>
              <a:rPr sz="1600">
                <a:solidFill>
                  <a:srgbClr val="116329"/>
                </a:solidFill>
                <a:latin typeface="Consolas"/>
              </a:rPr>
              <a:t>&lt;option&gt;</a:t>
            </a:r>
            <a:r>
              <a:rPr sz="1600">
                <a:solidFill>
                  <a:srgbClr val="24292F"/>
                </a:solidFill>
                <a:latin typeface="Consolas"/>
              </a:rPr>
              <a:t>C</a:t>
            </a:r>
            <a:r>
              <a:rPr sz="1600">
                <a:solidFill>
                  <a:srgbClr val="116329"/>
                </a:solidFill>
                <a:latin typeface="Consolas"/>
              </a:rPr>
              <a:t>&lt;/option&gt;</a:t>
            </a:r>
          </a:p>
          <a:p>
            <a:pPr marL="0" indent="0" algn="l">
              <a:lnSpc>
                <a:spcPct val="100000"/>
              </a:lnSpc>
              <a:buNone/>
            </a:pPr>
            <a:r>
              <a:rPr sz="1600">
                <a:solidFill>
                  <a:srgbClr val="116329"/>
                </a:solidFill>
                <a:latin typeface="Consolas"/>
              </a:rPr>
              <a:t>&lt;/select&gt;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156</a:t>
            </a:fld>
            <a:endParaRPr lang="en-US" sz="900">
              <a:solidFill>
                <a:srgbClr val="9AA7B4"/>
              </a:solidFill>
            </a:endParaRPr>
          </a:p>
        </p:txBody>
      </p:sp>
    </p:spTree>
    <p:extLst>
      <p:ext uri="{BB962C8B-B14F-4D97-AF65-F5344CB8AC3E}">
        <p14:creationId xmlns:p14="http://schemas.microsoft.com/office/powerpoint/2010/main" val="275896435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84A8-6EDC-E142-AC48-258F85ED68A0}"/>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2-way Binding Pros and Cons</a:t>
            </a:r>
          </a:p>
        </p:txBody>
      </p:sp>
      <p:sp>
        <p:nvSpPr>
          <p:cNvPr id="3" name="Body"/>
          <p:cNvSpPr txBox="1"/>
          <p:nvPr/>
        </p:nvSpPr>
        <p:spPr>
          <a:xfrm>
            <a:off x="457200" y="1261872"/>
            <a:ext cx="8229600" cy="21170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2-way binding makes development easier</a:t>
            </a:r>
          </a:p>
          <a:p>
            <a:pPr marL="274320" indent="-256032">
              <a:spcAft>
                <a:spcPts val="990"/>
              </a:spcAft>
              <a:buClr>
                <a:srgbClr val="42B883"/>
              </a:buClr>
              <a:buSzPct val="100000"/>
              <a:buFont typeface="Arial"/>
              <a:buChar char="•"/>
            </a:pPr>
            <a:r>
              <a:rPr sz="2200" b="0" i="0">
                <a:solidFill>
                  <a:srgbClr val="1F2A36"/>
                </a:solidFill>
              </a:rPr>
              <a:t>2-way binding can make data flow harder to follow and test</a:t>
            </a:r>
          </a:p>
          <a:p>
            <a:pPr marL="274320" indent="-256032">
              <a:spcAft>
                <a:spcPts val="990"/>
              </a:spcAft>
              <a:buClr>
                <a:srgbClr val="42B883"/>
              </a:buClr>
              <a:buSzPct val="100000"/>
              <a:buFont typeface="Arial"/>
              <a:buChar char="•"/>
            </a:pPr>
            <a:r>
              <a:rPr sz="2090" b="0" i="0">
                <a:solidFill>
                  <a:srgbClr val="8A2B52"/>
                </a:solidFill>
                <a:latin typeface="Consolas"/>
              </a:rPr>
              <a:t>v-model</a:t>
            </a:r>
            <a:r>
              <a:rPr sz="2200" b="0" i="0">
                <a:solidFill>
                  <a:srgbClr val="1F2A36"/>
                </a:solidFill>
              </a:rPr>
              <a:t> is a little bit magic (which could be a pro or a con)</a:t>
            </a:r>
          </a:p>
        </p:txBody>
      </p:sp>
      <p:sp>
        <p:nvSpPr>
          <p:cNvPr id="4" name="Code"/>
          <p:cNvSpPr/>
          <p:nvPr/>
        </p:nvSpPr>
        <p:spPr>
          <a:xfrm>
            <a:off x="457200" y="3433826"/>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v-model</a:t>
            </a:r>
            <a:r>
              <a:rPr sz="2000">
                <a:solidFill>
                  <a:srgbClr val="24292F"/>
                </a:solidFill>
                <a:latin typeface="Consolas"/>
              </a:rPr>
              <a:t>=</a:t>
            </a:r>
            <a:r>
              <a:rPr sz="2000">
                <a:solidFill>
                  <a:srgbClr val="0A3069"/>
                </a:solidFill>
                <a:latin typeface="Consolas"/>
              </a:rPr>
              <a:t>"searchText"</a:t>
            </a:r>
            <a:r>
              <a:rPr sz="2000">
                <a:solidFill>
                  <a:srgbClr val="116329"/>
                </a:solidFill>
                <a:latin typeface="Consolas"/>
              </a:rPr>
              <a:t>&gt;</a:t>
            </a:r>
          </a:p>
        </p:txBody>
      </p:sp>
      <p:sp>
        <p:nvSpPr>
          <p:cNvPr id="5" name="Body"/>
          <p:cNvSpPr txBox="1"/>
          <p:nvPr/>
        </p:nvSpPr>
        <p:spPr>
          <a:xfrm>
            <a:off x="457200" y="4187698"/>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…does the same thing as:</a:t>
            </a:r>
          </a:p>
        </p:txBody>
      </p:sp>
      <p:sp>
        <p:nvSpPr>
          <p:cNvPr id="6" name="Code"/>
          <p:cNvSpPr/>
          <p:nvPr/>
        </p:nvSpPr>
        <p:spPr>
          <a:xfrm>
            <a:off x="457200" y="4789424"/>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&lt;input</a:t>
            </a:r>
          </a:p>
          <a:p>
            <a:pPr marL="0" indent="0" algn="l">
              <a:lnSpc>
                <a:spcPct val="100000"/>
              </a:lnSpc>
              <a:buNone/>
            </a:pPr>
            <a:r>
              <a:rPr sz="2000">
                <a:solidFill>
                  <a:srgbClr val="24292F"/>
                </a:solidFill>
                <a:latin typeface="Consolas"/>
              </a:rPr>
              <a:t>  :value=</a:t>
            </a:r>
            <a:r>
              <a:rPr sz="2000">
                <a:solidFill>
                  <a:srgbClr val="0A3069"/>
                </a:solidFill>
                <a:latin typeface="Consolas"/>
              </a:rPr>
              <a:t>"searchText"</a:t>
            </a:r>
          </a:p>
          <a:p>
            <a:pPr marL="0" indent="0" algn="l">
              <a:lnSpc>
                <a:spcPct val="100000"/>
              </a:lnSpc>
              <a:buNone/>
            </a:pPr>
            <a:r>
              <a:rPr sz="2000">
                <a:solidFill>
                  <a:srgbClr val="24292F"/>
                </a:solidFill>
                <a:latin typeface="Consolas"/>
              </a:rPr>
              <a:t>  @input=</a:t>
            </a:r>
            <a:r>
              <a:rPr sz="2000">
                <a:solidFill>
                  <a:srgbClr val="0A3069"/>
                </a:solidFill>
                <a:latin typeface="Consolas"/>
              </a:rPr>
              <a:t>"searchText = $event.target.value"</a:t>
            </a:r>
            <a:r>
              <a:rPr sz="2000">
                <a:solidFill>
                  <a:srgbClr val="116329"/>
                </a:solidFill>
                <a:latin typeface="Consolas"/>
              </a:rPr>
              <a:t>&gt;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157</a:t>
            </a:fld>
            <a:endParaRPr lang="en-US" sz="900">
              <a:solidFill>
                <a:srgbClr val="9AA7B4"/>
              </a:solidFill>
            </a:endParaRPr>
          </a:p>
        </p:txBody>
      </p:sp>
    </p:spTree>
    <p:extLst>
      <p:ext uri="{BB962C8B-B14F-4D97-AF65-F5344CB8AC3E}">
        <p14:creationId xmlns:p14="http://schemas.microsoft.com/office/powerpoint/2010/main" val="275036792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3C325-C97C-684F-BB43-258EB4EEC4C0}"/>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Creating a Form with Checkboxes</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demos/forms/checkboxes.html</a:t>
            </a:r>
          </a:p>
        </p:txBody>
      </p:sp>
      <p:sp>
        <p:nvSpPr>
          <p:cNvPr id="5" name="Body"/>
          <p:cNvSpPr txBox="1"/>
          <p:nvPr/>
        </p:nvSpPr>
        <p:spPr>
          <a:xfrm>
            <a:off x="457200" y="2148840"/>
            <a:ext cx="8229600" cy="13335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 single checkbox bound to a </a:t>
            </a:r>
            <a:r>
              <a:rPr sz="2000" b="1" i="0">
                <a:solidFill>
                  <a:srgbClr val="1F2A36"/>
                </a:solidFill>
              </a:rPr>
              <a:t>boolean</a:t>
            </a:r>
          </a:p>
          <a:p>
            <a:pPr marL="274320" indent="-256032">
              <a:spcAft>
                <a:spcPts val="900"/>
              </a:spcAft>
              <a:buClr>
                <a:srgbClr val="42B883"/>
              </a:buClr>
              <a:buSzPct val="100000"/>
              <a:buFont typeface="Arial"/>
              <a:buChar char="•"/>
            </a:pPr>
            <a:r>
              <a:rPr sz="2000" b="0" i="0">
                <a:solidFill>
                  <a:srgbClr val="1F2A36"/>
                </a:solidFill>
              </a:rPr>
              <a:t>Several checkboxes bound to one </a:t>
            </a:r>
            <a:r>
              <a:rPr sz="2000" b="1" i="0">
                <a:solidFill>
                  <a:srgbClr val="1F2A36"/>
                </a:solidFill>
              </a:rPr>
              <a:t>array</a:t>
            </a:r>
          </a:p>
          <a:p>
            <a:pPr marL="274320" indent="-256032">
              <a:spcAft>
                <a:spcPts val="900"/>
              </a:spcAft>
              <a:buClr>
                <a:srgbClr val="42B883"/>
              </a:buClr>
              <a:buSzPct val="100000"/>
              <a:buFont typeface="Arial"/>
              <a:buChar char="•"/>
            </a:pPr>
            <a:r>
              <a:rPr sz="1900" b="0" i="0">
                <a:solidFill>
                  <a:srgbClr val="8A2B52"/>
                </a:solidFill>
                <a:latin typeface="Consolas"/>
              </a:rPr>
              <a:t>true-value</a:t>
            </a:r>
            <a:r>
              <a:rPr sz="2000" b="0" i="0">
                <a:solidFill>
                  <a:srgbClr val="1F2A36"/>
                </a:solidFill>
              </a:rPr>
              <a:t> / </a:t>
            </a:r>
            <a:r>
              <a:rPr sz="1900" b="0" i="0">
                <a:solidFill>
                  <a:srgbClr val="8A2B52"/>
                </a:solidFill>
                <a:latin typeface="Consolas"/>
              </a:rPr>
              <a:t>false-value</a:t>
            </a:r>
            <a:r>
              <a:rPr sz="2000" b="0" i="0">
                <a:solidFill>
                  <a:srgbClr val="1F2A36"/>
                </a:solidFill>
              </a:rPr>
              <a:t> for custom values</a:t>
            </a:r>
          </a:p>
        </p:txBody>
      </p:sp>
      <p:sp>
        <p:nvSpPr>
          <p:cNvPr id="6" name="Code"/>
          <p:cNvSpPr/>
          <p:nvPr/>
        </p:nvSpPr>
        <p:spPr>
          <a:xfrm>
            <a:off x="457200" y="3537204"/>
            <a:ext cx="8229600" cy="828039"/>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116329"/>
                </a:solidFill>
                <a:latin typeface="Consolas"/>
              </a:rPr>
              <a:t>&lt;input</a:t>
            </a:r>
            <a:r>
              <a:rPr sz="1700">
                <a:solidFill>
                  <a:srgbClr val="24292F"/>
                </a:solidFill>
                <a:latin typeface="Consolas"/>
              </a:rPr>
              <a:t> </a:t>
            </a:r>
            <a:r>
              <a:rPr sz="1700">
                <a:solidFill>
                  <a:srgbClr val="953800"/>
                </a:solidFill>
                <a:latin typeface="Consolas"/>
              </a:rPr>
              <a:t>type</a:t>
            </a:r>
            <a:r>
              <a:rPr sz="1700">
                <a:solidFill>
                  <a:srgbClr val="24292F"/>
                </a:solidFill>
                <a:latin typeface="Consolas"/>
              </a:rPr>
              <a:t>=</a:t>
            </a:r>
            <a:r>
              <a:rPr sz="1700">
                <a:solidFill>
                  <a:srgbClr val="0A3069"/>
                </a:solidFill>
                <a:latin typeface="Consolas"/>
              </a:rPr>
              <a:t>"checkbox"</a:t>
            </a:r>
            <a:r>
              <a:rPr sz="1700">
                <a:solidFill>
                  <a:srgbClr val="24292F"/>
                </a:solidFill>
                <a:latin typeface="Consolas"/>
              </a:rPr>
              <a:t> </a:t>
            </a:r>
            <a:r>
              <a:rPr sz="1700">
                <a:solidFill>
                  <a:srgbClr val="953800"/>
                </a:solidFill>
                <a:latin typeface="Consolas"/>
              </a:rPr>
              <a:t>value</a:t>
            </a:r>
            <a:r>
              <a:rPr sz="1700">
                <a:solidFill>
                  <a:srgbClr val="24292F"/>
                </a:solidFill>
                <a:latin typeface="Consolas"/>
              </a:rPr>
              <a:t>=</a:t>
            </a:r>
            <a:r>
              <a:rPr sz="1700">
                <a:solidFill>
                  <a:srgbClr val="0A3069"/>
                </a:solidFill>
                <a:latin typeface="Consolas"/>
              </a:rPr>
              <a:t>"Vue"</a:t>
            </a:r>
            <a:r>
              <a:rPr sz="1700">
                <a:solidFill>
                  <a:srgbClr val="24292F"/>
                </a:solidFill>
                <a:latin typeface="Consolas"/>
              </a:rPr>
              <a:t> </a:t>
            </a:r>
            <a:r>
              <a:rPr sz="1700">
                <a:solidFill>
                  <a:srgbClr val="953800"/>
                </a:solidFill>
                <a:latin typeface="Consolas"/>
              </a:rPr>
              <a:t>v-model</a:t>
            </a:r>
            <a:r>
              <a:rPr sz="1700">
                <a:solidFill>
                  <a:srgbClr val="24292F"/>
                </a:solidFill>
                <a:latin typeface="Consolas"/>
              </a:rPr>
              <a:t>=</a:t>
            </a:r>
            <a:r>
              <a:rPr sz="1700">
                <a:solidFill>
                  <a:srgbClr val="0A3069"/>
                </a:solidFill>
                <a:latin typeface="Consolas"/>
              </a:rPr>
              <a:t>"frameworks"</a:t>
            </a:r>
            <a:r>
              <a:rPr sz="1700">
                <a:solidFill>
                  <a:srgbClr val="116329"/>
                </a:solidFill>
                <a:latin typeface="Consolas"/>
              </a:rPr>
              <a:t>&gt;</a:t>
            </a:r>
          </a:p>
          <a:p>
            <a:pPr marL="0" indent="0" algn="l">
              <a:lnSpc>
                <a:spcPct val="100000"/>
              </a:lnSpc>
              <a:buNone/>
            </a:pPr>
            <a:r>
              <a:rPr sz="1700">
                <a:solidFill>
                  <a:srgbClr val="116329"/>
                </a:solidFill>
                <a:latin typeface="Consolas"/>
              </a:rPr>
              <a:t>&lt;input</a:t>
            </a:r>
            <a:r>
              <a:rPr sz="1700">
                <a:solidFill>
                  <a:srgbClr val="24292F"/>
                </a:solidFill>
                <a:latin typeface="Consolas"/>
              </a:rPr>
              <a:t> </a:t>
            </a:r>
            <a:r>
              <a:rPr sz="1700">
                <a:solidFill>
                  <a:srgbClr val="953800"/>
                </a:solidFill>
                <a:latin typeface="Consolas"/>
              </a:rPr>
              <a:t>type</a:t>
            </a:r>
            <a:r>
              <a:rPr sz="1700">
                <a:solidFill>
                  <a:srgbClr val="24292F"/>
                </a:solidFill>
                <a:latin typeface="Consolas"/>
              </a:rPr>
              <a:t>=</a:t>
            </a:r>
            <a:r>
              <a:rPr sz="1700">
                <a:solidFill>
                  <a:srgbClr val="0A3069"/>
                </a:solidFill>
                <a:latin typeface="Consolas"/>
              </a:rPr>
              <a:t>"checkbox"</a:t>
            </a:r>
            <a:r>
              <a:rPr sz="1700">
                <a:solidFill>
                  <a:srgbClr val="24292F"/>
                </a:solidFill>
                <a:latin typeface="Consolas"/>
              </a:rPr>
              <a:t> </a:t>
            </a:r>
            <a:r>
              <a:rPr sz="1700">
                <a:solidFill>
                  <a:srgbClr val="953800"/>
                </a:solidFill>
                <a:latin typeface="Consolas"/>
              </a:rPr>
              <a:t>value</a:t>
            </a:r>
            <a:r>
              <a:rPr sz="1700">
                <a:solidFill>
                  <a:srgbClr val="24292F"/>
                </a:solidFill>
                <a:latin typeface="Consolas"/>
              </a:rPr>
              <a:t>=</a:t>
            </a:r>
            <a:r>
              <a:rPr sz="1700">
                <a:solidFill>
                  <a:srgbClr val="0A3069"/>
                </a:solidFill>
                <a:latin typeface="Consolas"/>
              </a:rPr>
              <a:t>"React"</a:t>
            </a:r>
            <a:r>
              <a:rPr sz="1700">
                <a:solidFill>
                  <a:srgbClr val="24292F"/>
                </a:solidFill>
                <a:latin typeface="Consolas"/>
              </a:rPr>
              <a:t> </a:t>
            </a:r>
            <a:r>
              <a:rPr sz="1700">
                <a:solidFill>
                  <a:srgbClr val="953800"/>
                </a:solidFill>
                <a:latin typeface="Consolas"/>
              </a:rPr>
              <a:t>v-model</a:t>
            </a:r>
            <a:r>
              <a:rPr sz="1700">
                <a:solidFill>
                  <a:srgbClr val="24292F"/>
                </a:solidFill>
                <a:latin typeface="Consolas"/>
              </a:rPr>
              <a:t>=</a:t>
            </a:r>
            <a:r>
              <a:rPr sz="1700">
                <a:solidFill>
                  <a:srgbClr val="0A3069"/>
                </a:solidFill>
                <a:latin typeface="Consolas"/>
              </a:rPr>
              <a:t>"frameworks"</a:t>
            </a:r>
            <a:r>
              <a:rPr sz="1700">
                <a:solidFill>
                  <a:srgbClr val="116329"/>
                </a:solidFill>
                <a:latin typeface="Consolas"/>
              </a:rPr>
              <a:t>&gt;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158</a:t>
            </a:fld>
            <a:endParaRPr lang="en-US" sz="900">
              <a:solidFill>
                <a:srgbClr val="9AA7B4"/>
              </a:solidFill>
            </a:endParaRPr>
          </a:p>
        </p:txBody>
      </p:sp>
    </p:spTree>
    <p:extLst>
      <p:ext uri="{BB962C8B-B14F-4D97-AF65-F5344CB8AC3E}">
        <p14:creationId xmlns:p14="http://schemas.microsoft.com/office/powerpoint/2010/main" val="392570643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EA72-6A02-B249-94F7-0779CCF2EE68}"/>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Creating a Form with Radio Buttons</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demos/forms/radio.html</a:t>
            </a:r>
          </a:p>
        </p:txBody>
      </p:sp>
      <p:sp>
        <p:nvSpPr>
          <p:cNvPr id="5" name="Body"/>
          <p:cNvSpPr txBox="1"/>
          <p:nvPr/>
        </p:nvSpPr>
        <p:spPr>
          <a:xfrm>
            <a:off x="457200" y="2148840"/>
            <a:ext cx="8229600" cy="13335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Radio buttons in a group share one </a:t>
            </a:r>
            <a:r>
              <a:rPr sz="1900" b="0" i="0">
                <a:solidFill>
                  <a:srgbClr val="8A2B52"/>
                </a:solidFill>
                <a:latin typeface="Consolas"/>
              </a:rPr>
              <a:t>v-model</a:t>
            </a:r>
          </a:p>
          <a:p>
            <a:pPr marL="274320" indent="-256032">
              <a:spcAft>
                <a:spcPts val="900"/>
              </a:spcAft>
              <a:buClr>
                <a:srgbClr val="42B883"/>
              </a:buClr>
              <a:buSzPct val="100000"/>
              <a:buFont typeface="Arial"/>
              <a:buChar char="•"/>
            </a:pPr>
            <a:r>
              <a:rPr sz="2000" b="0" i="0">
                <a:solidFill>
                  <a:srgbClr val="1F2A36"/>
                </a:solidFill>
              </a:rPr>
              <a:t>The ref holds the </a:t>
            </a:r>
            <a:r>
              <a:rPr sz="1900" b="0" i="0">
                <a:solidFill>
                  <a:srgbClr val="8A2B52"/>
                </a:solidFill>
                <a:latin typeface="Consolas"/>
              </a:rPr>
              <a:t>value</a:t>
            </a:r>
            <a:r>
              <a:rPr sz="2000" b="0" i="0">
                <a:solidFill>
                  <a:srgbClr val="1F2A36"/>
                </a:solidFill>
              </a:rPr>
              <a:t> of the selected button</a:t>
            </a:r>
          </a:p>
          <a:p>
            <a:pPr marL="274320" indent="-256032">
              <a:spcAft>
                <a:spcPts val="900"/>
              </a:spcAft>
              <a:buClr>
                <a:srgbClr val="42B883"/>
              </a:buClr>
              <a:buSzPct val="100000"/>
              <a:buFont typeface="Arial"/>
              <a:buChar char="•"/>
            </a:pPr>
            <a:r>
              <a:rPr sz="2000" b="0" i="0">
                <a:solidFill>
                  <a:srgbClr val="1F2A36"/>
                </a:solidFill>
              </a:rPr>
              <a:t>Use </a:t>
            </a:r>
            <a:r>
              <a:rPr sz="1900" b="0" i="0">
                <a:solidFill>
                  <a:srgbClr val="8A2B52"/>
                </a:solidFill>
                <a:latin typeface="Consolas"/>
              </a:rPr>
              <a:t>:value</a:t>
            </a:r>
            <a:r>
              <a:rPr sz="2000" b="0" i="0">
                <a:solidFill>
                  <a:srgbClr val="1F2A36"/>
                </a:solidFill>
              </a:rPr>
              <a:t> to select numbers or objects</a:t>
            </a:r>
          </a:p>
        </p:txBody>
      </p:sp>
      <p:sp>
        <p:nvSpPr>
          <p:cNvPr id="6" name="Code"/>
          <p:cNvSpPr/>
          <p:nvPr/>
        </p:nvSpPr>
        <p:spPr>
          <a:xfrm>
            <a:off x="457200" y="3537204"/>
            <a:ext cx="8229600" cy="9225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type</a:t>
            </a:r>
            <a:r>
              <a:rPr sz="2000">
                <a:solidFill>
                  <a:srgbClr val="24292F"/>
                </a:solidFill>
                <a:latin typeface="Consolas"/>
              </a:rPr>
              <a:t>=</a:t>
            </a:r>
            <a:r>
              <a:rPr sz="2000">
                <a:solidFill>
                  <a:srgbClr val="0A3069"/>
                </a:solidFill>
                <a:latin typeface="Consolas"/>
              </a:rPr>
              <a:t>"radio"</a:t>
            </a:r>
            <a:r>
              <a:rPr sz="2000">
                <a:solidFill>
                  <a:srgbClr val="24292F"/>
                </a:solidFill>
                <a:latin typeface="Consolas"/>
              </a:rPr>
              <a:t> </a:t>
            </a:r>
            <a:r>
              <a:rPr sz="2000">
                <a:solidFill>
                  <a:srgbClr val="953800"/>
                </a:solidFill>
                <a:latin typeface="Consolas"/>
              </a:rPr>
              <a:t>value</a:t>
            </a:r>
            <a:r>
              <a:rPr sz="2000">
                <a:solidFill>
                  <a:srgbClr val="24292F"/>
                </a:solidFill>
                <a:latin typeface="Consolas"/>
              </a:rPr>
              <a:t>=</a:t>
            </a:r>
            <a:r>
              <a:rPr sz="2000">
                <a:solidFill>
                  <a:srgbClr val="0A3069"/>
                </a:solidFill>
                <a:latin typeface="Consolas"/>
              </a:rPr>
              <a:t>"small"</a:t>
            </a:r>
            <a:r>
              <a:rPr sz="2000">
                <a:solidFill>
                  <a:srgbClr val="24292F"/>
                </a:solidFill>
                <a:latin typeface="Consolas"/>
              </a:rPr>
              <a:t> </a:t>
            </a:r>
            <a:r>
              <a:rPr sz="2000">
                <a:solidFill>
                  <a:srgbClr val="953800"/>
                </a:solidFill>
                <a:latin typeface="Consolas"/>
              </a:rPr>
              <a:t>v-model</a:t>
            </a:r>
            <a:r>
              <a:rPr sz="2000">
                <a:solidFill>
                  <a:srgbClr val="24292F"/>
                </a:solidFill>
                <a:latin typeface="Consolas"/>
              </a:rPr>
              <a:t>=</a:t>
            </a:r>
            <a:r>
              <a:rPr sz="2000">
                <a:solidFill>
                  <a:srgbClr val="0A3069"/>
                </a:solidFill>
                <a:latin typeface="Consolas"/>
              </a:rPr>
              <a:t>"size"</a:t>
            </a:r>
            <a:r>
              <a:rPr sz="2000">
                <a:solidFill>
                  <a:srgbClr val="116329"/>
                </a:solidFill>
                <a:latin typeface="Consolas"/>
              </a:rPr>
              <a:t>&gt;</a:t>
            </a:r>
          </a:p>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type</a:t>
            </a:r>
            <a:r>
              <a:rPr sz="2000">
                <a:solidFill>
                  <a:srgbClr val="24292F"/>
                </a:solidFill>
                <a:latin typeface="Consolas"/>
              </a:rPr>
              <a:t>=</a:t>
            </a:r>
            <a:r>
              <a:rPr sz="2000">
                <a:solidFill>
                  <a:srgbClr val="0A3069"/>
                </a:solidFill>
                <a:latin typeface="Consolas"/>
              </a:rPr>
              <a:t>"radio"</a:t>
            </a:r>
            <a:r>
              <a:rPr sz="2000">
                <a:solidFill>
                  <a:srgbClr val="24292F"/>
                </a:solidFill>
                <a:latin typeface="Consolas"/>
              </a:rPr>
              <a:t> </a:t>
            </a:r>
            <a:r>
              <a:rPr sz="2000">
                <a:solidFill>
                  <a:srgbClr val="953800"/>
                </a:solidFill>
                <a:latin typeface="Consolas"/>
              </a:rPr>
              <a:t>value</a:t>
            </a:r>
            <a:r>
              <a:rPr sz="2000">
                <a:solidFill>
                  <a:srgbClr val="24292F"/>
                </a:solidFill>
                <a:latin typeface="Consolas"/>
              </a:rPr>
              <a:t>=</a:t>
            </a:r>
            <a:r>
              <a:rPr sz="2000">
                <a:solidFill>
                  <a:srgbClr val="0A3069"/>
                </a:solidFill>
                <a:latin typeface="Consolas"/>
              </a:rPr>
              <a:t>"large"</a:t>
            </a:r>
            <a:r>
              <a:rPr sz="2000">
                <a:solidFill>
                  <a:srgbClr val="24292F"/>
                </a:solidFill>
                <a:latin typeface="Consolas"/>
              </a:rPr>
              <a:t> </a:t>
            </a:r>
            <a:r>
              <a:rPr sz="2000">
                <a:solidFill>
                  <a:srgbClr val="953800"/>
                </a:solidFill>
                <a:latin typeface="Consolas"/>
              </a:rPr>
              <a:t>v-model</a:t>
            </a:r>
            <a:r>
              <a:rPr sz="2000">
                <a:solidFill>
                  <a:srgbClr val="24292F"/>
                </a:solidFill>
                <a:latin typeface="Consolas"/>
              </a:rPr>
              <a:t>=</a:t>
            </a:r>
            <a:r>
              <a:rPr sz="2000">
                <a:solidFill>
                  <a:srgbClr val="0A3069"/>
                </a:solidFill>
                <a:latin typeface="Consolas"/>
              </a:rPr>
              <a:t>"size"</a:t>
            </a:r>
            <a:r>
              <a:rPr sz="2000">
                <a:solidFill>
                  <a:srgbClr val="116329"/>
                </a:solidFill>
                <a:latin typeface="Consolas"/>
              </a:rPr>
              <a:t>&gt;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159</a:t>
            </a:fld>
            <a:endParaRPr lang="en-US" sz="900">
              <a:solidFill>
                <a:srgbClr val="9AA7B4"/>
              </a:solidFill>
            </a:endParaRPr>
          </a:p>
        </p:txBody>
      </p:sp>
    </p:spTree>
    <p:extLst>
      <p:ext uri="{BB962C8B-B14F-4D97-AF65-F5344CB8AC3E}">
        <p14:creationId xmlns:p14="http://schemas.microsoft.com/office/powerpoint/2010/main" val="34803305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B3D4-F5C1-D546-803D-8E9110635698}"/>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Creating a Form with a Select Element</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demos/forms/select.html</a:t>
            </a:r>
          </a:p>
        </p:txBody>
      </p:sp>
      <p:sp>
        <p:nvSpPr>
          <p:cNvPr id="5" name="Body"/>
          <p:cNvSpPr txBox="1"/>
          <p:nvPr/>
        </p:nvSpPr>
        <p:spPr>
          <a:xfrm>
            <a:off x="457200" y="2148840"/>
            <a:ext cx="8229600" cy="13335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Single select: the ref holds the chosen option's value</a:t>
            </a:r>
          </a:p>
          <a:p>
            <a:pPr marL="274320" indent="-256032">
              <a:spcAft>
                <a:spcPts val="900"/>
              </a:spcAft>
              <a:buClr>
                <a:srgbClr val="42B883"/>
              </a:buClr>
              <a:buSzPct val="100000"/>
              <a:buFont typeface="Arial"/>
              <a:buChar char="•"/>
            </a:pPr>
            <a:r>
              <a:rPr sz="1900" b="0" i="0">
                <a:solidFill>
                  <a:srgbClr val="8A2B52"/>
                </a:solidFill>
                <a:latin typeface="Consolas"/>
              </a:rPr>
              <a:t>multiple</a:t>
            </a:r>
            <a:r>
              <a:rPr sz="2000" b="0" i="0">
                <a:solidFill>
                  <a:srgbClr val="1F2A36"/>
                </a:solidFill>
              </a:rPr>
              <a:t>: the ref holds an array</a:t>
            </a:r>
          </a:p>
          <a:p>
            <a:pPr marL="274320" indent="-256032">
              <a:spcAft>
                <a:spcPts val="900"/>
              </a:spcAft>
              <a:buClr>
                <a:srgbClr val="42B883"/>
              </a:buClr>
              <a:buSzPct val="100000"/>
              <a:buFont typeface="Arial"/>
              <a:buChar char="•"/>
            </a:pPr>
            <a:r>
              <a:rPr sz="2000" b="0" i="0">
                <a:solidFill>
                  <a:srgbClr val="1F2A36"/>
                </a:solidFill>
              </a:rPr>
              <a:t>Generate options with </a:t>
            </a:r>
            <a:r>
              <a:rPr sz="1900" b="0" i="0">
                <a:solidFill>
                  <a:srgbClr val="8A2B52"/>
                </a:solidFill>
                <a:latin typeface="Consolas"/>
              </a:rPr>
              <a:t>v-for</a:t>
            </a:r>
            <a:r>
              <a:rPr sz="2000" b="0" i="0">
                <a:solidFill>
                  <a:srgbClr val="1F2A36"/>
                </a:solidFill>
              </a:rPr>
              <a:t>; bind objects with </a:t>
            </a:r>
            <a:r>
              <a:rPr sz="1900" b="0" i="0">
                <a:solidFill>
                  <a:srgbClr val="8A2B52"/>
                </a:solidFill>
                <a:latin typeface="Consolas"/>
              </a:rPr>
              <a:t>:value</a:t>
            </a:r>
          </a:p>
        </p:txBody>
      </p:sp>
      <p:sp>
        <p:nvSpPr>
          <p:cNvPr id="6" name="Code"/>
          <p:cNvSpPr/>
          <p:nvPr/>
        </p:nvSpPr>
        <p:spPr>
          <a:xfrm>
            <a:off x="457200" y="3537204"/>
            <a:ext cx="8229600" cy="175717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116329"/>
                </a:solidFill>
                <a:latin typeface="Consolas"/>
              </a:rPr>
              <a:t>&lt;select</a:t>
            </a:r>
            <a:r>
              <a:rPr sz="1550">
                <a:solidFill>
                  <a:srgbClr val="24292F"/>
                </a:solidFill>
                <a:latin typeface="Consolas"/>
              </a:rPr>
              <a:t> </a:t>
            </a:r>
            <a:r>
              <a:rPr sz="1550">
                <a:solidFill>
                  <a:srgbClr val="953800"/>
                </a:solidFill>
                <a:latin typeface="Consolas"/>
              </a:rPr>
              <a:t>v-model</a:t>
            </a:r>
            <a:r>
              <a:rPr sz="1550">
                <a:solidFill>
                  <a:srgbClr val="24292F"/>
                </a:solidFill>
                <a:latin typeface="Consolas"/>
              </a:rPr>
              <a:t>=</a:t>
            </a:r>
            <a:r>
              <a:rPr sz="1550">
                <a:solidFill>
                  <a:srgbClr val="0A3069"/>
                </a:solidFill>
                <a:latin typeface="Consolas"/>
              </a:rPr>
              <a:t>"country"</a:t>
            </a:r>
            <a:r>
              <a:rPr sz="1550">
                <a:solidFill>
                  <a:srgbClr val="116329"/>
                </a:solidFill>
                <a:latin typeface="Consolas"/>
              </a:rPr>
              <a:t>&gt;</a:t>
            </a:r>
          </a:p>
          <a:p>
            <a:pPr marL="0" indent="0" algn="l">
              <a:lnSpc>
                <a:spcPct val="100000"/>
              </a:lnSpc>
              <a:buNone/>
            </a:pPr>
            <a:r>
              <a:rPr sz="1550">
                <a:solidFill>
                  <a:srgbClr val="24292F"/>
                </a:solidFill>
                <a:latin typeface="Consolas"/>
              </a:rPr>
              <a:t>  </a:t>
            </a:r>
            <a:r>
              <a:rPr sz="1550">
                <a:solidFill>
                  <a:srgbClr val="116329"/>
                </a:solidFill>
                <a:latin typeface="Consolas"/>
              </a:rPr>
              <a:t>&lt;option</a:t>
            </a:r>
            <a:r>
              <a:rPr sz="1550">
                <a:solidFill>
                  <a:srgbClr val="24292F"/>
                </a:solidFill>
                <a:latin typeface="Consolas"/>
              </a:rPr>
              <a:t> </a:t>
            </a:r>
            <a:r>
              <a:rPr sz="1550">
                <a:solidFill>
                  <a:srgbClr val="953800"/>
                </a:solidFill>
                <a:latin typeface="Consolas"/>
              </a:rPr>
              <a:t>disabled</a:t>
            </a:r>
            <a:r>
              <a:rPr sz="1550">
                <a:solidFill>
                  <a:srgbClr val="24292F"/>
                </a:solidFill>
                <a:latin typeface="Consolas"/>
              </a:rPr>
              <a:t> </a:t>
            </a:r>
            <a:r>
              <a:rPr sz="1550">
                <a:solidFill>
                  <a:srgbClr val="953800"/>
                </a:solidFill>
                <a:latin typeface="Consolas"/>
              </a:rPr>
              <a:t>value</a:t>
            </a:r>
            <a:r>
              <a:rPr sz="1550">
                <a:solidFill>
                  <a:srgbClr val="24292F"/>
                </a:solidFill>
                <a:latin typeface="Consolas"/>
              </a:rPr>
              <a:t>=</a:t>
            </a:r>
            <a:r>
              <a:rPr sz="1550">
                <a:solidFill>
                  <a:srgbClr val="0A3069"/>
                </a:solidFill>
                <a:latin typeface="Consolas"/>
              </a:rPr>
              <a:t>""</a:t>
            </a:r>
            <a:r>
              <a:rPr sz="1550">
                <a:solidFill>
                  <a:srgbClr val="116329"/>
                </a:solidFill>
                <a:latin typeface="Consolas"/>
              </a:rPr>
              <a:t>&gt;</a:t>
            </a:r>
            <a:r>
              <a:rPr sz="1550">
                <a:solidFill>
                  <a:srgbClr val="24292F"/>
                </a:solidFill>
                <a:latin typeface="Consolas"/>
              </a:rPr>
              <a:t>Choose…</a:t>
            </a:r>
            <a:r>
              <a:rPr sz="1550">
                <a:solidFill>
                  <a:srgbClr val="116329"/>
                </a:solidFill>
                <a:latin typeface="Consolas"/>
              </a:rPr>
              <a:t>&lt;/option&gt;</a:t>
            </a:r>
          </a:p>
          <a:p>
            <a:pPr marL="0" indent="0" algn="l">
              <a:lnSpc>
                <a:spcPct val="100000"/>
              </a:lnSpc>
              <a:buNone/>
            </a:pPr>
            <a:r>
              <a:rPr sz="1550">
                <a:solidFill>
                  <a:srgbClr val="24292F"/>
                </a:solidFill>
                <a:latin typeface="Consolas"/>
              </a:rPr>
              <a:t>  </a:t>
            </a:r>
            <a:r>
              <a:rPr sz="1550">
                <a:solidFill>
                  <a:srgbClr val="116329"/>
                </a:solidFill>
                <a:latin typeface="Consolas"/>
              </a:rPr>
              <a:t>&lt;option</a:t>
            </a:r>
            <a:r>
              <a:rPr sz="1550">
                <a:solidFill>
                  <a:srgbClr val="24292F"/>
                </a:solidFill>
                <a:latin typeface="Consolas"/>
              </a:rPr>
              <a:t> </a:t>
            </a:r>
            <a:r>
              <a:rPr sz="1550">
                <a:solidFill>
                  <a:srgbClr val="953800"/>
                </a:solidFill>
                <a:latin typeface="Consolas"/>
              </a:rPr>
              <a:t>v-for</a:t>
            </a:r>
            <a:r>
              <a:rPr sz="1550">
                <a:solidFill>
                  <a:srgbClr val="24292F"/>
                </a:solidFill>
                <a:latin typeface="Consolas"/>
              </a:rPr>
              <a:t>=</a:t>
            </a:r>
            <a:r>
              <a:rPr sz="1550">
                <a:solidFill>
                  <a:srgbClr val="0A3069"/>
                </a:solidFill>
                <a:latin typeface="Consolas"/>
              </a:rPr>
              <a:t>"c in countries"</a:t>
            </a:r>
            <a:r>
              <a:rPr sz="1550">
                <a:solidFill>
                  <a:srgbClr val="24292F"/>
                </a:solidFill>
                <a:latin typeface="Consolas"/>
              </a:rPr>
              <a:t> </a:t>
            </a:r>
            <a:r>
              <a:rPr sz="1550">
                <a:solidFill>
                  <a:srgbClr val="953800"/>
                </a:solidFill>
                <a:latin typeface="Consolas"/>
              </a:rPr>
              <a:t>:key</a:t>
            </a:r>
            <a:r>
              <a:rPr sz="1550">
                <a:solidFill>
                  <a:srgbClr val="24292F"/>
                </a:solidFill>
                <a:latin typeface="Consolas"/>
              </a:rPr>
              <a:t>=</a:t>
            </a:r>
            <a:r>
              <a:rPr sz="1550">
                <a:solidFill>
                  <a:srgbClr val="0A3069"/>
                </a:solidFill>
                <a:latin typeface="Consolas"/>
              </a:rPr>
              <a:t>"c.code"</a:t>
            </a:r>
            <a:r>
              <a:rPr sz="1550">
                <a:solidFill>
                  <a:srgbClr val="24292F"/>
                </a:solidFill>
                <a:latin typeface="Consolas"/>
              </a:rPr>
              <a:t> </a:t>
            </a:r>
            <a:r>
              <a:rPr sz="1550">
                <a:solidFill>
                  <a:srgbClr val="953800"/>
                </a:solidFill>
                <a:latin typeface="Consolas"/>
              </a:rPr>
              <a:t>:value</a:t>
            </a:r>
            <a:r>
              <a:rPr sz="1550">
                <a:solidFill>
                  <a:srgbClr val="24292F"/>
                </a:solidFill>
                <a:latin typeface="Consolas"/>
              </a:rPr>
              <a:t>=</a:t>
            </a:r>
            <a:r>
              <a:rPr sz="1550">
                <a:solidFill>
                  <a:srgbClr val="0A3069"/>
                </a:solidFill>
                <a:latin typeface="Consolas"/>
              </a:rPr>
              <a:t>"c.code"</a:t>
            </a:r>
            <a:r>
              <a:rPr sz="1550">
                <a:solidFill>
                  <a:srgbClr val="116329"/>
                </a:solidFill>
                <a:latin typeface="Consolas"/>
              </a:rPr>
              <a:t>&gt;</a:t>
            </a:r>
          </a:p>
          <a:p>
            <a:pPr marL="0" indent="0" algn="l">
              <a:lnSpc>
                <a:spcPct val="100000"/>
              </a:lnSpc>
              <a:buNone/>
            </a:pPr>
            <a:r>
              <a:rPr sz="1550">
                <a:solidFill>
                  <a:srgbClr val="24292F"/>
                </a:solidFill>
                <a:latin typeface="Consolas"/>
              </a:rPr>
              <a:t>    {{ c.name }}</a:t>
            </a:r>
          </a:p>
          <a:p>
            <a:pPr marL="0" indent="0" algn="l">
              <a:lnSpc>
                <a:spcPct val="100000"/>
              </a:lnSpc>
              <a:buNone/>
            </a:pPr>
            <a:r>
              <a:rPr sz="1550">
                <a:solidFill>
                  <a:srgbClr val="24292F"/>
                </a:solidFill>
                <a:latin typeface="Consolas"/>
              </a:rPr>
              <a:t>  </a:t>
            </a:r>
            <a:r>
              <a:rPr sz="1550">
                <a:solidFill>
                  <a:srgbClr val="116329"/>
                </a:solidFill>
                <a:latin typeface="Consolas"/>
              </a:rPr>
              <a:t>&lt;/option&gt;</a:t>
            </a:r>
          </a:p>
          <a:p>
            <a:pPr marL="0" indent="0" algn="l">
              <a:lnSpc>
                <a:spcPct val="100000"/>
              </a:lnSpc>
              <a:buNone/>
            </a:pPr>
            <a:r>
              <a:rPr sz="1550">
                <a:solidFill>
                  <a:srgbClr val="116329"/>
                </a:solidFill>
                <a:latin typeface="Consolas"/>
              </a:rPr>
              <a:t>&lt;/select&gt;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160</a:t>
            </a:fld>
            <a:endParaRPr lang="en-US" sz="900">
              <a:solidFill>
                <a:srgbClr val="9AA7B4"/>
              </a:solidFill>
            </a:endParaRPr>
          </a:p>
        </p:txBody>
      </p:sp>
    </p:spTree>
    <p:extLst>
      <p:ext uri="{BB962C8B-B14F-4D97-AF65-F5344CB8AC3E}">
        <p14:creationId xmlns:p14="http://schemas.microsoft.com/office/powerpoint/2010/main" val="312820782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D418-28D1-624B-B115-C16E44FE7362}"/>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Input Modifiers</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demos/forms/modifiers.html</a:t>
            </a:r>
          </a:p>
        </p:txBody>
      </p:sp>
      <p:sp>
        <p:nvSpPr>
          <p:cNvPr id="5" name="Body"/>
          <p:cNvSpPr txBox="1"/>
          <p:nvPr/>
        </p:nvSpPr>
        <p:spPr>
          <a:xfrm>
            <a:off x="457200" y="2148840"/>
            <a:ext cx="8229600" cy="133350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.lazy</a:t>
            </a:r>
            <a:r>
              <a:rPr sz="2000" b="0" i="0">
                <a:solidFill>
                  <a:srgbClr val="1F2A36"/>
                </a:solidFill>
              </a:rPr>
              <a:t> — sync on </a:t>
            </a:r>
            <a:r>
              <a:rPr sz="1900" b="0" i="0">
                <a:solidFill>
                  <a:srgbClr val="8A2B52"/>
                </a:solidFill>
                <a:latin typeface="Consolas"/>
              </a:rPr>
              <a:t>change</a:t>
            </a:r>
            <a:r>
              <a:rPr sz="2000" b="0" i="0">
                <a:solidFill>
                  <a:srgbClr val="1F2A36"/>
                </a:solidFill>
              </a:rPr>
              <a:t> instead of every </a:t>
            </a:r>
            <a:r>
              <a:rPr sz="1900" b="0" i="0">
                <a:solidFill>
                  <a:srgbClr val="8A2B52"/>
                </a:solidFill>
                <a:latin typeface="Consolas"/>
              </a:rPr>
              <a:t>input</a:t>
            </a:r>
          </a:p>
          <a:p>
            <a:pPr marL="274320" indent="-256032">
              <a:spcAft>
                <a:spcPts val="900"/>
              </a:spcAft>
              <a:buClr>
                <a:srgbClr val="42B883"/>
              </a:buClr>
              <a:buSzPct val="100000"/>
              <a:buFont typeface="Arial"/>
              <a:buChar char="•"/>
            </a:pPr>
            <a:r>
              <a:rPr sz="1900" b="0" i="0">
                <a:solidFill>
                  <a:srgbClr val="8A2B52"/>
                </a:solidFill>
                <a:latin typeface="Consolas"/>
              </a:rPr>
              <a:t>.number</a:t>
            </a:r>
            <a:r>
              <a:rPr sz="2000" b="0" i="0">
                <a:solidFill>
                  <a:srgbClr val="1F2A36"/>
                </a:solidFill>
              </a:rPr>
              <a:t> — cast the value to a number</a:t>
            </a:r>
          </a:p>
          <a:p>
            <a:pPr marL="274320" indent="-256032">
              <a:spcAft>
                <a:spcPts val="900"/>
              </a:spcAft>
              <a:buClr>
                <a:srgbClr val="42B883"/>
              </a:buClr>
              <a:buSzPct val="100000"/>
              <a:buFont typeface="Arial"/>
              <a:buChar char="•"/>
            </a:pPr>
            <a:r>
              <a:rPr sz="1900" b="0" i="0">
                <a:solidFill>
                  <a:srgbClr val="8A2B52"/>
                </a:solidFill>
                <a:latin typeface="Consolas"/>
              </a:rPr>
              <a:t>.trim</a:t>
            </a:r>
            <a:r>
              <a:rPr sz="2000" b="0" i="0">
                <a:solidFill>
                  <a:srgbClr val="1F2A36"/>
                </a:solidFill>
              </a:rPr>
              <a:t> — strip leading and trailing whitespace</a:t>
            </a:r>
          </a:p>
        </p:txBody>
      </p:sp>
      <p:sp>
        <p:nvSpPr>
          <p:cNvPr id="6" name="Code"/>
          <p:cNvSpPr/>
          <p:nvPr/>
        </p:nvSpPr>
        <p:spPr>
          <a:xfrm>
            <a:off x="457200" y="3537204"/>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v-model.lazy</a:t>
            </a:r>
            <a:r>
              <a:rPr sz="2000">
                <a:solidFill>
                  <a:srgbClr val="24292F"/>
                </a:solidFill>
                <a:latin typeface="Consolas"/>
              </a:rPr>
              <a:t>=</a:t>
            </a:r>
            <a:r>
              <a:rPr sz="2000">
                <a:solidFill>
                  <a:srgbClr val="0A3069"/>
                </a:solidFill>
                <a:latin typeface="Consolas"/>
              </a:rPr>
              <a:t>"message"</a:t>
            </a:r>
            <a:r>
              <a:rPr sz="2000">
                <a:solidFill>
                  <a:srgbClr val="116329"/>
                </a:solidFill>
                <a:latin typeface="Consolas"/>
              </a:rPr>
              <a:t>&gt;</a:t>
            </a:r>
          </a:p>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v-model.number</a:t>
            </a:r>
            <a:r>
              <a:rPr sz="2000">
                <a:solidFill>
                  <a:srgbClr val="24292F"/>
                </a:solidFill>
                <a:latin typeface="Consolas"/>
              </a:rPr>
              <a:t>=</a:t>
            </a:r>
            <a:r>
              <a:rPr sz="2000">
                <a:solidFill>
                  <a:srgbClr val="0A3069"/>
                </a:solidFill>
                <a:latin typeface="Consolas"/>
              </a:rPr>
              <a:t>"age"</a:t>
            </a:r>
            <a:r>
              <a:rPr sz="2000">
                <a:solidFill>
                  <a:srgbClr val="116329"/>
                </a:solidFill>
                <a:latin typeface="Consolas"/>
              </a:rPr>
              <a:t>&gt;</a:t>
            </a:r>
          </a:p>
          <a:p>
            <a:pPr marL="0" indent="0" algn="l">
              <a:lnSpc>
                <a:spcPct val="100000"/>
              </a:lnSpc>
              <a:buNone/>
            </a:pPr>
            <a:r>
              <a:rPr sz="2000">
                <a:solidFill>
                  <a:srgbClr val="116329"/>
                </a:solidFill>
                <a:latin typeface="Consolas"/>
              </a:rPr>
              <a:t>&lt;input</a:t>
            </a:r>
            <a:r>
              <a:rPr sz="2000">
                <a:solidFill>
                  <a:srgbClr val="24292F"/>
                </a:solidFill>
                <a:latin typeface="Consolas"/>
              </a:rPr>
              <a:t> </a:t>
            </a:r>
            <a:r>
              <a:rPr sz="2000">
                <a:solidFill>
                  <a:srgbClr val="953800"/>
                </a:solidFill>
                <a:latin typeface="Consolas"/>
              </a:rPr>
              <a:t>v-model.trim</a:t>
            </a:r>
            <a:r>
              <a:rPr sz="2000">
                <a:solidFill>
                  <a:srgbClr val="24292F"/>
                </a:solidFill>
                <a:latin typeface="Consolas"/>
              </a:rPr>
              <a:t>=</a:t>
            </a:r>
            <a:r>
              <a:rPr sz="2000">
                <a:solidFill>
                  <a:srgbClr val="0A3069"/>
                </a:solidFill>
                <a:latin typeface="Consolas"/>
              </a:rPr>
              <a:t>"username"</a:t>
            </a:r>
            <a:r>
              <a:rPr sz="2000">
                <a:solidFill>
                  <a:srgbClr val="116329"/>
                </a:solidFill>
                <a:latin typeface="Consolas"/>
              </a:rPr>
              <a:t>&gt;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161</a:t>
            </a:fld>
            <a:endParaRPr lang="en-US" sz="900">
              <a:solidFill>
                <a:srgbClr val="9AA7B4"/>
              </a:solidFill>
            </a:endParaRPr>
          </a:p>
        </p:txBody>
      </p:sp>
    </p:spTree>
    <p:extLst>
      <p:ext uri="{BB962C8B-B14F-4D97-AF65-F5344CB8AC3E}">
        <p14:creationId xmlns:p14="http://schemas.microsoft.com/office/powerpoint/2010/main" val="230186936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11CD6-97C7-6745-B88F-0A1226631F53}"/>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Forms</a:t>
            </a:r>
          </a:p>
        </p:txBody>
      </p:sp>
      <p:pic>
        <p:nvPicPr>
          <p:cNvPr id="7" name="Content Placeholder 5">
            <a:extLst>
              <a:ext uri="{FF2B5EF4-FFF2-40B4-BE49-F238E27FC236}">
                <a16:creationId xmlns:a16="http://schemas.microsoft.com/office/drawing/2014/main" id="{0CED2E69-4EFE-E64B-B02C-48795629521B}"/>
              </a:ext>
            </a:extLst>
          </p:cNvPr>
          <p:cNvPicPr>
            <a:picLocks noChangeAspect="1"/>
          </p:cNvPicPr>
          <p:nvPr/>
        </p:nvPicPr>
        <p:blipFill>
          <a:blip r:embed="rId3"/>
          <a:stretch>
            <a:fillRect/>
          </a:stretch>
        </p:blipFill>
        <p:spPr>
          <a:xfrm>
            <a:off x="4846320" y="2559760"/>
            <a:ext cx="3840480" cy="2561439"/>
          </a:xfrm>
          <a:prstGeom prst="rect">
            <a:avLst/>
          </a:prstGeom>
          <a:ln w="12700">
            <a:solidFill>
              <a:srgbClr val="D6DEE6"/>
            </a:solidFill>
          </a:ln>
        </p:spPr>
      </p:pic>
      <p:sp>
        <p:nvSpPr>
          <p:cNvPr id="8" name="Chip LAB 17"/>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17</a:t>
            </a:r>
          </a:p>
        </p:txBody>
      </p:sp>
      <p:sp>
        <p:nvSpPr>
          <p:cNvPr id="9" name="Chip 1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15 min</a:t>
            </a:r>
          </a:p>
        </p:txBody>
      </p:sp>
      <p:sp>
        <p:nvSpPr>
          <p:cNvPr id="10" name="Goal"/>
          <p:cNvSpPr txBox="1"/>
          <p:nvPr/>
        </p:nvSpPr>
        <p:spPr>
          <a:xfrm>
            <a:off x="457200" y="1691640"/>
            <a:ext cx="4160520" cy="822960"/>
          </a:xfrm>
          <a:prstGeom prst="rect">
            <a:avLst/>
          </a:prstGeom>
          <a:noFill/>
        </p:spPr>
        <p:txBody>
          <a:bodyPr wrap="square" lIns="0" tIns="0" rIns="0" bIns="0">
            <a:noAutofit/>
          </a:bodyPr>
          <a:lstStyle/>
          <a:p>
            <a:r>
              <a:rPr sz="1800" b="0" i="1">
                <a:solidFill>
                  <a:srgbClr val="2C3E50"/>
                </a:solidFill>
              </a:rPr>
              <a:t>Filter the article list as the user types.</a:t>
            </a:r>
          </a:p>
        </p:txBody>
      </p:sp>
      <p:sp>
        <p:nvSpPr>
          <p:cNvPr id="11" name="Body"/>
          <p:cNvSpPr txBox="1"/>
          <p:nvPr/>
        </p:nvSpPr>
        <p:spPr>
          <a:xfrm>
            <a:off x="457200" y="2441448"/>
            <a:ext cx="4160520" cy="354584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Add an input bound to a </a:t>
            </a:r>
            <a:r>
              <a:rPr sz="1900" b="0" i="0">
                <a:solidFill>
                  <a:srgbClr val="8A2B52"/>
                </a:solidFill>
                <a:latin typeface="Consolas"/>
              </a:rPr>
              <a:t>searchDetails</a:t>
            </a:r>
            <a:r>
              <a:rPr sz="2000" b="0" i="0">
                <a:solidFill>
                  <a:srgbClr val="1F2A36"/>
                </a:solidFill>
              </a:rPr>
              <a:t> ref with </a:t>
            </a:r>
            <a:r>
              <a:rPr sz="1900" b="0" i="0">
                <a:solidFill>
                  <a:srgbClr val="8A2B52"/>
                </a:solidFill>
                <a:latin typeface="Consolas"/>
              </a:rPr>
              <a:t>v-model</a:t>
            </a:r>
          </a:p>
          <a:p>
            <a:pPr marL="274320" indent="-256032">
              <a:spcAft>
                <a:spcPts val="900"/>
              </a:spcAft>
              <a:buClr>
                <a:srgbClr val="42B883"/>
              </a:buClr>
              <a:buSzPct val="100000"/>
              <a:buFont typeface="Arial"/>
              <a:buChar char="•"/>
            </a:pPr>
            <a:r>
              <a:rPr sz="2000" b="0" i="0">
                <a:solidFill>
                  <a:srgbClr val="1F2A36"/>
                </a:solidFill>
              </a:rPr>
              <a:t>Create a </a:t>
            </a:r>
            <a:r>
              <a:rPr sz="1900" b="0" i="0">
                <a:solidFill>
                  <a:srgbClr val="8A2B52"/>
                </a:solidFill>
                <a:latin typeface="Consolas"/>
              </a:rPr>
              <a:t>filterIt</a:t>
            </a:r>
            <a:r>
              <a:rPr sz="2000" b="0" i="0">
                <a:solidFill>
                  <a:srgbClr val="1F2A36"/>
                </a:solidFill>
              </a:rPr>
              <a:t> computed property</a:t>
            </a:r>
          </a:p>
          <a:p>
            <a:pPr marL="274320" indent="-256032">
              <a:spcAft>
                <a:spcPts val="900"/>
              </a:spcAft>
              <a:buClr>
                <a:srgbClr val="42B883"/>
              </a:buClr>
              <a:buSzPct val="100000"/>
              <a:buFont typeface="Arial"/>
              <a:buChar char="•"/>
            </a:pPr>
            <a:r>
              <a:rPr sz="2000" b="0" i="0">
                <a:solidFill>
                  <a:srgbClr val="1F2A36"/>
                </a:solidFill>
              </a:rPr>
              <a:t>Loop over </a:t>
            </a:r>
            <a:r>
              <a:rPr sz="1900" b="0" i="0">
                <a:solidFill>
                  <a:srgbClr val="8A2B52"/>
                </a:solidFill>
                <a:latin typeface="Consolas"/>
              </a:rPr>
              <a:t>filterIt</a:t>
            </a:r>
            <a:r>
              <a:rPr sz="2000" b="0" i="0">
                <a:solidFill>
                  <a:srgbClr val="1F2A36"/>
                </a:solidFill>
              </a:rPr>
              <a:t> instead of </a:t>
            </a:r>
            <a:r>
              <a:rPr sz="1900" b="0" i="0">
                <a:solidFill>
                  <a:srgbClr val="8A2B52"/>
                </a:solidFill>
                <a:latin typeface="Consolas"/>
              </a:rPr>
              <a:t>articles</a:t>
            </a:r>
          </a:p>
          <a:p>
            <a:pPr marL="274320" indent="-256032">
              <a:spcAft>
                <a:spcPts val="900"/>
              </a:spcAft>
              <a:buClr>
                <a:srgbClr val="42B883"/>
              </a:buClr>
              <a:buSzPct val="100000"/>
              <a:buFont typeface="Arial"/>
              <a:buChar char="•"/>
            </a:pPr>
            <a:r>
              <a:rPr sz="2000" b="0" i="0">
                <a:solidFill>
                  <a:srgbClr val="1F2A36"/>
                </a:solidFill>
              </a:rPr>
              <a:t>Challenges: make it case-insensitive; search the description too</a:t>
            </a:r>
          </a:p>
        </p:txBody>
      </p:sp>
      <p:sp>
        <p:nvSpPr>
          <p:cNvPr id="12"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3"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162</a:t>
            </a:fld>
            <a:endParaRPr lang="en-US" sz="900">
              <a:solidFill>
                <a:srgbClr val="9AA7B4"/>
              </a:solidFill>
            </a:endParaRPr>
          </a:p>
        </p:txBody>
      </p:sp>
    </p:spTree>
    <p:extLst>
      <p:ext uri="{BB962C8B-B14F-4D97-AF65-F5344CB8AC3E}">
        <p14:creationId xmlns:p14="http://schemas.microsoft.com/office/powerpoint/2010/main" val="300929196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6602-9D2A-C045-8130-479D87D216C1}"/>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Vue Components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Props, naming, registration, v-model, slots and async components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163</a:t>
            </a:fld>
            <a:endParaRPr lang="en-US" sz="900">
              <a:solidFill>
                <a:srgbClr val="9FB3C4"/>
              </a:solidFill>
            </a:endParaRPr>
          </a:p>
        </p:txBody>
      </p:sp>
    </p:spTree>
    <p:extLst>
      <p:ext uri="{BB962C8B-B14F-4D97-AF65-F5344CB8AC3E}">
        <p14:creationId xmlns:p14="http://schemas.microsoft.com/office/powerpoint/2010/main" val="27272287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B191-34D3-B348-BB4E-D5F38029DA9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are Vue Components?</a:t>
            </a:r>
          </a:p>
        </p:txBody>
      </p:sp>
      <p:sp>
        <p:nvSpPr>
          <p:cNvPr id="3" name="Body"/>
          <p:cNvSpPr txBox="1"/>
          <p:nvPr/>
        </p:nvSpPr>
        <p:spPr>
          <a:xfrm>
            <a:off x="457200" y="1261872"/>
            <a:ext cx="8229600" cy="441032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reusable piece of UI with its own state, template and styles</a:t>
            </a:r>
          </a:p>
          <a:p>
            <a:pPr marL="274320" indent="-256032">
              <a:spcAft>
                <a:spcPts val="990"/>
              </a:spcAft>
              <a:buClr>
                <a:srgbClr val="42B883"/>
              </a:buClr>
              <a:buSzPct val="100000"/>
              <a:buFont typeface="Arial"/>
              <a:buChar char="•"/>
            </a:pPr>
            <a:r>
              <a:rPr sz="2200" b="0" i="0">
                <a:solidFill>
                  <a:srgbClr val="1F2A36"/>
                </a:solidFill>
              </a:rPr>
              <a:t>Written as a single-file component: a </a:t>
            </a:r>
            <a:r>
              <a:rPr sz="2090" b="0" i="0">
                <a:solidFill>
                  <a:srgbClr val="8A2B52"/>
                </a:solidFill>
                <a:latin typeface="Consolas"/>
              </a:rPr>
              <a:t>.vue</a:t>
            </a:r>
            <a:r>
              <a:rPr sz="2200" b="0" i="0">
                <a:solidFill>
                  <a:srgbClr val="1F2A36"/>
                </a:solidFill>
              </a:rPr>
              <a:t> file with </a:t>
            </a:r>
            <a:r>
              <a:rPr sz="2090" b="0" i="0">
                <a:solidFill>
                  <a:srgbClr val="8A2B52"/>
                </a:solidFill>
                <a:latin typeface="Consolas"/>
              </a:rPr>
              <a:t>&lt;script setup&gt;</a:t>
            </a:r>
            <a:r>
              <a:rPr sz="2200" b="0" i="0">
                <a:solidFill>
                  <a:srgbClr val="1F2A36"/>
                </a:solidFill>
              </a:rPr>
              <a:t>, </a:t>
            </a:r>
            <a:r>
              <a:rPr sz="2090" b="0" i="0">
                <a:solidFill>
                  <a:srgbClr val="8A2B52"/>
                </a:solidFill>
                <a:latin typeface="Consolas"/>
              </a:rPr>
              <a:t>&lt;template&gt;</a:t>
            </a:r>
            <a:r>
              <a:rPr sz="2200" b="0" i="0">
                <a:solidFill>
                  <a:srgbClr val="1F2A36"/>
                </a:solidFill>
              </a:rPr>
              <a:t> and </a:t>
            </a:r>
            <a:r>
              <a:rPr sz="2090" b="0" i="0">
                <a:solidFill>
                  <a:srgbClr val="8A2B52"/>
                </a:solidFill>
                <a:latin typeface="Consolas"/>
              </a:rPr>
              <a:t>&lt;style&gt;</a:t>
            </a:r>
          </a:p>
          <a:p>
            <a:pPr marL="274320" indent="-256032">
              <a:spcAft>
                <a:spcPts val="990"/>
              </a:spcAft>
              <a:buClr>
                <a:srgbClr val="42B883"/>
              </a:buClr>
              <a:buSzPct val="100000"/>
              <a:buFont typeface="Arial"/>
              <a:buChar char="•"/>
            </a:pPr>
            <a:r>
              <a:rPr sz="2200" b="0" i="0">
                <a:solidFill>
                  <a:srgbClr val="1F2A36"/>
                </a:solidFill>
              </a:rPr>
              <a:t>State is declared with </a:t>
            </a:r>
            <a:r>
              <a:rPr sz="2090" b="0" i="0">
                <a:solidFill>
                  <a:srgbClr val="8A2B52"/>
                </a:solidFill>
                <a:latin typeface="Consolas"/>
              </a:rPr>
              <a:t>ref()</a:t>
            </a:r>
            <a:r>
              <a:rPr sz="2200" b="0" i="0">
                <a:solidFill>
                  <a:srgbClr val="1F2A36"/>
                </a:solidFill>
              </a:rPr>
              <a:t> and </a:t>
            </a:r>
            <a:r>
              <a:rPr sz="2090" b="0" i="0">
                <a:solidFill>
                  <a:srgbClr val="8A2B52"/>
                </a:solidFill>
                <a:latin typeface="Consolas"/>
              </a:rPr>
              <a:t>reactive()</a:t>
            </a:r>
            <a:r>
              <a:rPr sz="2200" b="0" i="0">
                <a:solidFill>
                  <a:srgbClr val="1F2A36"/>
                </a:solidFill>
              </a:rPr>
              <a:t>, so each instance gets its own copy</a:t>
            </a:r>
          </a:p>
          <a:p>
            <a:pPr marL="566928" indent="-256032">
              <a:spcAft>
                <a:spcPts val="855"/>
              </a:spcAft>
              <a:buClr>
                <a:srgbClr val="6B7B8C"/>
              </a:buClr>
              <a:buSzPct val="100000"/>
              <a:buFont typeface="Arial"/>
              <a:buChar char="–"/>
            </a:pPr>
            <a:r>
              <a:rPr sz="1900" b="0" i="0">
                <a:solidFill>
                  <a:srgbClr val="3A4A5A"/>
                </a:solidFill>
              </a:rPr>
              <a:t>That's what the </a:t>
            </a:r>
            <a:r>
              <a:rPr sz="1805" b="0" i="0">
                <a:solidFill>
                  <a:srgbClr val="8A2B52"/>
                </a:solidFill>
                <a:latin typeface="Consolas"/>
              </a:rPr>
              <a:t>data()</a:t>
            </a:r>
            <a:r>
              <a:rPr sz="1900" b="0" i="0">
                <a:solidFill>
                  <a:srgbClr val="3A4A5A"/>
                </a:solidFill>
              </a:rPr>
              <a:t> function guaranteed in the Options API</a:t>
            </a:r>
          </a:p>
          <a:p>
            <a:pPr marL="274320" indent="-256032">
              <a:spcAft>
                <a:spcPts val="990"/>
              </a:spcAft>
              <a:buClr>
                <a:srgbClr val="42B883"/>
              </a:buClr>
              <a:buSzPct val="100000"/>
              <a:buFont typeface="Arial"/>
              <a:buChar char="•"/>
            </a:pPr>
            <a:r>
              <a:rPr sz="2200" b="0" i="0">
                <a:solidFill>
                  <a:srgbClr val="1F2A36"/>
                </a:solidFill>
              </a:rPr>
              <a:t>A component may have more than one root element (a </a:t>
            </a:r>
            <a:r>
              <a:rPr sz="2200" b="1" i="0">
                <a:solidFill>
                  <a:srgbClr val="1F2A36"/>
                </a:solidFill>
              </a:rPr>
              <a:t>fragment</a:t>
            </a:r>
            <a:r>
              <a:rPr sz="2200" b="0" i="0">
                <a:solidFill>
                  <a:srgbClr val="1F2A36"/>
                </a:solidFill>
              </a:rPr>
              <a:t>)</a:t>
            </a:r>
          </a:p>
          <a:p>
            <a:pPr marL="274320" indent="-256032">
              <a:spcAft>
                <a:spcPts val="990"/>
              </a:spcAft>
              <a:buClr>
                <a:srgbClr val="42B883"/>
              </a:buClr>
              <a:buSzPct val="100000"/>
              <a:buFont typeface="Arial"/>
              <a:buChar char="•"/>
            </a:pPr>
            <a:r>
              <a:rPr sz="2200" b="0" i="0">
                <a:solidFill>
                  <a:srgbClr val="1F2A36"/>
                </a:solidFill>
              </a:rPr>
              <a:t>Components form a tree: data flows </a:t>
            </a:r>
            <a:r>
              <a:rPr sz="2200" b="1" i="0">
                <a:solidFill>
                  <a:srgbClr val="1F2A36"/>
                </a:solidFill>
              </a:rPr>
              <a:t>down</a:t>
            </a:r>
            <a:r>
              <a:rPr sz="2200" b="0" i="0">
                <a:solidFill>
                  <a:srgbClr val="1F2A36"/>
                </a:solidFill>
              </a:rPr>
              <a:t> as props, events flow </a:t>
            </a:r>
            <a:r>
              <a:rPr sz="2200" b="1" i="0">
                <a:solidFill>
                  <a:srgbClr val="1F2A36"/>
                </a:solidFill>
              </a:rPr>
              <a:t>up</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164</a:t>
            </a:fld>
            <a:endParaRPr lang="en-US" sz="900">
              <a:solidFill>
                <a:srgbClr val="9AA7B4"/>
              </a:solidFill>
            </a:endParaRPr>
          </a:p>
        </p:txBody>
      </p:sp>
    </p:spTree>
    <p:extLst>
      <p:ext uri="{BB962C8B-B14F-4D97-AF65-F5344CB8AC3E}">
        <p14:creationId xmlns:p14="http://schemas.microsoft.com/office/powerpoint/2010/main" val="269185608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57D83-365D-9C44-B6E6-8FB8BDBFBF4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Creating a Component</a:t>
            </a:r>
          </a:p>
        </p:txBody>
      </p:sp>
      <p:sp>
        <p:nvSpPr>
          <p:cNvPr id="3" name="Code"/>
          <p:cNvSpPr/>
          <p:nvPr/>
        </p:nvSpPr>
        <p:spPr>
          <a:xfrm>
            <a:off x="457200" y="1261872"/>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&lt;!-- TodoItem.vue --&gt;</a:t>
            </a:r>
          </a:p>
          <a:p>
            <a:pPr marL="0" indent="0" algn="l">
              <a:lnSpc>
                <a:spcPct val="100000"/>
              </a:lnSpc>
              <a:buNone/>
            </a:pPr>
            <a:r>
              <a:rPr sz="2000">
                <a:solidFill>
                  <a:srgbClr val="116329"/>
                </a:solidFill>
                <a:latin typeface="Consolas"/>
              </a:rPr>
              <a:t>&lt;script</a:t>
            </a:r>
            <a:r>
              <a:rPr sz="2000">
                <a:solidFill>
                  <a:srgbClr val="24292F"/>
                </a:solidFill>
                <a:latin typeface="Consolas"/>
              </a:rPr>
              <a:t> </a:t>
            </a:r>
            <a:r>
              <a:rPr sz="2000">
                <a:solidFill>
                  <a:srgbClr val="953800"/>
                </a:solidFill>
                <a:latin typeface="Consolas"/>
              </a:rPr>
              <a:t>setup</a:t>
            </a:r>
            <a:r>
              <a:rPr sz="2000">
                <a:solidFill>
                  <a:srgbClr val="116329"/>
                </a:solidFill>
                <a:latin typeface="Consolas"/>
              </a:rPr>
              <a:t>&gt;</a:t>
            </a:r>
          </a:p>
          <a:p>
            <a:pPr marL="0" indent="0" algn="l">
              <a:lnSpc>
                <a:spcPct val="100000"/>
              </a:lnSpc>
              <a:buNone/>
            </a:pPr>
            <a:r>
              <a:rPr sz="2000">
                <a:solidFill>
                  <a:srgbClr val="24292F"/>
                </a:solidFill>
                <a:latin typeface="Consolas"/>
              </a:rPr>
              <a:t>defineProps({</a:t>
            </a:r>
          </a:p>
          <a:p>
            <a:pPr marL="0" indent="0" algn="l">
              <a:lnSpc>
                <a:spcPct val="100000"/>
              </a:lnSpc>
              <a:buNone/>
            </a:pPr>
            <a:r>
              <a:rPr sz="2000">
                <a:solidFill>
                  <a:srgbClr val="24292F"/>
                </a:solidFill>
                <a:latin typeface="Consolas"/>
              </a:rPr>
              <a:t>  todo: { type: Object, required: </a:t>
            </a:r>
            <a:r>
              <a:rPr sz="2000">
                <a:solidFill>
                  <a:srgbClr val="CF222E"/>
                </a:solidFill>
                <a:latin typeface="Consolas"/>
              </a:rPr>
              <a:t>true</a:t>
            </a:r>
            <a:r>
              <a:rPr sz="2000">
                <a:solidFill>
                  <a:srgbClr val="24292F"/>
                </a:solidFill>
                <a:latin typeface="Consolas"/>
              </a:rPr>
              <a:t> },</a:t>
            </a:r>
          </a:p>
          <a:p>
            <a:pPr marL="0" indent="0" algn="l">
              <a:lnSpc>
                <a:spcPct val="100000"/>
              </a:lnSpc>
              <a:buNone/>
            </a:pPr>
            <a:r>
              <a:rPr sz="2000">
                <a:solidFill>
                  <a:srgbClr val="24292F"/>
                </a:solidFill>
                <a:latin typeface="Consolas"/>
              </a:rPr>
              <a:t>})</a:t>
            </a:r>
          </a:p>
          <a:p>
            <a:pPr marL="0" indent="0" algn="l">
              <a:lnSpc>
                <a:spcPct val="100000"/>
              </a:lnSpc>
              <a:buNone/>
            </a:pPr>
            <a:r>
              <a:rPr sz="2000">
                <a:solidFill>
                  <a:srgbClr val="116329"/>
                </a:solidFill>
                <a:latin typeface="Consolas"/>
              </a:rPr>
              <a:t>&lt;/script&gt;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&lt;template&gt;</a:t>
            </a:r>
          </a:p>
          <a:p>
            <a:pPr marL="0" indent="0" algn="l">
              <a:lnSpc>
                <a:spcPct val="100000"/>
              </a:lnSpc>
              <a:buNone/>
            </a:pPr>
            <a:r>
              <a:rPr sz="2000">
                <a:solidFill>
                  <a:srgbClr val="24292F"/>
                </a:solidFill>
                <a:latin typeface="Consolas"/>
              </a:rPr>
              <a:t>  </a:t>
            </a:r>
            <a:r>
              <a:rPr sz="2000">
                <a:solidFill>
                  <a:srgbClr val="116329"/>
                </a:solidFill>
                <a:latin typeface="Consolas"/>
              </a:rPr>
              <a:t>&lt;li&gt;</a:t>
            </a:r>
            <a:r>
              <a:rPr sz="2000">
                <a:solidFill>
                  <a:srgbClr val="24292F"/>
                </a:solidFill>
                <a:latin typeface="Consolas"/>
              </a:rPr>
              <a:t>{{ todo.text }}</a:t>
            </a:r>
            <a:r>
              <a:rPr sz="2000">
                <a:solidFill>
                  <a:srgbClr val="116329"/>
                </a:solidFill>
                <a:latin typeface="Consolas"/>
              </a:rPr>
              <a:t>&lt;/li&gt;</a:t>
            </a:r>
          </a:p>
          <a:p>
            <a:pPr marL="0" indent="0" algn="l">
              <a:lnSpc>
                <a:spcPct val="100000"/>
              </a:lnSpc>
              <a:buNone/>
            </a:pPr>
            <a:r>
              <a:rPr sz="2000">
                <a:solidFill>
                  <a:srgbClr val="116329"/>
                </a:solidFill>
                <a:latin typeface="Consolas"/>
              </a:rPr>
              <a:t>&lt;/template&gt;</a:t>
            </a:r>
          </a:p>
        </p:txBody>
      </p:sp>
      <p:sp>
        <p:nvSpPr>
          <p:cNvPr id="4" name="Body"/>
          <p:cNvSpPr txBox="1"/>
          <p:nvPr/>
        </p:nvSpPr>
        <p:spPr>
          <a:xfrm>
            <a:off x="457200" y="4850384"/>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file name is the component name: </a:t>
            </a:r>
            <a:r>
              <a:rPr sz="2090" b="0" i="0">
                <a:solidFill>
                  <a:srgbClr val="8A2B52"/>
                </a:solidFill>
                <a:latin typeface="Consolas"/>
              </a:rPr>
              <a:t>TodoItem.vue</a:t>
            </a:r>
            <a:r>
              <a:rPr sz="2200" b="0" i="0">
                <a:solidFill>
                  <a:srgbClr val="1F2A36"/>
                </a:solidFill>
              </a:rPr>
              <a:t> is used as </a:t>
            </a:r>
            <a:r>
              <a:rPr sz="2090" b="0" i="0">
                <a:solidFill>
                  <a:srgbClr val="8A2B52"/>
                </a:solidFill>
                <a:latin typeface="Consolas"/>
              </a:rPr>
              <a:t>&lt;TodoItem /&gt;</a:t>
            </a:r>
          </a:p>
          <a:p>
            <a:pPr marL="274320" indent="-256032">
              <a:spcAft>
                <a:spcPts val="990"/>
              </a:spcAft>
              <a:buClr>
                <a:srgbClr val="42B883"/>
              </a:buClr>
              <a:buSzPct val="100000"/>
              <a:buFont typeface="Arial"/>
              <a:buChar char="•"/>
            </a:pPr>
            <a:r>
              <a:rPr sz="2200" b="0" i="0">
                <a:solidFill>
                  <a:srgbClr val="1F2A36"/>
                </a:solidFill>
              </a:rPr>
              <a:t>Vue 2 wrote </a:t>
            </a:r>
            <a:r>
              <a:rPr sz="2090" b="0" i="0">
                <a:solidFill>
                  <a:srgbClr val="8A2B52"/>
                </a:solidFill>
                <a:latin typeface="Consolas"/>
              </a:rPr>
              <a:t>Vue.component('todo-item', { ... })</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165</a:t>
            </a:fld>
            <a:endParaRPr lang="en-US" sz="900">
              <a:solidFill>
                <a:srgbClr val="9AA7B4"/>
              </a:solidFill>
            </a:endParaRPr>
          </a:p>
        </p:txBody>
      </p:sp>
    </p:spTree>
    <p:extLst>
      <p:ext uri="{BB962C8B-B14F-4D97-AF65-F5344CB8AC3E}">
        <p14:creationId xmlns:p14="http://schemas.microsoft.com/office/powerpoint/2010/main" val="100855966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55765-2262-1E4E-9F60-F438358ED31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Organizing and Reusing Components</a:t>
            </a:r>
          </a:p>
        </p:txBody>
      </p:sp>
      <p:pic>
        <p:nvPicPr>
          <p:cNvPr id="5" name="Picture 4">
            <a:extLst>
              <a:ext uri="{FF2B5EF4-FFF2-40B4-BE49-F238E27FC236}">
                <a16:creationId xmlns:a16="http://schemas.microsoft.com/office/drawing/2014/main" id="{26AAFFFE-7FA0-40C1-F824-2B888B0A9EB0}"/>
              </a:ext>
            </a:extLst>
          </p:cNvPr>
          <p:cNvPicPr>
            <a:picLocks noChangeAspect="1"/>
          </p:cNvPicPr>
          <p:nvPr/>
        </p:nvPicPr>
        <p:blipFill>
          <a:blip r:embed="rId3"/>
          <a:stretch>
            <a:fillRect/>
          </a:stretch>
        </p:blipFill>
        <p:spPr>
          <a:xfrm>
            <a:off x="457200" y="2427987"/>
            <a:ext cx="8229600" cy="3184141"/>
          </a:xfrm>
          <a:prstGeom prst="rect">
            <a:avLst/>
          </a:prstGeom>
        </p:spPr>
      </p:pic>
      <p:sp>
        <p:nvSpPr>
          <p:cNvPr id="6" name="Body"/>
          <p:cNvSpPr txBox="1"/>
          <p:nvPr/>
        </p:nvSpPr>
        <p:spPr>
          <a:xfrm>
            <a:off x="457200" y="1261872"/>
            <a:ext cx="8229600" cy="505459"/>
          </a:xfrm>
          <a:prstGeom prst="rect">
            <a:avLst/>
          </a:prstGeom>
          <a:noFill/>
        </p:spPr>
        <p:txBody>
          <a:bodyPr wrap="square" lIns="0" tIns="0" rIns="0" bIns="0">
            <a:noAutofit/>
          </a:bodyPr>
          <a:lstStyle/>
          <a:p>
            <a:pPr marL="0" indent="0">
              <a:spcAft>
                <a:spcPts val="900"/>
              </a:spcAft>
              <a:buNone/>
            </a:pPr>
            <a:r>
              <a:rPr sz="2000" b="0" i="0">
                <a:solidFill>
                  <a:srgbClr val="1F2A36"/>
                </a:solidFill>
              </a:rPr>
              <a:t>Apps are usually organized as a tree of nested components.</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166</a:t>
            </a:fld>
            <a:endParaRPr lang="en-US" sz="900">
              <a:solidFill>
                <a:srgbClr val="9AA7B4"/>
              </a:solidFill>
            </a:endParaRPr>
          </a:p>
        </p:txBody>
      </p:sp>
    </p:spTree>
    <p:extLst>
      <p:ext uri="{BB962C8B-B14F-4D97-AF65-F5344CB8AC3E}">
        <p14:creationId xmlns:p14="http://schemas.microsoft.com/office/powerpoint/2010/main" val="35711669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33D8-1294-9940-8EE5-251BFBEB7752}"/>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Naming Components</a:t>
            </a:r>
          </a:p>
        </p:txBody>
      </p:sp>
      <p:sp>
        <p:nvSpPr>
          <p:cNvPr id="3" name="Body"/>
          <p:cNvSpPr txBox="1"/>
          <p:nvPr/>
        </p:nvSpPr>
        <p:spPr>
          <a:xfrm>
            <a:off x="457200" y="1261872"/>
            <a:ext cx="8229600" cy="325208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PascalCase</a:t>
            </a:r>
            <a:r>
              <a:rPr sz="2200" b="0" i="0">
                <a:solidFill>
                  <a:srgbClr val="1F2A36"/>
                </a:solidFill>
              </a:rPr>
              <a:t> — the recommended default</a:t>
            </a:r>
          </a:p>
          <a:p>
            <a:pPr marL="566928" indent="-256032">
              <a:spcAft>
                <a:spcPts val="855"/>
              </a:spcAft>
              <a:buClr>
                <a:srgbClr val="6B7B8C"/>
              </a:buClr>
              <a:buSzPct val="100000"/>
              <a:buFont typeface="Arial"/>
              <a:buChar char="–"/>
            </a:pPr>
            <a:r>
              <a:rPr sz="1900" b="0" i="0">
                <a:solidFill>
                  <a:srgbClr val="3A4A5A"/>
                </a:solidFill>
              </a:rPr>
              <a:t>Matches the file name, and the editor can resolve it</a:t>
            </a:r>
          </a:p>
          <a:p>
            <a:pPr marL="566928" indent="-256032">
              <a:spcAft>
                <a:spcPts val="855"/>
              </a:spcAft>
              <a:buClr>
                <a:srgbClr val="6B7B8C"/>
              </a:buClr>
              <a:buSzPct val="100000"/>
              <a:buFont typeface="Arial"/>
              <a:buChar char="–"/>
            </a:pPr>
            <a:r>
              <a:rPr sz="1900" b="0" i="0">
                <a:solidFill>
                  <a:srgbClr val="3A4A5A"/>
                </a:solidFill>
              </a:rPr>
              <a:t>Distinguishes your components from native HTML elements</a:t>
            </a:r>
          </a:p>
          <a:p>
            <a:pPr marL="274320" indent="-256032">
              <a:spcAft>
                <a:spcPts val="990"/>
              </a:spcAft>
              <a:buClr>
                <a:srgbClr val="42B883"/>
              </a:buClr>
              <a:buSzPct val="100000"/>
              <a:buFont typeface="Arial"/>
              <a:buChar char="•"/>
            </a:pPr>
            <a:r>
              <a:rPr sz="2200" b="1" i="0">
                <a:solidFill>
                  <a:srgbClr val="1F2A36"/>
                </a:solidFill>
              </a:rPr>
              <a:t>kebab-case</a:t>
            </a:r>
            <a:r>
              <a:rPr sz="2200" b="0" i="0">
                <a:solidFill>
                  <a:srgbClr val="1F2A36"/>
                </a:solidFill>
              </a:rPr>
              <a:t> — </a:t>
            </a:r>
            <a:r>
              <a:rPr sz="2090" b="0" i="0">
                <a:solidFill>
                  <a:srgbClr val="8A2B52"/>
                </a:solidFill>
                <a:latin typeface="Consolas"/>
              </a:rPr>
              <a:t>&lt;todo-item&gt;</a:t>
            </a:r>
          </a:p>
          <a:p>
            <a:pPr marL="566928" indent="-256032">
              <a:spcAft>
                <a:spcPts val="855"/>
              </a:spcAft>
              <a:buClr>
                <a:srgbClr val="6B7B8C"/>
              </a:buClr>
              <a:buSzPct val="100000"/>
              <a:buFont typeface="Arial"/>
              <a:buChar char="–"/>
            </a:pPr>
            <a:r>
              <a:rPr sz="1900" b="0" i="0">
                <a:solidFill>
                  <a:srgbClr val="3A4A5A"/>
                </a:solidFill>
              </a:rPr>
              <a:t>Required when templates are written directly in the HTML page (in-DOM templates), because HTML tag names are case-insensitive</a:t>
            </a:r>
          </a:p>
          <a:p>
            <a:pPr marL="274320" indent="-256032">
              <a:spcAft>
                <a:spcPts val="990"/>
              </a:spcAft>
              <a:buClr>
                <a:srgbClr val="42B883"/>
              </a:buClr>
              <a:buSzPct val="100000"/>
              <a:buFont typeface="Arial"/>
              <a:buChar char="•"/>
            </a:pPr>
            <a:r>
              <a:rPr sz="2200" b="0" i="0">
                <a:solidFill>
                  <a:srgbClr val="1F2A36"/>
                </a:solidFill>
              </a:rPr>
              <a:t>Use </a:t>
            </a:r>
            <a:r>
              <a:rPr sz="2200" b="1" i="0">
                <a:solidFill>
                  <a:srgbClr val="1F2A36"/>
                </a:solidFill>
              </a:rPr>
              <a:t>multi-word</a:t>
            </a:r>
            <a:r>
              <a:rPr sz="2200" b="0" i="0">
                <a:solidFill>
                  <a:srgbClr val="1F2A36"/>
                </a:solidFill>
              </a:rPr>
              <a:t> names (</a:t>
            </a:r>
            <a:r>
              <a:rPr sz="2090" b="0" i="0">
                <a:solidFill>
                  <a:srgbClr val="8A2B52"/>
                </a:solidFill>
                <a:latin typeface="Consolas"/>
              </a:rPr>
              <a:t>TodoItem</a:t>
            </a:r>
            <a:r>
              <a:rPr sz="2200" b="0" i="0">
                <a:solidFill>
                  <a:srgbClr val="1F2A36"/>
                </a:solidFill>
              </a:rPr>
              <a:t>, not </a:t>
            </a:r>
            <a:r>
              <a:rPr sz="2090" b="0" i="0">
                <a:solidFill>
                  <a:srgbClr val="8A2B52"/>
                </a:solidFill>
                <a:latin typeface="Consolas"/>
              </a:rPr>
              <a:t>Todo</a:t>
            </a:r>
            <a:r>
              <a:rPr sz="2200" b="0" i="0">
                <a:solidFill>
                  <a:srgbClr val="1F2A36"/>
                </a:solidFill>
              </a:rPr>
              <a:t>) to avoid clashing with current and future HTML elements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167</a:t>
            </a:fld>
            <a:endParaRPr lang="en-US" sz="900">
              <a:solidFill>
                <a:srgbClr val="9AA7B4"/>
              </a:solidFill>
            </a:endParaRPr>
          </a:p>
        </p:txBody>
      </p:sp>
    </p:spTree>
    <p:extLst>
      <p:ext uri="{BB962C8B-B14F-4D97-AF65-F5344CB8AC3E}">
        <p14:creationId xmlns:p14="http://schemas.microsoft.com/office/powerpoint/2010/main" val="206551060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6867-894F-1A40-9527-278D962CDD3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Local Components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The usual case: import the component where you use it.</a:t>
            </a:r>
          </a:p>
        </p:txBody>
      </p:sp>
      <p:sp>
        <p:nvSpPr>
          <p:cNvPr id="4" name="Code"/>
          <p:cNvSpPr/>
          <p:nvPr/>
        </p:nvSpPr>
        <p:spPr>
          <a:xfrm>
            <a:off x="457200" y="1863597"/>
            <a:ext cx="8229600" cy="233197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116329"/>
                </a:solidFill>
                <a:latin typeface="Consolas"/>
              </a:rPr>
              <a:t>&lt;script</a:t>
            </a:r>
            <a:r>
              <a:rPr sz="1850">
                <a:solidFill>
                  <a:srgbClr val="24292F"/>
                </a:solidFill>
                <a:latin typeface="Consolas"/>
              </a:rPr>
              <a:t> </a:t>
            </a:r>
            <a:r>
              <a:rPr sz="1850">
                <a:solidFill>
                  <a:srgbClr val="953800"/>
                </a:solidFill>
                <a:latin typeface="Consolas"/>
              </a:rPr>
              <a:t>setup</a:t>
            </a:r>
            <a:r>
              <a:rPr sz="1850">
                <a:solidFill>
                  <a:srgbClr val="116329"/>
                </a:solidFill>
                <a:latin typeface="Consolas"/>
              </a:rPr>
              <a:t>&gt;</a:t>
            </a:r>
          </a:p>
          <a:p>
            <a:pPr marL="0" indent="0" algn="l">
              <a:lnSpc>
                <a:spcPct val="100000"/>
              </a:lnSpc>
              <a:buNone/>
            </a:pPr>
            <a:r>
              <a:rPr sz="1850">
                <a:solidFill>
                  <a:srgbClr val="CF222E"/>
                </a:solidFill>
                <a:latin typeface="Consolas"/>
              </a:rPr>
              <a:t>import</a:t>
            </a:r>
            <a:r>
              <a:rPr sz="1850">
                <a:solidFill>
                  <a:srgbClr val="24292F"/>
                </a:solidFill>
                <a:latin typeface="Consolas"/>
              </a:rPr>
              <a:t> PopupWindow </a:t>
            </a:r>
            <a:r>
              <a:rPr sz="1850">
                <a:solidFill>
                  <a:srgbClr val="CF222E"/>
                </a:solidFill>
                <a:latin typeface="Consolas"/>
              </a:rPr>
              <a:t>from</a:t>
            </a:r>
            <a:r>
              <a:rPr sz="1850">
                <a:solidFill>
                  <a:srgbClr val="24292F"/>
                </a:solidFill>
                <a:latin typeface="Consolas"/>
              </a:rPr>
              <a:t> </a:t>
            </a:r>
            <a:r>
              <a:rPr sz="1850">
                <a:solidFill>
                  <a:srgbClr val="0A3069"/>
                </a:solidFill>
                <a:latin typeface="Consolas"/>
              </a:rPr>
              <a:t>'./components/PopupWindow.vue'</a:t>
            </a:r>
          </a:p>
          <a:p>
            <a:pPr marL="0" indent="0" algn="l">
              <a:lnSpc>
                <a:spcPct val="100000"/>
              </a:lnSpc>
              <a:buNone/>
            </a:pPr>
            <a:r>
              <a:rPr sz="1850">
                <a:solidFill>
                  <a:srgbClr val="116329"/>
                </a:solidFill>
                <a:latin typeface="Consolas"/>
              </a:rPr>
              <a:t>&lt;/script&gt;</a:t>
            </a:r>
          </a:p>
          <a:p>
            <a:pPr marL="0" indent="0" algn="l">
              <a:lnSpc>
                <a:spcPct val="100000"/>
              </a:lnSpc>
              <a:buNone/>
            </a:pPr>
            <a:r>
              <a:rPr sz="1850">
                <a:latin typeface="Consolas"/>
              </a:rPr>
              <a:t> </a:t>
            </a:r>
          </a:p>
          <a:p>
            <a:pPr marL="0" indent="0" algn="l">
              <a:lnSpc>
                <a:spcPct val="100000"/>
              </a:lnSpc>
              <a:buNone/>
            </a:pPr>
            <a:r>
              <a:rPr sz="1850">
                <a:solidFill>
                  <a:srgbClr val="116329"/>
                </a:solidFill>
                <a:latin typeface="Consolas"/>
              </a:rPr>
              <a:t>&lt;template&gt;</a:t>
            </a:r>
          </a:p>
          <a:p>
            <a:pPr marL="0" indent="0" algn="l">
              <a:lnSpc>
                <a:spcPct val="100000"/>
              </a:lnSpc>
              <a:buNone/>
            </a:pPr>
            <a:r>
              <a:rPr sz="1850">
                <a:solidFill>
                  <a:srgbClr val="24292F"/>
                </a:solidFill>
                <a:latin typeface="Consolas"/>
              </a:rPr>
              <a:t>  </a:t>
            </a:r>
            <a:r>
              <a:rPr sz="1850">
                <a:solidFill>
                  <a:srgbClr val="116329"/>
                </a:solidFill>
                <a:latin typeface="Consolas"/>
              </a:rPr>
              <a:t>&lt;PopupWindow</a:t>
            </a:r>
            <a:r>
              <a:rPr sz="1850">
                <a:solidFill>
                  <a:srgbClr val="24292F"/>
                </a:solidFill>
                <a:latin typeface="Consolas"/>
              </a:rPr>
              <a:t> </a:t>
            </a:r>
            <a:r>
              <a:rPr sz="1850">
                <a:solidFill>
                  <a:srgbClr val="116329"/>
                </a:solidFill>
                <a:latin typeface="Consolas"/>
              </a:rPr>
              <a:t>/&gt;</a:t>
            </a:r>
          </a:p>
          <a:p>
            <a:pPr marL="0" indent="0" algn="l">
              <a:lnSpc>
                <a:spcPct val="100000"/>
              </a:lnSpc>
              <a:buNone/>
            </a:pPr>
            <a:r>
              <a:rPr sz="1850">
                <a:solidFill>
                  <a:srgbClr val="116329"/>
                </a:solidFill>
                <a:latin typeface="Consolas"/>
              </a:rPr>
              <a:t>&lt;/template&gt;</a:t>
            </a:r>
          </a:p>
        </p:txBody>
      </p:sp>
      <p:sp>
        <p:nvSpPr>
          <p:cNvPr id="5" name="Body"/>
          <p:cNvSpPr txBox="1"/>
          <p:nvPr/>
        </p:nvSpPr>
        <p:spPr>
          <a:xfrm>
            <a:off x="457200" y="4341876"/>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import </a:t>
            </a:r>
            <a:r>
              <a:rPr sz="2200" b="1" i="0">
                <a:solidFill>
                  <a:srgbClr val="1F2A36"/>
                </a:solidFill>
              </a:rPr>
              <a:t>is</a:t>
            </a:r>
            <a:r>
              <a:rPr sz="2200" b="0" i="0">
                <a:solidFill>
                  <a:srgbClr val="1F2A36"/>
                </a:solidFill>
              </a:rPr>
              <a:t> the registration. There's no </a:t>
            </a:r>
            <a:r>
              <a:rPr sz="2090" b="0" i="0">
                <a:solidFill>
                  <a:srgbClr val="8A2B52"/>
                </a:solidFill>
                <a:latin typeface="Consolas"/>
              </a:rPr>
              <a:t>components</a:t>
            </a:r>
            <a:r>
              <a:rPr sz="2200" b="0" i="0">
                <a:solidFill>
                  <a:srgbClr val="1F2A36"/>
                </a:solidFill>
              </a:rPr>
              <a:t> option.</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168</a:t>
            </a:fld>
            <a:endParaRPr lang="en-US" sz="900">
              <a:solidFill>
                <a:srgbClr val="9AA7B4"/>
              </a:solidFill>
            </a:endParaRPr>
          </a:p>
        </p:txBody>
      </p:sp>
    </p:spTree>
    <p:extLst>
      <p:ext uri="{BB962C8B-B14F-4D97-AF65-F5344CB8AC3E}">
        <p14:creationId xmlns:p14="http://schemas.microsoft.com/office/powerpoint/2010/main" val="68418354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D03A-2717-4242-8AF0-54B081D6E2C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Global Components</a:t>
            </a:r>
          </a:p>
        </p:txBody>
      </p:sp>
      <p:sp>
        <p:nvSpPr>
          <p:cNvPr id="3" name="Code"/>
          <p:cNvSpPr/>
          <p:nvPr/>
        </p:nvSpPr>
        <p:spPr>
          <a:xfrm>
            <a:off x="457200" y="1261872"/>
            <a:ext cx="8229600" cy="32059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i="1">
                <a:solidFill>
                  <a:srgbClr val="6E7781"/>
                </a:solidFill>
                <a:latin typeface="Consolas"/>
              </a:rPr>
              <a:t>// main.js</a:t>
            </a:r>
          </a:p>
          <a:p>
            <a:pPr marL="0" indent="0" algn="l">
              <a:lnSpc>
                <a:spcPct val="100000"/>
              </a:lnSpc>
              <a:buNone/>
            </a:pPr>
            <a:r>
              <a:rPr sz="1850">
                <a:solidFill>
                  <a:srgbClr val="CF222E"/>
                </a:solidFill>
                <a:latin typeface="Consolas"/>
              </a:rPr>
              <a:t>import</a:t>
            </a:r>
            <a:r>
              <a:rPr sz="1850">
                <a:solidFill>
                  <a:srgbClr val="24292F"/>
                </a:solidFill>
                <a:latin typeface="Consolas"/>
              </a:rPr>
              <a:t> { createApp } </a:t>
            </a:r>
            <a:r>
              <a:rPr sz="1850">
                <a:solidFill>
                  <a:srgbClr val="CF222E"/>
                </a:solidFill>
                <a:latin typeface="Consolas"/>
              </a:rPr>
              <a:t>from</a:t>
            </a:r>
            <a:r>
              <a:rPr sz="1850">
                <a:solidFill>
                  <a:srgbClr val="24292F"/>
                </a:solidFill>
                <a:latin typeface="Consolas"/>
              </a:rPr>
              <a:t> </a:t>
            </a:r>
            <a:r>
              <a:rPr sz="1850">
                <a:solidFill>
                  <a:srgbClr val="0A3069"/>
                </a:solidFill>
                <a:latin typeface="Consolas"/>
              </a:rPr>
              <a:t>'vue'</a:t>
            </a:r>
          </a:p>
          <a:p>
            <a:pPr marL="0" indent="0" algn="l">
              <a:lnSpc>
                <a:spcPct val="100000"/>
              </a:lnSpc>
              <a:buNone/>
            </a:pPr>
            <a:r>
              <a:rPr sz="1850">
                <a:solidFill>
                  <a:srgbClr val="CF222E"/>
                </a:solidFill>
                <a:latin typeface="Consolas"/>
              </a:rPr>
              <a:t>import</a:t>
            </a:r>
            <a:r>
              <a:rPr sz="1850">
                <a:solidFill>
                  <a:srgbClr val="24292F"/>
                </a:solidFill>
                <a:latin typeface="Consolas"/>
              </a:rPr>
              <a:t> App </a:t>
            </a:r>
            <a:r>
              <a:rPr sz="1850">
                <a:solidFill>
                  <a:srgbClr val="CF222E"/>
                </a:solidFill>
                <a:latin typeface="Consolas"/>
              </a:rPr>
              <a:t>from</a:t>
            </a:r>
            <a:r>
              <a:rPr sz="1850">
                <a:solidFill>
                  <a:srgbClr val="24292F"/>
                </a:solidFill>
                <a:latin typeface="Consolas"/>
              </a:rPr>
              <a:t> </a:t>
            </a:r>
            <a:r>
              <a:rPr sz="1850">
                <a:solidFill>
                  <a:srgbClr val="0A3069"/>
                </a:solidFill>
                <a:latin typeface="Consolas"/>
              </a:rPr>
              <a:t>'./App.vue'</a:t>
            </a:r>
          </a:p>
          <a:p>
            <a:pPr marL="0" indent="0" algn="l">
              <a:lnSpc>
                <a:spcPct val="100000"/>
              </a:lnSpc>
              <a:buNone/>
            </a:pPr>
            <a:r>
              <a:rPr sz="1850">
                <a:solidFill>
                  <a:srgbClr val="CF222E"/>
                </a:solidFill>
                <a:latin typeface="Consolas"/>
              </a:rPr>
              <a:t>import</a:t>
            </a:r>
            <a:r>
              <a:rPr sz="1850">
                <a:solidFill>
                  <a:srgbClr val="24292F"/>
                </a:solidFill>
                <a:latin typeface="Consolas"/>
              </a:rPr>
              <a:t> PopupWindow </a:t>
            </a:r>
            <a:r>
              <a:rPr sz="1850">
                <a:solidFill>
                  <a:srgbClr val="CF222E"/>
                </a:solidFill>
                <a:latin typeface="Consolas"/>
              </a:rPr>
              <a:t>from</a:t>
            </a:r>
            <a:r>
              <a:rPr sz="1850">
                <a:solidFill>
                  <a:srgbClr val="24292F"/>
                </a:solidFill>
                <a:latin typeface="Consolas"/>
              </a:rPr>
              <a:t> </a:t>
            </a:r>
            <a:r>
              <a:rPr sz="1850">
                <a:solidFill>
                  <a:srgbClr val="0A3069"/>
                </a:solidFill>
                <a:latin typeface="Consolas"/>
              </a:rPr>
              <a:t>'./components/PopupWindow.vue'</a:t>
            </a:r>
          </a:p>
          <a:p>
            <a:pPr marL="0" indent="0" algn="l">
              <a:lnSpc>
                <a:spcPct val="100000"/>
              </a:lnSpc>
              <a:buNone/>
            </a:pPr>
            <a:r>
              <a:rPr sz="1850">
                <a:latin typeface="Consolas"/>
              </a:rPr>
              <a:t> </a:t>
            </a:r>
          </a:p>
          <a:p>
            <a:pPr marL="0" indent="0" algn="l">
              <a:lnSpc>
                <a:spcPct val="100000"/>
              </a:lnSpc>
              <a:buNone/>
            </a:pPr>
            <a:r>
              <a:rPr sz="1850">
                <a:solidFill>
                  <a:srgbClr val="CF222E"/>
                </a:solidFill>
                <a:latin typeface="Consolas"/>
              </a:rPr>
              <a:t>const</a:t>
            </a:r>
            <a:r>
              <a:rPr sz="1850">
                <a:solidFill>
                  <a:srgbClr val="24292F"/>
                </a:solidFill>
                <a:latin typeface="Consolas"/>
              </a:rPr>
              <a:t> app = createApp(App)</a:t>
            </a:r>
          </a:p>
          <a:p>
            <a:pPr marL="0" indent="0" algn="l">
              <a:lnSpc>
                <a:spcPct val="100000"/>
              </a:lnSpc>
              <a:buNone/>
            </a:pPr>
            <a:r>
              <a:rPr sz="1850">
                <a:latin typeface="Consolas"/>
              </a:rPr>
              <a:t> </a:t>
            </a:r>
          </a:p>
          <a:p>
            <a:pPr marL="0" indent="0" algn="l">
              <a:lnSpc>
                <a:spcPct val="100000"/>
              </a:lnSpc>
              <a:buNone/>
            </a:pPr>
            <a:r>
              <a:rPr sz="1850">
                <a:solidFill>
                  <a:srgbClr val="24292F"/>
                </a:solidFill>
                <a:latin typeface="Consolas"/>
              </a:rPr>
              <a:t>app.component(</a:t>
            </a:r>
            <a:r>
              <a:rPr sz="1850">
                <a:solidFill>
                  <a:srgbClr val="0A3069"/>
                </a:solidFill>
                <a:latin typeface="Consolas"/>
              </a:rPr>
              <a:t>'PopupWindow'</a:t>
            </a:r>
            <a:r>
              <a:rPr sz="1850">
                <a:solidFill>
                  <a:srgbClr val="24292F"/>
                </a:solidFill>
                <a:latin typeface="Consolas"/>
              </a:rPr>
              <a:t>, PopupWindow)</a:t>
            </a:r>
          </a:p>
          <a:p>
            <a:pPr marL="0" indent="0" algn="l">
              <a:lnSpc>
                <a:spcPct val="100000"/>
              </a:lnSpc>
              <a:buNone/>
            </a:pPr>
            <a:r>
              <a:rPr sz="1850">
                <a:latin typeface="Consolas"/>
              </a:rPr>
              <a:t> </a:t>
            </a:r>
          </a:p>
          <a:p>
            <a:pPr marL="0" indent="0" algn="l">
              <a:lnSpc>
                <a:spcPct val="100000"/>
              </a:lnSpc>
              <a:buNone/>
            </a:pPr>
            <a:r>
              <a:rPr sz="1850">
                <a:solidFill>
                  <a:srgbClr val="24292F"/>
                </a:solidFill>
                <a:latin typeface="Consolas"/>
              </a:rPr>
              <a:t>app.mount(</a:t>
            </a:r>
            <a:r>
              <a:rPr sz="1850">
                <a:solidFill>
                  <a:srgbClr val="0A3069"/>
                </a:solidFill>
                <a:latin typeface="Consolas"/>
              </a:rPr>
              <a:t>'#app'</a:t>
            </a:r>
            <a:r>
              <a:rPr sz="1850">
                <a:solidFill>
                  <a:srgbClr val="24292F"/>
                </a:solidFill>
                <a:latin typeface="Consolas"/>
              </a:rPr>
              <a:t>)</a:t>
            </a:r>
          </a:p>
        </p:txBody>
      </p:sp>
      <p:sp>
        <p:nvSpPr>
          <p:cNvPr id="4" name="Body"/>
          <p:cNvSpPr txBox="1"/>
          <p:nvPr/>
        </p:nvSpPr>
        <p:spPr>
          <a:xfrm>
            <a:off x="457200" y="4614164"/>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Registered on the app, not on a global </a:t>
            </a:r>
            <a:r>
              <a:rPr sz="2090" b="0" i="0">
                <a:solidFill>
                  <a:srgbClr val="8A2B52"/>
                </a:solidFill>
                <a:latin typeface="Consolas"/>
              </a:rPr>
              <a:t>Vue</a:t>
            </a:r>
          </a:p>
          <a:p>
            <a:pPr marL="274320" indent="-256032">
              <a:spcAft>
                <a:spcPts val="990"/>
              </a:spcAft>
              <a:buClr>
                <a:srgbClr val="42B883"/>
              </a:buClr>
              <a:buSzPct val="100000"/>
              <a:buFont typeface="Arial"/>
              <a:buChar char="•"/>
            </a:pPr>
            <a:r>
              <a:rPr sz="2200" b="0" i="0">
                <a:solidFill>
                  <a:srgbClr val="1F2A36"/>
                </a:solidFill>
              </a:rPr>
              <a:t>Usable in every component's template without an import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169</a:t>
            </a:fld>
            <a:endParaRPr lang="en-US" sz="900">
              <a:solidFill>
                <a:srgbClr val="9AA7B4"/>
              </a:solidFill>
            </a:endParaRPr>
          </a:p>
        </p:txBody>
      </p:sp>
    </p:spTree>
    <p:extLst>
      <p:ext uri="{BB962C8B-B14F-4D97-AF65-F5344CB8AC3E}">
        <p14:creationId xmlns:p14="http://schemas.microsoft.com/office/powerpoint/2010/main" val="131351425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7C27-8448-1143-B218-97C06BED20C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Global vs. Local</a:t>
            </a:r>
          </a:p>
        </p:txBody>
      </p:sp>
      <p:sp>
        <p:nvSpPr>
          <p:cNvPr id="3" name="Body"/>
          <p:cNvSpPr txBox="1"/>
          <p:nvPr/>
        </p:nvSpPr>
        <p:spPr>
          <a:xfrm>
            <a:off x="457200" y="1261872"/>
            <a:ext cx="8229600" cy="2242820"/>
          </a:xfrm>
          <a:prstGeom prst="rect">
            <a:avLst/>
          </a:prstGeom>
          <a:noFill/>
        </p:spPr>
        <p:txBody>
          <a:bodyPr wrap="square" lIns="0" tIns="0" rIns="0" bIns="0">
            <a:noAutofit/>
          </a:bodyPr>
          <a:lstStyle/>
          <a:p>
            <a:pPr marL="0" indent="0">
              <a:spcAft>
                <a:spcPts val="990"/>
              </a:spcAft>
              <a:buNone/>
            </a:pPr>
            <a:r>
              <a:rPr sz="2200" b="1" i="0">
                <a:solidFill>
                  <a:srgbClr val="1F2A36"/>
                </a:solidFill>
              </a:rPr>
              <a:t>Prefer local registration.</a:t>
            </a:r>
          </a:p>
          <a:p>
            <a:pPr marL="274320" indent="-256032">
              <a:spcAft>
                <a:spcPts val="990"/>
              </a:spcAft>
              <a:buClr>
                <a:srgbClr val="42B883"/>
              </a:buClr>
              <a:buSzPct val="100000"/>
              <a:buFont typeface="Arial"/>
              <a:buChar char="•"/>
            </a:pPr>
            <a:r>
              <a:rPr sz="2200" b="0" i="0">
                <a:solidFill>
                  <a:srgbClr val="1F2A36"/>
                </a:solidFill>
              </a:rPr>
              <a:t>A reader can see where every component comes from</a:t>
            </a:r>
          </a:p>
          <a:p>
            <a:pPr marL="274320" indent="-256032">
              <a:spcAft>
                <a:spcPts val="990"/>
              </a:spcAft>
              <a:buClr>
                <a:srgbClr val="42B883"/>
              </a:buClr>
              <a:buSzPct val="100000"/>
              <a:buFont typeface="Arial"/>
              <a:buChar char="•"/>
            </a:pPr>
            <a:r>
              <a:rPr sz="2200" b="0" i="0">
                <a:solidFill>
                  <a:srgbClr val="1F2A36"/>
                </a:solidFill>
              </a:rPr>
              <a:t>Unused components can be tree-shaken out of the bundle</a:t>
            </a:r>
          </a:p>
          <a:p>
            <a:pPr marL="274320" indent="-256032">
              <a:spcAft>
                <a:spcPts val="990"/>
              </a:spcAft>
              <a:buClr>
                <a:srgbClr val="42B883"/>
              </a:buClr>
              <a:buSzPct val="100000"/>
              <a:buFont typeface="Arial"/>
              <a:buChar char="•"/>
            </a:pPr>
            <a:r>
              <a:rPr sz="2200" b="0" i="0">
                <a:solidFill>
                  <a:srgbClr val="1F2A36"/>
                </a:solidFill>
              </a:rPr>
              <a:t>The editor can jump to the definition and type-check props</a:t>
            </a:r>
          </a:p>
        </p:txBody>
      </p:sp>
      <p:sp>
        <p:nvSpPr>
          <p:cNvPr id="4" name="Tip"/>
          <p:cNvSpPr/>
          <p:nvPr/>
        </p:nvSpPr>
        <p:spPr>
          <a:xfrm>
            <a:off x="457200" y="3559556"/>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Register globally only for components used on nearly every screen — an icon, or a base button.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170</a:t>
            </a:fld>
            <a:endParaRPr lang="en-US" sz="900">
              <a:solidFill>
                <a:srgbClr val="9AA7B4"/>
              </a:solidFill>
            </a:endParaRPr>
          </a:p>
        </p:txBody>
      </p:sp>
    </p:spTree>
    <p:extLst>
      <p:ext uri="{BB962C8B-B14F-4D97-AF65-F5344CB8AC3E}">
        <p14:creationId xmlns:p14="http://schemas.microsoft.com/office/powerpoint/2010/main" val="188436734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1BFC2-748D-DB48-961A-BAA24CB09B1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Props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Declare props with the </a:t>
            </a:r>
            <a:r>
              <a:rPr sz="2090" b="0" i="0">
                <a:solidFill>
                  <a:srgbClr val="8A2B52"/>
                </a:solidFill>
                <a:latin typeface="Consolas"/>
              </a:rPr>
              <a:t>defineProps</a:t>
            </a:r>
            <a:r>
              <a:rPr sz="2200" b="0" i="0">
                <a:solidFill>
                  <a:srgbClr val="1F2A36"/>
                </a:solidFill>
              </a:rPr>
              <a:t> compiler macro.</a:t>
            </a:r>
          </a:p>
        </p:txBody>
      </p:sp>
      <p:sp>
        <p:nvSpPr>
          <p:cNvPr id="4" name="Code"/>
          <p:cNvSpPr/>
          <p:nvPr/>
        </p:nvSpPr>
        <p:spPr>
          <a:xfrm>
            <a:off x="457200" y="1863597"/>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props = defineProps({</a:t>
            </a:r>
          </a:p>
          <a:p>
            <a:pPr marL="0" indent="0" algn="l">
              <a:lnSpc>
                <a:spcPct val="100000"/>
              </a:lnSpc>
              <a:buNone/>
            </a:pPr>
            <a:r>
              <a:rPr sz="2000">
                <a:solidFill>
                  <a:srgbClr val="24292F"/>
                </a:solidFill>
                <a:latin typeface="Consolas"/>
              </a:rPr>
              <a:t>  todo: { type: Object, required: </a:t>
            </a:r>
            <a:r>
              <a:rPr sz="2000">
                <a:solidFill>
                  <a:srgbClr val="CF222E"/>
                </a:solidFill>
                <a:latin typeface="Consolas"/>
              </a:rPr>
              <a:t>true</a:t>
            </a:r>
            <a:r>
              <a:rPr sz="2000">
                <a:solidFill>
                  <a:srgbClr val="24292F"/>
                </a:solidFill>
                <a:latin typeface="Consolas"/>
              </a:rPr>
              <a:t> },</a:t>
            </a:r>
          </a:p>
          <a:p>
            <a:pPr marL="0" indent="0" algn="l">
              <a:lnSpc>
                <a:spcPct val="100000"/>
              </a:lnSpc>
              <a:buNone/>
            </a:pPr>
            <a:r>
              <a:rPr sz="2000">
                <a:solidFill>
                  <a:srgbClr val="24292F"/>
                </a:solidFill>
                <a:latin typeface="Consolas"/>
              </a:rPr>
              <a:t>  size: { type: String, </a:t>
            </a:r>
            <a:r>
              <a:rPr sz="2000">
                <a:solidFill>
                  <a:srgbClr val="CF222E"/>
                </a:solidFill>
                <a:latin typeface="Consolas"/>
              </a:rPr>
              <a:t>default</a:t>
            </a:r>
            <a:r>
              <a:rPr sz="2000">
                <a:solidFill>
                  <a:srgbClr val="24292F"/>
                </a:solidFill>
                <a:latin typeface="Consolas"/>
              </a:rPr>
              <a:t>: </a:t>
            </a:r>
            <a:r>
              <a:rPr sz="2000">
                <a:solidFill>
                  <a:srgbClr val="0A3069"/>
                </a:solidFill>
                <a:latin typeface="Consolas"/>
              </a:rPr>
              <a:t>'medium'</a:t>
            </a: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5" name="Body"/>
          <p:cNvSpPr txBox="1"/>
          <p:nvPr/>
        </p:nvSpPr>
        <p:spPr>
          <a:xfrm>
            <a:off x="457200" y="3562349"/>
            <a:ext cx="8229600" cy="244678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 the template, write </a:t>
            </a:r>
            <a:r>
              <a:rPr sz="2090" b="0" i="0">
                <a:solidFill>
                  <a:srgbClr val="8A2B52"/>
                </a:solidFill>
                <a:latin typeface="Consolas"/>
              </a:rPr>
              <a:t>todo</a:t>
            </a:r>
            <a:r>
              <a:rPr sz="2200" b="0" i="0">
                <a:solidFill>
                  <a:srgbClr val="1F2A36"/>
                </a:solidFill>
              </a:rPr>
              <a:t> directly; in script, use </a:t>
            </a:r>
            <a:r>
              <a:rPr sz="2090" b="0" i="0">
                <a:solidFill>
                  <a:srgbClr val="8A2B52"/>
                </a:solidFill>
                <a:latin typeface="Consolas"/>
              </a:rPr>
              <a:t>props.todo</a:t>
            </a:r>
          </a:p>
          <a:p>
            <a:pPr marL="274320" indent="-256032">
              <a:spcAft>
                <a:spcPts val="990"/>
              </a:spcAft>
              <a:buClr>
                <a:srgbClr val="42B883"/>
              </a:buClr>
              <a:buSzPct val="100000"/>
              <a:buFont typeface="Arial"/>
              <a:buChar char="•"/>
            </a:pPr>
            <a:r>
              <a:rPr sz="2200" b="0" i="0">
                <a:solidFill>
                  <a:srgbClr val="1F2A36"/>
                </a:solidFill>
              </a:rPr>
              <a:t>Props are </a:t>
            </a:r>
            <a:r>
              <a:rPr sz="2200" b="1" i="0">
                <a:solidFill>
                  <a:srgbClr val="1F2A36"/>
                </a:solidFill>
              </a:rPr>
              <a:t>read-only</a:t>
            </a:r>
            <a:r>
              <a:rPr sz="2200" b="0" i="0">
                <a:solidFill>
                  <a:srgbClr val="1F2A36"/>
                </a:solidFill>
              </a:rPr>
              <a:t> — emit an event to ask the parent for a change</a:t>
            </a:r>
          </a:p>
          <a:p>
            <a:pPr marL="274320" indent="-256032">
              <a:spcAft>
                <a:spcPts val="990"/>
              </a:spcAft>
              <a:buClr>
                <a:srgbClr val="42B883"/>
              </a:buClr>
              <a:buSzPct val="100000"/>
              <a:buFont typeface="Arial"/>
              <a:buChar char="•"/>
            </a:pPr>
            <a:r>
              <a:rPr sz="2090" b="0" i="0">
                <a:solidFill>
                  <a:srgbClr val="8A2B52"/>
                </a:solidFill>
                <a:latin typeface="Consolas"/>
              </a:rPr>
              <a:t>type</a:t>
            </a:r>
            <a:r>
              <a:rPr sz="2200" b="0" i="0">
                <a:solidFill>
                  <a:srgbClr val="1F2A36"/>
                </a:solidFill>
              </a:rPr>
              <a:t>, </a:t>
            </a:r>
            <a:r>
              <a:rPr sz="2090" b="0" i="0">
                <a:solidFill>
                  <a:srgbClr val="8A2B52"/>
                </a:solidFill>
                <a:latin typeface="Consolas"/>
              </a:rPr>
              <a:t>required</a:t>
            </a:r>
            <a:r>
              <a:rPr sz="2200" b="0" i="0">
                <a:solidFill>
                  <a:srgbClr val="1F2A36"/>
                </a:solidFill>
              </a:rPr>
              <a:t>, </a:t>
            </a:r>
            <a:r>
              <a:rPr sz="2090" b="0" i="0">
                <a:solidFill>
                  <a:srgbClr val="8A2B52"/>
                </a:solidFill>
                <a:latin typeface="Consolas"/>
              </a:rPr>
              <a:t>default</a:t>
            </a:r>
            <a:r>
              <a:rPr sz="2200" b="0" i="0">
                <a:solidFill>
                  <a:srgbClr val="1F2A36"/>
                </a:solidFill>
              </a:rPr>
              <a:t> and </a:t>
            </a:r>
            <a:r>
              <a:rPr sz="2090" b="0" i="0">
                <a:solidFill>
                  <a:srgbClr val="8A2B52"/>
                </a:solidFill>
                <a:latin typeface="Consolas"/>
              </a:rPr>
              <a:t>validator</a:t>
            </a:r>
            <a:r>
              <a:rPr sz="2200" b="0" i="0">
                <a:solidFill>
                  <a:srgbClr val="1F2A36"/>
                </a:solidFill>
              </a:rPr>
              <a:t> produce dev-time warnings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171</a:t>
            </a:fld>
            <a:endParaRPr lang="en-US" sz="900">
              <a:solidFill>
                <a:srgbClr val="9AA7B4"/>
              </a:solidFill>
            </a:endParaRPr>
          </a:p>
        </p:txBody>
      </p:sp>
    </p:spTree>
    <p:extLst>
      <p:ext uri="{BB962C8B-B14F-4D97-AF65-F5344CB8AC3E}">
        <p14:creationId xmlns:p14="http://schemas.microsoft.com/office/powerpoint/2010/main" val="105435217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9E21-4780-3848-9D31-D3B2FEE48B9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Passing Data</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Pass data from parent to child components using </a:t>
            </a:r>
            <a:r>
              <a:rPr sz="2200" b="1" i="0">
                <a:solidFill>
                  <a:srgbClr val="1F2A36"/>
                </a:solidFill>
              </a:rPr>
              <a:t>props</a:t>
            </a:r>
          </a:p>
          <a:p>
            <a:pPr marL="274320" indent="-256032">
              <a:spcAft>
                <a:spcPts val="990"/>
              </a:spcAft>
              <a:buClr>
                <a:srgbClr val="42B883"/>
              </a:buClr>
              <a:buSzPct val="100000"/>
              <a:buFont typeface="Arial"/>
              <a:buChar char="•"/>
            </a:pPr>
            <a:r>
              <a:rPr sz="2200" b="0" i="0">
                <a:solidFill>
                  <a:srgbClr val="1F2A36"/>
                </a:solidFill>
              </a:rPr>
              <a:t>Pass props using attributes:</a:t>
            </a:r>
          </a:p>
        </p:txBody>
      </p:sp>
      <p:sp>
        <p:nvSpPr>
          <p:cNvPr id="4" name="Code"/>
          <p:cNvSpPr/>
          <p:nvPr/>
        </p:nvSpPr>
        <p:spPr>
          <a:xfrm>
            <a:off x="457200" y="2319020"/>
            <a:ext cx="8229600" cy="174929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i="1">
                <a:solidFill>
                  <a:srgbClr val="6E7781"/>
                </a:solidFill>
                <a:latin typeface="Consolas"/>
              </a:rPr>
              <a:t>&lt;!-- a static string --&gt;</a:t>
            </a:r>
          </a:p>
          <a:p>
            <a:pPr marL="0" indent="0" algn="l">
              <a:lnSpc>
                <a:spcPct val="100000"/>
              </a:lnSpc>
              <a:buNone/>
            </a:pPr>
            <a:r>
              <a:rPr sz="1850">
                <a:solidFill>
                  <a:srgbClr val="116329"/>
                </a:solidFill>
                <a:latin typeface="Consolas"/>
              </a:rPr>
              <a:t>&lt;TodoItem</a:t>
            </a:r>
            <a:r>
              <a:rPr sz="1850">
                <a:solidFill>
                  <a:srgbClr val="24292F"/>
                </a:solidFill>
                <a:latin typeface="Consolas"/>
              </a:rPr>
              <a:t> </a:t>
            </a:r>
            <a:r>
              <a:rPr sz="1850">
                <a:solidFill>
                  <a:srgbClr val="953800"/>
                </a:solidFill>
                <a:latin typeface="Consolas"/>
              </a:rPr>
              <a:t>todo</a:t>
            </a:r>
            <a:r>
              <a:rPr sz="1850">
                <a:solidFill>
                  <a:srgbClr val="24292F"/>
                </a:solidFill>
                <a:latin typeface="Consolas"/>
              </a:rPr>
              <a:t>=</a:t>
            </a:r>
            <a:r>
              <a:rPr sz="1850">
                <a:solidFill>
                  <a:srgbClr val="0A3069"/>
                </a:solidFill>
                <a:latin typeface="Consolas"/>
              </a:rPr>
              <a:t>"wash the car"</a:t>
            </a:r>
            <a:r>
              <a:rPr sz="1850">
                <a:solidFill>
                  <a:srgbClr val="24292F"/>
                </a:solidFill>
                <a:latin typeface="Consolas"/>
              </a:rPr>
              <a:t> </a:t>
            </a:r>
            <a:r>
              <a:rPr sz="1850">
                <a:solidFill>
                  <a:srgbClr val="116329"/>
                </a:solidFill>
                <a:latin typeface="Consolas"/>
              </a:rPr>
              <a:t>/&gt;</a:t>
            </a:r>
          </a:p>
          <a:p>
            <a:pPr marL="0" indent="0" algn="l">
              <a:lnSpc>
                <a:spcPct val="100000"/>
              </a:lnSpc>
              <a:buNone/>
            </a:pPr>
            <a:r>
              <a:rPr sz="1850">
                <a:latin typeface="Consolas"/>
              </a:rPr>
              <a:t> </a:t>
            </a:r>
          </a:p>
          <a:p>
            <a:pPr marL="0" indent="0" algn="l">
              <a:lnSpc>
                <a:spcPct val="100000"/>
              </a:lnSpc>
              <a:buNone/>
            </a:pPr>
            <a:r>
              <a:rPr sz="1850" i="1">
                <a:solidFill>
                  <a:srgbClr val="6E7781"/>
                </a:solidFill>
                <a:latin typeface="Consolas"/>
              </a:rPr>
              <a:t>&lt;!-- any JavaScript value: use v-bind --&gt;</a:t>
            </a:r>
          </a:p>
          <a:p>
            <a:pPr marL="0" indent="0" algn="l">
              <a:lnSpc>
                <a:spcPct val="100000"/>
              </a:lnSpc>
              <a:buNone/>
            </a:pPr>
            <a:r>
              <a:rPr sz="1850">
                <a:solidFill>
                  <a:srgbClr val="116329"/>
                </a:solidFill>
                <a:latin typeface="Consolas"/>
              </a:rPr>
              <a:t>&lt;TodoItem</a:t>
            </a:r>
            <a:r>
              <a:rPr sz="1850">
                <a:solidFill>
                  <a:srgbClr val="24292F"/>
                </a:solidFill>
                <a:latin typeface="Consolas"/>
              </a:rPr>
              <a:t> </a:t>
            </a:r>
            <a:r>
              <a:rPr sz="1850">
                <a:solidFill>
                  <a:srgbClr val="953800"/>
                </a:solidFill>
                <a:latin typeface="Consolas"/>
              </a:rPr>
              <a:t>:todo</a:t>
            </a:r>
            <a:r>
              <a:rPr sz="1850">
                <a:solidFill>
                  <a:srgbClr val="24292F"/>
                </a:solidFill>
                <a:latin typeface="Consolas"/>
              </a:rPr>
              <a:t>=</a:t>
            </a:r>
            <a:r>
              <a:rPr sz="1850">
                <a:solidFill>
                  <a:srgbClr val="0A3069"/>
                </a:solidFill>
                <a:latin typeface="Consolas"/>
              </a:rPr>
              <a:t>"item"</a:t>
            </a:r>
            <a:r>
              <a:rPr sz="1850">
                <a:solidFill>
                  <a:srgbClr val="24292F"/>
                </a:solidFill>
                <a:latin typeface="Consolas"/>
              </a:rPr>
              <a:t> </a:t>
            </a:r>
            <a:r>
              <a:rPr sz="1850">
                <a:solidFill>
                  <a:srgbClr val="953800"/>
                </a:solidFill>
                <a:latin typeface="Consolas"/>
              </a:rPr>
              <a:t>:priority</a:t>
            </a:r>
            <a:r>
              <a:rPr sz="1850">
                <a:solidFill>
                  <a:srgbClr val="24292F"/>
                </a:solidFill>
                <a:latin typeface="Consolas"/>
              </a:rPr>
              <a:t>=</a:t>
            </a:r>
            <a:r>
              <a:rPr sz="1850">
                <a:solidFill>
                  <a:srgbClr val="0A3069"/>
                </a:solidFill>
                <a:latin typeface="Consolas"/>
              </a:rPr>
              <a:t>"2"</a:t>
            </a:r>
            <a:r>
              <a:rPr sz="1850">
                <a:solidFill>
                  <a:srgbClr val="24292F"/>
                </a:solidFill>
                <a:latin typeface="Consolas"/>
              </a:rPr>
              <a:t> </a:t>
            </a:r>
            <a:r>
              <a:rPr sz="1850">
                <a:solidFill>
                  <a:srgbClr val="953800"/>
                </a:solidFill>
                <a:latin typeface="Consolas"/>
              </a:rPr>
              <a:t>:done</a:t>
            </a:r>
            <a:r>
              <a:rPr sz="1850">
                <a:solidFill>
                  <a:srgbClr val="24292F"/>
                </a:solidFill>
                <a:latin typeface="Consolas"/>
              </a:rPr>
              <a:t>=</a:t>
            </a:r>
            <a:r>
              <a:rPr sz="1850">
                <a:solidFill>
                  <a:srgbClr val="0A3069"/>
                </a:solidFill>
                <a:latin typeface="Consolas"/>
              </a:rPr>
              <a:t>"false"</a:t>
            </a:r>
            <a:r>
              <a:rPr sz="1850">
                <a:solidFill>
                  <a:srgbClr val="24292F"/>
                </a:solidFill>
                <a:latin typeface="Consolas"/>
              </a:rPr>
              <a:t> </a:t>
            </a:r>
            <a:r>
              <a:rPr sz="1850">
                <a:solidFill>
                  <a:srgbClr val="116329"/>
                </a:solidFill>
                <a:latin typeface="Consolas"/>
              </a:rPr>
              <a:t>/&gt;</a:t>
            </a:r>
          </a:p>
        </p:txBody>
      </p:sp>
      <p:sp>
        <p:nvSpPr>
          <p:cNvPr id="5" name="Body"/>
          <p:cNvSpPr txBox="1"/>
          <p:nvPr/>
        </p:nvSpPr>
        <p:spPr>
          <a:xfrm>
            <a:off x="457200" y="421462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component can have as many props as you need</a:t>
            </a:r>
          </a:p>
          <a:p>
            <a:pPr marL="274320" indent="-256032">
              <a:spcAft>
                <a:spcPts val="990"/>
              </a:spcAft>
              <a:buClr>
                <a:srgbClr val="42B883"/>
              </a:buClr>
              <a:buSzPct val="100000"/>
              <a:buFont typeface="Arial"/>
              <a:buChar char="•"/>
            </a:pPr>
            <a:r>
              <a:rPr sz="2200" b="0" i="0">
                <a:solidFill>
                  <a:srgbClr val="1F2A36"/>
                </a:solidFill>
              </a:rPr>
              <a:t>Any value can be passed to any prop</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172</a:t>
            </a:fld>
            <a:endParaRPr lang="en-US" sz="900">
              <a:solidFill>
                <a:srgbClr val="9AA7B4"/>
              </a:solidFill>
            </a:endParaRPr>
          </a:p>
        </p:txBody>
      </p:sp>
    </p:spTree>
    <p:extLst>
      <p:ext uri="{BB962C8B-B14F-4D97-AF65-F5344CB8AC3E}">
        <p14:creationId xmlns:p14="http://schemas.microsoft.com/office/powerpoint/2010/main" val="29362289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4A110-15A4-5F43-B99F-C7CC7D65012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Props</a:t>
            </a:r>
          </a:p>
        </p:txBody>
      </p:sp>
      <p:sp>
        <p:nvSpPr>
          <p:cNvPr id="3" name="Body"/>
          <p:cNvSpPr txBox="1"/>
          <p:nvPr/>
        </p:nvSpPr>
        <p:spPr>
          <a:xfrm>
            <a:off x="457200" y="1261872"/>
            <a:ext cx="822960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Parent</a:t>
            </a:r>
          </a:p>
        </p:txBody>
      </p:sp>
      <p:sp>
        <p:nvSpPr>
          <p:cNvPr id="4" name="Code"/>
          <p:cNvSpPr/>
          <p:nvPr/>
        </p:nvSpPr>
        <p:spPr>
          <a:xfrm>
            <a:off x="457200" y="1835657"/>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&lt;TodoItem</a:t>
            </a:r>
            <a:r>
              <a:rPr sz="2000">
                <a:solidFill>
                  <a:srgbClr val="24292F"/>
                </a:solidFill>
                <a:latin typeface="Consolas"/>
              </a:rPr>
              <a:t> </a:t>
            </a:r>
            <a:r>
              <a:rPr sz="2000">
                <a:solidFill>
                  <a:srgbClr val="953800"/>
                </a:solidFill>
                <a:latin typeface="Consolas"/>
              </a:rPr>
              <a:t>:todo</a:t>
            </a:r>
            <a:r>
              <a:rPr sz="2000">
                <a:solidFill>
                  <a:srgbClr val="24292F"/>
                </a:solidFill>
                <a:latin typeface="Consolas"/>
              </a:rPr>
              <a:t>=</a:t>
            </a:r>
            <a:r>
              <a:rPr sz="2000">
                <a:solidFill>
                  <a:srgbClr val="0A3069"/>
                </a:solidFill>
                <a:latin typeface="Consolas"/>
              </a:rPr>
              <a:t>"item"</a:t>
            </a:r>
            <a:r>
              <a:rPr sz="2000">
                <a:solidFill>
                  <a:srgbClr val="24292F"/>
                </a:solidFill>
                <a:latin typeface="Consolas"/>
              </a:rPr>
              <a:t> </a:t>
            </a:r>
            <a:r>
              <a:rPr sz="2000">
                <a:solidFill>
                  <a:srgbClr val="953800"/>
                </a:solidFill>
                <a:latin typeface="Consolas"/>
              </a:rPr>
              <a:t>size</a:t>
            </a:r>
            <a:r>
              <a:rPr sz="2000">
                <a:solidFill>
                  <a:srgbClr val="24292F"/>
                </a:solidFill>
                <a:latin typeface="Consolas"/>
              </a:rPr>
              <a:t>=</a:t>
            </a:r>
            <a:r>
              <a:rPr sz="2000">
                <a:solidFill>
                  <a:srgbClr val="0A3069"/>
                </a:solidFill>
                <a:latin typeface="Consolas"/>
              </a:rPr>
              <a:t>"large"</a:t>
            </a:r>
            <a:r>
              <a:rPr sz="2000">
                <a:solidFill>
                  <a:srgbClr val="24292F"/>
                </a:solidFill>
                <a:latin typeface="Consolas"/>
              </a:rPr>
              <a:t> </a:t>
            </a:r>
            <a:r>
              <a:rPr sz="2000">
                <a:solidFill>
                  <a:srgbClr val="116329"/>
                </a:solidFill>
                <a:latin typeface="Consolas"/>
              </a:rPr>
              <a:t>/&gt;</a:t>
            </a:r>
          </a:p>
        </p:txBody>
      </p:sp>
      <p:sp>
        <p:nvSpPr>
          <p:cNvPr id="5" name="Body"/>
          <p:cNvSpPr txBox="1"/>
          <p:nvPr/>
        </p:nvSpPr>
        <p:spPr>
          <a:xfrm>
            <a:off x="457200" y="2589530"/>
            <a:ext cx="822960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Child: TodoItem.vue</a:t>
            </a:r>
          </a:p>
        </p:txBody>
      </p:sp>
      <p:sp>
        <p:nvSpPr>
          <p:cNvPr id="6" name="Code"/>
          <p:cNvSpPr/>
          <p:nvPr/>
        </p:nvSpPr>
        <p:spPr>
          <a:xfrm>
            <a:off x="457200" y="3163316"/>
            <a:ext cx="8229600" cy="249732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&lt;script</a:t>
            </a:r>
            <a:r>
              <a:rPr sz="2000">
                <a:solidFill>
                  <a:srgbClr val="24292F"/>
                </a:solidFill>
                <a:latin typeface="Consolas"/>
              </a:rPr>
              <a:t> </a:t>
            </a:r>
            <a:r>
              <a:rPr sz="2000">
                <a:solidFill>
                  <a:srgbClr val="953800"/>
                </a:solidFill>
                <a:latin typeface="Consolas"/>
              </a:rPr>
              <a:t>setup</a:t>
            </a:r>
            <a:r>
              <a:rPr sz="2000">
                <a:solidFill>
                  <a:srgbClr val="116329"/>
                </a:solidFill>
                <a:latin typeface="Consolas"/>
              </a:rPr>
              <a:t>&gt;</a:t>
            </a:r>
          </a:p>
          <a:p>
            <a:pPr marL="0" indent="0" algn="l">
              <a:lnSpc>
                <a:spcPct val="100000"/>
              </a:lnSpc>
              <a:buNone/>
            </a:pPr>
            <a:r>
              <a:rPr sz="2000">
                <a:solidFill>
                  <a:srgbClr val="24292F"/>
                </a:solidFill>
                <a:latin typeface="Consolas"/>
              </a:rPr>
              <a:t>defineProps([</a:t>
            </a:r>
            <a:r>
              <a:rPr sz="2000">
                <a:solidFill>
                  <a:srgbClr val="0A3069"/>
                </a:solidFill>
                <a:latin typeface="Consolas"/>
              </a:rPr>
              <a:t>'todo'</a:t>
            </a:r>
            <a:r>
              <a:rPr sz="2000">
                <a:solidFill>
                  <a:srgbClr val="24292F"/>
                </a:solidFill>
                <a:latin typeface="Consolas"/>
              </a:rPr>
              <a:t>, </a:t>
            </a:r>
            <a:r>
              <a:rPr sz="2000">
                <a:solidFill>
                  <a:srgbClr val="0A3069"/>
                </a:solidFill>
                <a:latin typeface="Consolas"/>
              </a:rPr>
              <a:t>'size'</a:t>
            </a:r>
            <a:r>
              <a:rPr sz="2000">
                <a:solidFill>
                  <a:srgbClr val="24292F"/>
                </a:solidFill>
                <a:latin typeface="Consolas"/>
              </a:rPr>
              <a:t>])</a:t>
            </a:r>
          </a:p>
          <a:p>
            <a:pPr marL="0" indent="0" algn="l">
              <a:lnSpc>
                <a:spcPct val="100000"/>
              </a:lnSpc>
              <a:buNone/>
            </a:pPr>
            <a:r>
              <a:rPr sz="2000">
                <a:solidFill>
                  <a:srgbClr val="116329"/>
                </a:solidFill>
                <a:latin typeface="Consolas"/>
              </a:rPr>
              <a:t>&lt;/script&gt;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&lt;template&gt;</a:t>
            </a:r>
          </a:p>
          <a:p>
            <a:pPr marL="0" indent="0" algn="l">
              <a:lnSpc>
                <a:spcPct val="100000"/>
              </a:lnSpc>
              <a:buNone/>
            </a:pPr>
            <a:r>
              <a:rPr sz="2000">
                <a:solidFill>
                  <a:srgbClr val="24292F"/>
                </a:solidFill>
                <a:latin typeface="Consolas"/>
              </a:rPr>
              <a:t>  </a:t>
            </a:r>
            <a:r>
              <a:rPr sz="2000">
                <a:solidFill>
                  <a:srgbClr val="116329"/>
                </a:solidFill>
                <a:latin typeface="Consolas"/>
              </a:rPr>
              <a:t>&lt;li</a:t>
            </a:r>
            <a:r>
              <a:rPr sz="2000">
                <a:solidFill>
                  <a:srgbClr val="24292F"/>
                </a:solidFill>
                <a:latin typeface="Consolas"/>
              </a:rPr>
              <a:t> </a:t>
            </a:r>
            <a:r>
              <a:rPr sz="2000">
                <a:solidFill>
                  <a:srgbClr val="953800"/>
                </a:solidFill>
                <a:latin typeface="Consolas"/>
              </a:rPr>
              <a:t>:class</a:t>
            </a:r>
            <a:r>
              <a:rPr sz="2000">
                <a:solidFill>
                  <a:srgbClr val="24292F"/>
                </a:solidFill>
                <a:latin typeface="Consolas"/>
              </a:rPr>
              <a:t>=</a:t>
            </a:r>
            <a:r>
              <a:rPr sz="2000">
                <a:solidFill>
                  <a:srgbClr val="0A3069"/>
                </a:solidFill>
                <a:latin typeface="Consolas"/>
              </a:rPr>
              <a:t>"size"</a:t>
            </a:r>
            <a:r>
              <a:rPr sz="2000">
                <a:solidFill>
                  <a:srgbClr val="116329"/>
                </a:solidFill>
                <a:latin typeface="Consolas"/>
              </a:rPr>
              <a:t>&gt;</a:t>
            </a:r>
            <a:r>
              <a:rPr sz="2000">
                <a:solidFill>
                  <a:srgbClr val="24292F"/>
                </a:solidFill>
                <a:latin typeface="Consolas"/>
              </a:rPr>
              <a:t>{{ todo.text }}</a:t>
            </a:r>
            <a:r>
              <a:rPr sz="2000">
                <a:solidFill>
                  <a:srgbClr val="116329"/>
                </a:solidFill>
                <a:latin typeface="Consolas"/>
              </a:rPr>
              <a:t>&lt;/li&gt;</a:t>
            </a:r>
          </a:p>
          <a:p>
            <a:pPr marL="0" indent="0" algn="l">
              <a:lnSpc>
                <a:spcPct val="100000"/>
              </a:lnSpc>
              <a:buNone/>
            </a:pPr>
            <a:r>
              <a:rPr sz="2000">
                <a:solidFill>
                  <a:srgbClr val="116329"/>
                </a:solidFill>
                <a:latin typeface="Consolas"/>
              </a:rPr>
              <a:t>&lt;/template&gt;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173</a:t>
            </a:fld>
            <a:endParaRPr lang="en-US" sz="900">
              <a:solidFill>
                <a:srgbClr val="9AA7B4"/>
              </a:solidFill>
            </a:endParaRPr>
          </a:p>
        </p:txBody>
      </p:sp>
    </p:spTree>
    <p:extLst>
      <p:ext uri="{BB962C8B-B14F-4D97-AF65-F5344CB8AC3E}">
        <p14:creationId xmlns:p14="http://schemas.microsoft.com/office/powerpoint/2010/main" val="315145211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0FEF-2555-C046-8513-8405B849E1E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Fragments: Multiple Root Elements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Vue 2 required a single root element. Vue 3 doesn't.</a:t>
            </a:r>
          </a:p>
        </p:txBody>
      </p:sp>
      <p:sp>
        <p:nvSpPr>
          <p:cNvPr id="4" name="Code"/>
          <p:cNvSpPr/>
          <p:nvPr/>
        </p:nvSpPr>
        <p:spPr>
          <a:xfrm>
            <a:off x="457200" y="1863597"/>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&lt;template&gt;</a:t>
            </a:r>
          </a:p>
          <a:p>
            <a:pPr marL="0" indent="0" algn="l">
              <a:lnSpc>
                <a:spcPct val="100000"/>
              </a:lnSpc>
              <a:buNone/>
            </a:pPr>
            <a:r>
              <a:rPr sz="2000">
                <a:solidFill>
                  <a:srgbClr val="24292F"/>
                </a:solidFill>
                <a:latin typeface="Consolas"/>
              </a:rPr>
              <a:t>  </a:t>
            </a:r>
            <a:r>
              <a:rPr sz="2000">
                <a:solidFill>
                  <a:srgbClr val="116329"/>
                </a:solidFill>
                <a:latin typeface="Consolas"/>
              </a:rPr>
              <a:t>&lt;h1&gt;</a:t>
            </a:r>
            <a:r>
              <a:rPr sz="2000">
                <a:solidFill>
                  <a:srgbClr val="24292F"/>
                </a:solidFill>
                <a:latin typeface="Consolas"/>
              </a:rPr>
              <a:t>{{ title }}</a:t>
            </a:r>
            <a:r>
              <a:rPr sz="2000">
                <a:solidFill>
                  <a:srgbClr val="116329"/>
                </a:solidFill>
                <a:latin typeface="Consolas"/>
              </a:rPr>
              <a:t>&lt;/h1&gt;</a:t>
            </a:r>
          </a:p>
          <a:p>
            <a:pPr marL="0" indent="0" algn="l">
              <a:lnSpc>
                <a:spcPct val="100000"/>
              </a:lnSpc>
              <a:buNone/>
            </a:pPr>
            <a:r>
              <a:rPr sz="2000">
                <a:solidFill>
                  <a:srgbClr val="24292F"/>
                </a:solidFill>
                <a:latin typeface="Consolas"/>
              </a:rPr>
              <a:t>  </a:t>
            </a:r>
            <a:r>
              <a:rPr sz="2000">
                <a:solidFill>
                  <a:srgbClr val="116329"/>
                </a:solidFill>
                <a:latin typeface="Consolas"/>
              </a:rPr>
              <a:t>&lt;div</a:t>
            </a:r>
            <a:r>
              <a:rPr sz="2000">
                <a:solidFill>
                  <a:srgbClr val="24292F"/>
                </a:solidFill>
                <a:latin typeface="Consolas"/>
              </a:rPr>
              <a:t> </a:t>
            </a:r>
            <a:r>
              <a:rPr sz="2000">
                <a:solidFill>
                  <a:srgbClr val="953800"/>
                </a:solidFill>
                <a:latin typeface="Consolas"/>
              </a:rPr>
              <a:t>v-html</a:t>
            </a:r>
            <a:r>
              <a:rPr sz="2000">
                <a:solidFill>
                  <a:srgbClr val="24292F"/>
                </a:solidFill>
                <a:latin typeface="Consolas"/>
              </a:rPr>
              <a:t>=</a:t>
            </a:r>
            <a:r>
              <a:rPr sz="2000">
                <a:solidFill>
                  <a:srgbClr val="0A3069"/>
                </a:solidFill>
                <a:latin typeface="Consolas"/>
              </a:rPr>
              <a:t>"content"</a:t>
            </a:r>
            <a:r>
              <a:rPr sz="2000">
                <a:solidFill>
                  <a:srgbClr val="116329"/>
                </a:solidFill>
                <a:latin typeface="Consolas"/>
              </a:rPr>
              <a:t>&gt;&lt;/div&gt;</a:t>
            </a:r>
          </a:p>
          <a:p>
            <a:pPr marL="0" indent="0" algn="l">
              <a:lnSpc>
                <a:spcPct val="100000"/>
              </a:lnSpc>
              <a:buNone/>
            </a:pPr>
            <a:r>
              <a:rPr sz="2000">
                <a:solidFill>
                  <a:srgbClr val="116329"/>
                </a:solidFill>
                <a:latin typeface="Consolas"/>
              </a:rPr>
              <a:t>&lt;/template&gt;</a:t>
            </a:r>
          </a:p>
        </p:txBody>
      </p:sp>
      <p:sp>
        <p:nvSpPr>
          <p:cNvPr id="5" name="Body"/>
          <p:cNvSpPr txBox="1"/>
          <p:nvPr/>
        </p:nvSpPr>
        <p:spPr>
          <a:xfrm>
            <a:off x="457200" y="3562349"/>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With more than one root, Vue can't decide where to put inherited attributes (</a:t>
            </a:r>
            <a:r>
              <a:rPr sz="2090" b="0" i="0">
                <a:solidFill>
                  <a:srgbClr val="8A2B52"/>
                </a:solidFill>
                <a:latin typeface="Consolas"/>
              </a:rPr>
              <a:t>class</a:t>
            </a:r>
            <a:r>
              <a:rPr sz="2200" b="0" i="0">
                <a:solidFill>
                  <a:srgbClr val="1F2A36"/>
                </a:solidFill>
              </a:rPr>
              <a:t>, </a:t>
            </a:r>
            <a:r>
              <a:rPr sz="2090" b="0" i="0">
                <a:solidFill>
                  <a:srgbClr val="8A2B52"/>
                </a:solidFill>
                <a:latin typeface="Consolas"/>
              </a:rPr>
              <a:t>style</a:t>
            </a:r>
            <a:r>
              <a:rPr sz="2200" b="0" i="0">
                <a:solidFill>
                  <a:srgbClr val="1F2A36"/>
                </a:solidFill>
              </a:rPr>
              <a:t>, listeners)</a:t>
            </a:r>
          </a:p>
          <a:p>
            <a:pPr marL="274320" indent="-256032">
              <a:spcAft>
                <a:spcPts val="990"/>
              </a:spcAft>
              <a:buClr>
                <a:srgbClr val="42B883"/>
              </a:buClr>
              <a:buSzPct val="100000"/>
              <a:buFont typeface="Arial"/>
              <a:buChar char="•"/>
            </a:pPr>
            <a:r>
              <a:rPr sz="2200" b="0" i="0">
                <a:solidFill>
                  <a:srgbClr val="1F2A36"/>
                </a:solidFill>
              </a:rPr>
              <a:t>Bind </a:t>
            </a:r>
            <a:r>
              <a:rPr sz="2090" b="0" i="0">
                <a:solidFill>
                  <a:srgbClr val="8A2B52"/>
                </a:solidFill>
                <a:latin typeface="Consolas"/>
              </a:rPr>
              <a:t>$attrs</a:t>
            </a:r>
            <a:r>
              <a:rPr sz="2200" b="0" i="0">
                <a:solidFill>
                  <a:srgbClr val="1F2A36"/>
                </a:solidFill>
              </a:rPr>
              <a:t> explicitly if the parent passes them:</a:t>
            </a:r>
          </a:p>
        </p:txBody>
      </p:sp>
      <p:sp>
        <p:nvSpPr>
          <p:cNvPr id="6" name="Code"/>
          <p:cNvSpPr/>
          <p:nvPr/>
        </p:nvSpPr>
        <p:spPr>
          <a:xfrm>
            <a:off x="457200" y="4949190"/>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&lt;div</a:t>
            </a:r>
            <a:r>
              <a:rPr sz="2000">
                <a:solidFill>
                  <a:srgbClr val="24292F"/>
                </a:solidFill>
                <a:latin typeface="Consolas"/>
              </a:rPr>
              <a:t> </a:t>
            </a:r>
            <a:r>
              <a:rPr sz="2000">
                <a:solidFill>
                  <a:srgbClr val="953800"/>
                </a:solidFill>
                <a:latin typeface="Consolas"/>
              </a:rPr>
              <a:t>v-bind</a:t>
            </a:r>
            <a:r>
              <a:rPr sz="2000">
                <a:solidFill>
                  <a:srgbClr val="24292F"/>
                </a:solidFill>
                <a:latin typeface="Consolas"/>
              </a:rPr>
              <a:t>=</a:t>
            </a:r>
            <a:r>
              <a:rPr sz="2000">
                <a:solidFill>
                  <a:srgbClr val="0A3069"/>
                </a:solidFill>
                <a:latin typeface="Consolas"/>
              </a:rPr>
              <a:t>"$attrs"</a:t>
            </a:r>
            <a:r>
              <a:rPr sz="2000">
                <a:solidFill>
                  <a:srgbClr val="24292F"/>
                </a:solidFill>
                <a:latin typeface="Consolas"/>
              </a:rPr>
              <a:t> </a:t>
            </a:r>
            <a:r>
              <a:rPr sz="2000">
                <a:solidFill>
                  <a:srgbClr val="953800"/>
                </a:solidFill>
                <a:latin typeface="Consolas"/>
              </a:rPr>
              <a:t>v-html</a:t>
            </a:r>
            <a:r>
              <a:rPr sz="2000">
                <a:solidFill>
                  <a:srgbClr val="24292F"/>
                </a:solidFill>
                <a:latin typeface="Consolas"/>
              </a:rPr>
              <a:t>=</a:t>
            </a:r>
            <a:r>
              <a:rPr sz="2000">
                <a:solidFill>
                  <a:srgbClr val="0A3069"/>
                </a:solidFill>
                <a:latin typeface="Consolas"/>
              </a:rPr>
              <a:t>"content"</a:t>
            </a:r>
            <a:r>
              <a:rPr sz="2000">
                <a:solidFill>
                  <a:srgbClr val="116329"/>
                </a:solidFill>
                <a:latin typeface="Consolas"/>
              </a:rPr>
              <a:t>&gt;&lt;/div&gt;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174</a:t>
            </a:fld>
            <a:endParaRPr lang="en-US" sz="900">
              <a:solidFill>
                <a:srgbClr val="9AA7B4"/>
              </a:solidFill>
            </a:endParaRPr>
          </a:p>
        </p:txBody>
      </p:sp>
    </p:spTree>
    <p:extLst>
      <p:ext uri="{BB962C8B-B14F-4D97-AF65-F5344CB8AC3E}">
        <p14:creationId xmlns:p14="http://schemas.microsoft.com/office/powerpoint/2010/main" val="196074556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E9E3-2836-614C-8ECB-1A32E50474D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v-model on Components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090" b="0" i="0">
                <a:solidFill>
                  <a:srgbClr val="8A2B52"/>
                </a:solidFill>
                <a:latin typeface="Consolas"/>
              </a:rPr>
              <a:t>v-model</a:t>
            </a:r>
            <a:r>
              <a:rPr sz="2200" b="0" i="0">
                <a:solidFill>
                  <a:srgbClr val="1F2A36"/>
                </a:solidFill>
              </a:rPr>
              <a:t> works on components as it does on inputs:</a:t>
            </a:r>
          </a:p>
        </p:txBody>
      </p:sp>
      <p:sp>
        <p:nvSpPr>
          <p:cNvPr id="4" name="Code"/>
          <p:cNvSpPr/>
          <p:nvPr/>
        </p:nvSpPr>
        <p:spPr>
          <a:xfrm>
            <a:off x="457200" y="1863597"/>
            <a:ext cx="8229600" cy="5445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&lt;CustomInput</a:t>
            </a:r>
            <a:r>
              <a:rPr sz="1600">
                <a:solidFill>
                  <a:srgbClr val="24292F"/>
                </a:solidFill>
                <a:latin typeface="Consolas"/>
              </a:rPr>
              <a:t> </a:t>
            </a:r>
            <a:r>
              <a:rPr sz="1600">
                <a:solidFill>
                  <a:srgbClr val="953800"/>
                </a:solidFill>
                <a:latin typeface="Consolas"/>
              </a:rPr>
              <a:t>v-model</a:t>
            </a:r>
            <a:r>
              <a:rPr sz="1600">
                <a:solidFill>
                  <a:srgbClr val="24292F"/>
                </a:solidFill>
                <a:latin typeface="Consolas"/>
              </a:rPr>
              <a:t>=</a:t>
            </a:r>
            <a:r>
              <a:rPr sz="1600">
                <a:solidFill>
                  <a:srgbClr val="0A3069"/>
                </a:solidFill>
                <a:latin typeface="Consolas"/>
              </a:rPr>
              <a:t>"searchText"</a:t>
            </a:r>
            <a:r>
              <a:rPr sz="1600">
                <a:solidFill>
                  <a:srgbClr val="24292F"/>
                </a:solidFill>
                <a:latin typeface="Consolas"/>
              </a:rPr>
              <a:t> </a:t>
            </a:r>
            <a:r>
              <a:rPr sz="1600">
                <a:solidFill>
                  <a:srgbClr val="116329"/>
                </a:solidFill>
                <a:latin typeface="Consolas"/>
              </a:rPr>
              <a:t>/&gt;</a:t>
            </a:r>
          </a:p>
        </p:txBody>
      </p:sp>
      <p:sp>
        <p:nvSpPr>
          <p:cNvPr id="5" name="Body"/>
          <p:cNvSpPr txBox="1"/>
          <p:nvPr/>
        </p:nvSpPr>
        <p:spPr>
          <a:xfrm>
            <a:off x="457200" y="2554477"/>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…does the same thing as:</a:t>
            </a:r>
          </a:p>
        </p:txBody>
      </p:sp>
      <p:sp>
        <p:nvSpPr>
          <p:cNvPr id="6" name="Code"/>
          <p:cNvSpPr/>
          <p:nvPr/>
        </p:nvSpPr>
        <p:spPr>
          <a:xfrm>
            <a:off x="457200" y="3156204"/>
            <a:ext cx="8229600" cy="10485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116329"/>
                </a:solidFill>
                <a:latin typeface="Consolas"/>
              </a:rPr>
              <a:t>&lt;CustomInput</a:t>
            </a:r>
          </a:p>
          <a:p>
            <a:pPr marL="0" indent="0" algn="l">
              <a:lnSpc>
                <a:spcPct val="100000"/>
              </a:lnSpc>
              <a:buNone/>
            </a:pPr>
            <a:r>
              <a:rPr sz="1600">
                <a:solidFill>
                  <a:srgbClr val="24292F"/>
                </a:solidFill>
                <a:latin typeface="Consolas"/>
              </a:rPr>
              <a:t>  :model-value=</a:t>
            </a:r>
            <a:r>
              <a:rPr sz="1600">
                <a:solidFill>
                  <a:srgbClr val="0A3069"/>
                </a:solidFill>
                <a:latin typeface="Consolas"/>
              </a:rPr>
              <a:t>"searchText"</a:t>
            </a:r>
          </a:p>
          <a:p>
            <a:pPr marL="0" indent="0" algn="l">
              <a:lnSpc>
                <a:spcPct val="100000"/>
              </a:lnSpc>
              <a:buNone/>
            </a:pPr>
            <a:r>
              <a:rPr sz="1600">
                <a:solidFill>
                  <a:srgbClr val="24292F"/>
                </a:solidFill>
                <a:latin typeface="Consolas"/>
              </a:rPr>
              <a:t>  @update:model-value=</a:t>
            </a:r>
            <a:r>
              <a:rPr sz="1600">
                <a:solidFill>
                  <a:srgbClr val="0A3069"/>
                </a:solidFill>
                <a:latin typeface="Consolas"/>
              </a:rPr>
              <a:t>"(v) =&gt; (searchText = v)"</a:t>
            </a:r>
            <a:r>
              <a:rPr sz="1600">
                <a:solidFill>
                  <a:srgbClr val="24292F"/>
                </a:solidFill>
                <a:latin typeface="Consolas"/>
              </a:rPr>
              <a:t> </a:t>
            </a:r>
            <a:r>
              <a:rPr sz="1600">
                <a:solidFill>
                  <a:srgbClr val="116329"/>
                </a:solidFill>
                <a:latin typeface="Consolas"/>
              </a:rPr>
              <a:t>/&gt;</a:t>
            </a:r>
          </a:p>
        </p:txBody>
      </p:sp>
      <p:sp>
        <p:nvSpPr>
          <p:cNvPr id="7" name="Body"/>
          <p:cNvSpPr txBox="1"/>
          <p:nvPr/>
        </p:nvSpPr>
        <p:spPr>
          <a:xfrm>
            <a:off x="457200" y="4351020"/>
            <a:ext cx="8229600" cy="199135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 3 uses the </a:t>
            </a:r>
            <a:r>
              <a:rPr sz="2090" b="0" i="0">
                <a:solidFill>
                  <a:srgbClr val="8A2B52"/>
                </a:solidFill>
                <a:latin typeface="Consolas"/>
              </a:rPr>
              <a:t>modelValue</a:t>
            </a:r>
            <a:r>
              <a:rPr sz="2200" b="0" i="0">
                <a:solidFill>
                  <a:srgbClr val="1F2A36"/>
                </a:solidFill>
              </a:rPr>
              <a:t> prop and </a:t>
            </a:r>
            <a:r>
              <a:rPr sz="2090" b="0" i="0">
                <a:solidFill>
                  <a:srgbClr val="8A2B52"/>
                </a:solidFill>
                <a:latin typeface="Consolas"/>
              </a:rPr>
              <a:t>update:modelValue</a:t>
            </a:r>
            <a:r>
              <a:rPr sz="2200" b="0" i="0">
                <a:solidFill>
                  <a:srgbClr val="1F2A36"/>
                </a:solidFill>
              </a:rPr>
              <a:t> event (Vue 2 used </a:t>
            </a:r>
            <a:r>
              <a:rPr sz="2090" b="0" i="0">
                <a:solidFill>
                  <a:srgbClr val="8A2B52"/>
                </a:solidFill>
                <a:latin typeface="Consolas"/>
              </a:rPr>
              <a:t>value</a:t>
            </a:r>
            <a:r>
              <a:rPr sz="2200" b="0" i="0">
                <a:solidFill>
                  <a:srgbClr val="1F2A36"/>
                </a:solidFill>
              </a:rPr>
              <a:t> and </a:t>
            </a:r>
            <a:r>
              <a:rPr sz="2090" b="0" i="0">
                <a:solidFill>
                  <a:srgbClr val="8A2B52"/>
                </a:solidFill>
                <a:latin typeface="Consolas"/>
              </a:rPr>
              <a:t>input</a:t>
            </a:r>
            <a:r>
              <a:rPr sz="2200" b="0" i="0">
                <a:solidFill>
                  <a:srgbClr val="1F2A36"/>
                </a:solidFill>
              </a:rPr>
              <a:t>)</a:t>
            </a:r>
          </a:p>
          <a:p>
            <a:pPr marL="274320" indent="-256032">
              <a:spcAft>
                <a:spcPts val="990"/>
              </a:spcAft>
              <a:buClr>
                <a:srgbClr val="42B883"/>
              </a:buClr>
              <a:buSzPct val="100000"/>
              <a:buFont typeface="Arial"/>
              <a:buChar char="•"/>
            </a:pPr>
            <a:r>
              <a:rPr sz="2200" b="0" i="0">
                <a:solidFill>
                  <a:srgbClr val="1F2A36"/>
                </a:solidFill>
              </a:rPr>
              <a:t>Named models allow several per component: </a:t>
            </a:r>
            <a:r>
              <a:rPr sz="2090" b="0" i="0">
                <a:solidFill>
                  <a:srgbClr val="8A2B52"/>
                </a:solidFill>
                <a:latin typeface="Consolas"/>
              </a:rPr>
              <a:t>v-model:title</a:t>
            </a:r>
            <a:r>
              <a:rPr sz="2200" b="0" i="0">
                <a:solidFill>
                  <a:srgbClr val="1F2A36"/>
                </a:solidFill>
              </a:rPr>
              <a:t>, </a:t>
            </a:r>
            <a:r>
              <a:rPr sz="2090" b="0" i="0">
                <a:solidFill>
                  <a:srgbClr val="8A2B52"/>
                </a:solidFill>
                <a:latin typeface="Consolas"/>
              </a:rPr>
              <a:t>v-model:body</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175</a:t>
            </a:fld>
            <a:endParaRPr lang="en-US" sz="900">
              <a:solidFill>
                <a:srgbClr val="9AA7B4"/>
              </a:solidFill>
            </a:endParaRPr>
          </a:p>
        </p:txBody>
      </p:sp>
    </p:spTree>
    <p:extLst>
      <p:ext uri="{BB962C8B-B14F-4D97-AF65-F5344CB8AC3E}">
        <p14:creationId xmlns:p14="http://schemas.microsoft.com/office/powerpoint/2010/main" val="395360135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C27E-999C-D844-BD6A-90D7AECCF26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defineModel</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Since Vue 3.4, the whole prop-and-event pair has a shorthand.</a:t>
            </a:r>
          </a:p>
        </p:txBody>
      </p:sp>
      <p:sp>
        <p:nvSpPr>
          <p:cNvPr id="4" name="Code"/>
          <p:cNvSpPr/>
          <p:nvPr/>
        </p:nvSpPr>
        <p:spPr>
          <a:xfrm>
            <a:off x="457200" y="2193290"/>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i="1">
                <a:solidFill>
                  <a:srgbClr val="6E7781"/>
                </a:solidFill>
                <a:latin typeface="Consolas"/>
              </a:rPr>
              <a:t>&lt;!-- CustomInput.vue --&gt;</a:t>
            </a:r>
          </a:p>
          <a:p>
            <a:pPr marL="0" indent="0" algn="l">
              <a:lnSpc>
                <a:spcPct val="100000"/>
              </a:lnSpc>
              <a:buNone/>
            </a:pPr>
            <a:r>
              <a:rPr sz="1500">
                <a:solidFill>
                  <a:srgbClr val="116329"/>
                </a:solidFill>
                <a:latin typeface="Consolas"/>
              </a:rPr>
              <a:t>&lt;script</a:t>
            </a:r>
            <a:r>
              <a:rPr sz="1500">
                <a:solidFill>
                  <a:srgbClr val="24292F"/>
                </a:solidFill>
                <a:latin typeface="Consolas"/>
              </a:rPr>
              <a:t> </a:t>
            </a:r>
            <a:r>
              <a:rPr sz="1500">
                <a:solidFill>
                  <a:srgbClr val="953800"/>
                </a:solidFill>
                <a:latin typeface="Consolas"/>
              </a:rPr>
              <a:t>setup</a:t>
            </a:r>
            <a:r>
              <a:rPr sz="1500">
                <a:solidFill>
                  <a:srgbClr val="116329"/>
                </a:solidFill>
                <a:latin typeface="Consolas"/>
              </a:rPr>
              <a:t>&gt;</a:t>
            </a:r>
          </a:p>
          <a:p>
            <a:pPr marL="0" indent="0" algn="l">
              <a:lnSpc>
                <a:spcPct val="100000"/>
              </a:lnSpc>
              <a:buNone/>
            </a:pPr>
            <a:r>
              <a:rPr sz="1500">
                <a:solidFill>
                  <a:srgbClr val="CF222E"/>
                </a:solidFill>
                <a:latin typeface="Consolas"/>
              </a:rPr>
              <a:t>const</a:t>
            </a:r>
            <a:r>
              <a:rPr sz="1500">
                <a:solidFill>
                  <a:srgbClr val="24292F"/>
                </a:solidFill>
                <a:latin typeface="Consolas"/>
              </a:rPr>
              <a:t> model = defineModel()</a:t>
            </a:r>
          </a:p>
          <a:p>
            <a:pPr marL="0" indent="0" algn="l">
              <a:lnSpc>
                <a:spcPct val="100000"/>
              </a:lnSpc>
              <a:buNone/>
            </a:pPr>
            <a:r>
              <a:rPr sz="1500">
                <a:solidFill>
                  <a:srgbClr val="116329"/>
                </a:solidFill>
                <a:latin typeface="Consolas"/>
              </a:rPr>
              <a:t>&lt;/script&gt;</a:t>
            </a:r>
          </a:p>
          <a:p>
            <a:pPr marL="0" indent="0" algn="l">
              <a:lnSpc>
                <a:spcPct val="100000"/>
              </a:lnSpc>
              <a:buNone/>
            </a:pPr>
            <a:r>
              <a:rPr sz="1500">
                <a:latin typeface="Consolas"/>
              </a:rPr>
              <a:t> </a:t>
            </a:r>
          </a:p>
          <a:p>
            <a:pPr marL="0" indent="0" algn="l">
              <a:lnSpc>
                <a:spcPct val="100000"/>
              </a:lnSpc>
              <a:buNone/>
            </a:pPr>
            <a:r>
              <a:rPr sz="1500">
                <a:solidFill>
                  <a:srgbClr val="116329"/>
                </a:solidFill>
                <a:latin typeface="Consolas"/>
              </a:rPr>
              <a:t>&lt;template&gt;</a:t>
            </a:r>
          </a:p>
          <a:p>
            <a:pPr marL="0" indent="0" algn="l">
              <a:lnSpc>
                <a:spcPct val="100000"/>
              </a:lnSpc>
              <a:buNone/>
            </a:pPr>
            <a:r>
              <a:rPr sz="1500">
                <a:solidFill>
                  <a:srgbClr val="24292F"/>
                </a:solidFill>
                <a:latin typeface="Consolas"/>
              </a:rPr>
              <a:t>  </a:t>
            </a:r>
            <a:r>
              <a:rPr sz="1500">
                <a:solidFill>
                  <a:srgbClr val="116329"/>
                </a:solidFill>
                <a:latin typeface="Consolas"/>
              </a:rPr>
              <a:t>&lt;input</a:t>
            </a:r>
            <a:r>
              <a:rPr sz="1500">
                <a:solidFill>
                  <a:srgbClr val="24292F"/>
                </a:solidFill>
                <a:latin typeface="Consolas"/>
              </a:rPr>
              <a:t> </a:t>
            </a:r>
            <a:r>
              <a:rPr sz="1500">
                <a:solidFill>
                  <a:srgbClr val="953800"/>
                </a:solidFill>
                <a:latin typeface="Consolas"/>
              </a:rPr>
              <a:t>v-model</a:t>
            </a:r>
            <a:r>
              <a:rPr sz="1500">
                <a:solidFill>
                  <a:srgbClr val="24292F"/>
                </a:solidFill>
                <a:latin typeface="Consolas"/>
              </a:rPr>
              <a:t>=</a:t>
            </a:r>
            <a:r>
              <a:rPr sz="1500">
                <a:solidFill>
                  <a:srgbClr val="0A3069"/>
                </a:solidFill>
                <a:latin typeface="Consolas"/>
              </a:rPr>
              <a:t>"model"</a:t>
            </a:r>
            <a:r>
              <a:rPr sz="1500">
                <a:solidFill>
                  <a:srgbClr val="116329"/>
                </a:solidFill>
                <a:latin typeface="Consolas"/>
              </a:rPr>
              <a:t>&gt;</a:t>
            </a:r>
          </a:p>
          <a:p>
            <a:pPr marL="0" indent="0" algn="l">
              <a:lnSpc>
                <a:spcPct val="100000"/>
              </a:lnSpc>
              <a:buNone/>
            </a:pPr>
            <a:r>
              <a:rPr sz="1500">
                <a:solidFill>
                  <a:srgbClr val="116329"/>
                </a:solidFill>
                <a:latin typeface="Consolas"/>
              </a:rPr>
              <a:t>&lt;/template&gt;</a:t>
            </a:r>
          </a:p>
        </p:txBody>
      </p:sp>
      <p:sp>
        <p:nvSpPr>
          <p:cNvPr id="5" name="Body"/>
          <p:cNvSpPr txBox="1"/>
          <p:nvPr/>
        </p:nvSpPr>
        <p:spPr>
          <a:xfrm>
            <a:off x="457200" y="4521962"/>
            <a:ext cx="8229600" cy="178739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model</a:t>
            </a:r>
            <a:r>
              <a:rPr sz="2200" b="0" i="0">
                <a:solidFill>
                  <a:srgbClr val="1F2A36"/>
                </a:solidFill>
              </a:rPr>
              <a:t> is a writable ref</a:t>
            </a:r>
          </a:p>
          <a:p>
            <a:pPr marL="274320" indent="-256032">
              <a:spcAft>
                <a:spcPts val="990"/>
              </a:spcAft>
              <a:buClr>
                <a:srgbClr val="42B883"/>
              </a:buClr>
              <a:buSzPct val="100000"/>
              <a:buFont typeface="Arial"/>
              <a:buChar char="•"/>
            </a:pPr>
            <a:r>
              <a:rPr sz="2200" b="0" i="0">
                <a:solidFill>
                  <a:srgbClr val="1F2A36"/>
                </a:solidFill>
              </a:rPr>
              <a:t>Writing to it emits </a:t>
            </a:r>
            <a:r>
              <a:rPr sz="2090" b="0" i="0">
                <a:solidFill>
                  <a:srgbClr val="8A2B52"/>
                </a:solidFill>
                <a:latin typeface="Consolas"/>
              </a:rPr>
              <a:t>update:modelValue</a:t>
            </a:r>
            <a:r>
              <a:rPr sz="2200" b="0" i="0">
                <a:solidFill>
                  <a:srgbClr val="1F2A36"/>
                </a:solidFill>
              </a:rPr>
              <a:t> for you</a:t>
            </a:r>
          </a:p>
          <a:p>
            <a:pPr marL="274320" indent="-256032">
              <a:spcAft>
                <a:spcPts val="990"/>
              </a:spcAft>
              <a:buClr>
                <a:srgbClr val="42B883"/>
              </a:buClr>
              <a:buSzPct val="100000"/>
              <a:buFont typeface="Arial"/>
              <a:buChar char="•"/>
            </a:pPr>
            <a:r>
              <a:rPr sz="2200" b="0" i="0">
                <a:solidFill>
                  <a:srgbClr val="1F2A36"/>
                </a:solidFill>
              </a:rPr>
              <a:t>Named and typed: </a:t>
            </a:r>
            <a:r>
              <a:rPr sz="2090" b="0" i="0">
                <a:solidFill>
                  <a:srgbClr val="8A2B52"/>
                </a:solidFill>
                <a:latin typeface="Consolas"/>
              </a:rPr>
              <a:t>defineModel('title', { type: String, required: true })</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176</a:t>
            </a:fld>
            <a:endParaRPr lang="en-US" sz="900">
              <a:solidFill>
                <a:srgbClr val="9AA7B4"/>
              </a:solidFill>
            </a:endParaRPr>
          </a:p>
        </p:txBody>
      </p:sp>
    </p:spTree>
    <p:extLst>
      <p:ext uri="{BB962C8B-B14F-4D97-AF65-F5344CB8AC3E}">
        <p14:creationId xmlns:p14="http://schemas.microsoft.com/office/powerpoint/2010/main" val="228711561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96E7-9EB9-944D-8371-0A49B5ACDF9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Content Distribution with Slots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Slots let a parent pass </a:t>
            </a:r>
            <a:r>
              <a:rPr sz="2200" b="1" i="0">
                <a:solidFill>
                  <a:srgbClr val="1F2A36"/>
                </a:solidFill>
              </a:rPr>
              <a:t>template content</a:t>
            </a:r>
            <a:r>
              <a:rPr sz="2200" b="0" i="0">
                <a:solidFill>
                  <a:srgbClr val="1F2A36"/>
                </a:solidFill>
              </a:rPr>
              <a:t> into a component.</a:t>
            </a:r>
          </a:p>
        </p:txBody>
      </p:sp>
      <p:sp>
        <p:nvSpPr>
          <p:cNvPr id="4" name="Code"/>
          <p:cNvSpPr/>
          <p:nvPr/>
        </p:nvSpPr>
        <p:spPr>
          <a:xfrm>
            <a:off x="457200" y="1863597"/>
            <a:ext cx="8229600" cy="13004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i="1">
                <a:solidFill>
                  <a:srgbClr val="6E7781"/>
                </a:solidFill>
                <a:latin typeface="Consolas"/>
              </a:rPr>
              <a:t>&lt;!-- parent --&gt;</a:t>
            </a:r>
          </a:p>
          <a:p>
            <a:pPr marL="0" indent="0" algn="l">
              <a:lnSpc>
                <a:spcPct val="100000"/>
              </a:lnSpc>
              <a:buNone/>
            </a:pPr>
            <a:r>
              <a:rPr sz="1600">
                <a:solidFill>
                  <a:srgbClr val="116329"/>
                </a:solidFill>
                <a:latin typeface="Consolas"/>
              </a:rPr>
              <a:t>&lt;NavigationLink</a:t>
            </a:r>
            <a:r>
              <a:rPr sz="1600">
                <a:solidFill>
                  <a:srgbClr val="24292F"/>
                </a:solidFill>
                <a:latin typeface="Consolas"/>
              </a:rPr>
              <a:t> </a:t>
            </a:r>
            <a:r>
              <a:rPr sz="1600">
                <a:solidFill>
                  <a:srgbClr val="953800"/>
                </a:solidFill>
                <a:latin typeface="Consolas"/>
              </a:rPr>
              <a:t>url</a:t>
            </a:r>
            <a:r>
              <a:rPr sz="1600">
                <a:solidFill>
                  <a:srgbClr val="24292F"/>
                </a:solidFill>
                <a:latin typeface="Consolas"/>
              </a:rPr>
              <a:t>=</a:t>
            </a:r>
            <a:r>
              <a:rPr sz="1600">
                <a:solidFill>
                  <a:srgbClr val="0A3069"/>
                </a:solidFill>
                <a:latin typeface="Consolas"/>
              </a:rPr>
              <a:t>"/profile"</a:t>
            </a:r>
            <a:r>
              <a:rPr sz="1600">
                <a:solidFill>
                  <a:srgbClr val="116329"/>
                </a:solidFill>
                <a:latin typeface="Consolas"/>
              </a:rPr>
              <a:t>&gt;</a:t>
            </a:r>
          </a:p>
          <a:p>
            <a:pPr marL="0" indent="0" algn="l">
              <a:lnSpc>
                <a:spcPct val="100000"/>
              </a:lnSpc>
              <a:buNone/>
            </a:pPr>
            <a:r>
              <a:rPr sz="1600">
                <a:solidFill>
                  <a:srgbClr val="24292F"/>
                </a:solidFill>
                <a:latin typeface="Consolas"/>
              </a:rPr>
              <a:t>  Your Profile</a:t>
            </a:r>
          </a:p>
          <a:p>
            <a:pPr marL="0" indent="0" algn="l">
              <a:lnSpc>
                <a:spcPct val="100000"/>
              </a:lnSpc>
              <a:buNone/>
            </a:pPr>
            <a:r>
              <a:rPr sz="1600">
                <a:solidFill>
                  <a:srgbClr val="116329"/>
                </a:solidFill>
                <a:latin typeface="Consolas"/>
              </a:rPr>
              <a:t>&lt;/NavigationLink&gt;</a:t>
            </a:r>
          </a:p>
        </p:txBody>
      </p:sp>
      <p:sp>
        <p:nvSpPr>
          <p:cNvPr id="5" name="Code"/>
          <p:cNvSpPr/>
          <p:nvPr/>
        </p:nvSpPr>
        <p:spPr>
          <a:xfrm>
            <a:off x="457200" y="3310382"/>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i="1">
                <a:solidFill>
                  <a:srgbClr val="6E7781"/>
                </a:solidFill>
                <a:latin typeface="Consolas"/>
              </a:rPr>
              <a:t>&lt;!-- NavigationLink.vue --&gt;</a:t>
            </a:r>
          </a:p>
          <a:p>
            <a:pPr marL="0" indent="0" algn="l">
              <a:lnSpc>
                <a:spcPct val="100000"/>
              </a:lnSpc>
              <a:buNone/>
            </a:pPr>
            <a:r>
              <a:rPr sz="1600">
                <a:solidFill>
                  <a:srgbClr val="116329"/>
                </a:solidFill>
                <a:latin typeface="Consolas"/>
              </a:rPr>
              <a:t>&lt;script</a:t>
            </a:r>
            <a:r>
              <a:rPr sz="1600">
                <a:solidFill>
                  <a:srgbClr val="24292F"/>
                </a:solidFill>
                <a:latin typeface="Consolas"/>
              </a:rPr>
              <a:t> </a:t>
            </a:r>
            <a:r>
              <a:rPr sz="1600">
                <a:solidFill>
                  <a:srgbClr val="953800"/>
                </a:solidFill>
                <a:latin typeface="Consolas"/>
              </a:rPr>
              <a:t>setup</a:t>
            </a:r>
            <a:r>
              <a:rPr sz="1600">
                <a:solidFill>
                  <a:srgbClr val="116329"/>
                </a:solidFill>
                <a:latin typeface="Consolas"/>
              </a:rPr>
              <a:t>&gt;</a:t>
            </a:r>
          </a:p>
          <a:p>
            <a:pPr marL="0" indent="0" algn="l">
              <a:lnSpc>
                <a:spcPct val="100000"/>
              </a:lnSpc>
              <a:buNone/>
            </a:pPr>
            <a:r>
              <a:rPr sz="1600">
                <a:solidFill>
                  <a:srgbClr val="24292F"/>
                </a:solidFill>
                <a:latin typeface="Consolas"/>
              </a:rPr>
              <a:t>defineProps({ url: String })</a:t>
            </a:r>
          </a:p>
          <a:p>
            <a:pPr marL="0" indent="0" algn="l">
              <a:lnSpc>
                <a:spcPct val="100000"/>
              </a:lnSpc>
              <a:buNone/>
            </a:pPr>
            <a:r>
              <a:rPr sz="1600">
                <a:solidFill>
                  <a:srgbClr val="116329"/>
                </a:solidFill>
                <a:latin typeface="Consolas"/>
              </a:rPr>
              <a:t>&lt;/script&gt;</a:t>
            </a:r>
          </a:p>
          <a:p>
            <a:pPr marL="0" indent="0" algn="l">
              <a:lnSpc>
                <a:spcPct val="100000"/>
              </a:lnSpc>
              <a:buNone/>
            </a:pPr>
            <a:r>
              <a:rPr sz="1600">
                <a:latin typeface="Consolas"/>
              </a:rPr>
              <a:t> </a:t>
            </a:r>
          </a:p>
          <a:p>
            <a:pPr marL="0" indent="0" algn="l">
              <a:lnSpc>
                <a:spcPct val="100000"/>
              </a:lnSpc>
              <a:buNone/>
            </a:pPr>
            <a:r>
              <a:rPr sz="1600">
                <a:solidFill>
                  <a:srgbClr val="116329"/>
                </a:solidFill>
                <a:latin typeface="Consolas"/>
              </a:rPr>
              <a:t>&lt;template&gt;</a:t>
            </a:r>
          </a:p>
          <a:p>
            <a:pPr marL="0" indent="0" algn="l">
              <a:lnSpc>
                <a:spcPct val="100000"/>
              </a:lnSpc>
              <a:buNone/>
            </a:pPr>
            <a:r>
              <a:rPr sz="1600">
                <a:solidFill>
                  <a:srgbClr val="24292F"/>
                </a:solidFill>
                <a:latin typeface="Consolas"/>
              </a:rPr>
              <a:t>  </a:t>
            </a:r>
            <a:r>
              <a:rPr sz="1600">
                <a:solidFill>
                  <a:srgbClr val="116329"/>
                </a:solidFill>
                <a:latin typeface="Consolas"/>
              </a:rPr>
              <a:t>&lt;a</a:t>
            </a:r>
            <a:r>
              <a:rPr sz="1600">
                <a:solidFill>
                  <a:srgbClr val="24292F"/>
                </a:solidFill>
                <a:latin typeface="Consolas"/>
              </a:rPr>
              <a:t> </a:t>
            </a:r>
            <a:r>
              <a:rPr sz="1600">
                <a:solidFill>
                  <a:srgbClr val="953800"/>
                </a:solidFill>
                <a:latin typeface="Consolas"/>
              </a:rPr>
              <a:t>:href</a:t>
            </a:r>
            <a:r>
              <a:rPr sz="1600">
                <a:solidFill>
                  <a:srgbClr val="24292F"/>
                </a:solidFill>
                <a:latin typeface="Consolas"/>
              </a:rPr>
              <a:t>=</a:t>
            </a:r>
            <a:r>
              <a:rPr sz="1600">
                <a:solidFill>
                  <a:srgbClr val="0A3069"/>
                </a:solidFill>
                <a:latin typeface="Consolas"/>
              </a:rPr>
              <a:t>"url"</a:t>
            </a:r>
            <a:r>
              <a:rPr sz="1600">
                <a:solidFill>
                  <a:srgbClr val="24292F"/>
                </a:solidFill>
                <a:latin typeface="Consolas"/>
              </a:rPr>
              <a:t> </a:t>
            </a:r>
            <a:r>
              <a:rPr sz="1600">
                <a:solidFill>
                  <a:srgbClr val="953800"/>
                </a:solidFill>
                <a:latin typeface="Consolas"/>
              </a:rPr>
              <a:t>class</a:t>
            </a:r>
            <a:r>
              <a:rPr sz="1600">
                <a:solidFill>
                  <a:srgbClr val="24292F"/>
                </a:solidFill>
                <a:latin typeface="Consolas"/>
              </a:rPr>
              <a:t>=</a:t>
            </a:r>
            <a:r>
              <a:rPr sz="1600">
                <a:solidFill>
                  <a:srgbClr val="0A3069"/>
                </a:solidFill>
                <a:latin typeface="Consolas"/>
              </a:rPr>
              <a:t>"nav-link"</a:t>
            </a:r>
            <a:r>
              <a:rPr sz="1600">
                <a:solidFill>
                  <a:srgbClr val="116329"/>
                </a:solidFill>
                <a:latin typeface="Consolas"/>
              </a:rPr>
              <a:t>&gt;</a:t>
            </a:r>
          </a:p>
          <a:p>
            <a:pPr marL="0" indent="0" algn="l">
              <a:lnSpc>
                <a:spcPct val="100000"/>
              </a:lnSpc>
              <a:buNone/>
            </a:pPr>
            <a:r>
              <a:rPr sz="1600">
                <a:solidFill>
                  <a:srgbClr val="24292F"/>
                </a:solidFill>
                <a:latin typeface="Consolas"/>
              </a:rPr>
              <a:t>    </a:t>
            </a:r>
            <a:r>
              <a:rPr sz="1600">
                <a:solidFill>
                  <a:srgbClr val="116329"/>
                </a:solidFill>
                <a:latin typeface="Consolas"/>
              </a:rPr>
              <a:t>&lt;slot&gt;&lt;/slot&gt;</a:t>
            </a:r>
          </a:p>
          <a:p>
            <a:pPr marL="0" indent="0" algn="l">
              <a:lnSpc>
                <a:spcPct val="100000"/>
              </a:lnSpc>
              <a:buNone/>
            </a:pPr>
            <a:r>
              <a:rPr sz="1600">
                <a:solidFill>
                  <a:srgbClr val="24292F"/>
                </a:solidFill>
                <a:latin typeface="Consolas"/>
              </a:rPr>
              <a:t>  </a:t>
            </a:r>
            <a:r>
              <a:rPr sz="1600">
                <a:solidFill>
                  <a:srgbClr val="116329"/>
                </a:solidFill>
                <a:latin typeface="Consolas"/>
              </a:rPr>
              <a:t>&lt;/a&gt;</a:t>
            </a:r>
          </a:p>
          <a:p>
            <a:pPr marL="0" indent="0" algn="l">
              <a:lnSpc>
                <a:spcPct val="100000"/>
              </a:lnSpc>
              <a:buNone/>
            </a:pPr>
            <a:r>
              <a:rPr sz="1600">
                <a:solidFill>
                  <a:srgbClr val="116329"/>
                </a:solidFill>
                <a:latin typeface="Consolas"/>
              </a:rPr>
              <a:t>&lt;/template&gt;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177</a:t>
            </a:fld>
            <a:endParaRPr lang="en-US" sz="900">
              <a:solidFill>
                <a:srgbClr val="9AA7B4"/>
              </a:solidFill>
            </a:endParaRPr>
          </a:p>
        </p:txBody>
      </p:sp>
    </p:spTree>
    <p:extLst>
      <p:ext uri="{BB962C8B-B14F-4D97-AF65-F5344CB8AC3E}">
        <p14:creationId xmlns:p14="http://schemas.microsoft.com/office/powerpoint/2010/main" val="31502907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5E3B-5111-9441-80C3-0E3CDB77B9EF}"/>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Cool Things You Can Do With Slots</a:t>
            </a:r>
          </a:p>
        </p:txBody>
      </p:sp>
      <p:sp>
        <p:nvSpPr>
          <p:cNvPr id="3" name="Body"/>
          <p:cNvSpPr txBox="1"/>
          <p:nvPr/>
        </p:nvSpPr>
        <p:spPr>
          <a:xfrm>
            <a:off x="457200" y="1261872"/>
            <a:ext cx="8229600" cy="244678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Slots can contain any template code, including HTML and components</a:t>
            </a:r>
          </a:p>
          <a:p>
            <a:pPr marL="274320" indent="-256032">
              <a:spcAft>
                <a:spcPts val="990"/>
              </a:spcAft>
              <a:buClr>
                <a:srgbClr val="42B883"/>
              </a:buClr>
              <a:buSzPct val="100000"/>
              <a:buFont typeface="Arial"/>
              <a:buChar char="•"/>
            </a:pPr>
            <a:r>
              <a:rPr sz="2200" b="0" i="0">
                <a:solidFill>
                  <a:srgbClr val="1F2A36"/>
                </a:solidFill>
              </a:rPr>
              <a:t>Slot content can use the </a:t>
            </a:r>
            <a:r>
              <a:rPr sz="2200" b="1" i="0">
                <a:solidFill>
                  <a:srgbClr val="1F2A36"/>
                </a:solidFill>
              </a:rPr>
              <a:t>parent's</a:t>
            </a:r>
            <a:r>
              <a:rPr sz="2200" b="0" i="0">
                <a:solidFill>
                  <a:srgbClr val="1F2A36"/>
                </a:solidFill>
              </a:rPr>
              <a:t> state (it's compiled in the parent's scope)</a:t>
            </a:r>
          </a:p>
          <a:p>
            <a:pPr marL="274320" indent="-256032">
              <a:spcAft>
                <a:spcPts val="990"/>
              </a:spcAft>
              <a:buClr>
                <a:srgbClr val="42B883"/>
              </a:buClr>
              <a:buSzPct val="100000"/>
              <a:buFont typeface="Arial"/>
              <a:buChar char="•"/>
            </a:pPr>
            <a:r>
              <a:rPr sz="2200" b="0" i="0">
                <a:solidFill>
                  <a:srgbClr val="1F2A36"/>
                </a:solidFill>
              </a:rPr>
              <a:t>Provide </a:t>
            </a:r>
            <a:r>
              <a:rPr sz="2200" b="1" i="0">
                <a:solidFill>
                  <a:srgbClr val="1F2A36"/>
                </a:solidFill>
              </a:rPr>
              <a:t>default content</a:t>
            </a:r>
            <a:r>
              <a:rPr sz="2200" b="0" i="0">
                <a:solidFill>
                  <a:srgbClr val="1F2A36"/>
                </a:solidFill>
              </a:rPr>
              <a:t> for when the parent doesn't supply any:</a:t>
            </a:r>
          </a:p>
        </p:txBody>
      </p:sp>
      <p:sp>
        <p:nvSpPr>
          <p:cNvPr id="4" name="Code"/>
          <p:cNvSpPr/>
          <p:nvPr/>
        </p:nvSpPr>
        <p:spPr>
          <a:xfrm>
            <a:off x="457200" y="3763517"/>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&lt;button</a:t>
            </a:r>
            <a:r>
              <a:rPr sz="2000">
                <a:solidFill>
                  <a:srgbClr val="24292F"/>
                </a:solidFill>
                <a:latin typeface="Consolas"/>
              </a:rPr>
              <a:t> </a:t>
            </a:r>
            <a:r>
              <a:rPr sz="2000">
                <a:solidFill>
                  <a:srgbClr val="953800"/>
                </a:solidFill>
                <a:latin typeface="Consolas"/>
              </a:rPr>
              <a:t>class</a:t>
            </a:r>
            <a:r>
              <a:rPr sz="2000">
                <a:solidFill>
                  <a:srgbClr val="24292F"/>
                </a:solidFill>
                <a:latin typeface="Consolas"/>
              </a:rPr>
              <a:t>=</a:t>
            </a:r>
            <a:r>
              <a:rPr sz="2000">
                <a:solidFill>
                  <a:srgbClr val="0A3069"/>
                </a:solidFill>
                <a:latin typeface="Consolas"/>
              </a:rPr>
              <a:t>"btn"</a:t>
            </a: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&lt;slot&gt;</a:t>
            </a:r>
            <a:r>
              <a:rPr sz="2000">
                <a:solidFill>
                  <a:srgbClr val="24292F"/>
                </a:solidFill>
                <a:latin typeface="Consolas"/>
              </a:rPr>
              <a:t>Submit</a:t>
            </a:r>
            <a:r>
              <a:rPr sz="2000">
                <a:solidFill>
                  <a:srgbClr val="116329"/>
                </a:solidFill>
                <a:latin typeface="Consolas"/>
              </a:rPr>
              <a:t>&lt;/slot&gt;</a:t>
            </a:r>
          </a:p>
          <a:p>
            <a:pPr marL="0" indent="0" algn="l">
              <a:lnSpc>
                <a:spcPct val="100000"/>
              </a:lnSpc>
              <a:buNone/>
            </a:pPr>
            <a:r>
              <a:rPr sz="2000">
                <a:solidFill>
                  <a:srgbClr val="116329"/>
                </a:solidFill>
                <a:latin typeface="Consolas"/>
              </a:rPr>
              <a:t>&lt;/button&gt;</a:t>
            </a:r>
          </a:p>
        </p:txBody>
      </p:sp>
      <p:sp>
        <p:nvSpPr>
          <p:cNvPr id="5" name="Body"/>
          <p:cNvSpPr txBox="1"/>
          <p:nvPr/>
        </p:nvSpPr>
        <p:spPr>
          <a:xfrm>
            <a:off x="457200" y="5147310"/>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Use </a:t>
            </a:r>
            <a:r>
              <a:rPr sz="2200" b="1" i="0">
                <a:solidFill>
                  <a:srgbClr val="1F2A36"/>
                </a:solidFill>
              </a:rPr>
              <a:t>named slots</a:t>
            </a:r>
            <a:r>
              <a:rPr sz="2200" b="0" i="0">
                <a:solidFill>
                  <a:srgbClr val="1F2A36"/>
                </a:solidFill>
              </a:rPr>
              <a:t> when a component needs several insertion points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178</a:t>
            </a:fld>
            <a:endParaRPr lang="en-US" sz="900">
              <a:solidFill>
                <a:srgbClr val="9AA7B4"/>
              </a:solidFill>
            </a:endParaRPr>
          </a:p>
        </p:txBody>
      </p:sp>
    </p:spTree>
    <p:extLst>
      <p:ext uri="{BB962C8B-B14F-4D97-AF65-F5344CB8AC3E}">
        <p14:creationId xmlns:p14="http://schemas.microsoft.com/office/powerpoint/2010/main" val="150536697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50A5-F44B-F645-BB17-12CA8C5ED67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Naming Slots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The parent fills each named slot with a </a:t>
            </a:r>
            <a:r>
              <a:rPr sz="2090" b="0" i="0">
                <a:solidFill>
                  <a:srgbClr val="8A2B52"/>
                </a:solidFill>
                <a:latin typeface="Consolas"/>
              </a:rPr>
              <a:t>&lt;template v-slot:name&gt;</a:t>
            </a:r>
            <a:r>
              <a:rPr sz="2200" b="0" i="0">
                <a:solidFill>
                  <a:srgbClr val="1F2A36"/>
                </a:solidFill>
              </a:rPr>
              <a:t>:</a:t>
            </a:r>
          </a:p>
        </p:txBody>
      </p:sp>
      <p:sp>
        <p:nvSpPr>
          <p:cNvPr id="4" name="Code"/>
          <p:cNvSpPr/>
          <p:nvPr/>
        </p:nvSpPr>
        <p:spPr>
          <a:xfrm>
            <a:off x="457200" y="2193290"/>
            <a:ext cx="8229600" cy="37571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&lt;BaseLayout&gt;</a:t>
            </a:r>
          </a:p>
          <a:p>
            <a:pPr marL="0" indent="0" algn="l">
              <a:lnSpc>
                <a:spcPct val="100000"/>
              </a:lnSpc>
              <a:buNone/>
            </a:pPr>
            <a:r>
              <a:rPr sz="2000">
                <a:solidFill>
                  <a:srgbClr val="24292F"/>
                </a:solidFill>
                <a:latin typeface="Consolas"/>
              </a:rPr>
              <a:t>  </a:t>
            </a:r>
            <a:r>
              <a:rPr sz="2000">
                <a:solidFill>
                  <a:srgbClr val="116329"/>
                </a:solidFill>
                <a:latin typeface="Consolas"/>
              </a:rPr>
              <a:t>&lt;template</a:t>
            </a:r>
            <a:r>
              <a:rPr sz="2000">
                <a:solidFill>
                  <a:srgbClr val="24292F"/>
                </a:solidFill>
                <a:latin typeface="Consolas"/>
              </a:rPr>
              <a:t> </a:t>
            </a:r>
            <a:r>
              <a:rPr sz="2000">
                <a:solidFill>
                  <a:srgbClr val="953800"/>
                </a:solidFill>
                <a:latin typeface="Consolas"/>
              </a:rPr>
              <a:t>v</a:t>
            </a:r>
            <a:r>
              <a:rPr sz="2000">
                <a:solidFill>
                  <a:srgbClr val="24292F"/>
                </a:solidFill>
                <a:latin typeface="Consolas"/>
              </a:rPr>
              <a:t>-</a:t>
            </a:r>
            <a:r>
              <a:rPr sz="2000">
                <a:solidFill>
                  <a:srgbClr val="953800"/>
                </a:solidFill>
                <a:latin typeface="Consolas"/>
              </a:rPr>
              <a:t>slot</a:t>
            </a:r>
            <a:r>
              <a:rPr sz="2000">
                <a:solidFill>
                  <a:srgbClr val="24292F"/>
                </a:solidFill>
                <a:latin typeface="Consolas"/>
              </a:rPr>
              <a:t>:</a:t>
            </a:r>
            <a:r>
              <a:rPr sz="2000">
                <a:solidFill>
                  <a:srgbClr val="953800"/>
                </a:solidFill>
                <a:latin typeface="Consolas"/>
              </a:rPr>
              <a:t>header</a:t>
            </a: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&lt;h1&gt;</a:t>
            </a:r>
            <a:r>
              <a:rPr sz="2000">
                <a:solidFill>
                  <a:srgbClr val="24292F"/>
                </a:solidFill>
                <a:latin typeface="Consolas"/>
              </a:rPr>
              <a:t>Header content</a:t>
            </a:r>
            <a:r>
              <a:rPr sz="2000">
                <a:solidFill>
                  <a:srgbClr val="116329"/>
                </a:solidFill>
                <a:latin typeface="Consolas"/>
              </a:rPr>
              <a:t>&lt;/h1&gt;</a:t>
            </a:r>
          </a:p>
          <a:p>
            <a:pPr marL="0" indent="0" algn="l">
              <a:lnSpc>
                <a:spcPct val="100000"/>
              </a:lnSpc>
              <a:buNone/>
            </a:pPr>
            <a:r>
              <a:rPr sz="2000">
                <a:solidFill>
                  <a:srgbClr val="24292F"/>
                </a:solidFill>
                <a:latin typeface="Consolas"/>
              </a:rPr>
              <a:t>  </a:t>
            </a:r>
            <a:r>
              <a:rPr sz="2000">
                <a:solidFill>
                  <a:srgbClr val="116329"/>
                </a:solidFill>
                <a:latin typeface="Consolas"/>
              </a:rPr>
              <a:t>&lt;/template&gt;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a:t>
            </a:r>
            <a:r>
              <a:rPr sz="2000">
                <a:solidFill>
                  <a:srgbClr val="116329"/>
                </a:solidFill>
                <a:latin typeface="Consolas"/>
              </a:rPr>
              <a:t>&lt;p&gt;</a:t>
            </a:r>
            <a:r>
              <a:rPr sz="2000">
                <a:solidFill>
                  <a:srgbClr val="24292F"/>
                </a:solidFill>
                <a:latin typeface="Consolas"/>
              </a:rPr>
              <a:t>Main content goes in the default slot.</a:t>
            </a:r>
            <a:r>
              <a:rPr sz="2000">
                <a:solidFill>
                  <a:srgbClr val="116329"/>
                </a:solidFill>
                <a:latin typeface="Consolas"/>
              </a:rPr>
              <a:t>&lt;/p&gt;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a:t>
            </a:r>
            <a:r>
              <a:rPr sz="2000">
                <a:solidFill>
                  <a:srgbClr val="116329"/>
                </a:solidFill>
                <a:latin typeface="Consolas"/>
              </a:rPr>
              <a:t>&lt;template</a:t>
            </a:r>
            <a:r>
              <a:rPr sz="2000">
                <a:solidFill>
                  <a:srgbClr val="24292F"/>
                </a:solidFill>
                <a:latin typeface="Consolas"/>
              </a:rPr>
              <a:t> </a:t>
            </a:r>
            <a:r>
              <a:rPr sz="2000">
                <a:solidFill>
                  <a:srgbClr val="953800"/>
                </a:solidFill>
                <a:latin typeface="Consolas"/>
              </a:rPr>
              <a:t>v</a:t>
            </a:r>
            <a:r>
              <a:rPr sz="2000">
                <a:solidFill>
                  <a:srgbClr val="24292F"/>
                </a:solidFill>
                <a:latin typeface="Consolas"/>
              </a:rPr>
              <a:t>-</a:t>
            </a:r>
            <a:r>
              <a:rPr sz="2000">
                <a:solidFill>
                  <a:srgbClr val="953800"/>
                </a:solidFill>
                <a:latin typeface="Consolas"/>
              </a:rPr>
              <a:t>slot</a:t>
            </a:r>
            <a:r>
              <a:rPr sz="2000">
                <a:solidFill>
                  <a:srgbClr val="24292F"/>
                </a:solidFill>
                <a:latin typeface="Consolas"/>
              </a:rPr>
              <a:t>:</a:t>
            </a:r>
            <a:r>
              <a:rPr sz="2000">
                <a:solidFill>
                  <a:srgbClr val="953800"/>
                </a:solidFill>
                <a:latin typeface="Consolas"/>
              </a:rPr>
              <a:t>footer</a:t>
            </a: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&lt;p&gt;</a:t>
            </a:r>
            <a:r>
              <a:rPr sz="2000">
                <a:solidFill>
                  <a:srgbClr val="24292F"/>
                </a:solidFill>
                <a:latin typeface="Consolas"/>
              </a:rPr>
              <a:t>Footer content</a:t>
            </a:r>
            <a:r>
              <a:rPr sz="2000">
                <a:solidFill>
                  <a:srgbClr val="116329"/>
                </a:solidFill>
                <a:latin typeface="Consolas"/>
              </a:rPr>
              <a:t>&lt;/p&gt;</a:t>
            </a:r>
          </a:p>
          <a:p>
            <a:pPr marL="0" indent="0" algn="l">
              <a:lnSpc>
                <a:spcPct val="100000"/>
              </a:lnSpc>
              <a:buNone/>
            </a:pPr>
            <a:r>
              <a:rPr sz="2000">
                <a:solidFill>
                  <a:srgbClr val="24292F"/>
                </a:solidFill>
                <a:latin typeface="Consolas"/>
              </a:rPr>
              <a:t>  </a:t>
            </a:r>
            <a:r>
              <a:rPr sz="2000">
                <a:solidFill>
                  <a:srgbClr val="116329"/>
                </a:solidFill>
                <a:latin typeface="Consolas"/>
              </a:rPr>
              <a:t>&lt;/template&gt;</a:t>
            </a:r>
          </a:p>
          <a:p>
            <a:pPr marL="0" indent="0" algn="l">
              <a:lnSpc>
                <a:spcPct val="100000"/>
              </a:lnSpc>
              <a:buNone/>
            </a:pPr>
            <a:r>
              <a:rPr sz="2000">
                <a:solidFill>
                  <a:srgbClr val="116329"/>
                </a:solidFill>
                <a:latin typeface="Consolas"/>
              </a:rPr>
              <a:t>&lt;/BaseLayout&gt;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179</a:t>
            </a:fld>
            <a:endParaRPr lang="en-US" sz="900">
              <a:solidFill>
                <a:srgbClr val="9AA7B4"/>
              </a:solidFill>
            </a:endParaRPr>
          </a:p>
        </p:txBody>
      </p:sp>
    </p:spTree>
    <p:extLst>
      <p:ext uri="{BB962C8B-B14F-4D97-AF65-F5344CB8AC3E}">
        <p14:creationId xmlns:p14="http://schemas.microsoft.com/office/powerpoint/2010/main" val="276216909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B592-9985-DD44-BDBC-34858A656D9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Named Slots</a:t>
            </a:r>
          </a:p>
        </p:txBody>
      </p:sp>
      <p:sp>
        <p:nvSpPr>
          <p:cNvPr id="3" name="Code"/>
          <p:cNvSpPr/>
          <p:nvPr/>
        </p:nvSpPr>
        <p:spPr>
          <a:xfrm>
            <a:off x="457200" y="1261872"/>
            <a:ext cx="8229600" cy="437134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i="1">
                <a:solidFill>
                  <a:srgbClr val="6E7781"/>
                </a:solidFill>
                <a:latin typeface="Consolas"/>
              </a:rPr>
              <a:t>&lt;!-- BaseLayout.vue --&gt;</a:t>
            </a:r>
          </a:p>
          <a:p>
            <a:pPr marL="0" indent="0" algn="l">
              <a:lnSpc>
                <a:spcPct val="100000"/>
              </a:lnSpc>
              <a:buNone/>
            </a:pPr>
            <a:r>
              <a:rPr sz="1850">
                <a:solidFill>
                  <a:srgbClr val="116329"/>
                </a:solidFill>
                <a:latin typeface="Consolas"/>
              </a:rPr>
              <a:t>&lt;template&gt;</a:t>
            </a:r>
          </a:p>
          <a:p>
            <a:pPr marL="0" indent="0" algn="l">
              <a:lnSpc>
                <a:spcPct val="100000"/>
              </a:lnSpc>
              <a:buNone/>
            </a:pPr>
            <a:r>
              <a:rPr sz="1850">
                <a:solidFill>
                  <a:srgbClr val="24292F"/>
                </a:solidFill>
                <a:latin typeface="Consolas"/>
              </a:rPr>
              <a:t>  </a:t>
            </a:r>
            <a:r>
              <a:rPr sz="1850">
                <a:solidFill>
                  <a:srgbClr val="116329"/>
                </a:solidFill>
                <a:latin typeface="Consolas"/>
              </a:rPr>
              <a:t>&lt;div</a:t>
            </a:r>
            <a:r>
              <a:rPr sz="1850">
                <a:solidFill>
                  <a:srgbClr val="24292F"/>
                </a:solidFill>
                <a:latin typeface="Consolas"/>
              </a:rPr>
              <a:t> </a:t>
            </a:r>
            <a:r>
              <a:rPr sz="1850">
                <a:solidFill>
                  <a:srgbClr val="953800"/>
                </a:solidFill>
                <a:latin typeface="Consolas"/>
              </a:rPr>
              <a:t>class</a:t>
            </a:r>
            <a:r>
              <a:rPr sz="1850">
                <a:solidFill>
                  <a:srgbClr val="24292F"/>
                </a:solidFill>
                <a:latin typeface="Consolas"/>
              </a:rPr>
              <a:t>=</a:t>
            </a:r>
            <a:r>
              <a:rPr sz="1850">
                <a:solidFill>
                  <a:srgbClr val="0A3069"/>
                </a:solidFill>
                <a:latin typeface="Consolas"/>
              </a:rPr>
              <a:t>"container"</a:t>
            </a:r>
            <a:r>
              <a:rPr sz="1850">
                <a:solidFill>
                  <a:srgbClr val="116329"/>
                </a:solidFill>
                <a:latin typeface="Consolas"/>
              </a:rPr>
              <a:t>&gt;</a:t>
            </a:r>
          </a:p>
          <a:p>
            <a:pPr marL="0" indent="0" algn="l">
              <a:lnSpc>
                <a:spcPct val="100000"/>
              </a:lnSpc>
              <a:buNone/>
            </a:pPr>
            <a:r>
              <a:rPr sz="1850">
                <a:solidFill>
                  <a:srgbClr val="24292F"/>
                </a:solidFill>
                <a:latin typeface="Consolas"/>
              </a:rPr>
              <a:t>    </a:t>
            </a:r>
            <a:r>
              <a:rPr sz="1850">
                <a:solidFill>
                  <a:srgbClr val="116329"/>
                </a:solidFill>
                <a:latin typeface="Consolas"/>
              </a:rPr>
              <a:t>&lt;header&gt;</a:t>
            </a:r>
          </a:p>
          <a:p>
            <a:pPr marL="0" indent="0" algn="l">
              <a:lnSpc>
                <a:spcPct val="100000"/>
              </a:lnSpc>
              <a:buNone/>
            </a:pPr>
            <a:r>
              <a:rPr sz="1850">
                <a:solidFill>
                  <a:srgbClr val="24292F"/>
                </a:solidFill>
                <a:latin typeface="Consolas"/>
              </a:rPr>
              <a:t>      </a:t>
            </a:r>
            <a:r>
              <a:rPr sz="1850">
                <a:solidFill>
                  <a:srgbClr val="116329"/>
                </a:solidFill>
                <a:latin typeface="Consolas"/>
              </a:rPr>
              <a:t>&lt;slot</a:t>
            </a:r>
            <a:r>
              <a:rPr sz="1850">
                <a:solidFill>
                  <a:srgbClr val="24292F"/>
                </a:solidFill>
                <a:latin typeface="Consolas"/>
              </a:rPr>
              <a:t> </a:t>
            </a:r>
            <a:r>
              <a:rPr sz="1850">
                <a:solidFill>
                  <a:srgbClr val="953800"/>
                </a:solidFill>
                <a:latin typeface="Consolas"/>
              </a:rPr>
              <a:t>name</a:t>
            </a:r>
            <a:r>
              <a:rPr sz="1850">
                <a:solidFill>
                  <a:srgbClr val="24292F"/>
                </a:solidFill>
                <a:latin typeface="Consolas"/>
              </a:rPr>
              <a:t>=</a:t>
            </a:r>
            <a:r>
              <a:rPr sz="1850">
                <a:solidFill>
                  <a:srgbClr val="0A3069"/>
                </a:solidFill>
                <a:latin typeface="Consolas"/>
              </a:rPr>
              <a:t>"header"</a:t>
            </a:r>
            <a:r>
              <a:rPr sz="1850">
                <a:solidFill>
                  <a:srgbClr val="116329"/>
                </a:solidFill>
                <a:latin typeface="Consolas"/>
              </a:rPr>
              <a:t>&gt;&lt;/slot&gt;</a:t>
            </a:r>
          </a:p>
          <a:p>
            <a:pPr marL="0" indent="0" algn="l">
              <a:lnSpc>
                <a:spcPct val="100000"/>
              </a:lnSpc>
              <a:buNone/>
            </a:pPr>
            <a:r>
              <a:rPr sz="1850">
                <a:solidFill>
                  <a:srgbClr val="24292F"/>
                </a:solidFill>
                <a:latin typeface="Consolas"/>
              </a:rPr>
              <a:t>    </a:t>
            </a:r>
            <a:r>
              <a:rPr sz="1850">
                <a:solidFill>
                  <a:srgbClr val="116329"/>
                </a:solidFill>
                <a:latin typeface="Consolas"/>
              </a:rPr>
              <a:t>&lt;/header&gt;</a:t>
            </a:r>
          </a:p>
          <a:p>
            <a:pPr marL="0" indent="0" algn="l">
              <a:lnSpc>
                <a:spcPct val="100000"/>
              </a:lnSpc>
              <a:buNone/>
            </a:pPr>
            <a:r>
              <a:rPr sz="1850">
                <a:solidFill>
                  <a:srgbClr val="24292F"/>
                </a:solidFill>
                <a:latin typeface="Consolas"/>
              </a:rPr>
              <a:t>    </a:t>
            </a:r>
            <a:r>
              <a:rPr sz="1850">
                <a:solidFill>
                  <a:srgbClr val="116329"/>
                </a:solidFill>
                <a:latin typeface="Consolas"/>
              </a:rPr>
              <a:t>&lt;main&gt;</a:t>
            </a:r>
          </a:p>
          <a:p>
            <a:pPr marL="0" indent="0" algn="l">
              <a:lnSpc>
                <a:spcPct val="100000"/>
              </a:lnSpc>
              <a:buNone/>
            </a:pPr>
            <a:r>
              <a:rPr sz="1850">
                <a:solidFill>
                  <a:srgbClr val="24292F"/>
                </a:solidFill>
                <a:latin typeface="Consolas"/>
              </a:rPr>
              <a:t>      </a:t>
            </a:r>
            <a:r>
              <a:rPr sz="1850">
                <a:solidFill>
                  <a:srgbClr val="116329"/>
                </a:solidFill>
                <a:latin typeface="Consolas"/>
              </a:rPr>
              <a:t>&lt;slot&gt;&lt;/slot&gt;</a:t>
            </a:r>
            <a:r>
              <a:rPr sz="1850">
                <a:solidFill>
                  <a:srgbClr val="24292F"/>
                </a:solidFill>
                <a:latin typeface="Consolas"/>
              </a:rPr>
              <a:t>          </a:t>
            </a:r>
            <a:r>
              <a:rPr sz="1850" i="1">
                <a:solidFill>
                  <a:srgbClr val="6E7781"/>
                </a:solidFill>
                <a:latin typeface="Consolas"/>
              </a:rPr>
              <a:t>&lt;!-- the default slot --&gt;</a:t>
            </a:r>
          </a:p>
          <a:p>
            <a:pPr marL="0" indent="0" algn="l">
              <a:lnSpc>
                <a:spcPct val="100000"/>
              </a:lnSpc>
              <a:buNone/>
            </a:pPr>
            <a:r>
              <a:rPr sz="1850">
                <a:solidFill>
                  <a:srgbClr val="24292F"/>
                </a:solidFill>
                <a:latin typeface="Consolas"/>
              </a:rPr>
              <a:t>    </a:t>
            </a:r>
            <a:r>
              <a:rPr sz="1850">
                <a:solidFill>
                  <a:srgbClr val="116329"/>
                </a:solidFill>
                <a:latin typeface="Consolas"/>
              </a:rPr>
              <a:t>&lt;/main&gt;</a:t>
            </a:r>
          </a:p>
          <a:p>
            <a:pPr marL="0" indent="0" algn="l">
              <a:lnSpc>
                <a:spcPct val="100000"/>
              </a:lnSpc>
              <a:buNone/>
            </a:pPr>
            <a:r>
              <a:rPr sz="1850">
                <a:solidFill>
                  <a:srgbClr val="24292F"/>
                </a:solidFill>
                <a:latin typeface="Consolas"/>
              </a:rPr>
              <a:t>    </a:t>
            </a:r>
            <a:r>
              <a:rPr sz="1850">
                <a:solidFill>
                  <a:srgbClr val="116329"/>
                </a:solidFill>
                <a:latin typeface="Consolas"/>
              </a:rPr>
              <a:t>&lt;footer&gt;</a:t>
            </a:r>
          </a:p>
          <a:p>
            <a:pPr marL="0" indent="0" algn="l">
              <a:lnSpc>
                <a:spcPct val="100000"/>
              </a:lnSpc>
              <a:buNone/>
            </a:pPr>
            <a:r>
              <a:rPr sz="1850">
                <a:solidFill>
                  <a:srgbClr val="24292F"/>
                </a:solidFill>
                <a:latin typeface="Consolas"/>
              </a:rPr>
              <a:t>      </a:t>
            </a:r>
            <a:r>
              <a:rPr sz="1850">
                <a:solidFill>
                  <a:srgbClr val="116329"/>
                </a:solidFill>
                <a:latin typeface="Consolas"/>
              </a:rPr>
              <a:t>&lt;slot</a:t>
            </a:r>
            <a:r>
              <a:rPr sz="1850">
                <a:solidFill>
                  <a:srgbClr val="24292F"/>
                </a:solidFill>
                <a:latin typeface="Consolas"/>
              </a:rPr>
              <a:t> </a:t>
            </a:r>
            <a:r>
              <a:rPr sz="1850">
                <a:solidFill>
                  <a:srgbClr val="953800"/>
                </a:solidFill>
                <a:latin typeface="Consolas"/>
              </a:rPr>
              <a:t>name</a:t>
            </a:r>
            <a:r>
              <a:rPr sz="1850">
                <a:solidFill>
                  <a:srgbClr val="24292F"/>
                </a:solidFill>
                <a:latin typeface="Consolas"/>
              </a:rPr>
              <a:t>=</a:t>
            </a:r>
            <a:r>
              <a:rPr sz="1850">
                <a:solidFill>
                  <a:srgbClr val="0A3069"/>
                </a:solidFill>
                <a:latin typeface="Consolas"/>
              </a:rPr>
              <a:t>"footer"</a:t>
            </a:r>
            <a:r>
              <a:rPr sz="1850">
                <a:solidFill>
                  <a:srgbClr val="116329"/>
                </a:solidFill>
                <a:latin typeface="Consolas"/>
              </a:rPr>
              <a:t>&gt;&lt;/slot&gt;</a:t>
            </a:r>
          </a:p>
          <a:p>
            <a:pPr marL="0" indent="0" algn="l">
              <a:lnSpc>
                <a:spcPct val="100000"/>
              </a:lnSpc>
              <a:buNone/>
            </a:pPr>
            <a:r>
              <a:rPr sz="1850">
                <a:solidFill>
                  <a:srgbClr val="24292F"/>
                </a:solidFill>
                <a:latin typeface="Consolas"/>
              </a:rPr>
              <a:t>    </a:t>
            </a:r>
            <a:r>
              <a:rPr sz="1850">
                <a:solidFill>
                  <a:srgbClr val="116329"/>
                </a:solidFill>
                <a:latin typeface="Consolas"/>
              </a:rPr>
              <a:t>&lt;/footer&gt;</a:t>
            </a:r>
          </a:p>
          <a:p>
            <a:pPr marL="0" indent="0" algn="l">
              <a:lnSpc>
                <a:spcPct val="100000"/>
              </a:lnSpc>
              <a:buNone/>
            </a:pPr>
            <a:r>
              <a:rPr sz="1850">
                <a:solidFill>
                  <a:srgbClr val="24292F"/>
                </a:solidFill>
                <a:latin typeface="Consolas"/>
              </a:rPr>
              <a:t>  </a:t>
            </a:r>
            <a:r>
              <a:rPr sz="1850">
                <a:solidFill>
                  <a:srgbClr val="116329"/>
                </a:solidFill>
                <a:latin typeface="Consolas"/>
              </a:rPr>
              <a:t>&lt;/div&gt;</a:t>
            </a:r>
          </a:p>
          <a:p>
            <a:pPr marL="0" indent="0" algn="l">
              <a:lnSpc>
                <a:spcPct val="100000"/>
              </a:lnSpc>
              <a:buNone/>
            </a:pPr>
            <a:r>
              <a:rPr sz="1850">
                <a:solidFill>
                  <a:srgbClr val="116329"/>
                </a:solidFill>
                <a:latin typeface="Consolas"/>
              </a:rPr>
              <a:t>&lt;/template&gt;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180</a:t>
            </a:fld>
            <a:endParaRPr lang="en-US" sz="900">
              <a:solidFill>
                <a:srgbClr val="9AA7B4"/>
              </a:solidFill>
            </a:endParaRPr>
          </a:p>
        </p:txBody>
      </p:sp>
    </p:spTree>
    <p:extLst>
      <p:ext uri="{BB962C8B-B14F-4D97-AF65-F5344CB8AC3E}">
        <p14:creationId xmlns:p14="http://schemas.microsoft.com/office/powerpoint/2010/main" val="234724872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E80C-B8C3-DD4C-A227-A3641939FD25}"/>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Using Slots</a:t>
            </a:r>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demos/slots/index.html</a:t>
            </a:r>
          </a:p>
        </p:txBody>
      </p:sp>
      <p:sp>
        <p:nvSpPr>
          <p:cNvPr id="5" name="Body"/>
          <p:cNvSpPr txBox="1"/>
          <p:nvPr/>
        </p:nvSpPr>
        <p:spPr>
          <a:xfrm>
            <a:off x="457200" y="2148840"/>
            <a:ext cx="8229600" cy="174751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 </a:t>
            </a:r>
            <a:r>
              <a:rPr sz="1900" b="0" i="0">
                <a:solidFill>
                  <a:srgbClr val="8A2B52"/>
                </a:solidFill>
                <a:latin typeface="Consolas"/>
              </a:rPr>
              <a:t>BaseCard</a:t>
            </a:r>
            <a:r>
              <a:rPr sz="2000" b="0" i="0">
                <a:solidFill>
                  <a:srgbClr val="1F2A36"/>
                </a:solidFill>
              </a:rPr>
              <a:t> component with </a:t>
            </a:r>
            <a:r>
              <a:rPr sz="2000" b="1" i="0">
                <a:solidFill>
                  <a:srgbClr val="1F2A36"/>
                </a:solidFill>
              </a:rPr>
              <a:t>header</a:t>
            </a:r>
            <a:r>
              <a:rPr sz="2000" b="0" i="0">
                <a:solidFill>
                  <a:srgbClr val="1F2A36"/>
                </a:solidFill>
              </a:rPr>
              <a:t>, </a:t>
            </a:r>
            <a:r>
              <a:rPr sz="2000" b="1" i="0">
                <a:solidFill>
                  <a:srgbClr val="1F2A36"/>
                </a:solidFill>
              </a:rPr>
              <a:t>default</a:t>
            </a:r>
            <a:r>
              <a:rPr sz="2000" b="0" i="0">
                <a:solidFill>
                  <a:srgbClr val="1F2A36"/>
                </a:solidFill>
              </a:rPr>
              <a:t> and </a:t>
            </a:r>
            <a:r>
              <a:rPr sz="2000" b="1" i="0">
                <a:solidFill>
                  <a:srgbClr val="1F2A36"/>
                </a:solidFill>
              </a:rPr>
              <a:t>footer</a:t>
            </a:r>
            <a:r>
              <a:rPr sz="2000" b="0" i="0">
                <a:solidFill>
                  <a:srgbClr val="1F2A36"/>
                </a:solidFill>
              </a:rPr>
              <a:t> slots</a:t>
            </a:r>
          </a:p>
          <a:p>
            <a:pPr marL="274320" indent="-256032">
              <a:spcAft>
                <a:spcPts val="900"/>
              </a:spcAft>
              <a:buClr>
                <a:srgbClr val="42B883"/>
              </a:buClr>
              <a:buSzPct val="100000"/>
              <a:buFont typeface="Arial"/>
              <a:buChar char="•"/>
            </a:pPr>
            <a:r>
              <a:rPr sz="2000" b="0" i="0">
                <a:solidFill>
                  <a:srgbClr val="1F2A36"/>
                </a:solidFill>
              </a:rPr>
              <a:t>Default content when a slot is empty</a:t>
            </a:r>
          </a:p>
          <a:p>
            <a:pPr marL="274320" indent="-256032">
              <a:spcAft>
                <a:spcPts val="900"/>
              </a:spcAft>
              <a:buClr>
                <a:srgbClr val="42B883"/>
              </a:buClr>
              <a:buSzPct val="100000"/>
              <a:buFont typeface="Arial"/>
              <a:buChar char="•"/>
            </a:pPr>
            <a:r>
              <a:rPr sz="2000" b="0" i="0">
                <a:solidFill>
                  <a:srgbClr val="1F2A36"/>
                </a:solidFill>
              </a:rPr>
              <a:t>A scoped slot: </a:t>
            </a:r>
            <a:r>
              <a:rPr sz="1900" b="0" i="0">
                <a:solidFill>
                  <a:srgbClr val="8A2B52"/>
                </a:solidFill>
                <a:latin typeface="Consolas"/>
              </a:rPr>
              <a:t>ItemList</a:t>
            </a:r>
            <a:r>
              <a:rPr sz="2000" b="0" i="0">
                <a:solidFill>
                  <a:srgbClr val="1F2A36"/>
                </a:solidFill>
              </a:rPr>
              <a:t> passes each </a:t>
            </a:r>
            <a:r>
              <a:rPr sz="1900" b="0" i="0">
                <a:solidFill>
                  <a:srgbClr val="8A2B52"/>
                </a:solidFill>
                <a:latin typeface="Consolas"/>
              </a:rPr>
              <a:t>item</a:t>
            </a:r>
            <a:r>
              <a:rPr sz="2000" b="0" i="0">
                <a:solidFill>
                  <a:srgbClr val="1F2A36"/>
                </a:solidFill>
              </a:rPr>
              <a:t> back to the parent</a:t>
            </a:r>
          </a:p>
          <a:p>
            <a:pPr marL="274320" indent="-256032">
              <a:spcAft>
                <a:spcPts val="900"/>
              </a:spcAft>
              <a:buClr>
                <a:srgbClr val="42B883"/>
              </a:buClr>
              <a:buSzPct val="100000"/>
              <a:buFont typeface="Arial"/>
              <a:buChar char="•"/>
            </a:pPr>
            <a:r>
              <a:rPr sz="2000" b="0" i="0">
                <a:solidFill>
                  <a:srgbClr val="1F2A36"/>
                </a:solidFill>
              </a:rPr>
              <a:t>Open the file in a browser; edit the template to experiment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181</a:t>
            </a:fld>
            <a:endParaRPr lang="en-US" sz="900">
              <a:solidFill>
                <a:srgbClr val="9AA7B4"/>
              </a:solidFill>
            </a:endParaRPr>
          </a:p>
        </p:txBody>
      </p:sp>
    </p:spTree>
    <p:extLst>
      <p:ext uri="{BB962C8B-B14F-4D97-AF65-F5344CB8AC3E}">
        <p14:creationId xmlns:p14="http://schemas.microsoft.com/office/powerpoint/2010/main" val="134624218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3ACB-4E93-9748-8A61-C5EB0C666D5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More Fun with Slots</a:t>
            </a:r>
          </a:p>
        </p:txBody>
      </p:sp>
      <p:sp>
        <p:nvSpPr>
          <p:cNvPr id="3" name="Body"/>
          <p:cNvSpPr txBox="1"/>
          <p:nvPr/>
        </p:nvSpPr>
        <p:spPr>
          <a:xfrm>
            <a:off x="457200" y="1261872"/>
            <a:ext cx="8229600" cy="464057"/>
          </a:xfrm>
          <a:prstGeom prst="rect">
            <a:avLst/>
          </a:prstGeom>
          <a:noFill/>
        </p:spPr>
        <p:txBody>
          <a:bodyPr wrap="square" lIns="0" tIns="0" rIns="0" bIns="0">
            <a:noAutofit/>
          </a:bodyPr>
          <a:lstStyle/>
          <a:p>
            <a:pPr marL="274320" indent="-256032">
              <a:spcAft>
                <a:spcPts val="810"/>
              </a:spcAft>
              <a:buClr>
                <a:srgbClr val="42B883"/>
              </a:buClr>
              <a:buSzPct val="100000"/>
              <a:buFont typeface="Arial"/>
              <a:buChar char="•"/>
            </a:pPr>
            <a:r>
              <a:rPr sz="1800" b="1" i="0">
                <a:solidFill>
                  <a:srgbClr val="1F2A36"/>
                </a:solidFill>
              </a:rPr>
              <a:t>Named slot shorthand</a:t>
            </a:r>
            <a:r>
              <a:rPr sz="1800" b="0" i="0">
                <a:solidFill>
                  <a:srgbClr val="1F2A36"/>
                </a:solidFill>
              </a:rPr>
              <a:t>: </a:t>
            </a:r>
            <a:r>
              <a:rPr sz="1709" b="0" i="0">
                <a:solidFill>
                  <a:srgbClr val="8A2B52"/>
                </a:solidFill>
                <a:latin typeface="Consolas"/>
              </a:rPr>
              <a:t>v-slot:header</a:t>
            </a:r>
            <a:r>
              <a:rPr sz="1800" b="0" i="0">
                <a:solidFill>
                  <a:srgbClr val="1F2A36"/>
                </a:solidFill>
              </a:rPr>
              <a:t> can be written </a:t>
            </a:r>
            <a:r>
              <a:rPr sz="1709" b="0" i="0">
                <a:solidFill>
                  <a:srgbClr val="8A2B52"/>
                </a:solidFill>
                <a:latin typeface="Consolas"/>
              </a:rPr>
              <a:t>#header</a:t>
            </a:r>
          </a:p>
        </p:txBody>
      </p:sp>
      <p:sp>
        <p:nvSpPr>
          <p:cNvPr id="4" name="Code"/>
          <p:cNvSpPr/>
          <p:nvPr/>
        </p:nvSpPr>
        <p:spPr>
          <a:xfrm>
            <a:off x="457200" y="1780793"/>
            <a:ext cx="8229600" cy="95402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116329"/>
                </a:solidFill>
                <a:latin typeface="Consolas"/>
              </a:rPr>
              <a:t>&lt;template</a:t>
            </a:r>
            <a:r>
              <a:rPr sz="1400">
                <a:solidFill>
                  <a:srgbClr val="24292F"/>
                </a:solidFill>
                <a:latin typeface="Consolas"/>
              </a:rPr>
              <a:t> #</a:t>
            </a:r>
            <a:r>
              <a:rPr sz="1400">
                <a:solidFill>
                  <a:srgbClr val="953800"/>
                </a:solidFill>
                <a:latin typeface="Consolas"/>
              </a:rPr>
              <a:t>header</a:t>
            </a:r>
            <a:r>
              <a:rPr sz="1400">
                <a:solidFill>
                  <a:srgbClr val="116329"/>
                </a:solidFill>
                <a:latin typeface="Consolas"/>
              </a:rPr>
              <a:t>&gt;</a:t>
            </a:r>
          </a:p>
          <a:p>
            <a:pPr marL="0" indent="0" algn="l">
              <a:lnSpc>
                <a:spcPct val="100000"/>
              </a:lnSpc>
              <a:buNone/>
            </a:pPr>
            <a:r>
              <a:rPr sz="1400">
                <a:solidFill>
                  <a:srgbClr val="24292F"/>
                </a:solidFill>
                <a:latin typeface="Consolas"/>
              </a:rPr>
              <a:t>  </a:t>
            </a:r>
            <a:r>
              <a:rPr sz="1400">
                <a:solidFill>
                  <a:srgbClr val="116329"/>
                </a:solidFill>
                <a:latin typeface="Consolas"/>
              </a:rPr>
              <a:t>&lt;p&gt;</a:t>
            </a:r>
            <a:r>
              <a:rPr sz="1400">
                <a:solidFill>
                  <a:srgbClr val="24292F"/>
                </a:solidFill>
                <a:latin typeface="Consolas"/>
              </a:rPr>
              <a:t>template content here</a:t>
            </a:r>
            <a:r>
              <a:rPr sz="1400">
                <a:solidFill>
                  <a:srgbClr val="116329"/>
                </a:solidFill>
                <a:latin typeface="Consolas"/>
              </a:rPr>
              <a:t>&lt;/p&gt;</a:t>
            </a:r>
          </a:p>
          <a:p>
            <a:pPr marL="0" indent="0" algn="l">
              <a:lnSpc>
                <a:spcPct val="100000"/>
              </a:lnSpc>
              <a:buNone/>
            </a:pPr>
            <a:r>
              <a:rPr sz="1400">
                <a:solidFill>
                  <a:srgbClr val="116329"/>
                </a:solidFill>
                <a:latin typeface="Consolas"/>
              </a:rPr>
              <a:t>&lt;/template&gt;</a:t>
            </a:r>
          </a:p>
        </p:txBody>
      </p:sp>
      <p:sp>
        <p:nvSpPr>
          <p:cNvPr id="5" name="Body"/>
          <p:cNvSpPr txBox="1"/>
          <p:nvPr/>
        </p:nvSpPr>
        <p:spPr>
          <a:xfrm>
            <a:off x="457200" y="2881121"/>
            <a:ext cx="8229600" cy="464057"/>
          </a:xfrm>
          <a:prstGeom prst="rect">
            <a:avLst/>
          </a:prstGeom>
          <a:noFill/>
        </p:spPr>
        <p:txBody>
          <a:bodyPr wrap="square" lIns="0" tIns="0" rIns="0" bIns="0">
            <a:noAutofit/>
          </a:bodyPr>
          <a:lstStyle/>
          <a:p>
            <a:pPr marL="274320" indent="-256032">
              <a:spcAft>
                <a:spcPts val="810"/>
              </a:spcAft>
              <a:buClr>
                <a:srgbClr val="42B883"/>
              </a:buClr>
              <a:buSzPct val="100000"/>
              <a:buFont typeface="Arial"/>
              <a:buChar char="•"/>
            </a:pPr>
            <a:r>
              <a:rPr sz="1800" b="1" i="0">
                <a:solidFill>
                  <a:srgbClr val="1F2A36"/>
                </a:solidFill>
              </a:rPr>
              <a:t>Scoped slots</a:t>
            </a:r>
            <a:r>
              <a:rPr sz="1800" b="0" i="0">
                <a:solidFill>
                  <a:srgbClr val="1F2A36"/>
                </a:solidFill>
              </a:rPr>
              <a:t>: the child passes data to the slot content</a:t>
            </a:r>
          </a:p>
        </p:txBody>
      </p:sp>
      <p:sp>
        <p:nvSpPr>
          <p:cNvPr id="6" name="Code"/>
          <p:cNvSpPr/>
          <p:nvPr/>
        </p:nvSpPr>
        <p:spPr>
          <a:xfrm>
            <a:off x="457200" y="3400043"/>
            <a:ext cx="8229600" cy="227685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i="1">
                <a:solidFill>
                  <a:srgbClr val="6E7781"/>
                </a:solidFill>
                <a:latin typeface="Consolas"/>
              </a:rPr>
              <a:t>&lt;!-- ItemList.vue --&gt;</a:t>
            </a:r>
          </a:p>
          <a:p>
            <a:pPr marL="0" indent="0" algn="l">
              <a:lnSpc>
                <a:spcPct val="100000"/>
              </a:lnSpc>
              <a:buNone/>
            </a:pPr>
            <a:r>
              <a:rPr sz="1400">
                <a:solidFill>
                  <a:srgbClr val="116329"/>
                </a:solidFill>
                <a:latin typeface="Consolas"/>
              </a:rPr>
              <a:t>&lt;li</a:t>
            </a:r>
            <a:r>
              <a:rPr sz="1400">
                <a:solidFill>
                  <a:srgbClr val="24292F"/>
                </a:solidFill>
                <a:latin typeface="Consolas"/>
              </a:rPr>
              <a:t> </a:t>
            </a:r>
            <a:r>
              <a:rPr sz="1400">
                <a:solidFill>
                  <a:srgbClr val="953800"/>
                </a:solidFill>
                <a:latin typeface="Consolas"/>
              </a:rPr>
              <a:t>v-for</a:t>
            </a:r>
            <a:r>
              <a:rPr sz="1400">
                <a:solidFill>
                  <a:srgbClr val="24292F"/>
                </a:solidFill>
                <a:latin typeface="Consolas"/>
              </a:rPr>
              <a:t>=</a:t>
            </a:r>
            <a:r>
              <a:rPr sz="1400">
                <a:solidFill>
                  <a:srgbClr val="0A3069"/>
                </a:solidFill>
                <a:latin typeface="Consolas"/>
              </a:rPr>
              <a:t>"item in items"</a:t>
            </a:r>
            <a:r>
              <a:rPr sz="1400">
                <a:solidFill>
                  <a:srgbClr val="24292F"/>
                </a:solidFill>
                <a:latin typeface="Consolas"/>
              </a:rPr>
              <a:t> </a:t>
            </a:r>
            <a:r>
              <a:rPr sz="1400">
                <a:solidFill>
                  <a:srgbClr val="953800"/>
                </a:solidFill>
                <a:latin typeface="Consolas"/>
              </a:rPr>
              <a:t>:key</a:t>
            </a:r>
            <a:r>
              <a:rPr sz="1400">
                <a:solidFill>
                  <a:srgbClr val="24292F"/>
                </a:solidFill>
                <a:latin typeface="Consolas"/>
              </a:rPr>
              <a:t>=</a:t>
            </a:r>
            <a:r>
              <a:rPr sz="1400">
                <a:solidFill>
                  <a:srgbClr val="0A3069"/>
                </a:solidFill>
                <a:latin typeface="Consolas"/>
              </a:rPr>
              <a:t>"item.id"</a:t>
            </a:r>
            <a:r>
              <a:rPr sz="1400">
                <a:solidFill>
                  <a:srgbClr val="116329"/>
                </a:solidFill>
                <a:latin typeface="Consolas"/>
              </a:rPr>
              <a:t>&gt;</a:t>
            </a:r>
          </a:p>
          <a:p>
            <a:pPr marL="0" indent="0" algn="l">
              <a:lnSpc>
                <a:spcPct val="100000"/>
              </a:lnSpc>
              <a:buNone/>
            </a:pPr>
            <a:r>
              <a:rPr sz="1400">
                <a:solidFill>
                  <a:srgbClr val="24292F"/>
                </a:solidFill>
                <a:latin typeface="Consolas"/>
              </a:rPr>
              <a:t>  </a:t>
            </a:r>
            <a:r>
              <a:rPr sz="1400">
                <a:solidFill>
                  <a:srgbClr val="116329"/>
                </a:solidFill>
                <a:latin typeface="Consolas"/>
              </a:rPr>
              <a:t>&lt;slot</a:t>
            </a:r>
            <a:r>
              <a:rPr sz="1400">
                <a:solidFill>
                  <a:srgbClr val="24292F"/>
                </a:solidFill>
                <a:latin typeface="Consolas"/>
              </a:rPr>
              <a:t> </a:t>
            </a:r>
            <a:r>
              <a:rPr sz="1400">
                <a:solidFill>
                  <a:srgbClr val="953800"/>
                </a:solidFill>
                <a:latin typeface="Consolas"/>
              </a:rPr>
              <a:t>name</a:t>
            </a:r>
            <a:r>
              <a:rPr sz="1400">
                <a:solidFill>
                  <a:srgbClr val="24292F"/>
                </a:solidFill>
                <a:latin typeface="Consolas"/>
              </a:rPr>
              <a:t>=</a:t>
            </a:r>
            <a:r>
              <a:rPr sz="1400">
                <a:solidFill>
                  <a:srgbClr val="0A3069"/>
                </a:solidFill>
                <a:latin typeface="Consolas"/>
              </a:rPr>
              <a:t>"item"</a:t>
            </a:r>
            <a:r>
              <a:rPr sz="1400">
                <a:solidFill>
                  <a:srgbClr val="24292F"/>
                </a:solidFill>
                <a:latin typeface="Consolas"/>
              </a:rPr>
              <a:t> </a:t>
            </a:r>
            <a:r>
              <a:rPr sz="1400">
                <a:solidFill>
                  <a:srgbClr val="953800"/>
                </a:solidFill>
                <a:latin typeface="Consolas"/>
              </a:rPr>
              <a:t>:item</a:t>
            </a:r>
            <a:r>
              <a:rPr sz="1400">
                <a:solidFill>
                  <a:srgbClr val="24292F"/>
                </a:solidFill>
                <a:latin typeface="Consolas"/>
              </a:rPr>
              <a:t>=</a:t>
            </a:r>
            <a:r>
              <a:rPr sz="1400">
                <a:solidFill>
                  <a:srgbClr val="0A3069"/>
                </a:solidFill>
                <a:latin typeface="Consolas"/>
              </a:rPr>
              <a:t>"item"</a:t>
            </a:r>
            <a:r>
              <a:rPr sz="1400">
                <a:solidFill>
                  <a:srgbClr val="116329"/>
                </a:solidFill>
                <a:latin typeface="Consolas"/>
              </a:rPr>
              <a:t>&gt;&lt;/slot&gt;</a:t>
            </a:r>
          </a:p>
          <a:p>
            <a:pPr marL="0" indent="0" algn="l">
              <a:lnSpc>
                <a:spcPct val="100000"/>
              </a:lnSpc>
              <a:buNone/>
            </a:pPr>
            <a:r>
              <a:rPr sz="1400">
                <a:solidFill>
                  <a:srgbClr val="116329"/>
                </a:solidFill>
                <a:latin typeface="Consolas"/>
              </a:rPr>
              <a:t>&lt;/li&gt;</a:t>
            </a:r>
          </a:p>
          <a:p>
            <a:pPr marL="0" indent="0" algn="l">
              <a:lnSpc>
                <a:spcPct val="100000"/>
              </a:lnSpc>
              <a:buNone/>
            </a:pPr>
            <a:r>
              <a:rPr sz="1400">
                <a:latin typeface="Consolas"/>
              </a:rPr>
              <a:t> </a:t>
            </a:r>
          </a:p>
          <a:p>
            <a:pPr marL="0" indent="0" algn="l">
              <a:lnSpc>
                <a:spcPct val="100000"/>
              </a:lnSpc>
              <a:buNone/>
            </a:pPr>
            <a:r>
              <a:rPr sz="1400" i="1">
                <a:solidFill>
                  <a:srgbClr val="6E7781"/>
                </a:solidFill>
                <a:latin typeface="Consolas"/>
              </a:rPr>
              <a:t>&lt;!-- parent --&gt;</a:t>
            </a:r>
          </a:p>
          <a:p>
            <a:pPr marL="0" indent="0" algn="l">
              <a:lnSpc>
                <a:spcPct val="100000"/>
              </a:lnSpc>
              <a:buNone/>
            </a:pPr>
            <a:r>
              <a:rPr sz="1400">
                <a:solidFill>
                  <a:srgbClr val="116329"/>
                </a:solidFill>
                <a:latin typeface="Consolas"/>
              </a:rPr>
              <a:t>&lt;ItemList</a:t>
            </a:r>
            <a:r>
              <a:rPr sz="1400">
                <a:solidFill>
                  <a:srgbClr val="24292F"/>
                </a:solidFill>
                <a:latin typeface="Consolas"/>
              </a:rPr>
              <a:t> </a:t>
            </a:r>
            <a:r>
              <a:rPr sz="1400">
                <a:solidFill>
                  <a:srgbClr val="953800"/>
                </a:solidFill>
                <a:latin typeface="Consolas"/>
              </a:rPr>
              <a:t>:items</a:t>
            </a:r>
            <a:r>
              <a:rPr sz="1400">
                <a:solidFill>
                  <a:srgbClr val="24292F"/>
                </a:solidFill>
                <a:latin typeface="Consolas"/>
              </a:rPr>
              <a:t>=</a:t>
            </a:r>
            <a:r>
              <a:rPr sz="1400">
                <a:solidFill>
                  <a:srgbClr val="0A3069"/>
                </a:solidFill>
                <a:latin typeface="Consolas"/>
              </a:rPr>
              <a:t>"todos"</a:t>
            </a:r>
            <a:r>
              <a:rPr sz="1400">
                <a:solidFill>
                  <a:srgbClr val="116329"/>
                </a:solidFill>
                <a:latin typeface="Consolas"/>
              </a:rPr>
              <a:t>&gt;</a:t>
            </a:r>
          </a:p>
          <a:p>
            <a:pPr marL="0" indent="0" algn="l">
              <a:lnSpc>
                <a:spcPct val="100000"/>
              </a:lnSpc>
              <a:buNone/>
            </a:pPr>
            <a:r>
              <a:rPr sz="1400">
                <a:solidFill>
                  <a:srgbClr val="24292F"/>
                </a:solidFill>
                <a:latin typeface="Consolas"/>
              </a:rPr>
              <a:t>  </a:t>
            </a:r>
            <a:r>
              <a:rPr sz="1400">
                <a:solidFill>
                  <a:srgbClr val="116329"/>
                </a:solidFill>
                <a:latin typeface="Consolas"/>
              </a:rPr>
              <a:t>&lt;template</a:t>
            </a:r>
            <a:r>
              <a:rPr sz="1400">
                <a:solidFill>
                  <a:srgbClr val="24292F"/>
                </a:solidFill>
                <a:latin typeface="Consolas"/>
              </a:rPr>
              <a:t> </a:t>
            </a:r>
            <a:r>
              <a:rPr sz="1400">
                <a:solidFill>
                  <a:srgbClr val="953800"/>
                </a:solidFill>
                <a:latin typeface="Consolas"/>
              </a:rPr>
              <a:t>#item</a:t>
            </a:r>
            <a:r>
              <a:rPr sz="1400">
                <a:solidFill>
                  <a:srgbClr val="24292F"/>
                </a:solidFill>
                <a:latin typeface="Consolas"/>
              </a:rPr>
              <a:t>=</a:t>
            </a:r>
            <a:r>
              <a:rPr sz="1400">
                <a:solidFill>
                  <a:srgbClr val="0A3069"/>
                </a:solidFill>
                <a:latin typeface="Consolas"/>
              </a:rPr>
              <a:t>"{ item }"</a:t>
            </a:r>
            <a:r>
              <a:rPr sz="1400">
                <a:solidFill>
                  <a:srgbClr val="116329"/>
                </a:solidFill>
                <a:latin typeface="Consolas"/>
              </a:rPr>
              <a:t>&gt;</a:t>
            </a:r>
            <a:r>
              <a:rPr sz="1400">
                <a:solidFill>
                  <a:srgbClr val="24292F"/>
                </a:solidFill>
                <a:latin typeface="Consolas"/>
              </a:rPr>
              <a:t>{{ item.text }}</a:t>
            </a:r>
            <a:r>
              <a:rPr sz="1400">
                <a:solidFill>
                  <a:srgbClr val="116329"/>
                </a:solidFill>
                <a:latin typeface="Consolas"/>
              </a:rPr>
              <a:t>&lt;/template&gt;</a:t>
            </a:r>
          </a:p>
          <a:p>
            <a:pPr marL="0" indent="0" algn="l">
              <a:lnSpc>
                <a:spcPct val="100000"/>
              </a:lnSpc>
              <a:buNone/>
            </a:pPr>
            <a:r>
              <a:rPr sz="1400">
                <a:solidFill>
                  <a:srgbClr val="116329"/>
                </a:solidFill>
                <a:latin typeface="Consolas"/>
              </a:rPr>
              <a:t>&lt;/ItemList&gt;</a:t>
            </a:r>
          </a:p>
        </p:txBody>
      </p:sp>
      <p:sp>
        <p:nvSpPr>
          <p:cNvPr id="7" name="Body"/>
          <p:cNvSpPr txBox="1"/>
          <p:nvPr/>
        </p:nvSpPr>
        <p:spPr>
          <a:xfrm>
            <a:off x="457200" y="5823203"/>
            <a:ext cx="8229600" cy="464057"/>
          </a:xfrm>
          <a:prstGeom prst="rect">
            <a:avLst/>
          </a:prstGeom>
          <a:noFill/>
        </p:spPr>
        <p:txBody>
          <a:bodyPr wrap="square" lIns="0" tIns="0" rIns="0" bIns="0">
            <a:noAutofit/>
          </a:bodyPr>
          <a:lstStyle/>
          <a:p>
            <a:pPr marL="274320" indent="-256032">
              <a:spcAft>
                <a:spcPts val="810"/>
              </a:spcAft>
              <a:buClr>
                <a:srgbClr val="42B883"/>
              </a:buClr>
              <a:buSzPct val="100000"/>
              <a:buFont typeface="Arial"/>
              <a:buChar char="•"/>
            </a:pPr>
            <a:r>
              <a:rPr sz="1800" b="0" i="0">
                <a:solidFill>
                  <a:srgbClr val="1F2A36"/>
                </a:solidFill>
              </a:rPr>
              <a:t>Also: dynamic slot names (</a:t>
            </a:r>
            <a:r>
              <a:rPr sz="1709" b="0" i="0">
                <a:solidFill>
                  <a:srgbClr val="8A2B52"/>
                </a:solidFill>
                <a:latin typeface="Consolas"/>
              </a:rPr>
              <a:t>#[name]</a:t>
            </a:r>
            <a:r>
              <a:rPr sz="1800" b="0" i="0">
                <a:solidFill>
                  <a:srgbClr val="1F2A36"/>
                </a:solidFill>
              </a:rPr>
              <a:t>), abbreviated default slot syntax</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182</a:t>
            </a:fld>
            <a:endParaRPr lang="en-US" sz="900">
              <a:solidFill>
                <a:srgbClr val="9AA7B4"/>
              </a:solidFill>
            </a:endParaRPr>
          </a:p>
        </p:txBody>
      </p:sp>
    </p:spTree>
    <p:extLst>
      <p:ext uri="{BB962C8B-B14F-4D97-AF65-F5344CB8AC3E}">
        <p14:creationId xmlns:p14="http://schemas.microsoft.com/office/powerpoint/2010/main" val="195920741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1DF2-1F81-AA41-B253-41DE66D55A6F}"/>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Slots</a:t>
            </a:r>
          </a:p>
        </p:txBody>
      </p:sp>
      <p:sp>
        <p:nvSpPr>
          <p:cNvPr id="3" name="Chip LAB 18"/>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18</a:t>
            </a:r>
          </a:p>
        </p:txBody>
      </p:sp>
      <p:sp>
        <p:nvSpPr>
          <p:cNvPr id="4" name="Chip 2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Load popular tags from the API and display them, and each article's tags, with slots.</a:t>
            </a:r>
          </a:p>
        </p:txBody>
      </p:sp>
      <p:sp>
        <p:nvSpPr>
          <p:cNvPr id="6" name="Body"/>
          <p:cNvSpPr txBox="1"/>
          <p:nvPr/>
        </p:nvSpPr>
        <p:spPr>
          <a:xfrm>
            <a:off x="457200" y="2441448"/>
            <a:ext cx="8229600" cy="204723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Create </a:t>
            </a:r>
            <a:r>
              <a:rPr sz="2000" b="1" i="0">
                <a:solidFill>
                  <a:srgbClr val="1F2A36"/>
                </a:solidFill>
              </a:rPr>
              <a:t>TagItem</a:t>
            </a:r>
            <a:r>
              <a:rPr sz="2000" b="0" i="0">
                <a:solidFill>
                  <a:srgbClr val="1F2A36"/>
                </a:solidFill>
              </a:rPr>
              <a:t> and </a:t>
            </a:r>
            <a:r>
              <a:rPr sz="2000" b="1" i="0">
                <a:solidFill>
                  <a:srgbClr val="1F2A36"/>
                </a:solidFill>
              </a:rPr>
              <a:t>TagList</a:t>
            </a:r>
            <a:r>
              <a:rPr sz="2000" b="0" i="0">
                <a:solidFill>
                  <a:srgbClr val="1F2A36"/>
                </a:solidFill>
              </a:rPr>
              <a:t> (with a default slot and fallback text)</a:t>
            </a:r>
          </a:p>
          <a:p>
            <a:pPr marL="274320" indent="-256032">
              <a:spcAft>
                <a:spcPts val="900"/>
              </a:spcAft>
              <a:buClr>
                <a:srgbClr val="42B883"/>
              </a:buClr>
              <a:buSzPct val="100000"/>
              <a:buFont typeface="Arial"/>
              <a:buChar char="•"/>
            </a:pPr>
            <a:r>
              <a:rPr sz="2000" b="0" i="0">
                <a:solidFill>
                  <a:srgbClr val="1F2A36"/>
                </a:solidFill>
              </a:rPr>
              <a:t>Load tags from </a:t>
            </a:r>
            <a:r>
              <a:rPr sz="1900" b="0" i="0">
                <a:solidFill>
                  <a:srgbClr val="8A2B52"/>
                </a:solidFill>
                <a:latin typeface="Consolas"/>
              </a:rPr>
              <a:t>/tags</a:t>
            </a:r>
            <a:r>
              <a:rPr sz="2000" b="0" i="0">
                <a:solidFill>
                  <a:srgbClr val="1F2A36"/>
                </a:solidFill>
              </a:rPr>
              <a:t> (same base URL as articles)</a:t>
            </a:r>
          </a:p>
          <a:p>
            <a:pPr marL="274320" indent="-256032">
              <a:spcAft>
                <a:spcPts val="900"/>
              </a:spcAft>
              <a:buClr>
                <a:srgbClr val="42B883"/>
              </a:buClr>
              <a:buSzPct val="100000"/>
              <a:buFont typeface="Arial"/>
              <a:buChar char="•"/>
            </a:pPr>
            <a:r>
              <a:rPr sz="2000" b="0" i="0">
                <a:solidFill>
                  <a:srgbClr val="1F2A36"/>
                </a:solidFill>
              </a:rPr>
              <a:t>Add a named </a:t>
            </a:r>
            <a:r>
              <a:rPr sz="1900" b="0" i="0">
                <a:solidFill>
                  <a:srgbClr val="8A2B52"/>
                </a:solidFill>
                <a:latin typeface="Consolas"/>
              </a:rPr>
              <a:t>tags</a:t>
            </a:r>
            <a:r>
              <a:rPr sz="2000" b="0" i="0">
                <a:solidFill>
                  <a:srgbClr val="1F2A36"/>
                </a:solidFill>
              </a:rPr>
              <a:t> slot to ArticlePreview; fill it with </a:t>
            </a:r>
            <a:r>
              <a:rPr sz="1900" b="0" i="0">
                <a:solidFill>
                  <a:srgbClr val="8A2B52"/>
                </a:solidFill>
                <a:latin typeface="Consolas"/>
              </a:rPr>
              <a:t>#tags</a:t>
            </a:r>
          </a:p>
          <a:p>
            <a:pPr marL="274320" indent="-256032">
              <a:spcAft>
                <a:spcPts val="900"/>
              </a:spcAft>
              <a:buClr>
                <a:srgbClr val="42B883"/>
              </a:buClr>
              <a:buSzPct val="100000"/>
              <a:buFont typeface="Arial"/>
              <a:buChar char="•"/>
            </a:pPr>
            <a:r>
              <a:rPr sz="2000" b="0" i="0">
                <a:solidFill>
                  <a:srgbClr val="1F2A36"/>
                </a:solidFill>
              </a:rPr>
              <a:t>Make clicking a tag filter the article list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183</a:t>
            </a:fld>
            <a:endParaRPr lang="en-US" sz="900">
              <a:solidFill>
                <a:srgbClr val="9AA7B4"/>
              </a:solidFill>
            </a:endParaRPr>
          </a:p>
        </p:txBody>
      </p:sp>
    </p:spTree>
    <p:extLst>
      <p:ext uri="{BB962C8B-B14F-4D97-AF65-F5344CB8AC3E}">
        <p14:creationId xmlns:p14="http://schemas.microsoft.com/office/powerpoint/2010/main" val="407561249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8FF1-AC32-D744-BF31-E155CCC01E0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Loading Components Asynchronously</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Wrap a dynamic import with </a:t>
            </a:r>
            <a:r>
              <a:rPr sz="2090" b="0" i="0">
                <a:solidFill>
                  <a:srgbClr val="8A2B52"/>
                </a:solidFill>
                <a:latin typeface="Consolas"/>
              </a:rPr>
              <a:t>defineAsyncComponent</a:t>
            </a:r>
            <a:r>
              <a:rPr sz="2200" b="0" i="0">
                <a:solidFill>
                  <a:srgbClr val="1F2A36"/>
                </a:solidFill>
              </a:rPr>
              <a:t>:</a:t>
            </a:r>
          </a:p>
        </p:txBody>
      </p:sp>
      <p:sp>
        <p:nvSpPr>
          <p:cNvPr id="4" name="Code"/>
          <p:cNvSpPr/>
          <p:nvPr/>
        </p:nvSpPr>
        <p:spPr>
          <a:xfrm>
            <a:off x="457200" y="1863597"/>
            <a:ext cx="8229600" cy="13949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import</a:t>
            </a:r>
            <a:r>
              <a:rPr sz="1400">
                <a:solidFill>
                  <a:srgbClr val="24292F"/>
                </a:solidFill>
                <a:latin typeface="Consolas"/>
              </a:rPr>
              <a:t> { defineAsyncComponent } </a:t>
            </a:r>
            <a:r>
              <a:rPr sz="1400">
                <a:solidFill>
                  <a:srgbClr val="CF222E"/>
                </a:solidFill>
                <a:latin typeface="Consolas"/>
              </a:rPr>
              <a:t>from</a:t>
            </a:r>
            <a:r>
              <a:rPr sz="1400">
                <a:solidFill>
                  <a:srgbClr val="24292F"/>
                </a:solidFill>
                <a:latin typeface="Consolas"/>
              </a:rPr>
              <a:t> </a:t>
            </a:r>
            <a:r>
              <a:rPr sz="1400">
                <a:solidFill>
                  <a:srgbClr val="0A3069"/>
                </a:solidFill>
                <a:latin typeface="Consolas"/>
              </a:rPr>
              <a:t>'vue'</a:t>
            </a:r>
          </a:p>
          <a:p>
            <a:pPr marL="0" indent="0" algn="l">
              <a:lnSpc>
                <a:spcPct val="100000"/>
              </a:lnSpc>
              <a:buNone/>
            </a:pPr>
            <a:r>
              <a:rPr sz="1400">
                <a:latin typeface="Consolas"/>
              </a:rPr>
              <a:t> </a:t>
            </a:r>
          </a:p>
          <a:p>
            <a:pPr marL="0" indent="0" algn="l">
              <a:lnSpc>
                <a:spcPct val="100000"/>
              </a:lnSpc>
              <a:buNone/>
            </a:pPr>
            <a:r>
              <a:rPr sz="1400">
                <a:solidFill>
                  <a:srgbClr val="CF222E"/>
                </a:solidFill>
                <a:latin typeface="Consolas"/>
              </a:rPr>
              <a:t>const</a:t>
            </a:r>
            <a:r>
              <a:rPr sz="1400">
                <a:solidFill>
                  <a:srgbClr val="24292F"/>
                </a:solidFill>
                <a:latin typeface="Consolas"/>
              </a:rPr>
              <a:t> AsyncModal = defineAsyncComponent(() =&gt;</a:t>
            </a:r>
          </a:p>
          <a:p>
            <a:pPr marL="0" indent="0" algn="l">
              <a:lnSpc>
                <a:spcPct val="100000"/>
              </a:lnSpc>
              <a:buNone/>
            </a:pPr>
            <a:r>
              <a:rPr sz="1400">
                <a:solidFill>
                  <a:srgbClr val="24292F"/>
                </a:solidFill>
                <a:latin typeface="Consolas"/>
              </a:rPr>
              <a:t>  </a:t>
            </a:r>
            <a:r>
              <a:rPr sz="1400">
                <a:solidFill>
                  <a:srgbClr val="CF222E"/>
                </a:solidFill>
                <a:latin typeface="Consolas"/>
              </a:rPr>
              <a:t>import</a:t>
            </a:r>
            <a:r>
              <a:rPr sz="1400">
                <a:solidFill>
                  <a:srgbClr val="24292F"/>
                </a:solidFill>
                <a:latin typeface="Consolas"/>
              </a:rPr>
              <a:t>(</a:t>
            </a:r>
            <a:r>
              <a:rPr sz="1400">
                <a:solidFill>
                  <a:srgbClr val="0A3069"/>
                </a:solidFill>
                <a:latin typeface="Consolas"/>
              </a:rPr>
              <a:t>'./components/Modal.vue'</a:t>
            </a:r>
            <a:r>
              <a:rPr sz="1400">
                <a:solidFill>
                  <a:srgbClr val="24292F"/>
                </a:solidFill>
                <a:latin typeface="Consolas"/>
              </a:rPr>
              <a:t>)</a:t>
            </a:r>
          </a:p>
          <a:p>
            <a:pPr marL="0" indent="0" algn="l">
              <a:lnSpc>
                <a:spcPct val="100000"/>
              </a:lnSpc>
              <a:buNone/>
            </a:pPr>
            <a:r>
              <a:rPr sz="1400">
                <a:solidFill>
                  <a:srgbClr val="24292F"/>
                </a:solidFill>
                <a:latin typeface="Consolas"/>
              </a:rPr>
              <a:t>)</a:t>
            </a:r>
          </a:p>
        </p:txBody>
      </p:sp>
      <p:sp>
        <p:nvSpPr>
          <p:cNvPr id="5" name="Body"/>
          <p:cNvSpPr txBox="1"/>
          <p:nvPr/>
        </p:nvSpPr>
        <p:spPr>
          <a:xfrm>
            <a:off x="457200" y="3404870"/>
            <a:ext cx="8229600" cy="290220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Vite gives the component its own chunk, downloaded on first use</a:t>
            </a:r>
          </a:p>
          <a:p>
            <a:pPr marL="274320" indent="-256032">
              <a:spcAft>
                <a:spcPts val="990"/>
              </a:spcAft>
              <a:buClr>
                <a:srgbClr val="42B883"/>
              </a:buClr>
              <a:buSzPct val="100000"/>
              <a:buFont typeface="Arial"/>
              <a:buChar char="•"/>
            </a:pPr>
            <a:r>
              <a:rPr sz="2200" b="0" i="0">
                <a:solidFill>
                  <a:srgbClr val="1F2A36"/>
                </a:solidFill>
              </a:rPr>
              <a:t>Routes get this for free from a lazy route component</a:t>
            </a:r>
          </a:p>
          <a:p>
            <a:pPr marL="274320" indent="-256032">
              <a:spcAft>
                <a:spcPts val="990"/>
              </a:spcAft>
              <a:buClr>
                <a:srgbClr val="42B883"/>
              </a:buClr>
              <a:buSzPct val="100000"/>
              <a:buFont typeface="Arial"/>
              <a:buChar char="•"/>
            </a:pPr>
            <a:r>
              <a:rPr sz="2200" b="0" i="0">
                <a:solidFill>
                  <a:srgbClr val="1F2A36"/>
                </a:solidFill>
              </a:rPr>
              <a:t>Options for a loading component, an error component, delay and timeout</a:t>
            </a:r>
          </a:p>
          <a:p>
            <a:pPr marL="274320" indent="-256032">
              <a:spcAft>
                <a:spcPts val="990"/>
              </a:spcAft>
              <a:buClr>
                <a:srgbClr val="42B883"/>
              </a:buClr>
              <a:buSzPct val="100000"/>
              <a:buFont typeface="Arial"/>
              <a:buChar char="•"/>
            </a:pPr>
            <a:r>
              <a:rPr sz="2090" b="0" i="0">
                <a:solidFill>
                  <a:srgbClr val="8A2B52"/>
                </a:solidFill>
                <a:latin typeface="Consolas"/>
              </a:rPr>
              <a:t>&lt;Suspense&gt;</a:t>
            </a:r>
            <a:r>
              <a:rPr sz="2200" b="0" i="0">
                <a:solidFill>
                  <a:srgbClr val="1F2A36"/>
                </a:solidFill>
              </a:rPr>
              <a:t> can show a fallback while async components load (still marked experimental)</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184</a:t>
            </a:fld>
            <a:endParaRPr lang="en-US" sz="900">
              <a:solidFill>
                <a:srgbClr val="9AA7B4"/>
              </a:solidFill>
            </a:endParaRPr>
          </a:p>
        </p:txBody>
      </p:sp>
    </p:spTree>
    <p:extLst>
      <p:ext uri="{BB962C8B-B14F-4D97-AF65-F5344CB8AC3E}">
        <p14:creationId xmlns:p14="http://schemas.microsoft.com/office/powerpoint/2010/main" val="80577713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8452-C44B-384F-B14A-EEDA8054B320}"/>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Composables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Reusing stateful logic with plain functions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185</a:t>
            </a:fld>
            <a:endParaRPr lang="en-US" sz="900">
              <a:solidFill>
                <a:srgbClr val="9FB3C4"/>
              </a:solidFill>
            </a:endParaRPr>
          </a:p>
        </p:txBody>
      </p:sp>
    </p:spTree>
    <p:extLst>
      <p:ext uri="{BB962C8B-B14F-4D97-AF65-F5344CB8AC3E}">
        <p14:creationId xmlns:p14="http://schemas.microsoft.com/office/powerpoint/2010/main" val="402151281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2FF-5ED2-8343-AA96-690584C81E2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Composable Basics</a:t>
            </a:r>
          </a:p>
        </p:txBody>
      </p:sp>
      <p:sp>
        <p:nvSpPr>
          <p:cNvPr id="3" name="Body"/>
          <p:cNvSpPr txBox="1"/>
          <p:nvPr/>
        </p:nvSpPr>
        <p:spPr>
          <a:xfrm>
            <a:off x="457200" y="1261872"/>
            <a:ext cx="8229600" cy="277647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a:t>
            </a:r>
            <a:r>
              <a:rPr sz="2200" b="1" i="0">
                <a:solidFill>
                  <a:srgbClr val="1F2A36"/>
                </a:solidFill>
              </a:rPr>
              <a:t>composable</a:t>
            </a:r>
            <a:r>
              <a:rPr sz="2200" b="0" i="0">
                <a:solidFill>
                  <a:srgbClr val="1F2A36"/>
                </a:solidFill>
              </a:rPr>
              <a:t> is a function that uses the Composition API to encapsulate and reuse </a:t>
            </a:r>
            <a:r>
              <a:rPr sz="2200" b="1" i="0">
                <a:solidFill>
                  <a:srgbClr val="1F2A36"/>
                </a:solidFill>
              </a:rPr>
              <a:t>stateful</a:t>
            </a:r>
            <a:r>
              <a:rPr sz="2200" b="0" i="0">
                <a:solidFill>
                  <a:srgbClr val="1F2A36"/>
                </a:solidFill>
              </a:rPr>
              <a:t> logic</a:t>
            </a:r>
          </a:p>
          <a:p>
            <a:pPr marL="274320" indent="-256032">
              <a:spcAft>
                <a:spcPts val="990"/>
              </a:spcAft>
              <a:buClr>
                <a:srgbClr val="42B883"/>
              </a:buClr>
              <a:buSzPct val="100000"/>
              <a:buFont typeface="Arial"/>
              <a:buChar char="•"/>
            </a:pPr>
            <a:r>
              <a:rPr sz="2200" b="0" i="0">
                <a:solidFill>
                  <a:srgbClr val="1F2A36"/>
                </a:solidFill>
              </a:rPr>
              <a:t>By convention it's named </a:t>
            </a:r>
            <a:r>
              <a:rPr sz="2090" b="0" i="0">
                <a:solidFill>
                  <a:srgbClr val="8A2B52"/>
                </a:solidFill>
                <a:latin typeface="Consolas"/>
              </a:rPr>
              <a:t>use…</a:t>
            </a:r>
            <a:r>
              <a:rPr sz="2200" b="0" i="0">
                <a:solidFill>
                  <a:srgbClr val="1F2A36"/>
                </a:solidFill>
              </a:rPr>
              <a:t> and lives in </a:t>
            </a:r>
            <a:r>
              <a:rPr sz="2090" b="0" i="0">
                <a:solidFill>
                  <a:srgbClr val="8A2B52"/>
                </a:solidFill>
                <a:latin typeface="Consolas"/>
              </a:rPr>
              <a:t>src/composables</a:t>
            </a:r>
          </a:p>
          <a:p>
            <a:pPr marL="274320" indent="-256032">
              <a:spcAft>
                <a:spcPts val="990"/>
              </a:spcAft>
              <a:buClr>
                <a:srgbClr val="42B883"/>
              </a:buClr>
              <a:buSzPct val="100000"/>
              <a:buFont typeface="Arial"/>
              <a:buChar char="•"/>
            </a:pPr>
            <a:r>
              <a:rPr sz="2200" b="0" i="0">
                <a:solidFill>
                  <a:srgbClr val="1F2A36"/>
                </a:solidFill>
              </a:rPr>
              <a:t>It's called synchronously from </a:t>
            </a:r>
            <a:r>
              <a:rPr sz="2090" b="0" i="0">
                <a:solidFill>
                  <a:srgbClr val="8A2B52"/>
                </a:solidFill>
                <a:latin typeface="Consolas"/>
              </a:rPr>
              <a:t>&lt;script setup&gt;</a:t>
            </a:r>
            <a:r>
              <a:rPr sz="2200" b="0" i="0">
                <a:solidFill>
                  <a:srgbClr val="1F2A36"/>
                </a:solidFill>
              </a:rPr>
              <a:t>, so it can use lifecycle hooks and watchers on the caller's behalf</a:t>
            </a:r>
          </a:p>
        </p:txBody>
      </p:sp>
      <p:sp>
        <p:nvSpPr>
          <p:cNvPr id="4" name="Code"/>
          <p:cNvSpPr/>
          <p:nvPr/>
        </p:nvSpPr>
        <p:spPr>
          <a:xfrm>
            <a:off x="457200" y="4093210"/>
            <a:ext cx="8229600" cy="56819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a:solidFill>
                  <a:srgbClr val="CF222E"/>
                </a:solidFill>
                <a:latin typeface="Consolas"/>
              </a:rPr>
              <a:t>const</a:t>
            </a:r>
            <a:r>
              <a:rPr sz="1750">
                <a:solidFill>
                  <a:srgbClr val="24292F"/>
                </a:solidFill>
                <a:latin typeface="Consolas"/>
              </a:rPr>
              <a:t> { x, y } = useMouse()   </a:t>
            </a:r>
            <a:r>
              <a:rPr sz="1750" i="1">
                <a:solidFill>
                  <a:srgbClr val="6E7781"/>
                </a:solidFill>
                <a:latin typeface="Consolas"/>
              </a:rPr>
              <a:t>// reactive mouse position</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186</a:t>
            </a:fld>
            <a:endParaRPr lang="en-US" sz="900">
              <a:solidFill>
                <a:srgbClr val="9AA7B4"/>
              </a:solidFill>
            </a:endParaRPr>
          </a:p>
        </p:txBody>
      </p:sp>
    </p:spTree>
    <p:extLst>
      <p:ext uri="{BB962C8B-B14F-4D97-AF65-F5344CB8AC3E}">
        <p14:creationId xmlns:p14="http://schemas.microsoft.com/office/powerpoint/2010/main" val="166901067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5EA2C-A502-F548-86A2-89AC96A3521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Why Composables Replace Mixins</a:t>
            </a:r>
          </a:p>
        </p:txBody>
      </p:sp>
      <p:sp>
        <p:nvSpPr>
          <p:cNvPr id="3" name="Body"/>
          <p:cNvSpPr txBox="1"/>
          <p:nvPr/>
        </p:nvSpPr>
        <p:spPr>
          <a:xfrm>
            <a:off x="457200" y="1261872"/>
            <a:ext cx="8229600" cy="3027934"/>
          </a:xfrm>
          <a:prstGeom prst="rect">
            <a:avLst/>
          </a:prstGeom>
          <a:noFill/>
        </p:spPr>
        <p:txBody>
          <a:bodyPr wrap="square" lIns="0" tIns="0" rIns="0" bIns="0">
            <a:noAutofit/>
          </a:bodyPr>
          <a:lstStyle/>
          <a:p>
            <a:pPr marL="0" indent="0">
              <a:spcAft>
                <a:spcPts val="990"/>
              </a:spcAft>
              <a:buNone/>
            </a:pPr>
            <a:r>
              <a:rPr sz="2200" b="0" i="0">
                <a:solidFill>
                  <a:srgbClr val="1F2A36"/>
                </a:solidFill>
              </a:rPr>
              <a:t>A mixin merged its options into the component silently:</a:t>
            </a:r>
          </a:p>
          <a:p>
            <a:pPr marL="274320" indent="-256032">
              <a:spcAft>
                <a:spcPts val="990"/>
              </a:spcAft>
              <a:buClr>
                <a:srgbClr val="42B883"/>
              </a:buClr>
              <a:buSzPct val="100000"/>
              <a:buFont typeface="Arial"/>
              <a:buChar char="•"/>
            </a:pPr>
            <a:r>
              <a:rPr sz="2200" b="0" i="0">
                <a:solidFill>
                  <a:srgbClr val="1F2A36"/>
                </a:solidFill>
              </a:rPr>
              <a:t>You couldn't tell where an inherited property came from</a:t>
            </a:r>
          </a:p>
          <a:p>
            <a:pPr marL="274320" indent="-256032">
              <a:spcAft>
                <a:spcPts val="990"/>
              </a:spcAft>
              <a:buClr>
                <a:srgbClr val="42B883"/>
              </a:buClr>
              <a:buSzPct val="100000"/>
              <a:buFont typeface="Arial"/>
              <a:buChar char="•"/>
            </a:pPr>
            <a:r>
              <a:rPr sz="2200" b="0" i="0">
                <a:solidFill>
                  <a:srgbClr val="1F2A36"/>
                </a:solidFill>
              </a:rPr>
              <a:t>Two mixins declaring the same name collided, and a merge strategy picked the winner</a:t>
            </a:r>
          </a:p>
          <a:p>
            <a:pPr marL="274320" indent="-256032">
              <a:spcAft>
                <a:spcPts val="990"/>
              </a:spcAft>
              <a:buClr>
                <a:srgbClr val="42B883"/>
              </a:buClr>
              <a:buSzPct val="100000"/>
              <a:buFont typeface="Arial"/>
              <a:buChar char="•"/>
            </a:pPr>
            <a:r>
              <a:rPr sz="2200" b="0" i="0">
                <a:solidFill>
                  <a:srgbClr val="1F2A36"/>
                </a:solidFill>
              </a:rPr>
              <a:t>A mixin couldn't take arguments</a:t>
            </a:r>
          </a:p>
          <a:p>
            <a:pPr marL="0" indent="0">
              <a:spcAft>
                <a:spcPts val="990"/>
              </a:spcAft>
              <a:buNone/>
            </a:pPr>
            <a:r>
              <a:rPr sz="2200" b="0" i="0">
                <a:solidFill>
                  <a:srgbClr val="1F2A36"/>
                </a:solidFill>
              </a:rPr>
              <a:t>A composable takes its inputs as </a:t>
            </a:r>
            <a:r>
              <a:rPr sz="2200" b="1" i="0">
                <a:solidFill>
                  <a:srgbClr val="1F2A36"/>
                </a:solidFill>
              </a:rPr>
              <a:t>parameters</a:t>
            </a:r>
            <a:r>
              <a:rPr sz="2200" b="0" i="0">
                <a:solidFill>
                  <a:srgbClr val="1F2A36"/>
                </a:solidFill>
              </a:rPr>
              <a:t> and returns its outputs, so both ends are visible at the call site.</a:t>
            </a:r>
          </a:p>
        </p:txBody>
      </p:sp>
      <p:sp>
        <p:nvSpPr>
          <p:cNvPr id="4" name="Tip"/>
          <p:cNvSpPr/>
          <p:nvPr/>
        </p:nvSpPr>
        <p:spPr>
          <a:xfrm>
            <a:off x="457200" y="4344670"/>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Mixins still work in Vue 3, but the docs describe them as legacy.</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187</a:t>
            </a:fld>
            <a:endParaRPr lang="en-US" sz="900">
              <a:solidFill>
                <a:srgbClr val="9AA7B4"/>
              </a:solidFill>
            </a:endParaRPr>
          </a:p>
        </p:txBody>
      </p:sp>
    </p:spTree>
    <p:extLst>
      <p:ext uri="{BB962C8B-B14F-4D97-AF65-F5344CB8AC3E}">
        <p14:creationId xmlns:p14="http://schemas.microsoft.com/office/powerpoint/2010/main" val="398927892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F37B-6F8D-754C-9F73-BA4F3A6F255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Writing a Composable</a:t>
            </a:r>
          </a:p>
        </p:txBody>
      </p:sp>
      <p:sp>
        <p:nvSpPr>
          <p:cNvPr id="3" name="Code"/>
          <p:cNvSpPr/>
          <p:nvPr/>
        </p:nvSpPr>
        <p:spPr>
          <a:xfrm>
            <a:off x="457200" y="1261872"/>
            <a:ext cx="8229600" cy="47020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 src/composables/useArticleFilter.js</a:t>
            </a:r>
          </a:p>
          <a:p>
            <a:pPr marL="0" indent="0" algn="l">
              <a:lnSpc>
                <a:spcPct val="100000"/>
              </a:lnSpc>
              <a:buNone/>
            </a:pPr>
            <a:r>
              <a:rPr sz="2000">
                <a:solidFill>
                  <a:srgbClr val="CF222E"/>
                </a:solidFill>
                <a:latin typeface="Consolas"/>
              </a:rPr>
              <a:t>import</a:t>
            </a:r>
            <a:r>
              <a:rPr sz="2000">
                <a:solidFill>
                  <a:srgbClr val="24292F"/>
                </a:solidFill>
                <a:latin typeface="Consolas"/>
              </a:rPr>
              <a:t> { computed, ref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'vue'</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export</a:t>
            </a:r>
            <a:r>
              <a:rPr sz="2000">
                <a:solidFill>
                  <a:srgbClr val="24292F"/>
                </a:solidFill>
                <a:latin typeface="Consolas"/>
              </a:rPr>
              <a:t> </a:t>
            </a:r>
            <a:r>
              <a:rPr sz="2000">
                <a:solidFill>
                  <a:srgbClr val="CF222E"/>
                </a:solidFill>
                <a:latin typeface="Consolas"/>
              </a:rPr>
              <a:t>function</a:t>
            </a:r>
            <a:r>
              <a:rPr sz="2000">
                <a:solidFill>
                  <a:srgbClr val="24292F"/>
                </a:solidFill>
                <a:latin typeface="Consolas"/>
              </a:rPr>
              <a:t> useArticleFilter(articles) {</a:t>
            </a:r>
          </a:p>
          <a:p>
            <a:pPr marL="0" indent="0" algn="l">
              <a:lnSpc>
                <a:spcPct val="100000"/>
              </a:lnSpc>
              <a:buNone/>
            </a:pPr>
            <a:r>
              <a:rPr sz="2000">
                <a:solidFill>
                  <a:srgbClr val="24292F"/>
                </a:solidFill>
                <a:latin typeface="Consolas"/>
              </a:rPr>
              <a:t>  </a:t>
            </a:r>
            <a:r>
              <a:rPr sz="2000">
                <a:solidFill>
                  <a:srgbClr val="CF222E"/>
                </a:solidFill>
                <a:latin typeface="Consolas"/>
              </a:rPr>
              <a:t>const</a:t>
            </a:r>
            <a:r>
              <a:rPr sz="2000">
                <a:solidFill>
                  <a:srgbClr val="24292F"/>
                </a:solidFill>
                <a:latin typeface="Consolas"/>
              </a:rPr>
              <a:t> searchDetails = ref(</a:t>
            </a:r>
            <a:r>
              <a:rPr sz="2000">
                <a:solidFill>
                  <a:srgbClr val="0A3069"/>
                </a:solidFill>
                <a:latin typeface="Consolas"/>
              </a:rPr>
              <a:t>''</a:t>
            </a: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const</a:t>
            </a:r>
            <a:r>
              <a:rPr sz="2000">
                <a:solidFill>
                  <a:srgbClr val="24292F"/>
                </a:solidFill>
                <a:latin typeface="Consolas"/>
              </a:rPr>
              <a:t> filterIt = computed(() =&gt;</a:t>
            </a:r>
          </a:p>
          <a:p>
            <a:pPr marL="0" indent="0" algn="l">
              <a:lnSpc>
                <a:spcPct val="100000"/>
              </a:lnSpc>
              <a:buNone/>
            </a:pPr>
            <a:r>
              <a:rPr sz="2000">
                <a:solidFill>
                  <a:srgbClr val="24292F"/>
                </a:solidFill>
                <a:latin typeface="Consolas"/>
              </a:rPr>
              <a:t>    articles.value.filter((a) =&gt;</a:t>
            </a:r>
          </a:p>
          <a:p>
            <a:pPr marL="0" indent="0" algn="l">
              <a:lnSpc>
                <a:spcPct val="100000"/>
              </a:lnSpc>
              <a:buNone/>
            </a:pPr>
            <a:r>
              <a:rPr sz="2000">
                <a:solidFill>
                  <a:srgbClr val="24292F"/>
                </a:solidFill>
                <a:latin typeface="Consolas"/>
              </a:rPr>
              <a:t>      a.title.includes(searchDetails.value)</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  )</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return</a:t>
            </a:r>
            <a:r>
              <a:rPr sz="2000">
                <a:solidFill>
                  <a:srgbClr val="24292F"/>
                </a:solidFill>
                <a:latin typeface="Consolas"/>
              </a:rPr>
              <a:t> { searchDetails, filterIt }</a:t>
            </a:r>
          </a:p>
          <a:p>
            <a:pPr marL="0" indent="0" algn="l">
              <a:lnSpc>
                <a:spcPct val="100000"/>
              </a:lnSpc>
              <a:buNone/>
            </a:pPr>
            <a:r>
              <a:rPr sz="2000">
                <a:solidFill>
                  <a:srgbClr val="24292F"/>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188</a:t>
            </a:fld>
            <a:endParaRPr lang="en-US" sz="900">
              <a:solidFill>
                <a:srgbClr val="9AA7B4"/>
              </a:solidFill>
            </a:endParaRPr>
          </a:p>
        </p:txBody>
      </p:sp>
    </p:spTree>
    <p:extLst>
      <p:ext uri="{BB962C8B-B14F-4D97-AF65-F5344CB8AC3E}">
        <p14:creationId xmlns:p14="http://schemas.microsoft.com/office/powerpoint/2010/main" val="300408693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F264DD-8F60-524C-B19A-EEAC9B833148}"/>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a Composable</a:t>
            </a:r>
          </a:p>
        </p:txBody>
      </p:sp>
      <p:sp>
        <p:nvSpPr>
          <p:cNvPr id="5" name="Code"/>
          <p:cNvSpPr/>
          <p:nvPr/>
        </p:nvSpPr>
        <p:spPr>
          <a:xfrm>
            <a:off x="457200" y="1261872"/>
            <a:ext cx="8229600" cy="326110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116329"/>
                </a:solidFill>
                <a:latin typeface="Consolas"/>
              </a:rPr>
              <a:t>&lt;script</a:t>
            </a:r>
            <a:r>
              <a:rPr sz="1450">
                <a:solidFill>
                  <a:srgbClr val="24292F"/>
                </a:solidFill>
                <a:latin typeface="Consolas"/>
              </a:rPr>
              <a:t> </a:t>
            </a:r>
            <a:r>
              <a:rPr sz="1450">
                <a:solidFill>
                  <a:srgbClr val="953800"/>
                </a:solidFill>
                <a:latin typeface="Consolas"/>
              </a:rPr>
              <a:t>setup</a:t>
            </a:r>
            <a:r>
              <a:rPr sz="1450">
                <a:solidFill>
                  <a:srgbClr val="116329"/>
                </a:solidFill>
                <a:latin typeface="Consolas"/>
              </a:rPr>
              <a:t>&gt;</a:t>
            </a:r>
          </a:p>
          <a:p>
            <a:pPr marL="0" indent="0" algn="l">
              <a:lnSpc>
                <a:spcPct val="100000"/>
              </a:lnSpc>
              <a:buNone/>
            </a:pPr>
            <a:r>
              <a:rPr sz="1450">
                <a:solidFill>
                  <a:srgbClr val="CF222E"/>
                </a:solidFill>
                <a:latin typeface="Consolas"/>
              </a:rPr>
              <a:t>import</a:t>
            </a:r>
            <a:r>
              <a:rPr sz="1450">
                <a:solidFill>
                  <a:srgbClr val="24292F"/>
                </a:solidFill>
                <a:latin typeface="Consolas"/>
              </a:rPr>
              <a:t> { ref } </a:t>
            </a:r>
            <a:r>
              <a:rPr sz="1450">
                <a:solidFill>
                  <a:srgbClr val="CF222E"/>
                </a:solidFill>
                <a:latin typeface="Consolas"/>
              </a:rPr>
              <a:t>from</a:t>
            </a:r>
            <a:r>
              <a:rPr sz="1450">
                <a:solidFill>
                  <a:srgbClr val="24292F"/>
                </a:solidFill>
                <a:latin typeface="Consolas"/>
              </a:rPr>
              <a:t> </a:t>
            </a:r>
            <a:r>
              <a:rPr sz="1450">
                <a:solidFill>
                  <a:srgbClr val="0A3069"/>
                </a:solidFill>
                <a:latin typeface="Consolas"/>
              </a:rPr>
              <a:t>'vue'</a:t>
            </a:r>
          </a:p>
          <a:p>
            <a:pPr marL="0" indent="0" algn="l">
              <a:lnSpc>
                <a:spcPct val="100000"/>
              </a:lnSpc>
              <a:buNone/>
            </a:pPr>
            <a:r>
              <a:rPr sz="1450">
                <a:solidFill>
                  <a:srgbClr val="CF222E"/>
                </a:solidFill>
                <a:latin typeface="Consolas"/>
              </a:rPr>
              <a:t>import</a:t>
            </a:r>
            <a:r>
              <a:rPr sz="1450">
                <a:solidFill>
                  <a:srgbClr val="24292F"/>
                </a:solidFill>
                <a:latin typeface="Consolas"/>
              </a:rPr>
              <a:t> { useArticleFilter } </a:t>
            </a:r>
            <a:r>
              <a:rPr sz="1450">
                <a:solidFill>
                  <a:srgbClr val="CF222E"/>
                </a:solidFill>
                <a:latin typeface="Consolas"/>
              </a:rPr>
              <a:t>from</a:t>
            </a:r>
            <a:r>
              <a:rPr sz="1450">
                <a:solidFill>
                  <a:srgbClr val="24292F"/>
                </a:solidFill>
                <a:latin typeface="Consolas"/>
              </a:rPr>
              <a:t> </a:t>
            </a:r>
            <a:r>
              <a:rPr sz="1450">
                <a:solidFill>
                  <a:srgbClr val="0A3069"/>
                </a:solidFill>
                <a:latin typeface="Consolas"/>
              </a:rPr>
              <a:t>'@/composables/useArticleFilter'</a:t>
            </a:r>
          </a:p>
          <a:p>
            <a:pPr marL="0" indent="0" algn="l">
              <a:lnSpc>
                <a:spcPct val="100000"/>
              </a:lnSpc>
              <a:buNone/>
            </a:pPr>
            <a:r>
              <a:rPr sz="1450">
                <a:latin typeface="Consolas"/>
              </a:rPr>
              <a:t> </a:t>
            </a:r>
          </a:p>
          <a:p>
            <a:pPr marL="0" indent="0" algn="l">
              <a:lnSpc>
                <a:spcPct val="100000"/>
              </a:lnSpc>
              <a:buNone/>
            </a:pPr>
            <a:r>
              <a:rPr sz="1450">
                <a:solidFill>
                  <a:srgbClr val="CF222E"/>
                </a:solidFill>
                <a:latin typeface="Consolas"/>
              </a:rPr>
              <a:t>const</a:t>
            </a:r>
            <a:r>
              <a:rPr sz="1450">
                <a:solidFill>
                  <a:srgbClr val="24292F"/>
                </a:solidFill>
                <a:latin typeface="Consolas"/>
              </a:rPr>
              <a:t> articles = ref([])</a:t>
            </a:r>
          </a:p>
          <a:p>
            <a:pPr marL="0" indent="0" algn="l">
              <a:lnSpc>
                <a:spcPct val="100000"/>
              </a:lnSpc>
              <a:buNone/>
            </a:pPr>
            <a:r>
              <a:rPr sz="1450">
                <a:latin typeface="Consolas"/>
              </a:rPr>
              <a:t> </a:t>
            </a:r>
          </a:p>
          <a:p>
            <a:pPr marL="0" indent="0" algn="l">
              <a:lnSpc>
                <a:spcPct val="100000"/>
              </a:lnSpc>
              <a:buNone/>
            </a:pPr>
            <a:r>
              <a:rPr sz="1450">
                <a:solidFill>
                  <a:srgbClr val="CF222E"/>
                </a:solidFill>
                <a:latin typeface="Consolas"/>
              </a:rPr>
              <a:t>const</a:t>
            </a:r>
            <a:r>
              <a:rPr sz="1450">
                <a:solidFill>
                  <a:srgbClr val="24292F"/>
                </a:solidFill>
                <a:latin typeface="Consolas"/>
              </a:rPr>
              <a:t> { searchDetails, filterIt } = useArticleFilter(articles)</a:t>
            </a:r>
          </a:p>
          <a:p>
            <a:pPr marL="0" indent="0" algn="l">
              <a:lnSpc>
                <a:spcPct val="100000"/>
              </a:lnSpc>
              <a:buNone/>
            </a:pPr>
            <a:r>
              <a:rPr sz="1450">
                <a:solidFill>
                  <a:srgbClr val="116329"/>
                </a:solidFill>
                <a:latin typeface="Consolas"/>
              </a:rPr>
              <a:t>&lt;/script&gt;</a:t>
            </a:r>
          </a:p>
          <a:p>
            <a:pPr marL="0" indent="0" algn="l">
              <a:lnSpc>
                <a:spcPct val="100000"/>
              </a:lnSpc>
              <a:buNone/>
            </a:pPr>
            <a:r>
              <a:rPr sz="1450">
                <a:latin typeface="Consolas"/>
              </a:rPr>
              <a:t> </a:t>
            </a:r>
          </a:p>
          <a:p>
            <a:pPr marL="0" indent="0" algn="l">
              <a:lnSpc>
                <a:spcPct val="100000"/>
              </a:lnSpc>
              <a:buNone/>
            </a:pPr>
            <a:r>
              <a:rPr sz="1450">
                <a:solidFill>
                  <a:srgbClr val="116329"/>
                </a:solidFill>
                <a:latin typeface="Consolas"/>
              </a:rPr>
              <a:t>&lt;template&gt;</a:t>
            </a:r>
          </a:p>
          <a:p>
            <a:pPr marL="0" indent="0" algn="l">
              <a:lnSpc>
                <a:spcPct val="100000"/>
              </a:lnSpc>
              <a:buNone/>
            </a:pPr>
            <a:r>
              <a:rPr sz="1450">
                <a:solidFill>
                  <a:srgbClr val="24292F"/>
                </a:solidFill>
                <a:latin typeface="Consolas"/>
              </a:rPr>
              <a:t>  </a:t>
            </a:r>
            <a:r>
              <a:rPr sz="1450">
                <a:solidFill>
                  <a:srgbClr val="116329"/>
                </a:solidFill>
                <a:latin typeface="Consolas"/>
              </a:rPr>
              <a:t>&lt;input</a:t>
            </a:r>
            <a:r>
              <a:rPr sz="1450">
                <a:solidFill>
                  <a:srgbClr val="24292F"/>
                </a:solidFill>
                <a:latin typeface="Consolas"/>
              </a:rPr>
              <a:t> </a:t>
            </a:r>
            <a:r>
              <a:rPr sz="1450">
                <a:solidFill>
                  <a:srgbClr val="953800"/>
                </a:solidFill>
                <a:latin typeface="Consolas"/>
              </a:rPr>
              <a:t>v-model</a:t>
            </a:r>
            <a:r>
              <a:rPr sz="1450">
                <a:solidFill>
                  <a:srgbClr val="24292F"/>
                </a:solidFill>
                <a:latin typeface="Consolas"/>
              </a:rPr>
              <a:t>=</a:t>
            </a:r>
            <a:r>
              <a:rPr sz="1450">
                <a:solidFill>
                  <a:srgbClr val="0A3069"/>
                </a:solidFill>
                <a:latin typeface="Consolas"/>
              </a:rPr>
              <a:t>"searchDetails"</a:t>
            </a:r>
            <a:r>
              <a:rPr sz="1450">
                <a:solidFill>
                  <a:srgbClr val="116329"/>
                </a:solidFill>
                <a:latin typeface="Consolas"/>
              </a:rPr>
              <a:t>&gt;</a:t>
            </a:r>
          </a:p>
          <a:p>
            <a:pPr marL="0" indent="0" algn="l">
              <a:lnSpc>
                <a:spcPct val="100000"/>
              </a:lnSpc>
              <a:buNone/>
            </a:pPr>
            <a:r>
              <a:rPr sz="1450">
                <a:solidFill>
                  <a:srgbClr val="24292F"/>
                </a:solidFill>
                <a:latin typeface="Consolas"/>
              </a:rPr>
              <a:t>  </a:t>
            </a:r>
            <a:r>
              <a:rPr sz="1450">
                <a:solidFill>
                  <a:srgbClr val="116329"/>
                </a:solidFill>
                <a:latin typeface="Consolas"/>
              </a:rPr>
              <a:t>&lt;ArticlePreview</a:t>
            </a:r>
            <a:r>
              <a:rPr sz="1450">
                <a:solidFill>
                  <a:srgbClr val="24292F"/>
                </a:solidFill>
                <a:latin typeface="Consolas"/>
              </a:rPr>
              <a:t> </a:t>
            </a:r>
            <a:r>
              <a:rPr sz="1450">
                <a:solidFill>
                  <a:srgbClr val="953800"/>
                </a:solidFill>
                <a:latin typeface="Consolas"/>
              </a:rPr>
              <a:t>v-for</a:t>
            </a:r>
            <a:r>
              <a:rPr sz="1450">
                <a:solidFill>
                  <a:srgbClr val="24292F"/>
                </a:solidFill>
                <a:latin typeface="Consolas"/>
              </a:rPr>
              <a:t>=</a:t>
            </a:r>
            <a:r>
              <a:rPr sz="1450">
                <a:solidFill>
                  <a:srgbClr val="0A3069"/>
                </a:solidFill>
                <a:latin typeface="Consolas"/>
              </a:rPr>
              <a:t>"a in filterIt"</a:t>
            </a:r>
            <a:r>
              <a:rPr sz="1450">
                <a:solidFill>
                  <a:srgbClr val="24292F"/>
                </a:solidFill>
                <a:latin typeface="Consolas"/>
              </a:rPr>
              <a:t> </a:t>
            </a:r>
            <a:r>
              <a:rPr sz="1450">
                <a:solidFill>
                  <a:srgbClr val="953800"/>
                </a:solidFill>
                <a:latin typeface="Consolas"/>
              </a:rPr>
              <a:t>:key</a:t>
            </a:r>
            <a:r>
              <a:rPr sz="1450">
                <a:solidFill>
                  <a:srgbClr val="24292F"/>
                </a:solidFill>
                <a:latin typeface="Consolas"/>
              </a:rPr>
              <a:t>=</a:t>
            </a:r>
            <a:r>
              <a:rPr sz="1450">
                <a:solidFill>
                  <a:srgbClr val="0A3069"/>
                </a:solidFill>
                <a:latin typeface="Consolas"/>
              </a:rPr>
              <a:t>"a.slug"</a:t>
            </a:r>
            <a:r>
              <a:rPr sz="1450">
                <a:solidFill>
                  <a:srgbClr val="24292F"/>
                </a:solidFill>
                <a:latin typeface="Consolas"/>
              </a:rPr>
              <a:t> </a:t>
            </a:r>
            <a:r>
              <a:rPr sz="1450">
                <a:solidFill>
                  <a:srgbClr val="953800"/>
                </a:solidFill>
                <a:latin typeface="Consolas"/>
              </a:rPr>
              <a:t>:article</a:t>
            </a:r>
            <a:r>
              <a:rPr sz="1450">
                <a:solidFill>
                  <a:srgbClr val="24292F"/>
                </a:solidFill>
                <a:latin typeface="Consolas"/>
              </a:rPr>
              <a:t>=</a:t>
            </a:r>
            <a:r>
              <a:rPr sz="1450">
                <a:solidFill>
                  <a:srgbClr val="0A3069"/>
                </a:solidFill>
                <a:latin typeface="Consolas"/>
              </a:rPr>
              <a:t>"a"</a:t>
            </a:r>
            <a:r>
              <a:rPr sz="1450">
                <a:solidFill>
                  <a:srgbClr val="24292F"/>
                </a:solidFill>
                <a:latin typeface="Consolas"/>
              </a:rPr>
              <a:t> </a:t>
            </a:r>
            <a:r>
              <a:rPr sz="1450">
                <a:solidFill>
                  <a:srgbClr val="116329"/>
                </a:solidFill>
                <a:latin typeface="Consolas"/>
              </a:rPr>
              <a:t>/&gt;</a:t>
            </a:r>
          </a:p>
          <a:p>
            <a:pPr marL="0" indent="0" algn="l">
              <a:lnSpc>
                <a:spcPct val="100000"/>
              </a:lnSpc>
              <a:buNone/>
            </a:pPr>
            <a:r>
              <a:rPr sz="1450">
                <a:solidFill>
                  <a:srgbClr val="116329"/>
                </a:solidFill>
                <a:latin typeface="Consolas"/>
              </a:rPr>
              <a:t>&lt;/template&gt;</a:t>
            </a:r>
          </a:p>
        </p:txBody>
      </p:sp>
      <p:sp>
        <p:nvSpPr>
          <p:cNvPr id="6" name="Tip"/>
          <p:cNvSpPr/>
          <p:nvPr/>
        </p:nvSpPr>
        <p:spPr>
          <a:xfrm>
            <a:off x="457200" y="466928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Called twice, you get two independent filters — something a mixin could never do.</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189</a:t>
            </a:fld>
            <a:endParaRPr lang="en-US" sz="900">
              <a:solidFill>
                <a:srgbClr val="9AA7B4"/>
              </a:solidFill>
            </a:endParaRPr>
          </a:p>
        </p:txBody>
      </p:sp>
    </p:spTree>
    <p:extLst>
      <p:ext uri="{BB962C8B-B14F-4D97-AF65-F5344CB8AC3E}">
        <p14:creationId xmlns:p14="http://schemas.microsoft.com/office/powerpoint/2010/main" val="1110491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99EC5C-C53F-494D-AAD3-409AC041B87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Composable Conventions</a:t>
            </a:r>
          </a:p>
        </p:txBody>
      </p:sp>
      <p:sp>
        <p:nvSpPr>
          <p:cNvPr id="5" name="Body"/>
          <p:cNvSpPr txBox="1"/>
          <p:nvPr/>
        </p:nvSpPr>
        <p:spPr>
          <a:xfrm>
            <a:off x="457200" y="1261872"/>
            <a:ext cx="8229600" cy="302793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Name it </a:t>
            </a:r>
            <a:r>
              <a:rPr sz="2090" b="1" i="0">
                <a:solidFill>
                  <a:srgbClr val="8A2B52"/>
                </a:solidFill>
                <a:latin typeface="Consolas"/>
              </a:rPr>
              <a:t>use…</a:t>
            </a:r>
            <a:r>
              <a:rPr sz="2200" b="0" i="0">
                <a:solidFill>
                  <a:srgbClr val="1F2A36"/>
                </a:solidFill>
              </a:rPr>
              <a:t> so readers know it may register hooks</a:t>
            </a:r>
          </a:p>
          <a:p>
            <a:pPr marL="274320" indent="-256032">
              <a:spcAft>
                <a:spcPts val="990"/>
              </a:spcAft>
              <a:buClr>
                <a:srgbClr val="42B883"/>
              </a:buClr>
              <a:buSzPct val="100000"/>
              <a:buFont typeface="Arial"/>
              <a:buChar char="•"/>
            </a:pPr>
            <a:r>
              <a:rPr sz="2200" b="1" i="0">
                <a:solidFill>
                  <a:srgbClr val="1F2A36"/>
                </a:solidFill>
              </a:rPr>
              <a:t>Call it synchronously from setup</a:t>
            </a:r>
            <a:r>
              <a:rPr sz="2200" b="0" i="0">
                <a:solidFill>
                  <a:srgbClr val="1F2A36"/>
                </a:solidFill>
              </a:rPr>
              <a:t>, never in a callback or after </a:t>
            </a:r>
            <a:r>
              <a:rPr sz="2090" b="0" i="0">
                <a:solidFill>
                  <a:srgbClr val="8A2B52"/>
                </a:solidFill>
                <a:latin typeface="Consolas"/>
              </a:rPr>
              <a:t>await</a:t>
            </a:r>
          </a:p>
          <a:p>
            <a:pPr marL="274320" indent="-256032">
              <a:spcAft>
                <a:spcPts val="990"/>
              </a:spcAft>
              <a:buClr>
                <a:srgbClr val="42B883"/>
              </a:buClr>
              <a:buSzPct val="100000"/>
              <a:buFont typeface="Arial"/>
              <a:buChar char="•"/>
            </a:pPr>
            <a:r>
              <a:rPr sz="2200" b="1" i="0">
                <a:solidFill>
                  <a:srgbClr val="1F2A36"/>
                </a:solidFill>
              </a:rPr>
              <a:t>Accept refs or getters</a:t>
            </a:r>
            <a:r>
              <a:rPr sz="2200" b="0" i="0">
                <a:solidFill>
                  <a:srgbClr val="1F2A36"/>
                </a:solidFill>
              </a:rPr>
              <a:t> as arguments so callers can pass live state; </a:t>
            </a:r>
            <a:r>
              <a:rPr sz="2090" b="0" i="0">
                <a:solidFill>
                  <a:srgbClr val="8A2B52"/>
                </a:solidFill>
                <a:latin typeface="Consolas"/>
              </a:rPr>
              <a:t>toValue()</a:t>
            </a:r>
            <a:r>
              <a:rPr sz="2200" b="0" i="0">
                <a:solidFill>
                  <a:srgbClr val="1F2A36"/>
                </a:solidFill>
              </a:rPr>
              <a:t> normalizes them</a:t>
            </a:r>
          </a:p>
          <a:p>
            <a:pPr marL="274320" indent="-256032">
              <a:spcAft>
                <a:spcPts val="990"/>
              </a:spcAft>
              <a:buClr>
                <a:srgbClr val="42B883"/>
              </a:buClr>
              <a:buSzPct val="100000"/>
              <a:buFont typeface="Arial"/>
              <a:buChar char="•"/>
            </a:pPr>
            <a:r>
              <a:rPr sz="2200" b="1" i="0">
                <a:solidFill>
                  <a:srgbClr val="1F2A36"/>
                </a:solidFill>
              </a:rPr>
              <a:t>Return plain refs</a:t>
            </a:r>
            <a:r>
              <a:rPr sz="2200" b="0" i="0">
                <a:solidFill>
                  <a:srgbClr val="1F2A36"/>
                </a:solidFill>
              </a:rPr>
              <a:t>, so the caller can destructure freely</a:t>
            </a:r>
          </a:p>
          <a:p>
            <a:pPr marL="274320" indent="-256032">
              <a:spcAft>
                <a:spcPts val="990"/>
              </a:spcAft>
              <a:buClr>
                <a:srgbClr val="42B883"/>
              </a:buClr>
              <a:buSzPct val="100000"/>
              <a:buFont typeface="Arial"/>
              <a:buChar char="•"/>
            </a:pPr>
            <a:r>
              <a:rPr sz="2200" b="1" i="0">
                <a:solidFill>
                  <a:srgbClr val="1F2A36"/>
                </a:solidFill>
              </a:rPr>
              <a:t>Clean up after yourself</a:t>
            </a:r>
            <a:r>
              <a:rPr sz="2200" b="0" i="0">
                <a:solidFill>
                  <a:srgbClr val="1F2A36"/>
                </a:solidFill>
              </a:rPr>
              <a:t> in </a:t>
            </a:r>
            <a:r>
              <a:rPr sz="2090" b="0" i="0">
                <a:solidFill>
                  <a:srgbClr val="8A2B52"/>
                </a:solidFill>
                <a:latin typeface="Consolas"/>
              </a:rPr>
              <a:t>onUnmounted</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190</a:t>
            </a:fld>
            <a:endParaRPr lang="en-US" sz="900">
              <a:solidFill>
                <a:srgbClr val="9AA7B4"/>
              </a:solidFill>
            </a:endParaRPr>
          </a:p>
        </p:txBody>
      </p:sp>
    </p:spTree>
    <p:extLst>
      <p:ext uri="{BB962C8B-B14F-4D97-AF65-F5344CB8AC3E}">
        <p14:creationId xmlns:p14="http://schemas.microsoft.com/office/powerpoint/2010/main" val="296307777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B5F9-1178-A04C-90B9-518AAD9BC8A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Community Composables</a:t>
            </a:r>
          </a:p>
        </p:txBody>
      </p:sp>
      <p:sp>
        <p:nvSpPr>
          <p:cNvPr id="3" name="Body"/>
          <p:cNvSpPr txBox="1"/>
          <p:nvPr/>
        </p:nvSpPr>
        <p:spPr>
          <a:xfrm>
            <a:off x="457200" y="1261872"/>
            <a:ext cx="8229600" cy="213575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VueUse</a:t>
            </a:r>
            <a:r>
              <a:rPr sz="2200" b="0" i="0">
                <a:solidFill>
                  <a:srgbClr val="1F2A36"/>
                </a:solidFill>
              </a:rPr>
              <a:t> — a large collection of ready-made composables</a:t>
            </a:r>
          </a:p>
          <a:p>
            <a:pPr marL="566928" indent="-256032">
              <a:spcAft>
                <a:spcPts val="855"/>
              </a:spcAft>
              <a:buClr>
                <a:srgbClr val="6B7B8C"/>
              </a:buClr>
              <a:buSzPct val="100000"/>
              <a:buFont typeface="Arial"/>
              <a:buChar char="–"/>
            </a:pPr>
            <a:r>
              <a:rPr sz="1805" b="0" i="0">
                <a:solidFill>
                  <a:srgbClr val="8A2B52"/>
                </a:solidFill>
                <a:latin typeface="Consolas"/>
              </a:rPr>
              <a:t>useLocalStorage</a:t>
            </a:r>
            <a:r>
              <a:rPr sz="1900" b="0" i="0">
                <a:solidFill>
                  <a:srgbClr val="3A4A5A"/>
                </a:solidFill>
              </a:rPr>
              <a:t>, </a:t>
            </a:r>
            <a:r>
              <a:rPr sz="1805" b="0" i="0">
                <a:solidFill>
                  <a:srgbClr val="8A2B52"/>
                </a:solidFill>
                <a:latin typeface="Consolas"/>
              </a:rPr>
              <a:t>useFetch</a:t>
            </a:r>
            <a:r>
              <a:rPr sz="1900" b="0" i="0">
                <a:solidFill>
                  <a:srgbClr val="3A4A5A"/>
                </a:solidFill>
              </a:rPr>
              <a:t>, </a:t>
            </a:r>
            <a:r>
              <a:rPr sz="1805" b="0" i="0">
                <a:solidFill>
                  <a:srgbClr val="8A2B52"/>
                </a:solidFill>
                <a:latin typeface="Consolas"/>
              </a:rPr>
              <a:t>useMediaQuery</a:t>
            </a:r>
            <a:r>
              <a:rPr sz="1900" b="0" i="0">
                <a:solidFill>
                  <a:srgbClr val="3A4A5A"/>
                </a:solidFill>
              </a:rPr>
              <a:t>, </a:t>
            </a:r>
            <a:r>
              <a:rPr sz="1805" b="0" i="0">
                <a:solidFill>
                  <a:srgbClr val="8A2B52"/>
                </a:solidFill>
                <a:latin typeface="Consolas"/>
              </a:rPr>
              <a:t>useDebounceFn</a:t>
            </a:r>
            <a:r>
              <a:rPr sz="1900" b="0" i="0">
                <a:solidFill>
                  <a:srgbClr val="3A4A5A"/>
                </a:solidFill>
              </a:rPr>
              <a:t>, </a:t>
            </a:r>
            <a:r>
              <a:rPr sz="1805" b="0" i="0">
                <a:solidFill>
                  <a:srgbClr val="8A2B52"/>
                </a:solidFill>
                <a:latin typeface="Consolas"/>
              </a:rPr>
              <a:t>useIntersectionObserver</a:t>
            </a:r>
            <a:r>
              <a:rPr sz="1900" b="0" i="0">
                <a:solidFill>
                  <a:srgbClr val="3A4A5A"/>
                </a:solidFill>
              </a:rPr>
              <a:t>, …</a:t>
            </a:r>
          </a:p>
          <a:p>
            <a:pPr marL="274320" indent="-256032">
              <a:spcAft>
                <a:spcPts val="990"/>
              </a:spcAft>
              <a:buClr>
                <a:srgbClr val="42B883"/>
              </a:buClr>
              <a:buSzPct val="100000"/>
              <a:buFont typeface="Arial"/>
              <a:buChar char="•"/>
            </a:pPr>
            <a:r>
              <a:rPr sz="2200" b="0" i="0">
                <a:solidFill>
                  <a:srgbClr val="1F2A36"/>
                </a:solidFill>
              </a:rPr>
              <a:t>Worth checking before writing your own</a:t>
            </a:r>
          </a:p>
          <a:p>
            <a:pPr marL="274320" indent="-256032">
              <a:spcAft>
                <a:spcPts val="990"/>
              </a:spcAft>
              <a:buClr>
                <a:srgbClr val="42B883"/>
              </a:buClr>
              <a:buSzPct val="100000"/>
              <a:buFont typeface="Arial"/>
              <a:buChar char="•"/>
            </a:pPr>
            <a:r>
              <a:rPr sz="2200" b="1" i="0">
                <a:solidFill>
                  <a:srgbClr val="1F2A36"/>
                </a:solidFill>
              </a:rPr>
              <a:t>vueuse.org</a:t>
            </a:r>
          </a:p>
        </p:txBody>
      </p:sp>
      <p:sp>
        <p:nvSpPr>
          <p:cNvPr id="4" name="Code"/>
          <p:cNvSpPr/>
          <p:nvPr/>
        </p:nvSpPr>
        <p:spPr>
          <a:xfrm>
            <a:off x="457200" y="3452495"/>
            <a:ext cx="8229600" cy="977645"/>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CF222E"/>
                </a:solidFill>
                <a:latin typeface="Consolas"/>
              </a:rPr>
              <a:t>import</a:t>
            </a:r>
            <a:r>
              <a:rPr sz="1450">
                <a:solidFill>
                  <a:srgbClr val="24292F"/>
                </a:solidFill>
                <a:latin typeface="Consolas"/>
              </a:rPr>
              <a:t> { useLocalStorage } </a:t>
            </a:r>
            <a:r>
              <a:rPr sz="1450">
                <a:solidFill>
                  <a:srgbClr val="CF222E"/>
                </a:solidFill>
                <a:latin typeface="Consolas"/>
              </a:rPr>
              <a:t>from</a:t>
            </a:r>
            <a:r>
              <a:rPr sz="1450">
                <a:solidFill>
                  <a:srgbClr val="24292F"/>
                </a:solidFill>
                <a:latin typeface="Consolas"/>
              </a:rPr>
              <a:t> </a:t>
            </a:r>
            <a:r>
              <a:rPr sz="1450">
                <a:solidFill>
                  <a:srgbClr val="0A3069"/>
                </a:solidFill>
                <a:latin typeface="Consolas"/>
              </a:rPr>
              <a:t>'@vueuse/core'</a:t>
            </a:r>
          </a:p>
          <a:p>
            <a:pPr marL="0" indent="0" algn="l">
              <a:lnSpc>
                <a:spcPct val="100000"/>
              </a:lnSpc>
              <a:buNone/>
            </a:pPr>
            <a:r>
              <a:rPr sz="1450">
                <a:latin typeface="Consolas"/>
              </a:rPr>
              <a:t> </a:t>
            </a:r>
          </a:p>
          <a:p>
            <a:pPr marL="0" indent="0" algn="l">
              <a:lnSpc>
                <a:spcPct val="100000"/>
              </a:lnSpc>
              <a:buNone/>
            </a:pPr>
            <a:r>
              <a:rPr sz="1450">
                <a:solidFill>
                  <a:srgbClr val="CF222E"/>
                </a:solidFill>
                <a:latin typeface="Consolas"/>
              </a:rPr>
              <a:t>const</a:t>
            </a:r>
            <a:r>
              <a:rPr sz="1450">
                <a:solidFill>
                  <a:srgbClr val="24292F"/>
                </a:solidFill>
                <a:latin typeface="Consolas"/>
              </a:rPr>
              <a:t> theme = useLocalStorage(</a:t>
            </a:r>
            <a:r>
              <a:rPr sz="1450">
                <a:solidFill>
                  <a:srgbClr val="0A3069"/>
                </a:solidFill>
                <a:latin typeface="Consolas"/>
              </a:rPr>
              <a:t>'theme'</a:t>
            </a:r>
            <a:r>
              <a:rPr sz="1450">
                <a:solidFill>
                  <a:srgbClr val="24292F"/>
                </a:solidFill>
                <a:latin typeface="Consolas"/>
              </a:rPr>
              <a:t>, </a:t>
            </a:r>
            <a:r>
              <a:rPr sz="1450">
                <a:solidFill>
                  <a:srgbClr val="0A3069"/>
                </a:solidFill>
                <a:latin typeface="Consolas"/>
              </a:rPr>
              <a:t>'light'</a:t>
            </a:r>
            <a:r>
              <a:rPr sz="1450">
                <a:solidFill>
                  <a:srgbClr val="24292F"/>
                </a:solidFill>
                <a:latin typeface="Consolas"/>
              </a:rPr>
              <a:t>)   </a:t>
            </a:r>
            <a:r>
              <a:rPr sz="1450" i="1">
                <a:solidFill>
                  <a:srgbClr val="6E7781"/>
                </a:solidFill>
                <a:latin typeface="Consolas"/>
              </a:rPr>
              <a:t>// a ref, persisted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191</a:t>
            </a:fld>
            <a:endParaRPr lang="en-US" sz="900">
              <a:solidFill>
                <a:srgbClr val="9AA7B4"/>
              </a:solidFill>
            </a:endParaRPr>
          </a:p>
        </p:txBody>
      </p:sp>
    </p:spTree>
    <p:extLst>
      <p:ext uri="{BB962C8B-B14F-4D97-AF65-F5344CB8AC3E}">
        <p14:creationId xmlns:p14="http://schemas.microsoft.com/office/powerpoint/2010/main" val="103042743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39FB3-B91B-494F-AC50-AC4B7BA817BB}"/>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Composables</a:t>
            </a:r>
          </a:p>
        </p:txBody>
      </p:sp>
      <p:sp>
        <p:nvSpPr>
          <p:cNvPr id="3" name="Chip LAB 19"/>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19</a:t>
            </a:r>
          </a:p>
        </p:txBody>
      </p:sp>
      <p:sp>
        <p:nvSpPr>
          <p:cNvPr id="4" name="Chip 2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25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Extract the article filter into a reusable composable.</a:t>
            </a:r>
          </a:p>
        </p:txBody>
      </p:sp>
      <p:sp>
        <p:nvSpPr>
          <p:cNvPr id="6" name="Body"/>
          <p:cNvSpPr txBox="1"/>
          <p:nvPr/>
        </p:nvSpPr>
        <p:spPr>
          <a:xfrm>
            <a:off x="457200" y="2167128"/>
            <a:ext cx="8229600" cy="246125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Create </a:t>
            </a:r>
            <a:r>
              <a:rPr sz="1900" b="0" i="0">
                <a:solidFill>
                  <a:srgbClr val="8A2B52"/>
                </a:solidFill>
                <a:latin typeface="Consolas"/>
              </a:rPr>
              <a:t>src/composables/useArticleFilter.js</a:t>
            </a:r>
          </a:p>
          <a:p>
            <a:pPr marL="274320" indent="-256032">
              <a:spcAft>
                <a:spcPts val="900"/>
              </a:spcAft>
              <a:buClr>
                <a:srgbClr val="42B883"/>
              </a:buClr>
              <a:buSzPct val="100000"/>
              <a:buFont typeface="Arial"/>
              <a:buChar char="•"/>
            </a:pPr>
            <a:r>
              <a:rPr sz="2000" b="0" i="0">
                <a:solidFill>
                  <a:srgbClr val="1F2A36"/>
                </a:solidFill>
              </a:rPr>
              <a:t>Move </a:t>
            </a:r>
            <a:r>
              <a:rPr sz="1900" b="0" i="0">
                <a:solidFill>
                  <a:srgbClr val="8A2B52"/>
                </a:solidFill>
                <a:latin typeface="Consolas"/>
              </a:rPr>
              <a:t>searchDetails</a:t>
            </a:r>
            <a:r>
              <a:rPr sz="2000" b="0" i="0">
                <a:solidFill>
                  <a:srgbClr val="1F2A36"/>
                </a:solidFill>
              </a:rPr>
              <a:t> and </a:t>
            </a:r>
            <a:r>
              <a:rPr sz="1900" b="0" i="0">
                <a:solidFill>
                  <a:srgbClr val="8A2B52"/>
                </a:solidFill>
                <a:latin typeface="Consolas"/>
              </a:rPr>
              <a:t>filterIt</a:t>
            </a:r>
            <a:r>
              <a:rPr sz="2000" b="0" i="0">
                <a:solidFill>
                  <a:srgbClr val="1F2A36"/>
                </a:solidFill>
              </a:rPr>
              <a:t> into it</a:t>
            </a:r>
          </a:p>
          <a:p>
            <a:pPr marL="274320" indent="-256032">
              <a:spcAft>
                <a:spcPts val="900"/>
              </a:spcAft>
              <a:buClr>
                <a:srgbClr val="42B883"/>
              </a:buClr>
              <a:buSzPct val="100000"/>
              <a:buFont typeface="Arial"/>
              <a:buChar char="•"/>
            </a:pPr>
            <a:r>
              <a:rPr sz="2000" b="0" i="0">
                <a:solidFill>
                  <a:srgbClr val="1F2A36"/>
                </a:solidFill>
              </a:rPr>
              <a:t>Call it from ArticleList: </a:t>
            </a:r>
            <a:r>
              <a:rPr sz="1900" b="0" i="0">
                <a:solidFill>
                  <a:srgbClr val="8A2B52"/>
                </a:solidFill>
                <a:latin typeface="Consolas"/>
              </a:rPr>
              <a:t>const { searchDetails, filterIt } = useArticleFilter(articles)</a:t>
            </a:r>
          </a:p>
          <a:p>
            <a:pPr marL="274320" indent="-256032">
              <a:spcAft>
                <a:spcPts val="900"/>
              </a:spcAft>
              <a:buClr>
                <a:srgbClr val="42B883"/>
              </a:buClr>
              <a:buSzPct val="100000"/>
              <a:buFont typeface="Arial"/>
              <a:buChar char="•"/>
            </a:pPr>
            <a:r>
              <a:rPr sz="2000" b="0" i="0">
                <a:solidFill>
                  <a:srgbClr val="1F2A36"/>
                </a:solidFill>
              </a:rPr>
              <a:t>Confirm the filter still works</a:t>
            </a:r>
          </a:p>
          <a:p>
            <a:pPr marL="274320" indent="-256032">
              <a:spcAft>
                <a:spcPts val="900"/>
              </a:spcAft>
              <a:buClr>
                <a:srgbClr val="42B883"/>
              </a:buClr>
              <a:buSzPct val="100000"/>
              <a:buFont typeface="Arial"/>
              <a:buChar char="•"/>
            </a:pPr>
            <a:r>
              <a:rPr sz="2000" b="0" i="0">
                <a:solidFill>
                  <a:srgbClr val="1F2A36"/>
                </a:solidFill>
              </a:rPr>
              <a:t>Challenge: reuse it to filter the tags</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192</a:t>
            </a:fld>
            <a:endParaRPr lang="en-US" sz="900">
              <a:solidFill>
                <a:srgbClr val="9AA7B4"/>
              </a:solidFill>
            </a:endParaRPr>
          </a:p>
        </p:txBody>
      </p:sp>
    </p:spTree>
    <p:extLst>
      <p:ext uri="{BB962C8B-B14F-4D97-AF65-F5344CB8AC3E}">
        <p14:creationId xmlns:p14="http://schemas.microsoft.com/office/powerpoint/2010/main" val="145066704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16F1-AA70-A643-AAB3-D0ACCBE15C84}"/>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Using Pinia</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Vue's official state management library</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193</a:t>
            </a:fld>
            <a:endParaRPr lang="en-US" sz="900">
              <a:solidFill>
                <a:srgbClr val="9FB3C4"/>
              </a:solidFill>
            </a:endParaRPr>
          </a:p>
        </p:txBody>
      </p:sp>
    </p:spTree>
    <p:extLst>
      <p:ext uri="{BB962C8B-B14F-4D97-AF65-F5344CB8AC3E}">
        <p14:creationId xmlns:p14="http://schemas.microsoft.com/office/powerpoint/2010/main" val="10676974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40DD-1CBA-9A4B-A3CA-1351A3E89304}"/>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Why a Store?</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194</a:t>
            </a:fld>
            <a:endParaRPr lang="en-US" sz="900">
              <a:solidFill>
                <a:srgbClr val="9FB3C4"/>
              </a:solidFill>
            </a:endParaRPr>
          </a:p>
        </p:txBody>
      </p:sp>
    </p:spTree>
    <p:extLst>
      <p:ext uri="{BB962C8B-B14F-4D97-AF65-F5344CB8AC3E}">
        <p14:creationId xmlns:p14="http://schemas.microsoft.com/office/powerpoint/2010/main" val="236294942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Problem</a:t>
            </a:r>
          </a:p>
        </p:txBody>
      </p:sp>
      <p:sp>
        <p:nvSpPr>
          <p:cNvPr id="3" name="Body"/>
          <p:cNvSpPr txBox="1"/>
          <p:nvPr/>
        </p:nvSpPr>
        <p:spPr>
          <a:xfrm>
            <a:off x="457200" y="1261872"/>
            <a:ext cx="8229600" cy="39735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Props flow down; events flow up</a:t>
            </a:r>
          </a:p>
          <a:p>
            <a:pPr marL="274320" indent="-256032">
              <a:spcAft>
                <a:spcPts val="990"/>
              </a:spcAft>
              <a:buClr>
                <a:srgbClr val="42B883"/>
              </a:buClr>
              <a:buSzPct val="100000"/>
              <a:buFont typeface="Arial"/>
              <a:buChar char="•"/>
            </a:pPr>
            <a:r>
              <a:rPr sz="2200" b="0" i="0">
                <a:solidFill>
                  <a:srgbClr val="1F2A36"/>
                </a:solidFill>
              </a:rPr>
              <a:t>That works until two distant components need the same state:</a:t>
            </a:r>
          </a:p>
          <a:p>
            <a:pPr marL="566928" indent="-256032">
              <a:spcAft>
                <a:spcPts val="855"/>
              </a:spcAft>
              <a:buClr>
                <a:srgbClr val="6B7B8C"/>
              </a:buClr>
              <a:buSzPct val="100000"/>
              <a:buFont typeface="Arial"/>
              <a:buChar char="–"/>
            </a:pPr>
            <a:r>
              <a:rPr sz="1900" b="0" i="0">
                <a:solidFill>
                  <a:srgbClr val="3A4A5A"/>
                </a:solidFill>
              </a:rPr>
              <a:t>Passing it through every intermediate component ("prop drilling")</a:t>
            </a:r>
          </a:p>
          <a:p>
            <a:pPr marL="566928" indent="-256032">
              <a:spcAft>
                <a:spcPts val="855"/>
              </a:spcAft>
              <a:buClr>
                <a:srgbClr val="6B7B8C"/>
              </a:buClr>
              <a:buSzPct val="100000"/>
              <a:buFont typeface="Arial"/>
              <a:buChar char="–"/>
            </a:pPr>
            <a:r>
              <a:rPr sz="1900" b="0" i="0">
                <a:solidFill>
                  <a:srgbClr val="3A4A5A"/>
                </a:solidFill>
              </a:rPr>
              <a:t>Or keeping two copies that drift out of sync</a:t>
            </a:r>
          </a:p>
          <a:p>
            <a:pPr marL="274320" indent="-256032">
              <a:spcAft>
                <a:spcPts val="990"/>
              </a:spcAft>
              <a:buClr>
                <a:srgbClr val="42B883"/>
              </a:buClr>
              <a:buSzPct val="100000"/>
              <a:buFont typeface="Arial"/>
              <a:buChar char="•"/>
            </a:pPr>
            <a:r>
              <a:rPr sz="2200" b="0" i="0">
                <a:solidFill>
                  <a:srgbClr val="1F2A36"/>
                </a:solidFill>
              </a:rPr>
              <a:t>A </a:t>
            </a:r>
            <a:r>
              <a:rPr sz="2200" b="1" i="0">
                <a:solidFill>
                  <a:srgbClr val="1F2A36"/>
                </a:solidFill>
              </a:rPr>
              <a:t>store</a:t>
            </a:r>
            <a:r>
              <a:rPr sz="2200" b="0" i="0">
                <a:solidFill>
                  <a:srgbClr val="1F2A36"/>
                </a:solidFill>
              </a:rPr>
              <a:t> gives that state one owner, outside the component tree</a:t>
            </a:r>
          </a:p>
          <a:p>
            <a:pPr marL="274320" indent="-256032">
              <a:spcAft>
                <a:spcPts val="990"/>
              </a:spcAft>
              <a:buClr>
                <a:srgbClr val="42B883"/>
              </a:buClr>
              <a:buSzPct val="100000"/>
              <a:buFont typeface="Arial"/>
              <a:buChar char="•"/>
            </a:pPr>
            <a:r>
              <a:rPr sz="2200" b="0" i="0">
                <a:solidFill>
                  <a:srgbClr val="1F2A36"/>
                </a:solidFill>
              </a:rPr>
              <a:t>Any component can read it, and changes go through clearly named </a:t>
            </a:r>
            <a:r>
              <a:rPr sz="2200" b="1" i="0">
                <a:solidFill>
                  <a:srgbClr val="1F2A36"/>
                </a:solidFill>
              </a:rPr>
              <a:t>actions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195</a:t>
            </a:fld>
            <a:endParaRPr lang="en-US" sz="900">
              <a:solidFill>
                <a:srgbClr val="9AA7B4"/>
              </a:solidFill>
            </a:endParaRPr>
          </a:p>
        </p:txBody>
      </p:sp>
    </p:spTree>
    <p:extLst>
      <p:ext uri="{BB962C8B-B14F-4D97-AF65-F5344CB8AC3E}">
        <p14:creationId xmlns:p14="http://schemas.microsoft.com/office/powerpoint/2010/main" val="352773282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Pinia</a:t>
            </a:r>
          </a:p>
        </p:txBody>
      </p:sp>
      <p:sp>
        <p:nvSpPr>
          <p:cNvPr id="3" name="Body"/>
          <p:cNvSpPr txBox="1"/>
          <p:nvPr/>
        </p:nvSpPr>
        <p:spPr>
          <a:xfrm>
            <a:off x="457200" y="1261872"/>
            <a:ext cx="8229600" cy="335762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Vue's official state management library</a:t>
            </a:r>
          </a:p>
          <a:p>
            <a:pPr marL="274320" indent="-256032">
              <a:spcAft>
                <a:spcPts val="990"/>
              </a:spcAft>
              <a:buClr>
                <a:srgbClr val="42B883"/>
              </a:buClr>
              <a:buSzPct val="100000"/>
              <a:buFont typeface="Arial"/>
              <a:buChar char="•"/>
            </a:pPr>
            <a:r>
              <a:rPr sz="2200" b="0" i="0">
                <a:solidFill>
                  <a:srgbClr val="1F2A36"/>
                </a:solidFill>
              </a:rPr>
              <a:t>A store is a composable: you call </a:t>
            </a:r>
            <a:r>
              <a:rPr sz="2090" b="0" i="0">
                <a:solidFill>
                  <a:srgbClr val="8A2B52"/>
                </a:solidFill>
                <a:latin typeface="Consolas"/>
              </a:rPr>
              <a:t>useSomeStore()</a:t>
            </a:r>
            <a:r>
              <a:rPr sz="2200" b="0" i="0">
                <a:solidFill>
                  <a:srgbClr val="1F2A36"/>
                </a:solidFill>
              </a:rPr>
              <a:t> to get it</a:t>
            </a:r>
          </a:p>
          <a:p>
            <a:pPr marL="274320" indent="-256032">
              <a:spcAft>
                <a:spcPts val="990"/>
              </a:spcAft>
              <a:buClr>
                <a:srgbClr val="42B883"/>
              </a:buClr>
              <a:buSzPct val="100000"/>
              <a:buFont typeface="Arial"/>
              <a:buChar char="•"/>
            </a:pPr>
            <a:r>
              <a:rPr sz="2200" b="1" i="0">
                <a:solidFill>
                  <a:srgbClr val="1F2A36"/>
                </a:solidFill>
              </a:rPr>
              <a:t>state</a:t>
            </a:r>
            <a:r>
              <a:rPr sz="2200" b="0" i="0">
                <a:solidFill>
                  <a:srgbClr val="1F2A36"/>
                </a:solidFill>
              </a:rPr>
              <a:t>, </a:t>
            </a:r>
            <a:r>
              <a:rPr sz="2200" b="1" i="0">
                <a:solidFill>
                  <a:srgbClr val="1F2A36"/>
                </a:solidFill>
              </a:rPr>
              <a:t>getters</a:t>
            </a:r>
            <a:r>
              <a:rPr sz="2200" b="0" i="0">
                <a:solidFill>
                  <a:srgbClr val="1F2A36"/>
                </a:solidFill>
              </a:rPr>
              <a:t> and </a:t>
            </a:r>
            <a:r>
              <a:rPr sz="2200" b="1" i="0">
                <a:solidFill>
                  <a:srgbClr val="1F2A36"/>
                </a:solidFill>
              </a:rPr>
              <a:t>actions</a:t>
            </a:r>
            <a:r>
              <a:rPr sz="2200" b="0" i="0">
                <a:solidFill>
                  <a:srgbClr val="1F2A36"/>
                </a:solidFill>
              </a:rPr>
              <a:t> — no mutations, no </a:t>
            </a:r>
            <a:r>
              <a:rPr sz="2090" b="0" i="0">
                <a:solidFill>
                  <a:srgbClr val="8A2B52"/>
                </a:solidFill>
                <a:latin typeface="Consolas"/>
              </a:rPr>
              <a:t>dispatch</a:t>
            </a:r>
            <a:r>
              <a:rPr sz="2200" b="0" i="0">
                <a:solidFill>
                  <a:srgbClr val="1F2A36"/>
                </a:solidFill>
              </a:rPr>
              <a:t>, no </a:t>
            </a:r>
            <a:r>
              <a:rPr sz="2090" b="0" i="0">
                <a:solidFill>
                  <a:srgbClr val="8A2B52"/>
                </a:solidFill>
                <a:latin typeface="Consolas"/>
              </a:rPr>
              <a:t>commit</a:t>
            </a:r>
          </a:p>
          <a:p>
            <a:pPr marL="274320" indent="-256032">
              <a:spcAft>
                <a:spcPts val="990"/>
              </a:spcAft>
              <a:buClr>
                <a:srgbClr val="42B883"/>
              </a:buClr>
              <a:buSzPct val="100000"/>
              <a:buFont typeface="Arial"/>
              <a:buChar char="•"/>
            </a:pPr>
            <a:r>
              <a:rPr sz="2200" b="0" i="0">
                <a:solidFill>
                  <a:srgbClr val="1F2A36"/>
                </a:solidFill>
              </a:rPr>
              <a:t>Type-safe, and each store is its own module by construction</a:t>
            </a:r>
          </a:p>
          <a:p>
            <a:pPr marL="274320" indent="-256032">
              <a:spcAft>
                <a:spcPts val="990"/>
              </a:spcAft>
              <a:buClr>
                <a:srgbClr val="42B883"/>
              </a:buClr>
              <a:buSzPct val="100000"/>
              <a:buFont typeface="Arial"/>
              <a:buChar char="•"/>
            </a:pPr>
            <a:r>
              <a:rPr sz="2200" b="0" i="0">
                <a:solidFill>
                  <a:srgbClr val="1F2A36"/>
                </a:solidFill>
              </a:rPr>
              <a:t>Replaced </a:t>
            </a:r>
            <a:r>
              <a:rPr sz="2200" b="1" i="0">
                <a:solidFill>
                  <a:srgbClr val="1F2A36"/>
                </a:solidFill>
              </a:rPr>
              <a:t>Vuex</a:t>
            </a:r>
            <a:r>
              <a:rPr sz="2200" b="0" i="0">
                <a:solidFill>
                  <a:srgbClr val="1F2A36"/>
                </a:solidFill>
              </a:rPr>
              <a:t>, which is now in maintenance mode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196</a:t>
            </a:fld>
            <a:endParaRPr lang="en-US" sz="900">
              <a:solidFill>
                <a:srgbClr val="9AA7B4"/>
              </a:solidFill>
            </a:endParaRPr>
          </a:p>
        </p:txBody>
      </p:sp>
    </p:spTree>
    <p:extLst>
      <p:ext uri="{BB962C8B-B14F-4D97-AF65-F5344CB8AC3E}">
        <p14:creationId xmlns:p14="http://schemas.microsoft.com/office/powerpoint/2010/main" val="380834384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Pinia vs. Vuex</a:t>
            </a:r>
            <a:endParaRPr dirty="0"/>
          </a:p>
        </p:txBody>
      </p:sp>
      <p:graphicFrame>
        <p:nvGraphicFramePr>
          <p:cNvPr id="3" name="Table 2"/>
          <p:cNvGraphicFramePr>
            <a:graphicFrameLocks noGrp="1"/>
          </p:cNvGraphicFramePr>
          <p:nvPr/>
        </p:nvGraphicFramePr>
        <p:xfrm>
          <a:off x="731519" y="1261872"/>
          <a:ext cx="7680960" cy="3072384"/>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84048">
                <a:tc>
                  <a:txBody>
                    <a:bodyPr/>
                    <a:lstStyle/>
                    <a:p>
                      <a:r>
                        <a:rPr sz="1600" b="1" i="0">
                          <a:solidFill>
                            <a:srgbClr val="FFFFFF"/>
                          </a:solidFill>
                        </a:rPr>
                        <a:t>Vuex</a:t>
                      </a:r>
                    </a:p>
                  </a:txBody>
                  <a:tcPr marT="27432" marB="27432" anchor="ctr">
                    <a:solidFill>
                      <a:srgbClr val="35495E"/>
                    </a:solidFill>
                  </a:tcPr>
                </a:tc>
                <a:tc>
                  <a:txBody>
                    <a:bodyPr/>
                    <a:lstStyle/>
                    <a:p>
                      <a:r>
                        <a:rPr sz="1600" b="1" i="0">
                          <a:solidFill>
                            <a:srgbClr val="FFFFFF"/>
                          </a:solidFill>
                        </a:rPr>
                        <a:t>Pinia</a:t>
                      </a:r>
                    </a:p>
                  </a:txBody>
                  <a:tcPr marT="27432" marB="27432" anchor="ctr">
                    <a:solidFill>
                      <a:srgbClr val="35495E"/>
                    </a:solidFill>
                  </a:tcPr>
                </a:tc>
                <a:extLst>
                  <a:ext uri="{0D108BD9-81ED-4DB2-BD59-A6C34878D82A}">
                    <a16:rowId xmlns:a16="http://schemas.microsoft.com/office/drawing/2014/main" val="10000"/>
                  </a:ext>
                </a:extLst>
              </a:tr>
              <a:tr h="384048">
                <a:tc>
                  <a:txBody>
                    <a:bodyPr/>
                    <a:lstStyle/>
                    <a:p>
                      <a:r>
                        <a:rPr sz="1600" b="0" i="0">
                          <a:solidFill>
                            <a:srgbClr val="1F2A36"/>
                          </a:solidFill>
                        </a:rPr>
                        <a:t>state</a:t>
                      </a:r>
                    </a:p>
                  </a:txBody>
                  <a:tcPr marT="27432" marB="27432" anchor="ctr">
                    <a:solidFill>
                      <a:srgbClr val="FFFFFF"/>
                    </a:solidFill>
                  </a:tcPr>
                </a:tc>
                <a:tc>
                  <a:txBody>
                    <a:bodyPr/>
                    <a:lstStyle/>
                    <a:p>
                      <a:r>
                        <a:rPr sz="1600" b="0" i="0">
                          <a:solidFill>
                            <a:srgbClr val="1F2A36"/>
                          </a:solidFill>
                        </a:rPr>
                        <a:t>state</a:t>
                      </a:r>
                    </a:p>
                  </a:txBody>
                  <a:tcPr marT="27432" marB="27432" anchor="ctr">
                    <a:solidFill>
                      <a:srgbClr val="FFFFFF"/>
                    </a:solidFill>
                  </a:tcPr>
                </a:tc>
                <a:extLst>
                  <a:ext uri="{0D108BD9-81ED-4DB2-BD59-A6C34878D82A}">
                    <a16:rowId xmlns:a16="http://schemas.microsoft.com/office/drawing/2014/main" val="10001"/>
                  </a:ext>
                </a:extLst>
              </a:tr>
              <a:tr h="384048">
                <a:tc>
                  <a:txBody>
                    <a:bodyPr/>
                    <a:lstStyle/>
                    <a:p>
                      <a:r>
                        <a:rPr sz="1600" b="0" i="0">
                          <a:solidFill>
                            <a:srgbClr val="1F2A36"/>
                          </a:solidFill>
                        </a:rPr>
                        <a:t>getters</a:t>
                      </a:r>
                    </a:p>
                  </a:txBody>
                  <a:tcPr marT="27432" marB="27432" anchor="ctr">
                    <a:solidFill>
                      <a:srgbClr val="F6F8FA"/>
                    </a:solidFill>
                  </a:tcPr>
                </a:tc>
                <a:tc>
                  <a:txBody>
                    <a:bodyPr/>
                    <a:lstStyle/>
                    <a:p>
                      <a:r>
                        <a:rPr sz="1600" b="0" i="0">
                          <a:solidFill>
                            <a:srgbClr val="1F2A36"/>
                          </a:solidFill>
                        </a:rPr>
                        <a:t>getters</a:t>
                      </a:r>
                    </a:p>
                  </a:txBody>
                  <a:tcPr marT="27432" marB="27432" anchor="ctr">
                    <a:solidFill>
                      <a:srgbClr val="F6F8FA"/>
                    </a:solidFill>
                  </a:tcPr>
                </a:tc>
                <a:extLst>
                  <a:ext uri="{0D108BD9-81ED-4DB2-BD59-A6C34878D82A}">
                    <a16:rowId xmlns:a16="http://schemas.microsoft.com/office/drawing/2014/main" val="10002"/>
                  </a:ext>
                </a:extLst>
              </a:tr>
              <a:tr h="384048">
                <a:tc>
                  <a:txBody>
                    <a:bodyPr/>
                    <a:lstStyle/>
                    <a:p>
                      <a:r>
                        <a:rPr sz="1600" b="0" i="0">
                          <a:solidFill>
                            <a:srgbClr val="1F2A36"/>
                          </a:solidFill>
                        </a:rPr>
                        <a:t>mutations</a:t>
                      </a:r>
                    </a:p>
                  </a:txBody>
                  <a:tcPr marT="27432" marB="27432" anchor="ctr">
                    <a:solidFill>
                      <a:srgbClr val="FFFFFF"/>
                    </a:solidFill>
                  </a:tcPr>
                </a:tc>
                <a:tc>
                  <a:txBody>
                    <a:bodyPr/>
                    <a:lstStyle/>
                    <a:p>
                      <a:r>
                        <a:rPr sz="1600" b="0" i="0">
                          <a:solidFill>
                            <a:srgbClr val="1F2A36"/>
                          </a:solidFill>
                        </a:rPr>
                        <a:t>— (actions assign directly)</a:t>
                      </a:r>
                    </a:p>
                  </a:txBody>
                  <a:tcPr marT="27432" marB="27432" anchor="ctr">
                    <a:solidFill>
                      <a:srgbClr val="FFFFFF"/>
                    </a:solidFill>
                  </a:tcPr>
                </a:tc>
                <a:extLst>
                  <a:ext uri="{0D108BD9-81ED-4DB2-BD59-A6C34878D82A}">
                    <a16:rowId xmlns:a16="http://schemas.microsoft.com/office/drawing/2014/main" val="10003"/>
                  </a:ext>
                </a:extLst>
              </a:tr>
              <a:tr h="384048">
                <a:tc>
                  <a:txBody>
                    <a:bodyPr/>
                    <a:lstStyle/>
                    <a:p>
                      <a:r>
                        <a:rPr sz="1600" b="0" i="0">
                          <a:solidFill>
                            <a:srgbClr val="1F2A36"/>
                          </a:solidFill>
                        </a:rPr>
                        <a:t>actions + </a:t>
                      </a:r>
                      <a:r>
                        <a:rPr sz="1520" b="0" i="0">
                          <a:solidFill>
                            <a:srgbClr val="8A2B52"/>
                          </a:solidFill>
                          <a:latin typeface="Consolas"/>
                        </a:rPr>
                        <a:t>dispatch('name')</a:t>
                      </a:r>
                    </a:p>
                  </a:txBody>
                  <a:tcPr marT="27432" marB="27432" anchor="ctr">
                    <a:solidFill>
                      <a:srgbClr val="F6F8FA"/>
                    </a:solidFill>
                  </a:tcPr>
                </a:tc>
                <a:tc>
                  <a:txBody>
                    <a:bodyPr/>
                    <a:lstStyle/>
                    <a:p>
                      <a:r>
                        <a:rPr sz="1600" b="0" i="0">
                          <a:solidFill>
                            <a:srgbClr val="1F2A36"/>
                          </a:solidFill>
                        </a:rPr>
                        <a:t>actions, called as functions</a:t>
                      </a:r>
                    </a:p>
                  </a:txBody>
                  <a:tcPr marT="27432" marB="27432" anchor="ctr">
                    <a:solidFill>
                      <a:srgbClr val="F6F8FA"/>
                    </a:solidFill>
                  </a:tcPr>
                </a:tc>
                <a:extLst>
                  <a:ext uri="{0D108BD9-81ED-4DB2-BD59-A6C34878D82A}">
                    <a16:rowId xmlns:a16="http://schemas.microsoft.com/office/drawing/2014/main" val="10004"/>
                  </a:ext>
                </a:extLst>
              </a:tr>
              <a:tr h="384048">
                <a:tc>
                  <a:txBody>
                    <a:bodyPr/>
                    <a:lstStyle/>
                    <a:p>
                      <a:r>
                        <a:rPr sz="1520" b="0" i="0">
                          <a:solidFill>
                            <a:srgbClr val="8A2B52"/>
                          </a:solidFill>
                          <a:latin typeface="Consolas"/>
                        </a:rPr>
                        <a:t>commit('NAME', payload)</a:t>
                      </a:r>
                    </a:p>
                  </a:txBody>
                  <a:tcPr marT="27432" marB="27432" anchor="ctr">
                    <a:solidFill>
                      <a:srgbClr val="FFFFFF"/>
                    </a:solidFill>
                  </a:tcPr>
                </a:tc>
                <a:tc>
                  <a:txBody>
                    <a:bodyPr/>
                    <a:lstStyle/>
                    <a:p>
                      <a:r>
                        <a:rPr sz="1520" b="0" i="0">
                          <a:solidFill>
                            <a:srgbClr val="8A2B52"/>
                          </a:solidFill>
                          <a:latin typeface="Consolas"/>
                        </a:rPr>
                        <a:t>this.value = payload</a:t>
                      </a:r>
                    </a:p>
                  </a:txBody>
                  <a:tcPr marT="27432" marB="27432" anchor="ctr">
                    <a:solidFill>
                      <a:srgbClr val="FFFFFF"/>
                    </a:solidFill>
                  </a:tcPr>
                </a:tc>
                <a:extLst>
                  <a:ext uri="{0D108BD9-81ED-4DB2-BD59-A6C34878D82A}">
                    <a16:rowId xmlns:a16="http://schemas.microsoft.com/office/drawing/2014/main" val="10005"/>
                  </a:ext>
                </a:extLst>
              </a:tr>
              <a:tr h="384048">
                <a:tc>
                  <a:txBody>
                    <a:bodyPr/>
                    <a:lstStyle/>
                    <a:p>
                      <a:r>
                        <a:rPr sz="1600" b="0" i="0">
                          <a:solidFill>
                            <a:srgbClr val="1F2A36"/>
                          </a:solidFill>
                        </a:rPr>
                        <a:t>modules + namespacing</a:t>
                      </a:r>
                    </a:p>
                  </a:txBody>
                  <a:tcPr marT="27432" marB="27432" anchor="ctr">
                    <a:solidFill>
                      <a:srgbClr val="F6F8FA"/>
                    </a:solidFill>
                  </a:tcPr>
                </a:tc>
                <a:tc>
                  <a:txBody>
                    <a:bodyPr/>
                    <a:lstStyle/>
                    <a:p>
                      <a:r>
                        <a:rPr sz="1600" b="0" i="0">
                          <a:solidFill>
                            <a:srgbClr val="1F2A36"/>
                          </a:solidFill>
                        </a:rPr>
                        <a:t>one file per store</a:t>
                      </a:r>
                    </a:p>
                  </a:txBody>
                  <a:tcPr marT="27432" marB="27432" anchor="ctr">
                    <a:solidFill>
                      <a:srgbClr val="F6F8FA"/>
                    </a:solidFill>
                  </a:tcPr>
                </a:tc>
                <a:extLst>
                  <a:ext uri="{0D108BD9-81ED-4DB2-BD59-A6C34878D82A}">
                    <a16:rowId xmlns:a16="http://schemas.microsoft.com/office/drawing/2014/main" val="10006"/>
                  </a:ext>
                </a:extLst>
              </a:tr>
              <a:tr h="384048">
                <a:tc>
                  <a:txBody>
                    <a:bodyPr/>
                    <a:lstStyle/>
                    <a:p>
                      <a:r>
                        <a:rPr sz="1520" b="0" i="0">
                          <a:solidFill>
                            <a:srgbClr val="8A2B52"/>
                          </a:solidFill>
                          <a:latin typeface="Consolas"/>
                        </a:rPr>
                        <a:t>mapState</a:t>
                      </a:r>
                      <a:r>
                        <a:rPr sz="1600" b="0" i="0">
                          <a:solidFill>
                            <a:srgbClr val="1F2A36"/>
                          </a:solidFill>
                        </a:rPr>
                        <a:t> / </a:t>
                      </a:r>
                      <a:r>
                        <a:rPr sz="1520" b="0" i="0">
                          <a:solidFill>
                            <a:srgbClr val="8A2B52"/>
                          </a:solidFill>
                          <a:latin typeface="Consolas"/>
                        </a:rPr>
                        <a:t>mapGetters</a:t>
                      </a:r>
                    </a:p>
                  </a:txBody>
                  <a:tcPr marT="27432" marB="27432" anchor="ctr">
                    <a:solidFill>
                      <a:srgbClr val="FFFFFF"/>
                    </a:solidFill>
                  </a:tcPr>
                </a:tc>
                <a:tc>
                  <a:txBody>
                    <a:bodyPr/>
                    <a:lstStyle/>
                    <a:p>
                      <a:r>
                        <a:rPr sz="1520" b="0" i="0">
                          <a:solidFill>
                            <a:srgbClr val="8A2B52"/>
                          </a:solidFill>
                          <a:latin typeface="Consolas"/>
                        </a:rPr>
                        <a:t>storeToRefs</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197</a:t>
            </a:fld>
            <a:endParaRPr lang="en-US" sz="900">
              <a:solidFill>
                <a:srgbClr val="9AA7B4"/>
              </a:solidFill>
            </a:endParaRPr>
          </a:p>
        </p:txBody>
      </p:sp>
    </p:spTree>
    <p:extLst>
      <p:ext uri="{BB962C8B-B14F-4D97-AF65-F5344CB8AC3E}">
        <p14:creationId xmlns:p14="http://schemas.microsoft.com/office/powerpoint/2010/main" val="395141791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Installing Pinia</a:t>
            </a:r>
          </a:p>
        </p:txBody>
      </p:sp>
      <p:sp>
        <p:nvSpPr>
          <p:cNvPr id="3" name="Code"/>
          <p:cNvSpPr/>
          <p:nvPr/>
        </p:nvSpPr>
        <p:spPr>
          <a:xfrm>
            <a:off x="457200" y="1261872"/>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npm install pinia</a:t>
            </a:r>
          </a:p>
        </p:txBody>
      </p:sp>
      <p:sp>
        <p:nvSpPr>
          <p:cNvPr id="4" name="Code"/>
          <p:cNvSpPr/>
          <p:nvPr/>
        </p:nvSpPr>
        <p:spPr>
          <a:xfrm>
            <a:off x="457200" y="2015744"/>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i="1">
                <a:solidFill>
                  <a:srgbClr val="6E7781"/>
                </a:solidFill>
                <a:latin typeface="Consolas"/>
              </a:rPr>
              <a:t>// main.js</a:t>
            </a:r>
          </a:p>
          <a:p>
            <a:pPr marL="0" indent="0" algn="l">
              <a:lnSpc>
                <a:spcPct val="100000"/>
              </a:lnSpc>
              <a:buNone/>
            </a:pPr>
            <a:r>
              <a:rPr sz="2000">
                <a:solidFill>
                  <a:srgbClr val="CF222E"/>
                </a:solidFill>
                <a:latin typeface="Consolas"/>
              </a:rPr>
              <a:t>import</a:t>
            </a:r>
            <a:r>
              <a:rPr sz="2000">
                <a:solidFill>
                  <a:srgbClr val="24292F"/>
                </a:solidFill>
                <a:latin typeface="Consolas"/>
              </a:rPr>
              <a:t> { createApp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'vue'</a:t>
            </a:r>
          </a:p>
          <a:p>
            <a:pPr marL="0" indent="0" algn="l">
              <a:lnSpc>
                <a:spcPct val="100000"/>
              </a:lnSpc>
              <a:buNone/>
            </a:pPr>
            <a:r>
              <a:rPr sz="2000">
                <a:solidFill>
                  <a:srgbClr val="CF222E"/>
                </a:solidFill>
                <a:latin typeface="Consolas"/>
              </a:rPr>
              <a:t>import</a:t>
            </a:r>
            <a:r>
              <a:rPr sz="2000">
                <a:solidFill>
                  <a:srgbClr val="24292F"/>
                </a:solidFill>
                <a:latin typeface="Consolas"/>
              </a:rPr>
              <a:t> { createPinia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'pinia'</a:t>
            </a:r>
          </a:p>
          <a:p>
            <a:pPr marL="0" indent="0" algn="l">
              <a:lnSpc>
                <a:spcPct val="100000"/>
              </a:lnSpc>
              <a:buNone/>
            </a:pPr>
            <a:r>
              <a:rPr sz="2000">
                <a:solidFill>
                  <a:srgbClr val="CF222E"/>
                </a:solidFill>
                <a:latin typeface="Consolas"/>
              </a:rPr>
              <a:t>import</a:t>
            </a:r>
            <a:r>
              <a:rPr sz="2000">
                <a:solidFill>
                  <a:srgbClr val="24292F"/>
                </a:solidFill>
                <a:latin typeface="Consolas"/>
              </a:rPr>
              <a:t> App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'./App.vue'</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app = createApp(App)</a:t>
            </a:r>
          </a:p>
          <a:p>
            <a:pPr marL="0" indent="0" algn="l">
              <a:lnSpc>
                <a:spcPct val="100000"/>
              </a:lnSpc>
              <a:buNone/>
            </a:pPr>
            <a:r>
              <a:rPr sz="2000">
                <a:solidFill>
                  <a:srgbClr val="24292F"/>
                </a:solidFill>
                <a:latin typeface="Consolas"/>
              </a:rPr>
              <a:t>app.use(createPinia())</a:t>
            </a:r>
          </a:p>
          <a:p>
            <a:pPr marL="0" indent="0" algn="l">
              <a:lnSpc>
                <a:spcPct val="100000"/>
              </a:lnSpc>
              <a:buNone/>
            </a:pPr>
            <a:r>
              <a:rPr sz="2000">
                <a:solidFill>
                  <a:srgbClr val="24292F"/>
                </a:solidFill>
                <a:latin typeface="Consolas"/>
              </a:rPr>
              <a:t>app.mount(</a:t>
            </a:r>
            <a:r>
              <a:rPr sz="2000">
                <a:solidFill>
                  <a:srgbClr val="0A3069"/>
                </a:solidFill>
                <a:latin typeface="Consolas"/>
              </a:rPr>
              <a:t>'#app'</a:t>
            </a:r>
            <a:r>
              <a:rPr sz="2000">
                <a:solidFill>
                  <a:srgbClr val="24292F"/>
                </a:solidFill>
                <a:latin typeface="Consolas"/>
              </a:rPr>
              <a:t>)</a:t>
            </a:r>
          </a:p>
        </p:txBody>
      </p:sp>
      <p:sp>
        <p:nvSpPr>
          <p:cNvPr id="5" name="Tip"/>
          <p:cNvSpPr/>
          <p:nvPr/>
        </p:nvSpPr>
        <p:spPr>
          <a:xfrm>
            <a:off x="457200" y="4974336"/>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Install Pinia before the router, so navigation guards can reach the stores.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198</a:t>
            </a:fld>
            <a:endParaRPr lang="en-US" sz="900">
              <a:solidFill>
                <a:srgbClr val="9AA7B4"/>
              </a:solidFill>
            </a:endParaRPr>
          </a:p>
        </p:txBody>
      </p:sp>
    </p:spTree>
    <p:extLst>
      <p:ext uri="{BB962C8B-B14F-4D97-AF65-F5344CB8AC3E}">
        <p14:creationId xmlns:p14="http://schemas.microsoft.com/office/powerpoint/2010/main" val="50637089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Defining a Store</a:t>
            </a:r>
          </a:p>
        </p:txBody>
      </p:sp>
      <p:sp>
        <p:nvSpPr>
          <p:cNvPr id="3" name="Code"/>
          <p:cNvSpPr/>
          <p:nvPr/>
        </p:nvSpPr>
        <p:spPr>
          <a:xfrm>
            <a:off x="457200" y="1261872"/>
            <a:ext cx="8229600" cy="38201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i="1">
                <a:solidFill>
                  <a:srgbClr val="6E7781"/>
                </a:solidFill>
                <a:latin typeface="Consolas"/>
              </a:rPr>
              <a:t>// src/stores/counter.js</a:t>
            </a:r>
          </a:p>
          <a:p>
            <a:pPr marL="0" indent="0" algn="l">
              <a:lnSpc>
                <a:spcPct val="100000"/>
              </a:lnSpc>
              <a:buNone/>
            </a:pPr>
            <a:r>
              <a:rPr sz="1400">
                <a:solidFill>
                  <a:srgbClr val="CF222E"/>
                </a:solidFill>
                <a:latin typeface="Consolas"/>
              </a:rPr>
              <a:t>import</a:t>
            </a:r>
            <a:r>
              <a:rPr sz="1400">
                <a:solidFill>
                  <a:srgbClr val="24292F"/>
                </a:solidFill>
                <a:latin typeface="Consolas"/>
              </a:rPr>
              <a:t> { defineStore } </a:t>
            </a:r>
            <a:r>
              <a:rPr sz="1400">
                <a:solidFill>
                  <a:srgbClr val="CF222E"/>
                </a:solidFill>
                <a:latin typeface="Consolas"/>
              </a:rPr>
              <a:t>from</a:t>
            </a:r>
            <a:r>
              <a:rPr sz="1400">
                <a:solidFill>
                  <a:srgbClr val="24292F"/>
                </a:solidFill>
                <a:latin typeface="Consolas"/>
              </a:rPr>
              <a:t> </a:t>
            </a:r>
            <a:r>
              <a:rPr sz="1400">
                <a:solidFill>
                  <a:srgbClr val="0A3069"/>
                </a:solidFill>
                <a:latin typeface="Consolas"/>
              </a:rPr>
              <a:t>'pinia'</a:t>
            </a:r>
          </a:p>
          <a:p>
            <a:pPr marL="0" indent="0" algn="l">
              <a:lnSpc>
                <a:spcPct val="100000"/>
              </a:lnSpc>
              <a:buNone/>
            </a:pPr>
            <a:r>
              <a:rPr sz="1400">
                <a:latin typeface="Consolas"/>
              </a:rPr>
              <a:t> </a:t>
            </a:r>
          </a:p>
          <a:p>
            <a:pPr marL="0" indent="0" algn="l">
              <a:lnSpc>
                <a:spcPct val="100000"/>
              </a:lnSpc>
              <a:buNone/>
            </a:pPr>
            <a:r>
              <a:rPr sz="1400">
                <a:solidFill>
                  <a:srgbClr val="CF222E"/>
                </a:solidFill>
                <a:latin typeface="Consolas"/>
              </a:rPr>
              <a:t>export</a:t>
            </a: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useCounterStore = defineStore(</a:t>
            </a:r>
            <a:r>
              <a:rPr sz="1400">
                <a:solidFill>
                  <a:srgbClr val="0A3069"/>
                </a:solidFill>
                <a:latin typeface="Consolas"/>
              </a:rPr>
              <a:t>'counter'</a:t>
            </a:r>
            <a:r>
              <a:rPr sz="1400">
                <a:solidFill>
                  <a:srgbClr val="24292F"/>
                </a:solidFill>
                <a:latin typeface="Consolas"/>
              </a:rPr>
              <a:t>, {</a:t>
            </a:r>
          </a:p>
          <a:p>
            <a:pPr marL="0" indent="0" algn="l">
              <a:lnSpc>
                <a:spcPct val="100000"/>
              </a:lnSpc>
              <a:buNone/>
            </a:pPr>
            <a:r>
              <a:rPr sz="1400">
                <a:solidFill>
                  <a:srgbClr val="24292F"/>
                </a:solidFill>
                <a:latin typeface="Consolas"/>
              </a:rPr>
              <a:t>  state: () =&gt; ({ count: </a:t>
            </a:r>
            <a:r>
              <a:rPr sz="1400">
                <a:solidFill>
                  <a:srgbClr val="0550AE"/>
                </a:solidFill>
                <a:latin typeface="Consolas"/>
              </a:rPr>
              <a:t>0</a:t>
            </a:r>
            <a:r>
              <a:rPr sz="1400">
                <a:solidFill>
                  <a:srgbClr val="24292F"/>
                </a:solidFill>
                <a:latin typeface="Consolas"/>
              </a:rPr>
              <a:t> }),</a:t>
            </a:r>
          </a:p>
          <a:p>
            <a:pPr marL="0" indent="0" algn="l">
              <a:lnSpc>
                <a:spcPct val="100000"/>
              </a:lnSpc>
              <a:buNone/>
            </a:pPr>
            <a:r>
              <a:rPr sz="1400">
                <a:latin typeface="Consolas"/>
              </a:rPr>
              <a:t> </a:t>
            </a:r>
          </a:p>
          <a:p>
            <a:pPr marL="0" indent="0" algn="l">
              <a:lnSpc>
                <a:spcPct val="100000"/>
              </a:lnSpc>
              <a:buNone/>
            </a:pPr>
            <a:r>
              <a:rPr sz="1400">
                <a:solidFill>
                  <a:srgbClr val="24292F"/>
                </a:solidFill>
                <a:latin typeface="Consolas"/>
              </a:rPr>
              <a:t>  getters: {</a:t>
            </a:r>
          </a:p>
          <a:p>
            <a:pPr marL="0" indent="0" algn="l">
              <a:lnSpc>
                <a:spcPct val="100000"/>
              </a:lnSpc>
              <a:buNone/>
            </a:pPr>
            <a:r>
              <a:rPr sz="1400">
                <a:solidFill>
                  <a:srgbClr val="24292F"/>
                </a:solidFill>
                <a:latin typeface="Consolas"/>
              </a:rPr>
              <a:t>    double: (state) =&gt; state.count * </a:t>
            </a:r>
            <a:r>
              <a:rPr sz="1400">
                <a:solidFill>
                  <a:srgbClr val="0550AE"/>
                </a:solidFill>
                <a:latin typeface="Consolas"/>
              </a:rPr>
              <a:t>2</a:t>
            </a:r>
            <a:r>
              <a:rPr sz="1400">
                <a:solidFill>
                  <a:srgbClr val="24292F"/>
                </a:solidFill>
                <a:latin typeface="Consolas"/>
              </a:rPr>
              <a:t>,</a:t>
            </a:r>
          </a:p>
          <a:p>
            <a:pPr marL="0" indent="0" algn="l">
              <a:lnSpc>
                <a:spcPct val="100000"/>
              </a:lnSpc>
              <a:buNone/>
            </a:pPr>
            <a:r>
              <a:rPr sz="1400">
                <a:solidFill>
                  <a:srgbClr val="24292F"/>
                </a:solidFill>
                <a:latin typeface="Consolas"/>
              </a:rPr>
              <a:t>  },</a:t>
            </a:r>
          </a:p>
          <a:p>
            <a:pPr marL="0" indent="0" algn="l">
              <a:lnSpc>
                <a:spcPct val="100000"/>
              </a:lnSpc>
              <a:buNone/>
            </a:pPr>
            <a:r>
              <a:rPr sz="1400">
                <a:latin typeface="Consolas"/>
              </a:rPr>
              <a:t> </a:t>
            </a:r>
          </a:p>
          <a:p>
            <a:pPr marL="0" indent="0" algn="l">
              <a:lnSpc>
                <a:spcPct val="100000"/>
              </a:lnSpc>
              <a:buNone/>
            </a:pPr>
            <a:r>
              <a:rPr sz="1400">
                <a:solidFill>
                  <a:srgbClr val="24292F"/>
                </a:solidFill>
                <a:latin typeface="Consolas"/>
              </a:rPr>
              <a:t>  actions: {</a:t>
            </a:r>
          </a:p>
          <a:p>
            <a:pPr marL="0" indent="0" algn="l">
              <a:lnSpc>
                <a:spcPct val="100000"/>
              </a:lnSpc>
              <a:buNone/>
            </a:pPr>
            <a:r>
              <a:rPr sz="1400">
                <a:solidFill>
                  <a:srgbClr val="24292F"/>
                </a:solidFill>
                <a:latin typeface="Consolas"/>
              </a:rPr>
              <a:t>    increment() {</a:t>
            </a:r>
          </a:p>
          <a:p>
            <a:pPr marL="0" indent="0" algn="l">
              <a:lnSpc>
                <a:spcPct val="100000"/>
              </a:lnSpc>
              <a:buNone/>
            </a:pPr>
            <a:r>
              <a:rPr sz="1400">
                <a:solidFill>
                  <a:srgbClr val="24292F"/>
                </a:solidFill>
                <a:latin typeface="Consolas"/>
              </a:rPr>
              <a:t>      </a:t>
            </a:r>
            <a:r>
              <a:rPr sz="1400">
                <a:solidFill>
                  <a:srgbClr val="CF222E"/>
                </a:solidFill>
                <a:latin typeface="Consolas"/>
              </a:rPr>
              <a:t>this</a:t>
            </a:r>
            <a:r>
              <a:rPr sz="1400">
                <a:solidFill>
                  <a:srgbClr val="24292F"/>
                </a:solidFill>
                <a:latin typeface="Consolas"/>
              </a:rPr>
              <a:t>.count++</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a:t>
            </a:r>
          </a:p>
        </p:txBody>
      </p:sp>
      <p:sp>
        <p:nvSpPr>
          <p:cNvPr id="4" name="Body"/>
          <p:cNvSpPr txBox="1"/>
          <p:nvPr/>
        </p:nvSpPr>
        <p:spPr>
          <a:xfrm>
            <a:off x="457200" y="5228336"/>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'counter'</a:t>
            </a:r>
            <a:r>
              <a:rPr sz="2200" b="0" i="0">
                <a:solidFill>
                  <a:srgbClr val="1F2A36"/>
                </a:solidFill>
              </a:rPr>
              <a:t> is the store's unique </a:t>
            </a:r>
            <a:r>
              <a:rPr sz="2200" b="1" i="0">
                <a:solidFill>
                  <a:srgbClr val="1F2A36"/>
                </a:solidFill>
              </a:rPr>
              <a:t>id</a:t>
            </a:r>
            <a:r>
              <a:rPr sz="2200" b="0" i="0">
                <a:solidFill>
                  <a:srgbClr val="1F2A36"/>
                </a:solidFill>
              </a:rPr>
              <a:t>, shown in the DevTools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199</a:t>
            </a:fld>
            <a:endParaRPr lang="en-US" sz="900">
              <a:solidFill>
                <a:srgbClr val="9AA7B4"/>
              </a:solidFill>
            </a:endParaRPr>
          </a:p>
        </p:txBody>
      </p:sp>
    </p:spTree>
    <p:extLst>
      <p:ext uri="{BB962C8B-B14F-4D97-AF65-F5344CB8AC3E}">
        <p14:creationId xmlns:p14="http://schemas.microsoft.com/office/powerpoint/2010/main" val="321606846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DA30-55E6-9D44-B411-6FDDCD799B8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Setup Stores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A store can also be written like </a:t>
            </a:r>
            <a:r>
              <a:rPr sz="2090" b="0" i="0">
                <a:solidFill>
                  <a:srgbClr val="8A2B52"/>
                </a:solidFill>
                <a:latin typeface="Consolas"/>
              </a:rPr>
              <a:t>&lt;script setup&gt;</a:t>
            </a:r>
            <a:r>
              <a:rPr sz="2200" b="0" i="0">
                <a:solidFill>
                  <a:srgbClr val="1F2A36"/>
                </a:solidFill>
              </a:rPr>
              <a:t>:</a:t>
            </a:r>
          </a:p>
        </p:txBody>
      </p:sp>
      <p:sp>
        <p:nvSpPr>
          <p:cNvPr id="4" name="Code"/>
          <p:cNvSpPr/>
          <p:nvPr/>
        </p:nvSpPr>
        <p:spPr>
          <a:xfrm>
            <a:off x="457200" y="1863597"/>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export</a:t>
            </a: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useCounterStore = defineStore(</a:t>
            </a:r>
            <a:r>
              <a:rPr sz="1600">
                <a:solidFill>
                  <a:srgbClr val="0A3069"/>
                </a:solidFill>
                <a:latin typeface="Consolas"/>
              </a:rPr>
              <a:t>'counter'</a:t>
            </a:r>
            <a:r>
              <a:rPr sz="1600">
                <a:solidFill>
                  <a:srgbClr val="24292F"/>
                </a:solidFill>
                <a:latin typeface="Consolas"/>
              </a:rPr>
              <a:t>, () =&gt; {</a:t>
            </a:r>
          </a:p>
          <a:p>
            <a:pPr marL="0" indent="0" algn="l">
              <a:lnSpc>
                <a:spcPct val="100000"/>
              </a:lnSpc>
              <a:buNone/>
            </a:pP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count = ref(</a:t>
            </a:r>
            <a:r>
              <a:rPr sz="1600">
                <a:solidFill>
                  <a:srgbClr val="0550AE"/>
                </a:solidFill>
                <a:latin typeface="Consolas"/>
              </a:rPr>
              <a:t>0</a:t>
            </a:r>
            <a:r>
              <a:rPr sz="1600">
                <a:solidFill>
                  <a:srgbClr val="24292F"/>
                </a:solidFill>
                <a:latin typeface="Consolas"/>
              </a:rPr>
              <a:t>)                               </a:t>
            </a:r>
            <a:r>
              <a:rPr sz="1600" i="1">
                <a:solidFill>
                  <a:srgbClr val="6E7781"/>
                </a:solidFill>
                <a:latin typeface="Consolas"/>
              </a:rPr>
              <a:t>// state</a:t>
            </a:r>
          </a:p>
          <a:p>
            <a:pPr marL="0" indent="0" algn="l">
              <a:lnSpc>
                <a:spcPct val="100000"/>
              </a:lnSpc>
              <a:buNone/>
            </a:pP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double = computed(() =&gt; count.value * </a:t>
            </a:r>
            <a:r>
              <a:rPr sz="1600">
                <a:solidFill>
                  <a:srgbClr val="0550AE"/>
                </a:solidFill>
                <a:latin typeface="Consolas"/>
              </a:rPr>
              <a:t>2</a:t>
            </a:r>
            <a:r>
              <a:rPr sz="1600">
                <a:solidFill>
                  <a:srgbClr val="24292F"/>
                </a:solidFill>
                <a:latin typeface="Consolas"/>
              </a:rPr>
              <a:t>)     </a:t>
            </a:r>
            <a:r>
              <a:rPr sz="1600" i="1">
                <a:solidFill>
                  <a:srgbClr val="6E7781"/>
                </a:solidFill>
                <a:latin typeface="Consolas"/>
              </a:rPr>
              <a:t>// getter</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  </a:t>
            </a:r>
            <a:r>
              <a:rPr sz="1600">
                <a:solidFill>
                  <a:srgbClr val="CF222E"/>
                </a:solidFill>
                <a:latin typeface="Consolas"/>
              </a:rPr>
              <a:t>function</a:t>
            </a:r>
            <a:r>
              <a:rPr sz="1600">
                <a:solidFill>
                  <a:srgbClr val="24292F"/>
                </a:solidFill>
                <a:latin typeface="Consolas"/>
              </a:rPr>
              <a:t> increment() {                             </a:t>
            </a:r>
            <a:r>
              <a:rPr sz="1600" i="1">
                <a:solidFill>
                  <a:srgbClr val="6E7781"/>
                </a:solidFill>
                <a:latin typeface="Consolas"/>
              </a:rPr>
              <a:t>// action</a:t>
            </a:r>
          </a:p>
          <a:p>
            <a:pPr marL="0" indent="0" algn="l">
              <a:lnSpc>
                <a:spcPct val="100000"/>
              </a:lnSpc>
              <a:buNone/>
            </a:pPr>
            <a:r>
              <a:rPr sz="1600">
                <a:solidFill>
                  <a:srgbClr val="24292F"/>
                </a:solidFill>
                <a:latin typeface="Consolas"/>
              </a:rPr>
              <a:t>    count.value++</a:t>
            </a:r>
          </a:p>
          <a:p>
            <a:pPr marL="0" indent="0" algn="l">
              <a:lnSpc>
                <a:spcPct val="100000"/>
              </a:lnSpc>
              <a:buNone/>
            </a:pPr>
            <a:r>
              <a:rPr sz="1600">
                <a:solidFill>
                  <a:srgbClr val="24292F"/>
                </a:solidFill>
                <a:latin typeface="Consolas"/>
              </a:rPr>
              <a:t>  }</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  </a:t>
            </a:r>
            <a:r>
              <a:rPr sz="1600">
                <a:solidFill>
                  <a:srgbClr val="CF222E"/>
                </a:solidFill>
                <a:latin typeface="Consolas"/>
              </a:rPr>
              <a:t>return</a:t>
            </a:r>
            <a:r>
              <a:rPr sz="1600">
                <a:solidFill>
                  <a:srgbClr val="24292F"/>
                </a:solidFill>
                <a:latin typeface="Consolas"/>
              </a:rPr>
              <a:t> { count, double, increment }</a:t>
            </a:r>
          </a:p>
          <a:p>
            <a:pPr marL="0" indent="0" algn="l">
              <a:lnSpc>
                <a:spcPct val="100000"/>
              </a:lnSpc>
              <a:buNone/>
            </a:pPr>
            <a:r>
              <a:rPr sz="1600">
                <a:solidFill>
                  <a:srgbClr val="24292F"/>
                </a:solidFill>
                <a:latin typeface="Consolas"/>
              </a:rPr>
              <a:t>})</a:t>
            </a:r>
          </a:p>
        </p:txBody>
      </p:sp>
      <p:sp>
        <p:nvSpPr>
          <p:cNvPr id="5" name="Body"/>
          <p:cNvSpPr txBox="1"/>
          <p:nvPr/>
        </p:nvSpPr>
        <p:spPr>
          <a:xfrm>
            <a:off x="457200" y="4822189"/>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Same store, different syntax</a:t>
            </a:r>
          </a:p>
          <a:p>
            <a:pPr marL="274320" indent="-256032">
              <a:spcAft>
                <a:spcPts val="990"/>
              </a:spcAft>
              <a:buClr>
                <a:srgbClr val="42B883"/>
              </a:buClr>
              <a:buSzPct val="100000"/>
              <a:buFont typeface="Arial"/>
              <a:buChar char="•"/>
            </a:pPr>
            <a:r>
              <a:rPr sz="2200" b="0" i="0">
                <a:solidFill>
                  <a:srgbClr val="1F2A36"/>
                </a:solidFill>
              </a:rPr>
              <a:t>Setup stores compose more easily; option stores map directly onto a Vuex module you're porting</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200</a:t>
            </a:fld>
            <a:endParaRPr lang="en-US" sz="900">
              <a:solidFill>
                <a:srgbClr val="9AA7B4"/>
              </a:solidFill>
            </a:endParaRPr>
          </a:p>
        </p:txBody>
      </p:sp>
    </p:spTree>
    <p:extLst>
      <p:ext uri="{BB962C8B-B14F-4D97-AF65-F5344CB8AC3E}">
        <p14:creationId xmlns:p14="http://schemas.microsoft.com/office/powerpoint/2010/main" val="406903142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1A4FA-DDA9-E14F-A52A-2AFDBC190A84}"/>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State</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state</a:t>
            </a:r>
            <a:r>
              <a:rPr sz="2200" b="0" i="0">
                <a:solidFill>
                  <a:srgbClr val="1F2A36"/>
                </a:solidFill>
              </a:rPr>
              <a:t> is a function that returns a fresh object</a:t>
            </a:r>
          </a:p>
          <a:p>
            <a:pPr marL="274320" indent="-256032">
              <a:spcAft>
                <a:spcPts val="990"/>
              </a:spcAft>
              <a:buClr>
                <a:srgbClr val="42B883"/>
              </a:buClr>
              <a:buSzPct val="100000"/>
              <a:buFont typeface="Arial"/>
              <a:buChar char="•"/>
            </a:pPr>
            <a:r>
              <a:rPr sz="2200" b="0" i="0">
                <a:solidFill>
                  <a:srgbClr val="1F2A36"/>
                </a:solidFill>
              </a:rPr>
              <a:t>Read and write it directly on the store:</a:t>
            </a:r>
          </a:p>
        </p:txBody>
      </p:sp>
      <p:sp>
        <p:nvSpPr>
          <p:cNvPr id="4" name="Code"/>
          <p:cNvSpPr/>
          <p:nvPr/>
        </p:nvSpPr>
        <p:spPr>
          <a:xfrm>
            <a:off x="457200" y="2319020"/>
            <a:ext cx="8229600" cy="159181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CF222E"/>
                </a:solidFill>
                <a:latin typeface="Consolas"/>
              </a:rPr>
              <a:t>const</a:t>
            </a:r>
            <a:r>
              <a:rPr sz="1650">
                <a:solidFill>
                  <a:srgbClr val="24292F"/>
                </a:solidFill>
                <a:latin typeface="Consolas"/>
              </a:rPr>
              <a:t> counter = useCounterStore()</a:t>
            </a:r>
          </a:p>
          <a:p>
            <a:pPr marL="0" indent="0" algn="l">
              <a:lnSpc>
                <a:spcPct val="100000"/>
              </a:lnSpc>
              <a:buNone/>
            </a:pPr>
            <a:r>
              <a:rPr sz="1650">
                <a:latin typeface="Consolas"/>
              </a:rPr>
              <a:t> </a:t>
            </a:r>
          </a:p>
          <a:p>
            <a:pPr marL="0" indent="0" algn="l">
              <a:lnSpc>
                <a:spcPct val="100000"/>
              </a:lnSpc>
              <a:buNone/>
            </a:pPr>
            <a:r>
              <a:rPr sz="1650">
                <a:solidFill>
                  <a:srgbClr val="24292F"/>
                </a:solidFill>
                <a:latin typeface="Consolas"/>
              </a:rPr>
              <a:t>counter.count++</a:t>
            </a:r>
          </a:p>
          <a:p>
            <a:pPr marL="0" indent="0" algn="l">
              <a:lnSpc>
                <a:spcPct val="100000"/>
              </a:lnSpc>
              <a:buNone/>
            </a:pPr>
            <a:r>
              <a:rPr sz="1650">
                <a:solidFill>
                  <a:srgbClr val="24292F"/>
                </a:solidFill>
                <a:latin typeface="Consolas"/>
              </a:rPr>
              <a:t>counter.$patch({ count: </a:t>
            </a:r>
            <a:r>
              <a:rPr sz="1650">
                <a:solidFill>
                  <a:srgbClr val="0550AE"/>
                </a:solidFill>
                <a:latin typeface="Consolas"/>
              </a:rPr>
              <a:t>10</a:t>
            </a:r>
            <a:r>
              <a:rPr sz="1650">
                <a:solidFill>
                  <a:srgbClr val="24292F"/>
                </a:solidFill>
                <a:latin typeface="Consolas"/>
              </a:rPr>
              <a:t> })   </a:t>
            </a:r>
            <a:r>
              <a:rPr sz="1650" i="1">
                <a:solidFill>
                  <a:srgbClr val="6E7781"/>
                </a:solidFill>
                <a:latin typeface="Consolas"/>
              </a:rPr>
              <a:t>// several changes at once</a:t>
            </a:r>
          </a:p>
          <a:p>
            <a:pPr marL="0" indent="0" algn="l">
              <a:lnSpc>
                <a:spcPct val="100000"/>
              </a:lnSpc>
              <a:buNone/>
            </a:pPr>
            <a:r>
              <a:rPr sz="1650">
                <a:solidFill>
                  <a:srgbClr val="24292F"/>
                </a:solidFill>
                <a:latin typeface="Consolas"/>
              </a:rPr>
              <a:t>counter.$reset()                </a:t>
            </a:r>
            <a:r>
              <a:rPr sz="1650" i="1">
                <a:solidFill>
                  <a:srgbClr val="6E7781"/>
                </a:solidFill>
                <a:latin typeface="Consolas"/>
              </a:rPr>
              <a:t>// back to the initial state</a:t>
            </a:r>
          </a:p>
        </p:txBody>
      </p:sp>
      <p:sp>
        <p:nvSpPr>
          <p:cNvPr id="5" name="Body"/>
          <p:cNvSpPr txBox="1"/>
          <p:nvPr/>
        </p:nvSpPr>
        <p:spPr>
          <a:xfrm>
            <a:off x="457200" y="405714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$reset()</a:t>
            </a:r>
            <a:r>
              <a:rPr sz="2200" b="0" i="0">
                <a:solidFill>
                  <a:srgbClr val="1F2A36"/>
                </a:solidFill>
              </a:rPr>
              <a:t> is built in for option stores; setup stores define their own</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201</a:t>
            </a:fld>
            <a:endParaRPr lang="en-US" sz="900">
              <a:solidFill>
                <a:srgbClr val="9AA7B4"/>
              </a:solidFill>
            </a:endParaRPr>
          </a:p>
        </p:txBody>
      </p:sp>
    </p:spTree>
    <p:extLst>
      <p:ext uri="{BB962C8B-B14F-4D97-AF65-F5344CB8AC3E}">
        <p14:creationId xmlns:p14="http://schemas.microsoft.com/office/powerpoint/2010/main" val="17799270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0B40-4222-F64E-ACC6-3047F2695FC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Getters</a:t>
            </a:r>
          </a:p>
        </p:txBody>
      </p:sp>
      <p:sp>
        <p:nvSpPr>
          <p:cNvPr id="3" name="Body"/>
          <p:cNvSpPr txBox="1"/>
          <p:nvPr/>
        </p:nvSpPr>
        <p:spPr>
          <a:xfrm>
            <a:off x="457200" y="1261872"/>
            <a:ext cx="8229600" cy="145770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Computed properties for a store</a:t>
            </a:r>
          </a:p>
          <a:p>
            <a:pPr marL="274320" indent="-256032">
              <a:spcAft>
                <a:spcPts val="990"/>
              </a:spcAft>
              <a:buClr>
                <a:srgbClr val="42B883"/>
              </a:buClr>
              <a:buSzPct val="100000"/>
              <a:buFont typeface="Arial"/>
              <a:buChar char="•"/>
            </a:pPr>
            <a:r>
              <a:rPr sz="2200" b="0" i="0">
                <a:solidFill>
                  <a:srgbClr val="1F2A36"/>
                </a:solidFill>
              </a:rPr>
              <a:t>Receive state as their first argument</a:t>
            </a:r>
          </a:p>
          <a:p>
            <a:pPr marL="274320" indent="-256032">
              <a:spcAft>
                <a:spcPts val="990"/>
              </a:spcAft>
              <a:buClr>
                <a:srgbClr val="42B883"/>
              </a:buClr>
              <a:buSzPct val="100000"/>
              <a:buFont typeface="Arial"/>
              <a:buChar char="•"/>
            </a:pPr>
            <a:r>
              <a:rPr sz="2200" b="0" i="0">
                <a:solidFill>
                  <a:srgbClr val="1F2A36"/>
                </a:solidFill>
              </a:rPr>
              <a:t>Cached, like any computed property</a:t>
            </a:r>
          </a:p>
        </p:txBody>
      </p:sp>
      <p:sp>
        <p:nvSpPr>
          <p:cNvPr id="4" name="Code"/>
          <p:cNvSpPr/>
          <p:nvPr/>
        </p:nvSpPr>
        <p:spPr>
          <a:xfrm>
            <a:off x="457200" y="2774442"/>
            <a:ext cx="8229600" cy="189890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24292F"/>
                </a:solidFill>
                <a:latin typeface="Consolas"/>
              </a:rPr>
              <a:t>getters: {</a:t>
            </a:r>
          </a:p>
          <a:p>
            <a:pPr marL="0" indent="0" algn="l">
              <a:lnSpc>
                <a:spcPct val="100000"/>
              </a:lnSpc>
              <a:buNone/>
            </a:pPr>
            <a:r>
              <a:rPr sz="1700">
                <a:solidFill>
                  <a:srgbClr val="24292F"/>
                </a:solidFill>
                <a:latin typeface="Consolas"/>
              </a:rPr>
              <a:t>  doneTodos: (state) =&gt; state.todos.filter((t) =&gt; t.done),</a:t>
            </a:r>
          </a:p>
          <a:p>
            <a:pPr marL="0" indent="0" algn="l">
              <a:lnSpc>
                <a:spcPct val="100000"/>
              </a:lnSpc>
              <a:buNone/>
            </a:pPr>
            <a:r>
              <a:rPr sz="1700">
                <a:solidFill>
                  <a:srgbClr val="24292F"/>
                </a:solidFill>
                <a:latin typeface="Consolas"/>
              </a:rPr>
              <a:t>  doneCount() {</a:t>
            </a:r>
          </a:p>
          <a:p>
            <a:pPr marL="0" indent="0" algn="l">
              <a:lnSpc>
                <a:spcPct val="100000"/>
              </a:lnSpc>
              <a:buNone/>
            </a:pPr>
            <a:r>
              <a:rPr sz="1700">
                <a:solidFill>
                  <a:srgbClr val="24292F"/>
                </a:solidFill>
                <a:latin typeface="Consolas"/>
              </a:rPr>
              <a:t>    </a:t>
            </a:r>
            <a:r>
              <a:rPr sz="1700">
                <a:solidFill>
                  <a:srgbClr val="CF222E"/>
                </a:solidFill>
                <a:latin typeface="Consolas"/>
              </a:rPr>
              <a:t>return</a:t>
            </a:r>
            <a:r>
              <a:rPr sz="1700">
                <a:solidFill>
                  <a:srgbClr val="24292F"/>
                </a:solidFill>
                <a:latin typeface="Consolas"/>
              </a:rPr>
              <a:t> </a:t>
            </a:r>
            <a:r>
              <a:rPr sz="1700">
                <a:solidFill>
                  <a:srgbClr val="CF222E"/>
                </a:solidFill>
                <a:latin typeface="Consolas"/>
              </a:rPr>
              <a:t>this</a:t>
            </a:r>
            <a:r>
              <a:rPr sz="1700">
                <a:solidFill>
                  <a:srgbClr val="24292F"/>
                </a:solidFill>
                <a:latin typeface="Consolas"/>
              </a:rPr>
              <a:t>.doneTodos.length</a:t>
            </a:r>
          </a:p>
          <a:p>
            <a:pPr marL="0" indent="0" algn="l">
              <a:lnSpc>
                <a:spcPct val="100000"/>
              </a:lnSpc>
              <a:buNone/>
            </a:pPr>
            <a:r>
              <a:rPr sz="1700">
                <a:solidFill>
                  <a:srgbClr val="24292F"/>
                </a:solidFill>
                <a:latin typeface="Consolas"/>
              </a:rPr>
              <a:t>  },</a:t>
            </a:r>
          </a:p>
          <a:p>
            <a:pPr marL="0" indent="0" algn="l">
              <a:lnSpc>
                <a:spcPct val="100000"/>
              </a:lnSpc>
              <a:buNone/>
            </a:pPr>
            <a:r>
              <a:rPr sz="1700">
                <a:solidFill>
                  <a:srgbClr val="24292F"/>
                </a:solidFill>
                <a:latin typeface="Consolas"/>
              </a:rPr>
              <a:t>},</a:t>
            </a:r>
          </a:p>
        </p:txBody>
      </p:sp>
      <p:sp>
        <p:nvSpPr>
          <p:cNvPr id="5" name="Body"/>
          <p:cNvSpPr txBox="1"/>
          <p:nvPr/>
        </p:nvSpPr>
        <p:spPr>
          <a:xfrm>
            <a:off x="457200" y="4819650"/>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Use </a:t>
            </a:r>
            <a:r>
              <a:rPr sz="2090" b="0" i="0">
                <a:solidFill>
                  <a:srgbClr val="8A2B52"/>
                </a:solidFill>
                <a:latin typeface="Consolas"/>
              </a:rPr>
              <a:t>this</a:t>
            </a:r>
            <a:r>
              <a:rPr sz="2200" b="0" i="0">
                <a:solidFill>
                  <a:srgbClr val="1F2A36"/>
                </a:solidFill>
              </a:rPr>
              <a:t> (and a regular function) to reach other getters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202</a:t>
            </a:fld>
            <a:endParaRPr lang="en-US" sz="900">
              <a:solidFill>
                <a:srgbClr val="9AA7B4"/>
              </a:solidFill>
            </a:endParaRPr>
          </a:p>
        </p:txBody>
      </p:sp>
    </p:spTree>
    <p:extLst>
      <p:ext uri="{BB962C8B-B14F-4D97-AF65-F5344CB8AC3E}">
        <p14:creationId xmlns:p14="http://schemas.microsoft.com/office/powerpoint/2010/main" val="274682631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4B4A-969C-E845-8C1B-DDD1118AF639}"/>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a Store in a Component</a:t>
            </a:r>
          </a:p>
        </p:txBody>
      </p:sp>
      <p:sp>
        <p:nvSpPr>
          <p:cNvPr id="3" name="Code"/>
          <p:cNvSpPr/>
          <p:nvPr/>
        </p:nvSpPr>
        <p:spPr>
          <a:xfrm>
            <a:off x="457200" y="1261872"/>
            <a:ext cx="8229600" cy="33634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a:solidFill>
                  <a:srgbClr val="116329"/>
                </a:solidFill>
                <a:latin typeface="Consolas"/>
              </a:rPr>
              <a:t>&lt;script</a:t>
            </a:r>
            <a:r>
              <a:rPr sz="1950">
                <a:solidFill>
                  <a:srgbClr val="24292F"/>
                </a:solidFill>
                <a:latin typeface="Consolas"/>
              </a:rPr>
              <a:t> </a:t>
            </a:r>
            <a:r>
              <a:rPr sz="1950">
                <a:solidFill>
                  <a:srgbClr val="953800"/>
                </a:solidFill>
                <a:latin typeface="Consolas"/>
              </a:rPr>
              <a:t>setup</a:t>
            </a:r>
            <a:r>
              <a:rPr sz="1950">
                <a:solidFill>
                  <a:srgbClr val="116329"/>
                </a:solidFill>
                <a:latin typeface="Consolas"/>
              </a:rPr>
              <a:t>&gt;</a:t>
            </a:r>
          </a:p>
          <a:p>
            <a:pPr marL="0" indent="0" algn="l">
              <a:lnSpc>
                <a:spcPct val="100000"/>
              </a:lnSpc>
              <a:buNone/>
            </a:pPr>
            <a:r>
              <a:rPr sz="1950">
                <a:solidFill>
                  <a:srgbClr val="CF222E"/>
                </a:solidFill>
                <a:latin typeface="Consolas"/>
              </a:rPr>
              <a:t>import</a:t>
            </a:r>
            <a:r>
              <a:rPr sz="1950">
                <a:solidFill>
                  <a:srgbClr val="24292F"/>
                </a:solidFill>
                <a:latin typeface="Consolas"/>
              </a:rPr>
              <a:t> { useCounterStore } </a:t>
            </a:r>
            <a:r>
              <a:rPr sz="1950">
                <a:solidFill>
                  <a:srgbClr val="CF222E"/>
                </a:solidFill>
                <a:latin typeface="Consolas"/>
              </a:rPr>
              <a:t>from</a:t>
            </a:r>
            <a:r>
              <a:rPr sz="1950">
                <a:solidFill>
                  <a:srgbClr val="24292F"/>
                </a:solidFill>
                <a:latin typeface="Consolas"/>
              </a:rPr>
              <a:t> </a:t>
            </a:r>
            <a:r>
              <a:rPr sz="1950">
                <a:solidFill>
                  <a:srgbClr val="0A3069"/>
                </a:solidFill>
                <a:latin typeface="Consolas"/>
              </a:rPr>
              <a:t>'@/stores/counter'</a:t>
            </a:r>
          </a:p>
          <a:p>
            <a:pPr marL="0" indent="0" algn="l">
              <a:lnSpc>
                <a:spcPct val="100000"/>
              </a:lnSpc>
              <a:buNone/>
            </a:pPr>
            <a:r>
              <a:rPr sz="1950">
                <a:latin typeface="Consolas"/>
              </a:rPr>
              <a:t> </a:t>
            </a:r>
          </a:p>
          <a:p>
            <a:pPr marL="0" indent="0" algn="l">
              <a:lnSpc>
                <a:spcPct val="100000"/>
              </a:lnSpc>
              <a:buNone/>
            </a:pPr>
            <a:r>
              <a:rPr sz="1950">
                <a:solidFill>
                  <a:srgbClr val="CF222E"/>
                </a:solidFill>
                <a:latin typeface="Consolas"/>
              </a:rPr>
              <a:t>const</a:t>
            </a:r>
            <a:r>
              <a:rPr sz="1950">
                <a:solidFill>
                  <a:srgbClr val="24292F"/>
                </a:solidFill>
                <a:latin typeface="Consolas"/>
              </a:rPr>
              <a:t> counter = useCounterStore()</a:t>
            </a:r>
          </a:p>
          <a:p>
            <a:pPr marL="0" indent="0" algn="l">
              <a:lnSpc>
                <a:spcPct val="100000"/>
              </a:lnSpc>
              <a:buNone/>
            </a:pPr>
            <a:r>
              <a:rPr sz="1950">
                <a:solidFill>
                  <a:srgbClr val="116329"/>
                </a:solidFill>
                <a:latin typeface="Consolas"/>
              </a:rPr>
              <a:t>&lt;/script&gt;</a:t>
            </a:r>
          </a:p>
          <a:p>
            <a:pPr marL="0" indent="0" algn="l">
              <a:lnSpc>
                <a:spcPct val="100000"/>
              </a:lnSpc>
              <a:buNone/>
            </a:pPr>
            <a:r>
              <a:rPr sz="1950">
                <a:latin typeface="Consolas"/>
              </a:rPr>
              <a:t> </a:t>
            </a:r>
          </a:p>
          <a:p>
            <a:pPr marL="0" indent="0" algn="l">
              <a:lnSpc>
                <a:spcPct val="100000"/>
              </a:lnSpc>
              <a:buNone/>
            </a:pPr>
            <a:r>
              <a:rPr sz="1950">
                <a:solidFill>
                  <a:srgbClr val="116329"/>
                </a:solidFill>
                <a:latin typeface="Consolas"/>
              </a:rPr>
              <a:t>&lt;template&gt;</a:t>
            </a:r>
          </a:p>
          <a:p>
            <a:pPr marL="0" indent="0" algn="l">
              <a:lnSpc>
                <a:spcPct val="100000"/>
              </a:lnSpc>
              <a:buNone/>
            </a:pPr>
            <a:r>
              <a:rPr sz="1950">
                <a:solidFill>
                  <a:srgbClr val="24292F"/>
                </a:solidFill>
                <a:latin typeface="Consolas"/>
              </a:rPr>
              <a:t>  </a:t>
            </a:r>
            <a:r>
              <a:rPr sz="1950">
                <a:solidFill>
                  <a:srgbClr val="116329"/>
                </a:solidFill>
                <a:latin typeface="Consolas"/>
              </a:rPr>
              <a:t>&lt;p&gt;</a:t>
            </a:r>
            <a:r>
              <a:rPr sz="1950">
                <a:solidFill>
                  <a:srgbClr val="24292F"/>
                </a:solidFill>
                <a:latin typeface="Consolas"/>
              </a:rPr>
              <a:t>{{ counter.count }} / {{ counter.double }}</a:t>
            </a:r>
            <a:r>
              <a:rPr sz="1950">
                <a:solidFill>
                  <a:srgbClr val="116329"/>
                </a:solidFill>
                <a:latin typeface="Consolas"/>
              </a:rPr>
              <a:t>&lt;/p&gt;</a:t>
            </a:r>
          </a:p>
          <a:p>
            <a:pPr marL="0" indent="0" algn="l">
              <a:lnSpc>
                <a:spcPct val="100000"/>
              </a:lnSpc>
              <a:buNone/>
            </a:pPr>
            <a:r>
              <a:rPr sz="1950">
                <a:solidFill>
                  <a:srgbClr val="24292F"/>
                </a:solidFill>
                <a:latin typeface="Consolas"/>
              </a:rPr>
              <a:t>  </a:t>
            </a:r>
            <a:r>
              <a:rPr sz="1950">
                <a:solidFill>
                  <a:srgbClr val="116329"/>
                </a:solidFill>
                <a:latin typeface="Consolas"/>
              </a:rPr>
              <a:t>&lt;button</a:t>
            </a:r>
            <a:r>
              <a:rPr sz="1950">
                <a:solidFill>
                  <a:srgbClr val="24292F"/>
                </a:solidFill>
                <a:latin typeface="Consolas"/>
              </a:rPr>
              <a:t> </a:t>
            </a:r>
            <a:r>
              <a:rPr sz="1950">
                <a:solidFill>
                  <a:srgbClr val="953800"/>
                </a:solidFill>
                <a:latin typeface="Consolas"/>
              </a:rPr>
              <a:t>@click</a:t>
            </a:r>
            <a:r>
              <a:rPr sz="1950">
                <a:solidFill>
                  <a:srgbClr val="24292F"/>
                </a:solidFill>
                <a:latin typeface="Consolas"/>
              </a:rPr>
              <a:t>=</a:t>
            </a:r>
            <a:r>
              <a:rPr sz="1950">
                <a:solidFill>
                  <a:srgbClr val="0A3069"/>
                </a:solidFill>
                <a:latin typeface="Consolas"/>
              </a:rPr>
              <a:t>"counter.increment()"</a:t>
            </a:r>
            <a:r>
              <a:rPr sz="1950">
                <a:solidFill>
                  <a:srgbClr val="116329"/>
                </a:solidFill>
                <a:latin typeface="Consolas"/>
              </a:rPr>
              <a:t>&gt;</a:t>
            </a:r>
            <a:r>
              <a:rPr sz="1950">
                <a:solidFill>
                  <a:srgbClr val="24292F"/>
                </a:solidFill>
                <a:latin typeface="Consolas"/>
              </a:rPr>
              <a:t>+</a:t>
            </a:r>
            <a:r>
              <a:rPr sz="1950">
                <a:solidFill>
                  <a:srgbClr val="0550AE"/>
                </a:solidFill>
                <a:latin typeface="Consolas"/>
              </a:rPr>
              <a:t>1</a:t>
            </a:r>
            <a:r>
              <a:rPr sz="1950">
                <a:solidFill>
                  <a:srgbClr val="116329"/>
                </a:solidFill>
                <a:latin typeface="Consolas"/>
              </a:rPr>
              <a:t>&lt;/button&gt;</a:t>
            </a:r>
          </a:p>
          <a:p>
            <a:pPr marL="0" indent="0" algn="l">
              <a:lnSpc>
                <a:spcPct val="100000"/>
              </a:lnSpc>
              <a:buNone/>
            </a:pPr>
            <a:r>
              <a:rPr sz="1950">
                <a:solidFill>
                  <a:srgbClr val="116329"/>
                </a:solidFill>
                <a:latin typeface="Consolas"/>
              </a:rPr>
              <a:t>&lt;/template&gt;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203</a:t>
            </a:fld>
            <a:endParaRPr lang="en-US" sz="900">
              <a:solidFill>
                <a:srgbClr val="9AA7B4"/>
              </a:solidFill>
            </a:endParaRPr>
          </a:p>
        </p:txBody>
      </p:sp>
    </p:spTree>
    <p:extLst>
      <p:ext uri="{BB962C8B-B14F-4D97-AF65-F5344CB8AC3E}">
        <p14:creationId xmlns:p14="http://schemas.microsoft.com/office/powerpoint/2010/main" val="382779606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5B0A-EAAC-AF40-A05D-65BC515A6F6A}"/>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storeToRefs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A store is reactive, so destructuring it copies the values out and breaks reactivity.</a:t>
            </a:r>
          </a:p>
        </p:txBody>
      </p:sp>
      <p:sp>
        <p:nvSpPr>
          <p:cNvPr id="4" name="Code"/>
          <p:cNvSpPr/>
          <p:nvPr/>
        </p:nvSpPr>
        <p:spPr>
          <a:xfrm>
            <a:off x="457200" y="2193290"/>
            <a:ext cx="8229600" cy="175717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CF222E"/>
                </a:solidFill>
                <a:latin typeface="Consolas"/>
              </a:rPr>
              <a:t>import</a:t>
            </a:r>
            <a:r>
              <a:rPr sz="1550">
                <a:solidFill>
                  <a:srgbClr val="24292F"/>
                </a:solidFill>
                <a:latin typeface="Consolas"/>
              </a:rPr>
              <a:t> { storeToRefs } </a:t>
            </a:r>
            <a:r>
              <a:rPr sz="1550">
                <a:solidFill>
                  <a:srgbClr val="CF222E"/>
                </a:solidFill>
                <a:latin typeface="Consolas"/>
              </a:rPr>
              <a:t>from</a:t>
            </a:r>
            <a:r>
              <a:rPr sz="1550">
                <a:solidFill>
                  <a:srgbClr val="24292F"/>
                </a:solidFill>
                <a:latin typeface="Consolas"/>
              </a:rPr>
              <a:t> </a:t>
            </a:r>
            <a:r>
              <a:rPr sz="1550">
                <a:solidFill>
                  <a:srgbClr val="0A3069"/>
                </a:solidFill>
                <a:latin typeface="Consolas"/>
              </a:rPr>
              <a:t>'pinia'</a:t>
            </a:r>
          </a:p>
          <a:p>
            <a:pPr marL="0" indent="0" algn="l">
              <a:lnSpc>
                <a:spcPct val="100000"/>
              </a:lnSpc>
              <a:buNone/>
            </a:pPr>
            <a:r>
              <a:rPr sz="1550">
                <a:latin typeface="Consolas"/>
              </a:rPr>
              <a:t> </a:t>
            </a:r>
          </a:p>
          <a:p>
            <a:pPr marL="0" indent="0" algn="l">
              <a:lnSpc>
                <a:spcPct val="100000"/>
              </a:lnSpc>
              <a:buNone/>
            </a:pPr>
            <a:r>
              <a:rPr sz="1550">
                <a:solidFill>
                  <a:srgbClr val="CF222E"/>
                </a:solidFill>
                <a:latin typeface="Consolas"/>
              </a:rPr>
              <a:t>const</a:t>
            </a:r>
            <a:r>
              <a:rPr sz="1550">
                <a:solidFill>
                  <a:srgbClr val="24292F"/>
                </a:solidFill>
                <a:latin typeface="Consolas"/>
              </a:rPr>
              <a:t> { count, double } = counter              </a:t>
            </a:r>
            <a:r>
              <a:rPr sz="1550" i="1">
                <a:solidFill>
                  <a:srgbClr val="6E7781"/>
                </a:solidFill>
                <a:latin typeface="Consolas"/>
              </a:rPr>
              <a:t>// ✗ not reactive</a:t>
            </a:r>
          </a:p>
          <a:p>
            <a:pPr marL="0" indent="0" algn="l">
              <a:lnSpc>
                <a:spcPct val="100000"/>
              </a:lnSpc>
              <a:buNone/>
            </a:pPr>
            <a:r>
              <a:rPr sz="1550">
                <a:latin typeface="Consolas"/>
              </a:rPr>
              <a:t> </a:t>
            </a:r>
          </a:p>
          <a:p>
            <a:pPr marL="0" indent="0" algn="l">
              <a:lnSpc>
                <a:spcPct val="100000"/>
              </a:lnSpc>
              <a:buNone/>
            </a:pPr>
            <a:r>
              <a:rPr sz="1550">
                <a:solidFill>
                  <a:srgbClr val="CF222E"/>
                </a:solidFill>
                <a:latin typeface="Consolas"/>
              </a:rPr>
              <a:t>const</a:t>
            </a:r>
            <a:r>
              <a:rPr sz="1550">
                <a:solidFill>
                  <a:srgbClr val="24292F"/>
                </a:solidFill>
                <a:latin typeface="Consolas"/>
              </a:rPr>
              <a:t> { count, double } = storeToRefs(counter) </a:t>
            </a:r>
            <a:r>
              <a:rPr sz="1550" i="1">
                <a:solidFill>
                  <a:srgbClr val="6E7781"/>
                </a:solidFill>
                <a:latin typeface="Consolas"/>
              </a:rPr>
              <a:t>// ✓ refs</a:t>
            </a:r>
          </a:p>
          <a:p>
            <a:pPr marL="0" indent="0" algn="l">
              <a:lnSpc>
                <a:spcPct val="100000"/>
              </a:lnSpc>
              <a:buNone/>
            </a:pPr>
            <a:r>
              <a:rPr sz="1550">
                <a:solidFill>
                  <a:srgbClr val="CF222E"/>
                </a:solidFill>
                <a:latin typeface="Consolas"/>
              </a:rPr>
              <a:t>const</a:t>
            </a:r>
            <a:r>
              <a:rPr sz="1550">
                <a:solidFill>
                  <a:srgbClr val="24292F"/>
                </a:solidFill>
                <a:latin typeface="Consolas"/>
              </a:rPr>
              <a:t> { increment } = counter                  </a:t>
            </a:r>
            <a:r>
              <a:rPr sz="1550" i="1">
                <a:solidFill>
                  <a:srgbClr val="6E7781"/>
                </a:solidFill>
                <a:latin typeface="Consolas"/>
              </a:rPr>
              <a:t>// ✓ actions</a:t>
            </a:r>
          </a:p>
        </p:txBody>
      </p:sp>
      <p:sp>
        <p:nvSpPr>
          <p:cNvPr id="5" name="Tip"/>
          <p:cNvSpPr/>
          <p:nvPr/>
        </p:nvSpPr>
        <p:spPr>
          <a:xfrm>
            <a:off x="457200" y="4096766"/>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900" b="0" i="0">
                <a:solidFill>
                  <a:srgbClr val="8A2B52"/>
                </a:solidFill>
                <a:latin typeface="Consolas"/>
              </a:rPr>
              <a:t>storeToRefs</a:t>
            </a:r>
            <a:r>
              <a:rPr sz="2000" b="0" i="0">
                <a:solidFill>
                  <a:srgbClr val="1F2A36"/>
                </a:solidFill>
              </a:rPr>
              <a:t> replaces </a:t>
            </a:r>
            <a:r>
              <a:rPr sz="1900" b="0" i="0">
                <a:solidFill>
                  <a:srgbClr val="8A2B52"/>
                </a:solidFill>
                <a:latin typeface="Consolas"/>
              </a:rPr>
              <a:t>mapState</a:t>
            </a:r>
            <a:r>
              <a:rPr sz="2000" b="0" i="0">
                <a:solidFill>
                  <a:srgbClr val="1F2A36"/>
                </a:solidFill>
              </a:rPr>
              <a:t> and </a:t>
            </a:r>
            <a:r>
              <a:rPr sz="1900" b="0" i="0">
                <a:solidFill>
                  <a:srgbClr val="8A2B52"/>
                </a:solidFill>
                <a:latin typeface="Consolas"/>
              </a:rPr>
              <a:t>mapGetters</a:t>
            </a:r>
            <a:r>
              <a:rPr sz="2000" b="0" i="0">
                <a:solidFill>
                  <a:srgbClr val="1F2A36"/>
                </a:solidFill>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204</a:t>
            </a:fld>
            <a:endParaRPr lang="en-US" sz="900">
              <a:solidFill>
                <a:srgbClr val="9AA7B4"/>
              </a:solidFill>
            </a:endParaRPr>
          </a:p>
        </p:txBody>
      </p:sp>
    </p:spTree>
    <p:extLst>
      <p:ext uri="{BB962C8B-B14F-4D97-AF65-F5344CB8AC3E}">
        <p14:creationId xmlns:p14="http://schemas.microsoft.com/office/powerpoint/2010/main" val="98480873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3502E-223A-1247-9E9B-48C68319A75D}"/>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Actions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 action is just a method on the store</a:t>
            </a:r>
          </a:p>
          <a:p>
            <a:pPr marL="274320" indent="-256032">
              <a:spcAft>
                <a:spcPts val="990"/>
              </a:spcAft>
              <a:buClr>
                <a:srgbClr val="42B883"/>
              </a:buClr>
              <a:buSzPct val="100000"/>
              <a:buFont typeface="Arial"/>
              <a:buChar char="•"/>
            </a:pPr>
            <a:r>
              <a:rPr sz="2200" b="0" i="0">
                <a:solidFill>
                  <a:srgbClr val="1F2A36"/>
                </a:solidFill>
              </a:rPr>
              <a:t>It can be </a:t>
            </a:r>
            <a:r>
              <a:rPr sz="2090" b="0" i="0">
                <a:solidFill>
                  <a:srgbClr val="8A2B52"/>
                </a:solidFill>
                <a:latin typeface="Consolas"/>
              </a:rPr>
              <a:t>async</a:t>
            </a:r>
            <a:r>
              <a:rPr sz="2200" b="0" i="0">
                <a:solidFill>
                  <a:srgbClr val="1F2A36"/>
                </a:solidFill>
              </a:rPr>
              <a:t>, and it changes state through </a:t>
            </a:r>
            <a:r>
              <a:rPr sz="2090" b="0" i="0">
                <a:solidFill>
                  <a:srgbClr val="8A2B52"/>
                </a:solidFill>
                <a:latin typeface="Consolas"/>
              </a:rPr>
              <a:t>this</a:t>
            </a:r>
          </a:p>
        </p:txBody>
      </p:sp>
      <p:sp>
        <p:nvSpPr>
          <p:cNvPr id="4" name="Code"/>
          <p:cNvSpPr/>
          <p:nvPr/>
        </p:nvSpPr>
        <p:spPr>
          <a:xfrm>
            <a:off x="457200" y="2319020"/>
            <a:ext cx="8229600" cy="297764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24292F"/>
                </a:solidFill>
                <a:latin typeface="Consolas"/>
              </a:rPr>
              <a:t>actions: {</a:t>
            </a:r>
          </a:p>
          <a:p>
            <a:pPr marL="0" indent="0" algn="l">
              <a:lnSpc>
                <a:spcPct val="100000"/>
              </a:lnSpc>
              <a:buNone/>
            </a:pPr>
            <a:r>
              <a:rPr sz="1550">
                <a:solidFill>
                  <a:srgbClr val="24292F"/>
                </a:solidFill>
                <a:latin typeface="Consolas"/>
              </a:rPr>
              <a:t>  </a:t>
            </a:r>
            <a:r>
              <a:rPr sz="1550">
                <a:solidFill>
                  <a:srgbClr val="CF222E"/>
                </a:solidFill>
                <a:latin typeface="Consolas"/>
              </a:rPr>
              <a:t>async</a:t>
            </a:r>
            <a:r>
              <a:rPr sz="1550">
                <a:solidFill>
                  <a:srgbClr val="24292F"/>
                </a:solidFill>
                <a:latin typeface="Consolas"/>
              </a:rPr>
              <a:t> fetchArticles(params) {</a:t>
            </a:r>
          </a:p>
          <a:p>
            <a:pPr marL="0" indent="0" algn="l">
              <a:lnSpc>
                <a:spcPct val="100000"/>
              </a:lnSpc>
              <a:buNone/>
            </a:pPr>
            <a:r>
              <a:rPr sz="1550">
                <a:solidFill>
                  <a:srgbClr val="24292F"/>
                </a:solidFill>
                <a:latin typeface="Consolas"/>
              </a:rPr>
              <a:t>    </a:t>
            </a:r>
            <a:r>
              <a:rPr sz="1550">
                <a:solidFill>
                  <a:srgbClr val="CF222E"/>
                </a:solidFill>
                <a:latin typeface="Consolas"/>
              </a:rPr>
              <a:t>this</a:t>
            </a:r>
            <a:r>
              <a:rPr sz="1550">
                <a:solidFill>
                  <a:srgbClr val="24292F"/>
                </a:solidFill>
                <a:latin typeface="Consolas"/>
              </a:rPr>
              <a:t>.isLoading = </a:t>
            </a:r>
            <a:r>
              <a:rPr sz="1550">
                <a:solidFill>
                  <a:srgbClr val="CF222E"/>
                </a:solidFill>
                <a:latin typeface="Consolas"/>
              </a:rPr>
              <a:t>true</a:t>
            </a:r>
          </a:p>
          <a:p>
            <a:pPr marL="0" indent="0" algn="l">
              <a:lnSpc>
                <a:spcPct val="100000"/>
              </a:lnSpc>
              <a:buNone/>
            </a:pPr>
            <a:r>
              <a:rPr sz="1550">
                <a:solidFill>
                  <a:srgbClr val="24292F"/>
                </a:solidFill>
                <a:latin typeface="Consolas"/>
              </a:rPr>
              <a:t>    </a:t>
            </a:r>
            <a:r>
              <a:rPr sz="1550">
                <a:solidFill>
                  <a:srgbClr val="CF222E"/>
                </a:solidFill>
                <a:latin typeface="Consolas"/>
              </a:rPr>
              <a:t>try</a:t>
            </a:r>
            <a:r>
              <a:rPr sz="1550">
                <a:solidFill>
                  <a:srgbClr val="24292F"/>
                </a:solidFill>
                <a:latin typeface="Consolas"/>
              </a:rPr>
              <a:t> {</a:t>
            </a:r>
          </a:p>
          <a:p>
            <a:pPr marL="0" indent="0" algn="l">
              <a:lnSpc>
                <a:spcPct val="100000"/>
              </a:lnSpc>
              <a:buNone/>
            </a:pPr>
            <a:r>
              <a:rPr sz="1550">
                <a:solidFill>
                  <a:srgbClr val="24292F"/>
                </a:solidFill>
                <a:latin typeface="Consolas"/>
              </a:rPr>
              <a:t>      </a:t>
            </a:r>
            <a:r>
              <a:rPr sz="1550">
                <a:solidFill>
                  <a:srgbClr val="CF222E"/>
                </a:solidFill>
                <a:latin typeface="Consolas"/>
              </a:rPr>
              <a:t>const</a:t>
            </a:r>
            <a:r>
              <a:rPr sz="1550">
                <a:solidFill>
                  <a:srgbClr val="24292F"/>
                </a:solidFill>
                <a:latin typeface="Consolas"/>
              </a:rPr>
              <a:t> { data } = </a:t>
            </a:r>
            <a:r>
              <a:rPr sz="1550">
                <a:solidFill>
                  <a:srgbClr val="CF222E"/>
                </a:solidFill>
                <a:latin typeface="Consolas"/>
              </a:rPr>
              <a:t>await</a:t>
            </a:r>
            <a:r>
              <a:rPr sz="1550">
                <a:solidFill>
                  <a:srgbClr val="24292F"/>
                </a:solidFill>
                <a:latin typeface="Consolas"/>
              </a:rPr>
              <a:t> ArticlesService.query(params.type)</a:t>
            </a:r>
          </a:p>
          <a:p>
            <a:pPr marL="0" indent="0" algn="l">
              <a:lnSpc>
                <a:spcPct val="100000"/>
              </a:lnSpc>
              <a:buNone/>
            </a:pPr>
            <a:r>
              <a:rPr sz="1550">
                <a:solidFill>
                  <a:srgbClr val="24292F"/>
                </a:solidFill>
                <a:latin typeface="Consolas"/>
              </a:rPr>
              <a:t>      </a:t>
            </a:r>
            <a:r>
              <a:rPr sz="1550">
                <a:solidFill>
                  <a:srgbClr val="CF222E"/>
                </a:solidFill>
                <a:latin typeface="Consolas"/>
              </a:rPr>
              <a:t>this</a:t>
            </a:r>
            <a:r>
              <a:rPr sz="1550">
                <a:solidFill>
                  <a:srgbClr val="24292F"/>
                </a:solidFill>
                <a:latin typeface="Consolas"/>
              </a:rPr>
              <a:t>.articles = data.articles</a:t>
            </a:r>
          </a:p>
          <a:p>
            <a:pPr marL="0" indent="0" algn="l">
              <a:lnSpc>
                <a:spcPct val="100000"/>
              </a:lnSpc>
              <a:buNone/>
            </a:pPr>
            <a:r>
              <a:rPr sz="1550">
                <a:solidFill>
                  <a:srgbClr val="24292F"/>
                </a:solidFill>
                <a:latin typeface="Consolas"/>
              </a:rPr>
              <a:t>    } </a:t>
            </a:r>
            <a:r>
              <a:rPr sz="1550">
                <a:solidFill>
                  <a:srgbClr val="CF222E"/>
                </a:solidFill>
                <a:latin typeface="Consolas"/>
              </a:rPr>
              <a:t>finally</a:t>
            </a:r>
            <a:r>
              <a:rPr sz="1550">
                <a:solidFill>
                  <a:srgbClr val="24292F"/>
                </a:solidFill>
                <a:latin typeface="Consolas"/>
              </a:rPr>
              <a:t> {</a:t>
            </a:r>
          </a:p>
          <a:p>
            <a:pPr marL="0" indent="0" algn="l">
              <a:lnSpc>
                <a:spcPct val="100000"/>
              </a:lnSpc>
              <a:buNone/>
            </a:pPr>
            <a:r>
              <a:rPr sz="1550">
                <a:solidFill>
                  <a:srgbClr val="24292F"/>
                </a:solidFill>
                <a:latin typeface="Consolas"/>
              </a:rPr>
              <a:t>      </a:t>
            </a:r>
            <a:r>
              <a:rPr sz="1550">
                <a:solidFill>
                  <a:srgbClr val="CF222E"/>
                </a:solidFill>
                <a:latin typeface="Consolas"/>
              </a:rPr>
              <a:t>this</a:t>
            </a:r>
            <a:r>
              <a:rPr sz="1550">
                <a:solidFill>
                  <a:srgbClr val="24292F"/>
                </a:solidFill>
                <a:latin typeface="Consolas"/>
              </a:rPr>
              <a:t>.isLoading = </a:t>
            </a:r>
            <a:r>
              <a:rPr sz="1550">
                <a:solidFill>
                  <a:srgbClr val="CF222E"/>
                </a:solidFill>
                <a:latin typeface="Consolas"/>
              </a:rPr>
              <a:t>false</a:t>
            </a:r>
          </a:p>
          <a:p>
            <a:pPr marL="0" indent="0" algn="l">
              <a:lnSpc>
                <a:spcPct val="100000"/>
              </a:lnSpc>
              <a:buNone/>
            </a:pPr>
            <a:r>
              <a:rPr sz="1550">
                <a:solidFill>
                  <a:srgbClr val="24292F"/>
                </a:solidFill>
                <a:latin typeface="Consolas"/>
              </a:rPr>
              <a:t>    }</a:t>
            </a:r>
          </a:p>
          <a:p>
            <a:pPr marL="0" indent="0" algn="l">
              <a:lnSpc>
                <a:spcPct val="100000"/>
              </a:lnSpc>
              <a:buNone/>
            </a:pPr>
            <a:r>
              <a:rPr sz="1550">
                <a:solidFill>
                  <a:srgbClr val="24292F"/>
                </a:solidFill>
                <a:latin typeface="Consolas"/>
              </a:rPr>
              <a:t>  },</a:t>
            </a:r>
          </a:p>
          <a:p>
            <a:pPr marL="0" indent="0" algn="l">
              <a:lnSpc>
                <a:spcPct val="100000"/>
              </a:lnSpc>
              <a:buNone/>
            </a:pPr>
            <a:r>
              <a:rPr sz="155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205</a:t>
            </a:fld>
            <a:endParaRPr lang="en-US" sz="900">
              <a:solidFill>
                <a:srgbClr val="9AA7B4"/>
              </a:solidFill>
            </a:endParaRPr>
          </a:p>
        </p:txBody>
      </p:sp>
    </p:spTree>
    <p:extLst>
      <p:ext uri="{BB962C8B-B14F-4D97-AF65-F5344CB8AC3E}">
        <p14:creationId xmlns:p14="http://schemas.microsoft.com/office/powerpoint/2010/main" val="152522118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E401-D7CB-DE4D-9481-AF084409AED3}"/>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No Mutations</a:t>
            </a:r>
          </a:p>
        </p:txBody>
      </p:sp>
      <p:sp>
        <p:nvSpPr>
          <p:cNvPr id="3" name="Body"/>
          <p:cNvSpPr txBox="1"/>
          <p:nvPr/>
        </p:nvSpPr>
        <p:spPr>
          <a:xfrm>
            <a:off x="457200" y="1261872"/>
            <a:ext cx="8229600" cy="356158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Vuex separated synchronous </a:t>
            </a:r>
            <a:r>
              <a:rPr sz="2200" b="1" i="0">
                <a:solidFill>
                  <a:srgbClr val="1F2A36"/>
                </a:solidFill>
              </a:rPr>
              <a:t>mutations</a:t>
            </a:r>
            <a:r>
              <a:rPr sz="2200" b="0" i="0">
                <a:solidFill>
                  <a:srgbClr val="1F2A36"/>
                </a:solidFill>
              </a:rPr>
              <a:t> from asynchronous </a:t>
            </a:r>
            <a:r>
              <a:rPr sz="2200" b="1" i="0">
                <a:solidFill>
                  <a:srgbClr val="1F2A36"/>
                </a:solidFill>
              </a:rPr>
              <a:t>actions</a:t>
            </a:r>
            <a:r>
              <a:rPr sz="2200" b="0" i="0">
                <a:solidFill>
                  <a:srgbClr val="1F2A36"/>
                </a:solidFill>
              </a:rPr>
              <a:t> so the devtools could record every state change</a:t>
            </a:r>
          </a:p>
          <a:p>
            <a:pPr marL="274320" indent="-256032">
              <a:spcAft>
                <a:spcPts val="990"/>
              </a:spcAft>
              <a:buClr>
                <a:srgbClr val="42B883"/>
              </a:buClr>
              <a:buSzPct val="100000"/>
              <a:buFont typeface="Arial"/>
              <a:buChar char="•"/>
            </a:pPr>
            <a:r>
              <a:rPr sz="2200" b="0" i="0">
                <a:solidFill>
                  <a:srgbClr val="1F2A36"/>
                </a:solidFill>
              </a:rPr>
              <a:t>Pinia tracks changes through the reactivity system instead, so that separation is unnecessary</a:t>
            </a:r>
          </a:p>
          <a:p>
            <a:pPr marL="274320" indent="-256032">
              <a:spcAft>
                <a:spcPts val="990"/>
              </a:spcAft>
              <a:buClr>
                <a:srgbClr val="42B883"/>
              </a:buClr>
              <a:buSzPct val="100000"/>
              <a:buFont typeface="Arial"/>
              <a:buChar char="•"/>
            </a:pPr>
            <a:r>
              <a:rPr sz="2200" b="0" i="0">
                <a:solidFill>
                  <a:srgbClr val="1F2A36"/>
                </a:solidFill>
              </a:rPr>
              <a:t>The result: no mutation types, no </a:t>
            </a:r>
            <a:r>
              <a:rPr sz="2090" b="0" i="0">
                <a:solidFill>
                  <a:srgbClr val="8A2B52"/>
                </a:solidFill>
                <a:latin typeface="Consolas"/>
              </a:rPr>
              <a:t>commit</a:t>
            </a:r>
            <a:r>
              <a:rPr sz="2200" b="0" i="0">
                <a:solidFill>
                  <a:srgbClr val="1F2A36"/>
                </a:solidFill>
              </a:rPr>
              <a:t>, no string constants — one less indirection between the component and the state</a:t>
            </a:r>
          </a:p>
          <a:p>
            <a:pPr marL="274320" indent="-256032">
              <a:spcAft>
                <a:spcPts val="990"/>
              </a:spcAft>
              <a:buClr>
                <a:srgbClr val="42B883"/>
              </a:buClr>
              <a:buSzPct val="100000"/>
              <a:buFont typeface="Arial"/>
              <a:buChar char="•"/>
            </a:pPr>
            <a:r>
              <a:rPr sz="2090" b="0" i="0">
                <a:solidFill>
                  <a:srgbClr val="8A2B52"/>
                </a:solidFill>
                <a:latin typeface="Consolas"/>
              </a:rPr>
              <a:t>$subscribe</a:t>
            </a:r>
            <a:r>
              <a:rPr sz="2200" b="0" i="0">
                <a:solidFill>
                  <a:srgbClr val="1F2A36"/>
                </a:solidFill>
              </a:rPr>
              <a:t> and </a:t>
            </a:r>
            <a:r>
              <a:rPr sz="2090" b="0" i="0">
                <a:solidFill>
                  <a:srgbClr val="8A2B52"/>
                </a:solidFill>
                <a:latin typeface="Consolas"/>
              </a:rPr>
              <a:t>$onAction</a:t>
            </a:r>
            <a:r>
              <a:rPr sz="2200" b="0" i="0">
                <a:solidFill>
                  <a:srgbClr val="1F2A36"/>
                </a:solidFill>
              </a:rPr>
              <a:t> are there if you need to observe changes (logging, persistence)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206</a:t>
            </a:fld>
            <a:endParaRPr lang="en-US" sz="900">
              <a:solidFill>
                <a:srgbClr val="9AA7B4"/>
              </a:solidFill>
            </a:endParaRPr>
          </a:p>
        </p:txBody>
      </p:sp>
    </p:spTree>
    <p:extLst>
      <p:ext uri="{BB962C8B-B14F-4D97-AF65-F5344CB8AC3E}">
        <p14:creationId xmlns:p14="http://schemas.microsoft.com/office/powerpoint/2010/main" val="225032329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38D1-89E9-D94A-A1E0-08DB643B67B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Multiple Stores</a:t>
            </a:r>
          </a:p>
        </p:txBody>
      </p:sp>
      <p:sp>
        <p:nvSpPr>
          <p:cNvPr id="3" name="Body"/>
          <p:cNvSpPr txBox="1"/>
          <p:nvPr/>
        </p:nvSpPr>
        <p:spPr>
          <a:xfrm>
            <a:off x="457200" y="1261872"/>
            <a:ext cx="8229600" cy="484759"/>
          </a:xfrm>
          <a:prstGeom prst="rect">
            <a:avLst/>
          </a:prstGeom>
          <a:noFill/>
        </p:spPr>
        <p:txBody>
          <a:bodyPr wrap="square" lIns="0" tIns="0" rIns="0" bIns="0">
            <a:noAutofit/>
          </a:bodyPr>
          <a:lstStyle/>
          <a:p>
            <a:pPr marL="0" indent="0">
              <a:spcAft>
                <a:spcPts val="855"/>
              </a:spcAft>
              <a:buNone/>
            </a:pPr>
            <a:r>
              <a:rPr sz="1900" b="0" i="0">
                <a:solidFill>
                  <a:srgbClr val="1F2A36"/>
                </a:solidFill>
              </a:rPr>
              <a:t>Every store is a separate module by construction.</a:t>
            </a:r>
          </a:p>
        </p:txBody>
      </p:sp>
      <p:sp>
        <p:nvSpPr>
          <p:cNvPr id="4" name="Code"/>
          <p:cNvSpPr/>
          <p:nvPr/>
        </p:nvSpPr>
        <p:spPr>
          <a:xfrm>
            <a:off x="457200" y="1801494"/>
            <a:ext cx="8229600" cy="95402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24292F"/>
                </a:solidFill>
                <a:latin typeface="Consolas"/>
              </a:rPr>
              <a:t>src/stores/</a:t>
            </a:r>
          </a:p>
          <a:p>
            <a:pPr marL="0" indent="0" algn="l">
              <a:lnSpc>
                <a:spcPct val="100000"/>
              </a:lnSpc>
              <a:buNone/>
            </a:pPr>
            <a:r>
              <a:rPr sz="1400">
                <a:solidFill>
                  <a:srgbClr val="24292F"/>
                </a:solidFill>
                <a:latin typeface="Consolas"/>
              </a:rPr>
              <a:t>  auth.js    →  useAuthStore</a:t>
            </a:r>
          </a:p>
          <a:p>
            <a:pPr marL="0" indent="0" algn="l">
              <a:lnSpc>
                <a:spcPct val="100000"/>
              </a:lnSpc>
              <a:buNone/>
            </a:pPr>
            <a:r>
              <a:rPr sz="1400">
                <a:solidFill>
                  <a:srgbClr val="24292F"/>
                </a:solidFill>
                <a:latin typeface="Consolas"/>
              </a:rPr>
              <a:t>  home.js    →  useHomeStore</a:t>
            </a:r>
          </a:p>
        </p:txBody>
      </p:sp>
      <p:sp>
        <p:nvSpPr>
          <p:cNvPr id="5" name="Body"/>
          <p:cNvSpPr txBox="1"/>
          <p:nvPr/>
        </p:nvSpPr>
        <p:spPr>
          <a:xfrm>
            <a:off x="457200" y="2901823"/>
            <a:ext cx="8229600" cy="769493"/>
          </a:xfrm>
          <a:prstGeom prst="rect">
            <a:avLst/>
          </a:prstGeom>
          <a:noFill/>
        </p:spPr>
        <p:txBody>
          <a:bodyPr wrap="square" lIns="0" tIns="0" rIns="0" bIns="0">
            <a:noAutofit/>
          </a:bodyPr>
          <a:lstStyle/>
          <a:p>
            <a:pPr marL="274320" indent="-256032">
              <a:spcAft>
                <a:spcPts val="855"/>
              </a:spcAft>
              <a:buClr>
                <a:srgbClr val="42B883"/>
              </a:buClr>
              <a:buSzPct val="100000"/>
              <a:buFont typeface="Arial"/>
              <a:buChar char="•"/>
            </a:pPr>
            <a:r>
              <a:rPr sz="1900" b="0" i="0">
                <a:solidFill>
                  <a:srgbClr val="1F2A36"/>
                </a:solidFill>
              </a:rPr>
              <a:t>A store can use another store — just call its </a:t>
            </a:r>
            <a:r>
              <a:rPr sz="1805" b="0" i="0">
                <a:solidFill>
                  <a:srgbClr val="8A2B52"/>
                </a:solidFill>
                <a:latin typeface="Consolas"/>
              </a:rPr>
              <a:t>use…</a:t>
            </a:r>
            <a:r>
              <a:rPr sz="1900" b="0" i="0">
                <a:solidFill>
                  <a:srgbClr val="1F2A36"/>
                </a:solidFill>
              </a:rPr>
              <a:t> function inside an action or getter</a:t>
            </a:r>
          </a:p>
        </p:txBody>
      </p:sp>
      <p:sp>
        <p:nvSpPr>
          <p:cNvPr id="6" name="Code"/>
          <p:cNvSpPr/>
          <p:nvPr/>
        </p:nvSpPr>
        <p:spPr>
          <a:xfrm>
            <a:off x="457200" y="3726180"/>
            <a:ext cx="8229600" cy="18359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24292F"/>
                </a:solidFill>
                <a:latin typeface="Consolas"/>
              </a:rPr>
              <a:t>actions: {</a:t>
            </a:r>
          </a:p>
          <a:p>
            <a:pPr marL="0" indent="0" algn="l">
              <a:lnSpc>
                <a:spcPct val="100000"/>
              </a:lnSpc>
              <a:buNone/>
            </a:pPr>
            <a:r>
              <a:rPr sz="1400">
                <a:solidFill>
                  <a:srgbClr val="24292F"/>
                </a:solidFill>
                <a:latin typeface="Consolas"/>
              </a:rPr>
              <a:t>  </a:t>
            </a:r>
            <a:r>
              <a:rPr sz="1400">
                <a:solidFill>
                  <a:srgbClr val="CF222E"/>
                </a:solidFill>
                <a:latin typeface="Consolas"/>
              </a:rPr>
              <a:t>async</a:t>
            </a:r>
            <a:r>
              <a:rPr sz="1400">
                <a:solidFill>
                  <a:srgbClr val="24292F"/>
                </a:solidFill>
                <a:latin typeface="Consolas"/>
              </a:rPr>
              <a:t> fetchFeed() {</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auth = useAuthStore()</a:t>
            </a:r>
          </a:p>
          <a:p>
            <a:pPr marL="0" indent="0" algn="l">
              <a:lnSpc>
                <a:spcPct val="100000"/>
              </a:lnSpc>
              <a:buNone/>
            </a:pPr>
            <a:r>
              <a:rPr sz="1400">
                <a:solidFill>
                  <a:srgbClr val="24292F"/>
                </a:solidFill>
                <a:latin typeface="Consolas"/>
              </a:rPr>
              <a:t>    </a:t>
            </a:r>
            <a:r>
              <a:rPr sz="1400">
                <a:solidFill>
                  <a:srgbClr val="CF222E"/>
                </a:solidFill>
                <a:latin typeface="Consolas"/>
              </a:rPr>
              <a:t>if</a:t>
            </a:r>
            <a:r>
              <a:rPr sz="1400">
                <a:solidFill>
                  <a:srgbClr val="24292F"/>
                </a:solidFill>
                <a:latin typeface="Consolas"/>
              </a:rPr>
              <a:t> (!auth.isAuthenticated) </a:t>
            </a:r>
            <a:r>
              <a:rPr sz="1400">
                <a:solidFill>
                  <a:srgbClr val="CF222E"/>
                </a:solidFill>
                <a:latin typeface="Consolas"/>
              </a:rPr>
              <a:t>return</a:t>
            </a:r>
          </a:p>
          <a:p>
            <a:pPr marL="0" indent="0" algn="l">
              <a:lnSpc>
                <a:spcPct val="100000"/>
              </a:lnSpc>
              <a:buNone/>
            </a:pPr>
            <a:r>
              <a:rPr sz="1400">
                <a:solidFill>
                  <a:srgbClr val="24292F"/>
                </a:solidFill>
                <a:latin typeface="Consolas"/>
              </a:rPr>
              <a:t>    </a:t>
            </a:r>
            <a:r>
              <a:rPr sz="1400" i="1">
                <a:solidFill>
                  <a:srgbClr val="6E7781"/>
                </a:solidFill>
                <a:latin typeface="Consolas"/>
              </a:rPr>
              <a:t>// ...</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a:t>
            </a:r>
          </a:p>
        </p:txBody>
      </p:sp>
      <p:sp>
        <p:nvSpPr>
          <p:cNvPr id="7" name="Tip"/>
          <p:cNvSpPr/>
          <p:nvPr/>
        </p:nvSpPr>
        <p:spPr>
          <a:xfrm>
            <a:off x="457200" y="5708396"/>
            <a:ext cx="8229600" cy="53339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700" b="0" i="0">
                <a:solidFill>
                  <a:srgbClr val="1F2A36"/>
                </a:solidFill>
              </a:rPr>
              <a:t>Vuex needed modules, namespacing, and </a:t>
            </a:r>
            <a:r>
              <a:rPr sz="1614" b="0" i="0">
                <a:solidFill>
                  <a:srgbClr val="8A2B52"/>
                </a:solidFill>
                <a:latin typeface="Consolas"/>
              </a:rPr>
              <a:t>'module/action'</a:t>
            </a:r>
            <a:r>
              <a:rPr sz="1700" b="0" i="0">
                <a:solidFill>
                  <a:srgbClr val="1F2A36"/>
                </a:solidFill>
              </a:rPr>
              <a:t> strings.</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207</a:t>
            </a:fld>
            <a:endParaRPr lang="en-US" sz="900">
              <a:solidFill>
                <a:srgbClr val="9AA7B4"/>
              </a:solidFill>
            </a:endParaRPr>
          </a:p>
        </p:txBody>
      </p:sp>
    </p:spTree>
    <p:extLst>
      <p:ext uri="{BB962C8B-B14F-4D97-AF65-F5344CB8AC3E}">
        <p14:creationId xmlns:p14="http://schemas.microsoft.com/office/powerpoint/2010/main" val="315472729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F25C-59A9-564A-BBE1-7204B622B657}"/>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Pinia and the DevTools</a:t>
            </a:r>
          </a:p>
        </p:txBody>
      </p:sp>
      <p:sp>
        <p:nvSpPr>
          <p:cNvPr id="3" name="Body"/>
          <p:cNvSpPr txBox="1"/>
          <p:nvPr/>
        </p:nvSpPr>
        <p:spPr>
          <a:xfrm>
            <a:off x="457200" y="1261872"/>
            <a:ext cx="8229600" cy="218224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Vue DevTools shows every registered store</a:t>
            </a:r>
          </a:p>
          <a:p>
            <a:pPr marL="566928" indent="-256032">
              <a:spcAft>
                <a:spcPts val="855"/>
              </a:spcAft>
              <a:buClr>
                <a:srgbClr val="6B7B8C"/>
              </a:buClr>
              <a:buSzPct val="100000"/>
              <a:buFont typeface="Arial"/>
              <a:buChar char="–"/>
            </a:pPr>
            <a:r>
              <a:rPr sz="1900" b="0" i="0">
                <a:solidFill>
                  <a:srgbClr val="3A4A5A"/>
                </a:solidFill>
              </a:rPr>
              <a:t>Inspect and edit state live</a:t>
            </a:r>
          </a:p>
          <a:p>
            <a:pPr marL="566928" indent="-256032">
              <a:spcAft>
                <a:spcPts val="855"/>
              </a:spcAft>
              <a:buClr>
                <a:srgbClr val="6B7B8C"/>
              </a:buClr>
              <a:buSzPct val="100000"/>
              <a:buFont typeface="Arial"/>
              <a:buChar char="–"/>
            </a:pPr>
            <a:r>
              <a:rPr sz="1900" b="0" i="0">
                <a:solidFill>
                  <a:srgbClr val="3A4A5A"/>
                </a:solidFill>
              </a:rPr>
              <a:t>A timeline of actions, with arguments and results</a:t>
            </a:r>
          </a:p>
          <a:p>
            <a:pPr marL="566928" indent="-256032">
              <a:spcAft>
                <a:spcPts val="855"/>
              </a:spcAft>
              <a:buClr>
                <a:srgbClr val="6B7B8C"/>
              </a:buClr>
              <a:buSzPct val="100000"/>
              <a:buFont typeface="Arial"/>
              <a:buChar char="–"/>
            </a:pPr>
            <a:r>
              <a:rPr sz="1900" b="0" i="0">
                <a:solidFill>
                  <a:srgbClr val="3A4A5A"/>
                </a:solidFill>
              </a:rPr>
              <a:t>Time-travel: jump back to an earlier state</a:t>
            </a:r>
          </a:p>
          <a:p>
            <a:pPr marL="274320" indent="-256032">
              <a:spcAft>
                <a:spcPts val="990"/>
              </a:spcAft>
              <a:buClr>
                <a:srgbClr val="42B883"/>
              </a:buClr>
              <a:buSzPct val="100000"/>
              <a:buFont typeface="Arial"/>
              <a:buChar char="•"/>
            </a:pPr>
            <a:r>
              <a:rPr sz="2200" b="0" i="0">
                <a:solidFill>
                  <a:srgbClr val="1F2A36"/>
                </a:solidFill>
              </a:rPr>
              <a:t>Stores appear as soon as they're first used</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208</a:t>
            </a:fld>
            <a:endParaRPr lang="en-US" sz="900">
              <a:solidFill>
                <a:srgbClr val="9AA7B4"/>
              </a:solidFill>
            </a:endParaRPr>
          </a:p>
        </p:txBody>
      </p:sp>
    </p:spTree>
    <p:extLst>
      <p:ext uri="{BB962C8B-B14F-4D97-AF65-F5344CB8AC3E}">
        <p14:creationId xmlns:p14="http://schemas.microsoft.com/office/powerpoint/2010/main" val="262816593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7817-138A-5E4F-8938-CF23E1A570DE}"/>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Persisting Store State</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Pinia is extended with </a:t>
            </a:r>
            <a:r>
              <a:rPr sz="2200" b="1" i="0">
                <a:solidFill>
                  <a:srgbClr val="1F2A36"/>
                </a:solidFill>
              </a:rPr>
              <a:t>plugins</a:t>
            </a:r>
            <a:r>
              <a:rPr sz="2200" b="0" i="0">
                <a:solidFill>
                  <a:srgbClr val="1F2A36"/>
                </a:solidFill>
              </a:rPr>
              <a:t>.</a:t>
            </a:r>
          </a:p>
        </p:txBody>
      </p:sp>
      <p:sp>
        <p:nvSpPr>
          <p:cNvPr id="4" name="Code"/>
          <p:cNvSpPr/>
          <p:nvPr/>
        </p:nvSpPr>
        <p:spPr>
          <a:xfrm>
            <a:off x="457200" y="1863597"/>
            <a:ext cx="8229600" cy="2434335"/>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i="1">
                <a:solidFill>
                  <a:srgbClr val="6E7781"/>
                </a:solidFill>
                <a:latin typeface="Consolas"/>
              </a:rPr>
              <a:t>// main.js</a:t>
            </a:r>
          </a:p>
          <a:p>
            <a:pPr marL="0" indent="0" algn="l">
              <a:lnSpc>
                <a:spcPct val="100000"/>
              </a:lnSpc>
              <a:buNone/>
            </a:pPr>
            <a:r>
              <a:rPr sz="1700">
                <a:solidFill>
                  <a:srgbClr val="CF222E"/>
                </a:solidFill>
                <a:latin typeface="Consolas"/>
              </a:rPr>
              <a:t>const</a:t>
            </a:r>
            <a:r>
              <a:rPr sz="1700">
                <a:solidFill>
                  <a:srgbClr val="24292F"/>
                </a:solidFill>
                <a:latin typeface="Consolas"/>
              </a:rPr>
              <a:t> pinia = createPinia()</a:t>
            </a:r>
          </a:p>
          <a:p>
            <a:pPr marL="0" indent="0" algn="l">
              <a:lnSpc>
                <a:spcPct val="100000"/>
              </a:lnSpc>
              <a:buNone/>
            </a:pPr>
            <a:r>
              <a:rPr sz="1700">
                <a:latin typeface="Consolas"/>
              </a:rPr>
              <a:t> </a:t>
            </a:r>
          </a:p>
          <a:p>
            <a:pPr marL="0" indent="0" algn="l">
              <a:lnSpc>
                <a:spcPct val="100000"/>
              </a:lnSpc>
              <a:buNone/>
            </a:pPr>
            <a:r>
              <a:rPr sz="1700">
                <a:solidFill>
                  <a:srgbClr val="24292F"/>
                </a:solidFill>
                <a:latin typeface="Consolas"/>
              </a:rPr>
              <a:t>pinia.use(({ store }) =&gt; {</a:t>
            </a:r>
          </a:p>
          <a:p>
            <a:pPr marL="0" indent="0" algn="l">
              <a:lnSpc>
                <a:spcPct val="100000"/>
              </a:lnSpc>
              <a:buNone/>
            </a:pPr>
            <a:r>
              <a:rPr sz="1700">
                <a:solidFill>
                  <a:srgbClr val="24292F"/>
                </a:solidFill>
                <a:latin typeface="Consolas"/>
              </a:rPr>
              <a:t>  store.$subscribe((_mutation, state) =&gt; {</a:t>
            </a:r>
          </a:p>
          <a:p>
            <a:pPr marL="0" indent="0" algn="l">
              <a:lnSpc>
                <a:spcPct val="100000"/>
              </a:lnSpc>
              <a:buNone/>
            </a:pPr>
            <a:r>
              <a:rPr sz="1700">
                <a:solidFill>
                  <a:srgbClr val="24292F"/>
                </a:solidFill>
                <a:latin typeface="Consolas"/>
              </a:rPr>
              <a:t>    localStorage.setItem(store.$id, JSON.stringify(state))</a:t>
            </a:r>
          </a:p>
          <a:p>
            <a:pPr marL="0" indent="0" algn="l">
              <a:lnSpc>
                <a:spcPct val="100000"/>
              </a:lnSpc>
              <a:buNone/>
            </a:pPr>
            <a:r>
              <a:rPr sz="1700">
                <a:solidFill>
                  <a:srgbClr val="24292F"/>
                </a:solidFill>
                <a:latin typeface="Consolas"/>
              </a:rPr>
              <a:t>  })</a:t>
            </a:r>
          </a:p>
          <a:p>
            <a:pPr marL="0" indent="0" algn="l">
              <a:lnSpc>
                <a:spcPct val="100000"/>
              </a:lnSpc>
              <a:buNone/>
            </a:pPr>
            <a:r>
              <a:rPr sz="1700">
                <a:solidFill>
                  <a:srgbClr val="24292F"/>
                </a:solidFill>
                <a:latin typeface="Consolas"/>
              </a:rPr>
              <a:t>})</a:t>
            </a:r>
          </a:p>
        </p:txBody>
      </p:sp>
      <p:sp>
        <p:nvSpPr>
          <p:cNvPr id="5" name="Body"/>
          <p:cNvSpPr txBox="1"/>
          <p:nvPr/>
        </p:nvSpPr>
        <p:spPr>
          <a:xfrm>
            <a:off x="457200" y="4444237"/>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plugin runs for every store when it's created</a:t>
            </a:r>
          </a:p>
          <a:p>
            <a:pPr marL="274320" indent="-256032">
              <a:spcAft>
                <a:spcPts val="990"/>
              </a:spcAft>
              <a:buClr>
                <a:srgbClr val="42B883"/>
              </a:buClr>
              <a:buSzPct val="100000"/>
              <a:buFont typeface="Arial"/>
              <a:buChar char="•"/>
            </a:pPr>
            <a:r>
              <a:rPr sz="2090" b="0" i="0">
                <a:solidFill>
                  <a:srgbClr val="8A2B52"/>
                </a:solidFill>
                <a:latin typeface="Consolas"/>
              </a:rPr>
              <a:t>pinia-plugin-persistedstate</a:t>
            </a:r>
            <a:r>
              <a:rPr sz="2200" b="0" i="0">
                <a:solidFill>
                  <a:srgbClr val="1F2A36"/>
                </a:solidFill>
              </a:rPr>
              <a:t> packages this up, with options for which stores and paths to persist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209</a:t>
            </a:fld>
            <a:endParaRPr lang="en-US" sz="900">
              <a:solidFill>
                <a:srgbClr val="9AA7B4"/>
              </a:solidFill>
            </a:endParaRPr>
          </a:p>
        </p:txBody>
      </p:sp>
    </p:spTree>
    <p:extLst>
      <p:ext uri="{BB962C8B-B14F-4D97-AF65-F5344CB8AC3E}">
        <p14:creationId xmlns:p14="http://schemas.microsoft.com/office/powerpoint/2010/main" val="36565725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7349-32FB-714E-B61E-A1F3AA98F789}"/>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Testing a Store</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A store is a plain function — no component needed.</a:t>
            </a:r>
          </a:p>
        </p:txBody>
      </p:sp>
      <p:sp>
        <p:nvSpPr>
          <p:cNvPr id="4" name="Code"/>
          <p:cNvSpPr/>
          <p:nvPr/>
        </p:nvSpPr>
        <p:spPr>
          <a:xfrm>
            <a:off x="457200" y="1863597"/>
            <a:ext cx="8229600" cy="323748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CF222E"/>
                </a:solidFill>
                <a:latin typeface="Consolas"/>
              </a:rPr>
              <a:t>import</a:t>
            </a:r>
            <a:r>
              <a:rPr sz="1700">
                <a:solidFill>
                  <a:srgbClr val="24292F"/>
                </a:solidFill>
                <a:latin typeface="Consolas"/>
              </a:rPr>
              <a:t> { beforeEach, expect, it } </a:t>
            </a:r>
            <a:r>
              <a:rPr sz="1700">
                <a:solidFill>
                  <a:srgbClr val="CF222E"/>
                </a:solidFill>
                <a:latin typeface="Consolas"/>
              </a:rPr>
              <a:t>from</a:t>
            </a:r>
            <a:r>
              <a:rPr sz="1700">
                <a:solidFill>
                  <a:srgbClr val="24292F"/>
                </a:solidFill>
                <a:latin typeface="Consolas"/>
              </a:rPr>
              <a:t> </a:t>
            </a:r>
            <a:r>
              <a:rPr sz="1700">
                <a:solidFill>
                  <a:srgbClr val="0A3069"/>
                </a:solidFill>
                <a:latin typeface="Consolas"/>
              </a:rPr>
              <a:t>'vitest'</a:t>
            </a:r>
          </a:p>
          <a:p>
            <a:pPr marL="0" indent="0" algn="l">
              <a:lnSpc>
                <a:spcPct val="100000"/>
              </a:lnSpc>
              <a:buNone/>
            </a:pPr>
            <a:r>
              <a:rPr sz="1700">
                <a:solidFill>
                  <a:srgbClr val="CF222E"/>
                </a:solidFill>
                <a:latin typeface="Consolas"/>
              </a:rPr>
              <a:t>import</a:t>
            </a:r>
            <a:r>
              <a:rPr sz="1700">
                <a:solidFill>
                  <a:srgbClr val="24292F"/>
                </a:solidFill>
                <a:latin typeface="Consolas"/>
              </a:rPr>
              <a:t> { createPinia, setActivePinia } </a:t>
            </a:r>
            <a:r>
              <a:rPr sz="1700">
                <a:solidFill>
                  <a:srgbClr val="CF222E"/>
                </a:solidFill>
                <a:latin typeface="Consolas"/>
              </a:rPr>
              <a:t>from</a:t>
            </a:r>
            <a:r>
              <a:rPr sz="1700">
                <a:solidFill>
                  <a:srgbClr val="24292F"/>
                </a:solidFill>
                <a:latin typeface="Consolas"/>
              </a:rPr>
              <a:t> </a:t>
            </a:r>
            <a:r>
              <a:rPr sz="1700">
                <a:solidFill>
                  <a:srgbClr val="0A3069"/>
                </a:solidFill>
                <a:latin typeface="Consolas"/>
              </a:rPr>
              <a:t>'pinia'</a:t>
            </a:r>
          </a:p>
          <a:p>
            <a:pPr marL="0" indent="0" algn="l">
              <a:lnSpc>
                <a:spcPct val="100000"/>
              </a:lnSpc>
              <a:buNone/>
            </a:pPr>
            <a:r>
              <a:rPr sz="1700">
                <a:solidFill>
                  <a:srgbClr val="CF222E"/>
                </a:solidFill>
                <a:latin typeface="Consolas"/>
              </a:rPr>
              <a:t>import</a:t>
            </a:r>
            <a:r>
              <a:rPr sz="1700">
                <a:solidFill>
                  <a:srgbClr val="24292F"/>
                </a:solidFill>
                <a:latin typeface="Consolas"/>
              </a:rPr>
              <a:t> { useCounterStore } </a:t>
            </a:r>
            <a:r>
              <a:rPr sz="1700">
                <a:solidFill>
                  <a:srgbClr val="CF222E"/>
                </a:solidFill>
                <a:latin typeface="Consolas"/>
              </a:rPr>
              <a:t>from</a:t>
            </a:r>
            <a:r>
              <a:rPr sz="1700">
                <a:solidFill>
                  <a:srgbClr val="24292F"/>
                </a:solidFill>
                <a:latin typeface="Consolas"/>
              </a:rPr>
              <a:t> </a:t>
            </a:r>
            <a:r>
              <a:rPr sz="1700">
                <a:solidFill>
                  <a:srgbClr val="0A3069"/>
                </a:solidFill>
                <a:latin typeface="Consolas"/>
              </a:rPr>
              <a:t>'@/stores/counter'</a:t>
            </a:r>
          </a:p>
          <a:p>
            <a:pPr marL="0" indent="0" algn="l">
              <a:lnSpc>
                <a:spcPct val="100000"/>
              </a:lnSpc>
              <a:buNone/>
            </a:pPr>
            <a:r>
              <a:rPr sz="1700">
                <a:latin typeface="Consolas"/>
              </a:rPr>
              <a:t> </a:t>
            </a:r>
          </a:p>
          <a:p>
            <a:pPr marL="0" indent="0" algn="l">
              <a:lnSpc>
                <a:spcPct val="100000"/>
              </a:lnSpc>
              <a:buNone/>
            </a:pPr>
            <a:r>
              <a:rPr sz="1700">
                <a:solidFill>
                  <a:srgbClr val="24292F"/>
                </a:solidFill>
                <a:latin typeface="Consolas"/>
              </a:rPr>
              <a:t>beforeEach(() =&gt; setActivePinia(createPinia()))</a:t>
            </a:r>
          </a:p>
          <a:p>
            <a:pPr marL="0" indent="0" algn="l">
              <a:lnSpc>
                <a:spcPct val="100000"/>
              </a:lnSpc>
              <a:buNone/>
            </a:pPr>
            <a:r>
              <a:rPr sz="1700">
                <a:latin typeface="Consolas"/>
              </a:rPr>
              <a:t> </a:t>
            </a:r>
          </a:p>
          <a:p>
            <a:pPr marL="0" indent="0" algn="l">
              <a:lnSpc>
                <a:spcPct val="100000"/>
              </a:lnSpc>
              <a:buNone/>
            </a:pPr>
            <a:r>
              <a:rPr sz="1700">
                <a:solidFill>
                  <a:srgbClr val="24292F"/>
                </a:solidFill>
                <a:latin typeface="Consolas"/>
              </a:rPr>
              <a:t>it(</a:t>
            </a:r>
            <a:r>
              <a:rPr sz="1700">
                <a:solidFill>
                  <a:srgbClr val="0A3069"/>
                </a:solidFill>
                <a:latin typeface="Consolas"/>
              </a:rPr>
              <a:t>'increments'</a:t>
            </a:r>
            <a:r>
              <a:rPr sz="1700">
                <a:solidFill>
                  <a:srgbClr val="24292F"/>
                </a:solidFill>
                <a:latin typeface="Consolas"/>
              </a:rPr>
              <a:t>, () =&gt; {</a:t>
            </a:r>
          </a:p>
          <a:p>
            <a:pPr marL="0" indent="0" algn="l">
              <a:lnSpc>
                <a:spcPct val="100000"/>
              </a:lnSpc>
              <a:buNone/>
            </a:pPr>
            <a:r>
              <a:rPr sz="1700">
                <a:solidFill>
                  <a:srgbClr val="24292F"/>
                </a:solidFill>
                <a:latin typeface="Consolas"/>
              </a:rPr>
              <a:t>  </a:t>
            </a:r>
            <a:r>
              <a:rPr sz="1700">
                <a:solidFill>
                  <a:srgbClr val="CF222E"/>
                </a:solidFill>
                <a:latin typeface="Consolas"/>
              </a:rPr>
              <a:t>const</a:t>
            </a:r>
            <a:r>
              <a:rPr sz="1700">
                <a:solidFill>
                  <a:srgbClr val="24292F"/>
                </a:solidFill>
                <a:latin typeface="Consolas"/>
              </a:rPr>
              <a:t> counter = useCounterStore()</a:t>
            </a:r>
          </a:p>
          <a:p>
            <a:pPr marL="0" indent="0" algn="l">
              <a:lnSpc>
                <a:spcPct val="100000"/>
              </a:lnSpc>
              <a:buNone/>
            </a:pPr>
            <a:r>
              <a:rPr sz="1700">
                <a:solidFill>
                  <a:srgbClr val="24292F"/>
                </a:solidFill>
                <a:latin typeface="Consolas"/>
              </a:rPr>
              <a:t>  counter.increment()</a:t>
            </a:r>
          </a:p>
          <a:p>
            <a:pPr marL="0" indent="0" algn="l">
              <a:lnSpc>
                <a:spcPct val="100000"/>
              </a:lnSpc>
              <a:buNone/>
            </a:pPr>
            <a:r>
              <a:rPr sz="1700">
                <a:solidFill>
                  <a:srgbClr val="24292F"/>
                </a:solidFill>
                <a:latin typeface="Consolas"/>
              </a:rPr>
              <a:t>  expect(counter.count).toBe(</a:t>
            </a:r>
            <a:r>
              <a:rPr sz="1700">
                <a:solidFill>
                  <a:srgbClr val="0550AE"/>
                </a:solidFill>
                <a:latin typeface="Consolas"/>
              </a:rPr>
              <a:t>1</a:t>
            </a:r>
            <a:r>
              <a:rPr sz="1700">
                <a:solidFill>
                  <a:srgbClr val="24292F"/>
                </a:solidFill>
                <a:latin typeface="Consolas"/>
              </a:rPr>
              <a:t>)</a:t>
            </a:r>
          </a:p>
          <a:p>
            <a:pPr marL="0" indent="0" algn="l">
              <a:lnSpc>
                <a:spcPct val="100000"/>
              </a:lnSpc>
              <a:buNone/>
            </a:pPr>
            <a:r>
              <a:rPr sz="1700">
                <a:solidFill>
                  <a:srgbClr val="24292F"/>
                </a:solidFill>
                <a:latin typeface="Consolas"/>
              </a:rPr>
              <a:t>})</a:t>
            </a:r>
          </a:p>
        </p:txBody>
      </p:sp>
      <p:sp>
        <p:nvSpPr>
          <p:cNvPr id="5" name="Tip"/>
          <p:cNvSpPr/>
          <p:nvPr/>
        </p:nvSpPr>
        <p:spPr>
          <a:xfrm>
            <a:off x="457200" y="5247385"/>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900" b="0" i="0">
                <a:solidFill>
                  <a:srgbClr val="8A2B52"/>
                </a:solidFill>
                <a:latin typeface="Consolas"/>
              </a:rPr>
              <a:t>@pinia/testing</a:t>
            </a:r>
            <a:r>
              <a:rPr sz="2000" b="0" i="0">
                <a:solidFill>
                  <a:srgbClr val="1F2A36"/>
                </a:solidFill>
              </a:rPr>
              <a:t> adds </a:t>
            </a:r>
            <a:r>
              <a:rPr sz="1900" b="0" i="0">
                <a:solidFill>
                  <a:srgbClr val="8A2B52"/>
                </a:solidFill>
                <a:latin typeface="Consolas"/>
              </a:rPr>
              <a:t>createTestingPinia()</a:t>
            </a:r>
            <a:r>
              <a:rPr sz="2000" b="0" i="0">
                <a:solidFill>
                  <a:srgbClr val="1F2A36"/>
                </a:solidFill>
              </a:rPr>
              <a:t>, which stubs actions for component tests.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210</a:t>
            </a:fld>
            <a:endParaRPr lang="en-US" sz="900">
              <a:solidFill>
                <a:srgbClr val="9AA7B4"/>
              </a:solidFill>
            </a:endParaRPr>
          </a:p>
        </p:txBody>
      </p:sp>
    </p:spTree>
    <p:extLst>
      <p:ext uri="{BB962C8B-B14F-4D97-AF65-F5344CB8AC3E}">
        <p14:creationId xmlns:p14="http://schemas.microsoft.com/office/powerpoint/2010/main" val="96861355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CBCE-77F1-7244-8A93-5ABF355A7625}"/>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Implementing Pinia</a:t>
            </a:r>
          </a:p>
        </p:txBody>
      </p:sp>
      <p:sp>
        <p:nvSpPr>
          <p:cNvPr id="3" name="Chip LAB 20"/>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20</a:t>
            </a:r>
          </a:p>
        </p:txBody>
      </p:sp>
      <p:sp>
        <p:nvSpPr>
          <p:cNvPr id="4" name="Chip 7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75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Move the article list into a Pinia store and load it with an action.</a:t>
            </a:r>
          </a:p>
        </p:txBody>
      </p:sp>
      <p:sp>
        <p:nvSpPr>
          <p:cNvPr id="6" name="Body"/>
          <p:cNvSpPr txBox="1"/>
          <p:nvPr/>
        </p:nvSpPr>
        <p:spPr>
          <a:xfrm>
            <a:off x="457200" y="2167128"/>
            <a:ext cx="8229600" cy="2760980"/>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npm install pinia</a:t>
            </a:r>
            <a:r>
              <a:rPr sz="2000" b="0" i="0">
                <a:solidFill>
                  <a:srgbClr val="1F2A36"/>
                </a:solidFill>
              </a:rPr>
              <a:t>; install it in </a:t>
            </a:r>
            <a:r>
              <a:rPr sz="1900" b="0" i="0">
                <a:solidFill>
                  <a:srgbClr val="8A2B52"/>
                </a:solidFill>
                <a:latin typeface="Consolas"/>
              </a:rPr>
              <a:t>main.js</a:t>
            </a:r>
          </a:p>
          <a:p>
            <a:pPr marL="274320" indent="-256032">
              <a:spcAft>
                <a:spcPts val="900"/>
              </a:spcAft>
              <a:buClr>
                <a:srgbClr val="42B883"/>
              </a:buClr>
              <a:buSzPct val="100000"/>
              <a:buFont typeface="Arial"/>
              <a:buChar char="•"/>
            </a:pPr>
            <a:r>
              <a:rPr sz="2000" b="0" i="0">
                <a:solidFill>
                  <a:srgbClr val="1F2A36"/>
                </a:solidFill>
              </a:rPr>
              <a:t>Add </a:t>
            </a:r>
            <a:r>
              <a:rPr sz="1900" b="0" i="0">
                <a:solidFill>
                  <a:srgbClr val="8A2B52"/>
                </a:solidFill>
                <a:latin typeface="Consolas"/>
              </a:rPr>
              <a:t>ArticlesService</a:t>
            </a:r>
            <a:r>
              <a:rPr sz="2000" b="0" i="0">
                <a:solidFill>
                  <a:srgbClr val="1F2A36"/>
                </a:solidFill>
              </a:rPr>
              <a:t> to </a:t>
            </a:r>
            <a:r>
              <a:rPr sz="1900" b="0" i="0">
                <a:solidFill>
                  <a:srgbClr val="8A2B52"/>
                </a:solidFill>
                <a:latin typeface="Consolas"/>
              </a:rPr>
              <a:t>api.service.js</a:t>
            </a:r>
          </a:p>
          <a:p>
            <a:pPr marL="274320" indent="-256032">
              <a:spcAft>
                <a:spcPts val="900"/>
              </a:spcAft>
              <a:buClr>
                <a:srgbClr val="42B883"/>
              </a:buClr>
              <a:buSzPct val="100000"/>
              <a:buFont typeface="Arial"/>
              <a:buChar char="•"/>
            </a:pPr>
            <a:r>
              <a:rPr sz="2000" b="0" i="0">
                <a:solidFill>
                  <a:srgbClr val="1F2A36"/>
                </a:solidFill>
              </a:rPr>
              <a:t>Create </a:t>
            </a:r>
            <a:r>
              <a:rPr sz="1900" b="0" i="0">
                <a:solidFill>
                  <a:srgbClr val="8A2B52"/>
                </a:solidFill>
                <a:latin typeface="Consolas"/>
              </a:rPr>
              <a:t>stores/home.js</a:t>
            </a:r>
            <a:r>
              <a:rPr sz="2000" b="0" i="0">
                <a:solidFill>
                  <a:srgbClr val="1F2A36"/>
                </a:solidFill>
              </a:rPr>
              <a:t>: state, plus </a:t>
            </a:r>
            <a:r>
              <a:rPr sz="1900" b="0" i="0">
                <a:solidFill>
                  <a:srgbClr val="8A2B52"/>
                </a:solidFill>
                <a:latin typeface="Consolas"/>
              </a:rPr>
              <a:t>fetchArticles</a:t>
            </a:r>
            <a:r>
              <a:rPr sz="2000" b="0" i="0">
                <a:solidFill>
                  <a:srgbClr val="1F2A36"/>
                </a:solidFill>
              </a:rPr>
              <a:t>, </a:t>
            </a:r>
            <a:r>
              <a:rPr sz="1900" b="0" i="0">
                <a:solidFill>
                  <a:srgbClr val="8A2B52"/>
                </a:solidFill>
                <a:latin typeface="Consolas"/>
              </a:rPr>
              <a:t>setTags</a:t>
            </a:r>
            <a:r>
              <a:rPr sz="2000" b="0" i="0">
                <a:solidFill>
                  <a:srgbClr val="1F2A36"/>
                </a:solidFill>
              </a:rPr>
              <a:t> and </a:t>
            </a:r>
            <a:r>
              <a:rPr sz="1900" b="0" i="0">
                <a:solidFill>
                  <a:srgbClr val="8A2B52"/>
                </a:solidFill>
                <a:latin typeface="Consolas"/>
              </a:rPr>
              <a:t>updateArticleInList</a:t>
            </a:r>
            <a:r>
              <a:rPr sz="2000" b="0" i="0">
                <a:solidFill>
                  <a:srgbClr val="1F2A36"/>
                </a:solidFill>
              </a:rPr>
              <a:t> actions</a:t>
            </a:r>
          </a:p>
          <a:p>
            <a:pPr marL="274320" indent="-256032">
              <a:spcAft>
                <a:spcPts val="900"/>
              </a:spcAft>
              <a:buClr>
                <a:srgbClr val="42B883"/>
              </a:buClr>
              <a:buSzPct val="100000"/>
              <a:buFont typeface="Arial"/>
              <a:buChar char="•"/>
            </a:pPr>
            <a:r>
              <a:rPr sz="2000" b="0" i="0">
                <a:solidFill>
                  <a:srgbClr val="1F2A36"/>
                </a:solidFill>
              </a:rPr>
              <a:t>In ArticleList: </a:t>
            </a:r>
            <a:r>
              <a:rPr sz="1900" b="0" i="0">
                <a:solidFill>
                  <a:srgbClr val="8A2B52"/>
                </a:solidFill>
                <a:latin typeface="Consolas"/>
              </a:rPr>
              <a:t>useHomeStore()</a:t>
            </a:r>
            <a:r>
              <a:rPr sz="2000" b="0" i="0">
                <a:solidFill>
                  <a:srgbClr val="1F2A36"/>
                </a:solidFill>
              </a:rPr>
              <a:t> + </a:t>
            </a:r>
            <a:r>
              <a:rPr sz="1900" b="0" i="0">
                <a:solidFill>
                  <a:srgbClr val="8A2B52"/>
                </a:solidFill>
                <a:latin typeface="Consolas"/>
              </a:rPr>
              <a:t>storeToRefs()</a:t>
            </a:r>
            <a:r>
              <a:rPr sz="2000" b="0" i="0">
                <a:solidFill>
                  <a:srgbClr val="1F2A36"/>
                </a:solidFill>
              </a:rPr>
              <a:t>; call </a:t>
            </a:r>
            <a:r>
              <a:rPr sz="1900" b="0" i="0">
                <a:solidFill>
                  <a:srgbClr val="8A2B52"/>
                </a:solidFill>
                <a:latin typeface="Consolas"/>
              </a:rPr>
              <a:t>fetchArticles</a:t>
            </a:r>
            <a:r>
              <a:rPr sz="2000" b="0" i="0">
                <a:solidFill>
                  <a:srgbClr val="1F2A36"/>
                </a:solidFill>
              </a:rPr>
              <a:t> in </a:t>
            </a:r>
            <a:r>
              <a:rPr sz="1900" b="0" i="0">
                <a:solidFill>
                  <a:srgbClr val="8A2B52"/>
                </a:solidFill>
                <a:latin typeface="Consolas"/>
              </a:rPr>
              <a:t>onMounted</a:t>
            </a:r>
          </a:p>
          <a:p>
            <a:pPr marL="274320" indent="-256032">
              <a:spcAft>
                <a:spcPts val="900"/>
              </a:spcAft>
              <a:buClr>
                <a:srgbClr val="42B883"/>
              </a:buClr>
              <a:buSzPct val="100000"/>
              <a:buFont typeface="Arial"/>
              <a:buChar char="•"/>
            </a:pPr>
            <a:r>
              <a:rPr sz="2000" b="0" i="0">
                <a:solidFill>
                  <a:srgbClr val="1F2A36"/>
                </a:solidFill>
              </a:rPr>
              <a:t>Watch the store in the DevTools Pinia tab</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211</a:t>
            </a:fld>
            <a:endParaRPr lang="en-US" sz="900">
              <a:solidFill>
                <a:srgbClr val="9AA7B4"/>
              </a:solidFill>
            </a:endParaRPr>
          </a:p>
        </p:txBody>
      </p:sp>
    </p:spTree>
    <p:extLst>
      <p:ext uri="{BB962C8B-B14F-4D97-AF65-F5344CB8AC3E}">
        <p14:creationId xmlns:p14="http://schemas.microsoft.com/office/powerpoint/2010/main" val="306162561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BC028-06CC-5946-AAD0-68DA20D94D18}"/>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Single-Page Applications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Routing with Vue Router</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212</a:t>
            </a:fld>
            <a:endParaRPr lang="en-US" sz="900">
              <a:solidFill>
                <a:srgbClr val="9FB3C4"/>
              </a:solidFill>
            </a:endParaRPr>
          </a:p>
        </p:txBody>
      </p:sp>
    </p:spTree>
    <p:extLst>
      <p:ext uri="{BB962C8B-B14F-4D97-AF65-F5344CB8AC3E}">
        <p14:creationId xmlns:p14="http://schemas.microsoft.com/office/powerpoint/2010/main" val="225569078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AA49-BE25-6846-B9EB-0FF9C59D37BF}"/>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Creating an SPA with Vue Router</a:t>
            </a:r>
          </a:p>
        </p:txBody>
      </p:sp>
      <p:sp>
        <p:nvSpPr>
          <p:cNvPr id="3" name="Body"/>
          <p:cNvSpPr txBox="1"/>
          <p:nvPr/>
        </p:nvSpPr>
        <p:spPr>
          <a:xfrm>
            <a:off x="457200" y="1261872"/>
            <a:ext cx="8229600" cy="368731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Map </a:t>
            </a:r>
            <a:r>
              <a:rPr sz="2200" b="1" i="0">
                <a:solidFill>
                  <a:srgbClr val="1F2A36"/>
                </a:solidFill>
              </a:rPr>
              <a:t>URLs</a:t>
            </a:r>
            <a:r>
              <a:rPr sz="2200" b="0" i="0">
                <a:solidFill>
                  <a:srgbClr val="1F2A36"/>
                </a:solidFill>
              </a:rPr>
              <a:t> to </a:t>
            </a:r>
            <a:r>
              <a:rPr sz="2200" b="1" i="0">
                <a:solidFill>
                  <a:srgbClr val="1F2A36"/>
                </a:solidFill>
              </a:rPr>
              <a:t>components</a:t>
            </a:r>
            <a:r>
              <a:rPr sz="2200" b="0" i="0">
                <a:solidFill>
                  <a:srgbClr val="1F2A36"/>
                </a:solidFill>
              </a:rPr>
              <a:t>, and tell Vue Router where to render them</a:t>
            </a:r>
          </a:p>
          <a:p>
            <a:pPr marL="274320" indent="-256032">
              <a:spcAft>
                <a:spcPts val="990"/>
              </a:spcAft>
              <a:buClr>
                <a:srgbClr val="42B883"/>
              </a:buClr>
              <a:buSzPct val="100000"/>
              <a:buFont typeface="Arial"/>
              <a:buChar char="•"/>
            </a:pPr>
            <a:r>
              <a:rPr sz="2200" b="0" i="0">
                <a:solidFill>
                  <a:srgbClr val="1F2A36"/>
                </a:solidFill>
              </a:rPr>
              <a:t>Clicking a link changes the URL with the History API — no page reload</a:t>
            </a:r>
          </a:p>
          <a:p>
            <a:pPr marL="274320" indent="-256032">
              <a:spcAft>
                <a:spcPts val="990"/>
              </a:spcAft>
              <a:buClr>
                <a:srgbClr val="42B883"/>
              </a:buClr>
              <a:buSzPct val="100000"/>
              <a:buFont typeface="Arial"/>
              <a:buChar char="•"/>
            </a:pPr>
            <a:r>
              <a:rPr sz="2200" b="0" i="0">
                <a:solidFill>
                  <a:srgbClr val="1F2A36"/>
                </a:solidFill>
              </a:rPr>
              <a:t>The back and forward buttons, bookmarks and deep links all work</a:t>
            </a:r>
          </a:p>
          <a:p>
            <a:pPr marL="274320" indent="-256032">
              <a:spcAft>
                <a:spcPts val="990"/>
              </a:spcAft>
              <a:buClr>
                <a:srgbClr val="42B883"/>
              </a:buClr>
              <a:buSzPct val="100000"/>
              <a:buFont typeface="Arial"/>
              <a:buChar char="•"/>
            </a:pPr>
            <a:r>
              <a:rPr sz="2200" b="0" i="0">
                <a:solidFill>
                  <a:srgbClr val="1F2A36"/>
                </a:solidFill>
              </a:rPr>
              <a:t>Route components can be </a:t>
            </a:r>
            <a:r>
              <a:rPr sz="2200" b="1" i="0">
                <a:solidFill>
                  <a:srgbClr val="1F2A36"/>
                </a:solidFill>
              </a:rPr>
              <a:t>lazy-loaded</a:t>
            </a:r>
            <a:r>
              <a:rPr sz="2200" b="0" i="0">
                <a:solidFill>
                  <a:srgbClr val="1F2A36"/>
                </a:solidFill>
              </a:rPr>
              <a:t>, so each page gets its own chunk</a:t>
            </a:r>
          </a:p>
          <a:p>
            <a:pPr marL="274320" indent="-256032">
              <a:spcAft>
                <a:spcPts val="990"/>
              </a:spcAft>
              <a:buClr>
                <a:srgbClr val="42B883"/>
              </a:buClr>
              <a:buSzPct val="100000"/>
              <a:buFont typeface="Arial"/>
              <a:buChar char="•"/>
            </a:pPr>
            <a:r>
              <a:rPr sz="2200" b="0" i="0">
                <a:solidFill>
                  <a:srgbClr val="1F2A36"/>
                </a:solidFill>
              </a:rPr>
              <a:t>Vue Router 4+ is the version for Vue 3</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213</a:t>
            </a:fld>
            <a:endParaRPr lang="en-US" sz="900">
              <a:solidFill>
                <a:srgbClr val="9AA7B4"/>
              </a:solidFill>
            </a:endParaRPr>
          </a:p>
        </p:txBody>
      </p:sp>
    </p:spTree>
    <p:extLst>
      <p:ext uri="{BB962C8B-B14F-4D97-AF65-F5344CB8AC3E}">
        <p14:creationId xmlns:p14="http://schemas.microsoft.com/office/powerpoint/2010/main" val="241101378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67A45-DE51-1B41-8B04-806502C1801C}"/>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Router: the Template</a:t>
            </a:r>
          </a:p>
        </p:txBody>
      </p:sp>
      <p:sp>
        <p:nvSpPr>
          <p:cNvPr id="3" name="Code"/>
          <p:cNvSpPr/>
          <p:nvPr/>
        </p:nvSpPr>
        <p:spPr>
          <a:xfrm>
            <a:off x="457200" y="1261872"/>
            <a:ext cx="8229600" cy="341071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116329"/>
                </a:solidFill>
                <a:latin typeface="Consolas"/>
              </a:rPr>
              <a:t>&lt;script</a:t>
            </a:r>
            <a:r>
              <a:rPr sz="1650">
                <a:solidFill>
                  <a:srgbClr val="24292F"/>
                </a:solidFill>
                <a:latin typeface="Consolas"/>
              </a:rPr>
              <a:t> </a:t>
            </a:r>
            <a:r>
              <a:rPr sz="1650">
                <a:solidFill>
                  <a:srgbClr val="953800"/>
                </a:solidFill>
                <a:latin typeface="Consolas"/>
              </a:rPr>
              <a:t>setup</a:t>
            </a:r>
            <a:r>
              <a:rPr sz="1650">
                <a:solidFill>
                  <a:srgbClr val="116329"/>
                </a:solidFill>
                <a:latin typeface="Consolas"/>
              </a:rPr>
              <a:t>&gt;</a:t>
            </a:r>
          </a:p>
          <a:p>
            <a:pPr marL="0" indent="0" algn="l">
              <a:lnSpc>
                <a:spcPct val="100000"/>
              </a:lnSpc>
              <a:buNone/>
            </a:pPr>
            <a:r>
              <a:rPr sz="1650">
                <a:solidFill>
                  <a:srgbClr val="CF222E"/>
                </a:solidFill>
                <a:latin typeface="Consolas"/>
              </a:rPr>
              <a:t>import</a:t>
            </a:r>
            <a:r>
              <a:rPr sz="1650">
                <a:solidFill>
                  <a:srgbClr val="24292F"/>
                </a:solidFill>
                <a:latin typeface="Consolas"/>
              </a:rPr>
              <a:t> { RouterLink, RouterView } </a:t>
            </a:r>
            <a:r>
              <a:rPr sz="1650">
                <a:solidFill>
                  <a:srgbClr val="CF222E"/>
                </a:solidFill>
                <a:latin typeface="Consolas"/>
              </a:rPr>
              <a:t>from</a:t>
            </a:r>
            <a:r>
              <a:rPr sz="1650">
                <a:solidFill>
                  <a:srgbClr val="24292F"/>
                </a:solidFill>
                <a:latin typeface="Consolas"/>
              </a:rPr>
              <a:t> </a:t>
            </a:r>
            <a:r>
              <a:rPr sz="1650">
                <a:solidFill>
                  <a:srgbClr val="0A3069"/>
                </a:solidFill>
                <a:latin typeface="Consolas"/>
              </a:rPr>
              <a:t>'vue-router'</a:t>
            </a:r>
          </a:p>
          <a:p>
            <a:pPr marL="0" indent="0" algn="l">
              <a:lnSpc>
                <a:spcPct val="100000"/>
              </a:lnSpc>
              <a:buNone/>
            </a:pPr>
            <a:r>
              <a:rPr sz="1650">
                <a:solidFill>
                  <a:srgbClr val="116329"/>
                </a:solidFill>
                <a:latin typeface="Consolas"/>
              </a:rPr>
              <a:t>&lt;/script&gt;</a:t>
            </a:r>
          </a:p>
          <a:p>
            <a:pPr marL="0" indent="0" algn="l">
              <a:lnSpc>
                <a:spcPct val="100000"/>
              </a:lnSpc>
              <a:buNone/>
            </a:pPr>
            <a:r>
              <a:rPr sz="1650">
                <a:latin typeface="Consolas"/>
              </a:rPr>
              <a:t> </a:t>
            </a:r>
          </a:p>
          <a:p>
            <a:pPr marL="0" indent="0" algn="l">
              <a:lnSpc>
                <a:spcPct val="100000"/>
              </a:lnSpc>
              <a:buNone/>
            </a:pPr>
            <a:r>
              <a:rPr sz="1650">
                <a:solidFill>
                  <a:srgbClr val="116329"/>
                </a:solidFill>
                <a:latin typeface="Consolas"/>
              </a:rPr>
              <a:t>&lt;template&gt;</a:t>
            </a:r>
          </a:p>
          <a:p>
            <a:pPr marL="0" indent="0" algn="l">
              <a:lnSpc>
                <a:spcPct val="100000"/>
              </a:lnSpc>
              <a:buNone/>
            </a:pPr>
            <a:r>
              <a:rPr sz="1650">
                <a:solidFill>
                  <a:srgbClr val="24292F"/>
                </a:solidFill>
                <a:latin typeface="Consolas"/>
              </a:rPr>
              <a:t>  </a:t>
            </a:r>
            <a:r>
              <a:rPr sz="1650">
                <a:solidFill>
                  <a:srgbClr val="116329"/>
                </a:solidFill>
                <a:latin typeface="Consolas"/>
              </a:rPr>
              <a:t>&lt;nav&gt;</a:t>
            </a:r>
          </a:p>
          <a:p>
            <a:pPr marL="0" indent="0" algn="l">
              <a:lnSpc>
                <a:spcPct val="100000"/>
              </a:lnSpc>
              <a:buNone/>
            </a:pPr>
            <a:r>
              <a:rPr sz="1650">
                <a:solidFill>
                  <a:srgbClr val="24292F"/>
                </a:solidFill>
                <a:latin typeface="Consolas"/>
              </a:rPr>
              <a:t>    </a:t>
            </a:r>
            <a:r>
              <a:rPr sz="1650">
                <a:solidFill>
                  <a:srgbClr val="116329"/>
                </a:solidFill>
                <a:latin typeface="Consolas"/>
              </a:rPr>
              <a:t>&lt;RouterLink</a:t>
            </a:r>
            <a:r>
              <a:rPr sz="1650">
                <a:solidFill>
                  <a:srgbClr val="24292F"/>
                </a:solidFill>
                <a:latin typeface="Consolas"/>
              </a:rPr>
              <a:t> </a:t>
            </a:r>
            <a:r>
              <a:rPr sz="1650">
                <a:solidFill>
                  <a:srgbClr val="953800"/>
                </a:solidFill>
                <a:latin typeface="Consolas"/>
              </a:rPr>
              <a:t>:to</a:t>
            </a:r>
            <a:r>
              <a:rPr sz="1650">
                <a:solidFill>
                  <a:srgbClr val="24292F"/>
                </a:solidFill>
                <a:latin typeface="Consolas"/>
              </a:rPr>
              <a:t>=</a:t>
            </a:r>
            <a:r>
              <a:rPr sz="1650">
                <a:solidFill>
                  <a:srgbClr val="0A3069"/>
                </a:solidFill>
                <a:latin typeface="Consolas"/>
              </a:rPr>
              <a:t>"{ name: 'home' }"</a:t>
            </a:r>
            <a:r>
              <a:rPr sz="1650">
                <a:solidFill>
                  <a:srgbClr val="116329"/>
                </a:solidFill>
                <a:latin typeface="Consolas"/>
              </a:rPr>
              <a:t>&gt;</a:t>
            </a:r>
            <a:r>
              <a:rPr sz="1650">
                <a:solidFill>
                  <a:srgbClr val="24292F"/>
                </a:solidFill>
                <a:latin typeface="Consolas"/>
              </a:rPr>
              <a:t>Home</a:t>
            </a:r>
            <a:r>
              <a:rPr sz="1650">
                <a:solidFill>
                  <a:srgbClr val="116329"/>
                </a:solidFill>
                <a:latin typeface="Consolas"/>
              </a:rPr>
              <a:t>&lt;/RouterLink&gt;</a:t>
            </a:r>
          </a:p>
          <a:p>
            <a:pPr marL="0" indent="0" algn="l">
              <a:lnSpc>
                <a:spcPct val="100000"/>
              </a:lnSpc>
              <a:buNone/>
            </a:pPr>
            <a:r>
              <a:rPr sz="1650">
                <a:solidFill>
                  <a:srgbClr val="24292F"/>
                </a:solidFill>
                <a:latin typeface="Consolas"/>
              </a:rPr>
              <a:t>    </a:t>
            </a:r>
            <a:r>
              <a:rPr sz="1650">
                <a:solidFill>
                  <a:srgbClr val="116329"/>
                </a:solidFill>
                <a:latin typeface="Consolas"/>
              </a:rPr>
              <a:t>&lt;RouterLink</a:t>
            </a:r>
            <a:r>
              <a:rPr sz="1650">
                <a:solidFill>
                  <a:srgbClr val="24292F"/>
                </a:solidFill>
                <a:latin typeface="Consolas"/>
              </a:rPr>
              <a:t> </a:t>
            </a:r>
            <a:r>
              <a:rPr sz="1650">
                <a:solidFill>
                  <a:srgbClr val="953800"/>
                </a:solidFill>
                <a:latin typeface="Consolas"/>
              </a:rPr>
              <a:t>:to</a:t>
            </a:r>
            <a:r>
              <a:rPr sz="1650">
                <a:solidFill>
                  <a:srgbClr val="24292F"/>
                </a:solidFill>
                <a:latin typeface="Consolas"/>
              </a:rPr>
              <a:t>=</a:t>
            </a:r>
            <a:r>
              <a:rPr sz="1650">
                <a:solidFill>
                  <a:srgbClr val="0A3069"/>
                </a:solidFill>
                <a:latin typeface="Consolas"/>
              </a:rPr>
              <a:t>"{ name: 'login' }"</a:t>
            </a:r>
            <a:r>
              <a:rPr sz="1650">
                <a:solidFill>
                  <a:srgbClr val="116329"/>
                </a:solidFill>
                <a:latin typeface="Consolas"/>
              </a:rPr>
              <a:t>&gt;</a:t>
            </a:r>
            <a:r>
              <a:rPr sz="1650">
                <a:solidFill>
                  <a:srgbClr val="24292F"/>
                </a:solidFill>
                <a:latin typeface="Consolas"/>
              </a:rPr>
              <a:t>Sign in</a:t>
            </a:r>
            <a:r>
              <a:rPr sz="1650">
                <a:solidFill>
                  <a:srgbClr val="116329"/>
                </a:solidFill>
                <a:latin typeface="Consolas"/>
              </a:rPr>
              <a:t>&lt;/RouterLink&gt;</a:t>
            </a:r>
          </a:p>
          <a:p>
            <a:pPr marL="0" indent="0" algn="l">
              <a:lnSpc>
                <a:spcPct val="100000"/>
              </a:lnSpc>
              <a:buNone/>
            </a:pPr>
            <a:r>
              <a:rPr sz="1650">
                <a:solidFill>
                  <a:srgbClr val="24292F"/>
                </a:solidFill>
                <a:latin typeface="Consolas"/>
              </a:rPr>
              <a:t>  </a:t>
            </a:r>
            <a:r>
              <a:rPr sz="1650">
                <a:solidFill>
                  <a:srgbClr val="116329"/>
                </a:solidFill>
                <a:latin typeface="Consolas"/>
              </a:rPr>
              <a:t>&lt;/nav&gt;</a:t>
            </a:r>
          </a:p>
          <a:p>
            <a:pPr marL="0" indent="0" algn="l">
              <a:lnSpc>
                <a:spcPct val="100000"/>
              </a:lnSpc>
              <a:buNone/>
            </a:pPr>
            <a:r>
              <a:rPr sz="1650">
                <a:latin typeface="Consolas"/>
              </a:rPr>
              <a:t> </a:t>
            </a:r>
          </a:p>
          <a:p>
            <a:pPr marL="0" indent="0" algn="l">
              <a:lnSpc>
                <a:spcPct val="100000"/>
              </a:lnSpc>
              <a:buNone/>
            </a:pPr>
            <a:r>
              <a:rPr sz="1650">
                <a:solidFill>
                  <a:srgbClr val="24292F"/>
                </a:solidFill>
                <a:latin typeface="Consolas"/>
              </a:rPr>
              <a:t>  </a:t>
            </a:r>
            <a:r>
              <a:rPr sz="1650">
                <a:solidFill>
                  <a:srgbClr val="116329"/>
                </a:solidFill>
                <a:latin typeface="Consolas"/>
              </a:rPr>
              <a:t>&lt;RouterView</a:t>
            </a:r>
            <a:r>
              <a:rPr sz="1650">
                <a:solidFill>
                  <a:srgbClr val="24292F"/>
                </a:solidFill>
                <a:latin typeface="Consolas"/>
              </a:rPr>
              <a:t> </a:t>
            </a:r>
            <a:r>
              <a:rPr sz="1650">
                <a:solidFill>
                  <a:srgbClr val="116329"/>
                </a:solidFill>
                <a:latin typeface="Consolas"/>
              </a:rPr>
              <a:t>/&gt;</a:t>
            </a:r>
          </a:p>
          <a:p>
            <a:pPr marL="0" indent="0" algn="l">
              <a:lnSpc>
                <a:spcPct val="100000"/>
              </a:lnSpc>
              <a:buNone/>
            </a:pPr>
            <a:r>
              <a:rPr sz="1650">
                <a:solidFill>
                  <a:srgbClr val="116329"/>
                </a:solidFill>
                <a:latin typeface="Consolas"/>
              </a:rPr>
              <a:t>&lt;/template&gt;</a:t>
            </a:r>
          </a:p>
        </p:txBody>
      </p:sp>
      <p:sp>
        <p:nvSpPr>
          <p:cNvPr id="4" name="Body"/>
          <p:cNvSpPr txBox="1"/>
          <p:nvPr/>
        </p:nvSpPr>
        <p:spPr>
          <a:xfrm>
            <a:off x="457200" y="4818888"/>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RouterLink</a:t>
            </a:r>
            <a:r>
              <a:rPr sz="2200" b="0" i="0">
                <a:solidFill>
                  <a:srgbClr val="1F2A36"/>
                </a:solidFill>
              </a:rPr>
              <a:t> renders an </a:t>
            </a:r>
            <a:r>
              <a:rPr sz="2090" b="0" i="0">
                <a:solidFill>
                  <a:srgbClr val="8A2B52"/>
                </a:solidFill>
                <a:latin typeface="Consolas"/>
              </a:rPr>
              <a:t>&lt;a&gt;</a:t>
            </a:r>
            <a:r>
              <a:rPr sz="2200" b="0" i="0">
                <a:solidFill>
                  <a:srgbClr val="1F2A36"/>
                </a:solidFill>
              </a:rPr>
              <a:t> and adds an active class when its route matches</a:t>
            </a:r>
          </a:p>
          <a:p>
            <a:pPr marL="274320" indent="-256032">
              <a:spcAft>
                <a:spcPts val="990"/>
              </a:spcAft>
              <a:buClr>
                <a:srgbClr val="42B883"/>
              </a:buClr>
              <a:buSzPct val="100000"/>
              <a:buFont typeface="Arial"/>
              <a:buChar char="•"/>
            </a:pPr>
            <a:r>
              <a:rPr sz="2090" b="0" i="0">
                <a:solidFill>
                  <a:srgbClr val="8A2B52"/>
                </a:solidFill>
                <a:latin typeface="Consolas"/>
              </a:rPr>
              <a:t>RouterView</a:t>
            </a:r>
            <a:r>
              <a:rPr sz="2200" b="0" i="0">
                <a:solidFill>
                  <a:srgbClr val="1F2A36"/>
                </a:solidFill>
              </a:rPr>
              <a:t> renders the component for the current route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214</a:t>
            </a:fld>
            <a:endParaRPr lang="en-US" sz="900">
              <a:solidFill>
                <a:srgbClr val="9AA7B4"/>
              </a:solidFill>
            </a:endParaRPr>
          </a:p>
        </p:txBody>
      </p:sp>
    </p:spTree>
    <p:extLst>
      <p:ext uri="{BB962C8B-B14F-4D97-AF65-F5344CB8AC3E}">
        <p14:creationId xmlns:p14="http://schemas.microsoft.com/office/powerpoint/2010/main" val="181042605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1E45-4356-6D4D-B31A-49A5E914A03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Router: the JavaScript</a:t>
            </a:r>
          </a:p>
        </p:txBody>
      </p:sp>
      <p:sp>
        <p:nvSpPr>
          <p:cNvPr id="3" name="Code"/>
          <p:cNvSpPr/>
          <p:nvPr/>
        </p:nvSpPr>
        <p:spPr>
          <a:xfrm>
            <a:off x="457200" y="1261872"/>
            <a:ext cx="8229600" cy="3221735"/>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i="1">
                <a:solidFill>
                  <a:srgbClr val="6E7781"/>
                </a:solidFill>
                <a:latin typeface="Consolas"/>
              </a:rPr>
              <a:t>// src/router/index.js</a:t>
            </a:r>
          </a:p>
          <a:p>
            <a:pPr marL="0" indent="0" algn="l">
              <a:lnSpc>
                <a:spcPct val="100000"/>
              </a:lnSpc>
              <a:buNone/>
            </a:pPr>
            <a:r>
              <a:rPr sz="1550">
                <a:solidFill>
                  <a:srgbClr val="CF222E"/>
                </a:solidFill>
                <a:latin typeface="Consolas"/>
              </a:rPr>
              <a:t>import</a:t>
            </a:r>
            <a:r>
              <a:rPr sz="1550">
                <a:solidFill>
                  <a:srgbClr val="24292F"/>
                </a:solidFill>
                <a:latin typeface="Consolas"/>
              </a:rPr>
              <a:t> { createRouter, createWebHistory } </a:t>
            </a:r>
            <a:r>
              <a:rPr sz="1550">
                <a:solidFill>
                  <a:srgbClr val="CF222E"/>
                </a:solidFill>
                <a:latin typeface="Consolas"/>
              </a:rPr>
              <a:t>from</a:t>
            </a:r>
            <a:r>
              <a:rPr sz="1550">
                <a:solidFill>
                  <a:srgbClr val="24292F"/>
                </a:solidFill>
                <a:latin typeface="Consolas"/>
              </a:rPr>
              <a:t> </a:t>
            </a:r>
            <a:r>
              <a:rPr sz="1550">
                <a:solidFill>
                  <a:srgbClr val="0A3069"/>
                </a:solidFill>
                <a:latin typeface="Consolas"/>
              </a:rPr>
              <a:t>'vue-router'</a:t>
            </a:r>
          </a:p>
          <a:p>
            <a:pPr marL="0" indent="0" algn="l">
              <a:lnSpc>
                <a:spcPct val="100000"/>
              </a:lnSpc>
              <a:buNone/>
            </a:pPr>
            <a:r>
              <a:rPr sz="1550">
                <a:latin typeface="Consolas"/>
              </a:rPr>
              <a:t> </a:t>
            </a:r>
          </a:p>
          <a:p>
            <a:pPr marL="0" indent="0" algn="l">
              <a:lnSpc>
                <a:spcPct val="100000"/>
              </a:lnSpc>
              <a:buNone/>
            </a:pPr>
            <a:r>
              <a:rPr sz="1550">
                <a:solidFill>
                  <a:srgbClr val="CF222E"/>
                </a:solidFill>
                <a:latin typeface="Consolas"/>
              </a:rPr>
              <a:t>export</a:t>
            </a:r>
            <a:r>
              <a:rPr sz="1550">
                <a:solidFill>
                  <a:srgbClr val="24292F"/>
                </a:solidFill>
                <a:latin typeface="Consolas"/>
              </a:rPr>
              <a:t> </a:t>
            </a:r>
            <a:r>
              <a:rPr sz="1550">
                <a:solidFill>
                  <a:srgbClr val="CF222E"/>
                </a:solidFill>
                <a:latin typeface="Consolas"/>
              </a:rPr>
              <a:t>default</a:t>
            </a:r>
            <a:r>
              <a:rPr sz="1550">
                <a:solidFill>
                  <a:srgbClr val="24292F"/>
                </a:solidFill>
                <a:latin typeface="Consolas"/>
              </a:rPr>
              <a:t> createRouter({</a:t>
            </a:r>
          </a:p>
          <a:p>
            <a:pPr marL="0" indent="0" algn="l">
              <a:lnSpc>
                <a:spcPct val="100000"/>
              </a:lnSpc>
              <a:buNone/>
            </a:pPr>
            <a:r>
              <a:rPr sz="1550">
                <a:solidFill>
                  <a:srgbClr val="24292F"/>
                </a:solidFill>
                <a:latin typeface="Consolas"/>
              </a:rPr>
              <a:t>  history: createWebHistory(</a:t>
            </a:r>
            <a:r>
              <a:rPr sz="1550">
                <a:solidFill>
                  <a:srgbClr val="CF222E"/>
                </a:solidFill>
                <a:latin typeface="Consolas"/>
              </a:rPr>
              <a:t>import</a:t>
            </a:r>
            <a:r>
              <a:rPr sz="1550">
                <a:solidFill>
                  <a:srgbClr val="24292F"/>
                </a:solidFill>
                <a:latin typeface="Consolas"/>
              </a:rPr>
              <a:t>.meta.env.BASE_URL),</a:t>
            </a:r>
          </a:p>
          <a:p>
            <a:pPr marL="0" indent="0" algn="l">
              <a:lnSpc>
                <a:spcPct val="100000"/>
              </a:lnSpc>
              <a:buNone/>
            </a:pPr>
            <a:r>
              <a:rPr sz="1550">
                <a:solidFill>
                  <a:srgbClr val="24292F"/>
                </a:solidFill>
                <a:latin typeface="Consolas"/>
              </a:rPr>
              <a:t>  routes: [</a:t>
            </a:r>
          </a:p>
          <a:p>
            <a:pPr marL="0" indent="0" algn="l">
              <a:lnSpc>
                <a:spcPct val="100000"/>
              </a:lnSpc>
              <a:buNone/>
            </a:pPr>
            <a:r>
              <a:rPr sz="1550">
                <a:solidFill>
                  <a:srgbClr val="24292F"/>
                </a:solidFill>
                <a:latin typeface="Consolas"/>
              </a:rPr>
              <a:t>    { name: </a:t>
            </a:r>
            <a:r>
              <a:rPr sz="1550">
                <a:solidFill>
                  <a:srgbClr val="0A3069"/>
                </a:solidFill>
                <a:latin typeface="Consolas"/>
              </a:rPr>
              <a:t>'home'</a:t>
            </a:r>
            <a:r>
              <a:rPr sz="1550">
                <a:solidFill>
                  <a:srgbClr val="24292F"/>
                </a:solidFill>
                <a:latin typeface="Consolas"/>
              </a:rPr>
              <a:t>, path: </a:t>
            </a:r>
            <a:r>
              <a:rPr sz="1550">
                <a:solidFill>
                  <a:srgbClr val="0A3069"/>
                </a:solidFill>
                <a:latin typeface="Consolas"/>
              </a:rPr>
              <a:t>'/'</a:t>
            </a:r>
            <a:r>
              <a:rPr sz="1550">
                <a:solidFill>
                  <a:srgbClr val="24292F"/>
                </a:solidFill>
                <a:latin typeface="Consolas"/>
              </a:rPr>
              <a:t>,</a:t>
            </a:r>
          </a:p>
          <a:p>
            <a:pPr marL="0" indent="0" algn="l">
              <a:lnSpc>
                <a:spcPct val="100000"/>
              </a:lnSpc>
              <a:buNone/>
            </a:pPr>
            <a:r>
              <a:rPr sz="1550">
                <a:solidFill>
                  <a:srgbClr val="24292F"/>
                </a:solidFill>
                <a:latin typeface="Consolas"/>
              </a:rPr>
              <a:t>      component: () =&gt; </a:t>
            </a:r>
            <a:r>
              <a:rPr sz="1550">
                <a:solidFill>
                  <a:srgbClr val="CF222E"/>
                </a:solidFill>
                <a:latin typeface="Consolas"/>
              </a:rPr>
              <a:t>import</a:t>
            </a:r>
            <a:r>
              <a:rPr sz="1550">
                <a:solidFill>
                  <a:srgbClr val="24292F"/>
                </a:solidFill>
                <a:latin typeface="Consolas"/>
              </a:rPr>
              <a:t>(</a:t>
            </a:r>
            <a:r>
              <a:rPr sz="1550">
                <a:solidFill>
                  <a:srgbClr val="0A3069"/>
                </a:solidFill>
                <a:latin typeface="Consolas"/>
              </a:rPr>
              <a:t>'@/components/HomeContent.vue'</a:t>
            </a:r>
            <a:r>
              <a:rPr sz="1550">
                <a:solidFill>
                  <a:srgbClr val="24292F"/>
                </a:solidFill>
                <a:latin typeface="Consolas"/>
              </a:rPr>
              <a:t>) },</a:t>
            </a:r>
          </a:p>
          <a:p>
            <a:pPr marL="0" indent="0" algn="l">
              <a:lnSpc>
                <a:spcPct val="100000"/>
              </a:lnSpc>
              <a:buNone/>
            </a:pPr>
            <a:r>
              <a:rPr sz="1550">
                <a:solidFill>
                  <a:srgbClr val="24292F"/>
                </a:solidFill>
                <a:latin typeface="Consolas"/>
              </a:rPr>
              <a:t>    { name: </a:t>
            </a:r>
            <a:r>
              <a:rPr sz="1550">
                <a:solidFill>
                  <a:srgbClr val="0A3069"/>
                </a:solidFill>
                <a:latin typeface="Consolas"/>
              </a:rPr>
              <a:t>'login'</a:t>
            </a:r>
            <a:r>
              <a:rPr sz="1550">
                <a:solidFill>
                  <a:srgbClr val="24292F"/>
                </a:solidFill>
                <a:latin typeface="Consolas"/>
              </a:rPr>
              <a:t>, path: </a:t>
            </a:r>
            <a:r>
              <a:rPr sz="1550">
                <a:solidFill>
                  <a:srgbClr val="0A3069"/>
                </a:solidFill>
                <a:latin typeface="Consolas"/>
              </a:rPr>
              <a:t>'/login'</a:t>
            </a:r>
            <a:r>
              <a:rPr sz="1550">
                <a:solidFill>
                  <a:srgbClr val="24292F"/>
                </a:solidFill>
                <a:latin typeface="Consolas"/>
              </a:rPr>
              <a:t>,</a:t>
            </a:r>
          </a:p>
          <a:p>
            <a:pPr marL="0" indent="0" algn="l">
              <a:lnSpc>
                <a:spcPct val="100000"/>
              </a:lnSpc>
              <a:buNone/>
            </a:pPr>
            <a:r>
              <a:rPr sz="1550">
                <a:solidFill>
                  <a:srgbClr val="24292F"/>
                </a:solidFill>
                <a:latin typeface="Consolas"/>
              </a:rPr>
              <a:t>      component: () =&gt; </a:t>
            </a:r>
            <a:r>
              <a:rPr sz="1550">
                <a:solidFill>
                  <a:srgbClr val="CF222E"/>
                </a:solidFill>
                <a:latin typeface="Consolas"/>
              </a:rPr>
              <a:t>import</a:t>
            </a:r>
            <a:r>
              <a:rPr sz="1550">
                <a:solidFill>
                  <a:srgbClr val="24292F"/>
                </a:solidFill>
                <a:latin typeface="Consolas"/>
              </a:rPr>
              <a:t>(</a:t>
            </a:r>
            <a:r>
              <a:rPr sz="1550">
                <a:solidFill>
                  <a:srgbClr val="0A3069"/>
                </a:solidFill>
                <a:latin typeface="Consolas"/>
              </a:rPr>
              <a:t>'@/components/LoginPage.vue'</a:t>
            </a:r>
            <a:r>
              <a:rPr sz="1550">
                <a:solidFill>
                  <a:srgbClr val="24292F"/>
                </a:solidFill>
                <a:latin typeface="Consolas"/>
              </a:rPr>
              <a:t>) },</a:t>
            </a:r>
          </a:p>
          <a:p>
            <a:pPr marL="0" indent="0" algn="l">
              <a:lnSpc>
                <a:spcPct val="100000"/>
              </a:lnSpc>
              <a:buNone/>
            </a:pPr>
            <a:r>
              <a:rPr sz="1550">
                <a:solidFill>
                  <a:srgbClr val="24292F"/>
                </a:solidFill>
                <a:latin typeface="Consolas"/>
              </a:rPr>
              <a:t>  ],</a:t>
            </a:r>
          </a:p>
          <a:p>
            <a:pPr marL="0" indent="0" algn="l">
              <a:lnSpc>
                <a:spcPct val="100000"/>
              </a:lnSpc>
              <a:buNone/>
            </a:pPr>
            <a:r>
              <a:rPr sz="1550">
                <a:solidFill>
                  <a:srgbClr val="24292F"/>
                </a:solidFill>
                <a:latin typeface="Consolas"/>
              </a:rPr>
              <a:t>})</a:t>
            </a:r>
          </a:p>
        </p:txBody>
      </p:sp>
      <p:sp>
        <p:nvSpPr>
          <p:cNvPr id="4" name="Body"/>
          <p:cNvSpPr txBox="1"/>
          <p:nvPr/>
        </p:nvSpPr>
        <p:spPr>
          <a:xfrm>
            <a:off x="457200" y="4629911"/>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Install it in </a:t>
            </a:r>
            <a:r>
              <a:rPr sz="2090" b="0" i="0">
                <a:solidFill>
                  <a:srgbClr val="8A2B52"/>
                </a:solidFill>
                <a:latin typeface="Consolas"/>
              </a:rPr>
              <a:t>main.js</a:t>
            </a:r>
            <a:r>
              <a:rPr sz="2200" b="0" i="0">
                <a:solidFill>
                  <a:srgbClr val="1F2A36"/>
                </a:solidFill>
              </a:rPr>
              <a:t> with </a:t>
            </a:r>
            <a:r>
              <a:rPr sz="2090" b="0" i="0">
                <a:solidFill>
                  <a:srgbClr val="8A2B52"/>
                </a:solidFill>
                <a:latin typeface="Consolas"/>
              </a:rPr>
              <a:t>app.use(router)</a:t>
            </a:r>
          </a:p>
          <a:p>
            <a:pPr marL="274320" indent="-256032">
              <a:spcAft>
                <a:spcPts val="990"/>
              </a:spcAft>
              <a:buClr>
                <a:srgbClr val="42B883"/>
              </a:buClr>
              <a:buSzPct val="100000"/>
              <a:buFont typeface="Arial"/>
              <a:buChar char="•"/>
            </a:pPr>
            <a:r>
              <a:rPr sz="2200" b="0" i="0">
                <a:solidFill>
                  <a:srgbClr val="1F2A36"/>
                </a:solidFill>
              </a:rPr>
              <a:t>Vue Router 3 wrote </a:t>
            </a:r>
            <a:r>
              <a:rPr sz="2090" b="0" i="0">
                <a:solidFill>
                  <a:srgbClr val="8A2B52"/>
                </a:solidFill>
                <a:latin typeface="Consolas"/>
              </a:rPr>
              <a:t>new Router({ mode: 'history', routes })</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215</a:t>
            </a:fld>
            <a:endParaRPr lang="en-US" sz="900">
              <a:solidFill>
                <a:srgbClr val="9AA7B4"/>
              </a:solidFill>
            </a:endParaRPr>
          </a:p>
        </p:txBody>
      </p:sp>
    </p:spTree>
    <p:extLst>
      <p:ext uri="{BB962C8B-B14F-4D97-AF65-F5344CB8AC3E}">
        <p14:creationId xmlns:p14="http://schemas.microsoft.com/office/powerpoint/2010/main" val="61625818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61C5-2204-524B-A6E6-C19B724A69AF}"/>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Routing</a:t>
            </a:r>
          </a:p>
        </p:txBody>
      </p:sp>
      <p:sp>
        <p:nvSpPr>
          <p:cNvPr id="3" name="Chip LAB 21"/>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21</a:t>
            </a:r>
          </a:p>
        </p:txBody>
      </p:sp>
      <p:sp>
        <p:nvSpPr>
          <p:cNvPr id="4" name="Chip 30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30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Add Vue Router with home and sign-in routes.</a:t>
            </a:r>
          </a:p>
        </p:txBody>
      </p:sp>
      <p:sp>
        <p:nvSpPr>
          <p:cNvPr id="6" name="Body"/>
          <p:cNvSpPr txBox="1"/>
          <p:nvPr/>
        </p:nvSpPr>
        <p:spPr>
          <a:xfrm>
            <a:off x="457200" y="2167128"/>
            <a:ext cx="8229600" cy="257555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1900" b="0" i="0">
                <a:solidFill>
                  <a:srgbClr val="8A2B52"/>
                </a:solidFill>
                <a:latin typeface="Consolas"/>
              </a:rPr>
              <a:t>npm install vue-router</a:t>
            </a:r>
            <a:r>
              <a:rPr sz="2000" b="0" i="0">
                <a:solidFill>
                  <a:srgbClr val="1F2A36"/>
                </a:solidFill>
              </a:rPr>
              <a:t>; create </a:t>
            </a:r>
            <a:r>
              <a:rPr sz="1900" b="0" i="0">
                <a:solidFill>
                  <a:srgbClr val="8A2B52"/>
                </a:solidFill>
                <a:latin typeface="Consolas"/>
              </a:rPr>
              <a:t>src/router/index.js</a:t>
            </a:r>
          </a:p>
          <a:p>
            <a:pPr marL="274320" indent="-256032">
              <a:spcAft>
                <a:spcPts val="900"/>
              </a:spcAft>
              <a:buClr>
                <a:srgbClr val="42B883"/>
              </a:buClr>
              <a:buSzPct val="100000"/>
              <a:buFont typeface="Arial"/>
              <a:buChar char="•"/>
            </a:pPr>
            <a:r>
              <a:rPr sz="2000" b="0" i="0">
                <a:solidFill>
                  <a:srgbClr val="1F2A36"/>
                </a:solidFill>
              </a:rPr>
              <a:t>Add a lazy-loaded </a:t>
            </a:r>
            <a:r>
              <a:rPr sz="1900" b="0" i="0">
                <a:solidFill>
                  <a:srgbClr val="8A2B52"/>
                </a:solidFill>
                <a:latin typeface="Consolas"/>
              </a:rPr>
              <a:t>home</a:t>
            </a:r>
            <a:r>
              <a:rPr sz="2000" b="0" i="0">
                <a:solidFill>
                  <a:srgbClr val="1F2A36"/>
                </a:solidFill>
              </a:rPr>
              <a:t> route; install the router after Pinia</a:t>
            </a:r>
          </a:p>
          <a:p>
            <a:pPr marL="274320" indent="-256032">
              <a:spcAft>
                <a:spcPts val="900"/>
              </a:spcAft>
              <a:buClr>
                <a:srgbClr val="42B883"/>
              </a:buClr>
              <a:buSzPct val="100000"/>
              <a:buFont typeface="Arial"/>
              <a:buChar char="•"/>
            </a:pPr>
            <a:r>
              <a:rPr sz="2000" b="0" i="0">
                <a:solidFill>
                  <a:srgbClr val="1F2A36"/>
                </a:solidFill>
              </a:rPr>
              <a:t>Replace </a:t>
            </a:r>
            <a:r>
              <a:rPr sz="1900" b="0" i="0">
                <a:solidFill>
                  <a:srgbClr val="8A2B52"/>
                </a:solidFill>
                <a:latin typeface="Consolas"/>
              </a:rPr>
              <a:t>&lt;HomeContent /&gt;</a:t>
            </a:r>
            <a:r>
              <a:rPr sz="2000" b="0" i="0">
                <a:solidFill>
                  <a:srgbClr val="1F2A36"/>
                </a:solidFill>
              </a:rPr>
              <a:t> in App.vue with </a:t>
            </a:r>
            <a:r>
              <a:rPr sz="1900" b="0" i="0">
                <a:solidFill>
                  <a:srgbClr val="8A2B52"/>
                </a:solidFill>
                <a:latin typeface="Consolas"/>
              </a:rPr>
              <a:t>&lt;RouterView /&gt;</a:t>
            </a:r>
          </a:p>
          <a:p>
            <a:pPr marL="274320" indent="-256032">
              <a:spcAft>
                <a:spcPts val="900"/>
              </a:spcAft>
              <a:buClr>
                <a:srgbClr val="42B883"/>
              </a:buClr>
              <a:buSzPct val="100000"/>
              <a:buFont typeface="Arial"/>
              <a:buChar char="•"/>
            </a:pPr>
            <a:r>
              <a:rPr sz="2000" b="0" i="0">
                <a:solidFill>
                  <a:srgbClr val="1F2A36"/>
                </a:solidFill>
              </a:rPr>
              <a:t>Turn the header links into </a:t>
            </a:r>
            <a:r>
              <a:rPr sz="1900" b="0" i="0">
                <a:solidFill>
                  <a:srgbClr val="8A2B52"/>
                </a:solidFill>
                <a:latin typeface="Consolas"/>
              </a:rPr>
              <a:t>&lt;RouterLink&gt;</a:t>
            </a:r>
            <a:r>
              <a:rPr sz="2000" b="0" i="0">
                <a:solidFill>
                  <a:srgbClr val="1F2A36"/>
                </a:solidFill>
              </a:rPr>
              <a:t>s</a:t>
            </a:r>
          </a:p>
          <a:p>
            <a:pPr marL="274320" indent="-256032">
              <a:spcAft>
                <a:spcPts val="900"/>
              </a:spcAft>
              <a:buClr>
                <a:srgbClr val="42B883"/>
              </a:buClr>
              <a:buSzPct val="100000"/>
              <a:buFont typeface="Arial"/>
              <a:buChar char="•"/>
            </a:pPr>
            <a:r>
              <a:rPr sz="2000" b="0" i="0">
                <a:solidFill>
                  <a:srgbClr val="1F2A36"/>
                </a:solidFill>
              </a:rPr>
              <a:t>Add a </a:t>
            </a:r>
            <a:r>
              <a:rPr sz="1900" b="0" i="0">
                <a:solidFill>
                  <a:srgbClr val="8A2B52"/>
                </a:solidFill>
                <a:latin typeface="Consolas"/>
              </a:rPr>
              <a:t>login</a:t>
            </a:r>
            <a:r>
              <a:rPr sz="2000" b="0" i="0">
                <a:solidFill>
                  <a:srgbClr val="1F2A36"/>
                </a:solidFill>
              </a:rPr>
              <a:t> route and a LoginPage component</a:t>
            </a:r>
          </a:p>
          <a:p>
            <a:pPr marL="274320" indent="-256032">
              <a:spcAft>
                <a:spcPts val="900"/>
              </a:spcAft>
              <a:buClr>
                <a:srgbClr val="42B883"/>
              </a:buClr>
              <a:buSzPct val="100000"/>
              <a:buFont typeface="Arial"/>
              <a:buChar char="•"/>
            </a:pPr>
            <a:r>
              <a:rPr sz="2000" b="0" i="0">
                <a:solidFill>
                  <a:srgbClr val="1F2A36"/>
                </a:solidFill>
              </a:rPr>
              <a:t>Challenge: the Sign Up page</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216</a:t>
            </a:fld>
            <a:endParaRPr lang="en-US" sz="900">
              <a:solidFill>
                <a:srgbClr val="9AA7B4"/>
              </a:solidFill>
            </a:endParaRPr>
          </a:p>
        </p:txBody>
      </p:sp>
    </p:spTree>
    <p:extLst>
      <p:ext uri="{BB962C8B-B14F-4D97-AF65-F5344CB8AC3E}">
        <p14:creationId xmlns:p14="http://schemas.microsoft.com/office/powerpoint/2010/main" val="385703541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F480-4650-A344-A020-C9151AD73AF9}"/>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AJAX with Pinia</a:t>
            </a:r>
          </a:p>
        </p:txBody>
      </p:sp>
      <p:sp>
        <p:nvSpPr>
          <p:cNvPr id="3" name="Chip LAB 22"/>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22</a:t>
            </a:r>
          </a:p>
        </p:txBody>
      </p:sp>
      <p:sp>
        <p:nvSpPr>
          <p:cNvPr id="4" name="Chip 4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45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Add sign up, log in and authentication state with an auth store.</a:t>
            </a:r>
          </a:p>
        </p:txBody>
      </p:sp>
      <p:sp>
        <p:nvSpPr>
          <p:cNvPr id="6" name="Body"/>
          <p:cNvSpPr txBox="1"/>
          <p:nvPr/>
        </p:nvSpPr>
        <p:spPr>
          <a:xfrm>
            <a:off x="457200" y="2167128"/>
            <a:ext cx="8229600" cy="276097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Copy </a:t>
            </a:r>
            <a:r>
              <a:rPr sz="1900" b="0" i="0">
                <a:solidFill>
                  <a:srgbClr val="8A2B52"/>
                </a:solidFill>
                <a:latin typeface="Consolas"/>
              </a:rPr>
              <a:t>jwt.service.js</a:t>
            </a:r>
            <a:r>
              <a:rPr sz="2000" b="0" i="0">
                <a:solidFill>
                  <a:srgbClr val="1F2A36"/>
                </a:solidFill>
              </a:rPr>
              <a:t>, </a:t>
            </a:r>
            <a:r>
              <a:rPr sz="1900" b="0" i="0">
                <a:solidFill>
                  <a:srgbClr val="8A2B52"/>
                </a:solidFill>
                <a:latin typeface="Consolas"/>
              </a:rPr>
              <a:t>api.service.js</a:t>
            </a:r>
            <a:r>
              <a:rPr sz="2000" b="0" i="0">
                <a:solidFill>
                  <a:srgbClr val="1F2A36"/>
                </a:solidFill>
              </a:rPr>
              <a:t> and </a:t>
            </a:r>
            <a:r>
              <a:rPr sz="1900" b="0" i="0">
                <a:solidFill>
                  <a:srgbClr val="8A2B52"/>
                </a:solidFill>
                <a:latin typeface="Consolas"/>
              </a:rPr>
              <a:t>stores/auth.js</a:t>
            </a:r>
            <a:r>
              <a:rPr sz="2000" b="0" i="0">
                <a:solidFill>
                  <a:srgbClr val="1F2A36"/>
                </a:solidFill>
              </a:rPr>
              <a:t> from </a:t>
            </a:r>
            <a:r>
              <a:rPr sz="1900" b="0" i="0">
                <a:solidFill>
                  <a:srgbClr val="8A2B52"/>
                </a:solidFill>
                <a:latin typeface="Consolas"/>
              </a:rPr>
              <a:t>labs/lab22</a:t>
            </a:r>
          </a:p>
          <a:p>
            <a:pPr marL="274320" indent="-256032">
              <a:spcAft>
                <a:spcPts val="900"/>
              </a:spcAft>
              <a:buClr>
                <a:srgbClr val="42B883"/>
              </a:buClr>
              <a:buSzPct val="100000"/>
              <a:buFont typeface="Arial"/>
              <a:buChar char="•"/>
            </a:pPr>
            <a:r>
              <a:rPr sz="2000" b="0" i="0">
                <a:solidFill>
                  <a:srgbClr val="1F2A36"/>
                </a:solidFill>
              </a:rPr>
              <a:t>Read through the auth store: state, </a:t>
            </a:r>
            <a:r>
              <a:rPr sz="1900" b="0" i="0">
                <a:solidFill>
                  <a:srgbClr val="8A2B52"/>
                </a:solidFill>
                <a:latin typeface="Consolas"/>
              </a:rPr>
              <a:t>login</a:t>
            </a:r>
            <a:r>
              <a:rPr sz="2000" b="0" i="0">
                <a:solidFill>
                  <a:srgbClr val="1F2A36"/>
                </a:solidFill>
              </a:rPr>
              <a:t>, </a:t>
            </a:r>
            <a:r>
              <a:rPr sz="1900" b="0" i="0">
                <a:solidFill>
                  <a:srgbClr val="8A2B52"/>
                </a:solidFill>
                <a:latin typeface="Consolas"/>
              </a:rPr>
              <a:t>register</a:t>
            </a:r>
            <a:r>
              <a:rPr sz="2000" b="0" i="0">
                <a:solidFill>
                  <a:srgbClr val="1F2A36"/>
                </a:solidFill>
              </a:rPr>
              <a:t>, </a:t>
            </a:r>
            <a:r>
              <a:rPr sz="1900" b="0" i="0">
                <a:solidFill>
                  <a:srgbClr val="8A2B52"/>
                </a:solidFill>
                <a:latin typeface="Consolas"/>
              </a:rPr>
              <a:t>checkAuth</a:t>
            </a:r>
          </a:p>
          <a:p>
            <a:pPr marL="274320" indent="-256032">
              <a:spcAft>
                <a:spcPts val="900"/>
              </a:spcAft>
              <a:buClr>
                <a:srgbClr val="42B883"/>
              </a:buClr>
              <a:buSzPct val="100000"/>
              <a:buFont typeface="Arial"/>
              <a:buChar char="•"/>
            </a:pPr>
            <a:r>
              <a:rPr sz="2000" b="0" i="0">
                <a:solidFill>
                  <a:srgbClr val="1F2A36"/>
                </a:solidFill>
              </a:rPr>
              <a:t>Add LoginPage and SignUpPage; navigate with </a:t>
            </a:r>
            <a:r>
              <a:rPr sz="1900" b="0" i="0">
                <a:solidFill>
                  <a:srgbClr val="8A2B52"/>
                </a:solidFill>
                <a:latin typeface="Consolas"/>
              </a:rPr>
              <a:t>useRouter()</a:t>
            </a:r>
          </a:p>
          <a:p>
            <a:pPr marL="274320" indent="-256032">
              <a:spcAft>
                <a:spcPts val="900"/>
              </a:spcAft>
              <a:buClr>
                <a:srgbClr val="42B883"/>
              </a:buClr>
              <a:buSzPct val="100000"/>
              <a:buFont typeface="Arial"/>
              <a:buChar char="•"/>
            </a:pPr>
            <a:r>
              <a:rPr sz="2000" b="0" i="0">
                <a:solidFill>
                  <a:srgbClr val="1F2A36"/>
                </a:solidFill>
              </a:rPr>
              <a:t>Use </a:t>
            </a:r>
            <a:r>
              <a:rPr sz="1900" b="0" i="0">
                <a:solidFill>
                  <a:srgbClr val="8A2B52"/>
                </a:solidFill>
                <a:latin typeface="Consolas"/>
              </a:rPr>
              <a:t>isAuthenticated</a:t>
            </a:r>
            <a:r>
              <a:rPr sz="2000" b="0" i="0">
                <a:solidFill>
                  <a:srgbClr val="1F2A36"/>
                </a:solidFill>
              </a:rPr>
              <a:t> (via </a:t>
            </a:r>
            <a:r>
              <a:rPr sz="1900" b="0" i="0">
                <a:solidFill>
                  <a:srgbClr val="8A2B52"/>
                </a:solidFill>
                <a:latin typeface="Consolas"/>
              </a:rPr>
              <a:t>storeToRefs</a:t>
            </a:r>
            <a:r>
              <a:rPr sz="2000" b="0" i="0">
                <a:solidFill>
                  <a:srgbClr val="1F2A36"/>
                </a:solidFill>
              </a:rPr>
              <a:t>) in HomeContent</a:t>
            </a:r>
          </a:p>
          <a:p>
            <a:pPr marL="274320" indent="-256032">
              <a:spcAft>
                <a:spcPts val="900"/>
              </a:spcAft>
              <a:buClr>
                <a:srgbClr val="42B883"/>
              </a:buClr>
              <a:buSzPct val="100000"/>
              <a:buFont typeface="Arial"/>
              <a:buChar char="•"/>
            </a:pPr>
            <a:r>
              <a:rPr sz="2000" b="0" i="0">
                <a:solidFill>
                  <a:srgbClr val="1F2A36"/>
                </a:solidFill>
              </a:rPr>
              <a:t>Challenges: a logout button; </a:t>
            </a:r>
            <a:r>
              <a:rPr sz="1900" b="0" i="0">
                <a:solidFill>
                  <a:srgbClr val="8A2B52"/>
                </a:solidFill>
                <a:latin typeface="Consolas"/>
              </a:rPr>
              <a:t>checkAuth()</a:t>
            </a:r>
            <a:r>
              <a:rPr sz="2000" b="0" i="0">
                <a:solidFill>
                  <a:srgbClr val="1F2A36"/>
                </a:solidFill>
              </a:rPr>
              <a:t> on startup</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217</a:t>
            </a:fld>
            <a:endParaRPr lang="en-US" sz="900">
              <a:solidFill>
                <a:srgbClr val="9AA7B4"/>
              </a:solidFill>
            </a:endParaRPr>
          </a:p>
        </p:txBody>
      </p:sp>
    </p:spTree>
    <p:extLst>
      <p:ext uri="{BB962C8B-B14F-4D97-AF65-F5344CB8AC3E}">
        <p14:creationId xmlns:p14="http://schemas.microsoft.com/office/powerpoint/2010/main" val="360842145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3512-8DD6-A244-B08E-9232216DC235}"/>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Testing</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TDD, Vitest and Vue Test Utils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218</a:t>
            </a:fld>
            <a:endParaRPr lang="en-US" sz="900">
              <a:solidFill>
                <a:srgbClr val="9FB3C4"/>
              </a:solidFill>
            </a:endParaRPr>
          </a:p>
        </p:txBody>
      </p:sp>
    </p:spTree>
    <p:extLst>
      <p:ext uri="{BB962C8B-B14F-4D97-AF65-F5344CB8AC3E}">
        <p14:creationId xmlns:p14="http://schemas.microsoft.com/office/powerpoint/2010/main" val="109512772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Test-Driven Development</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Body"/>
          <p:cNvSpPr txBox="1"/>
          <p:nvPr/>
        </p:nvSpPr>
        <p:spPr>
          <a:xfrm>
            <a:off x="731520" y="2148840"/>
            <a:ext cx="7680960" cy="2340610"/>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Learn the TDD steps</a:t>
            </a:r>
          </a:p>
          <a:p>
            <a:pPr marL="274320" indent="-256032">
              <a:spcAft>
                <a:spcPts val="990"/>
              </a:spcAft>
              <a:buClr>
                <a:srgbClr val="42B883"/>
              </a:buClr>
              <a:buSzPct val="100000"/>
              <a:buFont typeface="Arial"/>
              <a:buChar char="•"/>
            </a:pPr>
            <a:r>
              <a:rPr sz="2200" b="0" i="0">
                <a:solidFill>
                  <a:srgbClr val="FFFFFF"/>
                </a:solidFill>
              </a:rPr>
              <a:t>Write assertions</a:t>
            </a:r>
          </a:p>
          <a:p>
            <a:pPr marL="274320" indent="-256032">
              <a:spcAft>
                <a:spcPts val="990"/>
              </a:spcAft>
              <a:buClr>
                <a:srgbClr val="42B883"/>
              </a:buClr>
              <a:buSzPct val="100000"/>
              <a:buFont typeface="Arial"/>
              <a:buChar char="•"/>
            </a:pPr>
            <a:r>
              <a:rPr sz="2200" b="0" i="0">
                <a:solidFill>
                  <a:srgbClr val="FFFFFF"/>
                </a:solidFill>
              </a:rPr>
              <a:t>Create tests with Vitest</a:t>
            </a:r>
          </a:p>
          <a:p>
            <a:pPr marL="274320" indent="-256032">
              <a:spcAft>
                <a:spcPts val="990"/>
              </a:spcAft>
              <a:buClr>
                <a:srgbClr val="42B883"/>
              </a:buClr>
              <a:buSzPct val="100000"/>
              <a:buFont typeface="Arial"/>
              <a:buChar char="•"/>
            </a:pPr>
            <a:r>
              <a:rPr sz="2200" b="0" i="0">
                <a:solidFill>
                  <a:srgbClr val="FFFFFF"/>
                </a:solidFill>
              </a:rPr>
              <a:t>Test components with Vue Test Utils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219</a:t>
            </a:fld>
            <a:endParaRPr lang="en-US" sz="900">
              <a:solidFill>
                <a:srgbClr val="9FB3C4"/>
              </a:solidFill>
            </a:endParaRPr>
          </a:p>
        </p:txBody>
      </p:sp>
    </p:spTree>
    <p:extLst>
      <p:ext uri="{BB962C8B-B14F-4D97-AF65-F5344CB8AC3E}">
        <p14:creationId xmlns:p14="http://schemas.microsoft.com/office/powerpoint/2010/main" val="332602547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Goal of TDD</a:t>
            </a:r>
          </a:p>
        </p:txBody>
      </p:sp>
      <p:sp>
        <p:nvSpPr>
          <p:cNvPr id="3" name="Tip"/>
          <p:cNvSpPr/>
          <p:nvPr/>
        </p:nvSpPr>
        <p:spPr>
          <a:xfrm>
            <a:off x="457200" y="2355087"/>
            <a:ext cx="8229600" cy="67056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600" b="1" i="0">
                <a:solidFill>
                  <a:srgbClr val="1F2A36"/>
                </a:solidFill>
              </a:rPr>
              <a:t>Clean code that works.</a:t>
            </a:r>
            <a:r>
              <a:rPr sz="2600" b="0" i="0">
                <a:solidFill>
                  <a:srgbClr val="1F2A36"/>
                </a:solidFill>
              </a:rPr>
              <a:t>  — Kent Beck</a:t>
            </a:r>
          </a:p>
        </p:txBody>
      </p:sp>
      <p:sp>
        <p:nvSpPr>
          <p:cNvPr id="4" name="Body"/>
          <p:cNvSpPr txBox="1"/>
          <p:nvPr/>
        </p:nvSpPr>
        <p:spPr>
          <a:xfrm>
            <a:off x="457200" y="3171951"/>
            <a:ext cx="8229600" cy="2089912"/>
          </a:xfrm>
          <a:prstGeom prst="rect">
            <a:avLst/>
          </a:prstGeom>
          <a:noFill/>
        </p:spPr>
        <p:txBody>
          <a:bodyPr wrap="square" lIns="0" tIns="0" rIns="0" bIns="0">
            <a:noAutofit/>
          </a:bodyPr>
          <a:lstStyle/>
          <a:p>
            <a:pPr marL="274320" indent="-256032">
              <a:spcAft>
                <a:spcPts val="1260"/>
              </a:spcAft>
              <a:buClr>
                <a:srgbClr val="42B883"/>
              </a:buClr>
              <a:buSzPct val="100000"/>
              <a:buFont typeface="Arial"/>
              <a:buChar char="•"/>
            </a:pPr>
            <a:r>
              <a:rPr sz="2800" b="0" i="1">
                <a:solidFill>
                  <a:srgbClr val="1F2A36"/>
                </a:solidFill>
              </a:rPr>
              <a:t>Works</a:t>
            </a:r>
            <a:r>
              <a:rPr sz="2800" b="0" i="0">
                <a:solidFill>
                  <a:srgbClr val="1F2A36"/>
                </a:solidFill>
              </a:rPr>
              <a:t>: every behavior is pinned down by a test</a:t>
            </a:r>
          </a:p>
          <a:p>
            <a:pPr marL="274320" indent="-256032">
              <a:spcAft>
                <a:spcPts val="1260"/>
              </a:spcAft>
              <a:buClr>
                <a:srgbClr val="42B883"/>
              </a:buClr>
              <a:buSzPct val="100000"/>
              <a:buFont typeface="Arial"/>
              <a:buChar char="•"/>
            </a:pPr>
            <a:r>
              <a:rPr sz="2800" b="0" i="1">
                <a:solidFill>
                  <a:srgbClr val="1F2A36"/>
                </a:solidFill>
              </a:rPr>
              <a:t>Clean</a:t>
            </a:r>
            <a:r>
              <a:rPr sz="2800" b="0" i="0">
                <a:solidFill>
                  <a:srgbClr val="1F2A36"/>
                </a:solidFill>
              </a:rPr>
              <a:t>: you can refactor fearlessly, because the tests tell you if you broke something</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220</a:t>
            </a:fld>
            <a:endParaRPr lang="en-US" sz="900">
              <a:solidFill>
                <a:srgbClr val="9AA7B4"/>
              </a:solidFill>
            </a:endParaRPr>
          </a:p>
        </p:txBody>
      </p:sp>
    </p:spTree>
    <p:extLst>
      <p:ext uri="{BB962C8B-B14F-4D97-AF65-F5344CB8AC3E}">
        <p14:creationId xmlns:p14="http://schemas.microsoft.com/office/powerpoint/2010/main" val="153750197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TDD Cycle</a:t>
            </a:r>
          </a:p>
        </p:txBody>
      </p:sp>
      <p:sp>
        <p:nvSpPr>
          <p:cNvPr id="3" name="Body"/>
          <p:cNvSpPr txBox="1"/>
          <p:nvPr/>
        </p:nvSpPr>
        <p:spPr>
          <a:xfrm>
            <a:off x="457200" y="1261872"/>
            <a:ext cx="8229600" cy="2574036"/>
          </a:xfrm>
          <a:prstGeom prst="rect">
            <a:avLst/>
          </a:prstGeom>
          <a:noFill/>
        </p:spPr>
        <p:txBody>
          <a:bodyPr wrap="square" lIns="0" tIns="0" rIns="0" bIns="0">
            <a:noAutofit/>
          </a:bodyPr>
          <a:lstStyle/>
          <a:p>
            <a:pPr marL="347472" indent="-329184">
              <a:spcAft>
                <a:spcPts val="990"/>
              </a:spcAft>
              <a:buClr>
                <a:srgbClr val="2E8B62"/>
              </a:buClr>
              <a:buFont typeface="+mj-lt"/>
              <a:buAutoNum type="arabicPeriod"/>
            </a:pPr>
            <a:r>
              <a:rPr sz="2200" b="1" i="0">
                <a:solidFill>
                  <a:srgbClr val="1F2A36"/>
                </a:solidFill>
              </a:rPr>
              <a:t>Red</a:t>
            </a:r>
            <a:r>
              <a:rPr sz="2200" b="0" i="0">
                <a:solidFill>
                  <a:srgbClr val="1F2A36"/>
                </a:solidFill>
              </a:rPr>
              <a:t> — write a little test that doesn't work</a:t>
            </a:r>
          </a:p>
          <a:p>
            <a:pPr marL="347472" indent="-329184">
              <a:spcAft>
                <a:spcPts val="990"/>
              </a:spcAft>
              <a:buClr>
                <a:srgbClr val="2E8B62"/>
              </a:buClr>
              <a:buFont typeface="+mj-lt"/>
              <a:buAutoNum type="arabicPeriod" startAt="2"/>
            </a:pPr>
            <a:r>
              <a:rPr sz="2200" b="1" i="0">
                <a:solidFill>
                  <a:srgbClr val="1F2A36"/>
                </a:solidFill>
              </a:rPr>
              <a:t>Green</a:t>
            </a:r>
            <a:r>
              <a:rPr sz="2200" b="0" i="0">
                <a:solidFill>
                  <a:srgbClr val="1F2A36"/>
                </a:solidFill>
              </a:rPr>
              <a:t> — make the test pass as quickly as possible</a:t>
            </a:r>
          </a:p>
          <a:p>
            <a:pPr marL="566928" indent="-256032">
              <a:spcAft>
                <a:spcPts val="855"/>
              </a:spcAft>
              <a:buClr>
                <a:srgbClr val="6B7B8C"/>
              </a:buClr>
              <a:buSzPct val="100000"/>
              <a:buFont typeface="Arial"/>
              <a:buChar char="–"/>
            </a:pPr>
            <a:r>
              <a:rPr sz="1900" b="0" i="0">
                <a:solidFill>
                  <a:srgbClr val="3A4A5A"/>
                </a:solidFill>
              </a:rPr>
              <a:t>Don't worry about doing it right</a:t>
            </a:r>
          </a:p>
          <a:p>
            <a:pPr marL="347472" indent="-329184">
              <a:spcAft>
                <a:spcPts val="990"/>
              </a:spcAft>
              <a:buClr>
                <a:srgbClr val="2E8B62"/>
              </a:buClr>
              <a:buFont typeface="+mj-lt"/>
              <a:buAutoNum type="arabicPeriod" startAt="3"/>
            </a:pPr>
            <a:r>
              <a:rPr sz="2200" b="1" i="0">
                <a:solidFill>
                  <a:srgbClr val="1F2A36"/>
                </a:solidFill>
              </a:rPr>
              <a:t>Refactor</a:t>
            </a:r>
            <a:r>
              <a:rPr sz="2200" b="0" i="0">
                <a:solidFill>
                  <a:srgbClr val="1F2A36"/>
                </a:solidFill>
              </a:rPr>
              <a:t> — eliminate the duplication created in making the test pass</a:t>
            </a:r>
          </a:p>
          <a:p>
            <a:pPr marL="566928" indent="-256032">
              <a:spcAft>
                <a:spcPts val="855"/>
              </a:spcAft>
              <a:buClr>
                <a:srgbClr val="6B7B8C"/>
              </a:buClr>
              <a:buSzPct val="100000"/>
              <a:buFont typeface="Arial"/>
              <a:buChar char="–"/>
            </a:pPr>
            <a:r>
              <a:rPr sz="1900" b="0" i="0">
                <a:solidFill>
                  <a:srgbClr val="3A4A5A"/>
                </a:solidFill>
              </a:rPr>
              <a:t>Tests stay green the whole time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221</a:t>
            </a:fld>
            <a:endParaRPr lang="en-US" sz="900">
              <a:solidFill>
                <a:srgbClr val="9AA7B4"/>
              </a:solidFill>
            </a:endParaRPr>
          </a:p>
        </p:txBody>
      </p:sp>
    </p:spTree>
    <p:extLst>
      <p:ext uri="{BB962C8B-B14F-4D97-AF65-F5344CB8AC3E}">
        <p14:creationId xmlns:p14="http://schemas.microsoft.com/office/powerpoint/2010/main" val="17687973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TDD Steps</a:t>
            </a:r>
          </a:p>
        </p:txBody>
      </p:sp>
      <p:pic>
        <p:nvPicPr>
          <p:cNvPr id="8" name="Content Placeholder 5" descr="Test-driven_development.png">
            <a:extLst>
              <a:ext uri="{FF2B5EF4-FFF2-40B4-BE49-F238E27FC236}">
                <a16:creationId xmlns:a16="http://schemas.microsoft.com/office/drawing/2014/main" id="{383363F4-1AA4-B5CC-F1B6-025848E54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162489"/>
            <a:ext cx="4206240" cy="3017653"/>
          </a:xfrm>
          <a:prstGeom prst="rect">
            <a:avLst/>
          </a:prstGeom>
          <a:ln w="12700">
            <a:solidFill>
              <a:srgbClr val="D6DEE6"/>
            </a:solidFill>
          </a:ln>
        </p:spPr>
      </p:pic>
      <p:sp>
        <p:nvSpPr>
          <p:cNvPr id="9" name="Body"/>
          <p:cNvSpPr txBox="1"/>
          <p:nvPr/>
        </p:nvSpPr>
        <p:spPr>
          <a:xfrm>
            <a:off x="4937759" y="1261872"/>
            <a:ext cx="3749040" cy="3153664"/>
          </a:xfrm>
          <a:prstGeom prst="rect">
            <a:avLst/>
          </a:prstGeom>
          <a:noFill/>
        </p:spPr>
        <p:txBody>
          <a:bodyPr wrap="square" lIns="0" tIns="0" rIns="0" bIns="0">
            <a:noAutofit/>
          </a:bodyPr>
          <a:lstStyle/>
          <a:p>
            <a:pPr marL="347472" indent="-329184">
              <a:spcAft>
                <a:spcPts val="990"/>
              </a:spcAft>
              <a:buClr>
                <a:srgbClr val="2E8B62"/>
              </a:buClr>
              <a:buFont typeface="+mj-lt"/>
              <a:buAutoNum type="arabicPeriod"/>
            </a:pPr>
            <a:r>
              <a:rPr sz="2200" b="0" i="0">
                <a:solidFill>
                  <a:srgbClr val="1F2A36"/>
                </a:solidFill>
              </a:rPr>
              <a:t>Write a test</a:t>
            </a:r>
          </a:p>
          <a:p>
            <a:pPr marL="347472" indent="-329184">
              <a:spcAft>
                <a:spcPts val="990"/>
              </a:spcAft>
              <a:buClr>
                <a:srgbClr val="2E8B62"/>
              </a:buClr>
              <a:buFont typeface="+mj-lt"/>
              <a:buAutoNum type="arabicPeriod" startAt="2"/>
            </a:pPr>
            <a:r>
              <a:rPr sz="2200" b="0" i="0">
                <a:solidFill>
                  <a:srgbClr val="1F2A36"/>
                </a:solidFill>
              </a:rPr>
              <a:t>Check that the test fails</a:t>
            </a:r>
          </a:p>
          <a:p>
            <a:pPr marL="347472" indent="-329184">
              <a:spcAft>
                <a:spcPts val="990"/>
              </a:spcAft>
              <a:buClr>
                <a:srgbClr val="2E8B62"/>
              </a:buClr>
              <a:buFont typeface="+mj-lt"/>
              <a:buAutoNum type="arabicPeriod" startAt="3"/>
            </a:pPr>
            <a:r>
              <a:rPr sz="2200" b="0" i="0">
                <a:solidFill>
                  <a:srgbClr val="1F2A36"/>
                </a:solidFill>
              </a:rPr>
              <a:t>Write code</a:t>
            </a:r>
          </a:p>
          <a:p>
            <a:pPr marL="347472" indent="-329184">
              <a:spcAft>
                <a:spcPts val="990"/>
              </a:spcAft>
              <a:buClr>
                <a:srgbClr val="2E8B62"/>
              </a:buClr>
              <a:buFont typeface="+mj-lt"/>
              <a:buAutoNum type="arabicPeriod" startAt="4"/>
            </a:pPr>
            <a:r>
              <a:rPr sz="2200" b="0" i="0">
                <a:solidFill>
                  <a:srgbClr val="1F2A36"/>
                </a:solidFill>
              </a:rPr>
              <a:t>Run tests — pass!</a:t>
            </a:r>
          </a:p>
          <a:p>
            <a:pPr marL="347472" indent="-329184">
              <a:spcAft>
                <a:spcPts val="990"/>
              </a:spcAft>
              <a:buClr>
                <a:srgbClr val="2E8B62"/>
              </a:buClr>
              <a:buFont typeface="+mj-lt"/>
              <a:buAutoNum type="arabicPeriod" startAt="5"/>
            </a:pPr>
            <a:r>
              <a:rPr sz="2200" b="0" i="0">
                <a:solidFill>
                  <a:srgbClr val="1F2A36"/>
                </a:solidFill>
              </a:rPr>
              <a:t>Refactor</a:t>
            </a:r>
          </a:p>
          <a:p>
            <a:pPr marL="347472" indent="-329184">
              <a:spcAft>
                <a:spcPts val="990"/>
              </a:spcAft>
              <a:buClr>
                <a:srgbClr val="2E8B62"/>
              </a:buClr>
              <a:buFont typeface="+mj-lt"/>
              <a:buAutoNum type="arabicPeriod" startAt="6"/>
            </a:pPr>
            <a:r>
              <a:rPr sz="2200" b="0" i="0">
                <a:solidFill>
                  <a:srgbClr val="1F2A36"/>
                </a:solidFill>
              </a:rPr>
              <a:t>Repeat</a:t>
            </a:r>
          </a:p>
        </p:txBody>
      </p:sp>
      <p:sp>
        <p:nvSpPr>
          <p:cNvPr id="10"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1"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222</a:t>
            </a:fld>
            <a:endParaRPr lang="en-US" sz="900">
              <a:solidFill>
                <a:srgbClr val="9AA7B4"/>
              </a:solidFill>
            </a:endParaRPr>
          </a:p>
        </p:txBody>
      </p:sp>
    </p:spTree>
    <p:extLst>
      <p:ext uri="{BB962C8B-B14F-4D97-AF65-F5344CB8AC3E}">
        <p14:creationId xmlns:p14="http://schemas.microsoft.com/office/powerpoint/2010/main" val="205941489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Red</a:t>
            </a:r>
          </a:p>
        </p:txBody>
      </p:sp>
      <p:sp>
        <p:nvSpPr>
          <p:cNvPr id="3" name="Body"/>
          <p:cNvSpPr txBox="1"/>
          <p:nvPr/>
        </p:nvSpPr>
        <p:spPr>
          <a:xfrm>
            <a:off x="457200" y="1261872"/>
            <a:ext cx="8229600" cy="342430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Write the story</a:t>
            </a:r>
          </a:p>
          <a:p>
            <a:pPr marL="274320" indent="-256032">
              <a:spcAft>
                <a:spcPts val="990"/>
              </a:spcAft>
              <a:buClr>
                <a:srgbClr val="42B883"/>
              </a:buClr>
              <a:buSzPct val="100000"/>
              <a:buFont typeface="Arial"/>
              <a:buChar char="•"/>
            </a:pPr>
            <a:r>
              <a:rPr sz="2200" b="0" i="0">
                <a:solidFill>
                  <a:srgbClr val="1F2A36"/>
                </a:solidFill>
              </a:rPr>
              <a:t>Invent the interface you wish you had</a:t>
            </a:r>
          </a:p>
          <a:p>
            <a:pPr marL="274320" indent="-256032">
              <a:spcAft>
                <a:spcPts val="990"/>
              </a:spcAft>
              <a:buClr>
                <a:srgbClr val="42B883"/>
              </a:buClr>
              <a:buSzPct val="100000"/>
              <a:buFont typeface="Arial"/>
              <a:buChar char="•"/>
            </a:pPr>
            <a:r>
              <a:rPr sz="2200" b="0" i="0">
                <a:solidFill>
                  <a:srgbClr val="1F2A36"/>
                </a:solidFill>
              </a:rPr>
              <a:t>Characteristics of good tests:</a:t>
            </a:r>
          </a:p>
          <a:p>
            <a:pPr marL="566928" indent="-256032">
              <a:spcAft>
                <a:spcPts val="855"/>
              </a:spcAft>
              <a:buClr>
                <a:srgbClr val="6B7B8C"/>
              </a:buClr>
              <a:buSzPct val="100000"/>
              <a:buFont typeface="Arial"/>
              <a:buChar char="–"/>
            </a:pPr>
            <a:r>
              <a:rPr sz="1900" b="0" i="0">
                <a:solidFill>
                  <a:srgbClr val="3A4A5A"/>
                </a:solidFill>
              </a:rPr>
              <a:t>Each test is independent of the others</a:t>
            </a:r>
          </a:p>
          <a:p>
            <a:pPr marL="566928" indent="-256032">
              <a:spcAft>
                <a:spcPts val="855"/>
              </a:spcAft>
              <a:buClr>
                <a:srgbClr val="6B7B8C"/>
              </a:buClr>
              <a:buSzPct val="100000"/>
              <a:buFont typeface="Arial"/>
              <a:buChar char="–"/>
            </a:pPr>
            <a:r>
              <a:rPr sz="1900" b="0" i="0">
                <a:solidFill>
                  <a:srgbClr val="3A4A5A"/>
                </a:solidFill>
              </a:rPr>
              <a:t>Any behavior is specified in only one test</a:t>
            </a:r>
          </a:p>
          <a:p>
            <a:pPr marL="566928" indent="-256032">
              <a:spcAft>
                <a:spcPts val="855"/>
              </a:spcAft>
              <a:buClr>
                <a:srgbClr val="6B7B8C"/>
              </a:buClr>
              <a:buSzPct val="100000"/>
              <a:buFont typeface="Arial"/>
              <a:buChar char="–"/>
            </a:pPr>
            <a:r>
              <a:rPr sz="1900" b="0" i="0">
                <a:solidFill>
                  <a:srgbClr val="3A4A5A"/>
                </a:solidFill>
              </a:rPr>
              <a:t>No unnecessary assertions</a:t>
            </a:r>
          </a:p>
          <a:p>
            <a:pPr marL="566928" indent="-256032">
              <a:spcAft>
                <a:spcPts val="855"/>
              </a:spcAft>
              <a:buClr>
                <a:srgbClr val="6B7B8C"/>
              </a:buClr>
              <a:buSzPct val="100000"/>
              <a:buFont typeface="Arial"/>
              <a:buChar char="–"/>
            </a:pPr>
            <a:r>
              <a:rPr sz="1900" b="0" i="0">
                <a:solidFill>
                  <a:srgbClr val="3A4A5A"/>
                </a:solidFill>
              </a:rPr>
              <a:t>Test only one unit of code at a time</a:t>
            </a:r>
          </a:p>
          <a:p>
            <a:pPr marL="566928" indent="-256032">
              <a:spcAft>
                <a:spcPts val="855"/>
              </a:spcAft>
              <a:buClr>
                <a:srgbClr val="6B7B8C"/>
              </a:buClr>
              <a:buSzPct val="100000"/>
              <a:buFont typeface="Arial"/>
              <a:buChar char="–"/>
            </a:pPr>
            <a:r>
              <a:rPr sz="1900" b="0" i="0">
                <a:solidFill>
                  <a:srgbClr val="3A4A5A"/>
                </a:solidFill>
              </a:rPr>
              <a:t>Avoid unnecessary preconditions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223</a:t>
            </a:fld>
            <a:endParaRPr lang="en-US" sz="900">
              <a:solidFill>
                <a:srgbClr val="9AA7B4"/>
              </a:solidFill>
            </a:endParaRPr>
          </a:p>
        </p:txBody>
      </p:sp>
    </p:spTree>
    <p:extLst>
      <p:ext uri="{BB962C8B-B14F-4D97-AF65-F5344CB8AC3E}">
        <p14:creationId xmlns:p14="http://schemas.microsoft.com/office/powerpoint/2010/main" val="371127731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Green</a:t>
            </a:r>
          </a:p>
        </p:txBody>
      </p:sp>
      <p:sp>
        <p:nvSpPr>
          <p:cNvPr id="3" name="Body"/>
          <p:cNvSpPr txBox="1"/>
          <p:nvPr/>
        </p:nvSpPr>
        <p:spPr>
          <a:xfrm>
            <a:off x="457200" y="1261872"/>
            <a:ext cx="8229600" cy="4303267"/>
          </a:xfrm>
          <a:prstGeom prst="rect">
            <a:avLst/>
          </a:prstGeom>
          <a:noFill/>
        </p:spPr>
        <p:txBody>
          <a:bodyPr wrap="square" lIns="0" tIns="0" rIns="0" bIns="0">
            <a:noAutofit/>
          </a:bodyPr>
          <a:lstStyle/>
          <a:p>
            <a:pPr marL="0" indent="0">
              <a:spcAft>
                <a:spcPts val="990"/>
              </a:spcAft>
              <a:buNone/>
            </a:pPr>
            <a:r>
              <a:rPr sz="2200" b="0" i="0">
                <a:solidFill>
                  <a:srgbClr val="1F2A36"/>
                </a:solidFill>
              </a:rPr>
              <a:t>Get the test to pass as quickly as possible. Three strategies:</a:t>
            </a:r>
          </a:p>
          <a:p>
            <a:pPr marL="274320" indent="-256032">
              <a:spcAft>
                <a:spcPts val="990"/>
              </a:spcAft>
              <a:buClr>
                <a:srgbClr val="42B883"/>
              </a:buClr>
              <a:buSzPct val="100000"/>
              <a:buFont typeface="Arial"/>
              <a:buChar char="•"/>
            </a:pPr>
            <a:r>
              <a:rPr sz="2200" b="1" i="0">
                <a:solidFill>
                  <a:srgbClr val="1F2A36"/>
                </a:solidFill>
              </a:rPr>
              <a:t>Fake it</a:t>
            </a:r>
            <a:r>
              <a:rPr sz="2200" b="0" i="0">
                <a:solidFill>
                  <a:srgbClr val="1F2A36"/>
                </a:solidFill>
              </a:rPr>
              <a:t> — do something, no matter how crude, to make the test pass (even return a constant)</a:t>
            </a:r>
          </a:p>
          <a:p>
            <a:pPr marL="274320" indent="-256032">
              <a:spcAft>
                <a:spcPts val="990"/>
              </a:spcAft>
              <a:buClr>
                <a:srgbClr val="42B883"/>
              </a:buClr>
              <a:buSzPct val="100000"/>
              <a:buFont typeface="Arial"/>
              <a:buChar char="•"/>
            </a:pPr>
            <a:r>
              <a:rPr sz="2200" b="1" i="0">
                <a:solidFill>
                  <a:srgbClr val="1F2A36"/>
                </a:solidFill>
              </a:rPr>
              <a:t>Obvious implementation</a:t>
            </a:r>
            <a:r>
              <a:rPr sz="2200" b="0" i="0">
                <a:solidFill>
                  <a:srgbClr val="1F2A36"/>
                </a:solidFill>
              </a:rPr>
              <a:t> — if the clean solution is obvious, type it in</a:t>
            </a:r>
          </a:p>
          <a:p>
            <a:pPr marL="566928" indent="-256032">
              <a:spcAft>
                <a:spcPts val="855"/>
              </a:spcAft>
              <a:buClr>
                <a:srgbClr val="6B7B8C"/>
              </a:buClr>
              <a:buSzPct val="100000"/>
              <a:buFont typeface="Arial"/>
              <a:buChar char="–"/>
            </a:pPr>
            <a:r>
              <a:rPr sz="1900" b="0" i="0">
                <a:solidFill>
                  <a:srgbClr val="3A4A5A"/>
                </a:solidFill>
              </a:rPr>
              <a:t>…but don't try too hard</a:t>
            </a:r>
          </a:p>
          <a:p>
            <a:pPr marL="274320" indent="-256032">
              <a:spcAft>
                <a:spcPts val="990"/>
              </a:spcAft>
              <a:buClr>
                <a:srgbClr val="42B883"/>
              </a:buClr>
              <a:buSzPct val="100000"/>
              <a:buFont typeface="Arial"/>
              <a:buChar char="•"/>
            </a:pPr>
            <a:r>
              <a:rPr sz="2200" b="1" i="0">
                <a:solidFill>
                  <a:srgbClr val="1F2A36"/>
                </a:solidFill>
              </a:rPr>
              <a:t>Triangulation</a:t>
            </a:r>
            <a:r>
              <a:rPr sz="2200" b="0" i="0">
                <a:solidFill>
                  <a:srgbClr val="1F2A36"/>
                </a:solidFill>
              </a:rPr>
              <a:t> — only generalize when you have two or more examples</a:t>
            </a:r>
          </a:p>
          <a:p>
            <a:pPr marL="566928" indent="-256032">
              <a:spcAft>
                <a:spcPts val="855"/>
              </a:spcAft>
              <a:buClr>
                <a:srgbClr val="6B7B8C"/>
              </a:buClr>
              <a:buSzPct val="100000"/>
              <a:buFont typeface="Arial"/>
              <a:buChar char="–"/>
            </a:pPr>
            <a:r>
              <a:rPr sz="1900" b="0" i="0">
                <a:solidFill>
                  <a:srgbClr val="3A4A5A"/>
                </a:solidFill>
              </a:rPr>
              <a:t>When the second example demands a more general solution, then and only then generalize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224</a:t>
            </a:fld>
            <a:endParaRPr lang="en-US" sz="900">
              <a:solidFill>
                <a:srgbClr val="9AA7B4"/>
              </a:solidFill>
            </a:endParaRPr>
          </a:p>
        </p:txBody>
      </p:sp>
    </p:spTree>
    <p:extLst>
      <p:ext uri="{BB962C8B-B14F-4D97-AF65-F5344CB8AC3E}">
        <p14:creationId xmlns:p14="http://schemas.microsoft.com/office/powerpoint/2010/main" val="389141193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Refactor</a:t>
            </a:r>
          </a:p>
        </p:txBody>
      </p:sp>
      <p:sp>
        <p:nvSpPr>
          <p:cNvPr id="3" name="Body"/>
          <p:cNvSpPr txBox="1"/>
          <p:nvPr/>
        </p:nvSpPr>
        <p:spPr>
          <a:xfrm>
            <a:off x="457200" y="1261872"/>
            <a:ext cx="8229600" cy="269824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Make it right</a:t>
            </a:r>
          </a:p>
          <a:p>
            <a:pPr marL="274320" indent="-256032">
              <a:spcAft>
                <a:spcPts val="990"/>
              </a:spcAft>
              <a:buClr>
                <a:srgbClr val="42B883"/>
              </a:buClr>
              <a:buSzPct val="100000"/>
              <a:buFont typeface="Arial"/>
              <a:buChar char="•"/>
            </a:pPr>
            <a:r>
              <a:rPr sz="2200" b="0" i="0">
                <a:solidFill>
                  <a:srgbClr val="1F2A36"/>
                </a:solidFill>
              </a:rPr>
              <a:t>Remove duplication</a:t>
            </a:r>
          </a:p>
          <a:p>
            <a:pPr marL="274320" indent="-256032">
              <a:spcAft>
                <a:spcPts val="990"/>
              </a:spcAft>
              <a:buClr>
                <a:srgbClr val="42B883"/>
              </a:buClr>
              <a:buSzPct val="100000"/>
              <a:buFont typeface="Arial"/>
              <a:buChar char="•"/>
            </a:pPr>
            <a:r>
              <a:rPr sz="2200" b="0" i="0">
                <a:solidFill>
                  <a:srgbClr val="1F2A36"/>
                </a:solidFill>
              </a:rPr>
              <a:t>Improve the test</a:t>
            </a:r>
          </a:p>
          <a:p>
            <a:pPr marL="274320" indent="-256032">
              <a:spcAft>
                <a:spcPts val="990"/>
              </a:spcAft>
              <a:buClr>
                <a:srgbClr val="42B883"/>
              </a:buClr>
              <a:buSzPct val="100000"/>
              <a:buFont typeface="Arial"/>
              <a:buChar char="•"/>
            </a:pPr>
            <a:r>
              <a:rPr sz="2200" b="0" i="0">
                <a:solidFill>
                  <a:srgbClr val="1F2A36"/>
                </a:solidFill>
              </a:rPr>
              <a:t>Repeat</a:t>
            </a:r>
          </a:p>
          <a:p>
            <a:pPr marL="274320" indent="-256032">
              <a:spcAft>
                <a:spcPts val="990"/>
              </a:spcAft>
              <a:buClr>
                <a:srgbClr val="42B883"/>
              </a:buClr>
              <a:buSzPct val="100000"/>
              <a:buFont typeface="Arial"/>
              <a:buChar char="•"/>
            </a:pPr>
            <a:r>
              <a:rPr sz="2200" b="0" i="0">
                <a:solidFill>
                  <a:srgbClr val="1F2A36"/>
                </a:solidFill>
              </a:rPr>
              <a:t>Add ideas that aren't immediately needed to a </a:t>
            </a:r>
            <a:r>
              <a:rPr sz="2200" b="1" i="0">
                <a:solidFill>
                  <a:srgbClr val="1F2A36"/>
                </a:solidFill>
              </a:rPr>
              <a:t>to-do list</a:t>
            </a:r>
            <a:r>
              <a:rPr sz="2200" b="0" i="0">
                <a:solidFill>
                  <a:srgbClr val="1F2A36"/>
                </a:solidFill>
              </a:rPr>
              <a:t>, not the code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225</a:t>
            </a:fld>
            <a:endParaRPr lang="en-US" sz="900">
              <a:solidFill>
                <a:srgbClr val="9AA7B4"/>
              </a:solidFill>
            </a:endParaRPr>
          </a:p>
        </p:txBody>
      </p:sp>
    </p:spTree>
    <p:extLst>
      <p:ext uri="{BB962C8B-B14F-4D97-AF65-F5344CB8AC3E}">
        <p14:creationId xmlns:p14="http://schemas.microsoft.com/office/powerpoint/2010/main" val="258319746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Assertions</a:t>
            </a:r>
          </a:p>
        </p:txBody>
      </p:sp>
      <p:sp>
        <p:nvSpPr>
          <p:cNvPr id="3"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 assertion is an expression that checks a value and fails the test if it's wrong</a:t>
            </a:r>
          </a:p>
          <a:p>
            <a:pPr marL="274320" indent="-256032">
              <a:spcAft>
                <a:spcPts val="990"/>
              </a:spcAft>
              <a:buClr>
                <a:srgbClr val="42B883"/>
              </a:buClr>
              <a:buSzPct val="100000"/>
              <a:buFont typeface="Arial"/>
              <a:buChar char="•"/>
            </a:pPr>
            <a:r>
              <a:rPr sz="2200" b="0" i="0">
                <a:solidFill>
                  <a:srgbClr val="1F2A36"/>
                </a:solidFill>
              </a:rPr>
              <a:t>Assertion styles:</a:t>
            </a:r>
          </a:p>
        </p:txBody>
      </p:sp>
      <p:sp>
        <p:nvSpPr>
          <p:cNvPr id="4" name="Code"/>
          <p:cNvSpPr/>
          <p:nvPr/>
        </p:nvSpPr>
        <p:spPr>
          <a:xfrm>
            <a:off x="457200" y="2648712"/>
            <a:ext cx="8229600" cy="1166621"/>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50">
                <a:solidFill>
                  <a:srgbClr val="24292F"/>
                </a:solidFill>
                <a:latin typeface="Consolas"/>
              </a:rPr>
              <a:t>expect(buttonText).toBe(</a:t>
            </a:r>
            <a:r>
              <a:rPr sz="1850">
                <a:solidFill>
                  <a:srgbClr val="0A3069"/>
                </a:solidFill>
                <a:latin typeface="Consolas"/>
              </a:rPr>
              <a:t>'Go!'</a:t>
            </a:r>
            <a:r>
              <a:rPr sz="1850">
                <a:solidFill>
                  <a:srgbClr val="24292F"/>
                </a:solidFill>
                <a:latin typeface="Consolas"/>
              </a:rPr>
              <a:t>)       </a:t>
            </a:r>
            <a:r>
              <a:rPr sz="1850" i="1">
                <a:solidFill>
                  <a:srgbClr val="6E7781"/>
                </a:solidFill>
                <a:latin typeface="Consolas"/>
              </a:rPr>
              <a:t>// Vitest / Jest</a:t>
            </a:r>
          </a:p>
          <a:p>
            <a:pPr marL="0" indent="0" algn="l">
              <a:lnSpc>
                <a:spcPct val="100000"/>
              </a:lnSpc>
              <a:buNone/>
            </a:pPr>
            <a:r>
              <a:rPr sz="1850">
                <a:solidFill>
                  <a:srgbClr val="24292F"/>
                </a:solidFill>
                <a:latin typeface="Consolas"/>
              </a:rPr>
              <a:t>expect(body).to.be.an(</a:t>
            </a:r>
            <a:r>
              <a:rPr sz="1850">
                <a:solidFill>
                  <a:srgbClr val="0A3069"/>
                </a:solidFill>
                <a:latin typeface="Consolas"/>
              </a:rPr>
              <a:t>'array'</a:t>
            </a:r>
            <a:r>
              <a:rPr sz="1850">
                <a:solidFill>
                  <a:srgbClr val="24292F"/>
                </a:solidFill>
                <a:latin typeface="Consolas"/>
              </a:rPr>
              <a:t>)       </a:t>
            </a:r>
            <a:r>
              <a:rPr sz="1850" i="1">
                <a:solidFill>
                  <a:srgbClr val="6E7781"/>
                </a:solidFill>
                <a:latin typeface="Consolas"/>
              </a:rPr>
              <a:t>// Chai</a:t>
            </a:r>
          </a:p>
          <a:p>
            <a:pPr marL="0" indent="0" algn="l">
              <a:lnSpc>
                <a:spcPct val="100000"/>
              </a:lnSpc>
              <a:buNone/>
            </a:pPr>
            <a:r>
              <a:rPr sz="1850">
                <a:solidFill>
                  <a:srgbClr val="24292F"/>
                </a:solidFill>
                <a:latin typeface="Consolas"/>
              </a:rPr>
              <a:t>assert.deepEqual(obj1, obj2)         </a:t>
            </a:r>
            <a:r>
              <a:rPr sz="1850" i="1">
                <a:solidFill>
                  <a:srgbClr val="6E7781"/>
                </a:solidFill>
                <a:latin typeface="Consolas"/>
              </a:rPr>
              <a:t>// node:assert</a:t>
            </a:r>
          </a:p>
        </p:txBody>
      </p:sp>
      <p:sp>
        <p:nvSpPr>
          <p:cNvPr id="5" name="Body"/>
          <p:cNvSpPr txBox="1"/>
          <p:nvPr/>
        </p:nvSpPr>
        <p:spPr>
          <a:xfrm>
            <a:off x="457200" y="3961637"/>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Vitest's </a:t>
            </a:r>
            <a:r>
              <a:rPr sz="2090" b="0" i="0">
                <a:solidFill>
                  <a:srgbClr val="8A2B52"/>
                </a:solidFill>
                <a:latin typeface="Consolas"/>
              </a:rPr>
              <a:t>expect</a:t>
            </a:r>
            <a:r>
              <a:rPr sz="2200" b="0" i="0">
                <a:solidFill>
                  <a:srgbClr val="1F2A36"/>
                </a:solidFill>
              </a:rPr>
              <a:t> includes Chai's, with a Jest-compatible API on top</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226</a:t>
            </a:fld>
            <a:endParaRPr lang="en-US" sz="900">
              <a:solidFill>
                <a:srgbClr val="9AA7B4"/>
              </a:solidFill>
            </a:endParaRPr>
          </a:p>
        </p:txBody>
      </p:sp>
    </p:spTree>
    <p:extLst>
      <p:ext uri="{BB962C8B-B14F-4D97-AF65-F5344CB8AC3E}">
        <p14:creationId xmlns:p14="http://schemas.microsoft.com/office/powerpoint/2010/main" val="182261039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JavaScript Testing Frameworks</a:t>
            </a:r>
          </a:p>
        </p:txBody>
      </p:sp>
      <p:sp>
        <p:nvSpPr>
          <p:cNvPr id="5" name="Body"/>
          <p:cNvSpPr txBox="1"/>
          <p:nvPr/>
        </p:nvSpPr>
        <p:spPr>
          <a:xfrm>
            <a:off x="457200" y="1261872"/>
            <a:ext cx="8229600" cy="3687317"/>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Vitest</a:t>
            </a:r>
            <a:r>
              <a:rPr sz="2200" b="0" i="0">
                <a:solidFill>
                  <a:srgbClr val="1F2A36"/>
                </a:solidFill>
              </a:rPr>
              <a:t> — Vite-native; shares your Vite config and transforms</a:t>
            </a:r>
          </a:p>
          <a:p>
            <a:pPr marL="274320" indent="-256032">
              <a:spcAft>
                <a:spcPts val="990"/>
              </a:spcAft>
              <a:buClr>
                <a:srgbClr val="42B883"/>
              </a:buClr>
              <a:buSzPct val="100000"/>
              <a:buFont typeface="Arial"/>
              <a:buChar char="•"/>
            </a:pPr>
            <a:r>
              <a:rPr sz="2200" b="1" i="0">
                <a:solidFill>
                  <a:srgbClr val="1F2A36"/>
                </a:solidFill>
              </a:rPr>
              <a:t>Jest</a:t>
            </a:r>
            <a:r>
              <a:rPr sz="2200" b="0" i="0">
                <a:solidFill>
                  <a:srgbClr val="1F2A36"/>
                </a:solidFill>
              </a:rPr>
              <a:t> — long the default; needs its own transform setup for Vite projects</a:t>
            </a:r>
          </a:p>
          <a:p>
            <a:pPr marL="274320" indent="-256032">
              <a:spcAft>
                <a:spcPts val="990"/>
              </a:spcAft>
              <a:buClr>
                <a:srgbClr val="42B883"/>
              </a:buClr>
              <a:buSzPct val="100000"/>
              <a:buFont typeface="Arial"/>
              <a:buChar char="•"/>
            </a:pPr>
            <a:r>
              <a:rPr sz="2200" b="1" i="0">
                <a:solidFill>
                  <a:srgbClr val="1F2A36"/>
                </a:solidFill>
              </a:rPr>
              <a:t>Mocha + Chai</a:t>
            </a:r>
            <a:r>
              <a:rPr sz="2200" b="0" i="0">
                <a:solidFill>
                  <a:srgbClr val="1F2A36"/>
                </a:solidFill>
              </a:rPr>
              <a:t> — runner and assertion library, chosen separately</a:t>
            </a:r>
          </a:p>
          <a:p>
            <a:pPr marL="274320" indent="-256032">
              <a:spcAft>
                <a:spcPts val="990"/>
              </a:spcAft>
              <a:buClr>
                <a:srgbClr val="42B883"/>
              </a:buClr>
              <a:buSzPct val="100000"/>
              <a:buFont typeface="Arial"/>
              <a:buChar char="•"/>
            </a:pPr>
            <a:r>
              <a:rPr sz="2200" b="1" i="0">
                <a:solidFill>
                  <a:srgbClr val="1F2A36"/>
                </a:solidFill>
              </a:rPr>
              <a:t>node:test</a:t>
            </a:r>
            <a:r>
              <a:rPr sz="2200" b="0" i="0">
                <a:solidFill>
                  <a:srgbClr val="1F2A36"/>
                </a:solidFill>
              </a:rPr>
              <a:t> — built into Node.js since version 18</a:t>
            </a:r>
          </a:p>
          <a:p>
            <a:pPr marL="274320" indent="-256032">
              <a:spcAft>
                <a:spcPts val="990"/>
              </a:spcAft>
              <a:buClr>
                <a:srgbClr val="42B883"/>
              </a:buClr>
              <a:buSzPct val="100000"/>
              <a:buFont typeface="Arial"/>
              <a:buChar char="•"/>
            </a:pPr>
            <a:r>
              <a:rPr sz="2200" b="1" i="0">
                <a:solidFill>
                  <a:srgbClr val="1F2A36"/>
                </a:solidFill>
              </a:rPr>
              <a:t>Playwright</a:t>
            </a:r>
            <a:r>
              <a:rPr sz="2200" b="0" i="0">
                <a:solidFill>
                  <a:srgbClr val="1F2A36"/>
                </a:solidFill>
              </a:rPr>
              <a:t> / </a:t>
            </a:r>
            <a:r>
              <a:rPr sz="2200" b="1" i="0">
                <a:solidFill>
                  <a:srgbClr val="1F2A36"/>
                </a:solidFill>
              </a:rPr>
              <a:t>Cypress</a:t>
            </a:r>
            <a:r>
              <a:rPr sz="2200" b="0" i="0">
                <a:solidFill>
                  <a:srgbClr val="1F2A36"/>
                </a:solidFill>
              </a:rPr>
              <a:t> — end-to-end tests in a real browser</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227</a:t>
            </a:fld>
            <a:endParaRPr lang="en-US" sz="900">
              <a:solidFill>
                <a:srgbClr val="9AA7B4"/>
              </a:solidFill>
            </a:endParaRPr>
          </a:p>
        </p:txBody>
      </p:sp>
    </p:spTree>
    <p:extLst>
      <p:ext uri="{BB962C8B-B14F-4D97-AF65-F5344CB8AC3E}">
        <p14:creationId xmlns:p14="http://schemas.microsoft.com/office/powerpoint/2010/main" val="1365843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JS Exception Handling</a:t>
            </a:r>
          </a:p>
        </p:txBody>
      </p:sp>
      <p:sp>
        <p:nvSpPr>
          <p:cNvPr id="3" name="Code"/>
          <p:cNvSpPr/>
          <p:nvPr/>
        </p:nvSpPr>
        <p:spPr>
          <a:xfrm>
            <a:off x="457200" y="1261872"/>
            <a:ext cx="8229600" cy="38201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function</a:t>
            </a:r>
            <a:r>
              <a:rPr sz="1600">
                <a:solidFill>
                  <a:srgbClr val="24292F"/>
                </a:solidFill>
                <a:latin typeface="Consolas"/>
              </a:rPr>
              <a:t> hello(name) {</a:t>
            </a:r>
          </a:p>
          <a:p>
            <a:pPr marL="0" indent="0" algn="l">
              <a:lnSpc>
                <a:spcPct val="100000"/>
              </a:lnSpc>
              <a:buNone/>
            </a:pPr>
            <a:r>
              <a:rPr sz="1600">
                <a:solidFill>
                  <a:srgbClr val="24292F"/>
                </a:solidFill>
                <a:latin typeface="Consolas"/>
              </a:rPr>
              <a:t>  </a:t>
            </a:r>
            <a:r>
              <a:rPr sz="1600">
                <a:solidFill>
                  <a:srgbClr val="CF222E"/>
                </a:solidFill>
                <a:latin typeface="Consolas"/>
              </a:rPr>
              <a:t>return</a:t>
            </a:r>
            <a:r>
              <a:rPr sz="1600">
                <a:solidFill>
                  <a:srgbClr val="24292F"/>
                </a:solidFill>
                <a:latin typeface="Consolas"/>
              </a:rPr>
              <a:t> </a:t>
            </a:r>
            <a:r>
              <a:rPr sz="1600">
                <a:solidFill>
                  <a:srgbClr val="0A3069"/>
                </a:solidFill>
                <a:latin typeface="Consolas"/>
              </a:rPr>
              <a:t>'Hello, '</a:t>
            </a:r>
            <a:r>
              <a:rPr sz="1600">
                <a:solidFill>
                  <a:srgbClr val="24292F"/>
                </a:solidFill>
                <a:latin typeface="Consolas"/>
              </a:rPr>
              <a:t> + name</a:t>
            </a:r>
          </a:p>
          <a:p>
            <a:pPr marL="0" indent="0" algn="l">
              <a:lnSpc>
                <a:spcPct val="100000"/>
              </a:lnSpc>
              <a:buNone/>
            </a:pP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result = hello(</a:t>
            </a:r>
            <a:r>
              <a:rPr sz="1600">
                <a:solidFill>
                  <a:srgbClr val="0A3069"/>
                </a:solidFill>
                <a:latin typeface="Consolas"/>
              </a:rPr>
              <a:t>'World'</a:t>
            </a:r>
            <a:r>
              <a:rPr sz="1600">
                <a:solidFill>
                  <a:srgbClr val="24292F"/>
                </a:solidFill>
                <a:latin typeface="Consolas"/>
              </a:rPr>
              <a:t>)</a:t>
            </a:r>
          </a:p>
          <a:p>
            <a:pPr marL="0" indent="0" algn="l">
              <a:lnSpc>
                <a:spcPct val="100000"/>
              </a:lnSpc>
              <a:buNone/>
            </a:pPr>
            <a:r>
              <a:rPr sz="1600">
                <a:solidFill>
                  <a:srgbClr val="CF222E"/>
                </a:solidFill>
                <a:latin typeface="Consolas"/>
              </a:rPr>
              <a:t>const</a:t>
            </a:r>
            <a:r>
              <a:rPr sz="1600">
                <a:solidFill>
                  <a:srgbClr val="24292F"/>
                </a:solidFill>
                <a:latin typeface="Consolas"/>
              </a:rPr>
              <a:t> expected = </a:t>
            </a:r>
            <a:r>
              <a:rPr sz="1600">
                <a:solidFill>
                  <a:srgbClr val="0A3069"/>
                </a:solidFill>
                <a:latin typeface="Consolas"/>
              </a:rPr>
              <a:t>'Hello, World!'</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try</a:t>
            </a:r>
            <a:r>
              <a:rPr sz="1600">
                <a:solidFill>
                  <a:srgbClr val="24292F"/>
                </a:solidFill>
                <a:latin typeface="Consolas"/>
              </a:rPr>
              <a:t> {</a:t>
            </a:r>
          </a:p>
          <a:p>
            <a:pPr marL="0" indent="0" algn="l">
              <a:lnSpc>
                <a:spcPct val="100000"/>
              </a:lnSpc>
              <a:buNone/>
            </a:pPr>
            <a:r>
              <a:rPr sz="1600">
                <a:solidFill>
                  <a:srgbClr val="24292F"/>
                </a:solidFill>
                <a:latin typeface="Consolas"/>
              </a:rPr>
              <a:t>  </a:t>
            </a:r>
            <a:r>
              <a:rPr sz="1600">
                <a:solidFill>
                  <a:srgbClr val="CF222E"/>
                </a:solidFill>
                <a:latin typeface="Consolas"/>
              </a:rPr>
              <a:t>if</a:t>
            </a:r>
            <a:r>
              <a:rPr sz="1600">
                <a:solidFill>
                  <a:srgbClr val="24292F"/>
                </a:solidFill>
                <a:latin typeface="Consolas"/>
              </a:rPr>
              <a:t> (result !== expected) {</a:t>
            </a:r>
          </a:p>
          <a:p>
            <a:pPr marL="0" indent="0" algn="l">
              <a:lnSpc>
                <a:spcPct val="100000"/>
              </a:lnSpc>
              <a:buNone/>
            </a:pPr>
            <a:r>
              <a:rPr sz="1600">
                <a:solidFill>
                  <a:srgbClr val="24292F"/>
                </a:solidFill>
                <a:latin typeface="Consolas"/>
              </a:rPr>
              <a:t>    </a:t>
            </a:r>
            <a:r>
              <a:rPr sz="1600">
                <a:solidFill>
                  <a:srgbClr val="CF222E"/>
                </a:solidFill>
                <a:latin typeface="Consolas"/>
              </a:rPr>
              <a:t>throw</a:t>
            </a:r>
            <a:r>
              <a:rPr sz="1600">
                <a:solidFill>
                  <a:srgbClr val="24292F"/>
                </a:solidFill>
                <a:latin typeface="Consolas"/>
              </a:rPr>
              <a:t> </a:t>
            </a:r>
            <a:r>
              <a:rPr sz="1600">
                <a:solidFill>
                  <a:srgbClr val="CF222E"/>
                </a:solidFill>
                <a:latin typeface="Consolas"/>
              </a:rPr>
              <a:t>new</a:t>
            </a:r>
            <a:r>
              <a:rPr sz="1600">
                <a:solidFill>
                  <a:srgbClr val="24292F"/>
                </a:solidFill>
                <a:latin typeface="Consolas"/>
              </a:rPr>
              <a:t> Error(</a:t>
            </a:r>
            <a:r>
              <a:rPr sz="1600">
                <a:solidFill>
                  <a:srgbClr val="0A3069"/>
                </a:solidFill>
                <a:latin typeface="Consolas"/>
              </a:rPr>
              <a:t>`Expected ${expected} but got ${result}`</a:t>
            </a:r>
            <a:r>
              <a:rPr sz="1600">
                <a:solidFill>
                  <a:srgbClr val="24292F"/>
                </a:solidFill>
                <a:latin typeface="Consolas"/>
              </a:rPr>
              <a:t>)</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 </a:t>
            </a:r>
            <a:r>
              <a:rPr sz="1600">
                <a:solidFill>
                  <a:srgbClr val="CF222E"/>
                </a:solidFill>
                <a:latin typeface="Consolas"/>
              </a:rPr>
              <a:t>catch</a:t>
            </a:r>
            <a:r>
              <a:rPr sz="1600">
                <a:solidFill>
                  <a:srgbClr val="24292F"/>
                </a:solidFill>
                <a:latin typeface="Consolas"/>
              </a:rPr>
              <a:t> (err) {</a:t>
            </a:r>
          </a:p>
          <a:p>
            <a:pPr marL="0" indent="0" algn="l">
              <a:lnSpc>
                <a:spcPct val="100000"/>
              </a:lnSpc>
              <a:buNone/>
            </a:pPr>
            <a:r>
              <a:rPr sz="1600">
                <a:solidFill>
                  <a:srgbClr val="24292F"/>
                </a:solidFill>
                <a:latin typeface="Consolas"/>
              </a:rPr>
              <a:t>  console.log(err.message)</a:t>
            </a:r>
          </a:p>
          <a:p>
            <a:pPr marL="0" indent="0" algn="l">
              <a:lnSpc>
                <a:spcPct val="100000"/>
              </a:lnSpc>
              <a:buNone/>
            </a:pPr>
            <a:r>
              <a:rPr sz="1600">
                <a:solidFill>
                  <a:srgbClr val="24292F"/>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228</a:t>
            </a:fld>
            <a:endParaRPr lang="en-US" sz="900">
              <a:solidFill>
                <a:srgbClr val="9AA7B4"/>
              </a:solidFill>
            </a:endParaRPr>
          </a:p>
        </p:txBody>
      </p:sp>
    </p:spTree>
    <p:extLst>
      <p:ext uri="{BB962C8B-B14F-4D97-AF65-F5344CB8AC3E}">
        <p14:creationId xmlns:p14="http://schemas.microsoft.com/office/powerpoint/2010/main" val="378614708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Vitest Overview</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Body"/>
          <p:cNvSpPr txBox="1"/>
          <p:nvPr/>
        </p:nvSpPr>
        <p:spPr>
          <a:xfrm>
            <a:off x="731520" y="2148840"/>
            <a:ext cx="7680960" cy="2670302"/>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Learn about Vitest</a:t>
            </a:r>
          </a:p>
          <a:p>
            <a:pPr marL="274320" indent="-256032">
              <a:spcAft>
                <a:spcPts val="990"/>
              </a:spcAft>
              <a:buClr>
                <a:srgbClr val="42B883"/>
              </a:buClr>
              <a:buSzPct val="100000"/>
              <a:buFont typeface="Arial"/>
              <a:buChar char="•"/>
            </a:pPr>
            <a:r>
              <a:rPr sz="2200" b="0" i="0">
                <a:solidFill>
                  <a:srgbClr val="FFFFFF"/>
                </a:solidFill>
              </a:rPr>
              <a:t>Write unit tests with Vitest</a:t>
            </a:r>
          </a:p>
          <a:p>
            <a:pPr marL="274320" indent="-256032">
              <a:spcAft>
                <a:spcPts val="990"/>
              </a:spcAft>
              <a:buClr>
                <a:srgbClr val="42B883"/>
              </a:buClr>
              <a:buSzPct val="100000"/>
              <a:buFont typeface="Arial"/>
              <a:buChar char="•"/>
            </a:pPr>
            <a:r>
              <a:rPr sz="2200" b="0" i="0">
                <a:solidFill>
                  <a:srgbClr val="FFFFFF"/>
                </a:solidFill>
              </a:rPr>
              <a:t>Understand the rendering modes: </a:t>
            </a:r>
            <a:r>
              <a:rPr sz="2090" b="0" i="0">
                <a:solidFill>
                  <a:srgbClr val="B9E6D1"/>
                </a:solidFill>
                <a:latin typeface="Consolas"/>
              </a:rPr>
              <a:t>mount</a:t>
            </a:r>
            <a:r>
              <a:rPr sz="2200" b="0" i="0">
                <a:solidFill>
                  <a:srgbClr val="FFFFFF"/>
                </a:solidFill>
              </a:rPr>
              <a:t> vs. </a:t>
            </a:r>
            <a:r>
              <a:rPr sz="2090" b="0" i="0">
                <a:solidFill>
                  <a:srgbClr val="B9E6D1"/>
                </a:solidFill>
                <a:latin typeface="Consolas"/>
              </a:rPr>
              <a:t>shallowMount</a:t>
            </a:r>
          </a:p>
          <a:p>
            <a:pPr marL="274320" indent="-256032">
              <a:spcAft>
                <a:spcPts val="990"/>
              </a:spcAft>
              <a:buClr>
                <a:srgbClr val="42B883"/>
              </a:buClr>
              <a:buSzPct val="100000"/>
              <a:buFont typeface="Arial"/>
              <a:buChar char="•"/>
            </a:pPr>
            <a:r>
              <a:rPr sz="2200" b="0" i="0">
                <a:solidFill>
                  <a:srgbClr val="FFFFFF"/>
                </a:solidFill>
              </a:rPr>
              <a:t>Mock modules, functions and timers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229</a:t>
            </a:fld>
            <a:endParaRPr lang="en-US" sz="900">
              <a:solidFill>
                <a:srgbClr val="9FB3C4"/>
              </a:solidFill>
            </a:endParaRPr>
          </a:p>
        </p:txBody>
      </p:sp>
    </p:spTree>
    <p:extLst>
      <p:ext uri="{BB962C8B-B14F-4D97-AF65-F5344CB8AC3E}">
        <p14:creationId xmlns:p14="http://schemas.microsoft.com/office/powerpoint/2010/main" val="158386845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Vitest</a:t>
            </a:r>
          </a:p>
        </p:txBody>
      </p:sp>
      <p:sp>
        <p:nvSpPr>
          <p:cNvPr id="3" name="Body"/>
          <p:cNvSpPr txBox="1"/>
          <p:nvPr/>
        </p:nvSpPr>
        <p:spPr>
          <a:xfrm>
            <a:off x="457200" y="1261872"/>
            <a:ext cx="8229600" cy="381304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test runner built for Vite</a:t>
            </a:r>
          </a:p>
          <a:p>
            <a:pPr marL="274320" indent="-256032">
              <a:spcAft>
                <a:spcPts val="990"/>
              </a:spcAft>
              <a:buClr>
                <a:srgbClr val="42B883"/>
              </a:buClr>
              <a:buSzPct val="100000"/>
              <a:buFont typeface="Arial"/>
              <a:buChar char="•"/>
            </a:pPr>
            <a:r>
              <a:rPr sz="2200" b="0" i="0">
                <a:solidFill>
                  <a:srgbClr val="1F2A36"/>
                </a:solidFill>
              </a:rPr>
              <a:t>Reuses your </a:t>
            </a:r>
            <a:r>
              <a:rPr sz="2090" b="0" i="0">
                <a:solidFill>
                  <a:srgbClr val="8A2B52"/>
                </a:solidFill>
                <a:latin typeface="Consolas"/>
              </a:rPr>
              <a:t>vite.config.js</a:t>
            </a:r>
            <a:r>
              <a:rPr sz="2200" b="0" i="0">
                <a:solidFill>
                  <a:srgbClr val="1F2A36"/>
                </a:solidFill>
              </a:rPr>
              <a:t> — aliases, plugins and </a:t>
            </a:r>
            <a:r>
              <a:rPr sz="2090" b="0" i="0">
                <a:solidFill>
                  <a:srgbClr val="8A2B52"/>
                </a:solidFill>
                <a:latin typeface="Consolas"/>
              </a:rPr>
              <a:t>.vue</a:t>
            </a:r>
            <a:r>
              <a:rPr sz="2200" b="0" i="0">
                <a:solidFill>
                  <a:srgbClr val="1F2A36"/>
                </a:solidFill>
              </a:rPr>
              <a:t> handling all work in tests with no extra configuration</a:t>
            </a:r>
          </a:p>
          <a:p>
            <a:pPr marL="274320" indent="-256032">
              <a:spcAft>
                <a:spcPts val="990"/>
              </a:spcAft>
              <a:buClr>
                <a:srgbClr val="42B883"/>
              </a:buClr>
              <a:buSzPct val="100000"/>
              <a:buFont typeface="Arial"/>
              <a:buChar char="•"/>
            </a:pPr>
            <a:r>
              <a:rPr sz="2200" b="0" i="0">
                <a:solidFill>
                  <a:srgbClr val="1F2A36"/>
                </a:solidFill>
              </a:rPr>
              <a:t>Runs files named </a:t>
            </a:r>
            <a:r>
              <a:rPr sz="2090" b="0" i="0">
                <a:solidFill>
                  <a:srgbClr val="8A2B52"/>
                </a:solidFill>
                <a:latin typeface="Consolas"/>
              </a:rPr>
              <a:t>*.spec.js</a:t>
            </a:r>
            <a:r>
              <a:rPr sz="2200" b="0" i="0">
                <a:solidFill>
                  <a:srgbClr val="1F2A36"/>
                </a:solidFill>
              </a:rPr>
              <a:t> or </a:t>
            </a:r>
            <a:r>
              <a:rPr sz="2090" b="0" i="0">
                <a:solidFill>
                  <a:srgbClr val="8A2B52"/>
                </a:solidFill>
                <a:latin typeface="Consolas"/>
              </a:rPr>
              <a:t>*.test.js</a:t>
            </a:r>
          </a:p>
          <a:p>
            <a:pPr marL="274320" indent="-256032">
              <a:spcAft>
                <a:spcPts val="990"/>
              </a:spcAft>
              <a:buClr>
                <a:srgbClr val="42B883"/>
              </a:buClr>
              <a:buSzPct val="100000"/>
              <a:buFont typeface="Arial"/>
              <a:buChar char="•"/>
            </a:pPr>
            <a:r>
              <a:rPr sz="2200" b="0" i="0">
                <a:solidFill>
                  <a:srgbClr val="1F2A36"/>
                </a:solidFill>
              </a:rPr>
              <a:t>Simulates a browser environment with </a:t>
            </a:r>
            <a:r>
              <a:rPr sz="2200" b="1" i="0">
                <a:solidFill>
                  <a:srgbClr val="1F2A36"/>
                </a:solidFill>
              </a:rPr>
              <a:t>jsdom</a:t>
            </a:r>
            <a:r>
              <a:rPr sz="2200" b="0" i="0">
                <a:solidFill>
                  <a:srgbClr val="1F2A36"/>
                </a:solidFill>
              </a:rPr>
              <a:t> or </a:t>
            </a:r>
            <a:r>
              <a:rPr sz="2200" b="1" i="0">
                <a:solidFill>
                  <a:srgbClr val="1F2A36"/>
                </a:solidFill>
              </a:rPr>
              <a:t>happy-dom</a:t>
            </a:r>
          </a:p>
          <a:p>
            <a:pPr marL="274320" indent="-256032">
              <a:spcAft>
                <a:spcPts val="990"/>
              </a:spcAft>
              <a:buClr>
                <a:srgbClr val="42B883"/>
              </a:buClr>
              <a:buSzPct val="100000"/>
              <a:buFont typeface="Arial"/>
              <a:buChar char="•"/>
            </a:pPr>
            <a:r>
              <a:rPr sz="2200" b="0" i="0">
                <a:solidFill>
                  <a:srgbClr val="1F2A36"/>
                </a:solidFill>
              </a:rPr>
              <a:t>Jest-compatible API: </a:t>
            </a:r>
            <a:r>
              <a:rPr sz="2090" b="0" i="0">
                <a:solidFill>
                  <a:srgbClr val="8A2B52"/>
                </a:solidFill>
                <a:latin typeface="Consolas"/>
              </a:rPr>
              <a:t>describe</a:t>
            </a:r>
            <a:r>
              <a:rPr sz="2200" b="0" i="0">
                <a:solidFill>
                  <a:srgbClr val="1F2A36"/>
                </a:solidFill>
              </a:rPr>
              <a:t>, </a:t>
            </a:r>
            <a:r>
              <a:rPr sz="2090" b="0" i="0">
                <a:solidFill>
                  <a:srgbClr val="8A2B52"/>
                </a:solidFill>
                <a:latin typeface="Consolas"/>
              </a:rPr>
              <a:t>it</a:t>
            </a:r>
            <a:r>
              <a:rPr sz="2200" b="0" i="0">
                <a:solidFill>
                  <a:srgbClr val="1F2A36"/>
                </a:solidFill>
              </a:rPr>
              <a:t>, </a:t>
            </a:r>
            <a:r>
              <a:rPr sz="2090" b="0" i="0">
                <a:solidFill>
                  <a:srgbClr val="8A2B52"/>
                </a:solidFill>
                <a:latin typeface="Consolas"/>
              </a:rPr>
              <a:t>expect</a:t>
            </a:r>
            <a:r>
              <a:rPr sz="2200" b="0" i="0">
                <a:solidFill>
                  <a:srgbClr val="1F2A36"/>
                </a:solidFill>
              </a:rPr>
              <a:t>, </a:t>
            </a:r>
            <a:r>
              <a:rPr sz="2090" b="0" i="0">
                <a:solidFill>
                  <a:srgbClr val="8A2B52"/>
                </a:solidFill>
                <a:latin typeface="Consolas"/>
              </a:rPr>
              <a:t>vi.fn()</a:t>
            </a:r>
          </a:p>
          <a:p>
            <a:pPr marL="274320" indent="-256032">
              <a:spcAft>
                <a:spcPts val="990"/>
              </a:spcAft>
              <a:buClr>
                <a:srgbClr val="42B883"/>
              </a:buClr>
              <a:buSzPct val="100000"/>
              <a:buFont typeface="Arial"/>
              <a:buChar char="•"/>
            </a:pPr>
            <a:r>
              <a:rPr sz="2200" b="0" i="0">
                <a:solidFill>
                  <a:srgbClr val="1F2A36"/>
                </a:solidFill>
              </a:rPr>
              <a:t>Watch mode re-runs only the tests affected by your last save</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230</a:t>
            </a:fld>
            <a:endParaRPr lang="en-US" sz="900">
              <a:solidFill>
                <a:srgbClr val="9AA7B4"/>
              </a:solidFill>
            </a:endParaRPr>
          </a:p>
        </p:txBody>
      </p:sp>
    </p:spTree>
    <p:extLst>
      <p:ext uri="{BB962C8B-B14F-4D97-AF65-F5344CB8AC3E}">
        <p14:creationId xmlns:p14="http://schemas.microsoft.com/office/powerpoint/2010/main" val="6643709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How Vitest Works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Suites</a:t>
            </a:r>
            <a:r>
              <a:rPr sz="2200" b="0" i="0">
                <a:solidFill>
                  <a:srgbClr val="1F2A36"/>
                </a:solidFill>
              </a:rPr>
              <a:t> (</a:t>
            </a:r>
            <a:r>
              <a:rPr sz="2090" b="0" i="0">
                <a:solidFill>
                  <a:srgbClr val="8A2B52"/>
                </a:solidFill>
                <a:latin typeface="Consolas"/>
              </a:rPr>
              <a:t>describe</a:t>
            </a:r>
            <a:r>
              <a:rPr sz="2200" b="0" i="0">
                <a:solidFill>
                  <a:srgbClr val="1F2A36"/>
                </a:solidFill>
              </a:rPr>
              <a:t>) group your tests</a:t>
            </a:r>
          </a:p>
          <a:p>
            <a:pPr marL="274320" indent="-256032">
              <a:spcAft>
                <a:spcPts val="990"/>
              </a:spcAft>
              <a:buClr>
                <a:srgbClr val="42B883"/>
              </a:buClr>
              <a:buSzPct val="100000"/>
              <a:buFont typeface="Arial"/>
              <a:buChar char="•"/>
            </a:pPr>
            <a:r>
              <a:rPr sz="2200" b="1" i="0">
                <a:solidFill>
                  <a:srgbClr val="1F2A36"/>
                </a:solidFill>
              </a:rPr>
              <a:t>Specs</a:t>
            </a:r>
            <a:r>
              <a:rPr sz="2200" b="0" i="0">
                <a:solidFill>
                  <a:srgbClr val="1F2A36"/>
                </a:solidFill>
              </a:rPr>
              <a:t> (</a:t>
            </a:r>
            <a:r>
              <a:rPr sz="2090" b="0" i="0">
                <a:solidFill>
                  <a:srgbClr val="8A2B52"/>
                </a:solidFill>
                <a:latin typeface="Consolas"/>
              </a:rPr>
              <a:t>it</a:t>
            </a:r>
            <a:r>
              <a:rPr sz="2200" b="0" i="0">
                <a:solidFill>
                  <a:srgbClr val="1F2A36"/>
                </a:solidFill>
              </a:rPr>
              <a:t> / </a:t>
            </a:r>
            <a:r>
              <a:rPr sz="2090" b="0" i="0">
                <a:solidFill>
                  <a:srgbClr val="8A2B52"/>
                </a:solidFill>
                <a:latin typeface="Consolas"/>
              </a:rPr>
              <a:t>test</a:t>
            </a:r>
            <a:r>
              <a:rPr sz="2200" b="0" i="0">
                <a:solidFill>
                  <a:srgbClr val="1F2A36"/>
                </a:solidFill>
              </a:rPr>
              <a:t>) contain expectations</a:t>
            </a:r>
          </a:p>
        </p:txBody>
      </p:sp>
      <p:sp>
        <p:nvSpPr>
          <p:cNvPr id="4" name="Code"/>
          <p:cNvSpPr/>
          <p:nvPr/>
        </p:nvSpPr>
        <p:spPr>
          <a:xfrm>
            <a:off x="457200" y="2319020"/>
            <a:ext cx="8229600" cy="249732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import</a:t>
            </a:r>
            <a:r>
              <a:rPr sz="2000">
                <a:solidFill>
                  <a:srgbClr val="24292F"/>
                </a:solidFill>
                <a:latin typeface="Consolas"/>
              </a:rPr>
              <a:t> { describe, expect, it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'vitest'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describe(</a:t>
            </a:r>
            <a:r>
              <a:rPr sz="2000">
                <a:solidFill>
                  <a:srgbClr val="0A3069"/>
                </a:solidFill>
                <a:latin typeface="Consolas"/>
              </a:rPr>
              <a:t>'A suite is just a function'</a:t>
            </a:r>
            <a:r>
              <a:rPr sz="2000">
                <a:solidFill>
                  <a:srgbClr val="24292F"/>
                </a:solidFill>
                <a:latin typeface="Consolas"/>
              </a:rPr>
              <a:t>, () =&gt; {</a:t>
            </a:r>
          </a:p>
          <a:p>
            <a:pPr marL="0" indent="0" algn="l">
              <a:lnSpc>
                <a:spcPct val="100000"/>
              </a:lnSpc>
              <a:buNone/>
            </a:pPr>
            <a:r>
              <a:rPr sz="2000">
                <a:solidFill>
                  <a:srgbClr val="24292F"/>
                </a:solidFill>
                <a:latin typeface="Consolas"/>
              </a:rPr>
              <a:t>  it(</a:t>
            </a:r>
            <a:r>
              <a:rPr sz="2000">
                <a:solidFill>
                  <a:srgbClr val="0A3069"/>
                </a:solidFill>
                <a:latin typeface="Consolas"/>
              </a:rPr>
              <a:t>'and so is a spec'</a:t>
            </a:r>
            <a:r>
              <a:rPr sz="2000">
                <a:solidFill>
                  <a:srgbClr val="24292F"/>
                </a:solidFill>
                <a:latin typeface="Consolas"/>
              </a:rPr>
              <a:t>, () =&gt; {</a:t>
            </a:r>
          </a:p>
          <a:p>
            <a:pPr marL="0" indent="0" algn="l">
              <a:lnSpc>
                <a:spcPct val="100000"/>
              </a:lnSpc>
              <a:buNone/>
            </a:pPr>
            <a:r>
              <a:rPr sz="2000">
                <a:solidFill>
                  <a:srgbClr val="24292F"/>
                </a:solidFill>
                <a:latin typeface="Consolas"/>
              </a:rPr>
              <a:t>    expect(</a:t>
            </a:r>
            <a:r>
              <a:rPr sz="2000">
                <a:solidFill>
                  <a:srgbClr val="CF222E"/>
                </a:solidFill>
                <a:latin typeface="Consolas"/>
              </a:rPr>
              <a:t>true</a:t>
            </a:r>
            <a:r>
              <a:rPr sz="2000">
                <a:solidFill>
                  <a:srgbClr val="24292F"/>
                </a:solidFill>
                <a:latin typeface="Consolas"/>
              </a:rPr>
              <a:t>).toBe(</a:t>
            </a:r>
            <a:r>
              <a:rPr sz="2000">
                <a:solidFill>
                  <a:srgbClr val="CF222E"/>
                </a:solidFill>
                <a:latin typeface="Consolas"/>
              </a:rPr>
              <a:t>true</a:t>
            </a:r>
            <a:r>
              <a:rPr sz="2000">
                <a:solidFill>
                  <a:srgbClr val="24292F"/>
                </a:solidFill>
                <a:latin typeface="Consolas"/>
              </a:rPr>
              <a:t>)</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5" name="Body"/>
          <p:cNvSpPr txBox="1"/>
          <p:nvPr/>
        </p:nvSpPr>
        <p:spPr>
          <a:xfrm>
            <a:off x="457200" y="4962651"/>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Set </a:t>
            </a:r>
            <a:r>
              <a:rPr sz="2090" b="0" i="0">
                <a:solidFill>
                  <a:srgbClr val="8A2B52"/>
                </a:solidFill>
                <a:latin typeface="Consolas"/>
              </a:rPr>
              <a:t>globals: true</a:t>
            </a:r>
            <a:r>
              <a:rPr sz="2200" b="0" i="0">
                <a:solidFill>
                  <a:srgbClr val="1F2A36"/>
                </a:solidFill>
              </a:rPr>
              <a:t> in the test config to skip the import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231</a:t>
            </a:fld>
            <a:endParaRPr lang="en-US" sz="900">
              <a:solidFill>
                <a:srgbClr val="9AA7B4"/>
              </a:solidFill>
            </a:endParaRPr>
          </a:p>
        </p:txBody>
      </p:sp>
    </p:spTree>
    <p:extLst>
      <p:ext uri="{BB962C8B-B14F-4D97-AF65-F5344CB8AC3E}">
        <p14:creationId xmlns:p14="http://schemas.microsoft.com/office/powerpoint/2010/main" val="274330121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Test Suites</a:t>
            </a:r>
          </a:p>
        </p:txBody>
      </p:sp>
      <p:sp>
        <p:nvSpPr>
          <p:cNvPr id="3" name="Body"/>
          <p:cNvSpPr txBox="1"/>
          <p:nvPr/>
        </p:nvSpPr>
        <p:spPr>
          <a:xfrm>
            <a:off x="457200" y="1261872"/>
            <a:ext cx="8229600" cy="224434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Created with the </a:t>
            </a:r>
            <a:r>
              <a:rPr sz="2090" b="0" i="0">
                <a:solidFill>
                  <a:srgbClr val="8A2B52"/>
                </a:solidFill>
                <a:latin typeface="Consolas"/>
              </a:rPr>
              <a:t>describe</a:t>
            </a:r>
            <a:r>
              <a:rPr sz="2200" b="0" i="0">
                <a:solidFill>
                  <a:srgbClr val="1F2A36"/>
                </a:solidFill>
              </a:rPr>
              <a:t> function</a:t>
            </a:r>
          </a:p>
          <a:p>
            <a:pPr marL="274320" indent="-256032">
              <a:spcAft>
                <a:spcPts val="990"/>
              </a:spcAft>
              <a:buClr>
                <a:srgbClr val="42B883"/>
              </a:buClr>
              <a:buSzPct val="100000"/>
              <a:buFont typeface="Arial"/>
              <a:buChar char="•"/>
            </a:pPr>
            <a:r>
              <a:rPr sz="2200" b="0" i="0">
                <a:solidFill>
                  <a:srgbClr val="1F2A36"/>
                </a:solidFill>
              </a:rPr>
              <a:t>Contain one or more specs (and can nest other suites)</a:t>
            </a:r>
          </a:p>
          <a:p>
            <a:pPr marL="274320" indent="-256032">
              <a:spcAft>
                <a:spcPts val="990"/>
              </a:spcAft>
              <a:buClr>
                <a:srgbClr val="42B883"/>
              </a:buClr>
              <a:buSzPct val="100000"/>
              <a:buFont typeface="Arial"/>
              <a:buChar char="•"/>
            </a:pPr>
            <a:r>
              <a:rPr sz="2200" b="0" i="0">
                <a:solidFill>
                  <a:srgbClr val="1F2A36"/>
                </a:solidFill>
              </a:rPr>
              <a:t>Two parameters:</a:t>
            </a:r>
          </a:p>
          <a:p>
            <a:pPr marL="566928" indent="-256032">
              <a:spcAft>
                <a:spcPts val="855"/>
              </a:spcAft>
              <a:buClr>
                <a:srgbClr val="6B7B8C"/>
              </a:buClr>
              <a:buSzPct val="100000"/>
              <a:buFont typeface="Arial"/>
              <a:buChar char="–"/>
            </a:pPr>
            <a:r>
              <a:rPr sz="1900" b="0" i="0">
                <a:solidFill>
                  <a:srgbClr val="3A4A5A"/>
                </a:solidFill>
              </a:rPr>
              <a:t>a text description</a:t>
            </a:r>
          </a:p>
          <a:p>
            <a:pPr marL="566928" indent="-256032">
              <a:spcAft>
                <a:spcPts val="855"/>
              </a:spcAft>
              <a:buClr>
                <a:srgbClr val="6B7B8C"/>
              </a:buClr>
              <a:buSzPct val="100000"/>
              <a:buFont typeface="Arial"/>
              <a:buChar char="–"/>
            </a:pPr>
            <a:r>
              <a:rPr sz="1900" b="0" i="0">
                <a:solidFill>
                  <a:srgbClr val="3A4A5A"/>
                </a:solidFill>
              </a:rPr>
              <a:t>a function</a:t>
            </a:r>
          </a:p>
        </p:txBody>
      </p:sp>
      <p:sp>
        <p:nvSpPr>
          <p:cNvPr id="4" name="Code"/>
          <p:cNvSpPr/>
          <p:nvPr/>
        </p:nvSpPr>
        <p:spPr>
          <a:xfrm>
            <a:off x="457200" y="3561080"/>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describe(</a:t>
            </a:r>
            <a:r>
              <a:rPr sz="2000">
                <a:solidFill>
                  <a:srgbClr val="0A3069"/>
                </a:solidFill>
                <a:latin typeface="Consolas"/>
              </a:rPr>
              <a:t>'hello'</a:t>
            </a:r>
            <a:r>
              <a:rPr sz="2000">
                <a:solidFill>
                  <a:srgbClr val="24292F"/>
                </a:solidFill>
                <a:latin typeface="Consolas"/>
              </a:rPr>
              <a:t>, () =&gt; {</a:t>
            </a:r>
          </a:p>
          <a:p>
            <a:pPr marL="0" indent="0" algn="l">
              <a:lnSpc>
                <a:spcPct val="100000"/>
              </a:lnSpc>
              <a:buNone/>
            </a:pPr>
            <a:r>
              <a:rPr sz="2000">
                <a:solidFill>
                  <a:srgbClr val="24292F"/>
                </a:solidFill>
                <a:latin typeface="Consolas"/>
              </a:rPr>
              <a:t>  </a:t>
            </a:r>
            <a:r>
              <a:rPr sz="2000" i="1">
                <a:solidFill>
                  <a:srgbClr val="6E7781"/>
                </a:solidFill>
                <a:latin typeface="Consolas"/>
              </a:rPr>
              <a:t>// specs go here</a:t>
            </a:r>
          </a:p>
          <a:p>
            <a:pPr marL="0" indent="0" algn="l">
              <a:lnSpc>
                <a:spcPct val="100000"/>
              </a:lnSpc>
              <a:buNone/>
            </a:pPr>
            <a:r>
              <a:rPr sz="2000">
                <a:solidFill>
                  <a:srgbClr val="24292F"/>
                </a:solidFill>
                <a:latin typeface="Consolas"/>
              </a:rPr>
              <a:t>})</a:t>
            </a:r>
          </a:p>
        </p:txBody>
      </p:sp>
      <p:sp>
        <p:nvSpPr>
          <p:cNvPr id="5" name="Body"/>
          <p:cNvSpPr txBox="1"/>
          <p:nvPr/>
        </p:nvSpPr>
        <p:spPr>
          <a:xfrm>
            <a:off x="457200" y="4944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Setup and teardown: </a:t>
            </a:r>
            <a:r>
              <a:rPr sz="2090" b="0" i="0">
                <a:solidFill>
                  <a:srgbClr val="8A2B52"/>
                </a:solidFill>
                <a:latin typeface="Consolas"/>
              </a:rPr>
              <a:t>beforeEach</a:t>
            </a:r>
            <a:r>
              <a:rPr sz="2200" b="0" i="0">
                <a:solidFill>
                  <a:srgbClr val="1F2A36"/>
                </a:solidFill>
              </a:rPr>
              <a:t>, </a:t>
            </a:r>
            <a:r>
              <a:rPr sz="2090" b="0" i="0">
                <a:solidFill>
                  <a:srgbClr val="8A2B52"/>
                </a:solidFill>
                <a:latin typeface="Consolas"/>
              </a:rPr>
              <a:t>afterEach</a:t>
            </a:r>
            <a:r>
              <a:rPr sz="2200" b="0" i="0">
                <a:solidFill>
                  <a:srgbClr val="1F2A36"/>
                </a:solidFill>
              </a:rPr>
              <a:t>, </a:t>
            </a:r>
            <a:r>
              <a:rPr sz="2090" b="0" i="0">
                <a:solidFill>
                  <a:srgbClr val="8A2B52"/>
                </a:solidFill>
                <a:latin typeface="Consolas"/>
              </a:rPr>
              <a:t>beforeAll</a:t>
            </a:r>
            <a:r>
              <a:rPr sz="2200" b="0" i="0">
                <a:solidFill>
                  <a:srgbClr val="1F2A36"/>
                </a:solidFill>
              </a:rPr>
              <a:t>, </a:t>
            </a:r>
            <a:r>
              <a:rPr sz="2090" b="0" i="0">
                <a:solidFill>
                  <a:srgbClr val="8A2B52"/>
                </a:solidFill>
                <a:latin typeface="Consolas"/>
              </a:rPr>
              <a:t>afterAll</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232</a:t>
            </a:fld>
            <a:endParaRPr lang="en-US" sz="900">
              <a:solidFill>
                <a:srgbClr val="9AA7B4"/>
              </a:solidFill>
            </a:endParaRPr>
          </a:p>
        </p:txBody>
      </p:sp>
    </p:spTree>
    <p:extLst>
      <p:ext uri="{BB962C8B-B14F-4D97-AF65-F5344CB8AC3E}">
        <p14:creationId xmlns:p14="http://schemas.microsoft.com/office/powerpoint/2010/main" val="61977867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Specs</a:t>
            </a:r>
          </a:p>
        </p:txBody>
      </p:sp>
      <p:sp>
        <p:nvSpPr>
          <p:cNvPr id="3"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Created with the </a:t>
            </a:r>
            <a:r>
              <a:rPr sz="2090" b="0" i="0">
                <a:solidFill>
                  <a:srgbClr val="8A2B52"/>
                </a:solidFill>
                <a:latin typeface="Consolas"/>
              </a:rPr>
              <a:t>it</a:t>
            </a:r>
            <a:r>
              <a:rPr sz="2200" b="0" i="0">
                <a:solidFill>
                  <a:srgbClr val="1F2A36"/>
                </a:solidFill>
              </a:rPr>
              <a:t> or </a:t>
            </a:r>
            <a:r>
              <a:rPr sz="2090" b="0" i="0">
                <a:solidFill>
                  <a:srgbClr val="8A2B52"/>
                </a:solidFill>
                <a:latin typeface="Consolas"/>
              </a:rPr>
              <a:t>test</a:t>
            </a:r>
            <a:r>
              <a:rPr sz="2200" b="0" i="0">
                <a:solidFill>
                  <a:srgbClr val="1F2A36"/>
                </a:solidFill>
              </a:rPr>
              <a:t> function — they're the same thing</a:t>
            </a:r>
          </a:p>
          <a:p>
            <a:pPr marL="274320" indent="-256032">
              <a:spcAft>
                <a:spcPts val="990"/>
              </a:spcAft>
              <a:buClr>
                <a:srgbClr val="42B883"/>
              </a:buClr>
              <a:buSzPct val="100000"/>
              <a:buFont typeface="Arial"/>
              <a:buChar char="•"/>
            </a:pPr>
            <a:r>
              <a:rPr sz="2200" b="0" i="0">
                <a:solidFill>
                  <a:srgbClr val="1F2A36"/>
                </a:solidFill>
              </a:rPr>
              <a:t>Contain one or more expectations (assertions)</a:t>
            </a:r>
          </a:p>
        </p:txBody>
      </p:sp>
      <p:sp>
        <p:nvSpPr>
          <p:cNvPr id="4" name="Code"/>
          <p:cNvSpPr/>
          <p:nvPr/>
        </p:nvSpPr>
        <p:spPr>
          <a:xfrm>
            <a:off x="457200" y="2648712"/>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describe(</a:t>
            </a:r>
            <a:r>
              <a:rPr sz="2000">
                <a:solidFill>
                  <a:srgbClr val="0A3069"/>
                </a:solidFill>
                <a:latin typeface="Consolas"/>
              </a:rPr>
              <a:t>'hello'</a:t>
            </a:r>
            <a:r>
              <a:rPr sz="2000">
                <a:solidFill>
                  <a:srgbClr val="24292F"/>
                </a:solidFill>
                <a:latin typeface="Consolas"/>
              </a:rPr>
              <a:t>, () =&gt; {</a:t>
            </a:r>
          </a:p>
          <a:p>
            <a:pPr marL="0" indent="0" algn="l">
              <a:lnSpc>
                <a:spcPct val="100000"/>
              </a:lnSpc>
              <a:buNone/>
            </a:pPr>
            <a:r>
              <a:rPr sz="2000">
                <a:solidFill>
                  <a:srgbClr val="24292F"/>
                </a:solidFill>
                <a:latin typeface="Consolas"/>
              </a:rPr>
              <a:t>  it(</a:t>
            </a:r>
            <a:r>
              <a:rPr sz="2000">
                <a:solidFill>
                  <a:srgbClr val="0A3069"/>
                </a:solidFill>
                <a:latin typeface="Consolas"/>
              </a:rPr>
              <a:t>'concatenates Hello and a name'</a:t>
            </a:r>
            <a:r>
              <a:rPr sz="2000">
                <a:solidFill>
                  <a:srgbClr val="24292F"/>
                </a:solidFill>
                <a:latin typeface="Consolas"/>
              </a:rPr>
              <a:t>, () =&gt; {</a:t>
            </a:r>
          </a:p>
          <a:p>
            <a:pPr marL="0" indent="0" algn="l">
              <a:lnSpc>
                <a:spcPct val="100000"/>
              </a:lnSpc>
              <a:buNone/>
            </a:pPr>
            <a:r>
              <a:rPr sz="2000">
                <a:solidFill>
                  <a:srgbClr val="24292F"/>
                </a:solidFill>
                <a:latin typeface="Consolas"/>
              </a:rPr>
              <a:t>    expect(hello(</a:t>
            </a:r>
            <a:r>
              <a:rPr sz="2000">
                <a:solidFill>
                  <a:srgbClr val="0A3069"/>
                </a:solidFill>
                <a:latin typeface="Consolas"/>
              </a:rPr>
              <a:t>'World'</a:t>
            </a:r>
            <a:r>
              <a:rPr sz="2000">
                <a:solidFill>
                  <a:srgbClr val="24292F"/>
                </a:solidFill>
                <a:latin typeface="Consolas"/>
              </a:rPr>
              <a:t>)).toBe(</a:t>
            </a:r>
            <a:r>
              <a:rPr sz="2000">
                <a:solidFill>
                  <a:srgbClr val="0A3069"/>
                </a:solidFill>
                <a:latin typeface="Consolas"/>
              </a:rPr>
              <a:t>'Hello, World!'</a:t>
            </a:r>
            <a:r>
              <a:rPr sz="2000">
                <a:solidFill>
                  <a:srgbClr val="24292F"/>
                </a:solidFill>
                <a:latin typeface="Consolas"/>
              </a:rPr>
              <a:t>)</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5" name="Body"/>
          <p:cNvSpPr txBox="1"/>
          <p:nvPr/>
        </p:nvSpPr>
        <p:spPr>
          <a:xfrm>
            <a:off x="457200" y="4662423"/>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Name specs so that a failure reads like a bug report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233</a:t>
            </a:fld>
            <a:endParaRPr lang="en-US" sz="900">
              <a:solidFill>
                <a:srgbClr val="9AA7B4"/>
              </a:solidFill>
            </a:endParaRPr>
          </a:p>
        </p:txBody>
      </p:sp>
    </p:spTree>
    <p:extLst>
      <p:ext uri="{BB962C8B-B14F-4D97-AF65-F5344CB8AC3E}">
        <p14:creationId xmlns:p14="http://schemas.microsoft.com/office/powerpoint/2010/main" val="253757261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Expectations</a:t>
            </a:r>
          </a:p>
        </p:txBody>
      </p:sp>
      <p:sp>
        <p:nvSpPr>
          <p:cNvPr id="3" name="Body"/>
          <p:cNvSpPr txBox="1"/>
          <p:nvPr/>
        </p:nvSpPr>
        <p:spPr>
          <a:xfrm>
            <a:off x="457200" y="1261872"/>
            <a:ext cx="8229600" cy="218224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Also called assertions</a:t>
            </a:r>
          </a:p>
          <a:p>
            <a:pPr marL="274320" indent="-256032">
              <a:spcAft>
                <a:spcPts val="990"/>
              </a:spcAft>
              <a:buClr>
                <a:srgbClr val="42B883"/>
              </a:buClr>
              <a:buSzPct val="100000"/>
              <a:buFont typeface="Arial"/>
              <a:buChar char="•"/>
            </a:pPr>
            <a:r>
              <a:rPr sz="2200" b="0" i="0">
                <a:solidFill>
                  <a:srgbClr val="1F2A36"/>
                </a:solidFill>
              </a:rPr>
              <a:t>Made with the </a:t>
            </a:r>
            <a:r>
              <a:rPr sz="2090" b="0" i="0">
                <a:solidFill>
                  <a:srgbClr val="8A2B52"/>
                </a:solidFill>
                <a:latin typeface="Consolas"/>
              </a:rPr>
              <a:t>expect</a:t>
            </a:r>
            <a:r>
              <a:rPr sz="2200" b="0" i="0">
                <a:solidFill>
                  <a:srgbClr val="1F2A36"/>
                </a:solidFill>
              </a:rPr>
              <a:t> function:</a:t>
            </a:r>
          </a:p>
          <a:p>
            <a:pPr marL="566928" indent="-256032">
              <a:spcAft>
                <a:spcPts val="855"/>
              </a:spcAft>
              <a:buClr>
                <a:srgbClr val="6B7B8C"/>
              </a:buClr>
              <a:buSzPct val="100000"/>
              <a:buFont typeface="Arial"/>
              <a:buChar char="–"/>
            </a:pPr>
            <a:r>
              <a:rPr sz="1900" b="0" i="0">
                <a:solidFill>
                  <a:srgbClr val="3A4A5A"/>
                </a:solidFill>
              </a:rPr>
              <a:t>takes the </a:t>
            </a:r>
            <a:r>
              <a:rPr sz="1900" b="1" i="0">
                <a:solidFill>
                  <a:srgbClr val="3A4A5A"/>
                </a:solidFill>
              </a:rPr>
              <a:t>actual</a:t>
            </a:r>
            <a:r>
              <a:rPr sz="1900" b="0" i="0">
                <a:solidFill>
                  <a:srgbClr val="3A4A5A"/>
                </a:solidFill>
              </a:rPr>
              <a:t> value</a:t>
            </a:r>
          </a:p>
          <a:p>
            <a:pPr marL="566928" indent="-256032">
              <a:spcAft>
                <a:spcPts val="855"/>
              </a:spcAft>
              <a:buClr>
                <a:srgbClr val="6B7B8C"/>
              </a:buClr>
              <a:buSzPct val="100000"/>
              <a:buFont typeface="Arial"/>
              <a:buChar char="–"/>
            </a:pPr>
            <a:r>
              <a:rPr sz="1900" b="0" i="0">
                <a:solidFill>
                  <a:srgbClr val="3A4A5A"/>
                </a:solidFill>
              </a:rPr>
              <a:t>chained to a </a:t>
            </a:r>
            <a:r>
              <a:rPr sz="1900" b="1" i="0">
                <a:solidFill>
                  <a:srgbClr val="3A4A5A"/>
                </a:solidFill>
              </a:rPr>
              <a:t>matcher</a:t>
            </a:r>
          </a:p>
          <a:p>
            <a:pPr marL="566928" indent="-256032">
              <a:spcAft>
                <a:spcPts val="855"/>
              </a:spcAft>
              <a:buClr>
                <a:srgbClr val="6B7B8C"/>
              </a:buClr>
              <a:buSzPct val="100000"/>
              <a:buFont typeface="Arial"/>
              <a:buChar char="–"/>
            </a:pPr>
            <a:r>
              <a:rPr sz="1900" b="0" i="0">
                <a:solidFill>
                  <a:srgbClr val="3A4A5A"/>
                </a:solidFill>
              </a:rPr>
              <a:t>which takes the </a:t>
            </a:r>
            <a:r>
              <a:rPr sz="1900" b="1" i="0">
                <a:solidFill>
                  <a:srgbClr val="3A4A5A"/>
                </a:solidFill>
              </a:rPr>
              <a:t>expected</a:t>
            </a:r>
            <a:r>
              <a:rPr sz="1900" b="0" i="0">
                <a:solidFill>
                  <a:srgbClr val="3A4A5A"/>
                </a:solidFill>
              </a:rPr>
              <a:t> value</a:t>
            </a:r>
          </a:p>
        </p:txBody>
      </p:sp>
      <p:sp>
        <p:nvSpPr>
          <p:cNvPr id="4" name="Code"/>
          <p:cNvSpPr/>
          <p:nvPr/>
        </p:nvSpPr>
        <p:spPr>
          <a:xfrm>
            <a:off x="457200" y="3498977"/>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expect(actual).toEqual(expected)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234</a:t>
            </a:fld>
            <a:endParaRPr lang="en-US" sz="900">
              <a:solidFill>
                <a:srgbClr val="9AA7B4"/>
              </a:solidFill>
            </a:endParaRPr>
          </a:p>
        </p:txBody>
      </p:sp>
    </p:spTree>
    <p:extLst>
      <p:ext uri="{BB962C8B-B14F-4D97-AF65-F5344CB8AC3E}">
        <p14:creationId xmlns:p14="http://schemas.microsoft.com/office/powerpoint/2010/main" val="34311229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Matchers</a:t>
            </a:r>
          </a:p>
        </p:txBody>
      </p:sp>
      <p:sp>
        <p:nvSpPr>
          <p:cNvPr id="3" name="Code"/>
          <p:cNvSpPr/>
          <p:nvPr/>
        </p:nvSpPr>
        <p:spPr>
          <a:xfrm>
            <a:off x="457200" y="1261872"/>
            <a:ext cx="8229600" cy="28910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24292F"/>
                </a:solidFill>
                <a:latin typeface="Consolas"/>
              </a:rPr>
              <a:t>expect(fn).toThrow(error)</a:t>
            </a:r>
          </a:p>
          <a:p>
            <a:pPr marL="0" indent="0" algn="l">
              <a:lnSpc>
                <a:spcPct val="100000"/>
              </a:lnSpc>
              <a:buNone/>
            </a:pPr>
            <a:r>
              <a:rPr sz="1650">
                <a:solidFill>
                  <a:srgbClr val="24292F"/>
                </a:solidFill>
                <a:latin typeface="Consolas"/>
              </a:rPr>
              <a:t>expect(value).toBe(other)            </a:t>
            </a:r>
            <a:r>
              <a:rPr sz="1650" i="1">
                <a:solidFill>
                  <a:srgbClr val="6E7781"/>
                </a:solidFill>
                <a:latin typeface="Consolas"/>
              </a:rPr>
              <a:t>// Object.is (identity)</a:t>
            </a:r>
          </a:p>
          <a:p>
            <a:pPr marL="0" indent="0" algn="l">
              <a:lnSpc>
                <a:spcPct val="100000"/>
              </a:lnSpc>
              <a:buNone/>
            </a:pPr>
            <a:r>
              <a:rPr sz="1650">
                <a:solidFill>
                  <a:srgbClr val="24292F"/>
                </a:solidFill>
                <a:latin typeface="Consolas"/>
              </a:rPr>
              <a:t>expect(value).toEqual(other)         </a:t>
            </a:r>
            <a:r>
              <a:rPr sz="1650" i="1">
                <a:solidFill>
                  <a:srgbClr val="6E7781"/>
                </a:solidFill>
                <a:latin typeface="Consolas"/>
              </a:rPr>
              <a:t>// deep equality</a:t>
            </a:r>
          </a:p>
          <a:p>
            <a:pPr marL="0" indent="0" algn="l">
              <a:lnSpc>
                <a:spcPct val="100000"/>
              </a:lnSpc>
              <a:buNone/>
            </a:pPr>
            <a:r>
              <a:rPr sz="1650">
                <a:solidFill>
                  <a:srgbClr val="24292F"/>
                </a:solidFill>
                <a:latin typeface="Consolas"/>
              </a:rPr>
              <a:t>expect(value).toBeDefined()</a:t>
            </a:r>
          </a:p>
          <a:p>
            <a:pPr marL="0" indent="0" algn="l">
              <a:lnSpc>
                <a:spcPct val="100000"/>
              </a:lnSpc>
              <a:buNone/>
            </a:pPr>
            <a:r>
              <a:rPr sz="1650">
                <a:solidFill>
                  <a:srgbClr val="24292F"/>
                </a:solidFill>
                <a:latin typeface="Consolas"/>
              </a:rPr>
              <a:t>expect(value).toBeTruthy()           </a:t>
            </a:r>
            <a:r>
              <a:rPr sz="1650" i="1">
                <a:solidFill>
                  <a:srgbClr val="6E7781"/>
                </a:solidFill>
                <a:latin typeface="Consolas"/>
              </a:rPr>
              <a:t>// or .toBeFalsy()</a:t>
            </a:r>
          </a:p>
          <a:p>
            <a:pPr marL="0" indent="0" algn="l">
              <a:lnSpc>
                <a:spcPct val="100000"/>
              </a:lnSpc>
              <a:buNone/>
            </a:pPr>
            <a:r>
              <a:rPr sz="1650">
                <a:solidFill>
                  <a:srgbClr val="24292F"/>
                </a:solidFill>
                <a:latin typeface="Consolas"/>
              </a:rPr>
              <a:t>expect(number).toBeGreaterThan(n)    </a:t>
            </a:r>
            <a:r>
              <a:rPr sz="1650" i="1">
                <a:solidFill>
                  <a:srgbClr val="6E7781"/>
                </a:solidFill>
                <a:latin typeface="Consolas"/>
              </a:rPr>
              <a:t>// or .toBeLessThan(n)</a:t>
            </a:r>
          </a:p>
          <a:p>
            <a:pPr marL="0" indent="0" algn="l">
              <a:lnSpc>
                <a:spcPct val="100000"/>
              </a:lnSpc>
              <a:buNone/>
            </a:pPr>
            <a:r>
              <a:rPr sz="1650">
                <a:solidFill>
                  <a:srgbClr val="24292F"/>
                </a:solidFill>
                <a:latin typeface="Consolas"/>
              </a:rPr>
              <a:t>expect(value).toBeNull()             </a:t>
            </a:r>
            <a:r>
              <a:rPr sz="1650" i="1">
                <a:solidFill>
                  <a:srgbClr val="6E7781"/>
                </a:solidFill>
                <a:latin typeface="Consolas"/>
              </a:rPr>
              <a:t>// or .toBeUndefined()</a:t>
            </a:r>
          </a:p>
          <a:p>
            <a:pPr marL="0" indent="0" algn="l">
              <a:lnSpc>
                <a:spcPct val="100000"/>
              </a:lnSpc>
              <a:buNone/>
            </a:pPr>
            <a:r>
              <a:rPr sz="1650">
                <a:solidFill>
                  <a:srgbClr val="24292F"/>
                </a:solidFill>
                <a:latin typeface="Consolas"/>
              </a:rPr>
              <a:t>expect(array).toContain(member)</a:t>
            </a:r>
          </a:p>
          <a:p>
            <a:pPr marL="0" indent="0" algn="l">
              <a:lnSpc>
                <a:spcPct val="100000"/>
              </a:lnSpc>
              <a:buNone/>
            </a:pPr>
            <a:r>
              <a:rPr sz="1650">
                <a:solidFill>
                  <a:srgbClr val="24292F"/>
                </a:solidFill>
                <a:latin typeface="Consolas"/>
              </a:rPr>
              <a:t>expect(string).toMatch(/pattern/)</a:t>
            </a:r>
          </a:p>
          <a:p>
            <a:pPr marL="0" indent="0" algn="l">
              <a:lnSpc>
                <a:spcPct val="100000"/>
              </a:lnSpc>
              <a:buNone/>
            </a:pPr>
            <a:r>
              <a:rPr sz="1650">
                <a:solidFill>
                  <a:srgbClr val="CF222E"/>
                </a:solidFill>
                <a:latin typeface="Consolas"/>
              </a:rPr>
              <a:t>await</a:t>
            </a:r>
            <a:r>
              <a:rPr sz="1650">
                <a:solidFill>
                  <a:srgbClr val="24292F"/>
                </a:solidFill>
                <a:latin typeface="Consolas"/>
              </a:rPr>
              <a:t> expect(promise).resolves.toBe(value)</a:t>
            </a:r>
          </a:p>
        </p:txBody>
      </p:sp>
      <p:sp>
        <p:nvSpPr>
          <p:cNvPr id="4" name="Body"/>
          <p:cNvSpPr txBox="1"/>
          <p:nvPr/>
        </p:nvSpPr>
        <p:spPr>
          <a:xfrm>
            <a:off x="457200" y="4299204"/>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Add </a:t>
            </a:r>
            <a:r>
              <a:rPr sz="2090" b="0" i="0">
                <a:solidFill>
                  <a:srgbClr val="8A2B52"/>
                </a:solidFill>
                <a:latin typeface="Consolas"/>
              </a:rPr>
              <a:t>.not</a:t>
            </a:r>
            <a:r>
              <a:rPr sz="2200" b="0" i="0">
                <a:solidFill>
                  <a:srgbClr val="1F2A36"/>
                </a:solidFill>
              </a:rPr>
              <a:t> to negate any matcher: </a:t>
            </a:r>
            <a:r>
              <a:rPr sz="2090" b="0" i="0">
                <a:solidFill>
                  <a:srgbClr val="8A2B52"/>
                </a:solidFill>
                <a:latin typeface="Consolas"/>
              </a:rPr>
              <a:t>expect(x).not.toBe(0)</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235</a:t>
            </a:fld>
            <a:endParaRPr lang="en-US" sz="900">
              <a:solidFill>
                <a:srgbClr val="9AA7B4"/>
              </a:solidFill>
            </a:endParaRPr>
          </a:p>
        </p:txBody>
      </p:sp>
    </p:spTree>
    <p:extLst>
      <p:ext uri="{BB962C8B-B14F-4D97-AF65-F5344CB8AC3E}">
        <p14:creationId xmlns:p14="http://schemas.microsoft.com/office/powerpoint/2010/main" val="21156904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TDD vs. BDD</a:t>
            </a:r>
          </a:p>
        </p:txBody>
      </p:sp>
      <p:sp>
        <p:nvSpPr>
          <p:cNvPr id="3" name="Body"/>
          <p:cNvSpPr txBox="1"/>
          <p:nvPr/>
        </p:nvSpPr>
        <p:spPr>
          <a:xfrm>
            <a:off x="457200" y="1261872"/>
            <a:ext cx="3954780" cy="2214880"/>
          </a:xfrm>
          <a:prstGeom prst="rect">
            <a:avLst/>
          </a:prstGeom>
          <a:noFill/>
        </p:spPr>
        <p:txBody>
          <a:bodyPr wrap="square" lIns="0" tIns="0" rIns="0" bIns="0">
            <a:noAutofit/>
          </a:bodyPr>
          <a:lstStyle/>
          <a:p>
            <a:pPr marL="0" indent="0">
              <a:spcAft>
                <a:spcPts val="769"/>
              </a:spcAft>
              <a:buNone/>
            </a:pPr>
            <a:r>
              <a:rPr sz="2200" b="1" i="0">
                <a:solidFill>
                  <a:srgbClr val="2E8B62"/>
                </a:solidFill>
              </a:rPr>
              <a:t>Test-Driven Development</a:t>
            </a:r>
          </a:p>
          <a:p>
            <a:pPr marL="274320" indent="-256032">
              <a:spcAft>
                <a:spcPts val="990"/>
              </a:spcAft>
              <a:buClr>
                <a:srgbClr val="42B883"/>
              </a:buClr>
              <a:buSzPct val="100000"/>
              <a:buFont typeface="Arial"/>
              <a:buChar char="•"/>
            </a:pPr>
            <a:r>
              <a:rPr sz="2200" b="0" i="0">
                <a:solidFill>
                  <a:srgbClr val="1F2A36"/>
                </a:solidFill>
              </a:rPr>
              <a:t>Focused on being useful for programmers</a:t>
            </a:r>
          </a:p>
          <a:p>
            <a:pPr marL="274320" indent="-256032">
              <a:spcAft>
                <a:spcPts val="990"/>
              </a:spcAft>
              <a:buClr>
                <a:srgbClr val="42B883"/>
              </a:buClr>
              <a:buSzPct val="100000"/>
              <a:buFont typeface="Arial"/>
              <a:buChar char="•"/>
            </a:pPr>
            <a:r>
              <a:rPr sz="2200" b="0" i="0">
                <a:solidFill>
                  <a:srgbClr val="1F2A36"/>
                </a:solidFill>
              </a:rPr>
              <a:t>Tests describe </a:t>
            </a:r>
            <a:r>
              <a:rPr sz="2200" b="1" i="0">
                <a:solidFill>
                  <a:srgbClr val="1F2A36"/>
                </a:solidFill>
              </a:rPr>
              <a:t>results</a:t>
            </a:r>
          </a:p>
          <a:p>
            <a:pPr marL="274320" indent="-256032">
              <a:spcAft>
                <a:spcPts val="990"/>
              </a:spcAft>
              <a:buClr>
                <a:srgbClr val="42B883"/>
              </a:buClr>
              <a:buSzPct val="100000"/>
              <a:buFont typeface="Arial"/>
              <a:buChar char="•"/>
            </a:pPr>
            <a:r>
              <a:rPr sz="2200" b="0" i="0">
                <a:solidFill>
                  <a:srgbClr val="1F2A36"/>
                </a:solidFill>
              </a:rPr>
              <a:t>Terse names</a:t>
            </a:r>
          </a:p>
        </p:txBody>
      </p:sp>
      <p:sp>
        <p:nvSpPr>
          <p:cNvPr id="4" name="Body"/>
          <p:cNvSpPr txBox="1"/>
          <p:nvPr/>
        </p:nvSpPr>
        <p:spPr>
          <a:xfrm>
            <a:off x="4732020" y="1261872"/>
            <a:ext cx="3954780" cy="3203956"/>
          </a:xfrm>
          <a:prstGeom prst="rect">
            <a:avLst/>
          </a:prstGeom>
          <a:noFill/>
        </p:spPr>
        <p:txBody>
          <a:bodyPr wrap="square" lIns="0" tIns="0" rIns="0" bIns="0">
            <a:noAutofit/>
          </a:bodyPr>
          <a:lstStyle/>
          <a:p>
            <a:pPr marL="0" indent="0">
              <a:spcAft>
                <a:spcPts val="769"/>
              </a:spcAft>
              <a:buNone/>
            </a:pPr>
            <a:r>
              <a:rPr sz="2200" b="1" i="0">
                <a:solidFill>
                  <a:srgbClr val="2E8B62"/>
                </a:solidFill>
              </a:rPr>
              <a:t>Behavior-Driven Development</a:t>
            </a:r>
          </a:p>
          <a:p>
            <a:pPr marL="274320" indent="-256032">
              <a:spcAft>
                <a:spcPts val="990"/>
              </a:spcAft>
              <a:buClr>
                <a:srgbClr val="42B883"/>
              </a:buClr>
              <a:buSzPct val="100000"/>
              <a:buFont typeface="Arial"/>
              <a:buChar char="•"/>
            </a:pPr>
            <a:r>
              <a:rPr sz="2200" b="0" i="0">
                <a:solidFill>
                  <a:srgbClr val="1F2A36"/>
                </a:solidFill>
              </a:rPr>
              <a:t>Focused on documentation, readable by non-programmers</a:t>
            </a:r>
          </a:p>
          <a:p>
            <a:pPr marL="274320" indent="-256032">
              <a:spcAft>
                <a:spcPts val="990"/>
              </a:spcAft>
              <a:buClr>
                <a:srgbClr val="42B883"/>
              </a:buClr>
              <a:buSzPct val="100000"/>
              <a:buFont typeface="Arial"/>
              <a:buChar char="•"/>
            </a:pPr>
            <a:r>
              <a:rPr sz="2200" b="0" i="0">
                <a:solidFill>
                  <a:srgbClr val="1F2A36"/>
                </a:solidFill>
              </a:rPr>
              <a:t>Tests describe </a:t>
            </a:r>
            <a:r>
              <a:rPr sz="2200" b="1" i="0">
                <a:solidFill>
                  <a:srgbClr val="1F2A36"/>
                </a:solidFill>
              </a:rPr>
              <a:t>features and behavior</a:t>
            </a:r>
          </a:p>
          <a:p>
            <a:pPr marL="274320" indent="-256032">
              <a:spcAft>
                <a:spcPts val="990"/>
              </a:spcAft>
              <a:buClr>
                <a:srgbClr val="42B883"/>
              </a:buClr>
              <a:buSzPct val="100000"/>
              <a:buFont typeface="Arial"/>
              <a:buChar char="•"/>
            </a:pPr>
            <a:r>
              <a:rPr sz="2200" b="0" i="0">
                <a:solidFill>
                  <a:srgbClr val="1F2A36"/>
                </a:solidFill>
              </a:rPr>
              <a:t>More verbose names ("should …")</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236</a:t>
            </a:fld>
            <a:endParaRPr lang="en-US" sz="900">
              <a:solidFill>
                <a:srgbClr val="9AA7B4"/>
              </a:solidFill>
            </a:endParaRPr>
          </a:p>
        </p:txBody>
      </p:sp>
    </p:spTree>
    <p:extLst>
      <p:ext uri="{BB962C8B-B14F-4D97-AF65-F5344CB8AC3E}">
        <p14:creationId xmlns:p14="http://schemas.microsoft.com/office/powerpoint/2010/main" val="150401920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TDD Example</a:t>
            </a:r>
          </a:p>
        </p:txBody>
      </p:sp>
      <p:sp>
        <p:nvSpPr>
          <p:cNvPr id="3" name="Code"/>
          <p:cNvSpPr/>
          <p:nvPr/>
        </p:nvSpPr>
        <p:spPr>
          <a:xfrm>
            <a:off x="457200" y="1261872"/>
            <a:ext cx="8229600" cy="312724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describe(</a:t>
            </a:r>
            <a:r>
              <a:rPr sz="2000">
                <a:solidFill>
                  <a:srgbClr val="0A3069"/>
                </a:solidFill>
                <a:latin typeface="Consolas"/>
              </a:rPr>
              <a:t>'Counter'</a:t>
            </a:r>
            <a:r>
              <a:rPr sz="2000">
                <a:solidFill>
                  <a:srgbClr val="24292F"/>
                </a:solidFill>
                <a:latin typeface="Consolas"/>
              </a:rPr>
              <a:t>, () =&gt; {</a:t>
            </a:r>
          </a:p>
          <a:p>
            <a:pPr marL="0" indent="0" algn="l">
              <a:lnSpc>
                <a:spcPct val="100000"/>
              </a:lnSpc>
              <a:buNone/>
            </a:pPr>
            <a:r>
              <a:rPr sz="2000">
                <a:solidFill>
                  <a:srgbClr val="24292F"/>
                </a:solidFill>
                <a:latin typeface="Consolas"/>
              </a:rPr>
              <a:t>  test(</a:t>
            </a:r>
            <a:r>
              <a:rPr sz="2000">
                <a:solidFill>
                  <a:srgbClr val="0A3069"/>
                </a:solidFill>
                <a:latin typeface="Consolas"/>
              </a:rPr>
              <a:t>'tick increases count to 1'</a:t>
            </a:r>
            <a:r>
              <a:rPr sz="2000">
                <a:solidFill>
                  <a:srgbClr val="24292F"/>
                </a:solidFill>
                <a:latin typeface="Consolas"/>
              </a:rPr>
              <a:t>, () =&gt; {</a:t>
            </a:r>
          </a:p>
          <a:p>
            <a:pPr marL="0" indent="0" algn="l">
              <a:lnSpc>
                <a:spcPct val="100000"/>
              </a:lnSpc>
              <a:buNone/>
            </a:pPr>
            <a:r>
              <a:rPr sz="2000">
                <a:solidFill>
                  <a:srgbClr val="24292F"/>
                </a:solidFill>
                <a:latin typeface="Consolas"/>
              </a:rPr>
              <a:t>    </a:t>
            </a:r>
            <a:r>
              <a:rPr sz="2000">
                <a:solidFill>
                  <a:srgbClr val="CF222E"/>
                </a:solidFill>
                <a:latin typeface="Consolas"/>
              </a:rPr>
              <a:t>const</a:t>
            </a:r>
            <a:r>
              <a:rPr sz="2000">
                <a:solidFill>
                  <a:srgbClr val="24292F"/>
                </a:solidFill>
                <a:latin typeface="Consolas"/>
              </a:rPr>
              <a:t> counter = </a:t>
            </a:r>
            <a:r>
              <a:rPr sz="2000">
                <a:solidFill>
                  <a:srgbClr val="CF222E"/>
                </a:solidFill>
                <a:latin typeface="Consolas"/>
              </a:rPr>
              <a:t>new</a:t>
            </a:r>
            <a:r>
              <a:rPr sz="2000">
                <a:solidFill>
                  <a:srgbClr val="24292F"/>
                </a:solidFill>
                <a:latin typeface="Consolas"/>
              </a:rPr>
              <a:t> Counter()</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counter.tick()</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expect(counter.count).toBe(</a:t>
            </a:r>
            <a:r>
              <a:rPr sz="2000">
                <a:solidFill>
                  <a:srgbClr val="0550AE"/>
                </a:solidFill>
                <a:latin typeface="Consolas"/>
              </a:rPr>
              <a:t>1</a:t>
            </a:r>
            <a:r>
              <a:rPr sz="2000">
                <a:solidFill>
                  <a:srgbClr val="24292F"/>
                </a:solidFill>
                <a:latin typeface="Consolas"/>
              </a:rPr>
              <a:t>)</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237</a:t>
            </a:fld>
            <a:endParaRPr lang="en-US" sz="900">
              <a:solidFill>
                <a:srgbClr val="9AA7B4"/>
              </a:solidFill>
            </a:endParaRPr>
          </a:p>
        </p:txBody>
      </p:sp>
    </p:spTree>
    <p:extLst>
      <p:ext uri="{BB962C8B-B14F-4D97-AF65-F5344CB8AC3E}">
        <p14:creationId xmlns:p14="http://schemas.microsoft.com/office/powerpoint/2010/main" val="66462867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BDD Example</a:t>
            </a:r>
          </a:p>
        </p:txBody>
      </p:sp>
      <p:sp>
        <p:nvSpPr>
          <p:cNvPr id="5" name="Code"/>
          <p:cNvSpPr/>
          <p:nvPr/>
        </p:nvSpPr>
        <p:spPr>
          <a:xfrm>
            <a:off x="457200" y="1261872"/>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24292F"/>
                </a:solidFill>
                <a:latin typeface="Consolas"/>
              </a:rPr>
              <a:t>describe(</a:t>
            </a:r>
            <a:r>
              <a:rPr sz="1600">
                <a:solidFill>
                  <a:srgbClr val="0A3069"/>
                </a:solidFill>
                <a:latin typeface="Consolas"/>
              </a:rPr>
              <a:t>'Counter'</a:t>
            </a:r>
            <a:r>
              <a:rPr sz="1600">
                <a:solidFill>
                  <a:srgbClr val="24292F"/>
                </a:solidFill>
                <a:latin typeface="Consolas"/>
              </a:rPr>
              <a:t>, () =&gt; {</a:t>
            </a:r>
          </a:p>
          <a:p>
            <a:pPr marL="0" indent="0" algn="l">
              <a:lnSpc>
                <a:spcPct val="100000"/>
              </a:lnSpc>
              <a:buNone/>
            </a:pPr>
            <a:r>
              <a:rPr sz="1600">
                <a:solidFill>
                  <a:srgbClr val="24292F"/>
                </a:solidFill>
                <a:latin typeface="Consolas"/>
              </a:rPr>
              <a:t>  it(</a:t>
            </a:r>
            <a:r>
              <a:rPr sz="1600">
                <a:solidFill>
                  <a:srgbClr val="0A3069"/>
                </a:solidFill>
                <a:latin typeface="Consolas"/>
              </a:rPr>
              <a:t>'should increase count by 1 after calling tick'</a:t>
            </a:r>
            <a:r>
              <a:rPr sz="1600">
                <a:solidFill>
                  <a:srgbClr val="24292F"/>
                </a:solidFill>
                <a:latin typeface="Consolas"/>
              </a:rPr>
              <a:t>, () =&gt; {</a:t>
            </a:r>
          </a:p>
          <a:p>
            <a:pPr marL="0" indent="0" algn="l">
              <a:lnSpc>
                <a:spcPct val="100000"/>
              </a:lnSpc>
              <a:buNone/>
            </a:pP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counter = </a:t>
            </a:r>
            <a:r>
              <a:rPr sz="1600">
                <a:solidFill>
                  <a:srgbClr val="CF222E"/>
                </a:solidFill>
                <a:latin typeface="Consolas"/>
              </a:rPr>
              <a:t>new</a:t>
            </a:r>
            <a:r>
              <a:rPr sz="1600">
                <a:solidFill>
                  <a:srgbClr val="24292F"/>
                </a:solidFill>
                <a:latin typeface="Consolas"/>
              </a:rPr>
              <a:t> Counter()</a:t>
            </a:r>
          </a:p>
          <a:p>
            <a:pPr marL="0" indent="0" algn="l">
              <a:lnSpc>
                <a:spcPct val="100000"/>
              </a:lnSpc>
              <a:buNone/>
            </a:pP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expected = counter.count + </a:t>
            </a:r>
            <a:r>
              <a:rPr sz="1600">
                <a:solidFill>
                  <a:srgbClr val="0550AE"/>
                </a:solidFill>
                <a:latin typeface="Consolas"/>
              </a:rPr>
              <a:t>1</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    counter.tick()</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    expect(counter.count).toBe(expected)</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238</a:t>
            </a:fld>
            <a:endParaRPr lang="en-US" sz="900">
              <a:solidFill>
                <a:srgbClr val="9AA7B4"/>
              </a:solidFill>
            </a:endParaRPr>
          </a:p>
        </p:txBody>
      </p:sp>
    </p:spTree>
    <p:extLst>
      <p:ext uri="{BB962C8B-B14F-4D97-AF65-F5344CB8AC3E}">
        <p14:creationId xmlns:p14="http://schemas.microsoft.com/office/powerpoint/2010/main" val="203058554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Mocking</a:t>
            </a:r>
          </a:p>
        </p:txBody>
      </p:sp>
      <p:sp>
        <p:nvSpPr>
          <p:cNvPr id="3" name="Body"/>
          <p:cNvSpPr txBox="1"/>
          <p:nvPr/>
        </p:nvSpPr>
        <p:spPr>
          <a:xfrm>
            <a:off x="457200" y="1261872"/>
            <a:ext cx="8229600" cy="3813047"/>
          </a:xfrm>
          <a:prstGeom prst="rect">
            <a:avLst/>
          </a:prstGeom>
          <a:noFill/>
        </p:spPr>
        <p:txBody>
          <a:bodyPr wrap="square" lIns="0" tIns="0" rIns="0" bIns="0">
            <a:noAutofit/>
          </a:bodyPr>
          <a:lstStyle/>
          <a:p>
            <a:pPr marL="0" indent="0">
              <a:spcAft>
                <a:spcPts val="990"/>
              </a:spcAft>
              <a:buNone/>
            </a:pPr>
            <a:r>
              <a:rPr sz="2200" b="0" i="0">
                <a:solidFill>
                  <a:srgbClr val="1F2A36"/>
                </a:solidFill>
              </a:rPr>
              <a:t>Replace real dependencies with controllable fakes:</a:t>
            </a:r>
          </a:p>
          <a:p>
            <a:pPr marL="274320" indent="-256032">
              <a:spcAft>
                <a:spcPts val="990"/>
              </a:spcAft>
              <a:buClr>
                <a:srgbClr val="42B883"/>
              </a:buClr>
              <a:buSzPct val="100000"/>
              <a:buFont typeface="Arial"/>
              <a:buChar char="•"/>
            </a:pPr>
            <a:r>
              <a:rPr sz="2090" b="0" i="0">
                <a:solidFill>
                  <a:srgbClr val="8A2B52"/>
                </a:solidFill>
                <a:latin typeface="Consolas"/>
              </a:rPr>
              <a:t>vi.fn()</a:t>
            </a:r>
            <a:r>
              <a:rPr sz="2200" b="0" i="0">
                <a:solidFill>
                  <a:srgbClr val="1F2A36"/>
                </a:solidFill>
              </a:rPr>
              <a:t> — a mock function that records how it was called</a:t>
            </a:r>
          </a:p>
          <a:p>
            <a:pPr marL="274320" indent="-256032">
              <a:spcAft>
                <a:spcPts val="990"/>
              </a:spcAft>
              <a:buClr>
                <a:srgbClr val="42B883"/>
              </a:buClr>
              <a:buSzPct val="100000"/>
              <a:buFont typeface="Arial"/>
              <a:buChar char="•"/>
            </a:pPr>
            <a:r>
              <a:rPr sz="2090" b="0" i="0">
                <a:solidFill>
                  <a:srgbClr val="8A2B52"/>
                </a:solidFill>
                <a:latin typeface="Consolas"/>
              </a:rPr>
              <a:t>vi.mock()</a:t>
            </a:r>
            <a:r>
              <a:rPr sz="2200" b="0" i="0">
                <a:solidFill>
                  <a:srgbClr val="1F2A36"/>
                </a:solidFill>
              </a:rPr>
              <a:t> — replace a whole module</a:t>
            </a:r>
          </a:p>
          <a:p>
            <a:pPr marL="274320" indent="-256032">
              <a:spcAft>
                <a:spcPts val="990"/>
              </a:spcAft>
              <a:buClr>
                <a:srgbClr val="42B883"/>
              </a:buClr>
              <a:buSzPct val="100000"/>
              <a:buFont typeface="Arial"/>
              <a:buChar char="•"/>
            </a:pPr>
            <a:r>
              <a:rPr sz="2090" b="0" i="0">
                <a:solidFill>
                  <a:srgbClr val="8A2B52"/>
                </a:solidFill>
                <a:latin typeface="Consolas"/>
              </a:rPr>
              <a:t>vi.spyOn()</a:t>
            </a:r>
            <a:r>
              <a:rPr sz="2200" b="0" i="0">
                <a:solidFill>
                  <a:srgbClr val="1F2A36"/>
                </a:solidFill>
              </a:rPr>
              <a:t> — wrap an existing method, keeping the original</a:t>
            </a:r>
          </a:p>
          <a:p>
            <a:pPr marL="274320" indent="-256032">
              <a:spcAft>
                <a:spcPts val="990"/>
              </a:spcAft>
              <a:buClr>
                <a:srgbClr val="42B883"/>
              </a:buClr>
              <a:buSzPct val="100000"/>
              <a:buFont typeface="Arial"/>
              <a:buChar char="•"/>
            </a:pPr>
            <a:r>
              <a:rPr sz="2090" b="0" i="0">
                <a:solidFill>
                  <a:srgbClr val="8A2B52"/>
                </a:solidFill>
                <a:latin typeface="Consolas"/>
              </a:rPr>
              <a:t>vi.useFakeTimers()</a:t>
            </a:r>
            <a:r>
              <a:rPr sz="2200" b="0" i="0">
                <a:solidFill>
                  <a:srgbClr val="1F2A36"/>
                </a:solidFill>
              </a:rPr>
              <a:t> — control </a:t>
            </a:r>
            <a:r>
              <a:rPr sz="2090" b="0" i="0">
                <a:solidFill>
                  <a:srgbClr val="8A2B52"/>
                </a:solidFill>
                <a:latin typeface="Consolas"/>
              </a:rPr>
              <a:t>setTimeout</a:t>
            </a:r>
            <a:r>
              <a:rPr sz="2200" b="0" i="0">
                <a:solidFill>
                  <a:srgbClr val="1F2A36"/>
                </a:solidFill>
              </a:rPr>
              <a:t> and </a:t>
            </a:r>
            <a:r>
              <a:rPr sz="2090" b="0" i="0">
                <a:solidFill>
                  <a:srgbClr val="8A2B52"/>
                </a:solidFill>
                <a:latin typeface="Consolas"/>
              </a:rPr>
              <a:t>setInterval</a:t>
            </a:r>
          </a:p>
          <a:p>
            <a:pPr marL="274320" indent="-256032">
              <a:spcAft>
                <a:spcPts val="990"/>
              </a:spcAft>
              <a:buClr>
                <a:srgbClr val="42B883"/>
              </a:buClr>
              <a:buSzPct val="100000"/>
              <a:buFont typeface="Arial"/>
              <a:buChar char="•"/>
            </a:pPr>
            <a:r>
              <a:rPr sz="2090" b="0" i="0">
                <a:solidFill>
                  <a:srgbClr val="8A2B52"/>
                </a:solidFill>
                <a:latin typeface="Consolas"/>
              </a:rPr>
              <a:t>vi.stubGlobal()</a:t>
            </a:r>
            <a:r>
              <a:rPr sz="2200" b="0" i="0">
                <a:solidFill>
                  <a:srgbClr val="1F2A36"/>
                </a:solidFill>
              </a:rPr>
              <a:t> — replace a global such as </a:t>
            </a:r>
            <a:r>
              <a:rPr sz="2090" b="0" i="0">
                <a:solidFill>
                  <a:srgbClr val="8A2B52"/>
                </a:solidFill>
                <a:latin typeface="Consolas"/>
              </a:rPr>
              <a:t>fetch</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239</a:t>
            </a:fld>
            <a:endParaRPr lang="en-US" sz="900">
              <a:solidFill>
                <a:srgbClr val="9AA7B4"/>
              </a:solidFill>
            </a:endParaRPr>
          </a:p>
        </p:txBody>
      </p:sp>
    </p:spTree>
    <p:extLst>
      <p:ext uri="{BB962C8B-B14F-4D97-AF65-F5344CB8AC3E}">
        <p14:creationId xmlns:p14="http://schemas.microsoft.com/office/powerpoint/2010/main" val="335064632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Mock Function</a:t>
            </a:r>
          </a:p>
        </p:txBody>
      </p:sp>
      <p:sp>
        <p:nvSpPr>
          <p:cNvPr id="3" name="Code"/>
          <p:cNvSpPr/>
          <p:nvPr/>
        </p:nvSpPr>
        <p:spPr>
          <a:xfrm>
            <a:off x="457200" y="1261872"/>
            <a:ext cx="8229600" cy="3465829"/>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CF222E"/>
                </a:solidFill>
                <a:latin typeface="Consolas"/>
              </a:rPr>
              <a:t>import</a:t>
            </a:r>
            <a:r>
              <a:rPr sz="1550">
                <a:solidFill>
                  <a:srgbClr val="24292F"/>
                </a:solidFill>
                <a:latin typeface="Consolas"/>
              </a:rPr>
              <a:t> { expect, it, vi } </a:t>
            </a:r>
            <a:r>
              <a:rPr sz="1550">
                <a:solidFill>
                  <a:srgbClr val="CF222E"/>
                </a:solidFill>
                <a:latin typeface="Consolas"/>
              </a:rPr>
              <a:t>from</a:t>
            </a:r>
            <a:r>
              <a:rPr sz="1550">
                <a:solidFill>
                  <a:srgbClr val="24292F"/>
                </a:solidFill>
                <a:latin typeface="Consolas"/>
              </a:rPr>
              <a:t> </a:t>
            </a:r>
            <a:r>
              <a:rPr sz="1550">
                <a:solidFill>
                  <a:srgbClr val="0A3069"/>
                </a:solidFill>
                <a:latin typeface="Consolas"/>
              </a:rPr>
              <a:t>'vitest'</a:t>
            </a:r>
          </a:p>
          <a:p>
            <a:pPr marL="0" indent="0" algn="l">
              <a:lnSpc>
                <a:spcPct val="100000"/>
              </a:lnSpc>
              <a:buNone/>
            </a:pPr>
            <a:r>
              <a:rPr sz="1550">
                <a:latin typeface="Consolas"/>
              </a:rPr>
              <a:t> </a:t>
            </a:r>
          </a:p>
          <a:p>
            <a:pPr marL="0" indent="0" algn="l">
              <a:lnSpc>
                <a:spcPct val="100000"/>
              </a:lnSpc>
              <a:buNone/>
            </a:pPr>
            <a:r>
              <a:rPr sz="1550">
                <a:solidFill>
                  <a:srgbClr val="24292F"/>
                </a:solidFill>
                <a:latin typeface="Consolas"/>
              </a:rPr>
              <a:t>it(</a:t>
            </a:r>
            <a:r>
              <a:rPr sz="1550">
                <a:solidFill>
                  <a:srgbClr val="0A3069"/>
                </a:solidFill>
                <a:latin typeface="Consolas"/>
              </a:rPr>
              <a:t>'records calls'</a:t>
            </a:r>
            <a:r>
              <a:rPr sz="1550">
                <a:solidFill>
                  <a:srgbClr val="24292F"/>
                </a:solidFill>
                <a:latin typeface="Consolas"/>
              </a:rPr>
              <a:t>, () =&gt; {</a:t>
            </a:r>
          </a:p>
          <a:p>
            <a:pPr marL="0" indent="0" algn="l">
              <a:lnSpc>
                <a:spcPct val="100000"/>
              </a:lnSpc>
              <a:buNone/>
            </a:pPr>
            <a:r>
              <a:rPr sz="1550">
                <a:solidFill>
                  <a:srgbClr val="24292F"/>
                </a:solidFill>
                <a:latin typeface="Consolas"/>
              </a:rPr>
              <a:t>  </a:t>
            </a:r>
            <a:r>
              <a:rPr sz="1550">
                <a:solidFill>
                  <a:srgbClr val="CF222E"/>
                </a:solidFill>
                <a:latin typeface="Consolas"/>
              </a:rPr>
              <a:t>const</a:t>
            </a:r>
            <a:r>
              <a:rPr sz="1550">
                <a:solidFill>
                  <a:srgbClr val="24292F"/>
                </a:solidFill>
                <a:latin typeface="Consolas"/>
              </a:rPr>
              <a:t> mockCallback = vi.fn()</a:t>
            </a:r>
          </a:p>
          <a:p>
            <a:pPr marL="0" indent="0" algn="l">
              <a:lnSpc>
                <a:spcPct val="100000"/>
              </a:lnSpc>
              <a:buNone/>
            </a:pPr>
            <a:r>
              <a:rPr sz="1550">
                <a:latin typeface="Consolas"/>
              </a:rPr>
              <a:t> </a:t>
            </a:r>
          </a:p>
          <a:p>
            <a:pPr marL="0" indent="0" algn="l">
              <a:lnSpc>
                <a:spcPct val="100000"/>
              </a:lnSpc>
              <a:buNone/>
            </a:pPr>
            <a:r>
              <a:rPr sz="1550">
                <a:solidFill>
                  <a:srgbClr val="24292F"/>
                </a:solidFill>
                <a:latin typeface="Consolas"/>
              </a:rPr>
              <a:t>  ;[</a:t>
            </a:r>
            <a:r>
              <a:rPr sz="1550">
                <a:solidFill>
                  <a:srgbClr val="0550AE"/>
                </a:solidFill>
                <a:latin typeface="Consolas"/>
              </a:rPr>
              <a:t>0</a:t>
            </a:r>
            <a:r>
              <a:rPr sz="1550">
                <a:solidFill>
                  <a:srgbClr val="24292F"/>
                </a:solidFill>
                <a:latin typeface="Consolas"/>
              </a:rPr>
              <a:t>, </a:t>
            </a:r>
            <a:r>
              <a:rPr sz="1550">
                <a:solidFill>
                  <a:srgbClr val="0550AE"/>
                </a:solidFill>
                <a:latin typeface="Consolas"/>
              </a:rPr>
              <a:t>1</a:t>
            </a:r>
            <a:r>
              <a:rPr sz="1550">
                <a:solidFill>
                  <a:srgbClr val="24292F"/>
                </a:solidFill>
                <a:latin typeface="Consolas"/>
              </a:rPr>
              <a:t>].forEach(mockCallback)</a:t>
            </a:r>
          </a:p>
          <a:p>
            <a:pPr marL="0" indent="0" algn="l">
              <a:lnSpc>
                <a:spcPct val="100000"/>
              </a:lnSpc>
              <a:buNone/>
            </a:pPr>
            <a:r>
              <a:rPr sz="1550">
                <a:latin typeface="Consolas"/>
              </a:rPr>
              <a:t> </a:t>
            </a:r>
          </a:p>
          <a:p>
            <a:pPr marL="0" indent="0" algn="l">
              <a:lnSpc>
                <a:spcPct val="100000"/>
              </a:lnSpc>
              <a:buNone/>
            </a:pPr>
            <a:r>
              <a:rPr sz="1550">
                <a:solidFill>
                  <a:srgbClr val="24292F"/>
                </a:solidFill>
                <a:latin typeface="Consolas"/>
              </a:rPr>
              <a:t>  </a:t>
            </a:r>
            <a:r>
              <a:rPr sz="1550" i="1">
                <a:solidFill>
                  <a:srgbClr val="6E7781"/>
                </a:solidFill>
                <a:latin typeface="Consolas"/>
              </a:rPr>
              <a:t>// The mock function was called twice</a:t>
            </a:r>
          </a:p>
          <a:p>
            <a:pPr marL="0" indent="0" algn="l">
              <a:lnSpc>
                <a:spcPct val="100000"/>
              </a:lnSpc>
              <a:buNone/>
            </a:pPr>
            <a:r>
              <a:rPr sz="1550">
                <a:solidFill>
                  <a:srgbClr val="24292F"/>
                </a:solidFill>
                <a:latin typeface="Consolas"/>
              </a:rPr>
              <a:t>  expect(mockCallback).toHaveBeenCalledTimes(</a:t>
            </a:r>
            <a:r>
              <a:rPr sz="1550">
                <a:solidFill>
                  <a:srgbClr val="0550AE"/>
                </a:solidFill>
                <a:latin typeface="Consolas"/>
              </a:rPr>
              <a:t>2</a:t>
            </a:r>
            <a:r>
              <a:rPr sz="1550">
                <a:solidFill>
                  <a:srgbClr val="24292F"/>
                </a:solidFill>
                <a:latin typeface="Consolas"/>
              </a:rPr>
              <a:t>)</a:t>
            </a:r>
          </a:p>
          <a:p>
            <a:pPr marL="0" indent="0" algn="l">
              <a:lnSpc>
                <a:spcPct val="100000"/>
              </a:lnSpc>
              <a:buNone/>
            </a:pPr>
            <a:r>
              <a:rPr sz="1550">
                <a:latin typeface="Consolas"/>
              </a:rPr>
              <a:t> </a:t>
            </a:r>
          </a:p>
          <a:p>
            <a:pPr marL="0" indent="0" algn="l">
              <a:lnSpc>
                <a:spcPct val="100000"/>
              </a:lnSpc>
              <a:buNone/>
            </a:pPr>
            <a:r>
              <a:rPr sz="1550">
                <a:solidFill>
                  <a:srgbClr val="24292F"/>
                </a:solidFill>
                <a:latin typeface="Consolas"/>
              </a:rPr>
              <a:t>  </a:t>
            </a:r>
            <a:r>
              <a:rPr sz="1550" i="1">
                <a:solidFill>
                  <a:srgbClr val="6E7781"/>
                </a:solidFill>
                <a:latin typeface="Consolas"/>
              </a:rPr>
              <a:t>// First call: (value 0, index 0, the array)</a:t>
            </a:r>
          </a:p>
          <a:p>
            <a:pPr marL="0" indent="0" algn="l">
              <a:lnSpc>
                <a:spcPct val="100000"/>
              </a:lnSpc>
              <a:buNone/>
            </a:pPr>
            <a:r>
              <a:rPr sz="1550">
                <a:solidFill>
                  <a:srgbClr val="24292F"/>
                </a:solidFill>
                <a:latin typeface="Consolas"/>
              </a:rPr>
              <a:t>  expect(mockCallback).toHaveBeenNthCalledWith(</a:t>
            </a:r>
            <a:r>
              <a:rPr sz="1550">
                <a:solidFill>
                  <a:srgbClr val="0550AE"/>
                </a:solidFill>
                <a:latin typeface="Consolas"/>
              </a:rPr>
              <a:t>1</a:t>
            </a:r>
            <a:r>
              <a:rPr sz="1550">
                <a:solidFill>
                  <a:srgbClr val="24292F"/>
                </a:solidFill>
                <a:latin typeface="Consolas"/>
              </a:rPr>
              <a:t>, </a:t>
            </a:r>
            <a:r>
              <a:rPr sz="1550">
                <a:solidFill>
                  <a:srgbClr val="0550AE"/>
                </a:solidFill>
                <a:latin typeface="Consolas"/>
              </a:rPr>
              <a:t>0</a:t>
            </a:r>
            <a:r>
              <a:rPr sz="1550">
                <a:solidFill>
                  <a:srgbClr val="24292F"/>
                </a:solidFill>
                <a:latin typeface="Consolas"/>
              </a:rPr>
              <a:t>, </a:t>
            </a:r>
            <a:r>
              <a:rPr sz="1550">
                <a:solidFill>
                  <a:srgbClr val="0550AE"/>
                </a:solidFill>
                <a:latin typeface="Consolas"/>
              </a:rPr>
              <a:t>0</a:t>
            </a:r>
            <a:r>
              <a:rPr sz="1550">
                <a:solidFill>
                  <a:srgbClr val="24292F"/>
                </a:solidFill>
                <a:latin typeface="Consolas"/>
              </a:rPr>
              <a:t>, [</a:t>
            </a:r>
            <a:r>
              <a:rPr sz="1550">
                <a:solidFill>
                  <a:srgbClr val="0550AE"/>
                </a:solidFill>
                <a:latin typeface="Consolas"/>
              </a:rPr>
              <a:t>0</a:t>
            </a:r>
            <a:r>
              <a:rPr sz="1550">
                <a:solidFill>
                  <a:srgbClr val="24292F"/>
                </a:solidFill>
                <a:latin typeface="Consolas"/>
              </a:rPr>
              <a:t>, </a:t>
            </a:r>
            <a:r>
              <a:rPr sz="1550">
                <a:solidFill>
                  <a:srgbClr val="0550AE"/>
                </a:solidFill>
                <a:latin typeface="Consolas"/>
              </a:rPr>
              <a:t>1</a:t>
            </a:r>
            <a:r>
              <a:rPr sz="1550">
                <a:solidFill>
                  <a:srgbClr val="24292F"/>
                </a:solidFill>
                <a:latin typeface="Consolas"/>
              </a:rPr>
              <a:t>])</a:t>
            </a:r>
          </a:p>
          <a:p>
            <a:pPr marL="0" indent="0" algn="l">
              <a:lnSpc>
                <a:spcPct val="100000"/>
              </a:lnSpc>
              <a:buNone/>
            </a:pPr>
            <a:r>
              <a:rPr sz="1550">
                <a:solidFill>
                  <a:srgbClr val="24292F"/>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240</a:t>
            </a:fld>
            <a:endParaRPr lang="en-US" sz="900">
              <a:solidFill>
                <a:srgbClr val="9AA7B4"/>
              </a:solidFill>
            </a:endParaRPr>
          </a:p>
        </p:txBody>
      </p:sp>
    </p:spTree>
    <p:extLst>
      <p:ext uri="{BB962C8B-B14F-4D97-AF65-F5344CB8AC3E}">
        <p14:creationId xmlns:p14="http://schemas.microsoft.com/office/powerpoint/2010/main" val="56875319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Mocking a Module</a:t>
            </a:r>
          </a:p>
        </p:txBody>
      </p:sp>
      <p:sp>
        <p:nvSpPr>
          <p:cNvPr id="6"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Replace a module your component imports, so the test never hits the network:</a:t>
            </a:r>
          </a:p>
        </p:txBody>
      </p:sp>
      <p:sp>
        <p:nvSpPr>
          <p:cNvPr id="7" name="Code"/>
          <p:cNvSpPr/>
          <p:nvPr/>
        </p:nvSpPr>
        <p:spPr>
          <a:xfrm>
            <a:off x="457200" y="2193290"/>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24292F"/>
                </a:solidFill>
                <a:latin typeface="Consolas"/>
              </a:rPr>
              <a:t>vi.mock(</a:t>
            </a:r>
            <a:r>
              <a:rPr sz="1600">
                <a:solidFill>
                  <a:srgbClr val="0A3069"/>
                </a:solidFill>
                <a:latin typeface="Consolas"/>
              </a:rPr>
              <a:t>'@/common/api.service'</a:t>
            </a:r>
            <a:r>
              <a:rPr sz="1600">
                <a:solidFill>
                  <a:srgbClr val="24292F"/>
                </a:solidFill>
                <a:latin typeface="Consolas"/>
              </a:rPr>
              <a:t>, () =&gt; ({</a:t>
            </a:r>
          </a:p>
          <a:p>
            <a:pPr marL="0" indent="0" algn="l">
              <a:lnSpc>
                <a:spcPct val="100000"/>
              </a:lnSpc>
              <a:buNone/>
            </a:pPr>
            <a:r>
              <a:rPr sz="1600">
                <a:solidFill>
                  <a:srgbClr val="24292F"/>
                </a:solidFill>
                <a:latin typeface="Consolas"/>
              </a:rPr>
              <a:t>  </a:t>
            </a:r>
            <a:r>
              <a:rPr sz="1600">
                <a:solidFill>
                  <a:srgbClr val="CF222E"/>
                </a:solidFill>
                <a:latin typeface="Consolas"/>
              </a:rPr>
              <a:t>default</a:t>
            </a:r>
            <a:r>
              <a:rPr sz="1600">
                <a:solidFill>
                  <a:srgbClr val="24292F"/>
                </a:solidFill>
                <a:latin typeface="Consolas"/>
              </a:rPr>
              <a:t>: {</a:t>
            </a:r>
          </a:p>
          <a:p>
            <a:pPr marL="0" indent="0" algn="l">
              <a:lnSpc>
                <a:spcPct val="100000"/>
              </a:lnSpc>
              <a:buNone/>
            </a:pPr>
            <a:r>
              <a:rPr sz="1600">
                <a:solidFill>
                  <a:srgbClr val="24292F"/>
                </a:solidFill>
                <a:latin typeface="Consolas"/>
              </a:rPr>
              <a:t>    query: vi.fn().mockResolvedValue({ data: { tags: [] }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p:txBody>
      </p:sp>
      <p:sp>
        <p:nvSpPr>
          <p:cNvPr id="8" name="Body"/>
          <p:cNvSpPr txBox="1"/>
          <p:nvPr/>
        </p:nvSpPr>
        <p:spPr>
          <a:xfrm>
            <a:off x="457200" y="389204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vi.mock</a:t>
            </a:r>
            <a:r>
              <a:rPr sz="2200" b="0" i="0">
                <a:solidFill>
                  <a:srgbClr val="1F2A36"/>
                </a:solidFill>
              </a:rPr>
              <a:t> is </a:t>
            </a:r>
            <a:r>
              <a:rPr sz="2200" b="1" i="0">
                <a:solidFill>
                  <a:srgbClr val="1F2A36"/>
                </a:solidFill>
              </a:rPr>
              <a:t>hoisted</a:t>
            </a:r>
            <a:r>
              <a:rPr sz="2200" b="0" i="0">
                <a:solidFill>
                  <a:srgbClr val="1F2A36"/>
                </a:solidFill>
              </a:rPr>
              <a:t> above the imports, so it applies even though it's written after them</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241</a:t>
            </a:fld>
            <a:endParaRPr lang="en-US" sz="900">
              <a:solidFill>
                <a:srgbClr val="9AA7B4"/>
              </a:solidFill>
            </a:endParaRPr>
          </a:p>
        </p:txBody>
      </p:sp>
    </p:spTree>
    <p:extLst>
      <p:ext uri="{BB962C8B-B14F-4D97-AF65-F5344CB8AC3E}">
        <p14:creationId xmlns:p14="http://schemas.microsoft.com/office/powerpoint/2010/main" val="326664031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Resetting Mocks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Mocks remember every call, so state leaks between tests.</a:t>
            </a:r>
          </a:p>
        </p:txBody>
      </p:sp>
      <p:sp>
        <p:nvSpPr>
          <p:cNvPr id="4" name="Code"/>
          <p:cNvSpPr/>
          <p:nvPr/>
        </p:nvSpPr>
        <p:spPr>
          <a:xfrm>
            <a:off x="457200" y="1863597"/>
            <a:ext cx="8229600" cy="114300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800">
                <a:solidFill>
                  <a:srgbClr val="24292F"/>
                </a:solidFill>
                <a:latin typeface="Consolas"/>
              </a:rPr>
              <a:t>vi.clearAllMocks()     </a:t>
            </a:r>
            <a:r>
              <a:rPr sz="1800" i="1">
                <a:solidFill>
                  <a:srgbClr val="6E7781"/>
                </a:solidFill>
                <a:latin typeface="Consolas"/>
              </a:rPr>
              <a:t>// forget recorded calls</a:t>
            </a:r>
          </a:p>
          <a:p>
            <a:pPr marL="0" indent="0" algn="l">
              <a:lnSpc>
                <a:spcPct val="100000"/>
              </a:lnSpc>
              <a:buNone/>
            </a:pPr>
            <a:r>
              <a:rPr sz="1800">
                <a:solidFill>
                  <a:srgbClr val="24292F"/>
                </a:solidFill>
                <a:latin typeface="Consolas"/>
              </a:rPr>
              <a:t>vi.resetAllMocks()     </a:t>
            </a:r>
            <a:r>
              <a:rPr sz="1800" i="1">
                <a:solidFill>
                  <a:srgbClr val="6E7781"/>
                </a:solidFill>
                <a:latin typeface="Consolas"/>
              </a:rPr>
              <a:t>// also drop the implementations</a:t>
            </a:r>
          </a:p>
          <a:p>
            <a:pPr marL="0" indent="0" algn="l">
              <a:lnSpc>
                <a:spcPct val="100000"/>
              </a:lnSpc>
              <a:buNone/>
            </a:pPr>
            <a:r>
              <a:rPr sz="1800">
                <a:solidFill>
                  <a:srgbClr val="24292F"/>
                </a:solidFill>
                <a:latin typeface="Consolas"/>
              </a:rPr>
              <a:t>vi.restoreAllMocks()   </a:t>
            </a:r>
            <a:r>
              <a:rPr sz="1800" i="1">
                <a:solidFill>
                  <a:srgbClr val="6E7781"/>
                </a:solidFill>
                <a:latin typeface="Consolas"/>
              </a:rPr>
              <a:t>// undo every spyOn</a:t>
            </a:r>
          </a:p>
        </p:txBody>
      </p:sp>
      <p:sp>
        <p:nvSpPr>
          <p:cNvPr id="5" name="Body"/>
          <p:cNvSpPr txBox="1"/>
          <p:nvPr/>
        </p:nvSpPr>
        <p:spPr>
          <a:xfrm>
            <a:off x="457200" y="315290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Or set </a:t>
            </a:r>
            <a:r>
              <a:rPr sz="2090" b="0" i="0">
                <a:solidFill>
                  <a:srgbClr val="8A2B52"/>
                </a:solidFill>
                <a:latin typeface="Consolas"/>
              </a:rPr>
              <a:t>clearMocks</a:t>
            </a:r>
            <a:r>
              <a:rPr sz="2200" b="0" i="0">
                <a:solidFill>
                  <a:srgbClr val="1F2A36"/>
                </a:solidFill>
              </a:rPr>
              <a:t>, </a:t>
            </a:r>
            <a:r>
              <a:rPr sz="2090" b="0" i="0">
                <a:solidFill>
                  <a:srgbClr val="8A2B52"/>
                </a:solidFill>
                <a:latin typeface="Consolas"/>
              </a:rPr>
              <a:t>mockReset</a:t>
            </a:r>
            <a:r>
              <a:rPr sz="2200" b="0" i="0">
                <a:solidFill>
                  <a:srgbClr val="1F2A36"/>
                </a:solidFill>
              </a:rPr>
              <a:t> or </a:t>
            </a:r>
            <a:r>
              <a:rPr sz="2090" b="0" i="0">
                <a:solidFill>
                  <a:srgbClr val="8A2B52"/>
                </a:solidFill>
                <a:latin typeface="Consolas"/>
              </a:rPr>
              <a:t>restoreMocks: true</a:t>
            </a:r>
            <a:r>
              <a:rPr sz="2200" b="0" i="0">
                <a:solidFill>
                  <a:srgbClr val="1F2A36"/>
                </a:solidFill>
              </a:rPr>
              <a:t> in the Vitest config</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242</a:t>
            </a:fld>
            <a:endParaRPr lang="en-US" sz="900">
              <a:solidFill>
                <a:srgbClr val="9AA7B4"/>
              </a:solidFill>
            </a:endParaRPr>
          </a:p>
        </p:txBody>
      </p:sp>
    </p:spTree>
    <p:extLst>
      <p:ext uri="{BB962C8B-B14F-4D97-AF65-F5344CB8AC3E}">
        <p14:creationId xmlns:p14="http://schemas.microsoft.com/office/powerpoint/2010/main" val="152731277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Fake Timers</a:t>
            </a:r>
          </a:p>
        </p:txBody>
      </p:sp>
      <p:sp>
        <p:nvSpPr>
          <p:cNvPr id="6" name="Code"/>
          <p:cNvSpPr/>
          <p:nvPr/>
        </p:nvSpPr>
        <p:spPr>
          <a:xfrm>
            <a:off x="457200" y="1261872"/>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vi.useFakeTimers()</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spy = vi.fn()</a:t>
            </a:r>
          </a:p>
          <a:p>
            <a:pPr marL="0" indent="0" algn="l">
              <a:lnSpc>
                <a:spcPct val="100000"/>
              </a:lnSpc>
              <a:buNone/>
            </a:pPr>
            <a:r>
              <a:rPr sz="2000">
                <a:solidFill>
                  <a:srgbClr val="24292F"/>
                </a:solidFill>
                <a:latin typeface="Consolas"/>
              </a:rPr>
              <a:t>setTimeout(spy, </a:t>
            </a:r>
            <a:r>
              <a:rPr sz="2000">
                <a:solidFill>
                  <a:srgbClr val="0550AE"/>
                </a:solidFill>
                <a:latin typeface="Consolas"/>
              </a:rPr>
              <a:t>5000</a:t>
            </a: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vi.advanceTimersByTime(</a:t>
            </a:r>
            <a:r>
              <a:rPr sz="2000">
                <a:solidFill>
                  <a:srgbClr val="0550AE"/>
                </a:solidFill>
                <a:latin typeface="Consolas"/>
              </a:rPr>
              <a:t>5000</a:t>
            </a:r>
            <a:r>
              <a:rPr sz="2000">
                <a:solidFill>
                  <a:srgbClr val="24292F"/>
                </a:solidFill>
                <a:latin typeface="Consolas"/>
              </a:rPr>
              <a:t>)   </a:t>
            </a:r>
            <a:r>
              <a:rPr sz="2000" i="1">
                <a:solidFill>
                  <a:srgbClr val="6E7781"/>
                </a:solidFill>
                <a:latin typeface="Consolas"/>
              </a:rPr>
              <a:t>// no real waiting</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expect(spy).toHaveBeenCalled()</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vi.useRealTimers()</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243</a:t>
            </a:fld>
            <a:endParaRPr lang="en-US" sz="900">
              <a:solidFill>
                <a:srgbClr val="9AA7B4"/>
              </a:solidFill>
            </a:endParaRPr>
          </a:p>
        </p:txBody>
      </p:sp>
    </p:spTree>
    <p:extLst>
      <p:ext uri="{BB962C8B-B14F-4D97-AF65-F5344CB8AC3E}">
        <p14:creationId xmlns:p14="http://schemas.microsoft.com/office/powerpoint/2010/main" val="290438103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Snapshot Testing</a:t>
            </a:r>
          </a:p>
        </p:txBody>
      </p:sp>
      <p:sp>
        <p:nvSpPr>
          <p:cNvPr id="3" name="Body"/>
          <p:cNvSpPr txBox="1"/>
          <p:nvPr/>
        </p:nvSpPr>
        <p:spPr>
          <a:xfrm>
            <a:off x="457200" y="1261872"/>
            <a:ext cx="8229600" cy="2572511"/>
          </a:xfrm>
          <a:prstGeom prst="rect">
            <a:avLst/>
          </a:prstGeom>
          <a:noFill/>
        </p:spPr>
        <p:txBody>
          <a:bodyPr wrap="square" lIns="0" tIns="0" rIns="0" bIns="0">
            <a:noAutofit/>
          </a:bodyPr>
          <a:lstStyle/>
          <a:p>
            <a:pPr marL="347472" indent="-329184">
              <a:spcAft>
                <a:spcPts val="990"/>
              </a:spcAft>
              <a:buClr>
                <a:srgbClr val="2E8B62"/>
              </a:buClr>
              <a:buFont typeface="+mj-lt"/>
              <a:buAutoNum type="arabicPeriod"/>
            </a:pPr>
            <a:r>
              <a:rPr sz="2200" b="0" i="0">
                <a:solidFill>
                  <a:srgbClr val="1F2A36"/>
                </a:solidFill>
              </a:rPr>
              <a:t>Renders a component (or any value)</a:t>
            </a:r>
          </a:p>
          <a:p>
            <a:pPr marL="347472" indent="-329184">
              <a:spcAft>
                <a:spcPts val="990"/>
              </a:spcAft>
              <a:buClr>
                <a:srgbClr val="2E8B62"/>
              </a:buClr>
              <a:buFont typeface="+mj-lt"/>
              <a:buAutoNum type="arabicPeriod" startAt="2"/>
            </a:pPr>
            <a:r>
              <a:rPr sz="2200" b="0" i="0">
                <a:solidFill>
                  <a:srgbClr val="1F2A36"/>
                </a:solidFill>
              </a:rPr>
              <a:t>Writes a snapshot file on the first run</a:t>
            </a:r>
          </a:p>
          <a:p>
            <a:pPr marL="347472" indent="-329184">
              <a:spcAft>
                <a:spcPts val="990"/>
              </a:spcAft>
              <a:buClr>
                <a:srgbClr val="2E8B62"/>
              </a:buClr>
              <a:buFont typeface="+mj-lt"/>
              <a:buAutoNum type="arabicPeriod" startAt="3"/>
            </a:pPr>
            <a:r>
              <a:rPr sz="2200" b="0" i="0">
                <a:solidFill>
                  <a:srgbClr val="1F2A36"/>
                </a:solidFill>
              </a:rPr>
              <a:t>Compares later runs against it, and fails if the output differs</a:t>
            </a:r>
          </a:p>
          <a:p>
            <a:pPr marL="347472" indent="-329184">
              <a:spcAft>
                <a:spcPts val="990"/>
              </a:spcAft>
              <a:buClr>
                <a:srgbClr val="2E8B62"/>
              </a:buClr>
              <a:buFont typeface="+mj-lt"/>
              <a:buAutoNum type="arabicPeriod" startAt="4"/>
            </a:pPr>
            <a:r>
              <a:rPr sz="2200" b="0" i="0">
                <a:solidFill>
                  <a:srgbClr val="1F2A36"/>
                </a:solidFill>
              </a:rPr>
              <a:t>Update deliberately with </a:t>
            </a:r>
            <a:r>
              <a:rPr sz="2090" b="0" i="0">
                <a:solidFill>
                  <a:srgbClr val="8A2B52"/>
                </a:solidFill>
                <a:latin typeface="Consolas"/>
              </a:rPr>
              <a:t>vitest -u</a:t>
            </a:r>
            <a:r>
              <a:rPr sz="2200" b="0" i="0">
                <a:solidFill>
                  <a:srgbClr val="1F2A36"/>
                </a:solidFill>
              </a:rPr>
              <a:t>, and review the diff</a:t>
            </a:r>
          </a:p>
        </p:txBody>
      </p:sp>
      <p:sp>
        <p:nvSpPr>
          <p:cNvPr id="4" name="Tip"/>
          <p:cNvSpPr/>
          <p:nvPr/>
        </p:nvSpPr>
        <p:spPr>
          <a:xfrm>
            <a:off x="457200" y="3889247"/>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Best for output that should rarely change. A poor substitute for an assertion about behavior.</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244</a:t>
            </a:fld>
            <a:endParaRPr lang="en-US" sz="900">
              <a:solidFill>
                <a:srgbClr val="9AA7B4"/>
              </a:solidFill>
            </a:endParaRPr>
          </a:p>
        </p:txBody>
      </p:sp>
    </p:spTree>
    <p:extLst>
      <p:ext uri="{BB962C8B-B14F-4D97-AF65-F5344CB8AC3E}">
        <p14:creationId xmlns:p14="http://schemas.microsoft.com/office/powerpoint/2010/main" val="327511362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Sample Snapshot Test</a:t>
            </a:r>
          </a:p>
        </p:txBody>
      </p:sp>
      <p:sp>
        <p:nvSpPr>
          <p:cNvPr id="3" name="Code"/>
          <p:cNvSpPr/>
          <p:nvPr/>
        </p:nvSpPr>
        <p:spPr>
          <a:xfrm>
            <a:off x="457200" y="1261872"/>
            <a:ext cx="8229600" cy="312724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import</a:t>
            </a:r>
            <a:r>
              <a:rPr sz="2000">
                <a:solidFill>
                  <a:srgbClr val="24292F"/>
                </a:solidFill>
                <a:latin typeface="Consolas"/>
              </a:rPr>
              <a:t> { mount } </a:t>
            </a:r>
            <a:r>
              <a:rPr sz="2000">
                <a:solidFill>
                  <a:srgbClr val="CF222E"/>
                </a:solidFill>
                <a:latin typeface="Consolas"/>
              </a:rPr>
              <a:t>from</a:t>
            </a:r>
            <a:r>
              <a:rPr sz="2000">
                <a:solidFill>
                  <a:srgbClr val="24292F"/>
                </a:solidFill>
                <a:latin typeface="Consolas"/>
              </a:rPr>
              <a:t> </a:t>
            </a:r>
            <a:r>
              <a:rPr sz="2000">
                <a:solidFill>
                  <a:srgbClr val="0A3069"/>
                </a:solidFill>
                <a:latin typeface="Consolas"/>
              </a:rPr>
              <a:t>'@vue/test-utils'</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it(</a:t>
            </a:r>
            <a:r>
              <a:rPr sz="2000">
                <a:solidFill>
                  <a:srgbClr val="0A3069"/>
                </a:solidFill>
                <a:latin typeface="Consolas"/>
              </a:rPr>
              <a:t>'renders content correctly'</a:t>
            </a:r>
            <a:r>
              <a:rPr sz="2000">
                <a:solidFill>
                  <a:srgbClr val="24292F"/>
                </a:solidFill>
                <a:latin typeface="Consolas"/>
              </a:rPr>
              <a:t>, () =&gt; {</a:t>
            </a:r>
          </a:p>
          <a:p>
            <a:pPr marL="0" indent="0" algn="l">
              <a:lnSpc>
                <a:spcPct val="100000"/>
              </a:lnSpc>
              <a:buNone/>
            </a:pPr>
            <a:r>
              <a:rPr sz="2000">
                <a:solidFill>
                  <a:srgbClr val="24292F"/>
                </a:solidFill>
                <a:latin typeface="Consolas"/>
              </a:rPr>
              <a:t>  </a:t>
            </a:r>
            <a:r>
              <a:rPr sz="2000">
                <a:solidFill>
                  <a:srgbClr val="CF222E"/>
                </a:solidFill>
                <a:latin typeface="Consolas"/>
              </a:rPr>
              <a:t>const</a:t>
            </a:r>
            <a:r>
              <a:rPr sz="2000">
                <a:solidFill>
                  <a:srgbClr val="24292F"/>
                </a:solidFill>
                <a:latin typeface="Consolas"/>
              </a:rPr>
              <a:t> wrapper = mount(TheHeader, {</a:t>
            </a:r>
          </a:p>
          <a:p>
            <a:pPr marL="0" indent="0" algn="l">
              <a:lnSpc>
                <a:spcPct val="100000"/>
              </a:lnSpc>
              <a:buNone/>
            </a:pPr>
            <a:r>
              <a:rPr sz="2000">
                <a:solidFill>
                  <a:srgbClr val="24292F"/>
                </a:solidFill>
                <a:latin typeface="Consolas"/>
              </a:rPr>
              <a:t>    global: { plugins: [pinia, router] },</a:t>
            </a:r>
          </a:p>
          <a:p>
            <a:pPr marL="0" indent="0" algn="l">
              <a:lnSpc>
                <a:spcPct val="100000"/>
              </a:lnSpc>
              <a:buNone/>
            </a:pPr>
            <a:r>
              <a:rPr sz="2000">
                <a:solidFill>
                  <a:srgbClr val="24292F"/>
                </a:solidFill>
                <a:latin typeface="Consolas"/>
              </a:rPr>
              <a:t>  })</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expect(wrapper.html()).toMatchSnapshot()</a:t>
            </a:r>
          </a:p>
          <a:p>
            <a:pPr marL="0" indent="0" algn="l">
              <a:lnSpc>
                <a:spcPct val="100000"/>
              </a:lnSpc>
              <a:buNone/>
            </a:pPr>
            <a:r>
              <a:rPr sz="2000">
                <a:solidFill>
                  <a:srgbClr val="24292F"/>
                </a:solidFill>
                <a:latin typeface="Consolas"/>
              </a:rPr>
              <a:t>})</a:t>
            </a:r>
          </a:p>
        </p:txBody>
      </p:sp>
      <p:sp>
        <p:nvSpPr>
          <p:cNvPr id="4" name="Body"/>
          <p:cNvSpPr txBox="1"/>
          <p:nvPr/>
        </p:nvSpPr>
        <p:spPr>
          <a:xfrm>
            <a:off x="457200" y="4535423"/>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first run creates </a:t>
            </a:r>
            <a:r>
              <a:rPr sz="2090" b="0" i="0">
                <a:solidFill>
                  <a:srgbClr val="8A2B52"/>
                </a:solidFill>
                <a:latin typeface="Consolas"/>
              </a:rPr>
              <a:t>__snapshots__/TheHeader.spec.js.snap</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245</a:t>
            </a:fld>
            <a:endParaRPr lang="en-US" sz="900">
              <a:solidFill>
                <a:srgbClr val="9AA7B4"/>
              </a:solidFill>
            </a:endParaRPr>
          </a:p>
        </p:txBody>
      </p:sp>
    </p:spTree>
    <p:extLst>
      <p:ext uri="{BB962C8B-B14F-4D97-AF65-F5344CB8AC3E}">
        <p14:creationId xmlns:p14="http://schemas.microsoft.com/office/powerpoint/2010/main" val="348709165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Vue Test Utils</a:t>
            </a:r>
            <a:endParaRPr lang="en-US" dirty="0"/>
          </a:p>
        </p:txBody>
      </p:sp>
      <p:sp>
        <p:nvSpPr>
          <p:cNvPr id="3" name="Body"/>
          <p:cNvSpPr txBox="1"/>
          <p:nvPr/>
        </p:nvSpPr>
        <p:spPr>
          <a:xfrm>
            <a:off x="457200" y="1261872"/>
            <a:ext cx="8229600" cy="303098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official unit-testing utility library for Vue</a:t>
            </a:r>
          </a:p>
          <a:p>
            <a:pPr marL="274320" indent="-256032">
              <a:spcAft>
                <a:spcPts val="990"/>
              </a:spcAft>
              <a:buClr>
                <a:srgbClr val="42B883"/>
              </a:buClr>
              <a:buSzPct val="100000"/>
              <a:buFont typeface="Arial"/>
              <a:buChar char="•"/>
            </a:pPr>
            <a:r>
              <a:rPr sz="2200" b="1" i="0">
                <a:solidFill>
                  <a:srgbClr val="1F2A36"/>
                </a:solidFill>
              </a:rPr>
              <a:t>Version 2</a:t>
            </a:r>
            <a:r>
              <a:rPr sz="2200" b="0" i="0">
                <a:solidFill>
                  <a:srgbClr val="1F2A36"/>
                </a:solidFill>
              </a:rPr>
              <a:t> is the one built for Vue 3</a:t>
            </a:r>
          </a:p>
          <a:p>
            <a:pPr marL="274320" indent="-256032">
              <a:spcAft>
                <a:spcPts val="990"/>
              </a:spcAft>
              <a:buClr>
                <a:srgbClr val="42B883"/>
              </a:buClr>
              <a:buSzPct val="100000"/>
              <a:buFont typeface="Arial"/>
              <a:buChar char="•"/>
            </a:pPr>
            <a:r>
              <a:rPr sz="2200" b="0" i="0">
                <a:solidFill>
                  <a:srgbClr val="1F2A36"/>
                </a:solidFill>
              </a:rPr>
              <a:t>Changes from version 1:</a:t>
            </a:r>
          </a:p>
          <a:p>
            <a:pPr marL="566928" indent="-256032">
              <a:spcAft>
                <a:spcPts val="855"/>
              </a:spcAft>
              <a:buClr>
                <a:srgbClr val="6B7B8C"/>
              </a:buClr>
              <a:buSzPct val="100000"/>
              <a:buFont typeface="Arial"/>
              <a:buChar char="–"/>
            </a:pPr>
            <a:r>
              <a:rPr sz="1805" b="0" i="0">
                <a:solidFill>
                  <a:srgbClr val="8A2B52"/>
                </a:solidFill>
                <a:latin typeface="Consolas"/>
              </a:rPr>
              <a:t>propsData</a:t>
            </a:r>
            <a:r>
              <a:rPr sz="1900" b="0" i="0">
                <a:solidFill>
                  <a:srgbClr val="3A4A5A"/>
                </a:solidFill>
              </a:rPr>
              <a:t> is now </a:t>
            </a:r>
            <a:r>
              <a:rPr sz="1805" b="0" i="0">
                <a:solidFill>
                  <a:srgbClr val="8A2B52"/>
                </a:solidFill>
                <a:latin typeface="Consolas"/>
              </a:rPr>
              <a:t>props</a:t>
            </a:r>
          </a:p>
          <a:p>
            <a:pPr marL="566928" indent="-256032">
              <a:spcAft>
                <a:spcPts val="855"/>
              </a:spcAft>
              <a:buClr>
                <a:srgbClr val="6B7B8C"/>
              </a:buClr>
              <a:buSzPct val="100000"/>
              <a:buFont typeface="Arial"/>
              <a:buChar char="–"/>
            </a:pPr>
            <a:r>
              <a:rPr sz="1805" b="0" i="0">
                <a:solidFill>
                  <a:srgbClr val="8A2B52"/>
                </a:solidFill>
                <a:latin typeface="Consolas"/>
              </a:rPr>
              <a:t>createLocalVue</a:t>
            </a:r>
            <a:r>
              <a:rPr sz="1900" b="0" i="0">
                <a:solidFill>
                  <a:srgbClr val="3A4A5A"/>
                </a:solidFill>
              </a:rPr>
              <a:t> is gone — use </a:t>
            </a:r>
            <a:r>
              <a:rPr sz="1805" b="0" i="0">
                <a:solidFill>
                  <a:srgbClr val="8A2B52"/>
                </a:solidFill>
                <a:latin typeface="Consolas"/>
              </a:rPr>
              <a:t>global.plugins</a:t>
            </a:r>
          </a:p>
          <a:p>
            <a:pPr marL="566928" indent="-256032">
              <a:spcAft>
                <a:spcPts val="855"/>
              </a:spcAft>
              <a:buClr>
                <a:srgbClr val="6B7B8C"/>
              </a:buClr>
              <a:buSzPct val="100000"/>
              <a:buFont typeface="Arial"/>
              <a:buChar char="–"/>
            </a:pPr>
            <a:r>
              <a:rPr sz="1805" b="0" i="0">
                <a:solidFill>
                  <a:srgbClr val="8A2B52"/>
                </a:solidFill>
                <a:latin typeface="Consolas"/>
              </a:rPr>
              <a:t>stubs</a:t>
            </a:r>
            <a:r>
              <a:rPr sz="1900" b="0" i="0">
                <a:solidFill>
                  <a:srgbClr val="3A4A5A"/>
                </a:solidFill>
              </a:rPr>
              <a:t>, </a:t>
            </a:r>
            <a:r>
              <a:rPr sz="1805" b="0" i="0">
                <a:solidFill>
                  <a:srgbClr val="8A2B52"/>
                </a:solidFill>
                <a:latin typeface="Consolas"/>
              </a:rPr>
              <a:t>mocks</a:t>
            </a:r>
            <a:r>
              <a:rPr sz="1900" b="0" i="0">
                <a:solidFill>
                  <a:srgbClr val="3A4A5A"/>
                </a:solidFill>
              </a:rPr>
              <a:t> and </a:t>
            </a:r>
            <a:r>
              <a:rPr sz="1805" b="0" i="0">
                <a:solidFill>
                  <a:srgbClr val="8A2B52"/>
                </a:solidFill>
                <a:latin typeface="Consolas"/>
              </a:rPr>
              <a:t>provide</a:t>
            </a:r>
            <a:r>
              <a:rPr sz="1900" b="0" i="0">
                <a:solidFill>
                  <a:srgbClr val="3A4A5A"/>
                </a:solidFill>
              </a:rPr>
              <a:t> moved under </a:t>
            </a:r>
            <a:r>
              <a:rPr sz="1805" b="0" i="0">
                <a:solidFill>
                  <a:srgbClr val="8A2B52"/>
                </a:solidFill>
                <a:latin typeface="Consolas"/>
              </a:rPr>
              <a:t>global</a:t>
            </a:r>
          </a:p>
          <a:p>
            <a:pPr marL="566928" indent="-256032">
              <a:spcAft>
                <a:spcPts val="855"/>
              </a:spcAft>
              <a:buClr>
                <a:srgbClr val="6B7B8C"/>
              </a:buClr>
              <a:buSzPct val="100000"/>
              <a:buFont typeface="Arial"/>
              <a:buChar char="–"/>
            </a:pPr>
            <a:r>
              <a:rPr sz="1805" b="0" i="0">
                <a:solidFill>
                  <a:srgbClr val="8A2B52"/>
                </a:solidFill>
                <a:latin typeface="Consolas"/>
              </a:rPr>
              <a:t>setValue()</a:t>
            </a:r>
            <a:r>
              <a:rPr sz="1900" b="0" i="0">
                <a:solidFill>
                  <a:srgbClr val="3A4A5A"/>
                </a:solidFill>
              </a:rPr>
              <a:t> and </a:t>
            </a:r>
            <a:r>
              <a:rPr sz="1805" b="0" i="0">
                <a:solidFill>
                  <a:srgbClr val="8A2B52"/>
                </a:solidFill>
                <a:latin typeface="Consolas"/>
              </a:rPr>
              <a:t>trigger()</a:t>
            </a:r>
            <a:r>
              <a:rPr sz="1900" b="0" i="0">
                <a:solidFill>
                  <a:srgbClr val="3A4A5A"/>
                </a:solidFill>
              </a:rPr>
              <a:t> return a promise; </a:t>
            </a:r>
            <a:r>
              <a:rPr sz="1805" b="0" i="0">
                <a:solidFill>
                  <a:srgbClr val="8A2B52"/>
                </a:solidFill>
                <a:latin typeface="Consolas"/>
              </a:rPr>
              <a:t>await</a:t>
            </a:r>
            <a:r>
              <a:rPr sz="1900" b="0" i="0">
                <a:solidFill>
                  <a:srgbClr val="3A4A5A"/>
                </a:solidFill>
              </a:rPr>
              <a:t> them</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246</a:t>
            </a:fld>
            <a:endParaRPr lang="en-US" sz="900">
              <a:solidFill>
                <a:srgbClr val="9AA7B4"/>
              </a:solidFill>
            </a:endParaRPr>
          </a:p>
        </p:txBody>
      </p:sp>
    </p:spTree>
    <p:extLst>
      <p:ext uri="{BB962C8B-B14F-4D97-AF65-F5344CB8AC3E}">
        <p14:creationId xmlns:p14="http://schemas.microsoft.com/office/powerpoint/2010/main" val="314034722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mount</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Creates a wrapper containing the mounted and rendered component, </a:t>
            </a:r>
            <a:r>
              <a:rPr sz="2200" b="1" i="0">
                <a:solidFill>
                  <a:srgbClr val="1F2A36"/>
                </a:solidFill>
              </a:rPr>
              <a:t>including all of its children</a:t>
            </a:r>
            <a:r>
              <a:rPr sz="2200" b="0" i="0">
                <a:solidFill>
                  <a:srgbClr val="1F2A36"/>
                </a:solidFill>
              </a:rPr>
              <a:t>.</a:t>
            </a:r>
          </a:p>
        </p:txBody>
      </p:sp>
      <p:sp>
        <p:nvSpPr>
          <p:cNvPr id="4" name="Code"/>
          <p:cNvSpPr/>
          <p:nvPr/>
        </p:nvSpPr>
        <p:spPr>
          <a:xfrm>
            <a:off x="457200" y="2193290"/>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wrapper = mount(TheHeader, {</a:t>
            </a:r>
          </a:p>
          <a:p>
            <a:pPr marL="0" indent="0" algn="l">
              <a:lnSpc>
                <a:spcPct val="100000"/>
              </a:lnSpc>
              <a:buNone/>
            </a:pPr>
            <a:r>
              <a:rPr sz="2000">
                <a:solidFill>
                  <a:srgbClr val="24292F"/>
                </a:solidFill>
                <a:latin typeface="Consolas"/>
              </a:rPr>
              <a:t>  props: { title: </a:t>
            </a:r>
            <a:r>
              <a:rPr sz="2000">
                <a:solidFill>
                  <a:srgbClr val="0A3069"/>
                </a:solidFill>
                <a:latin typeface="Consolas"/>
              </a:rPr>
              <a:t>'Conduit'</a:t>
            </a:r>
            <a:r>
              <a:rPr sz="2000">
                <a:solidFill>
                  <a:srgbClr val="24292F"/>
                </a:solidFill>
                <a:latin typeface="Consolas"/>
              </a:rPr>
              <a:t> },</a:t>
            </a:r>
          </a:p>
          <a:p>
            <a:pPr marL="0" indent="0" algn="l">
              <a:lnSpc>
                <a:spcPct val="100000"/>
              </a:lnSpc>
              <a:buNone/>
            </a:pPr>
            <a:r>
              <a:rPr sz="2000">
                <a:solidFill>
                  <a:srgbClr val="24292F"/>
                </a:solidFill>
                <a:latin typeface="Consolas"/>
              </a:rPr>
              <a:t>  global: { plugins: [router] },</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expect(wrapper.text()).toContain(</a:t>
            </a:r>
            <a:r>
              <a:rPr sz="2000">
                <a:solidFill>
                  <a:srgbClr val="0A3069"/>
                </a:solidFill>
                <a:latin typeface="Consolas"/>
              </a:rPr>
              <a:t>'Conduit'</a:t>
            </a:r>
            <a:r>
              <a:rPr sz="20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247</a:t>
            </a:fld>
            <a:endParaRPr lang="en-US" sz="900">
              <a:solidFill>
                <a:srgbClr val="9AA7B4"/>
              </a:solidFill>
            </a:endParaRPr>
          </a:p>
        </p:txBody>
      </p:sp>
    </p:spTree>
    <p:extLst>
      <p:ext uri="{BB962C8B-B14F-4D97-AF65-F5344CB8AC3E}">
        <p14:creationId xmlns:p14="http://schemas.microsoft.com/office/powerpoint/2010/main" val="109322752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shallowMount</a:t>
            </a:r>
          </a:p>
        </p:txBody>
      </p:sp>
      <p:sp>
        <p:nvSpPr>
          <p:cNvPr id="3" name="Body"/>
          <p:cNvSpPr txBox="1"/>
          <p:nvPr/>
        </p:nvSpPr>
        <p:spPr>
          <a:xfrm>
            <a:off x="457200" y="1261872"/>
            <a:ext cx="8229600" cy="1661667"/>
          </a:xfrm>
          <a:prstGeom prst="rect">
            <a:avLst/>
          </a:prstGeom>
          <a:noFill/>
        </p:spPr>
        <p:txBody>
          <a:bodyPr wrap="square" lIns="0" tIns="0" rIns="0" bIns="0">
            <a:noAutofit/>
          </a:bodyPr>
          <a:lstStyle/>
          <a:p>
            <a:pPr marL="0" indent="0">
              <a:spcAft>
                <a:spcPts val="990"/>
              </a:spcAft>
              <a:buNone/>
            </a:pPr>
            <a:r>
              <a:rPr sz="2200" b="0" i="0">
                <a:solidFill>
                  <a:srgbClr val="1F2A36"/>
                </a:solidFill>
              </a:rPr>
              <a:t>Mounts the component with its </a:t>
            </a:r>
            <a:r>
              <a:rPr sz="2200" b="1" i="0">
                <a:solidFill>
                  <a:srgbClr val="1F2A36"/>
                </a:solidFill>
              </a:rPr>
              <a:t>child components stubbed out</a:t>
            </a:r>
            <a:r>
              <a:rPr sz="2200" b="0" i="0">
                <a:solidFill>
                  <a:srgbClr val="1F2A36"/>
                </a:solidFill>
              </a:rPr>
              <a:t>.</a:t>
            </a:r>
          </a:p>
          <a:p>
            <a:pPr marL="274320" indent="-256032">
              <a:spcAft>
                <a:spcPts val="990"/>
              </a:spcAft>
              <a:buClr>
                <a:srgbClr val="42B883"/>
              </a:buClr>
              <a:buSzPct val="100000"/>
              <a:buFont typeface="Arial"/>
              <a:buChar char="•"/>
            </a:pPr>
            <a:r>
              <a:rPr sz="2200" b="0" i="0">
                <a:solidFill>
                  <a:srgbClr val="1F2A36"/>
                </a:solidFill>
              </a:rPr>
              <a:t>Useful when a child would fetch data or need its own plugins</a:t>
            </a:r>
          </a:p>
        </p:txBody>
      </p:sp>
      <p:sp>
        <p:nvSpPr>
          <p:cNvPr id="4" name="Code"/>
          <p:cNvSpPr/>
          <p:nvPr/>
        </p:nvSpPr>
        <p:spPr>
          <a:xfrm>
            <a:off x="457200" y="2978404"/>
            <a:ext cx="8229600" cy="12374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wrapper = shallowMount(HomeContent, {</a:t>
            </a:r>
          </a:p>
          <a:p>
            <a:pPr marL="0" indent="0" algn="l">
              <a:lnSpc>
                <a:spcPct val="100000"/>
              </a:lnSpc>
              <a:buNone/>
            </a:pPr>
            <a:r>
              <a:rPr sz="2000">
                <a:solidFill>
                  <a:srgbClr val="24292F"/>
                </a:solidFill>
                <a:latin typeface="Consolas"/>
              </a:rPr>
              <a:t>  global: { plugins: [pinia, router] },</a:t>
            </a:r>
          </a:p>
          <a:p>
            <a:pPr marL="0" indent="0" algn="l">
              <a:lnSpc>
                <a:spcPct val="100000"/>
              </a:lnSpc>
              <a:buNone/>
            </a:pPr>
            <a:r>
              <a:rPr sz="2000">
                <a:solidFill>
                  <a:srgbClr val="24292F"/>
                </a:solidFill>
                <a:latin typeface="Consolas"/>
              </a:rPr>
              <a:t>})</a:t>
            </a:r>
          </a:p>
        </p:txBody>
      </p:sp>
      <p:sp>
        <p:nvSpPr>
          <p:cNvPr id="5" name="Body"/>
          <p:cNvSpPr txBox="1"/>
          <p:nvPr/>
        </p:nvSpPr>
        <p:spPr>
          <a:xfrm>
            <a:off x="457200" y="4362196"/>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Children render as </a:t>
            </a:r>
            <a:r>
              <a:rPr sz="2090" b="0" i="0">
                <a:solidFill>
                  <a:srgbClr val="8A2B52"/>
                </a:solidFill>
                <a:latin typeface="Consolas"/>
              </a:rPr>
              <a:t>&lt;global-feed-stub&gt;</a:t>
            </a:r>
            <a:r>
              <a:rPr sz="2200" b="0" i="0">
                <a:solidFill>
                  <a:srgbClr val="1F2A36"/>
                </a:solidFill>
              </a:rPr>
              <a:t> placeholders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248</a:t>
            </a:fld>
            <a:endParaRPr lang="en-US" sz="900">
              <a:solidFill>
                <a:srgbClr val="9AA7B4"/>
              </a:solidFill>
            </a:endParaRPr>
          </a:p>
        </p:txBody>
      </p:sp>
    </p:spTree>
    <p:extLst>
      <p:ext uri="{BB962C8B-B14F-4D97-AF65-F5344CB8AC3E}">
        <p14:creationId xmlns:p14="http://schemas.microsoft.com/office/powerpoint/2010/main" val="190487116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Testing with Vitest</a:t>
            </a:r>
          </a:p>
        </p:txBody>
      </p:sp>
      <p:sp>
        <p:nvSpPr>
          <p:cNvPr id="3" name="Chip LAB 23"/>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23</a:t>
            </a:r>
          </a:p>
        </p:txBody>
      </p:sp>
      <p:sp>
        <p:nvSpPr>
          <p:cNvPr id="4" name="Chip 25 min"/>
          <p:cNvSpPr/>
          <p:nvPr/>
        </p:nvSpPr>
        <p:spPr>
          <a:xfrm>
            <a:off x="1501140" y="384048"/>
            <a:ext cx="859536"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25 min</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Fix the HomeContent tests now that it depends on the router, Pinia and the API.</a:t>
            </a:r>
          </a:p>
        </p:txBody>
      </p:sp>
      <p:sp>
        <p:nvSpPr>
          <p:cNvPr id="6" name="Body"/>
          <p:cNvSpPr txBox="1"/>
          <p:nvPr/>
        </p:nvSpPr>
        <p:spPr>
          <a:xfrm>
            <a:off x="457200" y="2441448"/>
            <a:ext cx="8229600" cy="347471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Run </a:t>
            </a:r>
            <a:r>
              <a:rPr sz="1900" b="0" i="0">
                <a:solidFill>
                  <a:srgbClr val="8A2B52"/>
                </a:solidFill>
                <a:latin typeface="Consolas"/>
              </a:rPr>
              <a:t>npm run test</a:t>
            </a:r>
            <a:r>
              <a:rPr sz="2000" b="0" i="0">
                <a:solidFill>
                  <a:srgbClr val="1F2A36"/>
                </a:solidFill>
              </a:rPr>
              <a:t> and read the failure</a:t>
            </a:r>
          </a:p>
          <a:p>
            <a:pPr marL="274320" indent="-256032">
              <a:spcAft>
                <a:spcPts val="900"/>
              </a:spcAft>
              <a:buClr>
                <a:srgbClr val="42B883"/>
              </a:buClr>
              <a:buSzPct val="100000"/>
              <a:buFont typeface="Arial"/>
              <a:buChar char="•"/>
            </a:pPr>
            <a:r>
              <a:rPr sz="2000" b="0" i="0">
                <a:solidFill>
                  <a:srgbClr val="1F2A36"/>
                </a:solidFill>
              </a:rPr>
              <a:t>Create a test router with </a:t>
            </a:r>
            <a:r>
              <a:rPr sz="1900" b="0" i="0">
                <a:solidFill>
                  <a:srgbClr val="8A2B52"/>
                </a:solidFill>
                <a:latin typeface="Consolas"/>
              </a:rPr>
              <a:t>createRouter</a:t>
            </a:r>
            <a:r>
              <a:rPr sz="2000" b="0" i="0">
                <a:solidFill>
                  <a:srgbClr val="1F2A36"/>
                </a:solidFill>
              </a:rPr>
              <a:t> and </a:t>
            </a:r>
            <a:r>
              <a:rPr sz="1900" b="0" i="0">
                <a:solidFill>
                  <a:srgbClr val="8A2B52"/>
                </a:solidFill>
                <a:latin typeface="Consolas"/>
              </a:rPr>
              <a:t>createWebHistory</a:t>
            </a:r>
          </a:p>
          <a:p>
            <a:pPr marL="274320" indent="-256032">
              <a:spcAft>
                <a:spcPts val="900"/>
              </a:spcAft>
              <a:buClr>
                <a:srgbClr val="42B883"/>
              </a:buClr>
              <a:buSzPct val="100000"/>
              <a:buFont typeface="Arial"/>
              <a:buChar char="•"/>
            </a:pPr>
            <a:r>
              <a:rPr sz="2000" b="0" i="0">
                <a:solidFill>
                  <a:srgbClr val="1F2A36"/>
                </a:solidFill>
              </a:rPr>
              <a:t>Create a fresh Pinia in </a:t>
            </a:r>
            <a:r>
              <a:rPr sz="1900" b="0" i="0">
                <a:solidFill>
                  <a:srgbClr val="8A2B52"/>
                </a:solidFill>
                <a:latin typeface="Consolas"/>
              </a:rPr>
              <a:t>beforeEach</a:t>
            </a:r>
          </a:p>
          <a:p>
            <a:pPr marL="274320" indent="-256032">
              <a:spcAft>
                <a:spcPts val="900"/>
              </a:spcAft>
              <a:buClr>
                <a:srgbClr val="42B883"/>
              </a:buClr>
              <a:buSzPct val="100000"/>
              <a:buFont typeface="Arial"/>
              <a:buChar char="•"/>
            </a:pPr>
            <a:r>
              <a:rPr sz="1900" b="0" i="0">
                <a:solidFill>
                  <a:srgbClr val="8A2B52"/>
                </a:solidFill>
                <a:latin typeface="Consolas"/>
              </a:rPr>
              <a:t>shallowMount</a:t>
            </a:r>
            <a:r>
              <a:rPr sz="2000" b="0" i="0">
                <a:solidFill>
                  <a:srgbClr val="1F2A36"/>
                </a:solidFill>
              </a:rPr>
              <a:t> with </a:t>
            </a:r>
            <a:r>
              <a:rPr sz="1900" b="0" i="0">
                <a:solidFill>
                  <a:srgbClr val="8A2B52"/>
                </a:solidFill>
                <a:latin typeface="Consolas"/>
              </a:rPr>
              <a:t>global: { plugins: [pinia, router] }</a:t>
            </a:r>
          </a:p>
          <a:p>
            <a:pPr marL="274320" indent="-256032">
              <a:spcAft>
                <a:spcPts val="900"/>
              </a:spcAft>
              <a:buClr>
                <a:srgbClr val="42B883"/>
              </a:buClr>
              <a:buSzPct val="100000"/>
              <a:buFont typeface="Arial"/>
              <a:buChar char="•"/>
            </a:pPr>
            <a:r>
              <a:rPr sz="1900" b="0" i="0">
                <a:solidFill>
                  <a:srgbClr val="8A2B52"/>
                </a:solidFill>
                <a:latin typeface="Consolas"/>
              </a:rPr>
              <a:t>vi.mock('@/common/api.service')</a:t>
            </a:r>
            <a:r>
              <a:rPr sz="2000" b="0" i="0">
                <a:solidFill>
                  <a:srgbClr val="1F2A36"/>
                </a:solidFill>
              </a:rPr>
              <a:t> so </a:t>
            </a:r>
            <a:r>
              <a:rPr sz="1900" b="0" i="0">
                <a:solidFill>
                  <a:srgbClr val="8A2B52"/>
                </a:solidFill>
                <a:latin typeface="Consolas"/>
              </a:rPr>
              <a:t>/tags</a:t>
            </a:r>
            <a:r>
              <a:rPr sz="2000" b="0" i="0">
                <a:solidFill>
                  <a:srgbClr val="1F2A36"/>
                </a:solidFill>
              </a:rPr>
              <a:t> isn't really fetched</a:t>
            </a:r>
          </a:p>
          <a:p>
            <a:pPr marL="274320" indent="-256032">
              <a:spcAft>
                <a:spcPts val="900"/>
              </a:spcAft>
              <a:buClr>
                <a:srgbClr val="42B883"/>
              </a:buClr>
              <a:buSzPct val="100000"/>
              <a:buFont typeface="Arial"/>
              <a:buChar char="•"/>
            </a:pPr>
            <a:r>
              <a:rPr sz="2000" b="0" i="0">
                <a:solidFill>
                  <a:srgbClr val="1F2A36"/>
                </a:solidFill>
              </a:rPr>
              <a:t>Challenge: test the auth store directly</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249</a:t>
            </a:fld>
            <a:endParaRPr lang="en-US" sz="900">
              <a:solidFill>
                <a:srgbClr val="9AA7B4"/>
              </a:solidFill>
            </a:endParaRPr>
          </a:p>
        </p:txBody>
      </p:sp>
    </p:spTree>
    <p:extLst>
      <p:ext uri="{BB962C8B-B14F-4D97-AF65-F5344CB8AC3E}">
        <p14:creationId xmlns:p14="http://schemas.microsoft.com/office/powerpoint/2010/main" val="302094713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6259-BE6A-8244-A4D2-7931FE4193E9}"/>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Testing in a Real Browser</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250</a:t>
            </a:fld>
            <a:endParaRPr lang="en-US" sz="900">
              <a:solidFill>
                <a:srgbClr val="9FB3C4"/>
              </a:solidFill>
            </a:endParaRPr>
          </a:p>
        </p:txBody>
      </p:sp>
    </p:spTree>
    <p:extLst>
      <p:ext uri="{BB962C8B-B14F-4D97-AF65-F5344CB8AC3E}">
        <p14:creationId xmlns:p14="http://schemas.microsoft.com/office/powerpoint/2010/main" val="64621530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Browser and End-to-End Testing</a:t>
            </a:r>
          </a:p>
        </p:txBody>
      </p:sp>
      <p:sp>
        <p:nvSpPr>
          <p:cNvPr id="3" name="Body"/>
          <p:cNvSpPr txBox="1"/>
          <p:nvPr/>
        </p:nvSpPr>
        <p:spPr>
          <a:xfrm>
            <a:off x="457200" y="1261872"/>
            <a:ext cx="8229600" cy="290220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jsdom is a fast approximation of a browser, not a browser</a:t>
            </a:r>
          </a:p>
          <a:p>
            <a:pPr marL="274320" indent="-256032">
              <a:spcAft>
                <a:spcPts val="990"/>
              </a:spcAft>
              <a:buClr>
                <a:srgbClr val="42B883"/>
              </a:buClr>
              <a:buSzPct val="100000"/>
              <a:buFont typeface="Arial"/>
              <a:buChar char="•"/>
            </a:pPr>
            <a:r>
              <a:rPr sz="2200" b="1" i="0">
                <a:solidFill>
                  <a:srgbClr val="1F2A36"/>
                </a:solidFill>
              </a:rPr>
              <a:t>Vitest browser mode</a:t>
            </a:r>
            <a:r>
              <a:rPr sz="2200" b="0" i="0">
                <a:solidFill>
                  <a:srgbClr val="1F2A36"/>
                </a:solidFill>
              </a:rPr>
              <a:t> runs the same tests in a real browser, driven by Playwright or WebdriverIO</a:t>
            </a:r>
          </a:p>
          <a:p>
            <a:pPr marL="274320" indent="-256032">
              <a:spcAft>
                <a:spcPts val="990"/>
              </a:spcAft>
              <a:buClr>
                <a:srgbClr val="42B883"/>
              </a:buClr>
              <a:buSzPct val="100000"/>
              <a:buFont typeface="Arial"/>
              <a:buChar char="•"/>
            </a:pPr>
            <a:r>
              <a:rPr sz="2200" b="1" i="0">
                <a:solidFill>
                  <a:srgbClr val="1F2A36"/>
                </a:solidFill>
              </a:rPr>
              <a:t>Playwright</a:t>
            </a:r>
            <a:r>
              <a:rPr sz="2200" b="0" i="0">
                <a:solidFill>
                  <a:srgbClr val="1F2A36"/>
                </a:solidFill>
              </a:rPr>
              <a:t> and </a:t>
            </a:r>
            <a:r>
              <a:rPr sz="2200" b="1" i="0">
                <a:solidFill>
                  <a:srgbClr val="1F2A36"/>
                </a:solidFill>
              </a:rPr>
              <a:t>Cypress</a:t>
            </a:r>
            <a:r>
              <a:rPr sz="2200" b="0" i="0">
                <a:solidFill>
                  <a:srgbClr val="1F2A36"/>
                </a:solidFill>
              </a:rPr>
              <a:t> drive the whole application end to end</a:t>
            </a:r>
          </a:p>
          <a:p>
            <a:pPr marL="274320" indent="-256032">
              <a:spcAft>
                <a:spcPts val="990"/>
              </a:spcAft>
              <a:buClr>
                <a:srgbClr val="42B883"/>
              </a:buClr>
              <a:buSzPct val="100000"/>
              <a:buFont typeface="Arial"/>
              <a:buChar char="•"/>
            </a:pPr>
            <a:r>
              <a:rPr sz="2200" b="0" i="0">
                <a:solidFill>
                  <a:srgbClr val="1F2A36"/>
                </a:solidFill>
              </a:rPr>
              <a:t>create-vue can set up end-to-end testing for you</a:t>
            </a:r>
          </a:p>
        </p:txBody>
      </p:sp>
      <p:sp>
        <p:nvSpPr>
          <p:cNvPr id="4" name="Tip"/>
          <p:cNvSpPr/>
          <p:nvPr/>
        </p:nvSpPr>
        <p:spPr>
          <a:xfrm>
            <a:off x="457200" y="4218940"/>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Karma, which earlier versions of this course covered, was deprecated in 2023.</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251</a:t>
            </a:fld>
            <a:endParaRPr lang="en-US" sz="900">
              <a:solidFill>
                <a:srgbClr val="9AA7B4"/>
              </a:solidFill>
            </a:endParaRPr>
          </a:p>
        </p:txBody>
      </p:sp>
    </p:spTree>
    <p:extLst>
      <p:ext uri="{BB962C8B-B14F-4D97-AF65-F5344CB8AC3E}">
        <p14:creationId xmlns:p14="http://schemas.microsoft.com/office/powerpoint/2010/main" val="307065214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B5C1-668D-A947-9416-5F0D01F82802}"/>
              </a:ext>
            </a:extLst>
          </p:cNvPr>
          <p:cNvSpPr>
            <a:spLocks noGrp="1"/>
          </p:cNvSpPr>
          <p:nvPr>
            <p:ph type="title"/>
          </p:nvPr>
        </p:nvSpPr>
        <p:spPr>
          <a:xfrm>
            <a:off x="731520" y="2468880"/>
            <a:ext cx="7680960" cy="1097280"/>
          </a:xfrm>
        </p:spPr>
        <p:txBody>
          <a:bodyPr wrap="square" lIns="0" tIns="0" rIns="0" bIns="0" anchor="t">
            <a:noAutofit/>
          </a:bodyPr>
          <a:lstStyle/>
          <a:p>
            <a:pPr marL="0" indent="0" algn="l">
              <a:buNone/>
            </a:pPr>
            <a:r>
              <a:rPr sz="3400" b="1" i="0" cap="none">
                <a:solidFill>
                  <a:srgbClr val="FFFFFF"/>
                </a:solidFill>
              </a:rPr>
              <a:t>Transitions and Animations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DAY 3</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&lt;Transition&gt;, &lt;TransitionGroup&gt;, CSS classes and JavaScript hooks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252</a:t>
            </a:fld>
            <a:endParaRPr lang="en-US" sz="900">
              <a:solidFill>
                <a:srgbClr val="9FB3C4"/>
              </a:solidFill>
            </a:endParaRPr>
          </a:p>
        </p:txBody>
      </p:sp>
    </p:spTree>
    <p:extLst>
      <p:ext uri="{BB962C8B-B14F-4D97-AF65-F5344CB8AC3E}">
        <p14:creationId xmlns:p14="http://schemas.microsoft.com/office/powerpoint/2010/main" val="177159632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F4A82F-FC8E-F547-867E-CF7FA06C7BEB}"/>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latin typeface="Consolas"/>
              </a:rPr>
              <a:t>&lt;Transition&gt;</a:t>
            </a:r>
          </a:p>
        </p:txBody>
      </p:sp>
      <p:sp>
        <p:nvSpPr>
          <p:cNvPr id="6" name="Body"/>
          <p:cNvSpPr txBox="1"/>
          <p:nvPr/>
        </p:nvSpPr>
        <p:spPr>
          <a:xfrm>
            <a:off x="457200" y="1261872"/>
            <a:ext cx="8229600" cy="4145788"/>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built-in wrapper component</a:t>
            </a:r>
          </a:p>
          <a:p>
            <a:pPr marL="274320" indent="-256032">
              <a:spcAft>
                <a:spcPts val="990"/>
              </a:spcAft>
              <a:buClr>
                <a:srgbClr val="42B883"/>
              </a:buClr>
              <a:buSzPct val="100000"/>
              <a:buFont typeface="Arial"/>
              <a:buChar char="•"/>
            </a:pPr>
            <a:r>
              <a:rPr sz="2200" b="0" i="0">
                <a:solidFill>
                  <a:srgbClr val="1F2A36"/>
                </a:solidFill>
              </a:rPr>
              <a:t>Creates enter and leave transitions for the element or component inside it</a:t>
            </a:r>
          </a:p>
          <a:p>
            <a:pPr marL="274320" indent="-256032">
              <a:spcAft>
                <a:spcPts val="990"/>
              </a:spcAft>
              <a:buClr>
                <a:srgbClr val="42B883"/>
              </a:buClr>
              <a:buSzPct val="100000"/>
              <a:buFont typeface="Arial"/>
              <a:buChar char="•"/>
            </a:pPr>
            <a:r>
              <a:rPr sz="2200" b="0" i="0">
                <a:solidFill>
                  <a:srgbClr val="1F2A36"/>
                </a:solidFill>
              </a:rPr>
              <a:t>Triggered by:</a:t>
            </a:r>
          </a:p>
          <a:p>
            <a:pPr marL="566928" indent="-256032">
              <a:spcAft>
                <a:spcPts val="855"/>
              </a:spcAft>
              <a:buClr>
                <a:srgbClr val="6B7B8C"/>
              </a:buClr>
              <a:buSzPct val="100000"/>
              <a:buFont typeface="Arial"/>
              <a:buChar char="–"/>
            </a:pPr>
            <a:r>
              <a:rPr sz="1900" b="0" i="0">
                <a:solidFill>
                  <a:srgbClr val="3A4A5A"/>
                </a:solidFill>
              </a:rPr>
              <a:t>conditional rendering (</a:t>
            </a:r>
            <a:r>
              <a:rPr sz="1805" b="0" i="0">
                <a:solidFill>
                  <a:srgbClr val="8A2B52"/>
                </a:solidFill>
                <a:latin typeface="Consolas"/>
              </a:rPr>
              <a:t>v-if</a:t>
            </a:r>
            <a:r>
              <a:rPr sz="1900" b="0" i="0">
                <a:solidFill>
                  <a:srgbClr val="3A4A5A"/>
                </a:solidFill>
              </a:rPr>
              <a:t>)</a:t>
            </a:r>
          </a:p>
          <a:p>
            <a:pPr marL="566928" indent="-256032">
              <a:spcAft>
                <a:spcPts val="855"/>
              </a:spcAft>
              <a:buClr>
                <a:srgbClr val="6B7B8C"/>
              </a:buClr>
              <a:buSzPct val="100000"/>
              <a:buFont typeface="Arial"/>
              <a:buChar char="–"/>
            </a:pPr>
            <a:r>
              <a:rPr sz="1900" b="0" i="0">
                <a:solidFill>
                  <a:srgbClr val="3A4A5A"/>
                </a:solidFill>
              </a:rPr>
              <a:t>conditional display (</a:t>
            </a:r>
            <a:r>
              <a:rPr sz="1805" b="0" i="0">
                <a:solidFill>
                  <a:srgbClr val="8A2B52"/>
                </a:solidFill>
                <a:latin typeface="Consolas"/>
              </a:rPr>
              <a:t>v-show</a:t>
            </a:r>
            <a:r>
              <a:rPr sz="1900" b="0" i="0">
                <a:solidFill>
                  <a:srgbClr val="3A4A5A"/>
                </a:solidFill>
              </a:rPr>
              <a:t>)</a:t>
            </a:r>
          </a:p>
          <a:p>
            <a:pPr marL="566928" indent="-256032">
              <a:spcAft>
                <a:spcPts val="855"/>
              </a:spcAft>
              <a:buClr>
                <a:srgbClr val="6B7B8C"/>
              </a:buClr>
              <a:buSzPct val="100000"/>
              <a:buFont typeface="Arial"/>
              <a:buChar char="–"/>
            </a:pPr>
            <a:r>
              <a:rPr sz="1900" b="0" i="0">
                <a:solidFill>
                  <a:srgbClr val="3A4A5A"/>
                </a:solidFill>
              </a:rPr>
              <a:t>dynamic components (</a:t>
            </a:r>
            <a:r>
              <a:rPr sz="1805" b="0" i="0">
                <a:solidFill>
                  <a:srgbClr val="8A2B52"/>
                </a:solidFill>
                <a:latin typeface="Consolas"/>
              </a:rPr>
              <a:t>&lt;component :is&gt;</a:t>
            </a:r>
            <a:r>
              <a:rPr sz="1900" b="0" i="0">
                <a:solidFill>
                  <a:srgbClr val="3A4A5A"/>
                </a:solidFill>
              </a:rPr>
              <a:t>)</a:t>
            </a:r>
          </a:p>
          <a:p>
            <a:pPr marL="566928" indent="-256032">
              <a:spcAft>
                <a:spcPts val="855"/>
              </a:spcAft>
              <a:buClr>
                <a:srgbClr val="6B7B8C"/>
              </a:buClr>
              <a:buSzPct val="100000"/>
              <a:buFont typeface="Arial"/>
              <a:buChar char="–"/>
            </a:pPr>
            <a:r>
              <a:rPr sz="1900" b="0" i="0">
                <a:solidFill>
                  <a:srgbClr val="3A4A5A"/>
                </a:solidFill>
              </a:rPr>
              <a:t>changing the </a:t>
            </a:r>
            <a:r>
              <a:rPr sz="1805" b="0" i="0">
                <a:solidFill>
                  <a:srgbClr val="8A2B52"/>
                </a:solidFill>
                <a:latin typeface="Consolas"/>
              </a:rPr>
              <a:t>key</a:t>
            </a:r>
            <a:r>
              <a:rPr sz="1900" b="0" i="0">
                <a:solidFill>
                  <a:srgbClr val="3A4A5A"/>
                </a:solidFill>
              </a:rPr>
              <a:t> of the child</a:t>
            </a:r>
          </a:p>
          <a:p>
            <a:pPr marL="274320" indent="-256032">
              <a:spcAft>
                <a:spcPts val="990"/>
              </a:spcAft>
              <a:buClr>
                <a:srgbClr val="42B883"/>
              </a:buClr>
              <a:buSzPct val="100000"/>
              <a:buFont typeface="Arial"/>
              <a:buChar char="•"/>
            </a:pPr>
            <a:r>
              <a:rPr sz="2090" b="0" i="0">
                <a:solidFill>
                  <a:srgbClr val="8A2B52"/>
                </a:solidFill>
                <a:latin typeface="Consolas"/>
              </a:rPr>
              <a:t>&lt;TransitionGroup&gt;</a:t>
            </a:r>
            <a:r>
              <a:rPr sz="2200" b="0" i="0">
                <a:solidFill>
                  <a:srgbClr val="1F2A36"/>
                </a:solidFill>
              </a:rPr>
              <a:t> does the same for a list rendered with </a:t>
            </a:r>
            <a:r>
              <a:rPr sz="2090" b="0" i="0">
                <a:solidFill>
                  <a:srgbClr val="8A2B52"/>
                </a:solidFill>
                <a:latin typeface="Consolas"/>
              </a:rPr>
              <a:t>v-for</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253</a:t>
            </a:fld>
            <a:endParaRPr lang="en-US" sz="900">
              <a:solidFill>
                <a:srgbClr val="9AA7B4"/>
              </a:solidFill>
            </a:endParaRPr>
          </a:p>
        </p:txBody>
      </p:sp>
    </p:spTree>
    <p:extLst>
      <p:ext uri="{BB962C8B-B14F-4D97-AF65-F5344CB8AC3E}">
        <p14:creationId xmlns:p14="http://schemas.microsoft.com/office/powerpoint/2010/main" val="359033272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How &lt;Transition&gt; Works</a:t>
            </a:r>
          </a:p>
        </p:txBody>
      </p:sp>
      <p:sp>
        <p:nvSpPr>
          <p:cNvPr id="3" name="Body"/>
          <p:cNvSpPr txBox="1"/>
          <p:nvPr/>
        </p:nvSpPr>
        <p:spPr>
          <a:xfrm>
            <a:off x="457200" y="1261872"/>
            <a:ext cx="8229600" cy="2572512"/>
          </a:xfrm>
          <a:prstGeom prst="rect">
            <a:avLst/>
          </a:prstGeom>
          <a:noFill/>
        </p:spPr>
        <p:txBody>
          <a:bodyPr wrap="square" lIns="0" tIns="0" rIns="0" bIns="0">
            <a:noAutofit/>
          </a:bodyPr>
          <a:lstStyle/>
          <a:p>
            <a:pPr marL="0" indent="0">
              <a:spcAft>
                <a:spcPts val="990"/>
              </a:spcAft>
              <a:buNone/>
            </a:pPr>
            <a:r>
              <a:rPr sz="2200" b="0" i="0">
                <a:solidFill>
                  <a:srgbClr val="1F2A36"/>
                </a:solidFill>
              </a:rPr>
              <a:t>When the wrapped element is inserted or removed, Vue:</a:t>
            </a:r>
          </a:p>
          <a:p>
            <a:pPr marL="347472" indent="-329184">
              <a:spcAft>
                <a:spcPts val="990"/>
              </a:spcAft>
              <a:buClr>
                <a:srgbClr val="2E8B62"/>
              </a:buClr>
              <a:buFont typeface="+mj-lt"/>
              <a:buAutoNum type="arabicPeriod"/>
            </a:pPr>
            <a:r>
              <a:rPr sz="2200" b="0" i="0">
                <a:solidFill>
                  <a:srgbClr val="1F2A36"/>
                </a:solidFill>
              </a:rPr>
              <a:t>Checks whether it has CSS transitions or animations; if so, adds and removes the transition classes at the right times</a:t>
            </a:r>
          </a:p>
          <a:p>
            <a:pPr marL="347472" indent="-329184">
              <a:spcAft>
                <a:spcPts val="990"/>
              </a:spcAft>
              <a:buClr>
                <a:srgbClr val="2E8B62"/>
              </a:buClr>
              <a:buFont typeface="+mj-lt"/>
              <a:buAutoNum type="arabicPeriod" startAt="2"/>
            </a:pPr>
            <a:r>
              <a:rPr sz="2200" b="0" i="0">
                <a:solidFill>
                  <a:srgbClr val="1F2A36"/>
                </a:solidFill>
              </a:rPr>
              <a:t>Calls any JavaScript hooks you've provided</a:t>
            </a:r>
          </a:p>
          <a:p>
            <a:pPr marL="347472" indent="-329184">
              <a:spcAft>
                <a:spcPts val="990"/>
              </a:spcAft>
              <a:buClr>
                <a:srgbClr val="2E8B62"/>
              </a:buClr>
              <a:buFont typeface="+mj-lt"/>
              <a:buAutoNum type="arabicPeriod" startAt="3"/>
            </a:pPr>
            <a:r>
              <a:rPr sz="2200" b="0" i="0">
                <a:solidFill>
                  <a:srgbClr val="1F2A36"/>
                </a:solidFill>
              </a:rPr>
              <a:t>If neither, inserts or removes it on the next frame</a:t>
            </a:r>
          </a:p>
        </p:txBody>
      </p:sp>
      <p:sp>
        <p:nvSpPr>
          <p:cNvPr id="4" name="Code"/>
          <p:cNvSpPr/>
          <p:nvPr/>
        </p:nvSpPr>
        <p:spPr>
          <a:xfrm>
            <a:off x="457200" y="3889248"/>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&lt;button</a:t>
            </a:r>
            <a:r>
              <a:rPr sz="2000">
                <a:solidFill>
                  <a:srgbClr val="24292F"/>
                </a:solidFill>
                <a:latin typeface="Consolas"/>
              </a:rPr>
              <a:t> </a:t>
            </a:r>
            <a:r>
              <a:rPr sz="2000">
                <a:solidFill>
                  <a:srgbClr val="953800"/>
                </a:solidFill>
                <a:latin typeface="Consolas"/>
              </a:rPr>
              <a:t>@click</a:t>
            </a:r>
            <a:r>
              <a:rPr sz="2000">
                <a:solidFill>
                  <a:srgbClr val="24292F"/>
                </a:solidFill>
                <a:latin typeface="Consolas"/>
              </a:rPr>
              <a:t>=</a:t>
            </a:r>
            <a:r>
              <a:rPr sz="2000">
                <a:solidFill>
                  <a:srgbClr val="0A3069"/>
                </a:solidFill>
                <a:latin typeface="Consolas"/>
              </a:rPr>
              <a:t>"show = !show"</a:t>
            </a:r>
            <a:r>
              <a:rPr sz="2000">
                <a:solidFill>
                  <a:srgbClr val="116329"/>
                </a:solidFill>
                <a:latin typeface="Consolas"/>
              </a:rPr>
              <a:t>&gt;</a:t>
            </a:r>
            <a:r>
              <a:rPr sz="2000">
                <a:solidFill>
                  <a:srgbClr val="24292F"/>
                </a:solidFill>
                <a:latin typeface="Consolas"/>
              </a:rPr>
              <a:t>Toggle</a:t>
            </a:r>
            <a:r>
              <a:rPr sz="2000">
                <a:solidFill>
                  <a:srgbClr val="116329"/>
                </a:solidFill>
                <a:latin typeface="Consolas"/>
              </a:rPr>
              <a:t>&lt;/button&gt;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&lt;Transition</a:t>
            </a:r>
            <a:r>
              <a:rPr sz="2000">
                <a:solidFill>
                  <a:srgbClr val="24292F"/>
                </a:solidFill>
                <a:latin typeface="Consolas"/>
              </a:rPr>
              <a:t> </a:t>
            </a:r>
            <a:r>
              <a:rPr sz="2000">
                <a:solidFill>
                  <a:srgbClr val="953800"/>
                </a:solidFill>
                <a:latin typeface="Consolas"/>
              </a:rPr>
              <a:t>name</a:t>
            </a:r>
            <a:r>
              <a:rPr sz="2000">
                <a:solidFill>
                  <a:srgbClr val="24292F"/>
                </a:solidFill>
                <a:latin typeface="Consolas"/>
              </a:rPr>
              <a:t>=</a:t>
            </a:r>
            <a:r>
              <a:rPr sz="2000">
                <a:solidFill>
                  <a:srgbClr val="0A3069"/>
                </a:solidFill>
                <a:latin typeface="Consolas"/>
              </a:rPr>
              <a:t>"fade"</a:t>
            </a: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&lt;p</a:t>
            </a:r>
            <a:r>
              <a:rPr sz="2000">
                <a:solidFill>
                  <a:srgbClr val="24292F"/>
                </a:solidFill>
                <a:latin typeface="Consolas"/>
              </a:rPr>
              <a:t> </a:t>
            </a:r>
            <a:r>
              <a:rPr sz="2000">
                <a:solidFill>
                  <a:srgbClr val="953800"/>
                </a:solidFill>
                <a:latin typeface="Consolas"/>
              </a:rPr>
              <a:t>v-if</a:t>
            </a:r>
            <a:r>
              <a:rPr sz="2000">
                <a:solidFill>
                  <a:srgbClr val="24292F"/>
                </a:solidFill>
                <a:latin typeface="Consolas"/>
              </a:rPr>
              <a:t>=</a:t>
            </a:r>
            <a:r>
              <a:rPr sz="2000">
                <a:solidFill>
                  <a:srgbClr val="0A3069"/>
                </a:solidFill>
                <a:latin typeface="Consolas"/>
              </a:rPr>
              <a:t>"show"</a:t>
            </a:r>
            <a:r>
              <a:rPr sz="2000">
                <a:solidFill>
                  <a:srgbClr val="116329"/>
                </a:solidFill>
                <a:latin typeface="Consolas"/>
              </a:rPr>
              <a:t>&gt;</a:t>
            </a:r>
            <a:r>
              <a:rPr sz="2000">
                <a:solidFill>
                  <a:srgbClr val="24292F"/>
                </a:solidFill>
                <a:latin typeface="Consolas"/>
              </a:rPr>
              <a:t>hello</a:t>
            </a:r>
            <a:r>
              <a:rPr sz="2000">
                <a:solidFill>
                  <a:srgbClr val="116329"/>
                </a:solidFill>
                <a:latin typeface="Consolas"/>
              </a:rPr>
              <a:t>&lt;/p&gt;</a:t>
            </a:r>
          </a:p>
          <a:p>
            <a:pPr marL="0" indent="0" algn="l">
              <a:lnSpc>
                <a:spcPct val="100000"/>
              </a:lnSpc>
              <a:buNone/>
            </a:pPr>
            <a:r>
              <a:rPr sz="2000">
                <a:solidFill>
                  <a:srgbClr val="116329"/>
                </a:solidFill>
                <a:latin typeface="Consolas"/>
              </a:rPr>
              <a:t>&lt;/Transition&gt;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254</a:t>
            </a:fld>
            <a:endParaRPr lang="en-US" sz="900">
              <a:solidFill>
                <a:srgbClr val="9AA7B4"/>
              </a:solidFill>
            </a:endParaRPr>
          </a:p>
        </p:txBody>
      </p:sp>
    </p:spTree>
    <p:extLst>
      <p:ext uri="{BB962C8B-B14F-4D97-AF65-F5344CB8AC3E}">
        <p14:creationId xmlns:p14="http://schemas.microsoft.com/office/powerpoint/2010/main" val="187552918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Transition Classes</a:t>
            </a:r>
          </a:p>
        </p:txBody>
      </p:sp>
      <p:sp>
        <p:nvSpPr>
          <p:cNvPr id="3" name="Body"/>
          <p:cNvSpPr txBox="1"/>
          <p:nvPr/>
        </p:nvSpPr>
        <p:spPr>
          <a:xfrm>
            <a:off x="457200" y="1261872"/>
            <a:ext cx="8229600" cy="3888739"/>
          </a:xfrm>
          <a:prstGeom prst="rect">
            <a:avLst/>
          </a:prstGeom>
          <a:noFill/>
        </p:spPr>
        <p:txBody>
          <a:bodyPr wrap="square" lIns="0" tIns="0" rIns="0" bIns="0">
            <a:noAutofit/>
          </a:bodyPr>
          <a:lstStyle/>
          <a:p>
            <a:pPr marL="0" indent="0">
              <a:spcAft>
                <a:spcPts val="900"/>
              </a:spcAft>
              <a:buNone/>
            </a:pPr>
            <a:r>
              <a:rPr sz="2000" b="0" i="0">
                <a:solidFill>
                  <a:srgbClr val="1F2A36"/>
                </a:solidFill>
              </a:rPr>
              <a:t>Vue applies these classes, prefixed with the transition's </a:t>
            </a:r>
            <a:r>
              <a:rPr sz="1900" b="0" i="0">
                <a:solidFill>
                  <a:srgbClr val="8A2B52"/>
                </a:solidFill>
                <a:latin typeface="Consolas"/>
              </a:rPr>
              <a:t>name</a:t>
            </a:r>
            <a:r>
              <a:rPr sz="2000" b="0" i="0">
                <a:solidFill>
                  <a:srgbClr val="1F2A36"/>
                </a:solidFill>
              </a:rPr>
              <a:t>, in order:</a:t>
            </a:r>
          </a:p>
          <a:p>
            <a:pPr marL="274320" indent="-256032">
              <a:spcAft>
                <a:spcPts val="900"/>
              </a:spcAft>
              <a:buClr>
                <a:srgbClr val="42B883"/>
              </a:buClr>
              <a:buSzPct val="100000"/>
              <a:buFont typeface="Arial"/>
              <a:buChar char="•"/>
            </a:pPr>
            <a:r>
              <a:rPr sz="1900" b="1" i="0">
                <a:solidFill>
                  <a:srgbClr val="8A2B52"/>
                </a:solidFill>
                <a:latin typeface="Consolas"/>
              </a:rPr>
              <a:t>v-enter-from</a:t>
            </a:r>
            <a:r>
              <a:rPr sz="2000" b="0" i="0">
                <a:solidFill>
                  <a:srgbClr val="1F2A36"/>
                </a:solidFill>
              </a:rPr>
              <a:t> — the starting state, applied before insertion</a:t>
            </a:r>
          </a:p>
          <a:p>
            <a:pPr marL="274320" indent="-256032">
              <a:spcAft>
                <a:spcPts val="900"/>
              </a:spcAft>
              <a:buClr>
                <a:srgbClr val="42B883"/>
              </a:buClr>
              <a:buSzPct val="100000"/>
              <a:buFont typeface="Arial"/>
              <a:buChar char="•"/>
            </a:pPr>
            <a:r>
              <a:rPr sz="1900" b="1" i="0">
                <a:solidFill>
                  <a:srgbClr val="8A2B52"/>
                </a:solidFill>
                <a:latin typeface="Consolas"/>
              </a:rPr>
              <a:t>v-enter-active</a:t>
            </a:r>
            <a:r>
              <a:rPr sz="2000" b="0" i="0">
                <a:solidFill>
                  <a:srgbClr val="1F2A36"/>
                </a:solidFill>
              </a:rPr>
              <a:t> — applied for the whole entering phase (put </a:t>
            </a:r>
            <a:r>
              <a:rPr sz="1900" b="0" i="0">
                <a:solidFill>
                  <a:srgbClr val="8A2B52"/>
                </a:solidFill>
                <a:latin typeface="Consolas"/>
              </a:rPr>
              <a:t>transition</a:t>
            </a:r>
            <a:r>
              <a:rPr sz="2000" b="0" i="0">
                <a:solidFill>
                  <a:srgbClr val="1F2A36"/>
                </a:solidFill>
              </a:rPr>
              <a:t> here)</a:t>
            </a:r>
          </a:p>
          <a:p>
            <a:pPr marL="274320" indent="-256032">
              <a:spcAft>
                <a:spcPts val="900"/>
              </a:spcAft>
              <a:buClr>
                <a:srgbClr val="42B883"/>
              </a:buClr>
              <a:buSzPct val="100000"/>
              <a:buFont typeface="Arial"/>
              <a:buChar char="•"/>
            </a:pPr>
            <a:r>
              <a:rPr sz="1900" b="1" i="0">
                <a:solidFill>
                  <a:srgbClr val="8A2B52"/>
                </a:solidFill>
                <a:latin typeface="Consolas"/>
              </a:rPr>
              <a:t>v-enter-to</a:t>
            </a:r>
            <a:r>
              <a:rPr sz="2000" b="0" i="0">
                <a:solidFill>
                  <a:srgbClr val="1F2A36"/>
                </a:solidFill>
              </a:rPr>
              <a:t> — the end state of the enter transition</a:t>
            </a:r>
          </a:p>
          <a:p>
            <a:pPr marL="274320" indent="-256032">
              <a:spcAft>
                <a:spcPts val="900"/>
              </a:spcAft>
              <a:buClr>
                <a:srgbClr val="42B883"/>
              </a:buClr>
              <a:buSzPct val="100000"/>
              <a:buFont typeface="Arial"/>
              <a:buChar char="•"/>
            </a:pPr>
            <a:r>
              <a:rPr sz="1900" b="1" i="0">
                <a:solidFill>
                  <a:srgbClr val="8A2B52"/>
                </a:solidFill>
                <a:latin typeface="Consolas"/>
              </a:rPr>
              <a:t>v-leave-from</a:t>
            </a:r>
            <a:r>
              <a:rPr sz="2000" b="0" i="0">
                <a:solidFill>
                  <a:srgbClr val="1F2A36"/>
                </a:solidFill>
              </a:rPr>
              <a:t> — the starting state of the leave transition</a:t>
            </a:r>
          </a:p>
          <a:p>
            <a:pPr marL="274320" indent="-256032">
              <a:spcAft>
                <a:spcPts val="900"/>
              </a:spcAft>
              <a:buClr>
                <a:srgbClr val="42B883"/>
              </a:buClr>
              <a:buSzPct val="100000"/>
              <a:buFont typeface="Arial"/>
              <a:buChar char="•"/>
            </a:pPr>
            <a:r>
              <a:rPr sz="1900" b="1" i="0">
                <a:solidFill>
                  <a:srgbClr val="8A2B52"/>
                </a:solidFill>
                <a:latin typeface="Consolas"/>
              </a:rPr>
              <a:t>v-leave-active</a:t>
            </a:r>
            <a:r>
              <a:rPr sz="2000" b="0" i="0">
                <a:solidFill>
                  <a:srgbClr val="1F2A36"/>
                </a:solidFill>
              </a:rPr>
              <a:t> — applied for the whole leaving phase</a:t>
            </a:r>
          </a:p>
          <a:p>
            <a:pPr marL="274320" indent="-256032">
              <a:spcAft>
                <a:spcPts val="900"/>
              </a:spcAft>
              <a:buClr>
                <a:srgbClr val="42B883"/>
              </a:buClr>
              <a:buSzPct val="100000"/>
              <a:buFont typeface="Arial"/>
              <a:buChar char="•"/>
            </a:pPr>
            <a:r>
              <a:rPr sz="1900" b="1" i="0">
                <a:solidFill>
                  <a:srgbClr val="8A2B52"/>
                </a:solidFill>
                <a:latin typeface="Consolas"/>
              </a:rPr>
              <a:t>v-leave-to</a:t>
            </a:r>
            <a:r>
              <a:rPr sz="2000" b="0" i="0">
                <a:solidFill>
                  <a:srgbClr val="1F2A36"/>
                </a:solidFill>
              </a:rPr>
              <a:t> — the end state, applied until the animation finishes</a:t>
            </a:r>
          </a:p>
        </p:txBody>
      </p:sp>
      <p:sp>
        <p:nvSpPr>
          <p:cNvPr id="4" name="Tip"/>
          <p:cNvSpPr/>
          <p:nvPr/>
        </p:nvSpPr>
        <p:spPr>
          <a:xfrm>
            <a:off x="457200" y="5205475"/>
            <a:ext cx="8229600" cy="82295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1800" b="0" i="0">
                <a:solidFill>
                  <a:srgbClr val="1F2A36"/>
                </a:solidFill>
              </a:rPr>
              <a:t>Vue 2 called the first and fourth </a:t>
            </a:r>
            <a:r>
              <a:rPr sz="1709" b="0" i="0">
                <a:solidFill>
                  <a:srgbClr val="8A2B52"/>
                </a:solidFill>
                <a:latin typeface="Consolas"/>
              </a:rPr>
              <a:t>v-enter</a:t>
            </a:r>
            <a:r>
              <a:rPr sz="1800" b="0" i="0">
                <a:solidFill>
                  <a:srgbClr val="1F2A36"/>
                </a:solidFill>
              </a:rPr>
              <a:t> and </a:t>
            </a:r>
            <a:r>
              <a:rPr sz="1709" b="0" i="0">
                <a:solidFill>
                  <a:srgbClr val="8A2B52"/>
                </a:solidFill>
                <a:latin typeface="Consolas"/>
              </a:rPr>
              <a:t>v-leave</a:t>
            </a:r>
            <a:r>
              <a:rPr sz="1800" b="0" i="0">
                <a:solidFill>
                  <a:srgbClr val="1F2A36"/>
                </a:solidFill>
              </a:rPr>
              <a:t>. That rename is the most common reason an old example stops animating.</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255</a:t>
            </a:fld>
            <a:endParaRPr lang="en-US" sz="900">
              <a:solidFill>
                <a:srgbClr val="9AA7B4"/>
              </a:solidFill>
            </a:endParaRPr>
          </a:p>
        </p:txBody>
      </p:sp>
    </p:spTree>
    <p:extLst>
      <p:ext uri="{BB962C8B-B14F-4D97-AF65-F5344CB8AC3E}">
        <p14:creationId xmlns:p14="http://schemas.microsoft.com/office/powerpoint/2010/main" val="54506626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Defining the CSS</a:t>
            </a:r>
          </a:p>
        </p:txBody>
      </p:sp>
      <p:sp>
        <p:nvSpPr>
          <p:cNvPr id="3" name="Code"/>
          <p:cNvSpPr/>
          <p:nvPr/>
        </p:nvSpPr>
        <p:spPr>
          <a:xfrm>
            <a:off x="457200" y="1261872"/>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.fade-enter-active,</a:t>
            </a:r>
          </a:p>
          <a:p>
            <a:pPr marL="0" indent="0" algn="l">
              <a:lnSpc>
                <a:spcPct val="100000"/>
              </a:lnSpc>
              <a:buNone/>
            </a:pPr>
            <a:r>
              <a:rPr sz="2000">
                <a:solidFill>
                  <a:srgbClr val="116329"/>
                </a:solidFill>
                <a:latin typeface="Consolas"/>
              </a:rPr>
              <a:t>.fade-leave-active {</a:t>
            </a:r>
          </a:p>
          <a:p>
            <a:pPr marL="0" indent="0" algn="l">
              <a:lnSpc>
                <a:spcPct val="100000"/>
              </a:lnSpc>
              <a:buNone/>
            </a:pPr>
            <a:r>
              <a:rPr sz="2000">
                <a:solidFill>
                  <a:srgbClr val="24292F"/>
                </a:solidFill>
                <a:latin typeface="Consolas"/>
              </a:rPr>
              <a:t>  </a:t>
            </a:r>
            <a:r>
              <a:rPr sz="2000">
                <a:solidFill>
                  <a:srgbClr val="953800"/>
                </a:solidFill>
                <a:latin typeface="Consolas"/>
              </a:rPr>
              <a:t>transition</a:t>
            </a:r>
            <a:r>
              <a:rPr sz="2000">
                <a:solidFill>
                  <a:srgbClr val="24292F"/>
                </a:solidFill>
                <a:latin typeface="Consolas"/>
              </a:rPr>
              <a:t>: </a:t>
            </a:r>
            <a:r>
              <a:rPr sz="2000">
                <a:solidFill>
                  <a:srgbClr val="0A3069"/>
                </a:solidFill>
                <a:latin typeface="Consolas"/>
              </a:rPr>
              <a:t>all 0.3s ease;</a:t>
            </a:r>
          </a:p>
          <a:p>
            <a:pPr marL="0" indent="0" algn="l">
              <a:lnSpc>
                <a:spcPct val="100000"/>
              </a:lnSpc>
              <a:buNone/>
            </a:pPr>
            <a:r>
              <a:rPr sz="2000">
                <a:solidFill>
                  <a:srgbClr val="116329"/>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116329"/>
                </a:solidFill>
                <a:latin typeface="Consolas"/>
              </a:rPr>
              <a:t>.fade-enter-from,</a:t>
            </a:r>
          </a:p>
          <a:p>
            <a:pPr marL="0" indent="0" algn="l">
              <a:lnSpc>
                <a:spcPct val="100000"/>
              </a:lnSpc>
              <a:buNone/>
            </a:pPr>
            <a:r>
              <a:rPr sz="2000">
                <a:solidFill>
                  <a:srgbClr val="116329"/>
                </a:solidFill>
                <a:latin typeface="Consolas"/>
              </a:rPr>
              <a:t>.fade-leave-to {</a:t>
            </a:r>
          </a:p>
          <a:p>
            <a:pPr marL="0" indent="0" algn="l">
              <a:lnSpc>
                <a:spcPct val="100000"/>
              </a:lnSpc>
              <a:buNone/>
            </a:pPr>
            <a:r>
              <a:rPr sz="2000">
                <a:solidFill>
                  <a:srgbClr val="24292F"/>
                </a:solidFill>
                <a:latin typeface="Consolas"/>
              </a:rPr>
              <a:t>  </a:t>
            </a:r>
            <a:r>
              <a:rPr sz="2000">
                <a:solidFill>
                  <a:srgbClr val="953800"/>
                </a:solidFill>
                <a:latin typeface="Consolas"/>
              </a:rPr>
              <a:t>transform</a:t>
            </a:r>
            <a:r>
              <a:rPr sz="2000">
                <a:solidFill>
                  <a:srgbClr val="24292F"/>
                </a:solidFill>
                <a:latin typeface="Consolas"/>
              </a:rPr>
              <a:t>: </a:t>
            </a:r>
            <a:r>
              <a:rPr sz="2000">
                <a:solidFill>
                  <a:srgbClr val="0A3069"/>
                </a:solidFill>
                <a:latin typeface="Consolas"/>
              </a:rPr>
              <a:t>translateX(10px);</a:t>
            </a:r>
          </a:p>
          <a:p>
            <a:pPr marL="0" indent="0" algn="l">
              <a:lnSpc>
                <a:spcPct val="100000"/>
              </a:lnSpc>
              <a:buNone/>
            </a:pPr>
            <a:r>
              <a:rPr sz="2000">
                <a:solidFill>
                  <a:srgbClr val="24292F"/>
                </a:solidFill>
                <a:latin typeface="Consolas"/>
              </a:rPr>
              <a:t>  </a:t>
            </a:r>
            <a:r>
              <a:rPr sz="2000">
                <a:solidFill>
                  <a:srgbClr val="953800"/>
                </a:solidFill>
                <a:latin typeface="Consolas"/>
              </a:rPr>
              <a:t>opacity</a:t>
            </a:r>
            <a:r>
              <a:rPr sz="2000">
                <a:solidFill>
                  <a:srgbClr val="24292F"/>
                </a:solidFill>
                <a:latin typeface="Consolas"/>
              </a:rPr>
              <a:t>: </a:t>
            </a:r>
            <a:r>
              <a:rPr sz="2000">
                <a:solidFill>
                  <a:srgbClr val="0A3069"/>
                </a:solidFill>
                <a:latin typeface="Consolas"/>
              </a:rPr>
              <a:t>0;</a:t>
            </a:r>
          </a:p>
          <a:p>
            <a:pPr marL="0" indent="0" algn="l">
              <a:lnSpc>
                <a:spcPct val="100000"/>
              </a:lnSpc>
              <a:buNone/>
            </a:pPr>
            <a:r>
              <a:rPr sz="2000">
                <a:solidFill>
                  <a:srgbClr val="116329"/>
                </a:solidFill>
                <a:latin typeface="Consolas"/>
              </a:rPr>
              <a: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256</a:t>
            </a:fld>
            <a:endParaRPr lang="en-US" sz="900">
              <a:solidFill>
                <a:srgbClr val="9AA7B4"/>
              </a:solidFill>
            </a:endParaRPr>
          </a:p>
        </p:txBody>
      </p:sp>
    </p:spTree>
    <p:extLst>
      <p:ext uri="{BB962C8B-B14F-4D97-AF65-F5344CB8AC3E}">
        <p14:creationId xmlns:p14="http://schemas.microsoft.com/office/powerpoint/2010/main" val="32754848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JavaScript Hooks</a:t>
            </a:r>
          </a:p>
        </p:txBody>
      </p:sp>
      <p:sp>
        <p:nvSpPr>
          <p:cNvPr id="3" name="Code"/>
          <p:cNvSpPr/>
          <p:nvPr/>
        </p:nvSpPr>
        <p:spPr>
          <a:xfrm>
            <a:off x="457200" y="1261872"/>
            <a:ext cx="8229600" cy="43870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116329"/>
                </a:solidFill>
                <a:latin typeface="Consolas"/>
              </a:rPr>
              <a:t>&lt;Transition</a:t>
            </a:r>
          </a:p>
          <a:p>
            <a:pPr marL="0" indent="0" algn="l">
              <a:lnSpc>
                <a:spcPct val="100000"/>
              </a:lnSpc>
              <a:buNone/>
            </a:pPr>
            <a:r>
              <a:rPr sz="2000">
                <a:solidFill>
                  <a:srgbClr val="24292F"/>
                </a:solidFill>
                <a:latin typeface="Consolas"/>
              </a:rPr>
              <a:t>  @before-enter=</a:t>
            </a:r>
            <a:r>
              <a:rPr sz="2000">
                <a:solidFill>
                  <a:srgbClr val="0A3069"/>
                </a:solidFill>
                <a:latin typeface="Consolas"/>
              </a:rPr>
              <a:t>"beforeEnter"</a:t>
            </a:r>
          </a:p>
          <a:p>
            <a:pPr marL="0" indent="0" algn="l">
              <a:lnSpc>
                <a:spcPct val="100000"/>
              </a:lnSpc>
              <a:buNone/>
            </a:pPr>
            <a:r>
              <a:rPr sz="2000">
                <a:solidFill>
                  <a:srgbClr val="24292F"/>
                </a:solidFill>
                <a:latin typeface="Consolas"/>
              </a:rPr>
              <a:t>  @enter=</a:t>
            </a:r>
            <a:r>
              <a:rPr sz="2000">
                <a:solidFill>
                  <a:srgbClr val="0A3069"/>
                </a:solidFill>
                <a:latin typeface="Consolas"/>
              </a:rPr>
              <a:t>"enter"</a:t>
            </a:r>
          </a:p>
          <a:p>
            <a:pPr marL="0" indent="0" algn="l">
              <a:lnSpc>
                <a:spcPct val="100000"/>
              </a:lnSpc>
              <a:buNone/>
            </a:pPr>
            <a:r>
              <a:rPr sz="2000">
                <a:solidFill>
                  <a:srgbClr val="24292F"/>
                </a:solidFill>
                <a:latin typeface="Consolas"/>
              </a:rPr>
              <a:t>  @after-enter=</a:t>
            </a:r>
            <a:r>
              <a:rPr sz="2000">
                <a:solidFill>
                  <a:srgbClr val="0A3069"/>
                </a:solidFill>
                <a:latin typeface="Consolas"/>
              </a:rPr>
              <a:t>"afterEnter"</a:t>
            </a:r>
          </a:p>
          <a:p>
            <a:pPr marL="0" indent="0" algn="l">
              <a:lnSpc>
                <a:spcPct val="100000"/>
              </a:lnSpc>
              <a:buNone/>
            </a:pPr>
            <a:r>
              <a:rPr sz="2000">
                <a:solidFill>
                  <a:srgbClr val="24292F"/>
                </a:solidFill>
                <a:latin typeface="Consolas"/>
              </a:rPr>
              <a:t>  @enter-cancelled=</a:t>
            </a:r>
            <a:r>
              <a:rPr sz="2000">
                <a:solidFill>
                  <a:srgbClr val="0A3069"/>
                </a:solidFill>
                <a:latin typeface="Consolas"/>
              </a:rPr>
              <a:t>"enterCancelled"</a:t>
            </a:r>
          </a:p>
          <a:p>
            <a:pPr marL="0" indent="0" algn="l">
              <a:lnSpc>
                <a:spcPct val="100000"/>
              </a:lnSpc>
              <a:buNone/>
            </a:pPr>
            <a:r>
              <a:rPr sz="2000">
                <a:solidFill>
                  <a:srgbClr val="24292F"/>
                </a:solidFill>
                <a:latin typeface="Consolas"/>
              </a:rPr>
              <a:t>  @before-leave=</a:t>
            </a:r>
            <a:r>
              <a:rPr sz="2000">
                <a:solidFill>
                  <a:srgbClr val="0A3069"/>
                </a:solidFill>
                <a:latin typeface="Consolas"/>
              </a:rPr>
              <a:t>"beforeLeave"</a:t>
            </a:r>
          </a:p>
          <a:p>
            <a:pPr marL="0" indent="0" algn="l">
              <a:lnSpc>
                <a:spcPct val="100000"/>
              </a:lnSpc>
              <a:buNone/>
            </a:pPr>
            <a:r>
              <a:rPr sz="2000">
                <a:solidFill>
                  <a:srgbClr val="24292F"/>
                </a:solidFill>
                <a:latin typeface="Consolas"/>
              </a:rPr>
              <a:t>  @leave=</a:t>
            </a:r>
            <a:r>
              <a:rPr sz="2000">
                <a:solidFill>
                  <a:srgbClr val="0A3069"/>
                </a:solidFill>
                <a:latin typeface="Consolas"/>
              </a:rPr>
              <a:t>"leave"</a:t>
            </a:r>
          </a:p>
          <a:p>
            <a:pPr marL="0" indent="0" algn="l">
              <a:lnSpc>
                <a:spcPct val="100000"/>
              </a:lnSpc>
              <a:buNone/>
            </a:pPr>
            <a:r>
              <a:rPr sz="2000">
                <a:solidFill>
                  <a:srgbClr val="24292F"/>
                </a:solidFill>
                <a:latin typeface="Consolas"/>
              </a:rPr>
              <a:t>  @after-leave=</a:t>
            </a:r>
            <a:r>
              <a:rPr sz="2000">
                <a:solidFill>
                  <a:srgbClr val="0A3069"/>
                </a:solidFill>
                <a:latin typeface="Consolas"/>
              </a:rPr>
              <a:t>"afterLeave"</a:t>
            </a:r>
          </a:p>
          <a:p>
            <a:pPr marL="0" indent="0" algn="l">
              <a:lnSpc>
                <a:spcPct val="100000"/>
              </a:lnSpc>
              <a:buNone/>
            </a:pPr>
            <a:r>
              <a:rPr sz="2000">
                <a:solidFill>
                  <a:srgbClr val="24292F"/>
                </a:solidFill>
                <a:latin typeface="Consolas"/>
              </a:rPr>
              <a:t>  @leave-cancelled=</a:t>
            </a:r>
            <a:r>
              <a:rPr sz="2000">
                <a:solidFill>
                  <a:srgbClr val="0A3069"/>
                </a:solidFill>
                <a:latin typeface="Consolas"/>
              </a:rPr>
              <a:t>"leaveCancelled"</a:t>
            </a:r>
          </a:p>
          <a:p>
            <a:pPr marL="0" indent="0" algn="l">
              <a:lnSpc>
                <a:spcPct val="100000"/>
              </a:lnSpc>
              <a:buNone/>
            </a:pPr>
            <a:r>
              <a:rPr sz="2000">
                <a:solidFill>
                  <a:srgbClr val="24292F"/>
                </a:solidFill>
                <a:latin typeface="Consolas"/>
              </a:rPr>
              <a:t>  :css=</a:t>
            </a:r>
            <a:r>
              <a:rPr sz="2000">
                <a:solidFill>
                  <a:srgbClr val="0A3069"/>
                </a:solidFill>
                <a:latin typeface="Consolas"/>
              </a:rPr>
              <a:t>"false"</a:t>
            </a:r>
          </a:p>
          <a:p>
            <a:pPr marL="0" indent="0" algn="l">
              <a:lnSpc>
                <a:spcPct val="100000"/>
              </a:lnSpc>
              <a:buNone/>
            </a:pPr>
            <a:r>
              <a:rPr sz="2000">
                <a:solidFill>
                  <a:srgbClr val="116329"/>
                </a:solidFill>
                <a:latin typeface="Consolas"/>
              </a:rPr>
              <a:t>&gt;</a:t>
            </a:r>
          </a:p>
          <a:p>
            <a:pPr marL="0" indent="0" algn="l">
              <a:lnSpc>
                <a:spcPct val="100000"/>
              </a:lnSpc>
              <a:buNone/>
            </a:pPr>
            <a:r>
              <a:rPr sz="2000">
                <a:solidFill>
                  <a:srgbClr val="24292F"/>
                </a:solidFill>
                <a:latin typeface="Consolas"/>
              </a:rPr>
              <a:t>  </a:t>
            </a:r>
            <a:r>
              <a:rPr sz="2000">
                <a:solidFill>
                  <a:srgbClr val="116329"/>
                </a:solidFill>
                <a:latin typeface="Consolas"/>
              </a:rPr>
              <a:t>&lt;p</a:t>
            </a:r>
            <a:r>
              <a:rPr sz="2000">
                <a:solidFill>
                  <a:srgbClr val="24292F"/>
                </a:solidFill>
                <a:latin typeface="Consolas"/>
              </a:rPr>
              <a:t> </a:t>
            </a:r>
            <a:r>
              <a:rPr sz="2000">
                <a:solidFill>
                  <a:srgbClr val="953800"/>
                </a:solidFill>
                <a:latin typeface="Consolas"/>
              </a:rPr>
              <a:t>v-if</a:t>
            </a:r>
            <a:r>
              <a:rPr sz="2000">
                <a:solidFill>
                  <a:srgbClr val="24292F"/>
                </a:solidFill>
                <a:latin typeface="Consolas"/>
              </a:rPr>
              <a:t>=</a:t>
            </a:r>
            <a:r>
              <a:rPr sz="2000">
                <a:solidFill>
                  <a:srgbClr val="0A3069"/>
                </a:solidFill>
                <a:latin typeface="Consolas"/>
              </a:rPr>
              <a:t>"show"</a:t>
            </a:r>
            <a:r>
              <a:rPr sz="2000">
                <a:solidFill>
                  <a:srgbClr val="116329"/>
                </a:solidFill>
                <a:latin typeface="Consolas"/>
              </a:rPr>
              <a:t>&gt;</a:t>
            </a:r>
            <a:r>
              <a:rPr sz="2000">
                <a:solidFill>
                  <a:srgbClr val="24292F"/>
                </a:solidFill>
                <a:latin typeface="Consolas"/>
              </a:rPr>
              <a:t>hello</a:t>
            </a:r>
            <a:r>
              <a:rPr sz="2000">
                <a:solidFill>
                  <a:srgbClr val="116329"/>
                </a:solidFill>
                <a:latin typeface="Consolas"/>
              </a:rPr>
              <a:t>&lt;/p&gt;</a:t>
            </a:r>
          </a:p>
          <a:p>
            <a:pPr marL="0" indent="0" algn="l">
              <a:lnSpc>
                <a:spcPct val="100000"/>
              </a:lnSpc>
              <a:buNone/>
            </a:pPr>
            <a:r>
              <a:rPr sz="2000">
                <a:solidFill>
                  <a:srgbClr val="116329"/>
                </a:solidFill>
                <a:latin typeface="Consolas"/>
              </a:rPr>
              <a:t>&lt;/Transition&gt;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257</a:t>
            </a:fld>
            <a:endParaRPr lang="en-US" sz="900">
              <a:solidFill>
                <a:srgbClr val="9AA7B4"/>
              </a:solidFill>
            </a:endParaRPr>
          </a:p>
        </p:txBody>
      </p:sp>
    </p:spTree>
    <p:extLst>
      <p:ext uri="{BB962C8B-B14F-4D97-AF65-F5344CB8AC3E}">
        <p14:creationId xmlns:p14="http://schemas.microsoft.com/office/powerpoint/2010/main" val="396932115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Using the JavaScript Hooks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Declare the handlers in </a:t>
            </a:r>
            <a:r>
              <a:rPr sz="2090" b="0" i="0">
                <a:solidFill>
                  <a:srgbClr val="8A2B52"/>
                </a:solidFill>
                <a:latin typeface="Consolas"/>
              </a:rPr>
              <a:t>&lt;script setup&gt;</a:t>
            </a:r>
            <a:r>
              <a:rPr sz="2200" b="0" i="0">
                <a:solidFill>
                  <a:srgbClr val="1F2A36"/>
                </a:solidFill>
              </a:rPr>
              <a:t>:</a:t>
            </a:r>
          </a:p>
        </p:txBody>
      </p:sp>
      <p:sp>
        <p:nvSpPr>
          <p:cNvPr id="4" name="Code"/>
          <p:cNvSpPr/>
          <p:nvPr/>
        </p:nvSpPr>
        <p:spPr>
          <a:xfrm>
            <a:off x="457200" y="1863597"/>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function</a:t>
            </a:r>
            <a:r>
              <a:rPr sz="1500">
                <a:solidFill>
                  <a:srgbClr val="24292F"/>
                </a:solidFill>
                <a:latin typeface="Consolas"/>
              </a:rPr>
              <a:t> beforeEnter(el) {</a:t>
            </a:r>
          </a:p>
          <a:p>
            <a:pPr marL="0" indent="0" algn="l">
              <a:lnSpc>
                <a:spcPct val="100000"/>
              </a:lnSpc>
              <a:buNone/>
            </a:pPr>
            <a:r>
              <a:rPr sz="1500">
                <a:solidFill>
                  <a:srgbClr val="24292F"/>
                </a:solidFill>
                <a:latin typeface="Consolas"/>
              </a:rPr>
              <a:t>  el.style.opacity = </a:t>
            </a:r>
            <a:r>
              <a:rPr sz="1500">
                <a:solidFill>
                  <a:srgbClr val="0550AE"/>
                </a:solidFill>
                <a:latin typeface="Consolas"/>
              </a:rPr>
              <a:t>0</a:t>
            </a:r>
          </a:p>
          <a:p>
            <a:pPr marL="0" indent="0" algn="l">
              <a:lnSpc>
                <a:spcPct val="100000"/>
              </a:lnSpc>
              <a:buNone/>
            </a:pPr>
            <a:r>
              <a:rPr sz="1500">
                <a:solidFill>
                  <a:srgbClr val="24292F"/>
                </a:solidFill>
                <a:latin typeface="Consolas"/>
              </a:rPr>
              <a:t>}</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function</a:t>
            </a:r>
            <a:r>
              <a:rPr sz="1500">
                <a:solidFill>
                  <a:srgbClr val="24292F"/>
                </a:solidFill>
                <a:latin typeface="Consolas"/>
              </a:rPr>
              <a:t> enter(el, done) {</a:t>
            </a:r>
          </a:p>
          <a:p>
            <a:pPr marL="0" indent="0" algn="l">
              <a:lnSpc>
                <a:spcPct val="100000"/>
              </a:lnSpc>
              <a:buNone/>
            </a:pPr>
            <a:r>
              <a:rPr sz="1500">
                <a:solidFill>
                  <a:srgbClr val="24292F"/>
                </a:solidFill>
                <a:latin typeface="Consolas"/>
              </a:rPr>
              <a:t>  el.animate([{ opacity: </a:t>
            </a:r>
            <a:r>
              <a:rPr sz="1500">
                <a:solidFill>
                  <a:srgbClr val="0550AE"/>
                </a:solidFill>
                <a:latin typeface="Consolas"/>
              </a:rPr>
              <a:t>0</a:t>
            </a:r>
            <a:r>
              <a:rPr sz="1500">
                <a:solidFill>
                  <a:srgbClr val="24292F"/>
                </a:solidFill>
                <a:latin typeface="Consolas"/>
              </a:rPr>
              <a:t> }, { opacity: </a:t>
            </a:r>
            <a:r>
              <a:rPr sz="1500">
                <a:solidFill>
                  <a:srgbClr val="0550AE"/>
                </a:solidFill>
                <a:latin typeface="Consolas"/>
              </a:rPr>
              <a:t>1</a:t>
            </a:r>
            <a:r>
              <a:rPr sz="1500">
                <a:solidFill>
                  <a:srgbClr val="24292F"/>
                </a:solidFill>
                <a:latin typeface="Consolas"/>
              </a:rPr>
              <a:t> }], { duration: </a:t>
            </a:r>
            <a:r>
              <a:rPr sz="1500">
                <a:solidFill>
                  <a:srgbClr val="0550AE"/>
                </a:solidFill>
                <a:latin typeface="Consolas"/>
              </a:rPr>
              <a:t>300</a:t>
            </a:r>
            <a:r>
              <a:rPr sz="1500">
                <a:solidFill>
                  <a:srgbClr val="24292F"/>
                </a:solidFill>
                <a:latin typeface="Consolas"/>
              </a:rPr>
              <a:t> })</a:t>
            </a:r>
          </a:p>
          <a:p>
            <a:pPr marL="0" indent="0" algn="l">
              <a:lnSpc>
                <a:spcPct val="100000"/>
              </a:lnSpc>
              <a:buNone/>
            </a:pPr>
            <a:r>
              <a:rPr sz="1500">
                <a:solidFill>
                  <a:srgbClr val="24292F"/>
                </a:solidFill>
                <a:latin typeface="Consolas"/>
              </a:rPr>
              <a:t>    .onfinish = done          </a:t>
            </a:r>
            <a:r>
              <a:rPr sz="1500" i="1">
                <a:solidFill>
                  <a:srgbClr val="6E7781"/>
                </a:solidFill>
                <a:latin typeface="Consolas"/>
              </a:rPr>
              <a:t>// tell Vue the animation is over</a:t>
            </a:r>
          </a:p>
          <a:p>
            <a:pPr marL="0" indent="0" algn="l">
              <a:lnSpc>
                <a:spcPct val="100000"/>
              </a:lnSpc>
              <a:buNone/>
            </a:pPr>
            <a:r>
              <a:rPr sz="1500">
                <a:solidFill>
                  <a:srgbClr val="24292F"/>
                </a:solidFill>
                <a:latin typeface="Consolas"/>
              </a:rPr>
              <a:t>}</a:t>
            </a:r>
          </a:p>
        </p:txBody>
      </p:sp>
      <p:sp>
        <p:nvSpPr>
          <p:cNvPr id="5" name="Body"/>
          <p:cNvSpPr txBox="1"/>
          <p:nvPr/>
        </p:nvSpPr>
        <p:spPr>
          <a:xfrm>
            <a:off x="457200" y="4192270"/>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With </a:t>
            </a:r>
            <a:r>
              <a:rPr sz="2090" b="0" i="0">
                <a:solidFill>
                  <a:srgbClr val="8A2B52"/>
                </a:solidFill>
                <a:latin typeface="Consolas"/>
              </a:rPr>
              <a:t>:css="false"</a:t>
            </a:r>
            <a:r>
              <a:rPr sz="2200" b="0" i="0">
                <a:solidFill>
                  <a:srgbClr val="1F2A36"/>
                </a:solidFill>
              </a:rPr>
              <a:t>, </a:t>
            </a:r>
            <a:r>
              <a:rPr sz="2090" b="0" i="0">
                <a:solidFill>
                  <a:srgbClr val="8A2B52"/>
                </a:solidFill>
                <a:latin typeface="Consolas"/>
              </a:rPr>
              <a:t>enter</a:t>
            </a:r>
            <a:r>
              <a:rPr sz="2200" b="0" i="0">
                <a:solidFill>
                  <a:srgbClr val="1F2A36"/>
                </a:solidFill>
              </a:rPr>
              <a:t> and </a:t>
            </a:r>
            <a:r>
              <a:rPr sz="2090" b="0" i="0">
                <a:solidFill>
                  <a:srgbClr val="8A2B52"/>
                </a:solidFill>
                <a:latin typeface="Consolas"/>
              </a:rPr>
              <a:t>leave</a:t>
            </a:r>
            <a:r>
              <a:rPr sz="2200" b="0" i="0">
                <a:solidFill>
                  <a:srgbClr val="1F2A36"/>
                </a:solidFill>
              </a:rPr>
              <a:t> </a:t>
            </a:r>
            <a:r>
              <a:rPr sz="2200" b="1" i="0">
                <a:solidFill>
                  <a:srgbClr val="1F2A36"/>
                </a:solidFill>
              </a:rPr>
              <a:t>must</a:t>
            </a:r>
            <a:r>
              <a:rPr sz="2200" b="0" i="0">
                <a:solidFill>
                  <a:srgbClr val="1F2A36"/>
                </a:solidFill>
              </a:rPr>
              <a:t> call </a:t>
            </a:r>
            <a:r>
              <a:rPr sz="2090" b="0" i="0">
                <a:solidFill>
                  <a:srgbClr val="8A2B52"/>
                </a:solidFill>
                <a:latin typeface="Consolas"/>
              </a:rPr>
              <a:t>done()</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258</a:t>
            </a:fld>
            <a:endParaRPr lang="en-US" sz="900">
              <a:solidFill>
                <a:srgbClr val="9AA7B4"/>
              </a:solidFill>
            </a:endParaRPr>
          </a:p>
        </p:txBody>
      </p:sp>
    </p:spTree>
    <p:extLst>
      <p:ext uri="{BB962C8B-B14F-4D97-AF65-F5344CB8AC3E}">
        <p14:creationId xmlns:p14="http://schemas.microsoft.com/office/powerpoint/2010/main" val="375663894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Custom Transition Classes</a:t>
            </a:r>
          </a:p>
        </p:txBody>
      </p:sp>
      <p:sp>
        <p:nvSpPr>
          <p:cNvPr id="3" name="Body"/>
          <p:cNvSpPr txBox="1"/>
          <p:nvPr/>
        </p:nvSpPr>
        <p:spPr>
          <a:xfrm>
            <a:off x="457200" y="1261872"/>
            <a:ext cx="8229600" cy="3609086"/>
          </a:xfrm>
          <a:prstGeom prst="rect">
            <a:avLst/>
          </a:prstGeom>
          <a:noFill/>
        </p:spPr>
        <p:txBody>
          <a:bodyPr wrap="square" lIns="0" tIns="0" rIns="0" bIns="0">
            <a:noAutofit/>
          </a:bodyPr>
          <a:lstStyle/>
          <a:p>
            <a:pPr marL="0" indent="0">
              <a:spcAft>
                <a:spcPts val="990"/>
              </a:spcAft>
              <a:buNone/>
            </a:pPr>
            <a:r>
              <a:rPr sz="2200" b="0" i="0">
                <a:solidFill>
                  <a:srgbClr val="1F2A36"/>
                </a:solidFill>
              </a:rPr>
              <a:t>Override the generated class names to plug in a CSS animation library:</a:t>
            </a:r>
          </a:p>
          <a:p>
            <a:pPr marL="274320" indent="-256032">
              <a:spcAft>
                <a:spcPts val="990"/>
              </a:spcAft>
              <a:buClr>
                <a:srgbClr val="42B883"/>
              </a:buClr>
              <a:buSzPct val="100000"/>
              <a:buFont typeface="Arial"/>
              <a:buChar char="•"/>
            </a:pPr>
            <a:r>
              <a:rPr sz="2090" b="0" i="0">
                <a:solidFill>
                  <a:srgbClr val="8A2B52"/>
                </a:solidFill>
                <a:latin typeface="Consolas"/>
              </a:rPr>
              <a:t>enter-from-class</a:t>
            </a:r>
          </a:p>
          <a:p>
            <a:pPr marL="274320" indent="-256032">
              <a:spcAft>
                <a:spcPts val="990"/>
              </a:spcAft>
              <a:buClr>
                <a:srgbClr val="42B883"/>
              </a:buClr>
              <a:buSzPct val="100000"/>
              <a:buFont typeface="Arial"/>
              <a:buChar char="•"/>
            </a:pPr>
            <a:r>
              <a:rPr sz="2090" b="0" i="0">
                <a:solidFill>
                  <a:srgbClr val="8A2B52"/>
                </a:solidFill>
                <a:latin typeface="Consolas"/>
              </a:rPr>
              <a:t>enter-active-class</a:t>
            </a:r>
          </a:p>
          <a:p>
            <a:pPr marL="274320" indent="-256032">
              <a:spcAft>
                <a:spcPts val="990"/>
              </a:spcAft>
              <a:buClr>
                <a:srgbClr val="42B883"/>
              </a:buClr>
              <a:buSzPct val="100000"/>
              <a:buFont typeface="Arial"/>
              <a:buChar char="•"/>
            </a:pPr>
            <a:r>
              <a:rPr sz="2090" b="0" i="0">
                <a:solidFill>
                  <a:srgbClr val="8A2B52"/>
                </a:solidFill>
                <a:latin typeface="Consolas"/>
              </a:rPr>
              <a:t>enter-to-class</a:t>
            </a:r>
          </a:p>
          <a:p>
            <a:pPr marL="274320" indent="-256032">
              <a:spcAft>
                <a:spcPts val="990"/>
              </a:spcAft>
              <a:buClr>
                <a:srgbClr val="42B883"/>
              </a:buClr>
              <a:buSzPct val="100000"/>
              <a:buFont typeface="Arial"/>
              <a:buChar char="•"/>
            </a:pPr>
            <a:r>
              <a:rPr sz="2090" b="0" i="0">
                <a:solidFill>
                  <a:srgbClr val="8A2B52"/>
                </a:solidFill>
                <a:latin typeface="Consolas"/>
              </a:rPr>
              <a:t>leave-from-class</a:t>
            </a:r>
          </a:p>
          <a:p>
            <a:pPr marL="274320" indent="-256032">
              <a:spcAft>
                <a:spcPts val="990"/>
              </a:spcAft>
              <a:buClr>
                <a:srgbClr val="42B883"/>
              </a:buClr>
              <a:buSzPct val="100000"/>
              <a:buFont typeface="Arial"/>
              <a:buChar char="•"/>
            </a:pPr>
            <a:r>
              <a:rPr sz="2090" b="0" i="0">
                <a:solidFill>
                  <a:srgbClr val="8A2B52"/>
                </a:solidFill>
                <a:latin typeface="Consolas"/>
              </a:rPr>
              <a:t>leave-active-class</a:t>
            </a:r>
          </a:p>
          <a:p>
            <a:pPr marL="274320" indent="-256032">
              <a:spcAft>
                <a:spcPts val="990"/>
              </a:spcAft>
              <a:buClr>
                <a:srgbClr val="42B883"/>
              </a:buClr>
              <a:buSzPct val="100000"/>
              <a:buFont typeface="Arial"/>
              <a:buChar char="•"/>
            </a:pPr>
            <a:r>
              <a:rPr sz="2090" b="0" i="0">
                <a:solidFill>
                  <a:srgbClr val="8A2B52"/>
                </a:solidFill>
                <a:latin typeface="Consolas"/>
              </a:rPr>
              <a:t>leave-to-class</a:t>
            </a:r>
          </a:p>
        </p:txBody>
      </p:sp>
      <p:sp>
        <p:nvSpPr>
          <p:cNvPr id="4" name="Tip"/>
          <p:cNvSpPr/>
          <p:nvPr/>
        </p:nvSpPr>
        <p:spPr>
          <a:xfrm>
            <a:off x="457200" y="492582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Vue 2 named the first and fourth </a:t>
            </a:r>
            <a:r>
              <a:rPr sz="1900" b="0" i="0">
                <a:solidFill>
                  <a:srgbClr val="8A2B52"/>
                </a:solidFill>
                <a:latin typeface="Consolas"/>
              </a:rPr>
              <a:t>enter-class</a:t>
            </a:r>
            <a:r>
              <a:rPr sz="2000" b="0" i="0">
                <a:solidFill>
                  <a:srgbClr val="1F2A36"/>
                </a:solidFill>
              </a:rPr>
              <a:t> and </a:t>
            </a:r>
            <a:r>
              <a:rPr sz="1900" b="0" i="0">
                <a:solidFill>
                  <a:srgbClr val="8A2B52"/>
                </a:solidFill>
                <a:latin typeface="Consolas"/>
              </a:rPr>
              <a:t>leave-class</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259</a:t>
            </a:fld>
            <a:endParaRPr lang="en-US" sz="900">
              <a:solidFill>
                <a:srgbClr val="9AA7B4"/>
              </a:solidFill>
            </a:endParaRPr>
          </a:p>
        </p:txBody>
      </p:sp>
    </p:spTree>
    <p:extLst>
      <p:ext uri="{BB962C8B-B14F-4D97-AF65-F5344CB8AC3E}">
        <p14:creationId xmlns:p14="http://schemas.microsoft.com/office/powerpoint/2010/main" val="2034054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Custom Transition Classes Example</a:t>
            </a:r>
          </a:p>
        </p:txBody>
      </p:sp>
      <p:sp>
        <p:nvSpPr>
          <p:cNvPr id="3" name="Code"/>
          <p:cNvSpPr/>
          <p:nvPr/>
        </p:nvSpPr>
        <p:spPr>
          <a:xfrm>
            <a:off x="457200" y="1261872"/>
            <a:ext cx="8229600" cy="111937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a:solidFill>
                  <a:srgbClr val="116329"/>
                </a:solidFill>
                <a:latin typeface="Consolas"/>
              </a:rPr>
              <a:t>&lt;link</a:t>
            </a:r>
          </a:p>
          <a:p>
            <a:pPr marL="0" indent="0" algn="l">
              <a:lnSpc>
                <a:spcPct val="100000"/>
              </a:lnSpc>
              <a:buNone/>
            </a:pPr>
            <a:r>
              <a:rPr sz="1750">
                <a:solidFill>
                  <a:srgbClr val="24292F"/>
                </a:solidFill>
                <a:latin typeface="Consolas"/>
              </a:rPr>
              <a:t>  rel=</a:t>
            </a:r>
            <a:r>
              <a:rPr sz="1750">
                <a:solidFill>
                  <a:srgbClr val="0A3069"/>
                </a:solidFill>
                <a:latin typeface="Consolas"/>
              </a:rPr>
              <a:t>"stylesheet"</a:t>
            </a:r>
          </a:p>
          <a:p>
            <a:pPr marL="0" indent="0" algn="l">
              <a:lnSpc>
                <a:spcPct val="100000"/>
              </a:lnSpc>
              <a:buNone/>
            </a:pPr>
            <a:r>
              <a:rPr sz="1750">
                <a:solidFill>
                  <a:srgbClr val="24292F"/>
                </a:solidFill>
                <a:latin typeface="Consolas"/>
              </a:rPr>
              <a:t>  href=</a:t>
            </a:r>
            <a:r>
              <a:rPr sz="1750">
                <a:solidFill>
                  <a:srgbClr val="0A3069"/>
                </a:solidFill>
                <a:latin typeface="Consolas"/>
              </a:rPr>
              <a:t>"https://cdn.jsdelivr.net/npm/animate.css@4.1.1"</a:t>
            </a:r>
            <a:r>
              <a:rPr sz="1750">
                <a:solidFill>
                  <a:srgbClr val="116329"/>
                </a:solidFill>
                <a:latin typeface="Consolas"/>
              </a:rPr>
              <a:t>&gt;</a:t>
            </a:r>
          </a:p>
        </p:txBody>
      </p:sp>
      <p:sp>
        <p:nvSpPr>
          <p:cNvPr id="4" name="Code"/>
          <p:cNvSpPr/>
          <p:nvPr/>
        </p:nvSpPr>
        <p:spPr>
          <a:xfrm>
            <a:off x="457200" y="2527554"/>
            <a:ext cx="8229600" cy="175717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116329"/>
                </a:solidFill>
                <a:latin typeface="Consolas"/>
              </a:rPr>
              <a:t>&lt;Transition</a:t>
            </a:r>
          </a:p>
          <a:p>
            <a:pPr marL="0" indent="0" algn="l">
              <a:lnSpc>
                <a:spcPct val="100000"/>
              </a:lnSpc>
              <a:buNone/>
            </a:pPr>
            <a:r>
              <a:rPr sz="1550">
                <a:solidFill>
                  <a:srgbClr val="24292F"/>
                </a:solidFill>
                <a:latin typeface="Consolas"/>
              </a:rPr>
              <a:t>  enter-active-class=</a:t>
            </a:r>
            <a:r>
              <a:rPr sz="1550">
                <a:solidFill>
                  <a:srgbClr val="0A3069"/>
                </a:solidFill>
                <a:latin typeface="Consolas"/>
              </a:rPr>
              <a:t>"animate__animated animate__tada"</a:t>
            </a:r>
          </a:p>
          <a:p>
            <a:pPr marL="0" indent="0" algn="l">
              <a:lnSpc>
                <a:spcPct val="100000"/>
              </a:lnSpc>
              <a:buNone/>
            </a:pPr>
            <a:r>
              <a:rPr sz="1550">
                <a:solidFill>
                  <a:srgbClr val="24292F"/>
                </a:solidFill>
                <a:latin typeface="Consolas"/>
              </a:rPr>
              <a:t>  leave-active-class=</a:t>
            </a:r>
            <a:r>
              <a:rPr sz="1550">
                <a:solidFill>
                  <a:srgbClr val="0A3069"/>
                </a:solidFill>
                <a:latin typeface="Consolas"/>
              </a:rPr>
              <a:t>"animate__animated animate__bounceOutRight"</a:t>
            </a:r>
          </a:p>
          <a:p>
            <a:pPr marL="0" indent="0" algn="l">
              <a:lnSpc>
                <a:spcPct val="100000"/>
              </a:lnSpc>
              <a:buNone/>
            </a:pPr>
            <a:r>
              <a:rPr sz="1550">
                <a:solidFill>
                  <a:srgbClr val="116329"/>
                </a:solidFill>
                <a:latin typeface="Consolas"/>
              </a:rPr>
              <a:t>&gt;</a:t>
            </a:r>
          </a:p>
          <a:p>
            <a:pPr marL="0" indent="0" algn="l">
              <a:lnSpc>
                <a:spcPct val="100000"/>
              </a:lnSpc>
              <a:buNone/>
            </a:pPr>
            <a:r>
              <a:rPr sz="1550">
                <a:solidFill>
                  <a:srgbClr val="24292F"/>
                </a:solidFill>
                <a:latin typeface="Consolas"/>
              </a:rPr>
              <a:t>  </a:t>
            </a:r>
            <a:r>
              <a:rPr sz="1550">
                <a:solidFill>
                  <a:srgbClr val="116329"/>
                </a:solidFill>
                <a:latin typeface="Consolas"/>
              </a:rPr>
              <a:t>&lt;p</a:t>
            </a:r>
            <a:r>
              <a:rPr sz="1550">
                <a:solidFill>
                  <a:srgbClr val="24292F"/>
                </a:solidFill>
                <a:latin typeface="Consolas"/>
              </a:rPr>
              <a:t> </a:t>
            </a:r>
            <a:r>
              <a:rPr sz="1550">
                <a:solidFill>
                  <a:srgbClr val="953800"/>
                </a:solidFill>
                <a:latin typeface="Consolas"/>
              </a:rPr>
              <a:t>v-if</a:t>
            </a:r>
            <a:r>
              <a:rPr sz="1550">
                <a:solidFill>
                  <a:srgbClr val="24292F"/>
                </a:solidFill>
                <a:latin typeface="Consolas"/>
              </a:rPr>
              <a:t>=</a:t>
            </a:r>
            <a:r>
              <a:rPr sz="1550">
                <a:solidFill>
                  <a:srgbClr val="0A3069"/>
                </a:solidFill>
                <a:latin typeface="Consolas"/>
              </a:rPr>
              <a:t>"show"</a:t>
            </a:r>
            <a:r>
              <a:rPr sz="1550">
                <a:solidFill>
                  <a:srgbClr val="116329"/>
                </a:solidFill>
                <a:latin typeface="Consolas"/>
              </a:rPr>
              <a:t>&gt;</a:t>
            </a:r>
            <a:r>
              <a:rPr sz="1550">
                <a:solidFill>
                  <a:srgbClr val="24292F"/>
                </a:solidFill>
                <a:latin typeface="Consolas"/>
              </a:rPr>
              <a:t>hello</a:t>
            </a:r>
            <a:r>
              <a:rPr sz="1550">
                <a:solidFill>
                  <a:srgbClr val="116329"/>
                </a:solidFill>
                <a:latin typeface="Consolas"/>
              </a:rPr>
              <a:t>&lt;/p&gt;</a:t>
            </a:r>
          </a:p>
          <a:p>
            <a:pPr marL="0" indent="0" algn="l">
              <a:lnSpc>
                <a:spcPct val="100000"/>
              </a:lnSpc>
              <a:buNone/>
            </a:pPr>
            <a:r>
              <a:rPr sz="1550">
                <a:solidFill>
                  <a:srgbClr val="116329"/>
                </a:solidFill>
                <a:latin typeface="Consolas"/>
              </a:rPr>
              <a:t>&lt;/Transition&gt;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260</a:t>
            </a:fld>
            <a:endParaRPr lang="en-US" sz="900">
              <a:solidFill>
                <a:srgbClr val="9AA7B4"/>
              </a:solidFill>
            </a:endParaRPr>
          </a:p>
        </p:txBody>
      </p:sp>
    </p:spTree>
    <p:extLst>
      <p:ext uri="{BB962C8B-B14F-4D97-AF65-F5344CB8AC3E}">
        <p14:creationId xmlns:p14="http://schemas.microsoft.com/office/powerpoint/2010/main" val="321236971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bg>
      <p:bgPr>
        <a:solidFill>
          <a:srgbClr val="ECF7F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1171-8594-8940-B186-F2350DF2B870}"/>
              </a:ext>
            </a:extLst>
          </p:cNvPr>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Transitions and Animations</a:t>
            </a:r>
          </a:p>
        </p:txBody>
      </p:sp>
      <p:sp>
        <p:nvSpPr>
          <p:cNvPr id="3" name="Chip LAB 24"/>
          <p:cNvSpPr/>
          <p:nvPr/>
        </p:nvSpPr>
        <p:spPr>
          <a:xfrm>
            <a:off x="457200" y="384048"/>
            <a:ext cx="906779" cy="292608"/>
          </a:xfrm>
          <a:prstGeom prst="roundRect">
            <a:avLst>
              <a:gd name="adj" fmla="val 50000"/>
            </a:avLst>
          </a:prstGeom>
          <a:solidFill>
            <a:srgbClr val="2E8B62"/>
          </a:solidFill>
          <a:ln>
            <a:noFill/>
          </a:ln>
        </p:spPr>
        <p:txBody>
          <a:bodyPr wrap="none" lIns="54864" tIns="0" rIns="54864" bIns="0" rtlCol="0" anchor="ctr"/>
          <a:lstStyle/>
          <a:p>
            <a:pPr algn="ctr"/>
            <a:r>
              <a:rPr sz="1300" b="1">
                <a:solidFill>
                  <a:srgbClr val="FFFFFF"/>
                </a:solidFill>
              </a:rPr>
              <a:t>LAB 24</a:t>
            </a:r>
          </a:p>
        </p:txBody>
      </p:sp>
      <p:sp>
        <p:nvSpPr>
          <p:cNvPr id="4" name="Chip 20 min · optional"/>
          <p:cNvSpPr/>
          <p:nvPr/>
        </p:nvSpPr>
        <p:spPr>
          <a:xfrm>
            <a:off x="1501140" y="384048"/>
            <a:ext cx="1898904" cy="292608"/>
          </a:xfrm>
          <a:prstGeom prst="roundRect">
            <a:avLst>
              <a:gd name="adj" fmla="val 50000"/>
            </a:avLst>
          </a:prstGeom>
          <a:solidFill>
            <a:srgbClr val="FFFFFF"/>
          </a:solidFill>
          <a:ln>
            <a:noFill/>
          </a:ln>
        </p:spPr>
        <p:txBody>
          <a:bodyPr wrap="none" lIns="54864" tIns="0" rIns="54864" bIns="0" rtlCol="0" anchor="ctr"/>
          <a:lstStyle/>
          <a:p>
            <a:pPr algn="ctr"/>
            <a:r>
              <a:rPr sz="1200" b="1">
                <a:solidFill>
                  <a:srgbClr val="2E8B62"/>
                </a:solidFill>
              </a:rPr>
              <a:t>20 min · optional</a:t>
            </a:r>
          </a:p>
        </p:txBody>
      </p:sp>
      <p:sp>
        <p:nvSpPr>
          <p:cNvPr id="5" name="Goal"/>
          <p:cNvSpPr txBox="1"/>
          <p:nvPr/>
        </p:nvSpPr>
        <p:spPr>
          <a:xfrm>
            <a:off x="457200" y="1691640"/>
            <a:ext cx="8229600" cy="822960"/>
          </a:xfrm>
          <a:prstGeom prst="rect">
            <a:avLst/>
          </a:prstGeom>
          <a:noFill/>
        </p:spPr>
        <p:txBody>
          <a:bodyPr wrap="square" lIns="0" tIns="0" rIns="0" bIns="0">
            <a:noAutofit/>
          </a:bodyPr>
          <a:lstStyle/>
          <a:p>
            <a:r>
              <a:rPr sz="1800" b="0" i="1">
                <a:solidFill>
                  <a:srgbClr val="2C3E50"/>
                </a:solidFill>
              </a:rPr>
              <a:t>Remove articles from the feed with an animated transition.</a:t>
            </a:r>
          </a:p>
        </p:txBody>
      </p:sp>
      <p:sp>
        <p:nvSpPr>
          <p:cNvPr id="6" name="Body"/>
          <p:cNvSpPr txBox="1"/>
          <p:nvPr/>
        </p:nvSpPr>
        <p:spPr>
          <a:xfrm>
            <a:off x="457200" y="2167128"/>
            <a:ext cx="8229600" cy="2646679"/>
          </a:xfrm>
          <a:prstGeom prst="rect">
            <a:avLst/>
          </a:prstGeom>
          <a:noFill/>
        </p:spPr>
        <p:txBody>
          <a:bodyPr wrap="square" lIns="0" tIns="0" rIns="0" bIns="0">
            <a:noAutofit/>
          </a:bodyPr>
          <a:lstStyle/>
          <a:p>
            <a:pPr marL="274320" indent="-256032">
              <a:spcAft>
                <a:spcPts val="900"/>
              </a:spcAft>
              <a:buClr>
                <a:srgbClr val="42B883"/>
              </a:buClr>
              <a:buSzPct val="100000"/>
              <a:buFont typeface="Arial"/>
              <a:buChar char="•"/>
            </a:pPr>
            <a:r>
              <a:rPr sz="2000" b="0" i="0">
                <a:solidFill>
                  <a:srgbClr val="1F2A36"/>
                </a:solidFill>
              </a:rPr>
              <a:t>Add a </a:t>
            </a:r>
            <a:r>
              <a:rPr sz="2000" b="1" i="0">
                <a:solidFill>
                  <a:srgbClr val="1F2A36"/>
                </a:solidFill>
              </a:rPr>
              <a:t>Remove From Feed</a:t>
            </a:r>
            <a:r>
              <a:rPr sz="2000" b="0" i="0">
                <a:solidFill>
                  <a:srgbClr val="1F2A36"/>
                </a:solidFill>
              </a:rPr>
              <a:t> icon (maybe a trash can) to each article</a:t>
            </a:r>
          </a:p>
          <a:p>
            <a:pPr marL="274320" indent="-256032">
              <a:spcAft>
                <a:spcPts val="900"/>
              </a:spcAft>
              <a:buClr>
                <a:srgbClr val="42B883"/>
              </a:buClr>
              <a:buSzPct val="100000"/>
              <a:buFont typeface="Arial"/>
              <a:buChar char="•"/>
            </a:pPr>
            <a:r>
              <a:rPr sz="2000" b="0" i="0">
                <a:solidFill>
                  <a:srgbClr val="1F2A36"/>
                </a:solidFill>
              </a:rPr>
              <a:t>When clicked, remove the article from the feed</a:t>
            </a:r>
          </a:p>
          <a:p>
            <a:pPr marL="274320" indent="-256032">
              <a:spcAft>
                <a:spcPts val="900"/>
              </a:spcAft>
              <a:buClr>
                <a:srgbClr val="42B883"/>
              </a:buClr>
              <a:buSzPct val="100000"/>
              <a:buFont typeface="Arial"/>
              <a:buChar char="•"/>
            </a:pPr>
            <a:r>
              <a:rPr sz="2000" b="0" i="0">
                <a:solidFill>
                  <a:srgbClr val="1F2A36"/>
                </a:solidFill>
              </a:rPr>
              <a:t>Wrap the list in </a:t>
            </a:r>
            <a:r>
              <a:rPr sz="1900" b="0" i="0">
                <a:solidFill>
                  <a:srgbClr val="8A2B52"/>
                </a:solidFill>
                <a:latin typeface="Consolas"/>
              </a:rPr>
              <a:t>&lt;TransitionGroup&gt;</a:t>
            </a:r>
            <a:r>
              <a:rPr sz="2000" b="0" i="0">
                <a:solidFill>
                  <a:srgbClr val="1F2A36"/>
                </a:solidFill>
              </a:rPr>
              <a:t> and animate articles as they leave</a:t>
            </a:r>
          </a:p>
          <a:p>
            <a:pPr marL="274320" indent="-256032">
              <a:spcAft>
                <a:spcPts val="900"/>
              </a:spcAft>
              <a:buClr>
                <a:srgbClr val="42B883"/>
              </a:buClr>
              <a:buSzPct val="100000"/>
              <a:buFont typeface="Arial"/>
              <a:buChar char="•"/>
            </a:pPr>
            <a:r>
              <a:rPr sz="2000" b="0" i="0">
                <a:solidFill>
                  <a:srgbClr val="1F2A36"/>
                </a:solidFill>
              </a:rPr>
              <a:t>Challenge: add a </a:t>
            </a:r>
            <a:r>
              <a:rPr sz="1900" b="0" i="0">
                <a:solidFill>
                  <a:srgbClr val="8A2B52"/>
                </a:solidFill>
                <a:latin typeface="Consolas"/>
              </a:rPr>
              <a:t>-move</a:t>
            </a:r>
            <a:r>
              <a:rPr sz="2000" b="0" i="0">
                <a:solidFill>
                  <a:srgbClr val="1F2A36"/>
                </a:solidFill>
              </a:rPr>
              <a:t> class so the remaining articles slide up</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261</a:t>
            </a:fld>
            <a:endParaRPr lang="en-US" sz="900">
              <a:solidFill>
                <a:srgbClr val="9AA7B4"/>
              </a:solidFill>
            </a:endParaRPr>
          </a:p>
        </p:txBody>
      </p:sp>
    </p:spTree>
    <p:extLst>
      <p:ext uri="{BB962C8B-B14F-4D97-AF65-F5344CB8AC3E}">
        <p14:creationId xmlns:p14="http://schemas.microsoft.com/office/powerpoint/2010/main" val="304249267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914400"/>
            <a:ext cx="7680960" cy="1097280"/>
          </a:xfrm>
        </p:spPr>
        <p:txBody>
          <a:bodyPr wrap="square" lIns="0" tIns="0" rIns="0" bIns="0" anchor="t">
            <a:noAutofit/>
          </a:bodyPr>
          <a:lstStyle/>
          <a:p>
            <a:pPr marL="0" indent="0" algn="l" rtl="0">
              <a:buNone/>
            </a:pPr>
            <a:r>
              <a:rPr sz="4000" b="1" i="0" cap="none">
                <a:solidFill>
                  <a:srgbClr val="FFFFFF"/>
                </a:solidFill>
              </a:rPr>
              <a:t>ES2015 (ES6) and Beyond</a:t>
            </a:r>
          </a:p>
        </p:txBody>
      </p:sp>
      <p:sp>
        <p:nvSpPr>
          <p:cNvPr id="3" name="Kicker"/>
          <p:cNvSpPr txBox="1"/>
          <p:nvPr/>
        </p:nvSpPr>
        <p:spPr>
          <a:xfrm>
            <a:off x="731520" y="502920"/>
            <a:ext cx="5486400" cy="365760"/>
          </a:xfrm>
          <a:prstGeom prst="rect">
            <a:avLst/>
          </a:prstGeom>
          <a:noFill/>
        </p:spPr>
        <p:txBody>
          <a:bodyPr wrap="square" lIns="0" tIns="0" rIns="0" bIns="0">
            <a:noAutofit/>
          </a:bodyPr>
          <a:lstStyle/>
          <a:p>
            <a:r>
              <a:rPr sz="1400" b="1">
                <a:solidFill>
                  <a:srgbClr val="42B883"/>
                </a:solidFill>
              </a:rPr>
              <a:t>APPENDIX · JAVASCRIPT REVIEW</a:t>
            </a:r>
          </a:p>
        </p:txBody>
      </p:sp>
      <p:sp>
        <p:nvSpPr>
          <p:cNvPr id="4" name="Body"/>
          <p:cNvSpPr txBox="1"/>
          <p:nvPr/>
        </p:nvSpPr>
        <p:spPr>
          <a:xfrm>
            <a:off x="731520" y="2148840"/>
            <a:ext cx="7680960" cy="2796032"/>
          </a:xfrm>
          <a:prstGeom prst="rect">
            <a:avLst/>
          </a:prstGeom>
          <a:noFill/>
        </p:spPr>
        <p:txBody>
          <a:bodyPr wrap="square" lIns="0" tIns="0" rIns="0" bIns="0">
            <a:noAutofit/>
          </a:bodyPr>
          <a:lstStyle/>
          <a:p>
            <a:pPr marL="0" indent="0">
              <a:spcAft>
                <a:spcPts val="769"/>
              </a:spcAft>
              <a:buNone/>
            </a:pPr>
            <a:r>
              <a:rPr sz="2200" b="1" i="0">
                <a:solidFill>
                  <a:srgbClr val="42B883"/>
                </a:solidFill>
              </a:rPr>
              <a:t>Objectives</a:t>
            </a:r>
          </a:p>
          <a:p>
            <a:pPr marL="274320" indent="-256032">
              <a:spcAft>
                <a:spcPts val="990"/>
              </a:spcAft>
              <a:buClr>
                <a:srgbClr val="42B883"/>
              </a:buClr>
              <a:buSzPct val="100000"/>
              <a:buFont typeface="Arial"/>
              <a:buChar char="•"/>
            </a:pPr>
            <a:r>
              <a:rPr sz="2200" b="0" i="0">
                <a:solidFill>
                  <a:srgbClr val="FFFFFF"/>
                </a:solidFill>
              </a:rPr>
              <a:t>Learn what's new</a:t>
            </a:r>
          </a:p>
          <a:p>
            <a:pPr marL="274320" indent="-256032">
              <a:spcAft>
                <a:spcPts val="990"/>
              </a:spcAft>
              <a:buClr>
                <a:srgbClr val="42B883"/>
              </a:buClr>
              <a:buSzPct val="100000"/>
              <a:buFont typeface="Arial"/>
              <a:buChar char="•"/>
            </a:pPr>
            <a:r>
              <a:rPr sz="2200" b="0" i="0">
                <a:solidFill>
                  <a:srgbClr val="FFFFFF"/>
                </a:solidFill>
              </a:rPr>
              <a:t>Use arrow functions and block-scoped variables</a:t>
            </a:r>
          </a:p>
          <a:p>
            <a:pPr marL="274320" indent="-256032">
              <a:spcAft>
                <a:spcPts val="990"/>
              </a:spcAft>
              <a:buClr>
                <a:srgbClr val="42B883"/>
              </a:buClr>
              <a:buSzPct val="100000"/>
              <a:buFont typeface="Arial"/>
              <a:buChar char="•"/>
            </a:pPr>
            <a:r>
              <a:rPr sz="2200" b="0" i="0">
                <a:solidFill>
                  <a:srgbClr val="FFFFFF"/>
                </a:solidFill>
              </a:rPr>
              <a:t>Create generator functions</a:t>
            </a:r>
          </a:p>
          <a:p>
            <a:pPr marL="274320" indent="-256032">
              <a:spcAft>
                <a:spcPts val="990"/>
              </a:spcAft>
              <a:buClr>
                <a:srgbClr val="42B883"/>
              </a:buClr>
              <a:buSzPct val="100000"/>
              <a:buFont typeface="Arial"/>
              <a:buChar char="•"/>
            </a:pPr>
            <a:r>
              <a:rPr sz="2200" b="0" i="0">
                <a:solidFill>
                  <a:srgbClr val="FFFFFF"/>
                </a:solidFill>
              </a:rPr>
              <a:t>Use classes and modules</a:t>
            </a:r>
          </a:p>
          <a:p>
            <a:pPr marL="274320" indent="-256032">
              <a:spcAft>
                <a:spcPts val="990"/>
              </a:spcAft>
              <a:buClr>
                <a:srgbClr val="42B883"/>
              </a:buClr>
              <a:buSzPct val="100000"/>
              <a:buFont typeface="Arial"/>
              <a:buChar char="•"/>
            </a:pPr>
            <a:r>
              <a:rPr sz="2200" b="0" i="0">
                <a:solidFill>
                  <a:srgbClr val="FFFFFF"/>
                </a:solidFill>
              </a:rPr>
              <a:t>See how modern code is transpiled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262</a:t>
            </a:fld>
            <a:endParaRPr lang="en-US" sz="900">
              <a:solidFill>
                <a:srgbClr val="9FB3C4"/>
              </a:solidFill>
            </a:endParaRPr>
          </a:p>
        </p:txBody>
      </p:sp>
    </p:spTree>
    <p:extLst>
      <p:ext uri="{BB962C8B-B14F-4D97-AF65-F5344CB8AC3E}">
        <p14:creationId xmlns:p14="http://schemas.microsoft.com/office/powerpoint/2010/main" val="309219986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Variable Scoping with const and let</a:t>
            </a:r>
          </a:p>
        </p:txBody>
      </p:sp>
      <p:sp>
        <p:nvSpPr>
          <p:cNvPr id="3" name="Body"/>
          <p:cNvSpPr txBox="1"/>
          <p:nvPr/>
        </p:nvSpPr>
        <p:spPr>
          <a:xfrm>
            <a:off x="457200" y="1261872"/>
            <a:ext cx="8229600" cy="331571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1" i="0">
                <a:solidFill>
                  <a:srgbClr val="8A2B52"/>
                </a:solidFill>
                <a:latin typeface="Consolas"/>
              </a:rPr>
              <a:t>const</a:t>
            </a:r>
            <a:r>
              <a:rPr sz="2200" b="0" i="0">
                <a:solidFill>
                  <a:srgbClr val="1F2A36"/>
                </a:solidFill>
              </a:rPr>
              <a:t> creates a binding that can't be reassigned</a:t>
            </a:r>
          </a:p>
          <a:p>
            <a:pPr marL="566928" indent="-256032">
              <a:spcAft>
                <a:spcPts val="855"/>
              </a:spcAft>
              <a:buClr>
                <a:srgbClr val="6B7B8C"/>
              </a:buClr>
              <a:buSzPct val="100000"/>
              <a:buFont typeface="Arial"/>
              <a:buChar char="–"/>
            </a:pPr>
            <a:r>
              <a:rPr sz="1900" b="0" i="0">
                <a:solidFill>
                  <a:srgbClr val="3A4A5A"/>
                </a:solidFill>
              </a:rPr>
              <a:t>The </a:t>
            </a:r>
            <a:r>
              <a:rPr sz="1900" b="0" i="1">
                <a:solidFill>
                  <a:srgbClr val="3A4A5A"/>
                </a:solidFill>
              </a:rPr>
              <a:t>value</a:t>
            </a:r>
            <a:r>
              <a:rPr sz="1900" b="0" i="0">
                <a:solidFill>
                  <a:srgbClr val="3A4A5A"/>
                </a:solidFill>
              </a:rPr>
              <a:t> isn't frozen: an object assigned to a </a:t>
            </a:r>
            <a:r>
              <a:rPr sz="1805" b="0" i="0">
                <a:solidFill>
                  <a:srgbClr val="8A2B52"/>
                </a:solidFill>
                <a:latin typeface="Consolas"/>
              </a:rPr>
              <a:t>const</a:t>
            </a:r>
            <a:r>
              <a:rPr sz="1900" b="0" i="0">
                <a:solidFill>
                  <a:srgbClr val="3A4A5A"/>
                </a:solidFill>
              </a:rPr>
              <a:t> can still be changed</a:t>
            </a:r>
          </a:p>
          <a:p>
            <a:pPr marL="274320" indent="-256032">
              <a:spcAft>
                <a:spcPts val="990"/>
              </a:spcAft>
              <a:buClr>
                <a:srgbClr val="42B883"/>
              </a:buClr>
              <a:buSzPct val="100000"/>
              <a:buFont typeface="Arial"/>
              <a:buChar char="•"/>
            </a:pPr>
            <a:r>
              <a:rPr sz="2090" b="1" i="0">
                <a:solidFill>
                  <a:srgbClr val="8A2B52"/>
                </a:solidFill>
                <a:latin typeface="Consolas"/>
              </a:rPr>
              <a:t>let</a:t>
            </a:r>
            <a:r>
              <a:rPr sz="2200" b="0" i="0">
                <a:solidFill>
                  <a:srgbClr val="1F2A36"/>
                </a:solidFill>
              </a:rPr>
              <a:t> creates a </a:t>
            </a:r>
            <a:r>
              <a:rPr sz="2200" b="1" i="0">
                <a:solidFill>
                  <a:srgbClr val="1F2A36"/>
                </a:solidFill>
              </a:rPr>
              <a:t>block-scoped</a:t>
            </a:r>
            <a:r>
              <a:rPr sz="2200" b="0" i="0">
                <a:solidFill>
                  <a:srgbClr val="1F2A36"/>
                </a:solidFill>
              </a:rPr>
              <a:t> variable</a:t>
            </a:r>
          </a:p>
          <a:p>
            <a:pPr marL="566928" indent="-256032">
              <a:spcAft>
                <a:spcPts val="855"/>
              </a:spcAft>
              <a:buClr>
                <a:srgbClr val="6B7B8C"/>
              </a:buClr>
              <a:buSzPct val="100000"/>
              <a:buFont typeface="Arial"/>
              <a:buChar char="–"/>
            </a:pPr>
            <a:r>
              <a:rPr sz="1805" b="0" i="0">
                <a:solidFill>
                  <a:srgbClr val="8A2B52"/>
                </a:solidFill>
                <a:latin typeface="Consolas"/>
              </a:rPr>
              <a:t>var</a:t>
            </a:r>
            <a:r>
              <a:rPr sz="1900" b="0" i="0">
                <a:solidFill>
                  <a:srgbClr val="3A4A5A"/>
                </a:solidFill>
              </a:rPr>
              <a:t> is scoped to the whole enclosing function</a:t>
            </a:r>
          </a:p>
          <a:p>
            <a:pPr marL="566928" indent="-256032">
              <a:spcAft>
                <a:spcPts val="855"/>
              </a:spcAft>
              <a:buClr>
                <a:srgbClr val="6B7B8C"/>
              </a:buClr>
              <a:buSzPct val="100000"/>
              <a:buFont typeface="Arial"/>
              <a:buChar char="–"/>
            </a:pPr>
            <a:r>
              <a:rPr sz="1900" b="0" i="0">
                <a:solidFill>
                  <a:srgbClr val="3A4A5A"/>
                </a:solidFill>
              </a:rPr>
              <a:t>Redeclaring a </a:t>
            </a:r>
            <a:r>
              <a:rPr sz="1805" b="0" i="0">
                <a:solidFill>
                  <a:srgbClr val="8A2B52"/>
                </a:solidFill>
                <a:latin typeface="Consolas"/>
              </a:rPr>
              <a:t>let</a:t>
            </a:r>
            <a:r>
              <a:rPr sz="1900" b="0" i="0">
                <a:solidFill>
                  <a:srgbClr val="3A4A5A"/>
                </a:solidFill>
              </a:rPr>
              <a:t> in the same scope is a syntax error</a:t>
            </a:r>
          </a:p>
          <a:p>
            <a:pPr marL="274320" indent="-256032">
              <a:spcAft>
                <a:spcPts val="990"/>
              </a:spcAft>
              <a:buClr>
                <a:srgbClr val="42B883"/>
              </a:buClr>
              <a:buSzPct val="100000"/>
              <a:buFont typeface="Arial"/>
              <a:buChar char="•"/>
            </a:pPr>
            <a:r>
              <a:rPr sz="2200" b="0" i="0">
                <a:solidFill>
                  <a:srgbClr val="1F2A36"/>
                </a:solidFill>
              </a:rPr>
              <a:t>Both are in a </a:t>
            </a:r>
            <a:r>
              <a:rPr sz="2200" b="1" i="0">
                <a:solidFill>
                  <a:srgbClr val="1F2A36"/>
                </a:solidFill>
              </a:rPr>
              <a:t>temporal dead zone</a:t>
            </a:r>
            <a:r>
              <a:rPr sz="2200" b="0" i="0">
                <a:solidFill>
                  <a:srgbClr val="1F2A36"/>
                </a:solidFill>
              </a:rPr>
              <a:t> until declared</a:t>
            </a:r>
          </a:p>
          <a:p>
            <a:pPr marL="566928" indent="-256032">
              <a:spcAft>
                <a:spcPts val="855"/>
              </a:spcAft>
              <a:buClr>
                <a:srgbClr val="6B7B8C"/>
              </a:buClr>
              <a:buSzPct val="100000"/>
              <a:buFont typeface="Arial"/>
              <a:buChar char="–"/>
            </a:pPr>
            <a:r>
              <a:rPr sz="1900" b="0" i="0">
                <a:solidFill>
                  <a:srgbClr val="3A4A5A"/>
                </a:solidFill>
              </a:rPr>
              <a:t>Using one before its declaration throws a </a:t>
            </a:r>
            <a:r>
              <a:rPr sz="1805" b="0" i="0">
                <a:solidFill>
                  <a:srgbClr val="8A2B52"/>
                </a:solidFill>
                <a:latin typeface="Consolas"/>
              </a:rPr>
              <a:t>ReferenceError</a:t>
            </a:r>
          </a:p>
        </p:txBody>
      </p:sp>
      <p:sp>
        <p:nvSpPr>
          <p:cNvPr id="4" name="Tip"/>
          <p:cNvSpPr/>
          <p:nvPr/>
        </p:nvSpPr>
        <p:spPr>
          <a:xfrm>
            <a:off x="457200" y="4632452"/>
            <a:ext cx="8229600" cy="883919"/>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Default to </a:t>
            </a:r>
            <a:r>
              <a:rPr sz="1900" b="0" i="0">
                <a:solidFill>
                  <a:srgbClr val="8A2B52"/>
                </a:solidFill>
                <a:latin typeface="Consolas"/>
              </a:rPr>
              <a:t>const</a:t>
            </a:r>
            <a:r>
              <a:rPr sz="2000" b="0" i="0">
                <a:solidFill>
                  <a:srgbClr val="1F2A36"/>
                </a:solidFill>
              </a:rPr>
              <a:t>; use </a:t>
            </a:r>
            <a:r>
              <a:rPr sz="1900" b="0" i="0">
                <a:solidFill>
                  <a:srgbClr val="8A2B52"/>
                </a:solidFill>
                <a:latin typeface="Consolas"/>
              </a:rPr>
              <a:t>let</a:t>
            </a:r>
            <a:r>
              <a:rPr sz="2000" b="0" i="0">
                <a:solidFill>
                  <a:srgbClr val="1F2A36"/>
                </a:solidFill>
              </a:rPr>
              <a:t> when you need to reassign. Avoid </a:t>
            </a:r>
            <a:r>
              <a:rPr sz="1900" b="0" i="0">
                <a:solidFill>
                  <a:srgbClr val="8A2B52"/>
                </a:solidFill>
                <a:latin typeface="Consolas"/>
              </a:rPr>
              <a:t>var</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263</a:t>
            </a:fld>
            <a:endParaRPr lang="en-US" sz="900">
              <a:solidFill>
                <a:srgbClr val="9AA7B4"/>
              </a:solidFill>
            </a:endParaRPr>
          </a:p>
        </p:txBody>
      </p:sp>
    </p:spTree>
    <p:extLst>
      <p:ext uri="{BB962C8B-B14F-4D97-AF65-F5344CB8AC3E}">
        <p14:creationId xmlns:p14="http://schemas.microsoft.com/office/powerpoint/2010/main" val="342412516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let vs. var</a:t>
            </a:r>
          </a:p>
        </p:txBody>
      </p:sp>
      <p:sp>
        <p:nvSpPr>
          <p:cNvPr id="3"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var</a:t>
            </a:r>
          </a:p>
        </p:txBody>
      </p:sp>
      <p:sp>
        <p:nvSpPr>
          <p:cNvPr id="4" name="Code"/>
          <p:cNvSpPr/>
          <p:nvPr/>
        </p:nvSpPr>
        <p:spPr>
          <a:xfrm>
            <a:off x="457200" y="1835657"/>
            <a:ext cx="395478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var</a:t>
            </a:r>
            <a:r>
              <a:rPr sz="2000">
                <a:solidFill>
                  <a:srgbClr val="24292F"/>
                </a:solidFill>
                <a:latin typeface="Consolas"/>
              </a:rPr>
              <a:t> a = </a:t>
            </a:r>
            <a:r>
              <a:rPr sz="2000">
                <a:solidFill>
                  <a:srgbClr val="0550AE"/>
                </a:solidFill>
                <a:latin typeface="Consolas"/>
              </a:rPr>
              <a:t>5</a:t>
            </a:r>
          </a:p>
          <a:p>
            <a:pPr marL="0" indent="0" algn="l">
              <a:lnSpc>
                <a:spcPct val="100000"/>
              </a:lnSpc>
              <a:buNone/>
            </a:pPr>
            <a:r>
              <a:rPr sz="2000">
                <a:solidFill>
                  <a:srgbClr val="CF222E"/>
                </a:solidFill>
                <a:latin typeface="Consolas"/>
              </a:rPr>
              <a:t>var</a:t>
            </a:r>
            <a:r>
              <a:rPr sz="2000">
                <a:solidFill>
                  <a:srgbClr val="24292F"/>
                </a:solidFill>
                <a:latin typeface="Consolas"/>
              </a:rPr>
              <a:t> b = </a:t>
            </a:r>
            <a:r>
              <a:rPr sz="2000">
                <a:solidFill>
                  <a:srgbClr val="0550AE"/>
                </a:solidFill>
                <a:latin typeface="Consolas"/>
              </a:rPr>
              <a:t>10</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if</a:t>
            </a:r>
            <a:r>
              <a:rPr sz="2000">
                <a:solidFill>
                  <a:srgbClr val="24292F"/>
                </a:solidFill>
                <a:latin typeface="Consolas"/>
              </a:rPr>
              <a:t> (a === </a:t>
            </a:r>
            <a:r>
              <a:rPr sz="2000">
                <a:solidFill>
                  <a:srgbClr val="0550AE"/>
                </a:solidFill>
                <a:latin typeface="Consolas"/>
              </a:rPr>
              <a:t>5</a:t>
            </a:r>
            <a:r>
              <a:rPr sz="2000">
                <a:solidFill>
                  <a:srgbClr val="24292F"/>
                </a:solidFill>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var</a:t>
            </a:r>
            <a:r>
              <a:rPr sz="2000">
                <a:solidFill>
                  <a:srgbClr val="24292F"/>
                </a:solidFill>
                <a:latin typeface="Consolas"/>
              </a:rPr>
              <a:t> a = </a:t>
            </a:r>
            <a:r>
              <a:rPr sz="2000">
                <a:solidFill>
                  <a:srgbClr val="0550AE"/>
                </a:solidFill>
                <a:latin typeface="Consolas"/>
              </a:rPr>
              <a:t>4</a:t>
            </a:r>
          </a:p>
          <a:p>
            <a:pPr marL="0" indent="0" algn="l">
              <a:lnSpc>
                <a:spcPct val="100000"/>
              </a:lnSpc>
              <a:buNone/>
            </a:pPr>
            <a:r>
              <a:rPr sz="2000">
                <a:solidFill>
                  <a:srgbClr val="24292F"/>
                </a:solidFill>
                <a:latin typeface="Consolas"/>
              </a:rPr>
              <a:t>  </a:t>
            </a:r>
            <a:r>
              <a:rPr sz="2000">
                <a:solidFill>
                  <a:srgbClr val="CF222E"/>
                </a:solidFill>
                <a:latin typeface="Consolas"/>
              </a:rPr>
              <a:t>var</a:t>
            </a:r>
            <a:r>
              <a:rPr sz="2000">
                <a:solidFill>
                  <a:srgbClr val="24292F"/>
                </a:solidFill>
                <a:latin typeface="Consolas"/>
              </a:rPr>
              <a:t> b = </a:t>
            </a:r>
            <a:r>
              <a:rPr sz="2000">
                <a:solidFill>
                  <a:srgbClr val="0550AE"/>
                </a:solidFill>
                <a:latin typeface="Consolas"/>
              </a:rPr>
              <a:t>1</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console.log(a)  </a:t>
            </a:r>
            <a:r>
              <a:rPr sz="2000" i="1">
                <a:solidFill>
                  <a:srgbClr val="6E7781"/>
                </a:solidFill>
                <a:latin typeface="Consolas"/>
              </a:rPr>
              <a:t>// 4</a:t>
            </a:r>
          </a:p>
          <a:p>
            <a:pPr marL="0" indent="0" algn="l">
              <a:lnSpc>
                <a:spcPct val="100000"/>
              </a:lnSpc>
              <a:buNone/>
            </a:pPr>
            <a:r>
              <a:rPr sz="2000">
                <a:solidFill>
                  <a:srgbClr val="24292F"/>
                </a:solidFill>
                <a:latin typeface="Consolas"/>
              </a:rPr>
              <a:t>console.log(b)  </a:t>
            </a:r>
            <a:r>
              <a:rPr sz="2000" i="1">
                <a:solidFill>
                  <a:srgbClr val="6E7781"/>
                </a:solidFill>
                <a:latin typeface="Consolas"/>
              </a:rPr>
              <a:t>// 1</a:t>
            </a:r>
          </a:p>
        </p:txBody>
      </p:sp>
      <p:sp>
        <p:nvSpPr>
          <p:cNvPr id="5"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let</a:t>
            </a:r>
          </a:p>
        </p:txBody>
      </p:sp>
      <p:sp>
        <p:nvSpPr>
          <p:cNvPr id="6" name="Code"/>
          <p:cNvSpPr/>
          <p:nvPr/>
        </p:nvSpPr>
        <p:spPr>
          <a:xfrm>
            <a:off x="4732020" y="1835657"/>
            <a:ext cx="395478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let</a:t>
            </a:r>
            <a:r>
              <a:rPr sz="2000">
                <a:solidFill>
                  <a:srgbClr val="24292F"/>
                </a:solidFill>
                <a:latin typeface="Consolas"/>
              </a:rPr>
              <a:t> a = </a:t>
            </a:r>
            <a:r>
              <a:rPr sz="2000">
                <a:solidFill>
                  <a:srgbClr val="0550AE"/>
                </a:solidFill>
                <a:latin typeface="Consolas"/>
              </a:rPr>
              <a:t>5</a:t>
            </a:r>
          </a:p>
          <a:p>
            <a:pPr marL="0" indent="0" algn="l">
              <a:lnSpc>
                <a:spcPct val="100000"/>
              </a:lnSpc>
              <a:buNone/>
            </a:pPr>
            <a:r>
              <a:rPr sz="2000">
                <a:solidFill>
                  <a:srgbClr val="CF222E"/>
                </a:solidFill>
                <a:latin typeface="Consolas"/>
              </a:rPr>
              <a:t>let</a:t>
            </a:r>
            <a:r>
              <a:rPr sz="2000">
                <a:solidFill>
                  <a:srgbClr val="24292F"/>
                </a:solidFill>
                <a:latin typeface="Consolas"/>
              </a:rPr>
              <a:t> b = </a:t>
            </a:r>
            <a:r>
              <a:rPr sz="2000">
                <a:solidFill>
                  <a:srgbClr val="0550AE"/>
                </a:solidFill>
                <a:latin typeface="Consolas"/>
              </a:rPr>
              <a:t>10</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if</a:t>
            </a:r>
            <a:r>
              <a:rPr sz="2000">
                <a:solidFill>
                  <a:srgbClr val="24292F"/>
                </a:solidFill>
                <a:latin typeface="Consolas"/>
              </a:rPr>
              <a:t> (a === </a:t>
            </a:r>
            <a:r>
              <a:rPr sz="2000">
                <a:solidFill>
                  <a:srgbClr val="0550AE"/>
                </a:solidFill>
                <a:latin typeface="Consolas"/>
              </a:rPr>
              <a:t>5</a:t>
            </a:r>
            <a:r>
              <a:rPr sz="2000">
                <a:solidFill>
                  <a:srgbClr val="24292F"/>
                </a:solidFill>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let</a:t>
            </a:r>
            <a:r>
              <a:rPr sz="2000">
                <a:solidFill>
                  <a:srgbClr val="24292F"/>
                </a:solidFill>
                <a:latin typeface="Consolas"/>
              </a:rPr>
              <a:t> a = </a:t>
            </a:r>
            <a:r>
              <a:rPr sz="2000">
                <a:solidFill>
                  <a:srgbClr val="0550AE"/>
                </a:solidFill>
                <a:latin typeface="Consolas"/>
              </a:rPr>
              <a:t>4</a:t>
            </a:r>
          </a:p>
          <a:p>
            <a:pPr marL="0" indent="0" algn="l">
              <a:lnSpc>
                <a:spcPct val="100000"/>
              </a:lnSpc>
              <a:buNone/>
            </a:pPr>
            <a:r>
              <a:rPr sz="2000">
                <a:solidFill>
                  <a:srgbClr val="24292F"/>
                </a:solidFill>
                <a:latin typeface="Consolas"/>
              </a:rPr>
              <a:t>  </a:t>
            </a:r>
            <a:r>
              <a:rPr sz="2000">
                <a:solidFill>
                  <a:srgbClr val="CF222E"/>
                </a:solidFill>
                <a:latin typeface="Consolas"/>
              </a:rPr>
              <a:t>let</a:t>
            </a:r>
            <a:r>
              <a:rPr sz="2000">
                <a:solidFill>
                  <a:srgbClr val="24292F"/>
                </a:solidFill>
                <a:latin typeface="Consolas"/>
              </a:rPr>
              <a:t> b = </a:t>
            </a:r>
            <a:r>
              <a:rPr sz="2000">
                <a:solidFill>
                  <a:srgbClr val="0550AE"/>
                </a:solidFill>
                <a:latin typeface="Consolas"/>
              </a:rPr>
              <a:t>1</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console.log(a)  </a:t>
            </a:r>
            <a:r>
              <a:rPr sz="2000" i="1">
                <a:solidFill>
                  <a:srgbClr val="6E7781"/>
                </a:solidFill>
                <a:latin typeface="Consolas"/>
              </a:rPr>
              <a:t>// 5</a:t>
            </a:r>
          </a:p>
          <a:p>
            <a:pPr marL="0" indent="0" algn="l">
              <a:lnSpc>
                <a:spcPct val="100000"/>
              </a:lnSpc>
              <a:buNone/>
            </a:pPr>
            <a:r>
              <a:rPr sz="2000">
                <a:solidFill>
                  <a:srgbClr val="24292F"/>
                </a:solidFill>
                <a:latin typeface="Consolas"/>
              </a:rPr>
              <a:t>console.log(b)  </a:t>
            </a:r>
            <a:r>
              <a:rPr sz="2000" i="1">
                <a:solidFill>
                  <a:srgbClr val="6E7781"/>
                </a:solidFill>
                <a:latin typeface="Consolas"/>
              </a:rPr>
              <a:t>// 10</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264</a:t>
            </a:fld>
            <a:endParaRPr lang="en-US" sz="900">
              <a:solidFill>
                <a:srgbClr val="9AA7B4"/>
              </a:solidFill>
            </a:endParaRPr>
          </a:p>
        </p:txBody>
      </p:sp>
    </p:spTree>
    <p:extLst>
      <p:ext uri="{BB962C8B-B14F-4D97-AF65-F5344CB8AC3E}">
        <p14:creationId xmlns:p14="http://schemas.microsoft.com/office/powerpoint/2010/main" val="95943824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Block-scoped Functions</a:t>
            </a:r>
          </a:p>
        </p:txBody>
      </p:sp>
      <p:sp>
        <p:nvSpPr>
          <p:cNvPr id="3"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 (IIFEs)</a:t>
            </a:r>
          </a:p>
        </p:txBody>
      </p:sp>
      <p:sp>
        <p:nvSpPr>
          <p:cNvPr id="4" name="Code"/>
          <p:cNvSpPr/>
          <p:nvPr/>
        </p:nvSpPr>
        <p:spPr>
          <a:xfrm>
            <a:off x="457200" y="1835657"/>
            <a:ext cx="3954780" cy="21193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24292F"/>
                </a:solidFill>
                <a:latin typeface="Consolas"/>
              </a:rPr>
              <a:t>(</a:t>
            </a:r>
            <a:r>
              <a:rPr sz="1450">
                <a:solidFill>
                  <a:srgbClr val="CF222E"/>
                </a:solidFill>
                <a:latin typeface="Consolas"/>
              </a:rPr>
              <a:t>function</a:t>
            </a:r>
            <a:r>
              <a:rPr sz="1450">
                <a:solidFill>
                  <a:srgbClr val="24292F"/>
                </a:solidFill>
                <a:latin typeface="Consolas"/>
              </a:rPr>
              <a:t> () {</a:t>
            </a:r>
          </a:p>
          <a:p>
            <a:pPr marL="0" indent="0" algn="l">
              <a:lnSpc>
                <a:spcPct val="100000"/>
              </a:lnSpc>
              <a:buNone/>
            </a:pPr>
            <a:r>
              <a:rPr sz="1450">
                <a:solidFill>
                  <a:srgbClr val="24292F"/>
                </a:solidFill>
                <a:latin typeface="Consolas"/>
              </a:rPr>
              <a:t>  </a:t>
            </a:r>
            <a:r>
              <a:rPr sz="1450">
                <a:solidFill>
                  <a:srgbClr val="CF222E"/>
                </a:solidFill>
                <a:latin typeface="Consolas"/>
              </a:rPr>
              <a:t>function</a:t>
            </a:r>
            <a:r>
              <a:rPr sz="1450">
                <a:solidFill>
                  <a:srgbClr val="24292F"/>
                </a:solidFill>
                <a:latin typeface="Consolas"/>
              </a:rPr>
              <a:t> foo() { </a:t>
            </a:r>
            <a:r>
              <a:rPr sz="1450">
                <a:solidFill>
                  <a:srgbClr val="CF222E"/>
                </a:solidFill>
                <a:latin typeface="Consolas"/>
              </a:rPr>
              <a:t>return</a:t>
            </a:r>
            <a:r>
              <a:rPr sz="1450">
                <a:solidFill>
                  <a:srgbClr val="24292F"/>
                </a:solidFill>
                <a:latin typeface="Consolas"/>
              </a:rPr>
              <a:t> </a:t>
            </a:r>
            <a:r>
              <a:rPr sz="1450">
                <a:solidFill>
                  <a:srgbClr val="0550AE"/>
                </a:solidFill>
                <a:latin typeface="Consolas"/>
              </a:rPr>
              <a:t>1</a:t>
            </a:r>
            <a:r>
              <a:rPr sz="1450">
                <a:solidFill>
                  <a:srgbClr val="24292F"/>
                </a:solidFill>
                <a:latin typeface="Consolas"/>
              </a:rPr>
              <a:t> }</a:t>
            </a:r>
          </a:p>
          <a:p>
            <a:pPr marL="0" indent="0" algn="l">
              <a:lnSpc>
                <a:spcPct val="100000"/>
              </a:lnSpc>
              <a:buNone/>
            </a:pPr>
            <a:r>
              <a:rPr sz="1450">
                <a:solidFill>
                  <a:srgbClr val="24292F"/>
                </a:solidFill>
                <a:latin typeface="Consolas"/>
              </a:rPr>
              <a:t>  (</a:t>
            </a:r>
            <a:r>
              <a:rPr sz="1450">
                <a:solidFill>
                  <a:srgbClr val="CF222E"/>
                </a:solidFill>
                <a:latin typeface="Consolas"/>
              </a:rPr>
              <a:t>function</a:t>
            </a:r>
            <a:r>
              <a:rPr sz="1450">
                <a:solidFill>
                  <a:srgbClr val="24292F"/>
                </a:solidFill>
                <a:latin typeface="Consolas"/>
              </a:rPr>
              <a:t> () {</a:t>
            </a:r>
          </a:p>
          <a:p>
            <a:pPr marL="0" indent="0" algn="l">
              <a:lnSpc>
                <a:spcPct val="100000"/>
              </a:lnSpc>
              <a:buNone/>
            </a:pPr>
            <a:r>
              <a:rPr sz="1450">
                <a:solidFill>
                  <a:srgbClr val="24292F"/>
                </a:solidFill>
                <a:latin typeface="Consolas"/>
              </a:rPr>
              <a:t>    </a:t>
            </a:r>
            <a:r>
              <a:rPr sz="1450">
                <a:solidFill>
                  <a:srgbClr val="CF222E"/>
                </a:solidFill>
                <a:latin typeface="Consolas"/>
              </a:rPr>
              <a:t>function</a:t>
            </a:r>
            <a:r>
              <a:rPr sz="1450">
                <a:solidFill>
                  <a:srgbClr val="24292F"/>
                </a:solidFill>
                <a:latin typeface="Consolas"/>
              </a:rPr>
              <a:t> foo() { </a:t>
            </a:r>
            <a:r>
              <a:rPr sz="1450">
                <a:solidFill>
                  <a:srgbClr val="CF222E"/>
                </a:solidFill>
                <a:latin typeface="Consolas"/>
              </a:rPr>
              <a:t>return</a:t>
            </a:r>
            <a:r>
              <a:rPr sz="1450">
                <a:solidFill>
                  <a:srgbClr val="24292F"/>
                </a:solidFill>
                <a:latin typeface="Consolas"/>
              </a:rPr>
              <a:t> </a:t>
            </a:r>
            <a:r>
              <a:rPr sz="1450">
                <a:solidFill>
                  <a:srgbClr val="0550AE"/>
                </a:solidFill>
                <a:latin typeface="Consolas"/>
              </a:rPr>
              <a:t>2</a:t>
            </a:r>
            <a:r>
              <a:rPr sz="1450">
                <a:solidFill>
                  <a:srgbClr val="24292F"/>
                </a:solidFill>
                <a:latin typeface="Consolas"/>
              </a:rPr>
              <a:t> }</a:t>
            </a:r>
          </a:p>
          <a:p>
            <a:pPr marL="0" indent="0" algn="l">
              <a:lnSpc>
                <a:spcPct val="100000"/>
              </a:lnSpc>
              <a:buNone/>
            </a:pPr>
            <a:r>
              <a:rPr sz="1450">
                <a:solidFill>
                  <a:srgbClr val="24292F"/>
                </a:solidFill>
                <a:latin typeface="Consolas"/>
              </a:rPr>
              <a:t>    foo()  </a:t>
            </a:r>
            <a:r>
              <a:rPr sz="1450" i="1">
                <a:solidFill>
                  <a:srgbClr val="6E7781"/>
                </a:solidFill>
                <a:latin typeface="Consolas"/>
              </a:rPr>
              <a:t>// 2</a:t>
            </a:r>
          </a:p>
          <a:p>
            <a:pPr marL="0" indent="0" algn="l">
              <a:lnSpc>
                <a:spcPct val="100000"/>
              </a:lnSpc>
              <a:buNone/>
            </a:pPr>
            <a:r>
              <a:rPr sz="1450">
                <a:solidFill>
                  <a:srgbClr val="24292F"/>
                </a:solidFill>
                <a:latin typeface="Consolas"/>
              </a:rPr>
              <a:t>  })()</a:t>
            </a:r>
          </a:p>
          <a:p>
            <a:pPr marL="0" indent="0" algn="l">
              <a:lnSpc>
                <a:spcPct val="100000"/>
              </a:lnSpc>
              <a:buNone/>
            </a:pPr>
            <a:r>
              <a:rPr sz="1450">
                <a:solidFill>
                  <a:srgbClr val="24292F"/>
                </a:solidFill>
                <a:latin typeface="Consolas"/>
              </a:rPr>
              <a:t>  foo()    </a:t>
            </a:r>
            <a:r>
              <a:rPr sz="1450" i="1">
                <a:solidFill>
                  <a:srgbClr val="6E7781"/>
                </a:solidFill>
                <a:latin typeface="Consolas"/>
              </a:rPr>
              <a:t>// 1</a:t>
            </a:r>
          </a:p>
          <a:p>
            <a:pPr marL="0" indent="0" algn="l">
              <a:lnSpc>
                <a:spcPct val="100000"/>
              </a:lnSpc>
              <a:buNone/>
            </a:pPr>
            <a:r>
              <a:rPr sz="1450">
                <a:solidFill>
                  <a:srgbClr val="24292F"/>
                </a:solidFill>
                <a:latin typeface="Consolas"/>
              </a:rPr>
              <a:t>})()</a:t>
            </a:r>
          </a:p>
        </p:txBody>
      </p:sp>
      <p:sp>
        <p:nvSpPr>
          <p:cNvPr id="5"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ES6 (blocks)</a:t>
            </a:r>
          </a:p>
        </p:txBody>
      </p:sp>
      <p:sp>
        <p:nvSpPr>
          <p:cNvPr id="6" name="Code"/>
          <p:cNvSpPr/>
          <p:nvPr/>
        </p:nvSpPr>
        <p:spPr>
          <a:xfrm>
            <a:off x="4732020" y="1835657"/>
            <a:ext cx="3954780" cy="211937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24292F"/>
                </a:solidFill>
                <a:latin typeface="Consolas"/>
              </a:rPr>
              <a:t>{</a:t>
            </a:r>
          </a:p>
          <a:p>
            <a:pPr marL="0" indent="0" algn="l">
              <a:lnSpc>
                <a:spcPct val="100000"/>
              </a:lnSpc>
              <a:buNone/>
            </a:pPr>
            <a:r>
              <a:rPr sz="1450">
                <a:solidFill>
                  <a:srgbClr val="24292F"/>
                </a:solidFill>
                <a:latin typeface="Consolas"/>
              </a:rPr>
              <a:t>  </a:t>
            </a:r>
            <a:r>
              <a:rPr sz="1450">
                <a:solidFill>
                  <a:srgbClr val="CF222E"/>
                </a:solidFill>
                <a:latin typeface="Consolas"/>
              </a:rPr>
              <a:t>function</a:t>
            </a:r>
            <a:r>
              <a:rPr sz="1450">
                <a:solidFill>
                  <a:srgbClr val="24292F"/>
                </a:solidFill>
                <a:latin typeface="Consolas"/>
              </a:rPr>
              <a:t> foo() { </a:t>
            </a:r>
            <a:r>
              <a:rPr sz="1450">
                <a:solidFill>
                  <a:srgbClr val="CF222E"/>
                </a:solidFill>
                <a:latin typeface="Consolas"/>
              </a:rPr>
              <a:t>return</a:t>
            </a:r>
            <a:r>
              <a:rPr sz="1450">
                <a:solidFill>
                  <a:srgbClr val="24292F"/>
                </a:solidFill>
                <a:latin typeface="Consolas"/>
              </a:rPr>
              <a:t> </a:t>
            </a:r>
            <a:r>
              <a:rPr sz="1450">
                <a:solidFill>
                  <a:srgbClr val="0550AE"/>
                </a:solidFill>
                <a:latin typeface="Consolas"/>
              </a:rPr>
              <a:t>1</a:t>
            </a:r>
            <a:r>
              <a:rPr sz="1450">
                <a:solidFill>
                  <a:srgbClr val="24292F"/>
                </a:solidFill>
                <a:latin typeface="Consolas"/>
              </a:rPr>
              <a:t> }</a:t>
            </a:r>
          </a:p>
          <a:p>
            <a:pPr marL="0" indent="0" algn="l">
              <a:lnSpc>
                <a:spcPct val="100000"/>
              </a:lnSpc>
              <a:buNone/>
            </a:pPr>
            <a:r>
              <a:rPr sz="1450">
                <a:solidFill>
                  <a:srgbClr val="24292F"/>
                </a:solidFill>
                <a:latin typeface="Consolas"/>
              </a:rPr>
              <a:t>  {</a:t>
            </a:r>
          </a:p>
          <a:p>
            <a:pPr marL="0" indent="0" algn="l">
              <a:lnSpc>
                <a:spcPct val="100000"/>
              </a:lnSpc>
              <a:buNone/>
            </a:pPr>
            <a:r>
              <a:rPr sz="1450">
                <a:solidFill>
                  <a:srgbClr val="24292F"/>
                </a:solidFill>
                <a:latin typeface="Consolas"/>
              </a:rPr>
              <a:t>    </a:t>
            </a:r>
            <a:r>
              <a:rPr sz="1450">
                <a:solidFill>
                  <a:srgbClr val="CF222E"/>
                </a:solidFill>
                <a:latin typeface="Consolas"/>
              </a:rPr>
              <a:t>function</a:t>
            </a:r>
            <a:r>
              <a:rPr sz="1450">
                <a:solidFill>
                  <a:srgbClr val="24292F"/>
                </a:solidFill>
                <a:latin typeface="Consolas"/>
              </a:rPr>
              <a:t> foo() { </a:t>
            </a:r>
            <a:r>
              <a:rPr sz="1450">
                <a:solidFill>
                  <a:srgbClr val="CF222E"/>
                </a:solidFill>
                <a:latin typeface="Consolas"/>
              </a:rPr>
              <a:t>return</a:t>
            </a:r>
            <a:r>
              <a:rPr sz="1450">
                <a:solidFill>
                  <a:srgbClr val="24292F"/>
                </a:solidFill>
                <a:latin typeface="Consolas"/>
              </a:rPr>
              <a:t> </a:t>
            </a:r>
            <a:r>
              <a:rPr sz="1450">
                <a:solidFill>
                  <a:srgbClr val="0550AE"/>
                </a:solidFill>
                <a:latin typeface="Consolas"/>
              </a:rPr>
              <a:t>2</a:t>
            </a:r>
            <a:r>
              <a:rPr sz="1450">
                <a:solidFill>
                  <a:srgbClr val="24292F"/>
                </a:solidFill>
                <a:latin typeface="Consolas"/>
              </a:rPr>
              <a:t> }</a:t>
            </a:r>
          </a:p>
          <a:p>
            <a:pPr marL="0" indent="0" algn="l">
              <a:lnSpc>
                <a:spcPct val="100000"/>
              </a:lnSpc>
              <a:buNone/>
            </a:pPr>
            <a:r>
              <a:rPr sz="1450">
                <a:solidFill>
                  <a:srgbClr val="24292F"/>
                </a:solidFill>
                <a:latin typeface="Consolas"/>
              </a:rPr>
              <a:t>    foo()  </a:t>
            </a:r>
            <a:r>
              <a:rPr sz="1450" i="1">
                <a:solidFill>
                  <a:srgbClr val="6E7781"/>
                </a:solidFill>
                <a:latin typeface="Consolas"/>
              </a:rPr>
              <a:t>// 2</a:t>
            </a:r>
          </a:p>
          <a:p>
            <a:pPr marL="0" indent="0" algn="l">
              <a:lnSpc>
                <a:spcPct val="100000"/>
              </a:lnSpc>
              <a:buNone/>
            </a:pPr>
            <a:r>
              <a:rPr sz="1450">
                <a:solidFill>
                  <a:srgbClr val="24292F"/>
                </a:solidFill>
                <a:latin typeface="Consolas"/>
              </a:rPr>
              <a:t>  }</a:t>
            </a:r>
          </a:p>
          <a:p>
            <a:pPr marL="0" indent="0" algn="l">
              <a:lnSpc>
                <a:spcPct val="100000"/>
              </a:lnSpc>
              <a:buNone/>
            </a:pPr>
            <a:r>
              <a:rPr sz="1450">
                <a:solidFill>
                  <a:srgbClr val="24292F"/>
                </a:solidFill>
                <a:latin typeface="Consolas"/>
              </a:rPr>
              <a:t>  foo()    </a:t>
            </a:r>
            <a:r>
              <a:rPr sz="1450" i="1">
                <a:solidFill>
                  <a:srgbClr val="6E7781"/>
                </a:solidFill>
                <a:latin typeface="Consolas"/>
              </a:rPr>
              <a:t>// 1</a:t>
            </a:r>
          </a:p>
          <a:p>
            <a:pPr marL="0" indent="0" algn="l">
              <a:lnSpc>
                <a:spcPct val="100000"/>
              </a:lnSpc>
              <a:buNone/>
            </a:pPr>
            <a:r>
              <a:rPr sz="145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265</a:t>
            </a:fld>
            <a:endParaRPr lang="en-US" sz="900">
              <a:solidFill>
                <a:srgbClr val="9AA7B4"/>
              </a:solidFill>
            </a:endParaRPr>
          </a:p>
        </p:txBody>
      </p:sp>
    </p:spTree>
    <p:extLst>
      <p:ext uri="{BB962C8B-B14F-4D97-AF65-F5344CB8AC3E}">
        <p14:creationId xmlns:p14="http://schemas.microsoft.com/office/powerpoint/2010/main" val="71452936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Arrow Functions</a:t>
            </a:r>
          </a:p>
        </p:txBody>
      </p:sp>
      <p:sp>
        <p:nvSpPr>
          <p:cNvPr id="3" name="Body"/>
          <p:cNvSpPr txBox="1"/>
          <p:nvPr/>
        </p:nvSpPr>
        <p:spPr>
          <a:xfrm>
            <a:off x="457200" y="1261872"/>
            <a:ext cx="8229600" cy="805179"/>
          </a:xfrm>
          <a:prstGeom prst="rect">
            <a:avLst/>
          </a:prstGeom>
          <a:noFill/>
        </p:spPr>
        <p:txBody>
          <a:bodyPr wrap="square" lIns="0" tIns="0" rIns="0" bIns="0">
            <a:noAutofit/>
          </a:bodyPr>
          <a:lstStyle/>
          <a:p>
            <a:pPr marL="0" indent="0">
              <a:spcAft>
                <a:spcPts val="900"/>
              </a:spcAft>
              <a:buNone/>
            </a:pPr>
            <a:r>
              <a:rPr sz="2000" b="0" i="0">
                <a:solidFill>
                  <a:srgbClr val="1F2A36"/>
                </a:solidFill>
              </a:rPr>
              <a:t>Also called "fat arrow" functions: a more concise syntax for writing functions.</a:t>
            </a:r>
          </a:p>
        </p:txBody>
      </p:sp>
      <p:sp>
        <p:nvSpPr>
          <p:cNvPr id="4" name="Body"/>
          <p:cNvSpPr txBox="1"/>
          <p:nvPr/>
        </p:nvSpPr>
        <p:spPr>
          <a:xfrm>
            <a:off x="45720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Function expression (ES5)</a:t>
            </a:r>
          </a:p>
        </p:txBody>
      </p:sp>
      <p:sp>
        <p:nvSpPr>
          <p:cNvPr id="5" name="Code"/>
          <p:cNvSpPr/>
          <p:nvPr/>
        </p:nvSpPr>
        <p:spPr>
          <a:xfrm>
            <a:off x="457200" y="2695702"/>
            <a:ext cx="3954780" cy="95402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const</a:t>
            </a:r>
            <a:r>
              <a:rPr sz="1400">
                <a:solidFill>
                  <a:srgbClr val="24292F"/>
                </a:solidFill>
                <a:latin typeface="Consolas"/>
              </a:rPr>
              <a:t> increment = </a:t>
            </a:r>
            <a:r>
              <a:rPr sz="1400">
                <a:solidFill>
                  <a:srgbClr val="CF222E"/>
                </a:solidFill>
                <a:latin typeface="Consolas"/>
              </a:rPr>
              <a:t>function</a:t>
            </a:r>
            <a:r>
              <a:rPr sz="1400">
                <a:solidFill>
                  <a:srgbClr val="24292F"/>
                </a:solidFill>
                <a:latin typeface="Consolas"/>
              </a:rPr>
              <a:t> (v) {</a:t>
            </a:r>
          </a:p>
          <a:p>
            <a:pPr marL="0" indent="0" algn="l">
              <a:lnSpc>
                <a:spcPct val="100000"/>
              </a:lnSpc>
              <a:buNone/>
            </a:pPr>
            <a:r>
              <a:rPr sz="1400">
                <a:solidFill>
                  <a:srgbClr val="24292F"/>
                </a:solidFill>
                <a:latin typeface="Consolas"/>
              </a:rPr>
              <a:t>  </a:t>
            </a:r>
            <a:r>
              <a:rPr sz="1400">
                <a:solidFill>
                  <a:srgbClr val="CF222E"/>
                </a:solidFill>
                <a:latin typeface="Consolas"/>
              </a:rPr>
              <a:t>return</a:t>
            </a:r>
            <a:r>
              <a:rPr sz="1400">
                <a:solidFill>
                  <a:srgbClr val="24292F"/>
                </a:solidFill>
                <a:latin typeface="Consolas"/>
              </a:rPr>
              <a:t> v + </a:t>
            </a:r>
            <a:r>
              <a:rPr sz="1400">
                <a:solidFill>
                  <a:srgbClr val="0550AE"/>
                </a:solidFill>
                <a:latin typeface="Consolas"/>
              </a:rPr>
              <a:t>1</a:t>
            </a:r>
          </a:p>
          <a:p>
            <a:pPr marL="0" indent="0" algn="l">
              <a:lnSpc>
                <a:spcPct val="100000"/>
              </a:lnSpc>
              <a:buNone/>
            </a:pPr>
            <a:r>
              <a:rPr sz="1400">
                <a:solidFill>
                  <a:srgbClr val="24292F"/>
                </a:solidFill>
                <a:latin typeface="Consolas"/>
              </a:rPr>
              <a:t>}</a:t>
            </a:r>
          </a:p>
        </p:txBody>
      </p:sp>
      <p:sp>
        <p:nvSpPr>
          <p:cNvPr id="6" name="Body"/>
          <p:cNvSpPr txBox="1"/>
          <p:nvPr/>
        </p:nvSpPr>
        <p:spPr>
          <a:xfrm>
            <a:off x="473202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Arrow function</a:t>
            </a:r>
          </a:p>
        </p:txBody>
      </p:sp>
      <p:sp>
        <p:nvSpPr>
          <p:cNvPr id="7" name="Code"/>
          <p:cNvSpPr/>
          <p:nvPr/>
        </p:nvSpPr>
        <p:spPr>
          <a:xfrm>
            <a:off x="4732020" y="2695702"/>
            <a:ext cx="3954780" cy="17099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const</a:t>
            </a:r>
            <a:r>
              <a:rPr sz="1500">
                <a:solidFill>
                  <a:srgbClr val="24292F"/>
                </a:solidFill>
                <a:latin typeface="Consolas"/>
              </a:rPr>
              <a:t> increment = (v) =&gt; v + </a:t>
            </a:r>
            <a:r>
              <a:rPr sz="1500">
                <a:solidFill>
                  <a:srgbClr val="0550AE"/>
                </a:solidFill>
                <a:latin typeface="Consolas"/>
              </a:rPr>
              <a:t>1</a:t>
            </a:r>
          </a:p>
          <a:p>
            <a:pPr marL="0" indent="0" algn="l">
              <a:lnSpc>
                <a:spcPct val="100000"/>
              </a:lnSpc>
              <a:buNone/>
            </a:pPr>
            <a:r>
              <a:rPr sz="1500">
                <a:latin typeface="Consolas"/>
              </a:rPr>
              <a:t> </a:t>
            </a:r>
          </a:p>
          <a:p>
            <a:pPr marL="0" indent="0" algn="l">
              <a:lnSpc>
                <a:spcPct val="100000"/>
              </a:lnSpc>
              <a:buNone/>
            </a:pPr>
            <a:r>
              <a:rPr sz="1500" i="1">
                <a:solidFill>
                  <a:srgbClr val="6E7781"/>
                </a:solidFill>
                <a:latin typeface="Consolas"/>
              </a:rPr>
              <a:t>// a block body needs return</a:t>
            </a:r>
          </a:p>
          <a:p>
            <a:pPr marL="0" indent="0" algn="l">
              <a:lnSpc>
                <a:spcPct val="100000"/>
              </a:lnSpc>
              <a:buNone/>
            </a:pPr>
            <a:r>
              <a:rPr sz="1500">
                <a:solidFill>
                  <a:srgbClr val="CF222E"/>
                </a:solidFill>
                <a:latin typeface="Consolas"/>
              </a:rPr>
              <a:t>const</a:t>
            </a:r>
            <a:r>
              <a:rPr sz="1500">
                <a:solidFill>
                  <a:srgbClr val="24292F"/>
                </a:solidFill>
                <a:latin typeface="Consolas"/>
              </a:rPr>
              <a:t> inc2 = (v) =&gt; {</a:t>
            </a:r>
          </a:p>
          <a:p>
            <a:pPr marL="0" indent="0" algn="l">
              <a:lnSpc>
                <a:spcPct val="100000"/>
              </a:lnSpc>
              <a:buNone/>
            </a:pPr>
            <a:r>
              <a:rPr sz="1500">
                <a:solidFill>
                  <a:srgbClr val="24292F"/>
                </a:solidFill>
                <a:latin typeface="Consolas"/>
              </a:rPr>
              <a:t>  </a:t>
            </a:r>
            <a:r>
              <a:rPr sz="1500">
                <a:solidFill>
                  <a:srgbClr val="CF222E"/>
                </a:solidFill>
                <a:latin typeface="Consolas"/>
              </a:rPr>
              <a:t>return</a:t>
            </a:r>
            <a:r>
              <a:rPr sz="1500">
                <a:solidFill>
                  <a:srgbClr val="24292F"/>
                </a:solidFill>
                <a:latin typeface="Consolas"/>
              </a:rPr>
              <a:t> v + </a:t>
            </a:r>
            <a:r>
              <a:rPr sz="1500">
                <a:solidFill>
                  <a:srgbClr val="0550AE"/>
                </a:solidFill>
                <a:latin typeface="Consolas"/>
              </a:rPr>
              <a:t>1</a:t>
            </a:r>
          </a:p>
          <a:p>
            <a:pPr marL="0" indent="0" algn="l">
              <a:lnSpc>
                <a:spcPct val="100000"/>
              </a:lnSpc>
              <a:buNone/>
            </a:pPr>
            <a:r>
              <a:rPr sz="1500">
                <a:solidFill>
                  <a:srgbClr val="24292F"/>
                </a:solidFill>
                <a:latin typeface="Consolas"/>
              </a:rPr>
              <a: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266</a:t>
            </a:fld>
            <a:endParaRPr lang="en-US" sz="900">
              <a:solidFill>
                <a:srgbClr val="9AA7B4"/>
              </a:solidFill>
            </a:endParaRPr>
          </a:p>
        </p:txBody>
      </p:sp>
    </p:spTree>
    <p:extLst>
      <p:ext uri="{BB962C8B-B14F-4D97-AF65-F5344CB8AC3E}">
        <p14:creationId xmlns:p14="http://schemas.microsoft.com/office/powerpoint/2010/main" val="237113217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Arrow Function Parameters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Surround parameter names with parentheses:</a:t>
            </a:r>
          </a:p>
        </p:txBody>
      </p:sp>
      <p:sp>
        <p:nvSpPr>
          <p:cNvPr id="4" name="Code"/>
          <p:cNvSpPr/>
          <p:nvPr/>
        </p:nvSpPr>
        <p:spPr>
          <a:xfrm>
            <a:off x="457200" y="1863597"/>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(param1, param2, param3) =&gt; { statements }</a:t>
            </a:r>
          </a:p>
        </p:txBody>
      </p:sp>
      <p:sp>
        <p:nvSpPr>
          <p:cNvPr id="5" name="Body"/>
          <p:cNvSpPr txBox="1"/>
          <p:nvPr/>
        </p:nvSpPr>
        <p:spPr>
          <a:xfrm>
            <a:off x="457200" y="2617470"/>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Parentheses are optional when there's exactly one parameter:</a:t>
            </a:r>
          </a:p>
        </p:txBody>
      </p:sp>
      <p:sp>
        <p:nvSpPr>
          <p:cNvPr id="6" name="Code"/>
          <p:cNvSpPr/>
          <p:nvPr/>
        </p:nvSpPr>
        <p:spPr>
          <a:xfrm>
            <a:off x="457200" y="3548888"/>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singleParam =&gt; { statements }</a:t>
            </a:r>
          </a:p>
        </p:txBody>
      </p:sp>
      <p:sp>
        <p:nvSpPr>
          <p:cNvPr id="7" name="Body"/>
          <p:cNvSpPr txBox="1"/>
          <p:nvPr/>
        </p:nvSpPr>
        <p:spPr>
          <a:xfrm>
            <a:off x="457200" y="4302760"/>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No parameters: empty parentheses are required</a:t>
            </a:r>
          </a:p>
        </p:txBody>
      </p:sp>
      <p:sp>
        <p:nvSpPr>
          <p:cNvPr id="8" name="Code"/>
          <p:cNvSpPr/>
          <p:nvPr/>
        </p:nvSpPr>
        <p:spPr>
          <a:xfrm>
            <a:off x="457200" y="4904486"/>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 =&gt; { statements }</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267</a:t>
            </a:fld>
            <a:endParaRPr lang="en-US" sz="900">
              <a:solidFill>
                <a:srgbClr val="9AA7B4"/>
              </a:solidFill>
            </a:endParaRPr>
          </a:p>
        </p:txBody>
      </p:sp>
    </p:spTree>
    <p:extLst>
      <p:ext uri="{BB962C8B-B14F-4D97-AF65-F5344CB8AC3E}">
        <p14:creationId xmlns:p14="http://schemas.microsoft.com/office/powerpoint/2010/main" val="214536205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Arrow Functions and this</a:t>
            </a:r>
          </a:p>
        </p:txBody>
      </p:sp>
      <p:sp>
        <p:nvSpPr>
          <p:cNvPr id="3" name="Body"/>
          <p:cNvSpPr txBox="1"/>
          <p:nvPr/>
        </p:nvSpPr>
        <p:spPr>
          <a:xfrm>
            <a:off x="457200" y="1261872"/>
            <a:ext cx="8229600" cy="805179"/>
          </a:xfrm>
          <a:prstGeom prst="rect">
            <a:avLst/>
          </a:prstGeom>
          <a:noFill/>
        </p:spPr>
        <p:txBody>
          <a:bodyPr wrap="square" lIns="0" tIns="0" rIns="0" bIns="0">
            <a:noAutofit/>
          </a:bodyPr>
          <a:lstStyle/>
          <a:p>
            <a:pPr marL="0" indent="0">
              <a:spcAft>
                <a:spcPts val="900"/>
              </a:spcAft>
              <a:buNone/>
            </a:pPr>
            <a:r>
              <a:rPr sz="2000" b="0" i="0">
                <a:solidFill>
                  <a:srgbClr val="1F2A36"/>
                </a:solidFill>
              </a:rPr>
              <a:t>Arrow functions don't have their own </a:t>
            </a:r>
            <a:r>
              <a:rPr sz="1900" b="0" i="0">
                <a:solidFill>
                  <a:srgbClr val="8A2B52"/>
                </a:solidFill>
                <a:latin typeface="Consolas"/>
              </a:rPr>
              <a:t>this</a:t>
            </a:r>
            <a:r>
              <a:rPr sz="2000" b="0" i="0">
                <a:solidFill>
                  <a:srgbClr val="1F2A36"/>
                </a:solidFill>
              </a:rPr>
              <a:t>: they use the </a:t>
            </a:r>
            <a:r>
              <a:rPr sz="1900" b="0" i="0">
                <a:solidFill>
                  <a:srgbClr val="8A2B52"/>
                </a:solidFill>
                <a:latin typeface="Consolas"/>
              </a:rPr>
              <a:t>this</a:t>
            </a:r>
            <a:r>
              <a:rPr sz="2000" b="0" i="0">
                <a:solidFill>
                  <a:srgbClr val="1F2A36"/>
                </a:solidFill>
              </a:rPr>
              <a:t> of the surrounding code.</a:t>
            </a:r>
          </a:p>
        </p:txBody>
      </p:sp>
      <p:sp>
        <p:nvSpPr>
          <p:cNvPr id="4" name="Body"/>
          <p:cNvSpPr txBox="1"/>
          <p:nvPr/>
        </p:nvSpPr>
        <p:spPr>
          <a:xfrm>
            <a:off x="45720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ES6</a:t>
            </a:r>
          </a:p>
        </p:txBody>
      </p:sp>
      <p:sp>
        <p:nvSpPr>
          <p:cNvPr id="5" name="Code"/>
          <p:cNvSpPr/>
          <p:nvPr/>
        </p:nvSpPr>
        <p:spPr>
          <a:xfrm>
            <a:off x="457200" y="2695702"/>
            <a:ext cx="3954780" cy="167055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a:solidFill>
                  <a:srgbClr val="CF222E"/>
                </a:solidFill>
                <a:latin typeface="Consolas"/>
              </a:rPr>
              <a:t>this</a:t>
            </a:r>
            <a:r>
              <a:rPr sz="1750">
                <a:solidFill>
                  <a:srgbClr val="24292F"/>
                </a:solidFill>
                <a:latin typeface="Consolas"/>
              </a:rPr>
              <a:t>.nums.forEach((v) =&gt; {</a:t>
            </a:r>
          </a:p>
          <a:p>
            <a:pPr marL="0" indent="0" algn="l">
              <a:lnSpc>
                <a:spcPct val="100000"/>
              </a:lnSpc>
              <a:buNone/>
            </a:pPr>
            <a:r>
              <a:rPr sz="1750">
                <a:solidFill>
                  <a:srgbClr val="24292F"/>
                </a:solidFill>
                <a:latin typeface="Consolas"/>
              </a:rPr>
              <a:t>  </a:t>
            </a:r>
            <a:r>
              <a:rPr sz="1750">
                <a:solidFill>
                  <a:srgbClr val="CF222E"/>
                </a:solidFill>
                <a:latin typeface="Consolas"/>
              </a:rPr>
              <a:t>if</a:t>
            </a:r>
            <a:r>
              <a:rPr sz="1750">
                <a:solidFill>
                  <a:srgbClr val="24292F"/>
                </a:solidFill>
                <a:latin typeface="Consolas"/>
              </a:rPr>
              <a:t> (v % </a:t>
            </a:r>
            <a:r>
              <a:rPr sz="1750">
                <a:solidFill>
                  <a:srgbClr val="0550AE"/>
                </a:solidFill>
                <a:latin typeface="Consolas"/>
              </a:rPr>
              <a:t>5</a:t>
            </a:r>
            <a:r>
              <a:rPr sz="1750">
                <a:solidFill>
                  <a:srgbClr val="24292F"/>
                </a:solidFill>
                <a:latin typeface="Consolas"/>
              </a:rPr>
              <a:t> === </a:t>
            </a:r>
            <a:r>
              <a:rPr sz="1750">
                <a:solidFill>
                  <a:srgbClr val="0550AE"/>
                </a:solidFill>
                <a:latin typeface="Consolas"/>
              </a:rPr>
              <a:t>0</a:t>
            </a:r>
            <a:r>
              <a:rPr sz="1750">
                <a:solidFill>
                  <a:srgbClr val="24292F"/>
                </a:solidFill>
                <a:latin typeface="Consolas"/>
              </a:rPr>
              <a:t>) {</a:t>
            </a:r>
          </a:p>
          <a:p>
            <a:pPr marL="0" indent="0" algn="l">
              <a:lnSpc>
                <a:spcPct val="100000"/>
              </a:lnSpc>
              <a:buNone/>
            </a:pPr>
            <a:r>
              <a:rPr sz="1750">
                <a:solidFill>
                  <a:srgbClr val="24292F"/>
                </a:solidFill>
                <a:latin typeface="Consolas"/>
              </a:rPr>
              <a:t>    </a:t>
            </a:r>
            <a:r>
              <a:rPr sz="1750">
                <a:solidFill>
                  <a:srgbClr val="CF222E"/>
                </a:solidFill>
                <a:latin typeface="Consolas"/>
              </a:rPr>
              <a:t>this</a:t>
            </a:r>
            <a:r>
              <a:rPr sz="1750">
                <a:solidFill>
                  <a:srgbClr val="24292F"/>
                </a:solidFill>
                <a:latin typeface="Consolas"/>
              </a:rPr>
              <a:t>.fives.push(v)</a:t>
            </a:r>
          </a:p>
          <a:p>
            <a:pPr marL="0" indent="0" algn="l">
              <a:lnSpc>
                <a:spcPct val="100000"/>
              </a:lnSpc>
              <a:buNone/>
            </a:pPr>
            <a:r>
              <a:rPr sz="1750">
                <a:solidFill>
                  <a:srgbClr val="24292F"/>
                </a:solidFill>
                <a:latin typeface="Consolas"/>
              </a:rPr>
              <a:t>  }</a:t>
            </a:r>
          </a:p>
          <a:p>
            <a:pPr marL="0" indent="0" algn="l">
              <a:lnSpc>
                <a:spcPct val="100000"/>
              </a:lnSpc>
              <a:buNone/>
            </a:pPr>
            <a:r>
              <a:rPr sz="1750">
                <a:solidFill>
                  <a:srgbClr val="24292F"/>
                </a:solidFill>
                <a:latin typeface="Consolas"/>
              </a:rPr>
              <a:t>})</a:t>
            </a:r>
          </a:p>
        </p:txBody>
      </p:sp>
      <p:sp>
        <p:nvSpPr>
          <p:cNvPr id="6" name="Body"/>
          <p:cNvSpPr txBox="1"/>
          <p:nvPr/>
        </p:nvSpPr>
        <p:spPr>
          <a:xfrm>
            <a:off x="473202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a:t>
            </a:r>
          </a:p>
        </p:txBody>
      </p:sp>
      <p:sp>
        <p:nvSpPr>
          <p:cNvPr id="7" name="Code"/>
          <p:cNvSpPr/>
          <p:nvPr/>
        </p:nvSpPr>
        <p:spPr>
          <a:xfrm>
            <a:off x="4732020" y="2695702"/>
            <a:ext cx="3954780" cy="161544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var</a:t>
            </a:r>
            <a:r>
              <a:rPr sz="1400">
                <a:solidFill>
                  <a:srgbClr val="24292F"/>
                </a:solidFill>
                <a:latin typeface="Consolas"/>
              </a:rPr>
              <a:t> self = </a:t>
            </a:r>
            <a:r>
              <a:rPr sz="1400">
                <a:solidFill>
                  <a:srgbClr val="CF222E"/>
                </a:solidFill>
                <a:latin typeface="Consolas"/>
              </a:rPr>
              <a:t>this</a:t>
            </a:r>
          </a:p>
          <a:p>
            <a:pPr marL="0" indent="0" algn="l">
              <a:lnSpc>
                <a:spcPct val="100000"/>
              </a:lnSpc>
              <a:buNone/>
            </a:pPr>
            <a:r>
              <a:rPr sz="1400">
                <a:solidFill>
                  <a:srgbClr val="CF222E"/>
                </a:solidFill>
                <a:latin typeface="Consolas"/>
              </a:rPr>
              <a:t>this</a:t>
            </a:r>
            <a:r>
              <a:rPr sz="1400">
                <a:solidFill>
                  <a:srgbClr val="24292F"/>
                </a:solidFill>
                <a:latin typeface="Consolas"/>
              </a:rPr>
              <a:t>.nums.forEach(</a:t>
            </a:r>
            <a:r>
              <a:rPr sz="1400">
                <a:solidFill>
                  <a:srgbClr val="CF222E"/>
                </a:solidFill>
                <a:latin typeface="Consolas"/>
              </a:rPr>
              <a:t>function</a:t>
            </a:r>
            <a:r>
              <a:rPr sz="1400">
                <a:solidFill>
                  <a:srgbClr val="24292F"/>
                </a:solidFill>
                <a:latin typeface="Consolas"/>
              </a:rPr>
              <a:t> (v) {</a:t>
            </a:r>
          </a:p>
          <a:p>
            <a:pPr marL="0" indent="0" algn="l">
              <a:lnSpc>
                <a:spcPct val="100000"/>
              </a:lnSpc>
              <a:buNone/>
            </a:pPr>
            <a:r>
              <a:rPr sz="1400">
                <a:solidFill>
                  <a:srgbClr val="24292F"/>
                </a:solidFill>
                <a:latin typeface="Consolas"/>
              </a:rPr>
              <a:t>  </a:t>
            </a:r>
            <a:r>
              <a:rPr sz="1400">
                <a:solidFill>
                  <a:srgbClr val="CF222E"/>
                </a:solidFill>
                <a:latin typeface="Consolas"/>
              </a:rPr>
              <a:t>if</a:t>
            </a:r>
            <a:r>
              <a:rPr sz="1400">
                <a:solidFill>
                  <a:srgbClr val="24292F"/>
                </a:solidFill>
                <a:latin typeface="Consolas"/>
              </a:rPr>
              <a:t> (v % </a:t>
            </a:r>
            <a:r>
              <a:rPr sz="1400">
                <a:solidFill>
                  <a:srgbClr val="0550AE"/>
                </a:solidFill>
                <a:latin typeface="Consolas"/>
              </a:rPr>
              <a:t>5</a:t>
            </a:r>
            <a:r>
              <a:rPr sz="1400">
                <a:solidFill>
                  <a:srgbClr val="24292F"/>
                </a:solidFill>
                <a:latin typeface="Consolas"/>
              </a:rPr>
              <a:t> === </a:t>
            </a:r>
            <a:r>
              <a:rPr sz="1400">
                <a:solidFill>
                  <a:srgbClr val="0550AE"/>
                </a:solidFill>
                <a:latin typeface="Consolas"/>
              </a:rPr>
              <a:t>0</a:t>
            </a:r>
            <a:r>
              <a:rPr sz="1400">
                <a:solidFill>
                  <a:srgbClr val="24292F"/>
                </a:solidFill>
                <a:latin typeface="Consolas"/>
              </a:rPr>
              <a:t>) {</a:t>
            </a:r>
          </a:p>
          <a:p>
            <a:pPr marL="0" indent="0" algn="l">
              <a:lnSpc>
                <a:spcPct val="100000"/>
              </a:lnSpc>
              <a:buNone/>
            </a:pPr>
            <a:r>
              <a:rPr sz="1400">
                <a:solidFill>
                  <a:srgbClr val="24292F"/>
                </a:solidFill>
                <a:latin typeface="Consolas"/>
              </a:rPr>
              <a:t>    self.fives.push(v)</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268</a:t>
            </a:fld>
            <a:endParaRPr lang="en-US" sz="900">
              <a:solidFill>
                <a:srgbClr val="9AA7B4"/>
              </a:solidFill>
            </a:endParaRPr>
          </a:p>
        </p:txBody>
      </p:sp>
    </p:spTree>
    <p:extLst>
      <p:ext uri="{BB962C8B-B14F-4D97-AF65-F5344CB8AC3E}">
        <p14:creationId xmlns:p14="http://schemas.microsoft.com/office/powerpoint/2010/main" val="272091721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Default Parameter Handling</a:t>
            </a:r>
          </a:p>
        </p:txBody>
      </p:sp>
      <p:sp>
        <p:nvSpPr>
          <p:cNvPr id="3"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ES6</a:t>
            </a:r>
          </a:p>
        </p:txBody>
      </p:sp>
      <p:sp>
        <p:nvSpPr>
          <p:cNvPr id="4" name="Code"/>
          <p:cNvSpPr/>
          <p:nvPr/>
        </p:nvSpPr>
        <p:spPr>
          <a:xfrm>
            <a:off x="457200" y="1835657"/>
            <a:ext cx="3954780" cy="13162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300">
                <a:solidFill>
                  <a:srgbClr val="CF222E"/>
                </a:solidFill>
                <a:latin typeface="Consolas"/>
              </a:rPr>
              <a:t>function</a:t>
            </a:r>
            <a:r>
              <a:rPr sz="1300">
                <a:solidFill>
                  <a:srgbClr val="24292F"/>
                </a:solidFill>
                <a:latin typeface="Consolas"/>
              </a:rPr>
              <a:t> myFunc(x, y = </a:t>
            </a:r>
            <a:r>
              <a:rPr sz="1300">
                <a:solidFill>
                  <a:srgbClr val="0550AE"/>
                </a:solidFill>
                <a:latin typeface="Consolas"/>
              </a:rPr>
              <a:t>0</a:t>
            </a:r>
            <a:r>
              <a:rPr sz="1300">
                <a:solidFill>
                  <a:srgbClr val="24292F"/>
                </a:solidFill>
                <a:latin typeface="Consolas"/>
              </a:rPr>
              <a:t>, z = </a:t>
            </a:r>
            <a:r>
              <a:rPr sz="1300">
                <a:solidFill>
                  <a:srgbClr val="0550AE"/>
                </a:solidFill>
                <a:latin typeface="Consolas"/>
              </a:rPr>
              <a:t>13</a:t>
            </a:r>
            <a:r>
              <a:rPr sz="1300">
                <a:solidFill>
                  <a:srgbClr val="24292F"/>
                </a:solidFill>
                <a:latin typeface="Consolas"/>
              </a:rPr>
              <a:t>) {</a:t>
            </a:r>
          </a:p>
          <a:p>
            <a:pPr marL="0" indent="0" algn="l">
              <a:lnSpc>
                <a:spcPct val="100000"/>
              </a:lnSpc>
              <a:buNone/>
            </a:pPr>
            <a:r>
              <a:rPr sz="1300">
                <a:solidFill>
                  <a:srgbClr val="24292F"/>
                </a:solidFill>
                <a:latin typeface="Consolas"/>
              </a:rPr>
              <a:t>  </a:t>
            </a:r>
            <a:r>
              <a:rPr sz="1300">
                <a:solidFill>
                  <a:srgbClr val="CF222E"/>
                </a:solidFill>
                <a:latin typeface="Consolas"/>
              </a:rPr>
              <a:t>return</a:t>
            </a:r>
            <a:r>
              <a:rPr sz="1300">
                <a:solidFill>
                  <a:srgbClr val="24292F"/>
                </a:solidFill>
                <a:latin typeface="Consolas"/>
              </a:rPr>
              <a:t> x + y + z</a:t>
            </a:r>
          </a:p>
          <a:p>
            <a:pPr marL="0" indent="0" algn="l">
              <a:lnSpc>
                <a:spcPct val="100000"/>
              </a:lnSpc>
              <a:buNone/>
            </a:pPr>
            <a:r>
              <a:rPr sz="1300">
                <a:solidFill>
                  <a:srgbClr val="24292F"/>
                </a:solidFill>
                <a:latin typeface="Consolas"/>
              </a:rPr>
              <a:t>}</a:t>
            </a:r>
          </a:p>
          <a:p>
            <a:pPr marL="0" indent="0" algn="l">
              <a:lnSpc>
                <a:spcPct val="100000"/>
              </a:lnSpc>
              <a:buNone/>
            </a:pPr>
            <a:r>
              <a:rPr sz="1300">
                <a:latin typeface="Consolas"/>
              </a:rPr>
              <a:t> </a:t>
            </a:r>
          </a:p>
          <a:p>
            <a:pPr marL="0" indent="0" algn="l">
              <a:lnSpc>
                <a:spcPct val="100000"/>
              </a:lnSpc>
              <a:buNone/>
            </a:pPr>
            <a:r>
              <a:rPr sz="1300">
                <a:solidFill>
                  <a:srgbClr val="24292F"/>
                </a:solidFill>
                <a:latin typeface="Consolas"/>
              </a:rPr>
              <a:t>myFunc(</a:t>
            </a:r>
            <a:r>
              <a:rPr sz="1300">
                <a:solidFill>
                  <a:srgbClr val="0550AE"/>
                </a:solidFill>
                <a:latin typeface="Consolas"/>
              </a:rPr>
              <a:t>4</a:t>
            </a:r>
            <a:r>
              <a:rPr sz="1300">
                <a:solidFill>
                  <a:srgbClr val="24292F"/>
                </a:solidFill>
                <a:latin typeface="Consolas"/>
              </a:rPr>
              <a:t>)  </a:t>
            </a:r>
            <a:r>
              <a:rPr sz="1300" i="1">
                <a:solidFill>
                  <a:srgbClr val="6E7781"/>
                </a:solidFill>
                <a:latin typeface="Consolas"/>
              </a:rPr>
              <a:t>// 17</a:t>
            </a:r>
          </a:p>
        </p:txBody>
      </p:sp>
      <p:sp>
        <p:nvSpPr>
          <p:cNvPr id="5"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a:t>
            </a:r>
          </a:p>
        </p:txBody>
      </p:sp>
      <p:sp>
        <p:nvSpPr>
          <p:cNvPr id="6" name="Code"/>
          <p:cNvSpPr/>
          <p:nvPr/>
        </p:nvSpPr>
        <p:spPr>
          <a:xfrm>
            <a:off x="4732020" y="1835657"/>
            <a:ext cx="3954780" cy="151307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CF222E"/>
                </a:solidFill>
                <a:latin typeface="Consolas"/>
              </a:rPr>
              <a:t>function</a:t>
            </a:r>
            <a:r>
              <a:rPr sz="1550">
                <a:solidFill>
                  <a:srgbClr val="24292F"/>
                </a:solidFill>
                <a:latin typeface="Consolas"/>
              </a:rPr>
              <a:t> myFunc(x, y, z) {</a:t>
            </a:r>
          </a:p>
          <a:p>
            <a:pPr marL="0" indent="0" algn="l">
              <a:lnSpc>
                <a:spcPct val="100000"/>
              </a:lnSpc>
              <a:buNone/>
            </a:pPr>
            <a:r>
              <a:rPr sz="1550">
                <a:solidFill>
                  <a:srgbClr val="24292F"/>
                </a:solidFill>
                <a:latin typeface="Consolas"/>
              </a:rPr>
              <a:t>  </a:t>
            </a:r>
            <a:r>
              <a:rPr sz="1550">
                <a:solidFill>
                  <a:srgbClr val="CF222E"/>
                </a:solidFill>
                <a:latin typeface="Consolas"/>
              </a:rPr>
              <a:t>if</a:t>
            </a:r>
            <a:r>
              <a:rPr sz="1550">
                <a:solidFill>
                  <a:srgbClr val="24292F"/>
                </a:solidFill>
                <a:latin typeface="Consolas"/>
              </a:rPr>
              <a:t> (y === </a:t>
            </a:r>
            <a:r>
              <a:rPr sz="1550">
                <a:solidFill>
                  <a:srgbClr val="CF222E"/>
                </a:solidFill>
                <a:latin typeface="Consolas"/>
              </a:rPr>
              <a:t>undefined</a:t>
            </a:r>
            <a:r>
              <a:rPr sz="1550">
                <a:solidFill>
                  <a:srgbClr val="24292F"/>
                </a:solidFill>
                <a:latin typeface="Consolas"/>
              </a:rPr>
              <a:t>) y = </a:t>
            </a:r>
            <a:r>
              <a:rPr sz="1550">
                <a:solidFill>
                  <a:srgbClr val="0550AE"/>
                </a:solidFill>
                <a:latin typeface="Consolas"/>
              </a:rPr>
              <a:t>0</a:t>
            </a:r>
          </a:p>
          <a:p>
            <a:pPr marL="0" indent="0" algn="l">
              <a:lnSpc>
                <a:spcPct val="100000"/>
              </a:lnSpc>
              <a:buNone/>
            </a:pPr>
            <a:r>
              <a:rPr sz="1550">
                <a:solidFill>
                  <a:srgbClr val="24292F"/>
                </a:solidFill>
                <a:latin typeface="Consolas"/>
              </a:rPr>
              <a:t>  </a:t>
            </a:r>
            <a:r>
              <a:rPr sz="1550">
                <a:solidFill>
                  <a:srgbClr val="CF222E"/>
                </a:solidFill>
                <a:latin typeface="Consolas"/>
              </a:rPr>
              <a:t>if</a:t>
            </a:r>
            <a:r>
              <a:rPr sz="1550">
                <a:solidFill>
                  <a:srgbClr val="24292F"/>
                </a:solidFill>
                <a:latin typeface="Consolas"/>
              </a:rPr>
              <a:t> (z === </a:t>
            </a:r>
            <a:r>
              <a:rPr sz="1550">
                <a:solidFill>
                  <a:srgbClr val="CF222E"/>
                </a:solidFill>
                <a:latin typeface="Consolas"/>
              </a:rPr>
              <a:t>undefined</a:t>
            </a:r>
            <a:r>
              <a:rPr sz="1550">
                <a:solidFill>
                  <a:srgbClr val="24292F"/>
                </a:solidFill>
                <a:latin typeface="Consolas"/>
              </a:rPr>
              <a:t>) z = </a:t>
            </a:r>
            <a:r>
              <a:rPr sz="1550">
                <a:solidFill>
                  <a:srgbClr val="0550AE"/>
                </a:solidFill>
                <a:latin typeface="Consolas"/>
              </a:rPr>
              <a:t>13</a:t>
            </a:r>
          </a:p>
          <a:p>
            <a:pPr marL="0" indent="0" algn="l">
              <a:lnSpc>
                <a:spcPct val="100000"/>
              </a:lnSpc>
              <a:buNone/>
            </a:pPr>
            <a:r>
              <a:rPr sz="1550">
                <a:solidFill>
                  <a:srgbClr val="24292F"/>
                </a:solidFill>
                <a:latin typeface="Consolas"/>
              </a:rPr>
              <a:t>  </a:t>
            </a:r>
            <a:r>
              <a:rPr sz="1550">
                <a:solidFill>
                  <a:srgbClr val="CF222E"/>
                </a:solidFill>
                <a:latin typeface="Consolas"/>
              </a:rPr>
              <a:t>return</a:t>
            </a:r>
            <a:r>
              <a:rPr sz="1550">
                <a:solidFill>
                  <a:srgbClr val="24292F"/>
                </a:solidFill>
                <a:latin typeface="Consolas"/>
              </a:rPr>
              <a:t> x + y + z</a:t>
            </a:r>
          </a:p>
          <a:p>
            <a:pPr marL="0" indent="0" algn="l">
              <a:lnSpc>
                <a:spcPct val="100000"/>
              </a:lnSpc>
              <a:buNone/>
            </a:pPr>
            <a:r>
              <a:rPr sz="155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269</a:t>
            </a:fld>
            <a:endParaRPr lang="en-US" sz="900">
              <a:solidFill>
                <a:srgbClr val="9AA7B4"/>
              </a:solidFill>
            </a:endParaRPr>
          </a:p>
        </p:txBody>
      </p:sp>
    </p:spTree>
    <p:extLst>
      <p:ext uri="{BB962C8B-B14F-4D97-AF65-F5344CB8AC3E}">
        <p14:creationId xmlns:p14="http://schemas.microsoft.com/office/powerpoint/2010/main" val="183704811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Rest Parameter</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Gathers the remaining arguments into a single array parameter.</a:t>
            </a:r>
          </a:p>
        </p:txBody>
      </p:sp>
      <p:sp>
        <p:nvSpPr>
          <p:cNvPr id="4" name="Code"/>
          <p:cNvSpPr/>
          <p:nvPr/>
        </p:nvSpPr>
        <p:spPr>
          <a:xfrm>
            <a:off x="457200" y="2193290"/>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function</a:t>
            </a:r>
            <a:r>
              <a:rPr sz="2000">
                <a:solidFill>
                  <a:srgbClr val="24292F"/>
                </a:solidFill>
                <a:latin typeface="Consolas"/>
              </a:rPr>
              <a:t> myFunc(x, y, ...a) {</a:t>
            </a:r>
          </a:p>
          <a:p>
            <a:pPr marL="0" indent="0" algn="l">
              <a:lnSpc>
                <a:spcPct val="100000"/>
              </a:lnSpc>
              <a:buNone/>
            </a:pPr>
            <a:r>
              <a:rPr sz="2000">
                <a:solidFill>
                  <a:srgbClr val="24292F"/>
                </a:solidFill>
                <a:latin typeface="Consolas"/>
              </a:rPr>
              <a:t>  </a:t>
            </a:r>
            <a:r>
              <a:rPr sz="2000">
                <a:solidFill>
                  <a:srgbClr val="CF222E"/>
                </a:solidFill>
                <a:latin typeface="Consolas"/>
              </a:rPr>
              <a:t>return</a:t>
            </a:r>
            <a:r>
              <a:rPr sz="2000">
                <a:solidFill>
                  <a:srgbClr val="24292F"/>
                </a:solidFill>
                <a:latin typeface="Consolas"/>
              </a:rPr>
              <a:t> (x + y) * a.length</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console.log(myFunc(</a:t>
            </a:r>
            <a:r>
              <a:rPr sz="2000">
                <a:solidFill>
                  <a:srgbClr val="0550AE"/>
                </a:solidFill>
                <a:latin typeface="Consolas"/>
              </a:rPr>
              <a:t>1</a:t>
            </a:r>
            <a:r>
              <a:rPr sz="2000">
                <a:solidFill>
                  <a:srgbClr val="24292F"/>
                </a:solidFill>
                <a:latin typeface="Consolas"/>
              </a:rPr>
              <a:t>, </a:t>
            </a:r>
            <a:r>
              <a:rPr sz="2000">
                <a:solidFill>
                  <a:srgbClr val="0550AE"/>
                </a:solidFill>
                <a:latin typeface="Consolas"/>
              </a:rPr>
              <a:t>2</a:t>
            </a:r>
            <a:r>
              <a:rPr sz="2000">
                <a:solidFill>
                  <a:srgbClr val="24292F"/>
                </a:solidFill>
                <a:latin typeface="Consolas"/>
              </a:rPr>
              <a:t>, </a:t>
            </a:r>
            <a:r>
              <a:rPr sz="2000">
                <a:solidFill>
                  <a:srgbClr val="0A3069"/>
                </a:solidFill>
                <a:latin typeface="Consolas"/>
              </a:rPr>
              <a:t>'hello'</a:t>
            </a:r>
            <a:r>
              <a:rPr sz="2000">
                <a:solidFill>
                  <a:srgbClr val="24292F"/>
                </a:solidFill>
                <a:latin typeface="Consolas"/>
              </a:rPr>
              <a:t>, </a:t>
            </a:r>
            <a:r>
              <a:rPr sz="2000">
                <a:solidFill>
                  <a:srgbClr val="CF222E"/>
                </a:solidFill>
                <a:latin typeface="Consolas"/>
              </a:rPr>
              <a:t>true</a:t>
            </a:r>
            <a:r>
              <a:rPr sz="2000">
                <a:solidFill>
                  <a:srgbClr val="24292F"/>
                </a:solidFill>
                <a:latin typeface="Consolas"/>
              </a:rPr>
              <a:t>, </a:t>
            </a:r>
            <a:r>
              <a:rPr sz="2000">
                <a:solidFill>
                  <a:srgbClr val="0550AE"/>
                </a:solidFill>
                <a:latin typeface="Consolas"/>
              </a:rPr>
              <a:t>7</a:t>
            </a:r>
            <a:r>
              <a:rPr sz="2000">
                <a:solidFill>
                  <a:srgbClr val="24292F"/>
                </a:solidFill>
                <a:latin typeface="Consolas"/>
              </a:rPr>
              <a:t>))  </a:t>
            </a:r>
            <a:r>
              <a:rPr sz="2000" i="1">
                <a:solidFill>
                  <a:srgbClr val="6E7781"/>
                </a:solidFill>
                <a:latin typeface="Consolas"/>
              </a:rPr>
              <a:t>// 9</a:t>
            </a:r>
          </a:p>
        </p:txBody>
      </p:sp>
      <p:sp>
        <p:nvSpPr>
          <p:cNvPr id="5" name="Body"/>
          <p:cNvSpPr txBox="1"/>
          <p:nvPr/>
        </p:nvSpPr>
        <p:spPr>
          <a:xfrm>
            <a:off x="457200" y="420700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Only the last parameter can be a rest parameter</a:t>
            </a:r>
          </a:p>
          <a:p>
            <a:pPr marL="274320" indent="-256032">
              <a:spcAft>
                <a:spcPts val="990"/>
              </a:spcAft>
              <a:buClr>
                <a:srgbClr val="42B883"/>
              </a:buClr>
              <a:buSzPct val="100000"/>
              <a:buFont typeface="Arial"/>
              <a:buChar char="•"/>
            </a:pPr>
            <a:r>
              <a:rPr sz="2090" b="0" i="0">
                <a:solidFill>
                  <a:srgbClr val="8A2B52"/>
                </a:solidFill>
                <a:latin typeface="Consolas"/>
              </a:rPr>
              <a:t>a</a:t>
            </a:r>
            <a:r>
              <a:rPr sz="2200" b="0" i="0">
                <a:solidFill>
                  <a:srgbClr val="1F2A36"/>
                </a:solidFill>
              </a:rPr>
              <a:t> is a real array (unlike the old </a:t>
            </a:r>
            <a:r>
              <a:rPr sz="2090" b="0" i="0">
                <a:solidFill>
                  <a:srgbClr val="8A2B52"/>
                </a:solidFill>
                <a:latin typeface="Consolas"/>
              </a:rPr>
              <a:t>arguments</a:t>
            </a:r>
            <a:r>
              <a:rPr sz="2200" b="0" i="0">
                <a:solidFill>
                  <a:srgbClr val="1F2A36"/>
                </a:solidFill>
              </a:rPr>
              <a:t> object)</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270</a:t>
            </a:fld>
            <a:endParaRPr lang="en-US" sz="900">
              <a:solidFill>
                <a:srgbClr val="9AA7B4"/>
              </a:solidFill>
            </a:endParaRPr>
          </a:p>
        </p:txBody>
      </p:sp>
    </p:spTree>
    <p:extLst>
      <p:ext uri="{BB962C8B-B14F-4D97-AF65-F5344CB8AC3E}">
        <p14:creationId xmlns:p14="http://schemas.microsoft.com/office/powerpoint/2010/main" val="46108879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Spread Operator</a:t>
            </a:r>
          </a:p>
        </p:txBody>
      </p:sp>
      <p:sp>
        <p:nvSpPr>
          <p:cNvPr id="3" name="Body"/>
          <p:cNvSpPr txBox="1"/>
          <p:nvPr/>
        </p:nvSpPr>
        <p:spPr>
          <a:xfrm>
            <a:off x="457200" y="1261872"/>
            <a:ext cx="8229600" cy="1206246"/>
          </a:xfrm>
          <a:prstGeom prst="rect">
            <a:avLst/>
          </a:prstGeom>
          <a:noFill/>
        </p:spPr>
        <p:txBody>
          <a:bodyPr wrap="square" lIns="0" tIns="0" rIns="0" bIns="0">
            <a:noAutofit/>
          </a:bodyPr>
          <a:lstStyle/>
          <a:p>
            <a:pPr marL="0" indent="0">
              <a:spcAft>
                <a:spcPts val="990"/>
              </a:spcAft>
              <a:buNone/>
            </a:pPr>
            <a:r>
              <a:rPr sz="2200" b="0" i="0">
                <a:solidFill>
                  <a:srgbClr val="1F2A36"/>
                </a:solidFill>
              </a:rPr>
              <a:t>Spreads the elements of an iterable (like an array or string) into array literals, function arguments, or object literals.</a:t>
            </a:r>
          </a:p>
        </p:txBody>
      </p:sp>
      <p:sp>
        <p:nvSpPr>
          <p:cNvPr id="4" name="Code"/>
          <p:cNvSpPr/>
          <p:nvPr/>
        </p:nvSpPr>
        <p:spPr>
          <a:xfrm>
            <a:off x="457200" y="2522981"/>
            <a:ext cx="8229600" cy="24185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const</a:t>
            </a:r>
            <a:r>
              <a:rPr sz="1500">
                <a:solidFill>
                  <a:srgbClr val="24292F"/>
                </a:solidFill>
                <a:latin typeface="Consolas"/>
              </a:rPr>
              <a:t> params = [</a:t>
            </a:r>
            <a:r>
              <a:rPr sz="1500">
                <a:solidFill>
                  <a:srgbClr val="0A3069"/>
                </a:solidFill>
                <a:latin typeface="Consolas"/>
              </a:rPr>
              <a:t>'hello'</a:t>
            </a:r>
            <a:r>
              <a:rPr sz="1500">
                <a:solidFill>
                  <a:srgbClr val="24292F"/>
                </a:solidFill>
                <a:latin typeface="Consolas"/>
              </a:rPr>
              <a:t>, </a:t>
            </a:r>
            <a:r>
              <a:rPr sz="1500">
                <a:solidFill>
                  <a:srgbClr val="CF222E"/>
                </a:solidFill>
                <a:latin typeface="Consolas"/>
              </a:rPr>
              <a:t>true</a:t>
            </a:r>
            <a:r>
              <a:rPr sz="1500">
                <a:solidFill>
                  <a:srgbClr val="24292F"/>
                </a:solidFill>
                <a:latin typeface="Consolas"/>
              </a:rPr>
              <a:t>, </a:t>
            </a:r>
            <a:r>
              <a:rPr sz="1500">
                <a:solidFill>
                  <a:srgbClr val="0550AE"/>
                </a:solidFill>
                <a:latin typeface="Consolas"/>
              </a:rPr>
              <a:t>7</a:t>
            </a:r>
            <a:r>
              <a:rPr sz="1500">
                <a:solidFill>
                  <a:srgbClr val="24292F"/>
                </a:solidFill>
                <a:latin typeface="Consolas"/>
              </a:rPr>
              <a:t>]</a:t>
            </a:r>
          </a:p>
          <a:p>
            <a:pPr marL="0" indent="0" algn="l">
              <a:lnSpc>
                <a:spcPct val="100000"/>
              </a:lnSpc>
              <a:buNone/>
            </a:pPr>
            <a:r>
              <a:rPr sz="1500">
                <a:solidFill>
                  <a:srgbClr val="CF222E"/>
                </a:solidFill>
                <a:latin typeface="Consolas"/>
              </a:rPr>
              <a:t>const</a:t>
            </a:r>
            <a:r>
              <a:rPr sz="1500">
                <a:solidFill>
                  <a:srgbClr val="24292F"/>
                </a:solidFill>
                <a:latin typeface="Consolas"/>
              </a:rPr>
              <a:t> other = [</a:t>
            </a:r>
            <a:r>
              <a:rPr sz="1500">
                <a:solidFill>
                  <a:srgbClr val="0550AE"/>
                </a:solidFill>
                <a:latin typeface="Consolas"/>
              </a:rPr>
              <a:t>1</a:t>
            </a:r>
            <a:r>
              <a:rPr sz="1500">
                <a:solidFill>
                  <a:srgbClr val="24292F"/>
                </a:solidFill>
                <a:latin typeface="Consolas"/>
              </a:rPr>
              <a:t>, </a:t>
            </a:r>
            <a:r>
              <a:rPr sz="1500">
                <a:solidFill>
                  <a:srgbClr val="0550AE"/>
                </a:solidFill>
                <a:latin typeface="Consolas"/>
              </a:rPr>
              <a:t>2</a:t>
            </a:r>
            <a:r>
              <a:rPr sz="1500">
                <a:solidFill>
                  <a:srgbClr val="24292F"/>
                </a:solidFill>
                <a:latin typeface="Consolas"/>
              </a:rPr>
              <a:t>, ...params]  </a:t>
            </a:r>
            <a:r>
              <a:rPr sz="1500" i="1">
                <a:solidFill>
                  <a:srgbClr val="6E7781"/>
                </a:solidFill>
                <a:latin typeface="Consolas"/>
              </a:rPr>
              <a:t>// [1, 2, 'hello', true, 7]</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myFunc(</a:t>
            </a:r>
            <a:r>
              <a:rPr sz="1500">
                <a:solidFill>
                  <a:srgbClr val="0550AE"/>
                </a:solidFill>
                <a:latin typeface="Consolas"/>
              </a:rPr>
              <a:t>1</a:t>
            </a:r>
            <a:r>
              <a:rPr sz="1500">
                <a:solidFill>
                  <a:srgbClr val="24292F"/>
                </a:solidFill>
                <a:latin typeface="Consolas"/>
              </a:rPr>
              <a:t>, </a:t>
            </a:r>
            <a:r>
              <a:rPr sz="1500">
                <a:solidFill>
                  <a:srgbClr val="0550AE"/>
                </a:solidFill>
                <a:latin typeface="Consolas"/>
              </a:rPr>
              <a:t>2</a:t>
            </a:r>
            <a:r>
              <a:rPr sz="1500">
                <a:solidFill>
                  <a:srgbClr val="24292F"/>
                </a:solidFill>
                <a:latin typeface="Consolas"/>
              </a:rPr>
              <a:t>, ...params)          </a:t>
            </a:r>
            <a:r>
              <a:rPr sz="1500" i="1">
                <a:solidFill>
                  <a:srgbClr val="6E7781"/>
                </a:solidFill>
                <a:latin typeface="Consolas"/>
              </a:rPr>
              <a:t>// myFunc(1, 2, 'hello', true, 7)</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const</a:t>
            </a:r>
            <a:r>
              <a:rPr sz="1500">
                <a:solidFill>
                  <a:srgbClr val="24292F"/>
                </a:solidFill>
                <a:latin typeface="Consolas"/>
              </a:rPr>
              <a:t> chars = [...</a:t>
            </a:r>
            <a:r>
              <a:rPr sz="1500">
                <a:solidFill>
                  <a:srgbClr val="0A3069"/>
                </a:solidFill>
                <a:latin typeface="Consolas"/>
              </a:rPr>
              <a:t>'foo'</a:t>
            </a:r>
            <a:r>
              <a:rPr sz="1500">
                <a:solidFill>
                  <a:srgbClr val="24292F"/>
                </a:solidFill>
                <a:latin typeface="Consolas"/>
              </a:rPr>
              <a:t>]         </a:t>
            </a:r>
            <a:r>
              <a:rPr sz="1500" i="1">
                <a:solidFill>
                  <a:srgbClr val="6E7781"/>
                </a:solidFill>
                <a:latin typeface="Consolas"/>
              </a:rPr>
              <a:t>// ['f', 'o', 'o']</a:t>
            </a:r>
          </a:p>
          <a:p>
            <a:pPr marL="0" indent="0" algn="l">
              <a:lnSpc>
                <a:spcPct val="100000"/>
              </a:lnSpc>
              <a:buNone/>
            </a:pPr>
            <a:r>
              <a:rPr sz="1500">
                <a:latin typeface="Consolas"/>
              </a:rPr>
              <a:t> </a:t>
            </a:r>
          </a:p>
          <a:p>
            <a:pPr marL="0" indent="0" algn="l">
              <a:lnSpc>
                <a:spcPct val="100000"/>
              </a:lnSpc>
              <a:buNone/>
            </a:pPr>
            <a:r>
              <a:rPr sz="1500" i="1">
                <a:solidFill>
                  <a:srgbClr val="6E7781"/>
                </a:solidFill>
                <a:latin typeface="Consolas"/>
              </a:rPr>
              <a:t>// copy an object, overriding one property</a:t>
            </a:r>
          </a:p>
          <a:p>
            <a:pPr marL="0" indent="0" algn="l">
              <a:lnSpc>
                <a:spcPct val="100000"/>
              </a:lnSpc>
              <a:buNone/>
            </a:pPr>
            <a:r>
              <a:rPr sz="1500">
                <a:solidFill>
                  <a:srgbClr val="CF222E"/>
                </a:solidFill>
                <a:latin typeface="Consolas"/>
              </a:rPr>
              <a:t>const</a:t>
            </a:r>
            <a:r>
              <a:rPr sz="1500">
                <a:solidFill>
                  <a:srgbClr val="24292F"/>
                </a:solidFill>
                <a:latin typeface="Consolas"/>
              </a:rPr>
              <a:t> copy = { ...user, name: </a:t>
            </a:r>
            <a:r>
              <a:rPr sz="1500">
                <a:solidFill>
                  <a:srgbClr val="0A3069"/>
                </a:solidFill>
                <a:latin typeface="Consolas"/>
              </a:rPr>
              <a:t>'Ada'</a:t>
            </a:r>
            <a:r>
              <a:rPr sz="1500">
                <a:solidFill>
                  <a:srgbClr val="24292F"/>
                </a:solidFill>
                <a:latin typeface="Consolas"/>
              </a:rPr>
              <a:t> }</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271</a:t>
            </a:fld>
            <a:endParaRPr lang="en-US" sz="900">
              <a:solidFill>
                <a:srgbClr val="9AA7B4"/>
              </a:solidFill>
            </a:endParaRPr>
          </a:p>
        </p:txBody>
      </p:sp>
    </p:spTree>
    <p:extLst>
      <p:ext uri="{BB962C8B-B14F-4D97-AF65-F5344CB8AC3E}">
        <p14:creationId xmlns:p14="http://schemas.microsoft.com/office/powerpoint/2010/main" val="199299881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Template Literals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String interpolation with backticks:</a:t>
            </a:r>
          </a:p>
        </p:txBody>
      </p:sp>
      <p:sp>
        <p:nvSpPr>
          <p:cNvPr id="4" name="Code"/>
          <p:cNvSpPr/>
          <p:nvPr/>
        </p:nvSpPr>
        <p:spPr>
          <a:xfrm>
            <a:off x="457200" y="1863597"/>
            <a:ext cx="8229600" cy="151307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50">
                <a:solidFill>
                  <a:srgbClr val="CF222E"/>
                </a:solidFill>
                <a:latin typeface="Consolas"/>
              </a:rPr>
              <a:t>const</a:t>
            </a:r>
            <a:r>
              <a:rPr sz="1550">
                <a:solidFill>
                  <a:srgbClr val="24292F"/>
                </a:solidFill>
                <a:latin typeface="Consolas"/>
              </a:rPr>
              <a:t> customer = { name: </a:t>
            </a:r>
            <a:r>
              <a:rPr sz="1550">
                <a:solidFill>
                  <a:srgbClr val="0A3069"/>
                </a:solidFill>
                <a:latin typeface="Consolas"/>
              </a:rPr>
              <a:t>'Penny'</a:t>
            </a:r>
            <a:r>
              <a:rPr sz="1550">
                <a:solidFill>
                  <a:srgbClr val="24292F"/>
                </a:solidFill>
                <a:latin typeface="Consolas"/>
              </a:rPr>
              <a:t> }</a:t>
            </a:r>
          </a:p>
          <a:p>
            <a:pPr marL="0" indent="0" algn="l">
              <a:lnSpc>
                <a:spcPct val="100000"/>
              </a:lnSpc>
              <a:buNone/>
            </a:pPr>
            <a:r>
              <a:rPr sz="1550">
                <a:solidFill>
                  <a:srgbClr val="CF222E"/>
                </a:solidFill>
                <a:latin typeface="Consolas"/>
              </a:rPr>
              <a:t>const</a:t>
            </a:r>
            <a:r>
              <a:rPr sz="1550">
                <a:solidFill>
                  <a:srgbClr val="24292F"/>
                </a:solidFill>
                <a:latin typeface="Consolas"/>
              </a:rPr>
              <a:t> order = { price: </a:t>
            </a:r>
            <a:r>
              <a:rPr sz="1550">
                <a:solidFill>
                  <a:srgbClr val="0550AE"/>
                </a:solidFill>
                <a:latin typeface="Consolas"/>
              </a:rPr>
              <a:t>4</a:t>
            </a:r>
            <a:r>
              <a:rPr sz="1550">
                <a:solidFill>
                  <a:srgbClr val="24292F"/>
                </a:solidFill>
                <a:latin typeface="Consolas"/>
              </a:rPr>
              <a:t>, product: </a:t>
            </a:r>
            <a:r>
              <a:rPr sz="1550">
                <a:solidFill>
                  <a:srgbClr val="0A3069"/>
                </a:solidFill>
                <a:latin typeface="Consolas"/>
              </a:rPr>
              <a:t>'parts'</a:t>
            </a:r>
            <a:r>
              <a:rPr sz="1550">
                <a:solidFill>
                  <a:srgbClr val="24292F"/>
                </a:solidFill>
                <a:latin typeface="Consolas"/>
              </a:rPr>
              <a:t>, quantity: </a:t>
            </a:r>
            <a:r>
              <a:rPr sz="1550">
                <a:solidFill>
                  <a:srgbClr val="0550AE"/>
                </a:solidFill>
                <a:latin typeface="Consolas"/>
              </a:rPr>
              <a:t>6</a:t>
            </a:r>
            <a:r>
              <a:rPr sz="1550">
                <a:solidFill>
                  <a:srgbClr val="24292F"/>
                </a:solidFill>
                <a:latin typeface="Consolas"/>
              </a:rPr>
              <a:t> }</a:t>
            </a:r>
          </a:p>
          <a:p>
            <a:pPr marL="0" indent="0" algn="l">
              <a:lnSpc>
                <a:spcPct val="100000"/>
              </a:lnSpc>
              <a:buNone/>
            </a:pPr>
            <a:r>
              <a:rPr sz="1550">
                <a:latin typeface="Consolas"/>
              </a:rPr>
              <a:t> </a:t>
            </a:r>
          </a:p>
          <a:p>
            <a:pPr marL="0" indent="0" algn="l">
              <a:lnSpc>
                <a:spcPct val="100000"/>
              </a:lnSpc>
              <a:buNone/>
            </a:pPr>
            <a:r>
              <a:rPr sz="1550">
                <a:solidFill>
                  <a:srgbClr val="CF222E"/>
                </a:solidFill>
                <a:latin typeface="Consolas"/>
              </a:rPr>
              <a:t>const</a:t>
            </a:r>
            <a:r>
              <a:rPr sz="1550">
                <a:solidFill>
                  <a:srgbClr val="24292F"/>
                </a:solidFill>
                <a:latin typeface="Consolas"/>
              </a:rPr>
              <a:t> message = </a:t>
            </a:r>
            <a:r>
              <a:rPr sz="1550">
                <a:solidFill>
                  <a:srgbClr val="0A3069"/>
                </a:solidFill>
                <a:latin typeface="Consolas"/>
              </a:rPr>
              <a:t>`Hi, ${customer.name}. Thank you for your order</a:t>
            </a:r>
          </a:p>
          <a:p>
            <a:pPr marL="0" indent="0" algn="l">
              <a:lnSpc>
                <a:spcPct val="100000"/>
              </a:lnSpc>
              <a:buNone/>
            </a:pPr>
            <a:r>
              <a:rPr sz="1550">
                <a:solidFill>
                  <a:srgbClr val="CF222E"/>
                </a:solidFill>
                <a:latin typeface="Consolas"/>
              </a:rPr>
              <a:t>of</a:t>
            </a:r>
            <a:r>
              <a:rPr sz="1550">
                <a:solidFill>
                  <a:srgbClr val="24292F"/>
                </a:solidFill>
                <a:latin typeface="Consolas"/>
              </a:rPr>
              <a:t> ${order.quantity} ${order.product} at $${order.price}.</a:t>
            </a:r>
            <a:r>
              <a:rPr sz="1550">
                <a:solidFill>
                  <a:srgbClr val="0A3069"/>
                </a:solidFill>
                <a:latin typeface="Consolas"/>
              </a:rPr>
              <a:t>`</a:t>
            </a:r>
          </a:p>
        </p:txBody>
      </p:sp>
      <p:sp>
        <p:nvSpPr>
          <p:cNvPr id="5" name="Body"/>
          <p:cNvSpPr txBox="1"/>
          <p:nvPr/>
        </p:nvSpPr>
        <p:spPr>
          <a:xfrm>
            <a:off x="457200" y="3522980"/>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Any expression can go inside </a:t>
            </a:r>
            <a:r>
              <a:rPr sz="2090" b="0" i="0">
                <a:solidFill>
                  <a:srgbClr val="8A2B52"/>
                </a:solidFill>
                <a:latin typeface="Consolas"/>
              </a:rPr>
              <a:t>${ }</a:t>
            </a:r>
          </a:p>
          <a:p>
            <a:pPr marL="274320" indent="-256032">
              <a:spcAft>
                <a:spcPts val="990"/>
              </a:spcAft>
              <a:buClr>
                <a:srgbClr val="42B883"/>
              </a:buClr>
              <a:buSzPct val="100000"/>
              <a:buFont typeface="Arial"/>
              <a:buChar char="•"/>
            </a:pPr>
            <a:r>
              <a:rPr sz="2200" b="0" i="0">
                <a:solidFill>
                  <a:srgbClr val="1F2A36"/>
                </a:solidFill>
              </a:rPr>
              <a:t>Template literals can span multiple lines</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272</a:t>
            </a:fld>
            <a:endParaRPr lang="en-US" sz="900">
              <a:solidFill>
                <a:srgbClr val="9AA7B4"/>
              </a:solidFill>
            </a:endParaRPr>
          </a:p>
        </p:txBody>
      </p:sp>
    </p:spTree>
    <p:extLst>
      <p:ext uri="{BB962C8B-B14F-4D97-AF65-F5344CB8AC3E}">
        <p14:creationId xmlns:p14="http://schemas.microsoft.com/office/powerpoint/2010/main" val="292852590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Template Literals: Tags and Raw Strings</a:t>
            </a:r>
          </a:p>
        </p:txBody>
      </p:sp>
      <p:sp>
        <p:nvSpPr>
          <p:cNvPr id="3" name="Body"/>
          <p:cNvSpPr txBox="1"/>
          <p:nvPr/>
        </p:nvSpPr>
        <p:spPr>
          <a:xfrm>
            <a:off x="457200" y="1261872"/>
            <a:ext cx="8229600" cy="1206246"/>
          </a:xfrm>
          <a:prstGeom prst="rect">
            <a:avLst/>
          </a:prstGeom>
          <a:noFill/>
        </p:spPr>
        <p:txBody>
          <a:bodyPr wrap="square" lIns="0" tIns="0" rIns="0" bIns="0">
            <a:noAutofit/>
          </a:bodyPr>
          <a:lstStyle/>
          <a:p>
            <a:pPr marL="0" indent="0">
              <a:spcAft>
                <a:spcPts val="990"/>
              </a:spcAft>
              <a:buNone/>
            </a:pPr>
            <a:r>
              <a:rPr sz="2200" b="0" i="0">
                <a:solidFill>
                  <a:srgbClr val="1F2A36"/>
                </a:solidFill>
              </a:rPr>
              <a:t>A </a:t>
            </a:r>
            <a:r>
              <a:rPr sz="2200" b="1" i="0">
                <a:solidFill>
                  <a:srgbClr val="1F2A36"/>
                </a:solidFill>
              </a:rPr>
              <a:t>tag function</a:t>
            </a:r>
            <a:r>
              <a:rPr sz="2200" b="0" i="0">
                <a:solidFill>
                  <a:srgbClr val="1F2A36"/>
                </a:solidFill>
              </a:rPr>
              <a:t> receives the string parts and the values separately, and can read the </a:t>
            </a:r>
            <a:r>
              <a:rPr sz="2200" b="1" i="0">
                <a:solidFill>
                  <a:srgbClr val="1F2A36"/>
                </a:solidFill>
              </a:rPr>
              <a:t>raw</a:t>
            </a:r>
            <a:r>
              <a:rPr sz="2200" b="0" i="0">
                <a:solidFill>
                  <a:srgbClr val="1F2A36"/>
                </a:solidFill>
              </a:rPr>
              <a:t> text without escape processing.</a:t>
            </a:r>
          </a:p>
        </p:txBody>
      </p:sp>
      <p:sp>
        <p:nvSpPr>
          <p:cNvPr id="4" name="Code"/>
          <p:cNvSpPr/>
          <p:nvPr/>
        </p:nvSpPr>
        <p:spPr>
          <a:xfrm>
            <a:off x="457200" y="2522981"/>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function</a:t>
            </a:r>
            <a:r>
              <a:rPr sz="1500">
                <a:solidFill>
                  <a:srgbClr val="24292F"/>
                </a:solidFill>
                <a:latin typeface="Consolas"/>
              </a:rPr>
              <a:t> tag(strings, ...values) {</a:t>
            </a:r>
          </a:p>
          <a:p>
            <a:pPr marL="0" indent="0" algn="l">
              <a:lnSpc>
                <a:spcPct val="100000"/>
              </a:lnSpc>
              <a:buNone/>
            </a:pPr>
            <a:r>
              <a:rPr sz="1500">
                <a:solidFill>
                  <a:srgbClr val="24292F"/>
                </a:solidFill>
                <a:latin typeface="Consolas"/>
              </a:rPr>
              <a:t>  console.log(strings.raw[</a:t>
            </a:r>
            <a:r>
              <a:rPr sz="1500">
                <a:solidFill>
                  <a:srgbClr val="0550AE"/>
                </a:solidFill>
                <a:latin typeface="Consolas"/>
              </a:rPr>
              <a:t>0</a:t>
            </a:r>
            <a:r>
              <a:rPr sz="1500">
                <a:solidFill>
                  <a:srgbClr val="24292F"/>
                </a:solidFill>
                <a:latin typeface="Consolas"/>
              </a:rPr>
              <a:t>])</a:t>
            </a:r>
          </a:p>
          <a:p>
            <a:pPr marL="0" indent="0" algn="l">
              <a:lnSpc>
                <a:spcPct val="100000"/>
              </a:lnSpc>
              <a:buNone/>
            </a:pPr>
            <a:r>
              <a:rPr sz="1500">
                <a:solidFill>
                  <a:srgbClr val="24292F"/>
                </a:solidFill>
                <a:latin typeface="Consolas"/>
              </a:rPr>
              <a:t>  </a:t>
            </a:r>
            <a:r>
              <a:rPr sz="1500" i="1">
                <a:solidFill>
                  <a:srgbClr val="6E7781"/>
                </a:solidFill>
                <a:latin typeface="Consolas"/>
              </a:rPr>
              <a:t>// "string text line 1 \n string text line 2"</a:t>
            </a:r>
          </a:p>
          <a:p>
            <a:pPr marL="0" indent="0" algn="l">
              <a:lnSpc>
                <a:spcPct val="100000"/>
              </a:lnSpc>
              <a:buNone/>
            </a:pPr>
            <a:r>
              <a:rPr sz="1500">
                <a:solidFill>
                  <a:srgbClr val="24292F"/>
                </a:solidFill>
                <a:latin typeface="Consolas"/>
              </a:rPr>
              <a:t>}</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tag</a:t>
            </a:r>
            <a:r>
              <a:rPr sz="1500">
                <a:solidFill>
                  <a:srgbClr val="0A3069"/>
                </a:solidFill>
                <a:latin typeface="Consolas"/>
              </a:rPr>
              <a:t>`string text line 1 \n string text line 2`</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String.raw</a:t>
            </a:r>
            <a:r>
              <a:rPr sz="1500">
                <a:solidFill>
                  <a:srgbClr val="0A3069"/>
                </a:solidFill>
                <a:latin typeface="Consolas"/>
              </a:rPr>
              <a:t>`C:\new\folder`</a:t>
            </a:r>
            <a:r>
              <a:rPr sz="1500">
                <a:solidFill>
                  <a:srgbClr val="24292F"/>
                </a:solidFill>
                <a:latin typeface="Consolas"/>
              </a:rPr>
              <a:t>   </a:t>
            </a:r>
            <a:r>
              <a:rPr sz="1500" i="1">
                <a:solidFill>
                  <a:srgbClr val="6E7781"/>
                </a:solidFill>
                <a:latin typeface="Consolas"/>
              </a:rPr>
              <a:t>// "C:\new\folder" — backslashes kept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273</a:t>
            </a:fld>
            <a:endParaRPr lang="en-US" sz="900">
              <a:solidFill>
                <a:srgbClr val="9AA7B4"/>
              </a:solidFill>
            </a:endParaRPr>
          </a:p>
        </p:txBody>
      </p:sp>
    </p:spTree>
    <p:extLst>
      <p:ext uri="{BB962C8B-B14F-4D97-AF65-F5344CB8AC3E}">
        <p14:creationId xmlns:p14="http://schemas.microsoft.com/office/powerpoint/2010/main" val="3656019156"/>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Enhanced Object Properties</a:t>
            </a:r>
          </a:p>
        </p:txBody>
      </p:sp>
      <p:sp>
        <p:nvSpPr>
          <p:cNvPr id="3" name="Body"/>
          <p:cNvSpPr txBox="1"/>
          <p:nvPr/>
        </p:nvSpPr>
        <p:spPr>
          <a:xfrm>
            <a:off x="457200" y="1261872"/>
            <a:ext cx="8229600" cy="805179"/>
          </a:xfrm>
          <a:prstGeom prst="rect">
            <a:avLst/>
          </a:prstGeom>
          <a:noFill/>
        </p:spPr>
        <p:txBody>
          <a:bodyPr wrap="square" lIns="0" tIns="0" rIns="0" bIns="0">
            <a:noAutofit/>
          </a:bodyPr>
          <a:lstStyle/>
          <a:p>
            <a:pPr marL="0" indent="0">
              <a:spcAft>
                <a:spcPts val="900"/>
              </a:spcAft>
              <a:buNone/>
            </a:pPr>
            <a:r>
              <a:rPr sz="2000" b="1" i="0">
                <a:solidFill>
                  <a:srgbClr val="1F2A36"/>
                </a:solidFill>
              </a:rPr>
              <a:t>Property shorthand</a:t>
            </a:r>
            <a:r>
              <a:rPr sz="2000" b="0" i="0">
                <a:solidFill>
                  <a:srgbClr val="1F2A36"/>
                </a:solidFill>
              </a:rPr>
              <a:t>: a shorter syntax for properties whose name matches a variable.</a:t>
            </a:r>
          </a:p>
        </p:txBody>
      </p:sp>
      <p:sp>
        <p:nvSpPr>
          <p:cNvPr id="4" name="Body"/>
          <p:cNvSpPr txBox="1"/>
          <p:nvPr/>
        </p:nvSpPr>
        <p:spPr>
          <a:xfrm>
            <a:off x="45720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a:t>
            </a:r>
          </a:p>
        </p:txBody>
      </p:sp>
      <p:sp>
        <p:nvSpPr>
          <p:cNvPr id="5" name="Code"/>
          <p:cNvSpPr/>
          <p:nvPr/>
        </p:nvSpPr>
        <p:spPr>
          <a:xfrm>
            <a:off x="457200" y="2695702"/>
            <a:ext cx="3954780" cy="56819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a:solidFill>
                  <a:srgbClr val="CF222E"/>
                </a:solidFill>
                <a:latin typeface="Consolas"/>
              </a:rPr>
              <a:t>const</a:t>
            </a:r>
            <a:r>
              <a:rPr sz="1750">
                <a:solidFill>
                  <a:srgbClr val="24292F"/>
                </a:solidFill>
                <a:latin typeface="Consolas"/>
              </a:rPr>
              <a:t> obj = { x: x, y: y }</a:t>
            </a:r>
          </a:p>
        </p:txBody>
      </p:sp>
      <p:sp>
        <p:nvSpPr>
          <p:cNvPr id="6" name="Body"/>
          <p:cNvSpPr txBox="1"/>
          <p:nvPr/>
        </p:nvSpPr>
        <p:spPr>
          <a:xfrm>
            <a:off x="4732020" y="2121916"/>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ES6</a:t>
            </a:r>
          </a:p>
        </p:txBody>
      </p:sp>
      <p:sp>
        <p:nvSpPr>
          <p:cNvPr id="7" name="Code"/>
          <p:cNvSpPr/>
          <p:nvPr/>
        </p:nvSpPr>
        <p:spPr>
          <a:xfrm>
            <a:off x="4732020" y="2695702"/>
            <a:ext cx="395478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obj = { x, y }</a:t>
            </a:r>
          </a:p>
        </p:txBody>
      </p:sp>
      <p:sp>
        <p:nvSpPr>
          <p:cNvPr id="8"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9"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274</a:t>
            </a:fld>
            <a:endParaRPr lang="en-US" sz="900">
              <a:solidFill>
                <a:srgbClr val="9AA7B4"/>
              </a:solidFill>
            </a:endParaRPr>
          </a:p>
        </p:txBody>
      </p:sp>
    </p:spTree>
    <p:extLst>
      <p:ext uri="{BB962C8B-B14F-4D97-AF65-F5344CB8AC3E}">
        <p14:creationId xmlns:p14="http://schemas.microsoft.com/office/powerpoint/2010/main" val="599586642"/>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Computed Property Names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Use an expression as a property name in an object literal:</a:t>
            </a:r>
          </a:p>
        </p:txBody>
      </p:sp>
      <p:sp>
        <p:nvSpPr>
          <p:cNvPr id="4" name="Code"/>
          <p:cNvSpPr/>
          <p:nvPr/>
        </p:nvSpPr>
        <p:spPr>
          <a:xfrm>
            <a:off x="457200" y="1863597"/>
            <a:ext cx="8229600" cy="18674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obj = {</a:t>
            </a:r>
          </a:p>
          <a:p>
            <a:pPr marL="0" indent="0" algn="l">
              <a:lnSpc>
                <a:spcPct val="100000"/>
              </a:lnSpc>
              <a:buNone/>
            </a:pPr>
            <a:r>
              <a:rPr sz="2000">
                <a:solidFill>
                  <a:srgbClr val="24292F"/>
                </a:solidFill>
                <a:latin typeface="Consolas"/>
              </a:rPr>
              <a:t>  customer: </a:t>
            </a:r>
            <a:r>
              <a:rPr sz="2000">
                <a:solidFill>
                  <a:srgbClr val="0A3069"/>
                </a:solidFill>
                <a:latin typeface="Consolas"/>
              </a:rPr>
              <a:t>'Nigel'</a:t>
            </a:r>
            <a:r>
              <a:rPr sz="2000">
                <a:solidFill>
                  <a:srgbClr val="24292F"/>
                </a:solidFill>
                <a:latin typeface="Consolas"/>
              </a:rPr>
              <a:t>,</a:t>
            </a:r>
          </a:p>
          <a:p>
            <a:pPr marL="0" indent="0" algn="l">
              <a:lnSpc>
                <a:spcPct val="100000"/>
              </a:lnSpc>
              <a:buNone/>
            </a:pPr>
            <a:r>
              <a:rPr sz="2000">
                <a:solidFill>
                  <a:srgbClr val="24292F"/>
                </a:solidFill>
                <a:latin typeface="Consolas"/>
              </a:rPr>
              <a:t>  [</a:t>
            </a:r>
            <a:r>
              <a:rPr sz="2000">
                <a:solidFill>
                  <a:srgbClr val="0A3069"/>
                </a:solidFill>
                <a:latin typeface="Consolas"/>
              </a:rPr>
              <a:t>'order'</a:t>
            </a:r>
            <a:r>
              <a:rPr sz="2000">
                <a:solidFill>
                  <a:srgbClr val="24292F"/>
                </a:solidFill>
                <a:latin typeface="Consolas"/>
              </a:rPr>
              <a:t> + getOrderNum()]: </a:t>
            </a:r>
            <a:r>
              <a:rPr sz="2000">
                <a:solidFill>
                  <a:srgbClr val="0550AE"/>
                </a:solidFill>
                <a:latin typeface="Consolas"/>
              </a:rPr>
              <a:t>10</a:t>
            </a:r>
            <a:r>
              <a:rPr sz="2000">
                <a:solidFill>
                  <a:srgbClr val="24292F"/>
                </a:solidFill>
                <a:latin typeface="Consolas"/>
              </a:rPr>
              <a:t>,</a:t>
            </a:r>
          </a:p>
          <a:p>
            <a:pPr marL="0" indent="0" algn="l">
              <a:lnSpc>
                <a:spcPct val="100000"/>
              </a:lnSpc>
              <a:buNone/>
            </a:pPr>
            <a:r>
              <a:rPr sz="2000">
                <a:solidFill>
                  <a:srgbClr val="24292F"/>
                </a:solidFill>
                <a:latin typeface="Consolas"/>
              </a:rPr>
              <a:t>}</a:t>
            </a:r>
          </a:p>
          <a:p>
            <a:pPr marL="0" indent="0" algn="l">
              <a:lnSpc>
                <a:spcPct val="100000"/>
              </a:lnSpc>
              <a:buNone/>
            </a:pPr>
            <a:r>
              <a:rPr sz="2000" i="1">
                <a:solidFill>
                  <a:srgbClr val="6E7781"/>
                </a:solidFill>
                <a:latin typeface="Consolas"/>
              </a:rPr>
              <a:t>// { customer: 'Nigel', order42: 10 }</a:t>
            </a:r>
          </a:p>
        </p:txBody>
      </p:sp>
      <p:sp>
        <p:nvSpPr>
          <p:cNvPr id="5" name="Body"/>
          <p:cNvSpPr txBox="1"/>
          <p:nvPr/>
        </p:nvSpPr>
        <p:spPr>
          <a:xfrm>
            <a:off x="457200" y="3877309"/>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Common with dynamic keys: </a:t>
            </a:r>
            <a:r>
              <a:rPr sz="2090" b="0" i="0">
                <a:solidFill>
                  <a:srgbClr val="8A2B52"/>
                </a:solidFill>
                <a:latin typeface="Consolas"/>
              </a:rPr>
              <a:t>{ [field]: value }</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275</a:t>
            </a:fld>
            <a:endParaRPr lang="en-US" sz="900">
              <a:solidFill>
                <a:srgbClr val="9AA7B4"/>
              </a:solidFill>
            </a:endParaRPr>
          </a:p>
        </p:txBody>
      </p:sp>
    </p:spTree>
    <p:extLst>
      <p:ext uri="{BB962C8B-B14F-4D97-AF65-F5344CB8AC3E}">
        <p14:creationId xmlns:p14="http://schemas.microsoft.com/office/powerpoint/2010/main" val="356933512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Method Notation in Object Literals</a:t>
            </a:r>
          </a:p>
        </p:txBody>
      </p:sp>
      <p:sp>
        <p:nvSpPr>
          <p:cNvPr id="3"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ES6</a:t>
            </a:r>
          </a:p>
        </p:txBody>
      </p:sp>
      <p:sp>
        <p:nvSpPr>
          <p:cNvPr id="4" name="Code"/>
          <p:cNvSpPr/>
          <p:nvPr/>
        </p:nvSpPr>
        <p:spPr>
          <a:xfrm>
            <a:off x="457200" y="1835657"/>
            <a:ext cx="395478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obj = {</a:t>
            </a:r>
          </a:p>
          <a:p>
            <a:pPr marL="0" indent="0" algn="l">
              <a:lnSpc>
                <a:spcPct val="100000"/>
              </a:lnSpc>
              <a:buNone/>
            </a:pPr>
            <a:r>
              <a:rPr sz="2000">
                <a:solidFill>
                  <a:srgbClr val="24292F"/>
                </a:solidFill>
                <a:latin typeface="Consolas"/>
              </a:rPr>
              <a:t>  foo(a, b) {</a:t>
            </a:r>
          </a:p>
          <a:p>
            <a:pPr marL="0" indent="0" algn="l">
              <a:lnSpc>
                <a:spcPct val="100000"/>
              </a:lnSpc>
              <a:buNone/>
            </a:pPr>
            <a:r>
              <a:rPr sz="2000">
                <a:solidFill>
                  <a:srgbClr val="24292F"/>
                </a:solidFill>
                <a:latin typeface="Consolas"/>
              </a:rPr>
              <a:t>    </a:t>
            </a:r>
            <a:r>
              <a:rPr sz="2000" i="1">
                <a:solidFill>
                  <a:srgbClr val="6E7781"/>
                </a:solidFill>
                <a:latin typeface="Consolas"/>
              </a:rPr>
              <a:t>// ...</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  bar(x, y) {</a:t>
            </a:r>
          </a:p>
          <a:p>
            <a:pPr marL="0" indent="0" algn="l">
              <a:lnSpc>
                <a:spcPct val="100000"/>
              </a:lnSpc>
              <a:buNone/>
            </a:pPr>
            <a:r>
              <a:rPr sz="2000">
                <a:solidFill>
                  <a:srgbClr val="24292F"/>
                </a:solidFill>
                <a:latin typeface="Consolas"/>
              </a:rPr>
              <a:t>    </a:t>
            </a:r>
            <a:r>
              <a:rPr sz="2000" i="1">
                <a:solidFill>
                  <a:srgbClr val="6E7781"/>
                </a:solidFill>
                <a:latin typeface="Consolas"/>
              </a:rPr>
              <a:t>// ...</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p:txBody>
      </p:sp>
      <p:sp>
        <p:nvSpPr>
          <p:cNvPr id="5"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ES5</a:t>
            </a:r>
          </a:p>
        </p:txBody>
      </p:sp>
      <p:sp>
        <p:nvSpPr>
          <p:cNvPr id="6" name="Code"/>
          <p:cNvSpPr/>
          <p:nvPr/>
        </p:nvSpPr>
        <p:spPr>
          <a:xfrm>
            <a:off x="4732020" y="1835657"/>
            <a:ext cx="3954780" cy="268630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00">
                <a:solidFill>
                  <a:srgbClr val="CF222E"/>
                </a:solidFill>
                <a:latin typeface="Consolas"/>
              </a:rPr>
              <a:t>var</a:t>
            </a:r>
            <a:r>
              <a:rPr sz="1900">
                <a:solidFill>
                  <a:srgbClr val="24292F"/>
                </a:solidFill>
                <a:latin typeface="Consolas"/>
              </a:rPr>
              <a:t> obj = {</a:t>
            </a:r>
          </a:p>
          <a:p>
            <a:pPr marL="0" indent="0" algn="l">
              <a:lnSpc>
                <a:spcPct val="100000"/>
              </a:lnSpc>
              <a:buNone/>
            </a:pPr>
            <a:r>
              <a:rPr sz="1900">
                <a:solidFill>
                  <a:srgbClr val="24292F"/>
                </a:solidFill>
                <a:latin typeface="Consolas"/>
              </a:rPr>
              <a:t>  foo: </a:t>
            </a:r>
            <a:r>
              <a:rPr sz="1900">
                <a:solidFill>
                  <a:srgbClr val="CF222E"/>
                </a:solidFill>
                <a:latin typeface="Consolas"/>
              </a:rPr>
              <a:t>function</a:t>
            </a:r>
            <a:r>
              <a:rPr sz="1900">
                <a:solidFill>
                  <a:srgbClr val="24292F"/>
                </a:solidFill>
                <a:latin typeface="Consolas"/>
              </a:rPr>
              <a:t> (a, b) {</a:t>
            </a:r>
          </a:p>
          <a:p>
            <a:pPr marL="0" indent="0" algn="l">
              <a:lnSpc>
                <a:spcPct val="100000"/>
              </a:lnSpc>
              <a:buNone/>
            </a:pPr>
            <a:r>
              <a:rPr sz="1900">
                <a:solidFill>
                  <a:srgbClr val="24292F"/>
                </a:solidFill>
                <a:latin typeface="Consolas"/>
              </a:rPr>
              <a:t>    </a:t>
            </a:r>
            <a:r>
              <a:rPr sz="1900" i="1">
                <a:solidFill>
                  <a:srgbClr val="6E7781"/>
                </a:solidFill>
                <a:latin typeface="Consolas"/>
              </a:rPr>
              <a:t>// ...</a:t>
            </a:r>
          </a:p>
          <a:p>
            <a:pPr marL="0" indent="0" algn="l">
              <a:lnSpc>
                <a:spcPct val="100000"/>
              </a:lnSpc>
              <a:buNone/>
            </a:pPr>
            <a:r>
              <a:rPr sz="1900">
                <a:solidFill>
                  <a:srgbClr val="24292F"/>
                </a:solidFill>
                <a:latin typeface="Consolas"/>
              </a:rPr>
              <a:t>  },</a:t>
            </a:r>
          </a:p>
          <a:p>
            <a:pPr marL="0" indent="0" algn="l">
              <a:lnSpc>
                <a:spcPct val="100000"/>
              </a:lnSpc>
              <a:buNone/>
            </a:pPr>
            <a:r>
              <a:rPr sz="1900">
                <a:solidFill>
                  <a:srgbClr val="24292F"/>
                </a:solidFill>
                <a:latin typeface="Consolas"/>
              </a:rPr>
              <a:t>  bar: </a:t>
            </a:r>
            <a:r>
              <a:rPr sz="1900">
                <a:solidFill>
                  <a:srgbClr val="CF222E"/>
                </a:solidFill>
                <a:latin typeface="Consolas"/>
              </a:rPr>
              <a:t>function</a:t>
            </a:r>
            <a:r>
              <a:rPr sz="1900">
                <a:solidFill>
                  <a:srgbClr val="24292F"/>
                </a:solidFill>
                <a:latin typeface="Consolas"/>
              </a:rPr>
              <a:t> (x, y) {</a:t>
            </a:r>
          </a:p>
          <a:p>
            <a:pPr marL="0" indent="0" algn="l">
              <a:lnSpc>
                <a:spcPct val="100000"/>
              </a:lnSpc>
              <a:buNone/>
            </a:pPr>
            <a:r>
              <a:rPr sz="1900">
                <a:solidFill>
                  <a:srgbClr val="24292F"/>
                </a:solidFill>
                <a:latin typeface="Consolas"/>
              </a:rPr>
              <a:t>    </a:t>
            </a:r>
            <a:r>
              <a:rPr sz="1900" i="1">
                <a:solidFill>
                  <a:srgbClr val="6E7781"/>
                </a:solidFill>
                <a:latin typeface="Consolas"/>
              </a:rPr>
              <a:t>// ...</a:t>
            </a:r>
          </a:p>
          <a:p>
            <a:pPr marL="0" indent="0" algn="l">
              <a:lnSpc>
                <a:spcPct val="100000"/>
              </a:lnSpc>
              <a:buNone/>
            </a:pPr>
            <a:r>
              <a:rPr sz="1900">
                <a:solidFill>
                  <a:srgbClr val="24292F"/>
                </a:solidFill>
                <a:latin typeface="Consolas"/>
              </a:rPr>
              <a:t>  },</a:t>
            </a:r>
          </a:p>
          <a:p>
            <a:pPr marL="0" indent="0" algn="l">
              <a:lnSpc>
                <a:spcPct val="100000"/>
              </a:lnSpc>
              <a:buNone/>
            </a:pPr>
            <a:r>
              <a:rPr sz="190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276</a:t>
            </a:fld>
            <a:endParaRPr lang="en-US" sz="900">
              <a:solidFill>
                <a:srgbClr val="9AA7B4"/>
              </a:solidFill>
            </a:endParaRPr>
          </a:p>
        </p:txBody>
      </p:sp>
    </p:spTree>
    <p:extLst>
      <p:ext uri="{BB962C8B-B14F-4D97-AF65-F5344CB8AC3E}">
        <p14:creationId xmlns:p14="http://schemas.microsoft.com/office/powerpoint/2010/main" val="93240435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Array Destructuring</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Unpack array elements into variables during assignment:</a:t>
            </a:r>
          </a:p>
        </p:txBody>
      </p:sp>
      <p:sp>
        <p:nvSpPr>
          <p:cNvPr id="4" name="Code"/>
          <p:cNvSpPr/>
          <p:nvPr/>
        </p:nvSpPr>
        <p:spPr>
          <a:xfrm>
            <a:off x="457200" y="1863597"/>
            <a:ext cx="8229600" cy="205638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list = [</a:t>
            </a:r>
            <a:r>
              <a:rPr sz="1600">
                <a:solidFill>
                  <a:srgbClr val="0550AE"/>
                </a:solidFill>
                <a:latin typeface="Consolas"/>
              </a:rPr>
              <a:t>1</a:t>
            </a:r>
            <a:r>
              <a:rPr sz="1600">
                <a:solidFill>
                  <a:srgbClr val="24292F"/>
                </a:solidFill>
                <a:latin typeface="Consolas"/>
              </a:rPr>
              <a:t>, </a:t>
            </a:r>
            <a:r>
              <a:rPr sz="1600">
                <a:solidFill>
                  <a:srgbClr val="0550AE"/>
                </a:solidFill>
                <a:latin typeface="Consolas"/>
              </a:rPr>
              <a:t>2</a:t>
            </a:r>
            <a:r>
              <a:rPr sz="1600">
                <a:solidFill>
                  <a:srgbClr val="24292F"/>
                </a:solidFill>
                <a:latin typeface="Consolas"/>
              </a:rPr>
              <a:t>, </a:t>
            </a:r>
            <a:r>
              <a:rPr sz="1600">
                <a:solidFill>
                  <a:srgbClr val="0550AE"/>
                </a:solidFill>
                <a:latin typeface="Consolas"/>
              </a:rPr>
              <a:t>3</a:t>
            </a: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[a, , b] = list     </a:t>
            </a:r>
            <a:r>
              <a:rPr sz="1600" i="1">
                <a:solidFill>
                  <a:srgbClr val="6E7781"/>
                </a:solidFill>
                <a:latin typeface="Consolas"/>
              </a:rPr>
              <a:t>// a = 1, b = 3 (skip the middle)</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;[b, a] = [a, b]          </a:t>
            </a:r>
            <a:r>
              <a:rPr sz="1600" i="1">
                <a:solidFill>
                  <a:srgbClr val="6E7781"/>
                </a:solidFill>
                <a:latin typeface="Consolas"/>
              </a:rPr>
              <a:t>// swap without a temporary variable</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[first, ...rest] = list   </a:t>
            </a:r>
            <a:r>
              <a:rPr sz="1600" i="1">
                <a:solidFill>
                  <a:srgbClr val="6E7781"/>
                </a:solidFill>
                <a:latin typeface="Consolas"/>
              </a:rPr>
              <a:t>// first = 1, rest = [2, 3]</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277</a:t>
            </a:fld>
            <a:endParaRPr lang="en-US" sz="900">
              <a:solidFill>
                <a:srgbClr val="9AA7B4"/>
              </a:solidFill>
            </a:endParaRPr>
          </a:p>
        </p:txBody>
      </p:sp>
    </p:spTree>
    <p:extLst>
      <p:ext uri="{BB962C8B-B14F-4D97-AF65-F5344CB8AC3E}">
        <p14:creationId xmlns:p14="http://schemas.microsoft.com/office/powerpoint/2010/main" val="420560008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Object Destructuring</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Unpack object properties into variables during assignment:</a:t>
            </a:r>
          </a:p>
        </p:txBody>
      </p:sp>
      <p:sp>
        <p:nvSpPr>
          <p:cNvPr id="4" name="Code"/>
          <p:cNvSpPr/>
          <p:nvPr/>
        </p:nvSpPr>
        <p:spPr>
          <a:xfrm>
            <a:off x="457200" y="1863597"/>
            <a:ext cx="8229600" cy="166268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50">
                <a:solidFill>
                  <a:srgbClr val="CF222E"/>
                </a:solidFill>
                <a:latin typeface="Consolas"/>
              </a:rPr>
              <a:t>const</a:t>
            </a:r>
            <a:r>
              <a:rPr sz="1450">
                <a:solidFill>
                  <a:srgbClr val="24292F"/>
                </a:solidFill>
                <a:latin typeface="Consolas"/>
              </a:rPr>
              <a:t> { a, b, c } = { a: </a:t>
            </a:r>
            <a:r>
              <a:rPr sz="1450">
                <a:solidFill>
                  <a:srgbClr val="0550AE"/>
                </a:solidFill>
                <a:latin typeface="Consolas"/>
              </a:rPr>
              <a:t>1</a:t>
            </a:r>
            <a:r>
              <a:rPr sz="1450">
                <a:solidFill>
                  <a:srgbClr val="24292F"/>
                </a:solidFill>
                <a:latin typeface="Consolas"/>
              </a:rPr>
              <a:t>, b: </a:t>
            </a:r>
            <a:r>
              <a:rPr sz="1450">
                <a:solidFill>
                  <a:srgbClr val="0550AE"/>
                </a:solidFill>
                <a:latin typeface="Consolas"/>
              </a:rPr>
              <a:t>2</a:t>
            </a:r>
            <a:r>
              <a:rPr sz="1450">
                <a:solidFill>
                  <a:srgbClr val="24292F"/>
                </a:solidFill>
                <a:latin typeface="Consolas"/>
              </a:rPr>
              <a:t>, c: </a:t>
            </a:r>
            <a:r>
              <a:rPr sz="1450">
                <a:solidFill>
                  <a:srgbClr val="0550AE"/>
                </a:solidFill>
                <a:latin typeface="Consolas"/>
              </a:rPr>
              <a:t>3</a:t>
            </a:r>
            <a:r>
              <a:rPr sz="1450">
                <a:solidFill>
                  <a:srgbClr val="24292F"/>
                </a:solidFill>
                <a:latin typeface="Consolas"/>
              </a:rPr>
              <a:t> }</a:t>
            </a:r>
          </a:p>
          <a:p>
            <a:pPr marL="0" indent="0" algn="l">
              <a:lnSpc>
                <a:spcPct val="100000"/>
              </a:lnSpc>
              <a:buNone/>
            </a:pPr>
            <a:r>
              <a:rPr sz="1450">
                <a:solidFill>
                  <a:srgbClr val="24292F"/>
                </a:solidFill>
                <a:latin typeface="Consolas"/>
              </a:rPr>
              <a:t>console.log(a, b, c)   </a:t>
            </a:r>
            <a:r>
              <a:rPr sz="1450" i="1">
                <a:solidFill>
                  <a:srgbClr val="6E7781"/>
                </a:solidFill>
                <a:latin typeface="Consolas"/>
              </a:rPr>
              <a:t>// 1 2 3</a:t>
            </a:r>
          </a:p>
          <a:p>
            <a:pPr marL="0" indent="0" algn="l">
              <a:lnSpc>
                <a:spcPct val="100000"/>
              </a:lnSpc>
              <a:buNone/>
            </a:pPr>
            <a:r>
              <a:rPr sz="1450">
                <a:latin typeface="Consolas"/>
              </a:rPr>
              <a:t> </a:t>
            </a:r>
          </a:p>
          <a:p>
            <a:pPr marL="0" indent="0" algn="l">
              <a:lnSpc>
                <a:spcPct val="100000"/>
              </a:lnSpc>
              <a:buNone/>
            </a:pPr>
            <a:r>
              <a:rPr sz="1450">
                <a:solidFill>
                  <a:srgbClr val="CF222E"/>
                </a:solidFill>
                <a:latin typeface="Consolas"/>
              </a:rPr>
              <a:t>const</a:t>
            </a:r>
            <a:r>
              <a:rPr sz="1450">
                <a:solidFill>
                  <a:srgbClr val="24292F"/>
                </a:solidFill>
                <a:latin typeface="Consolas"/>
              </a:rPr>
              <a:t> { title, author: { username } } = article   </a:t>
            </a:r>
            <a:r>
              <a:rPr sz="1450" i="1">
                <a:solidFill>
                  <a:srgbClr val="6E7781"/>
                </a:solidFill>
                <a:latin typeface="Consolas"/>
              </a:rPr>
              <a:t>// nested</a:t>
            </a:r>
          </a:p>
          <a:p>
            <a:pPr marL="0" indent="0" algn="l">
              <a:lnSpc>
                <a:spcPct val="100000"/>
              </a:lnSpc>
              <a:buNone/>
            </a:pPr>
            <a:r>
              <a:rPr sz="1450">
                <a:solidFill>
                  <a:srgbClr val="CF222E"/>
                </a:solidFill>
                <a:latin typeface="Consolas"/>
              </a:rPr>
              <a:t>const</a:t>
            </a:r>
            <a:r>
              <a:rPr sz="1450">
                <a:solidFill>
                  <a:srgbClr val="24292F"/>
                </a:solidFill>
                <a:latin typeface="Consolas"/>
              </a:rPr>
              <a:t> { data } = </a:t>
            </a:r>
            <a:r>
              <a:rPr sz="1450">
                <a:solidFill>
                  <a:srgbClr val="CF222E"/>
                </a:solidFill>
                <a:latin typeface="Consolas"/>
              </a:rPr>
              <a:t>await</a:t>
            </a:r>
            <a:r>
              <a:rPr sz="1450">
                <a:solidFill>
                  <a:srgbClr val="24292F"/>
                </a:solidFill>
                <a:latin typeface="Consolas"/>
              </a:rPr>
              <a:t> ApiService.query(</a:t>
            </a:r>
            <a:r>
              <a:rPr sz="1450">
                <a:solidFill>
                  <a:srgbClr val="0A3069"/>
                </a:solidFill>
                <a:latin typeface="Consolas"/>
              </a:rPr>
              <a:t>'tags'</a:t>
            </a:r>
            <a:r>
              <a:rPr sz="1450">
                <a:solidFill>
                  <a:srgbClr val="24292F"/>
                </a:solidFill>
                <a:latin typeface="Consolas"/>
              </a:rPr>
              <a:t>)    </a:t>
            </a:r>
            <a:r>
              <a:rPr sz="1450" i="1">
                <a:solidFill>
                  <a:srgbClr val="6E7781"/>
                </a:solidFill>
                <a:latin typeface="Consolas"/>
              </a:rPr>
              <a:t>// from a response</a:t>
            </a:r>
          </a:p>
          <a:p>
            <a:pPr marL="0" indent="0" algn="l">
              <a:lnSpc>
                <a:spcPct val="100000"/>
              </a:lnSpc>
              <a:buNone/>
            </a:pPr>
            <a:r>
              <a:rPr sz="1450">
                <a:solidFill>
                  <a:srgbClr val="CF222E"/>
                </a:solidFill>
                <a:latin typeface="Consolas"/>
              </a:rPr>
              <a:t>const</a:t>
            </a:r>
            <a:r>
              <a:rPr sz="1450">
                <a:solidFill>
                  <a:srgbClr val="24292F"/>
                </a:solidFill>
                <a:latin typeface="Consolas"/>
              </a:rPr>
              <a:t> { count = </a:t>
            </a:r>
            <a:r>
              <a:rPr sz="1450">
                <a:solidFill>
                  <a:srgbClr val="0550AE"/>
                </a:solidFill>
                <a:latin typeface="Consolas"/>
              </a:rPr>
              <a:t>0</a:t>
            </a:r>
            <a:r>
              <a:rPr sz="1450">
                <a:solidFill>
                  <a:srgbClr val="24292F"/>
                </a:solidFill>
                <a:latin typeface="Consolas"/>
              </a:rPr>
              <a:t> } = options                      </a:t>
            </a:r>
            <a:r>
              <a:rPr sz="1450" i="1">
                <a:solidFill>
                  <a:srgbClr val="6E7781"/>
                </a:solidFill>
                <a:latin typeface="Consolas"/>
              </a:rPr>
              <a:t>// with a default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278</a:t>
            </a:fld>
            <a:endParaRPr lang="en-US" sz="900">
              <a:solidFill>
                <a:srgbClr val="9AA7B4"/>
              </a:solidFill>
            </a:endParaRPr>
          </a:p>
        </p:txBody>
      </p:sp>
    </p:spTree>
    <p:extLst>
      <p:ext uri="{BB962C8B-B14F-4D97-AF65-F5344CB8AC3E}">
        <p14:creationId xmlns:p14="http://schemas.microsoft.com/office/powerpoint/2010/main" val="136823579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Symbol Primitive</a:t>
            </a:r>
          </a:p>
        </p:txBody>
      </p:sp>
      <p:sp>
        <p:nvSpPr>
          <p:cNvPr id="3" name="Body"/>
          <p:cNvSpPr txBox="1"/>
          <p:nvPr/>
        </p:nvSpPr>
        <p:spPr>
          <a:xfrm>
            <a:off x="457200" y="1261872"/>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 </a:t>
            </a:r>
            <a:r>
              <a:rPr sz="2200" b="1" i="0">
                <a:solidFill>
                  <a:srgbClr val="1F2A36"/>
                </a:solidFill>
              </a:rPr>
              <a:t>unique</a:t>
            </a:r>
            <a:r>
              <a:rPr sz="2200" b="0" i="0">
                <a:solidFill>
                  <a:srgbClr val="1F2A36"/>
                </a:solidFill>
              </a:rPr>
              <a:t> and </a:t>
            </a:r>
            <a:r>
              <a:rPr sz="2200" b="1" i="0">
                <a:solidFill>
                  <a:srgbClr val="1F2A36"/>
                </a:solidFill>
              </a:rPr>
              <a:t>immutable</a:t>
            </a:r>
            <a:r>
              <a:rPr sz="2200" b="0" i="0">
                <a:solidFill>
                  <a:srgbClr val="1F2A36"/>
                </a:solidFill>
              </a:rPr>
              <a:t> primitive value</a:t>
            </a:r>
          </a:p>
          <a:p>
            <a:pPr marL="274320" indent="-256032">
              <a:spcAft>
                <a:spcPts val="990"/>
              </a:spcAft>
              <a:buClr>
                <a:srgbClr val="42B883"/>
              </a:buClr>
              <a:buSzPct val="100000"/>
              <a:buFont typeface="Arial"/>
              <a:buChar char="•"/>
            </a:pPr>
            <a:r>
              <a:rPr sz="2200" b="0" i="0">
                <a:solidFill>
                  <a:srgbClr val="1F2A36"/>
                </a:solidFill>
              </a:rPr>
              <a:t>Can be used as an object property key that won't collide with any other</a:t>
            </a:r>
          </a:p>
        </p:txBody>
      </p:sp>
      <p:sp>
        <p:nvSpPr>
          <p:cNvPr id="4" name="Code"/>
          <p:cNvSpPr/>
          <p:nvPr/>
        </p:nvSpPr>
        <p:spPr>
          <a:xfrm>
            <a:off x="457200" y="2648712"/>
            <a:ext cx="8229600" cy="182803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a:solidFill>
                  <a:srgbClr val="CF222E"/>
                </a:solidFill>
                <a:latin typeface="Consolas"/>
              </a:rPr>
              <a:t>const</a:t>
            </a:r>
            <a:r>
              <a:rPr sz="1950">
                <a:solidFill>
                  <a:srgbClr val="24292F"/>
                </a:solidFill>
                <a:latin typeface="Consolas"/>
              </a:rPr>
              <a:t> sym1 = Symbol()</a:t>
            </a:r>
          </a:p>
          <a:p>
            <a:pPr marL="0" indent="0" algn="l">
              <a:lnSpc>
                <a:spcPct val="100000"/>
              </a:lnSpc>
              <a:buNone/>
            </a:pPr>
            <a:r>
              <a:rPr sz="1950">
                <a:solidFill>
                  <a:srgbClr val="CF222E"/>
                </a:solidFill>
                <a:latin typeface="Consolas"/>
              </a:rPr>
              <a:t>const</a:t>
            </a:r>
            <a:r>
              <a:rPr sz="1950">
                <a:solidFill>
                  <a:srgbClr val="24292F"/>
                </a:solidFill>
                <a:latin typeface="Consolas"/>
              </a:rPr>
              <a:t> sym2 = Symbol(</a:t>
            </a:r>
            <a:r>
              <a:rPr sz="1950">
                <a:solidFill>
                  <a:srgbClr val="0A3069"/>
                </a:solidFill>
                <a:latin typeface="Consolas"/>
              </a:rPr>
              <a:t>'foo'</a:t>
            </a:r>
            <a:r>
              <a:rPr sz="1950">
                <a:solidFill>
                  <a:srgbClr val="24292F"/>
                </a:solidFill>
                <a:latin typeface="Consolas"/>
              </a:rPr>
              <a:t>)</a:t>
            </a:r>
          </a:p>
          <a:p>
            <a:pPr marL="0" indent="0" algn="l">
              <a:lnSpc>
                <a:spcPct val="100000"/>
              </a:lnSpc>
              <a:buNone/>
            </a:pPr>
            <a:r>
              <a:rPr sz="1950">
                <a:solidFill>
                  <a:srgbClr val="CF222E"/>
                </a:solidFill>
                <a:latin typeface="Consolas"/>
              </a:rPr>
              <a:t>const</a:t>
            </a:r>
            <a:r>
              <a:rPr sz="1950">
                <a:solidFill>
                  <a:srgbClr val="24292F"/>
                </a:solidFill>
                <a:latin typeface="Consolas"/>
              </a:rPr>
              <a:t> sym3 = Symbol(</a:t>
            </a:r>
            <a:r>
              <a:rPr sz="1950">
                <a:solidFill>
                  <a:srgbClr val="0A3069"/>
                </a:solidFill>
                <a:latin typeface="Consolas"/>
              </a:rPr>
              <a:t>'foo'</a:t>
            </a:r>
            <a:r>
              <a:rPr sz="1950">
                <a:solidFill>
                  <a:srgbClr val="24292F"/>
                </a:solidFill>
                <a:latin typeface="Consolas"/>
              </a:rPr>
              <a:t>)</a:t>
            </a:r>
          </a:p>
          <a:p>
            <a:pPr marL="0" indent="0" algn="l">
              <a:lnSpc>
                <a:spcPct val="100000"/>
              </a:lnSpc>
              <a:buNone/>
            </a:pPr>
            <a:r>
              <a:rPr sz="1950">
                <a:latin typeface="Consolas"/>
              </a:rPr>
              <a:t> </a:t>
            </a:r>
          </a:p>
          <a:p>
            <a:pPr marL="0" indent="0" algn="l">
              <a:lnSpc>
                <a:spcPct val="100000"/>
              </a:lnSpc>
              <a:buNone/>
            </a:pPr>
            <a:r>
              <a:rPr sz="1950">
                <a:solidFill>
                  <a:srgbClr val="24292F"/>
                </a:solidFill>
                <a:latin typeface="Consolas"/>
              </a:rPr>
              <a:t>sym2 === sym3   </a:t>
            </a:r>
            <a:r>
              <a:rPr sz="1950" i="1">
                <a:solidFill>
                  <a:srgbClr val="6E7781"/>
                </a:solidFill>
                <a:latin typeface="Consolas"/>
              </a:rPr>
              <a:t>// false — every Symbol() is unique</a:t>
            </a:r>
          </a:p>
        </p:txBody>
      </p:sp>
      <p:sp>
        <p:nvSpPr>
          <p:cNvPr id="5" name="Body"/>
          <p:cNvSpPr txBox="1"/>
          <p:nvPr/>
        </p:nvSpPr>
        <p:spPr>
          <a:xfrm>
            <a:off x="457200" y="4623054"/>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Well-known symbols</a:t>
            </a:r>
            <a:r>
              <a:rPr sz="2200" b="0" i="0">
                <a:solidFill>
                  <a:srgbClr val="1F2A36"/>
                </a:solidFill>
              </a:rPr>
              <a:t> customize built-in behavior, e.g. </a:t>
            </a:r>
            <a:r>
              <a:rPr sz="2090" b="0" i="0">
                <a:solidFill>
                  <a:srgbClr val="8A2B52"/>
                </a:solidFill>
                <a:latin typeface="Consolas"/>
              </a:rPr>
              <a:t>Symbol.iterator</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279</a:t>
            </a:fld>
            <a:endParaRPr lang="en-US" sz="900">
              <a:solidFill>
                <a:srgbClr val="9AA7B4"/>
              </a:solidFill>
            </a:endParaRPr>
          </a:p>
        </p:txBody>
      </p:sp>
    </p:spTree>
    <p:extLst>
      <p:ext uri="{BB962C8B-B14F-4D97-AF65-F5344CB8AC3E}">
        <p14:creationId xmlns:p14="http://schemas.microsoft.com/office/powerpoint/2010/main" val="167949190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User-defined Iterators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To be iterable, an object (or its prototype chain) must have a method with the key </a:t>
            </a:r>
            <a:r>
              <a:rPr sz="2090" b="0" i="0">
                <a:solidFill>
                  <a:srgbClr val="8A2B52"/>
                </a:solidFill>
                <a:latin typeface="Consolas"/>
              </a:rPr>
              <a:t>Symbol.iterator</a:t>
            </a:r>
          </a:p>
        </p:txBody>
      </p:sp>
      <p:sp>
        <p:nvSpPr>
          <p:cNvPr id="4" name="Code"/>
          <p:cNvSpPr/>
          <p:nvPr/>
        </p:nvSpPr>
        <p:spPr>
          <a:xfrm>
            <a:off x="457200" y="2193290"/>
            <a:ext cx="8229600" cy="312724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myIterable = {</a:t>
            </a:r>
          </a:p>
          <a:p>
            <a:pPr marL="0" indent="0" algn="l">
              <a:lnSpc>
                <a:spcPct val="100000"/>
              </a:lnSpc>
              <a:buNone/>
            </a:pPr>
            <a:r>
              <a:rPr sz="2000">
                <a:solidFill>
                  <a:srgbClr val="24292F"/>
                </a:solidFill>
                <a:latin typeface="Consolas"/>
              </a:rPr>
              <a:t>  *[Symbol.iterator]() {</a:t>
            </a:r>
          </a:p>
          <a:p>
            <a:pPr marL="0" indent="0" algn="l">
              <a:lnSpc>
                <a:spcPct val="100000"/>
              </a:lnSpc>
              <a:buNone/>
            </a:pPr>
            <a:r>
              <a:rPr sz="2000">
                <a:solidFill>
                  <a:srgbClr val="24292F"/>
                </a:solidFill>
                <a:latin typeface="Consolas"/>
              </a:rPr>
              <a:t>    </a:t>
            </a:r>
            <a:r>
              <a:rPr sz="2000">
                <a:solidFill>
                  <a:srgbClr val="CF222E"/>
                </a:solidFill>
                <a:latin typeface="Consolas"/>
              </a:rPr>
              <a:t>yield</a:t>
            </a:r>
            <a:r>
              <a:rPr sz="2000">
                <a:solidFill>
                  <a:srgbClr val="24292F"/>
                </a:solidFill>
                <a:latin typeface="Consolas"/>
              </a:rPr>
              <a:t> </a:t>
            </a:r>
            <a:r>
              <a:rPr sz="2000">
                <a:solidFill>
                  <a:srgbClr val="0550AE"/>
                </a:solidFill>
                <a:latin typeface="Consolas"/>
              </a:rPr>
              <a:t>1</a:t>
            </a:r>
          </a:p>
          <a:p>
            <a:pPr marL="0" indent="0" algn="l">
              <a:lnSpc>
                <a:spcPct val="100000"/>
              </a:lnSpc>
              <a:buNone/>
            </a:pPr>
            <a:r>
              <a:rPr sz="2000">
                <a:solidFill>
                  <a:srgbClr val="24292F"/>
                </a:solidFill>
                <a:latin typeface="Consolas"/>
              </a:rPr>
              <a:t>    </a:t>
            </a:r>
            <a:r>
              <a:rPr sz="2000">
                <a:solidFill>
                  <a:srgbClr val="CF222E"/>
                </a:solidFill>
                <a:latin typeface="Consolas"/>
              </a:rPr>
              <a:t>yield</a:t>
            </a:r>
            <a:r>
              <a:rPr sz="2000">
                <a:solidFill>
                  <a:srgbClr val="24292F"/>
                </a:solidFill>
                <a:latin typeface="Consolas"/>
              </a:rPr>
              <a:t> </a:t>
            </a:r>
            <a:r>
              <a:rPr sz="2000">
                <a:solidFill>
                  <a:srgbClr val="0550AE"/>
                </a:solidFill>
                <a:latin typeface="Consolas"/>
              </a:rPr>
              <a:t>2</a:t>
            </a:r>
          </a:p>
          <a:p>
            <a:pPr marL="0" indent="0" algn="l">
              <a:lnSpc>
                <a:spcPct val="100000"/>
              </a:lnSpc>
              <a:buNone/>
            </a:pPr>
            <a:r>
              <a:rPr sz="2000">
                <a:solidFill>
                  <a:srgbClr val="24292F"/>
                </a:solidFill>
                <a:latin typeface="Consolas"/>
              </a:rPr>
              <a:t>    </a:t>
            </a:r>
            <a:r>
              <a:rPr sz="2000">
                <a:solidFill>
                  <a:srgbClr val="CF222E"/>
                </a:solidFill>
                <a:latin typeface="Consolas"/>
              </a:rPr>
              <a:t>yield</a:t>
            </a:r>
            <a:r>
              <a:rPr sz="2000">
                <a:solidFill>
                  <a:srgbClr val="24292F"/>
                </a:solidFill>
                <a:latin typeface="Consolas"/>
              </a:rPr>
              <a:t> </a:t>
            </a:r>
            <a:r>
              <a:rPr sz="2000">
                <a:solidFill>
                  <a:srgbClr val="0550AE"/>
                </a:solidFill>
                <a:latin typeface="Consolas"/>
              </a:rPr>
              <a:t>3</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;[...myIterable]   </a:t>
            </a:r>
            <a:r>
              <a:rPr sz="2000" i="1">
                <a:solidFill>
                  <a:srgbClr val="6E7781"/>
                </a:solidFill>
                <a:latin typeface="Consolas"/>
              </a:rPr>
              <a:t>// [1, 2, 3]</a:t>
            </a:r>
          </a:p>
        </p:txBody>
      </p:sp>
      <p:sp>
        <p:nvSpPr>
          <p:cNvPr id="5" name="Body"/>
          <p:cNvSpPr txBox="1"/>
          <p:nvPr/>
        </p:nvSpPr>
        <p:spPr>
          <a:xfrm>
            <a:off x="457200" y="5466841"/>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Iterables work with </a:t>
            </a:r>
            <a:r>
              <a:rPr sz="2090" b="0" i="0">
                <a:solidFill>
                  <a:srgbClr val="8A2B52"/>
                </a:solidFill>
                <a:latin typeface="Consolas"/>
              </a:rPr>
              <a:t>for...of</a:t>
            </a:r>
            <a:r>
              <a:rPr sz="2200" b="0" i="0">
                <a:solidFill>
                  <a:srgbClr val="1F2A36"/>
                </a:solidFill>
              </a:rPr>
              <a:t>, spread and destructuring</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280</a:t>
            </a:fld>
            <a:endParaRPr lang="en-US" sz="900">
              <a:solidFill>
                <a:srgbClr val="9AA7B4"/>
              </a:solidFill>
            </a:endParaRPr>
          </a:p>
        </p:txBody>
      </p:sp>
    </p:spTree>
    <p:extLst>
      <p:ext uri="{BB962C8B-B14F-4D97-AF65-F5344CB8AC3E}">
        <p14:creationId xmlns:p14="http://schemas.microsoft.com/office/powerpoint/2010/main" val="136120807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for...of Statement</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Iterate over all the values of an iterable object:</a:t>
            </a:r>
          </a:p>
        </p:txBody>
      </p:sp>
      <p:sp>
        <p:nvSpPr>
          <p:cNvPr id="4" name="Code"/>
          <p:cNvSpPr/>
          <p:nvPr/>
        </p:nvSpPr>
        <p:spPr>
          <a:xfrm>
            <a:off x="457200" y="1863597"/>
            <a:ext cx="8229600" cy="432409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fibonacci = {</a:t>
            </a:r>
          </a:p>
          <a:p>
            <a:pPr marL="0" indent="0" algn="l">
              <a:lnSpc>
                <a:spcPct val="100000"/>
              </a:lnSpc>
              <a:buNone/>
            </a:pPr>
            <a:r>
              <a:rPr sz="1600">
                <a:solidFill>
                  <a:srgbClr val="24292F"/>
                </a:solidFill>
                <a:latin typeface="Consolas"/>
              </a:rPr>
              <a:t>  [Symbol.iterator]() {</a:t>
            </a:r>
          </a:p>
          <a:p>
            <a:pPr marL="0" indent="0" algn="l">
              <a:lnSpc>
                <a:spcPct val="100000"/>
              </a:lnSpc>
              <a:buNone/>
            </a:pPr>
            <a:r>
              <a:rPr sz="1600">
                <a:solidFill>
                  <a:srgbClr val="24292F"/>
                </a:solidFill>
                <a:latin typeface="Consolas"/>
              </a:rPr>
              <a:t>    </a:t>
            </a:r>
            <a:r>
              <a:rPr sz="1600">
                <a:solidFill>
                  <a:srgbClr val="CF222E"/>
                </a:solidFill>
                <a:latin typeface="Consolas"/>
              </a:rPr>
              <a:t>let</a:t>
            </a:r>
            <a:r>
              <a:rPr sz="1600">
                <a:solidFill>
                  <a:srgbClr val="24292F"/>
                </a:solidFill>
                <a:latin typeface="Consolas"/>
              </a:rPr>
              <a:t> pre = </a:t>
            </a:r>
            <a:r>
              <a:rPr sz="1600">
                <a:solidFill>
                  <a:srgbClr val="0550AE"/>
                </a:solidFill>
                <a:latin typeface="Consolas"/>
              </a:rPr>
              <a:t>0</a:t>
            </a:r>
            <a:r>
              <a:rPr sz="1600">
                <a:solidFill>
                  <a:srgbClr val="24292F"/>
                </a:solidFill>
                <a:latin typeface="Consolas"/>
              </a:rPr>
              <a:t>, cur = </a:t>
            </a:r>
            <a:r>
              <a:rPr sz="1600">
                <a:solidFill>
                  <a:srgbClr val="0550AE"/>
                </a:solidFill>
                <a:latin typeface="Consolas"/>
              </a:rPr>
              <a:t>1</a:t>
            </a:r>
          </a:p>
          <a:p>
            <a:pPr marL="0" indent="0" algn="l">
              <a:lnSpc>
                <a:spcPct val="100000"/>
              </a:lnSpc>
              <a:buNone/>
            </a:pPr>
            <a:r>
              <a:rPr sz="1600">
                <a:solidFill>
                  <a:srgbClr val="24292F"/>
                </a:solidFill>
                <a:latin typeface="Consolas"/>
              </a:rPr>
              <a:t>    </a:t>
            </a:r>
            <a:r>
              <a:rPr sz="1600">
                <a:solidFill>
                  <a:srgbClr val="CF222E"/>
                </a:solidFill>
                <a:latin typeface="Consolas"/>
              </a:rPr>
              <a:t>return</a:t>
            </a:r>
            <a:r>
              <a:rPr sz="1600">
                <a:solidFill>
                  <a:srgbClr val="24292F"/>
                </a:solidFill>
                <a:latin typeface="Consolas"/>
              </a:rPr>
              <a:t> {</a:t>
            </a:r>
          </a:p>
          <a:p>
            <a:pPr marL="0" indent="0" algn="l">
              <a:lnSpc>
                <a:spcPct val="100000"/>
              </a:lnSpc>
              <a:buNone/>
            </a:pPr>
            <a:r>
              <a:rPr sz="1600">
                <a:solidFill>
                  <a:srgbClr val="24292F"/>
                </a:solidFill>
                <a:latin typeface="Consolas"/>
              </a:rPr>
              <a:t>      next() {</a:t>
            </a:r>
          </a:p>
          <a:p>
            <a:pPr marL="0" indent="0" algn="l">
              <a:lnSpc>
                <a:spcPct val="100000"/>
              </a:lnSpc>
              <a:buNone/>
            </a:pPr>
            <a:r>
              <a:rPr sz="1600">
                <a:solidFill>
                  <a:srgbClr val="24292F"/>
                </a:solidFill>
                <a:latin typeface="Consolas"/>
              </a:rPr>
              <a:t>        ;[pre, cur] = [cur, pre + cur]</a:t>
            </a:r>
          </a:p>
          <a:p>
            <a:pPr marL="0" indent="0" algn="l">
              <a:lnSpc>
                <a:spcPct val="100000"/>
              </a:lnSpc>
              <a:buNone/>
            </a:pPr>
            <a:r>
              <a:rPr sz="1600">
                <a:solidFill>
                  <a:srgbClr val="24292F"/>
                </a:solidFill>
                <a:latin typeface="Consolas"/>
              </a:rPr>
              <a:t>        </a:t>
            </a:r>
            <a:r>
              <a:rPr sz="1600">
                <a:solidFill>
                  <a:srgbClr val="CF222E"/>
                </a:solidFill>
                <a:latin typeface="Consolas"/>
              </a:rPr>
              <a:t>return</a:t>
            </a:r>
            <a:r>
              <a:rPr sz="1600">
                <a:solidFill>
                  <a:srgbClr val="24292F"/>
                </a:solidFill>
                <a:latin typeface="Consolas"/>
              </a:rPr>
              <a:t> { done: </a:t>
            </a:r>
            <a:r>
              <a:rPr sz="1600">
                <a:solidFill>
                  <a:srgbClr val="CF222E"/>
                </a:solidFill>
                <a:latin typeface="Consolas"/>
              </a:rPr>
              <a:t>false</a:t>
            </a:r>
            <a:r>
              <a:rPr sz="1600">
                <a:solidFill>
                  <a:srgbClr val="24292F"/>
                </a:solidFill>
                <a:latin typeface="Consolas"/>
              </a:rPr>
              <a:t>, value: cur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for</a:t>
            </a:r>
            <a:r>
              <a:rPr sz="1600">
                <a:solidFill>
                  <a:srgbClr val="24292F"/>
                </a:solidFill>
                <a:latin typeface="Consolas"/>
              </a:rPr>
              <a:t> (</a:t>
            </a:r>
            <a:r>
              <a:rPr sz="1600">
                <a:solidFill>
                  <a:srgbClr val="CF222E"/>
                </a:solidFill>
                <a:latin typeface="Consolas"/>
              </a:rPr>
              <a:t>const</a:t>
            </a:r>
            <a:r>
              <a:rPr sz="1600">
                <a:solidFill>
                  <a:srgbClr val="24292F"/>
                </a:solidFill>
                <a:latin typeface="Consolas"/>
              </a:rPr>
              <a:t> n </a:t>
            </a:r>
            <a:r>
              <a:rPr sz="1600">
                <a:solidFill>
                  <a:srgbClr val="CF222E"/>
                </a:solidFill>
                <a:latin typeface="Consolas"/>
              </a:rPr>
              <a:t>of</a:t>
            </a:r>
            <a:r>
              <a:rPr sz="1600">
                <a:solidFill>
                  <a:srgbClr val="24292F"/>
                </a:solidFill>
                <a:latin typeface="Consolas"/>
              </a:rPr>
              <a:t> fibonacci) {</a:t>
            </a:r>
          </a:p>
          <a:p>
            <a:pPr marL="0" indent="0" algn="l">
              <a:lnSpc>
                <a:spcPct val="100000"/>
              </a:lnSpc>
              <a:buNone/>
            </a:pPr>
            <a:r>
              <a:rPr sz="1600">
                <a:solidFill>
                  <a:srgbClr val="24292F"/>
                </a:solidFill>
                <a:latin typeface="Consolas"/>
              </a:rPr>
              <a:t>  </a:t>
            </a:r>
            <a:r>
              <a:rPr sz="1600">
                <a:solidFill>
                  <a:srgbClr val="CF222E"/>
                </a:solidFill>
                <a:latin typeface="Consolas"/>
              </a:rPr>
              <a:t>if</a:t>
            </a:r>
            <a:r>
              <a:rPr sz="1600">
                <a:solidFill>
                  <a:srgbClr val="24292F"/>
                </a:solidFill>
                <a:latin typeface="Consolas"/>
              </a:rPr>
              <a:t> (n &gt; </a:t>
            </a:r>
            <a:r>
              <a:rPr sz="1600">
                <a:solidFill>
                  <a:srgbClr val="0550AE"/>
                </a:solidFill>
                <a:latin typeface="Consolas"/>
              </a:rPr>
              <a:t>1000</a:t>
            </a:r>
            <a:r>
              <a:rPr sz="1600">
                <a:solidFill>
                  <a:srgbClr val="24292F"/>
                </a:solidFill>
                <a:latin typeface="Consolas"/>
              </a:rPr>
              <a:t>) </a:t>
            </a:r>
            <a:r>
              <a:rPr sz="1600">
                <a:solidFill>
                  <a:srgbClr val="CF222E"/>
                </a:solidFill>
                <a:latin typeface="Consolas"/>
              </a:rPr>
              <a:t>break</a:t>
            </a:r>
          </a:p>
          <a:p>
            <a:pPr marL="0" indent="0" algn="l">
              <a:lnSpc>
                <a:spcPct val="100000"/>
              </a:lnSpc>
              <a:buNone/>
            </a:pPr>
            <a:r>
              <a:rPr sz="1600">
                <a:solidFill>
                  <a:srgbClr val="24292F"/>
                </a:solidFill>
                <a:latin typeface="Consolas"/>
              </a:rPr>
              <a:t>  console.log(n)</a:t>
            </a:r>
          </a:p>
          <a:p>
            <a:pPr marL="0" indent="0" algn="l">
              <a:lnSpc>
                <a:spcPct val="100000"/>
              </a:lnSpc>
              <a:buNone/>
            </a:pPr>
            <a:r>
              <a:rPr sz="1600">
                <a:solidFill>
                  <a:srgbClr val="24292F"/>
                </a:solidFill>
                <a:latin typeface="Consolas"/>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281</a:t>
            </a:fld>
            <a:endParaRPr lang="en-US" sz="900">
              <a:solidFill>
                <a:srgbClr val="9AA7B4"/>
              </a:solidFill>
            </a:endParaRPr>
          </a:p>
        </p:txBody>
      </p:sp>
    </p:spTree>
    <p:extLst>
      <p:ext uri="{BB962C8B-B14F-4D97-AF65-F5344CB8AC3E}">
        <p14:creationId xmlns:p14="http://schemas.microsoft.com/office/powerpoint/2010/main" val="136284957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2600" b="1" i="0" cap="none">
                <a:solidFill>
                  <a:srgbClr val="2C3E50"/>
                </a:solidFill>
              </a:rPr>
              <a:t>Creating and Consuming Generator Functions</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A </a:t>
            </a:r>
            <a:r>
              <a:rPr sz="2200" b="1" i="0">
                <a:solidFill>
                  <a:srgbClr val="1F2A36"/>
                </a:solidFill>
              </a:rPr>
              <a:t>generator</a:t>
            </a:r>
            <a:r>
              <a:rPr sz="2200" b="0" i="0">
                <a:solidFill>
                  <a:srgbClr val="1F2A36"/>
                </a:solidFill>
              </a:rPr>
              <a:t> is a special kind of function that works as a factory for iterators.</a:t>
            </a:r>
          </a:p>
        </p:txBody>
      </p:sp>
      <p:sp>
        <p:nvSpPr>
          <p:cNvPr id="4" name="Code"/>
          <p:cNvSpPr/>
          <p:nvPr/>
        </p:nvSpPr>
        <p:spPr>
          <a:xfrm>
            <a:off x="457200" y="2193290"/>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function</a:t>
            </a:r>
            <a:r>
              <a:rPr sz="2000">
                <a:solidFill>
                  <a:srgbClr val="24292F"/>
                </a:solidFill>
                <a:latin typeface="Consolas"/>
              </a:rPr>
              <a:t>* idMaker() {</a:t>
            </a:r>
          </a:p>
          <a:p>
            <a:pPr marL="0" indent="0" algn="l">
              <a:lnSpc>
                <a:spcPct val="100000"/>
              </a:lnSpc>
              <a:buNone/>
            </a:pPr>
            <a:r>
              <a:rPr sz="2000">
                <a:solidFill>
                  <a:srgbClr val="24292F"/>
                </a:solidFill>
                <a:latin typeface="Consolas"/>
              </a:rPr>
              <a:t>  </a:t>
            </a:r>
            <a:r>
              <a:rPr sz="2000">
                <a:solidFill>
                  <a:srgbClr val="CF222E"/>
                </a:solidFill>
                <a:latin typeface="Consolas"/>
              </a:rPr>
              <a:t>let</a:t>
            </a:r>
            <a:r>
              <a:rPr sz="2000">
                <a:solidFill>
                  <a:srgbClr val="24292F"/>
                </a:solidFill>
                <a:latin typeface="Consolas"/>
              </a:rPr>
              <a:t> index = </a:t>
            </a:r>
            <a:r>
              <a:rPr sz="2000">
                <a:solidFill>
                  <a:srgbClr val="0550AE"/>
                </a:solidFill>
                <a:latin typeface="Consolas"/>
              </a:rPr>
              <a:t>0</a:t>
            </a:r>
          </a:p>
          <a:p>
            <a:pPr marL="0" indent="0" algn="l">
              <a:lnSpc>
                <a:spcPct val="100000"/>
              </a:lnSpc>
              <a:buNone/>
            </a:pPr>
            <a:r>
              <a:rPr sz="2000">
                <a:solidFill>
                  <a:srgbClr val="24292F"/>
                </a:solidFill>
                <a:latin typeface="Consolas"/>
              </a:rPr>
              <a:t>  </a:t>
            </a:r>
            <a:r>
              <a:rPr sz="2000">
                <a:solidFill>
                  <a:srgbClr val="CF222E"/>
                </a:solidFill>
                <a:latin typeface="Consolas"/>
              </a:rPr>
              <a:t>while</a:t>
            </a:r>
            <a:r>
              <a:rPr sz="2000">
                <a:solidFill>
                  <a:srgbClr val="24292F"/>
                </a:solidFill>
                <a:latin typeface="Consolas"/>
              </a:rPr>
              <a:t> (</a:t>
            </a:r>
            <a:r>
              <a:rPr sz="2000">
                <a:solidFill>
                  <a:srgbClr val="CF222E"/>
                </a:solidFill>
                <a:latin typeface="Consolas"/>
              </a:rPr>
              <a:t>true</a:t>
            </a:r>
            <a:r>
              <a:rPr sz="2000">
                <a:solidFill>
                  <a:srgbClr val="24292F"/>
                </a:solidFill>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yield</a:t>
            </a:r>
            <a:r>
              <a:rPr sz="2000">
                <a:solidFill>
                  <a:srgbClr val="24292F"/>
                </a:solidFill>
                <a:latin typeface="Consolas"/>
              </a:rPr>
              <a:t> index++</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gen = idMaker()</a:t>
            </a:r>
          </a:p>
          <a:p>
            <a:pPr marL="0" indent="0" algn="l">
              <a:lnSpc>
                <a:spcPct val="100000"/>
              </a:lnSpc>
              <a:buNone/>
            </a:pPr>
            <a:r>
              <a:rPr sz="2000">
                <a:solidFill>
                  <a:srgbClr val="24292F"/>
                </a:solidFill>
                <a:latin typeface="Consolas"/>
              </a:rPr>
              <a:t>console.log(gen.next().value)   </a:t>
            </a:r>
            <a:r>
              <a:rPr sz="2000" i="1">
                <a:solidFill>
                  <a:srgbClr val="6E7781"/>
                </a:solidFill>
                <a:latin typeface="Consolas"/>
              </a:rPr>
              <a:t>// 0</a:t>
            </a:r>
          </a:p>
          <a:p>
            <a:pPr marL="0" indent="0" algn="l">
              <a:lnSpc>
                <a:spcPct val="100000"/>
              </a:lnSpc>
              <a:buNone/>
            </a:pPr>
            <a:r>
              <a:rPr sz="2000">
                <a:solidFill>
                  <a:srgbClr val="24292F"/>
                </a:solidFill>
                <a:latin typeface="Consolas"/>
              </a:rPr>
              <a:t>console.log(gen.next().value)   </a:t>
            </a:r>
            <a:r>
              <a:rPr sz="2000" i="1">
                <a:solidFill>
                  <a:srgbClr val="6E7781"/>
                </a:solidFill>
                <a:latin typeface="Consolas"/>
              </a:rPr>
              <a:t>// 1</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282</a:t>
            </a:fld>
            <a:endParaRPr lang="en-US" sz="900">
              <a:solidFill>
                <a:srgbClr val="9AA7B4"/>
              </a:solidFill>
            </a:endParaRPr>
          </a:p>
        </p:txBody>
      </p:sp>
    </p:spTree>
    <p:extLst>
      <p:ext uri="{BB962C8B-B14F-4D97-AF65-F5344CB8AC3E}">
        <p14:creationId xmlns:p14="http://schemas.microsoft.com/office/powerpoint/2010/main" val="376886786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Class Definition</a:t>
            </a:r>
          </a:p>
        </p:txBody>
      </p:sp>
      <p:sp>
        <p:nvSpPr>
          <p:cNvPr id="3" name="Body"/>
          <p:cNvSpPr txBox="1"/>
          <p:nvPr/>
        </p:nvSpPr>
        <p:spPr>
          <a:xfrm>
            <a:off x="457200" y="1261872"/>
            <a:ext cx="8229600" cy="2510409"/>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ES6 introduced OOP-style classes</a:t>
            </a:r>
          </a:p>
          <a:p>
            <a:pPr marL="566928" indent="-256032">
              <a:spcAft>
                <a:spcPts val="855"/>
              </a:spcAft>
              <a:buClr>
                <a:srgbClr val="6B7B8C"/>
              </a:buClr>
              <a:buSzPct val="100000"/>
              <a:buFont typeface="Arial"/>
              <a:buChar char="–"/>
            </a:pPr>
            <a:r>
              <a:rPr sz="1900" b="0" i="0">
                <a:solidFill>
                  <a:srgbClr val="3A4A5A"/>
                </a:solidFill>
              </a:rPr>
              <a:t>Syntax on top of JavaScript's prototype-based inheritance</a:t>
            </a:r>
          </a:p>
          <a:p>
            <a:pPr marL="274320" indent="-256032">
              <a:spcAft>
                <a:spcPts val="990"/>
              </a:spcAft>
              <a:buClr>
                <a:srgbClr val="42B883"/>
              </a:buClr>
              <a:buSzPct val="100000"/>
              <a:buFont typeface="Arial"/>
              <a:buChar char="•"/>
            </a:pPr>
            <a:r>
              <a:rPr sz="2200" b="0" i="0">
                <a:solidFill>
                  <a:srgbClr val="1F2A36"/>
                </a:solidFill>
              </a:rPr>
              <a:t>Created with a </a:t>
            </a:r>
            <a:r>
              <a:rPr sz="2200" b="1" i="0">
                <a:solidFill>
                  <a:srgbClr val="1F2A36"/>
                </a:solidFill>
              </a:rPr>
              <a:t>class declaration</a:t>
            </a:r>
            <a:r>
              <a:rPr sz="2200" b="0" i="0">
                <a:solidFill>
                  <a:srgbClr val="1F2A36"/>
                </a:solidFill>
              </a:rPr>
              <a:t> or a </a:t>
            </a:r>
            <a:r>
              <a:rPr sz="2200" b="1" i="0">
                <a:solidFill>
                  <a:srgbClr val="1F2A36"/>
                </a:solidFill>
              </a:rPr>
              <a:t>class expression</a:t>
            </a:r>
          </a:p>
          <a:p>
            <a:pPr marL="274320" indent="-256032">
              <a:spcAft>
                <a:spcPts val="990"/>
              </a:spcAft>
              <a:buClr>
                <a:srgbClr val="42B883"/>
              </a:buClr>
              <a:buSzPct val="100000"/>
              <a:buFont typeface="Arial"/>
              <a:buChar char="•"/>
            </a:pPr>
            <a:r>
              <a:rPr sz="2200" b="0" i="0">
                <a:solidFill>
                  <a:srgbClr val="1F2A36"/>
                </a:solidFill>
              </a:rPr>
              <a:t>Can have a </a:t>
            </a:r>
            <a:r>
              <a:rPr sz="2090" b="0" i="0">
                <a:solidFill>
                  <a:srgbClr val="8A2B52"/>
                </a:solidFill>
                <a:latin typeface="Consolas"/>
              </a:rPr>
              <a:t>constructor</a:t>
            </a:r>
            <a:r>
              <a:rPr sz="2200" b="0" i="0">
                <a:solidFill>
                  <a:srgbClr val="1F2A36"/>
                </a:solidFill>
              </a:rPr>
              <a:t>, methods, getters and setters, </a:t>
            </a:r>
            <a:r>
              <a:rPr sz="2090" b="0" i="0">
                <a:solidFill>
                  <a:srgbClr val="8A2B52"/>
                </a:solidFill>
                <a:latin typeface="Consolas"/>
              </a:rPr>
              <a:t>static</a:t>
            </a:r>
            <a:r>
              <a:rPr sz="2200" b="0" i="0">
                <a:solidFill>
                  <a:srgbClr val="1F2A36"/>
                </a:solidFill>
              </a:rPr>
              <a:t> members, and (ES2022) fields and </a:t>
            </a:r>
            <a:r>
              <a:rPr sz="2090" b="0" i="0">
                <a:solidFill>
                  <a:srgbClr val="8A2B52"/>
                </a:solidFill>
                <a:latin typeface="Consolas"/>
              </a:rPr>
              <a:t>#private</a:t>
            </a:r>
            <a:r>
              <a:rPr sz="2200" b="0" i="0">
                <a:solidFill>
                  <a:srgbClr val="1F2A36"/>
                </a:solidFill>
              </a:rPr>
              <a:t> fields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283</a:t>
            </a:fld>
            <a:endParaRPr lang="en-US" sz="900">
              <a:solidFill>
                <a:srgbClr val="9AA7B4"/>
              </a:solidFill>
            </a:endParaRPr>
          </a:p>
        </p:txBody>
      </p:sp>
    </p:spTree>
    <p:extLst>
      <p:ext uri="{BB962C8B-B14F-4D97-AF65-F5344CB8AC3E}">
        <p14:creationId xmlns:p14="http://schemas.microsoft.com/office/powerpoint/2010/main" val="3393514683"/>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Class Declaration</a:t>
            </a:r>
          </a:p>
        </p:txBody>
      </p:sp>
      <p:sp>
        <p:nvSpPr>
          <p:cNvPr id="3" name="Code"/>
          <p:cNvSpPr/>
          <p:nvPr/>
        </p:nvSpPr>
        <p:spPr>
          <a:xfrm>
            <a:off x="457200" y="1261872"/>
            <a:ext cx="8229600" cy="43870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class</a:t>
            </a:r>
            <a:r>
              <a:rPr sz="2000">
                <a:solidFill>
                  <a:srgbClr val="24292F"/>
                </a:solidFill>
                <a:latin typeface="Consolas"/>
              </a:rPr>
              <a:t> Square {</a:t>
            </a:r>
          </a:p>
          <a:p>
            <a:pPr marL="0" indent="0" algn="l">
              <a:lnSpc>
                <a:spcPct val="100000"/>
              </a:lnSpc>
              <a:buNone/>
            </a:pPr>
            <a:r>
              <a:rPr sz="2000">
                <a:solidFill>
                  <a:srgbClr val="24292F"/>
                </a:solidFill>
                <a:latin typeface="Consolas"/>
              </a:rPr>
              <a:t>  constructor(height, width) {</a:t>
            </a:r>
          </a:p>
          <a:p>
            <a:pPr marL="0" indent="0" algn="l">
              <a:lnSpc>
                <a:spcPct val="100000"/>
              </a:lnSpc>
              <a:buNone/>
            </a:pPr>
            <a:r>
              <a:rPr sz="2000">
                <a:solidFill>
                  <a:srgbClr val="24292F"/>
                </a:solidFill>
                <a:latin typeface="Consolas"/>
              </a:rPr>
              <a:t>    </a:t>
            </a:r>
            <a:r>
              <a:rPr sz="2000">
                <a:solidFill>
                  <a:srgbClr val="CF222E"/>
                </a:solidFill>
                <a:latin typeface="Consolas"/>
              </a:rPr>
              <a:t>this</a:t>
            </a:r>
            <a:r>
              <a:rPr sz="2000">
                <a:solidFill>
                  <a:srgbClr val="24292F"/>
                </a:solidFill>
                <a:latin typeface="Consolas"/>
              </a:rPr>
              <a:t>.height = height</a:t>
            </a:r>
          </a:p>
          <a:p>
            <a:pPr marL="0" indent="0" algn="l">
              <a:lnSpc>
                <a:spcPct val="100000"/>
              </a:lnSpc>
              <a:buNone/>
            </a:pPr>
            <a:r>
              <a:rPr sz="2000">
                <a:solidFill>
                  <a:srgbClr val="24292F"/>
                </a:solidFill>
                <a:latin typeface="Consolas"/>
              </a:rPr>
              <a:t>    </a:t>
            </a:r>
            <a:r>
              <a:rPr sz="2000">
                <a:solidFill>
                  <a:srgbClr val="CF222E"/>
                </a:solidFill>
                <a:latin typeface="Consolas"/>
              </a:rPr>
              <a:t>this</a:t>
            </a:r>
            <a:r>
              <a:rPr sz="2000">
                <a:solidFill>
                  <a:srgbClr val="24292F"/>
                </a:solidFill>
                <a:latin typeface="Consolas"/>
              </a:rPr>
              <a:t>.width = width</a:t>
            </a:r>
          </a:p>
          <a:p>
            <a:pPr marL="0" indent="0" algn="l">
              <a:lnSpc>
                <a:spcPct val="100000"/>
              </a:lnSpc>
              <a:buNone/>
            </a:pPr>
            <a:r>
              <a:rPr sz="2000">
                <a:solidFill>
                  <a:srgbClr val="24292F"/>
                </a:solidFill>
                <a:latin typeface="Consolas"/>
              </a:rPr>
              <a:t>  }</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  </a:t>
            </a:r>
            <a:r>
              <a:rPr sz="2000">
                <a:solidFill>
                  <a:srgbClr val="CF222E"/>
                </a:solidFill>
                <a:latin typeface="Consolas"/>
              </a:rPr>
              <a:t>get</a:t>
            </a:r>
            <a:r>
              <a:rPr sz="2000">
                <a:solidFill>
                  <a:srgbClr val="24292F"/>
                </a:solidFill>
                <a:latin typeface="Consolas"/>
              </a:rPr>
              <a:t> area() {</a:t>
            </a:r>
          </a:p>
          <a:p>
            <a:pPr marL="0" indent="0" algn="l">
              <a:lnSpc>
                <a:spcPct val="100000"/>
              </a:lnSpc>
              <a:buNone/>
            </a:pPr>
            <a:r>
              <a:rPr sz="2000">
                <a:solidFill>
                  <a:srgbClr val="24292F"/>
                </a:solidFill>
                <a:latin typeface="Consolas"/>
              </a:rPr>
              <a:t>    </a:t>
            </a:r>
            <a:r>
              <a:rPr sz="2000">
                <a:solidFill>
                  <a:srgbClr val="CF222E"/>
                </a:solidFill>
                <a:latin typeface="Consolas"/>
              </a:rPr>
              <a:t>return</a:t>
            </a:r>
            <a:r>
              <a:rPr sz="2000">
                <a:solidFill>
                  <a:srgbClr val="24292F"/>
                </a:solidFill>
                <a:latin typeface="Consolas"/>
              </a:rPr>
              <a:t> </a:t>
            </a:r>
            <a:r>
              <a:rPr sz="2000">
                <a:solidFill>
                  <a:srgbClr val="CF222E"/>
                </a:solidFill>
                <a:latin typeface="Consolas"/>
              </a:rPr>
              <a:t>this</a:t>
            </a:r>
            <a:r>
              <a:rPr sz="2000">
                <a:solidFill>
                  <a:srgbClr val="24292F"/>
                </a:solidFill>
                <a:latin typeface="Consolas"/>
              </a:rPr>
              <a:t>.height * </a:t>
            </a:r>
            <a:r>
              <a:rPr sz="2000">
                <a:solidFill>
                  <a:srgbClr val="CF222E"/>
                </a:solidFill>
                <a:latin typeface="Consolas"/>
              </a:rPr>
              <a:t>this</a:t>
            </a:r>
            <a:r>
              <a:rPr sz="2000">
                <a:solidFill>
                  <a:srgbClr val="24292F"/>
                </a:solidFill>
                <a:latin typeface="Consolas"/>
              </a:rPr>
              <a:t>.width</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sq = </a:t>
            </a:r>
            <a:r>
              <a:rPr sz="2000">
                <a:solidFill>
                  <a:srgbClr val="CF222E"/>
                </a:solidFill>
                <a:latin typeface="Consolas"/>
              </a:rPr>
              <a:t>new</a:t>
            </a:r>
            <a:r>
              <a:rPr sz="2000">
                <a:solidFill>
                  <a:srgbClr val="24292F"/>
                </a:solidFill>
                <a:latin typeface="Consolas"/>
              </a:rPr>
              <a:t> Square(</a:t>
            </a:r>
            <a:r>
              <a:rPr sz="2000">
                <a:solidFill>
                  <a:srgbClr val="0550AE"/>
                </a:solidFill>
                <a:latin typeface="Consolas"/>
              </a:rPr>
              <a:t>3</a:t>
            </a:r>
            <a:r>
              <a:rPr sz="2000">
                <a:solidFill>
                  <a:srgbClr val="24292F"/>
                </a:solidFill>
                <a:latin typeface="Consolas"/>
              </a:rPr>
              <a:t>, </a:t>
            </a:r>
            <a:r>
              <a:rPr sz="2000">
                <a:solidFill>
                  <a:srgbClr val="0550AE"/>
                </a:solidFill>
                <a:latin typeface="Consolas"/>
              </a:rPr>
              <a:t>3</a:t>
            </a:r>
            <a:r>
              <a:rPr sz="2000">
                <a:solidFill>
                  <a:srgbClr val="24292F"/>
                </a:solidFill>
                <a:latin typeface="Consolas"/>
              </a:rPr>
              <a:t>)</a:t>
            </a:r>
          </a:p>
          <a:p>
            <a:pPr marL="0" indent="0" algn="l">
              <a:lnSpc>
                <a:spcPct val="100000"/>
              </a:lnSpc>
              <a:buNone/>
            </a:pPr>
            <a:r>
              <a:rPr sz="2000">
                <a:solidFill>
                  <a:srgbClr val="24292F"/>
                </a:solidFill>
                <a:latin typeface="Consolas"/>
              </a:rPr>
              <a:t>console.log(sq.area)   </a:t>
            </a:r>
            <a:r>
              <a:rPr sz="2000" i="1">
                <a:solidFill>
                  <a:srgbClr val="6E7781"/>
                </a:solidFill>
                <a:latin typeface="Consolas"/>
              </a:rPr>
              <a:t>// 9</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284</a:t>
            </a:fld>
            <a:endParaRPr lang="en-US" sz="900">
              <a:solidFill>
                <a:srgbClr val="9AA7B4"/>
              </a:solidFill>
            </a:endParaRPr>
          </a:p>
        </p:txBody>
      </p:sp>
    </p:spTree>
    <p:extLst>
      <p:ext uri="{BB962C8B-B14F-4D97-AF65-F5344CB8AC3E}">
        <p14:creationId xmlns:p14="http://schemas.microsoft.com/office/powerpoint/2010/main" val="2449249159"/>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Class Expressions</a:t>
            </a:r>
          </a:p>
        </p:txBody>
      </p:sp>
      <p:sp>
        <p:nvSpPr>
          <p:cNvPr id="3" name="Body"/>
          <p:cNvSpPr txBox="1"/>
          <p:nvPr/>
        </p:nvSpPr>
        <p:spPr>
          <a:xfrm>
            <a:off x="45720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Unnamed</a:t>
            </a:r>
          </a:p>
        </p:txBody>
      </p:sp>
      <p:sp>
        <p:nvSpPr>
          <p:cNvPr id="4" name="Code"/>
          <p:cNvSpPr/>
          <p:nvPr/>
        </p:nvSpPr>
        <p:spPr>
          <a:xfrm>
            <a:off x="457200" y="1835657"/>
            <a:ext cx="3954780" cy="170992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const</a:t>
            </a:r>
            <a:r>
              <a:rPr sz="1500">
                <a:solidFill>
                  <a:srgbClr val="24292F"/>
                </a:solidFill>
                <a:latin typeface="Consolas"/>
              </a:rPr>
              <a:t> Square = </a:t>
            </a:r>
            <a:r>
              <a:rPr sz="1500">
                <a:solidFill>
                  <a:srgbClr val="CF222E"/>
                </a:solidFill>
                <a:latin typeface="Consolas"/>
              </a:rPr>
              <a:t>class</a:t>
            </a:r>
            <a:r>
              <a:rPr sz="1500">
                <a:solidFill>
                  <a:srgbClr val="24292F"/>
                </a:solidFill>
                <a:latin typeface="Consolas"/>
              </a:rPr>
              <a:t> {</a:t>
            </a:r>
          </a:p>
          <a:p>
            <a:pPr marL="0" indent="0" algn="l">
              <a:lnSpc>
                <a:spcPct val="100000"/>
              </a:lnSpc>
              <a:buNone/>
            </a:pPr>
            <a:r>
              <a:rPr sz="1500">
                <a:solidFill>
                  <a:srgbClr val="24292F"/>
                </a:solidFill>
                <a:latin typeface="Consolas"/>
              </a:rPr>
              <a:t>  constructor(height, width) {</a:t>
            </a:r>
          </a:p>
          <a:p>
            <a:pPr marL="0" indent="0" algn="l">
              <a:lnSpc>
                <a:spcPct val="100000"/>
              </a:lnSpc>
              <a:buNone/>
            </a:pPr>
            <a:r>
              <a:rPr sz="1500">
                <a:solidFill>
                  <a:srgbClr val="24292F"/>
                </a:solidFill>
                <a:latin typeface="Consolas"/>
              </a:rPr>
              <a:t>    </a:t>
            </a:r>
            <a:r>
              <a:rPr sz="1500">
                <a:solidFill>
                  <a:srgbClr val="CF222E"/>
                </a:solidFill>
                <a:latin typeface="Consolas"/>
              </a:rPr>
              <a:t>this</a:t>
            </a:r>
            <a:r>
              <a:rPr sz="1500">
                <a:solidFill>
                  <a:srgbClr val="24292F"/>
                </a:solidFill>
                <a:latin typeface="Consolas"/>
              </a:rPr>
              <a:t>.height = height</a:t>
            </a:r>
          </a:p>
          <a:p>
            <a:pPr marL="0" indent="0" algn="l">
              <a:lnSpc>
                <a:spcPct val="100000"/>
              </a:lnSpc>
              <a:buNone/>
            </a:pPr>
            <a:r>
              <a:rPr sz="1500">
                <a:solidFill>
                  <a:srgbClr val="24292F"/>
                </a:solidFill>
                <a:latin typeface="Consolas"/>
              </a:rPr>
              <a:t>    </a:t>
            </a:r>
            <a:r>
              <a:rPr sz="1500">
                <a:solidFill>
                  <a:srgbClr val="CF222E"/>
                </a:solidFill>
                <a:latin typeface="Consolas"/>
              </a:rPr>
              <a:t>this</a:t>
            </a:r>
            <a:r>
              <a:rPr sz="1500">
                <a:solidFill>
                  <a:srgbClr val="24292F"/>
                </a:solidFill>
                <a:latin typeface="Consolas"/>
              </a:rPr>
              <a:t>.width = width</a:t>
            </a:r>
          </a:p>
          <a:p>
            <a:pPr marL="0" indent="0" algn="l">
              <a:lnSpc>
                <a:spcPct val="100000"/>
              </a:lnSpc>
              <a:buNone/>
            </a:pPr>
            <a:r>
              <a:rPr sz="1500">
                <a:solidFill>
                  <a:srgbClr val="24292F"/>
                </a:solidFill>
                <a:latin typeface="Consolas"/>
              </a:rPr>
              <a:t>  }</a:t>
            </a:r>
          </a:p>
          <a:p>
            <a:pPr marL="0" indent="0" algn="l">
              <a:lnSpc>
                <a:spcPct val="100000"/>
              </a:lnSpc>
              <a:buNone/>
            </a:pPr>
            <a:r>
              <a:rPr sz="1500">
                <a:solidFill>
                  <a:srgbClr val="24292F"/>
                </a:solidFill>
                <a:latin typeface="Consolas"/>
              </a:rPr>
              <a:t>}</a:t>
            </a:r>
          </a:p>
        </p:txBody>
      </p:sp>
      <p:sp>
        <p:nvSpPr>
          <p:cNvPr id="5" name="Body"/>
          <p:cNvSpPr txBox="1"/>
          <p:nvPr/>
        </p:nvSpPr>
        <p:spPr>
          <a:xfrm>
            <a:off x="4732020" y="1261872"/>
            <a:ext cx="3954780" cy="518922"/>
          </a:xfrm>
          <a:prstGeom prst="rect">
            <a:avLst/>
          </a:prstGeom>
          <a:noFill/>
        </p:spPr>
        <p:txBody>
          <a:bodyPr wrap="square" lIns="0" tIns="0" rIns="0" bIns="0">
            <a:noAutofit/>
          </a:bodyPr>
          <a:lstStyle/>
          <a:p>
            <a:pPr marL="0" indent="0">
              <a:spcAft>
                <a:spcPts val="769"/>
              </a:spcAft>
              <a:buNone/>
            </a:pPr>
            <a:r>
              <a:rPr sz="2200" b="1" i="0">
                <a:solidFill>
                  <a:srgbClr val="2E8B62"/>
                </a:solidFill>
              </a:rPr>
              <a:t>Named</a:t>
            </a:r>
          </a:p>
        </p:txBody>
      </p:sp>
      <p:sp>
        <p:nvSpPr>
          <p:cNvPr id="6" name="Code"/>
          <p:cNvSpPr/>
          <p:nvPr/>
        </p:nvSpPr>
        <p:spPr>
          <a:xfrm>
            <a:off x="4732020" y="1835657"/>
            <a:ext cx="3954780" cy="2056383"/>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const</a:t>
            </a:r>
            <a:r>
              <a:rPr sz="1400">
                <a:solidFill>
                  <a:srgbClr val="24292F"/>
                </a:solidFill>
                <a:latin typeface="Consolas"/>
              </a:rPr>
              <a:t> Square = </a:t>
            </a:r>
            <a:r>
              <a:rPr sz="1400">
                <a:solidFill>
                  <a:srgbClr val="CF222E"/>
                </a:solidFill>
                <a:latin typeface="Consolas"/>
              </a:rPr>
              <a:t>class</a:t>
            </a:r>
            <a:r>
              <a:rPr sz="1400">
                <a:solidFill>
                  <a:srgbClr val="24292F"/>
                </a:solidFill>
                <a:latin typeface="Consolas"/>
              </a:rPr>
              <a:t> Rectangle {</a:t>
            </a:r>
          </a:p>
          <a:p>
            <a:pPr marL="0" indent="0" algn="l">
              <a:lnSpc>
                <a:spcPct val="100000"/>
              </a:lnSpc>
              <a:buNone/>
            </a:pPr>
            <a:r>
              <a:rPr sz="1400">
                <a:solidFill>
                  <a:srgbClr val="24292F"/>
                </a:solidFill>
                <a:latin typeface="Consolas"/>
              </a:rPr>
              <a:t>  constructor(height, width) {</a:t>
            </a:r>
          </a:p>
          <a:p>
            <a:pPr marL="0" indent="0" algn="l">
              <a:lnSpc>
                <a:spcPct val="100000"/>
              </a:lnSpc>
              <a:buNone/>
            </a:pPr>
            <a:r>
              <a:rPr sz="1400">
                <a:solidFill>
                  <a:srgbClr val="24292F"/>
                </a:solidFill>
                <a:latin typeface="Consolas"/>
              </a:rPr>
              <a:t>    </a:t>
            </a:r>
            <a:r>
              <a:rPr sz="1400">
                <a:solidFill>
                  <a:srgbClr val="CF222E"/>
                </a:solidFill>
                <a:latin typeface="Consolas"/>
              </a:rPr>
              <a:t>this</a:t>
            </a:r>
            <a:r>
              <a:rPr sz="1400">
                <a:solidFill>
                  <a:srgbClr val="24292F"/>
                </a:solidFill>
                <a:latin typeface="Consolas"/>
              </a:rPr>
              <a:t>.height = height</a:t>
            </a:r>
          </a:p>
          <a:p>
            <a:pPr marL="0" indent="0" algn="l">
              <a:lnSpc>
                <a:spcPct val="100000"/>
              </a:lnSpc>
              <a:buNone/>
            </a:pPr>
            <a:r>
              <a:rPr sz="1400">
                <a:solidFill>
                  <a:srgbClr val="24292F"/>
                </a:solidFill>
                <a:latin typeface="Consolas"/>
              </a:rPr>
              <a:t>    </a:t>
            </a:r>
            <a:r>
              <a:rPr sz="1400">
                <a:solidFill>
                  <a:srgbClr val="CF222E"/>
                </a:solidFill>
                <a:latin typeface="Consolas"/>
              </a:rPr>
              <a:t>this</a:t>
            </a:r>
            <a:r>
              <a:rPr sz="1400">
                <a:solidFill>
                  <a:srgbClr val="24292F"/>
                </a:solidFill>
                <a:latin typeface="Consolas"/>
              </a:rPr>
              <a:t>.width = width</a:t>
            </a:r>
          </a:p>
          <a:p>
            <a:pPr marL="0" indent="0" algn="l">
              <a:lnSpc>
                <a:spcPct val="100000"/>
              </a:lnSpc>
              <a:buNone/>
            </a:pPr>
            <a:r>
              <a:rPr sz="1400">
                <a:solidFill>
                  <a:srgbClr val="24292F"/>
                </a:solidFill>
                <a:latin typeface="Consolas"/>
              </a:rPr>
              <a:t>  }</a:t>
            </a:r>
          </a:p>
          <a:p>
            <a:pPr marL="0" indent="0" algn="l">
              <a:lnSpc>
                <a:spcPct val="100000"/>
              </a:lnSpc>
              <a:buNone/>
            </a:pPr>
            <a:r>
              <a:rPr sz="1400">
                <a:solidFill>
                  <a:srgbClr val="24292F"/>
                </a:solidFill>
                <a:latin typeface="Consolas"/>
              </a:rPr>
              <a:t>}</a:t>
            </a:r>
          </a:p>
          <a:p>
            <a:pPr marL="0" indent="0" algn="l">
              <a:lnSpc>
                <a:spcPct val="100000"/>
              </a:lnSpc>
              <a:buNone/>
            </a:pPr>
            <a:r>
              <a:rPr sz="1400" i="1">
                <a:solidFill>
                  <a:srgbClr val="6E7781"/>
                </a:solidFill>
                <a:latin typeface="Consolas"/>
              </a:rPr>
              <a:t>// the name Rectangle is only</a:t>
            </a:r>
          </a:p>
          <a:p>
            <a:pPr marL="0" indent="0" algn="l">
              <a:lnSpc>
                <a:spcPct val="100000"/>
              </a:lnSpc>
              <a:buNone/>
            </a:pPr>
            <a:r>
              <a:rPr sz="1400" i="1">
                <a:solidFill>
                  <a:srgbClr val="6E7781"/>
                </a:solidFill>
                <a:latin typeface="Consolas"/>
              </a:rPr>
              <a:t>// visible inside the class body</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285</a:t>
            </a:fld>
            <a:endParaRPr lang="en-US" sz="900">
              <a:solidFill>
                <a:srgbClr val="9AA7B4"/>
              </a:solidFill>
            </a:endParaRPr>
          </a:p>
        </p:txBody>
      </p:sp>
    </p:spTree>
    <p:extLst>
      <p:ext uri="{BB962C8B-B14F-4D97-AF65-F5344CB8AC3E}">
        <p14:creationId xmlns:p14="http://schemas.microsoft.com/office/powerpoint/2010/main" val="15166830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Class Inheritance</a:t>
            </a:r>
          </a:p>
        </p:txBody>
      </p:sp>
      <p:sp>
        <p:nvSpPr>
          <p:cNvPr id="3" name="Code"/>
          <p:cNvSpPr/>
          <p:nvPr/>
        </p:nvSpPr>
        <p:spPr>
          <a:xfrm>
            <a:off x="457200" y="1261872"/>
            <a:ext cx="8229600" cy="404063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00">
                <a:solidFill>
                  <a:srgbClr val="CF222E"/>
                </a:solidFill>
                <a:latin typeface="Consolas"/>
              </a:rPr>
              <a:t>class</a:t>
            </a:r>
            <a:r>
              <a:rPr sz="1700">
                <a:solidFill>
                  <a:srgbClr val="24292F"/>
                </a:solidFill>
                <a:latin typeface="Consolas"/>
              </a:rPr>
              <a:t> Rectangle </a:t>
            </a:r>
            <a:r>
              <a:rPr sz="1700">
                <a:solidFill>
                  <a:srgbClr val="CF222E"/>
                </a:solidFill>
                <a:latin typeface="Consolas"/>
              </a:rPr>
              <a:t>extends</a:t>
            </a:r>
            <a:r>
              <a:rPr sz="1700">
                <a:solidFill>
                  <a:srgbClr val="24292F"/>
                </a:solidFill>
                <a:latin typeface="Consolas"/>
              </a:rPr>
              <a:t> Shape {</a:t>
            </a:r>
          </a:p>
          <a:p>
            <a:pPr marL="0" indent="0" algn="l">
              <a:lnSpc>
                <a:spcPct val="100000"/>
              </a:lnSpc>
              <a:buNone/>
            </a:pPr>
            <a:r>
              <a:rPr sz="1700">
                <a:solidFill>
                  <a:srgbClr val="24292F"/>
                </a:solidFill>
                <a:latin typeface="Consolas"/>
              </a:rPr>
              <a:t>  constructor(id, x, y, width, height) {</a:t>
            </a:r>
          </a:p>
          <a:p>
            <a:pPr marL="0" indent="0" algn="l">
              <a:lnSpc>
                <a:spcPct val="100000"/>
              </a:lnSpc>
              <a:buNone/>
            </a:pPr>
            <a:r>
              <a:rPr sz="1700">
                <a:solidFill>
                  <a:srgbClr val="24292F"/>
                </a:solidFill>
                <a:latin typeface="Consolas"/>
              </a:rPr>
              <a:t>    </a:t>
            </a:r>
            <a:r>
              <a:rPr sz="1700">
                <a:solidFill>
                  <a:srgbClr val="CF222E"/>
                </a:solidFill>
                <a:latin typeface="Consolas"/>
              </a:rPr>
              <a:t>super</a:t>
            </a:r>
            <a:r>
              <a:rPr sz="1700">
                <a:solidFill>
                  <a:srgbClr val="24292F"/>
                </a:solidFill>
                <a:latin typeface="Consolas"/>
              </a:rPr>
              <a:t>(id, x, y)</a:t>
            </a:r>
          </a:p>
          <a:p>
            <a:pPr marL="0" indent="0" algn="l">
              <a:lnSpc>
                <a:spcPct val="100000"/>
              </a:lnSpc>
              <a:buNone/>
            </a:pPr>
            <a:r>
              <a:rPr sz="1700">
                <a:solidFill>
                  <a:srgbClr val="24292F"/>
                </a:solidFill>
                <a:latin typeface="Consolas"/>
              </a:rPr>
              <a:t>    </a:t>
            </a:r>
            <a:r>
              <a:rPr sz="1700">
                <a:solidFill>
                  <a:srgbClr val="CF222E"/>
                </a:solidFill>
                <a:latin typeface="Consolas"/>
              </a:rPr>
              <a:t>this</a:t>
            </a:r>
            <a:r>
              <a:rPr sz="1700">
                <a:solidFill>
                  <a:srgbClr val="24292F"/>
                </a:solidFill>
                <a:latin typeface="Consolas"/>
              </a:rPr>
              <a:t>.width = width</a:t>
            </a:r>
          </a:p>
          <a:p>
            <a:pPr marL="0" indent="0" algn="l">
              <a:lnSpc>
                <a:spcPct val="100000"/>
              </a:lnSpc>
              <a:buNone/>
            </a:pPr>
            <a:r>
              <a:rPr sz="1700">
                <a:solidFill>
                  <a:srgbClr val="24292F"/>
                </a:solidFill>
                <a:latin typeface="Consolas"/>
              </a:rPr>
              <a:t>    </a:t>
            </a:r>
            <a:r>
              <a:rPr sz="1700">
                <a:solidFill>
                  <a:srgbClr val="CF222E"/>
                </a:solidFill>
                <a:latin typeface="Consolas"/>
              </a:rPr>
              <a:t>this</a:t>
            </a:r>
            <a:r>
              <a:rPr sz="1700">
                <a:solidFill>
                  <a:srgbClr val="24292F"/>
                </a:solidFill>
                <a:latin typeface="Consolas"/>
              </a:rPr>
              <a:t>.height = height</a:t>
            </a:r>
          </a:p>
          <a:p>
            <a:pPr marL="0" indent="0" algn="l">
              <a:lnSpc>
                <a:spcPct val="100000"/>
              </a:lnSpc>
              <a:buNone/>
            </a:pPr>
            <a:r>
              <a:rPr sz="1700">
                <a:solidFill>
                  <a:srgbClr val="24292F"/>
                </a:solidFill>
                <a:latin typeface="Consolas"/>
              </a:rPr>
              <a:t>  }</a:t>
            </a:r>
          </a:p>
          <a:p>
            <a:pPr marL="0" indent="0" algn="l">
              <a:lnSpc>
                <a:spcPct val="100000"/>
              </a:lnSpc>
              <a:buNone/>
            </a:pPr>
            <a:r>
              <a:rPr sz="1700">
                <a:solidFill>
                  <a:srgbClr val="24292F"/>
                </a:solidFill>
                <a:latin typeface="Consolas"/>
              </a:rPr>
              <a:t>}</a:t>
            </a:r>
          </a:p>
          <a:p>
            <a:pPr marL="0" indent="0" algn="l">
              <a:lnSpc>
                <a:spcPct val="100000"/>
              </a:lnSpc>
              <a:buNone/>
            </a:pPr>
            <a:r>
              <a:rPr sz="1700">
                <a:latin typeface="Consolas"/>
              </a:rPr>
              <a:t> </a:t>
            </a:r>
          </a:p>
          <a:p>
            <a:pPr marL="0" indent="0" algn="l">
              <a:lnSpc>
                <a:spcPct val="100000"/>
              </a:lnSpc>
              <a:buNone/>
            </a:pPr>
            <a:r>
              <a:rPr sz="1700">
                <a:solidFill>
                  <a:srgbClr val="CF222E"/>
                </a:solidFill>
                <a:latin typeface="Consolas"/>
              </a:rPr>
              <a:t>class</a:t>
            </a:r>
            <a:r>
              <a:rPr sz="1700">
                <a:solidFill>
                  <a:srgbClr val="24292F"/>
                </a:solidFill>
                <a:latin typeface="Consolas"/>
              </a:rPr>
              <a:t> Circle </a:t>
            </a:r>
            <a:r>
              <a:rPr sz="1700">
                <a:solidFill>
                  <a:srgbClr val="CF222E"/>
                </a:solidFill>
                <a:latin typeface="Consolas"/>
              </a:rPr>
              <a:t>extends</a:t>
            </a:r>
            <a:r>
              <a:rPr sz="1700">
                <a:solidFill>
                  <a:srgbClr val="24292F"/>
                </a:solidFill>
                <a:latin typeface="Consolas"/>
              </a:rPr>
              <a:t> Shape {</a:t>
            </a:r>
          </a:p>
          <a:p>
            <a:pPr marL="0" indent="0" algn="l">
              <a:lnSpc>
                <a:spcPct val="100000"/>
              </a:lnSpc>
              <a:buNone/>
            </a:pPr>
            <a:r>
              <a:rPr sz="1700">
                <a:solidFill>
                  <a:srgbClr val="24292F"/>
                </a:solidFill>
                <a:latin typeface="Consolas"/>
              </a:rPr>
              <a:t>  constructor(id, x, y, radius) {</a:t>
            </a:r>
          </a:p>
          <a:p>
            <a:pPr marL="0" indent="0" algn="l">
              <a:lnSpc>
                <a:spcPct val="100000"/>
              </a:lnSpc>
              <a:buNone/>
            </a:pPr>
            <a:r>
              <a:rPr sz="1700">
                <a:solidFill>
                  <a:srgbClr val="24292F"/>
                </a:solidFill>
                <a:latin typeface="Consolas"/>
              </a:rPr>
              <a:t>    </a:t>
            </a:r>
            <a:r>
              <a:rPr sz="1700">
                <a:solidFill>
                  <a:srgbClr val="CF222E"/>
                </a:solidFill>
                <a:latin typeface="Consolas"/>
              </a:rPr>
              <a:t>super</a:t>
            </a:r>
            <a:r>
              <a:rPr sz="1700">
                <a:solidFill>
                  <a:srgbClr val="24292F"/>
                </a:solidFill>
                <a:latin typeface="Consolas"/>
              </a:rPr>
              <a:t>(id, x, y)</a:t>
            </a:r>
          </a:p>
          <a:p>
            <a:pPr marL="0" indent="0" algn="l">
              <a:lnSpc>
                <a:spcPct val="100000"/>
              </a:lnSpc>
              <a:buNone/>
            </a:pPr>
            <a:r>
              <a:rPr sz="1700">
                <a:solidFill>
                  <a:srgbClr val="24292F"/>
                </a:solidFill>
                <a:latin typeface="Consolas"/>
              </a:rPr>
              <a:t>    </a:t>
            </a:r>
            <a:r>
              <a:rPr sz="1700">
                <a:solidFill>
                  <a:srgbClr val="CF222E"/>
                </a:solidFill>
                <a:latin typeface="Consolas"/>
              </a:rPr>
              <a:t>this</a:t>
            </a:r>
            <a:r>
              <a:rPr sz="1700">
                <a:solidFill>
                  <a:srgbClr val="24292F"/>
                </a:solidFill>
                <a:latin typeface="Consolas"/>
              </a:rPr>
              <a:t>.radius = radius</a:t>
            </a:r>
          </a:p>
          <a:p>
            <a:pPr marL="0" indent="0" algn="l">
              <a:lnSpc>
                <a:spcPct val="100000"/>
              </a:lnSpc>
              <a:buNone/>
            </a:pPr>
            <a:r>
              <a:rPr sz="1700">
                <a:solidFill>
                  <a:srgbClr val="24292F"/>
                </a:solidFill>
                <a:latin typeface="Consolas"/>
              </a:rPr>
              <a:t>  }</a:t>
            </a:r>
          </a:p>
          <a:p>
            <a:pPr marL="0" indent="0" algn="l">
              <a:lnSpc>
                <a:spcPct val="100000"/>
              </a:lnSpc>
              <a:buNone/>
            </a:pPr>
            <a:r>
              <a:rPr sz="1700">
                <a:solidFill>
                  <a:srgbClr val="24292F"/>
                </a:solidFill>
                <a:latin typeface="Consolas"/>
              </a:rPr>
              <a:t>}</a:t>
            </a:r>
          </a:p>
        </p:txBody>
      </p:sp>
      <p:sp>
        <p:nvSpPr>
          <p:cNvPr id="4" name="Body"/>
          <p:cNvSpPr txBox="1"/>
          <p:nvPr/>
        </p:nvSpPr>
        <p:spPr>
          <a:xfrm>
            <a:off x="457200" y="5448808"/>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Call </a:t>
            </a:r>
            <a:r>
              <a:rPr sz="2090" b="0" i="0">
                <a:solidFill>
                  <a:srgbClr val="8A2B52"/>
                </a:solidFill>
                <a:latin typeface="Consolas"/>
              </a:rPr>
              <a:t>super()</a:t>
            </a:r>
            <a:r>
              <a:rPr sz="2200" b="0" i="0">
                <a:solidFill>
                  <a:srgbClr val="1F2A36"/>
                </a:solidFill>
              </a:rPr>
              <a:t> before using </a:t>
            </a:r>
            <a:r>
              <a:rPr sz="2090" b="0" i="0">
                <a:solidFill>
                  <a:srgbClr val="8A2B52"/>
                </a:solidFill>
                <a:latin typeface="Consolas"/>
              </a:rPr>
              <a:t>this</a:t>
            </a:r>
            <a:r>
              <a:rPr sz="2200" b="0" i="0">
                <a:solidFill>
                  <a:srgbClr val="1F2A36"/>
                </a:solidFill>
              </a:rPr>
              <a:t> in a subclass constructor</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286</a:t>
            </a:fld>
            <a:endParaRPr lang="en-US" sz="900">
              <a:solidFill>
                <a:srgbClr val="9AA7B4"/>
              </a:solidFill>
            </a:endParaRPr>
          </a:p>
        </p:txBody>
      </p:sp>
    </p:spTree>
    <p:extLst>
      <p:ext uri="{BB962C8B-B14F-4D97-AF65-F5344CB8AC3E}">
        <p14:creationId xmlns:p14="http://schemas.microsoft.com/office/powerpoint/2010/main" val="2861827552"/>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Beyond ES2015</a:t>
            </a:r>
          </a:p>
        </p:txBody>
      </p:sp>
      <p:sp>
        <p:nvSpPr>
          <p:cNvPr id="3" name="Body"/>
          <p:cNvSpPr txBox="1"/>
          <p:nvPr/>
        </p:nvSpPr>
        <p:spPr>
          <a:xfrm>
            <a:off x="457200" y="1261872"/>
            <a:ext cx="8229600" cy="3816095"/>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ES2016</a:t>
            </a:r>
            <a:r>
              <a:rPr sz="2200" b="0" i="0">
                <a:solidFill>
                  <a:srgbClr val="1F2A36"/>
                </a:solidFill>
              </a:rPr>
              <a:t> (ES7)</a:t>
            </a:r>
          </a:p>
          <a:p>
            <a:pPr marL="566928" indent="-256032">
              <a:spcAft>
                <a:spcPts val="855"/>
              </a:spcAft>
              <a:buClr>
                <a:srgbClr val="6B7B8C"/>
              </a:buClr>
              <a:buSzPct val="100000"/>
              <a:buFont typeface="Arial"/>
              <a:buChar char="–"/>
            </a:pPr>
            <a:r>
              <a:rPr sz="1900" b="0" i="0">
                <a:solidFill>
                  <a:srgbClr val="3A4A5A"/>
                </a:solidFill>
              </a:rPr>
              <a:t>Exponentiation operator: </a:t>
            </a:r>
            <a:r>
              <a:rPr sz="1805" b="0" i="0">
                <a:solidFill>
                  <a:srgbClr val="8A2B52"/>
                </a:solidFill>
                <a:latin typeface="Consolas"/>
              </a:rPr>
              <a:t>2 ** 10</a:t>
            </a:r>
          </a:p>
          <a:p>
            <a:pPr marL="566928" indent="-256032">
              <a:spcAft>
                <a:spcPts val="855"/>
              </a:spcAft>
              <a:buClr>
                <a:srgbClr val="6B7B8C"/>
              </a:buClr>
              <a:buSzPct val="100000"/>
              <a:buFont typeface="Arial"/>
              <a:buChar char="–"/>
            </a:pPr>
            <a:r>
              <a:rPr sz="1805" b="0" i="0">
                <a:solidFill>
                  <a:srgbClr val="8A2B52"/>
                </a:solidFill>
                <a:latin typeface="Consolas"/>
              </a:rPr>
              <a:t>Array.prototype.includes()</a:t>
            </a:r>
          </a:p>
          <a:p>
            <a:pPr marL="274320" indent="-256032">
              <a:spcAft>
                <a:spcPts val="990"/>
              </a:spcAft>
              <a:buClr>
                <a:srgbClr val="42B883"/>
              </a:buClr>
              <a:buSzPct val="100000"/>
              <a:buFont typeface="Arial"/>
              <a:buChar char="•"/>
            </a:pPr>
            <a:r>
              <a:rPr sz="2200" b="1" i="0">
                <a:solidFill>
                  <a:srgbClr val="1F2A36"/>
                </a:solidFill>
              </a:rPr>
              <a:t>ES2017</a:t>
            </a:r>
            <a:r>
              <a:rPr sz="2200" b="0" i="0">
                <a:solidFill>
                  <a:srgbClr val="1F2A36"/>
                </a:solidFill>
              </a:rPr>
              <a:t> (ES8)</a:t>
            </a:r>
          </a:p>
          <a:p>
            <a:pPr marL="566928" indent="-256032">
              <a:spcAft>
                <a:spcPts val="855"/>
              </a:spcAft>
              <a:buClr>
                <a:srgbClr val="6B7B8C"/>
              </a:buClr>
              <a:buSzPct val="100000"/>
              <a:buFont typeface="Arial"/>
              <a:buChar char="–"/>
            </a:pPr>
            <a:r>
              <a:rPr sz="1805" b="0" i="0">
                <a:solidFill>
                  <a:srgbClr val="8A2B52"/>
                </a:solidFill>
                <a:latin typeface="Consolas"/>
              </a:rPr>
              <a:t>async</a:t>
            </a:r>
            <a:r>
              <a:rPr sz="1900" b="0" i="0">
                <a:solidFill>
                  <a:srgbClr val="3A4A5A"/>
                </a:solidFill>
              </a:rPr>
              <a:t> / </a:t>
            </a:r>
            <a:r>
              <a:rPr sz="1805" b="0" i="0">
                <a:solidFill>
                  <a:srgbClr val="8A2B52"/>
                </a:solidFill>
                <a:latin typeface="Consolas"/>
              </a:rPr>
              <a:t>await</a:t>
            </a:r>
          </a:p>
          <a:p>
            <a:pPr marL="566928" indent="-256032">
              <a:spcAft>
                <a:spcPts val="855"/>
              </a:spcAft>
              <a:buClr>
                <a:srgbClr val="6B7B8C"/>
              </a:buClr>
              <a:buSzPct val="100000"/>
              <a:buFont typeface="Arial"/>
              <a:buChar char="–"/>
            </a:pPr>
            <a:r>
              <a:rPr sz="1805" b="0" i="0">
                <a:solidFill>
                  <a:srgbClr val="8A2B52"/>
                </a:solidFill>
                <a:latin typeface="Consolas"/>
              </a:rPr>
              <a:t>Object.entries()</a:t>
            </a:r>
            <a:r>
              <a:rPr sz="1900" b="0" i="0">
                <a:solidFill>
                  <a:srgbClr val="3A4A5A"/>
                </a:solidFill>
              </a:rPr>
              <a:t>, </a:t>
            </a:r>
            <a:r>
              <a:rPr sz="1805" b="0" i="0">
                <a:solidFill>
                  <a:srgbClr val="8A2B52"/>
                </a:solidFill>
                <a:latin typeface="Consolas"/>
              </a:rPr>
              <a:t>Object.values()</a:t>
            </a:r>
          </a:p>
          <a:p>
            <a:pPr marL="274320" indent="-256032">
              <a:spcAft>
                <a:spcPts val="990"/>
              </a:spcAft>
              <a:buClr>
                <a:srgbClr val="42B883"/>
              </a:buClr>
              <a:buSzPct val="100000"/>
              <a:buFont typeface="Arial"/>
              <a:buChar char="•"/>
            </a:pPr>
            <a:r>
              <a:rPr sz="2200" b="1" i="0">
                <a:solidFill>
                  <a:srgbClr val="1F2A36"/>
                </a:solidFill>
              </a:rPr>
              <a:t>ES2018+</a:t>
            </a:r>
            <a:r>
              <a:rPr sz="2200" b="0" i="0">
                <a:solidFill>
                  <a:srgbClr val="1F2A36"/>
                </a:solidFill>
              </a:rPr>
              <a:t> — object spread, optional chaining, </a:t>
            </a:r>
            <a:r>
              <a:rPr sz="2090" b="0" i="0">
                <a:solidFill>
                  <a:srgbClr val="8A2B52"/>
                </a:solidFill>
                <a:latin typeface="Consolas"/>
              </a:rPr>
              <a:t>??</a:t>
            </a:r>
            <a:r>
              <a:rPr sz="2200" b="0" i="0">
                <a:solidFill>
                  <a:srgbClr val="1F2A36"/>
                </a:solidFill>
              </a:rPr>
              <a:t>, top-level </a:t>
            </a:r>
            <a:r>
              <a:rPr sz="2090" b="0" i="0">
                <a:solidFill>
                  <a:srgbClr val="8A2B52"/>
                </a:solidFill>
                <a:latin typeface="Consolas"/>
              </a:rPr>
              <a:t>await</a:t>
            </a:r>
            <a:r>
              <a:rPr sz="2200" b="0" i="0">
                <a:solidFill>
                  <a:srgbClr val="1F2A36"/>
                </a:solidFill>
              </a:rPr>
              <a:t>… (see slide 8)</a:t>
            </a:r>
          </a:p>
          <a:p>
            <a:pPr marL="274320" indent="-256032">
              <a:spcAft>
                <a:spcPts val="990"/>
              </a:spcAft>
              <a:buClr>
                <a:srgbClr val="42B883"/>
              </a:buClr>
              <a:buSzPct val="100000"/>
              <a:buFont typeface="Arial"/>
              <a:buChar char="•"/>
            </a:pPr>
            <a:r>
              <a:rPr sz="2200" b="1" i="0">
                <a:solidFill>
                  <a:srgbClr val="1F2A36"/>
                </a:solidFill>
              </a:rPr>
              <a:t>ES.Next</a:t>
            </a:r>
            <a:r>
              <a:rPr sz="2200" b="0" i="0">
                <a:solidFill>
                  <a:srgbClr val="1F2A36"/>
                </a:solidFill>
              </a:rPr>
              <a:t> — the name for whatever is coming next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287</a:t>
            </a:fld>
            <a:endParaRPr lang="en-US" sz="900">
              <a:solidFill>
                <a:srgbClr val="9AA7B4"/>
              </a:solidFill>
            </a:endParaRPr>
          </a:p>
        </p:txBody>
      </p:sp>
    </p:spTree>
    <p:extLst>
      <p:ext uri="{BB962C8B-B14F-4D97-AF65-F5344CB8AC3E}">
        <p14:creationId xmlns:p14="http://schemas.microsoft.com/office/powerpoint/2010/main" val="175928538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2468880"/>
            <a:ext cx="7680960" cy="1097280"/>
          </a:xfrm>
        </p:spPr>
        <p:txBody>
          <a:bodyPr wrap="square" lIns="0" tIns="0" rIns="0" bIns="0" anchor="t">
            <a:noAutofit/>
          </a:bodyPr>
          <a:lstStyle/>
          <a:p>
            <a:pPr marL="0" indent="0" algn="l">
              <a:buNone/>
            </a:pPr>
            <a:r>
              <a:rPr sz="3400" b="1" i="0" cap="none">
                <a:solidFill>
                  <a:srgbClr val="FFFFFF"/>
                </a:solidFill>
              </a:rPr>
              <a:t>Advanced JavaScript Topics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APPENDIX · JAVASCRIPT REVIEW</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Strict mode, this, map, and promises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288</a:t>
            </a:fld>
            <a:endParaRPr lang="en-US" sz="900">
              <a:solidFill>
                <a:srgbClr val="9FB3C4"/>
              </a:solidFill>
            </a:endParaRPr>
          </a:p>
        </p:txBody>
      </p:sp>
    </p:spTree>
    <p:extLst>
      <p:ext uri="{BB962C8B-B14F-4D97-AF65-F5344CB8AC3E}">
        <p14:creationId xmlns:p14="http://schemas.microsoft.com/office/powerpoint/2010/main" val="192068055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lvl="0" indent="0" algn="l" rtl="0">
              <a:buNone/>
            </a:pPr>
            <a:r>
              <a:rPr sz="3000" b="1" i="0" cap="none">
                <a:solidFill>
                  <a:srgbClr val="2C3E50"/>
                </a:solidFill>
              </a:rPr>
              <a:t>"use strict"</a:t>
            </a:r>
          </a:p>
        </p:txBody>
      </p:sp>
      <p:sp>
        <p:nvSpPr>
          <p:cNvPr id="3" name="Body"/>
          <p:cNvSpPr txBox="1"/>
          <p:nvPr/>
        </p:nvSpPr>
        <p:spPr>
          <a:xfrm>
            <a:off x="457200" y="1261872"/>
            <a:ext cx="8229600" cy="2725292"/>
          </a:xfrm>
          <a:prstGeom prst="rect">
            <a:avLst/>
          </a:prstGeom>
          <a:noFill/>
        </p:spPr>
        <p:txBody>
          <a:bodyPr wrap="square" lIns="0" tIns="0" rIns="0" bIns="0">
            <a:noAutofit/>
          </a:bodyPr>
          <a:lstStyle/>
          <a:p>
            <a:pPr marL="274320" indent="-256032">
              <a:spcAft>
                <a:spcPts val="945"/>
              </a:spcAft>
              <a:buClr>
                <a:srgbClr val="42B883"/>
              </a:buClr>
              <a:buSzPct val="100000"/>
              <a:buFont typeface="Arial"/>
              <a:buChar char="•"/>
            </a:pPr>
            <a:r>
              <a:rPr sz="2100" b="0" i="0">
                <a:solidFill>
                  <a:srgbClr val="1F2A36"/>
                </a:solidFill>
              </a:rPr>
              <a:t>Introduced with ES5</a:t>
            </a:r>
          </a:p>
          <a:p>
            <a:pPr marL="274320" indent="-256032">
              <a:spcAft>
                <a:spcPts val="945"/>
              </a:spcAft>
              <a:buClr>
                <a:srgbClr val="42B883"/>
              </a:buClr>
              <a:buSzPct val="100000"/>
              <a:buFont typeface="Arial"/>
              <a:buChar char="•"/>
            </a:pPr>
            <a:r>
              <a:rPr sz="2100" b="0" i="0">
                <a:solidFill>
                  <a:srgbClr val="1F2A36"/>
                </a:solidFill>
              </a:rPr>
              <a:t>Opts in to a restricted, safer variant of JavaScript</a:t>
            </a:r>
          </a:p>
          <a:p>
            <a:pPr marL="566928" indent="-256032">
              <a:spcAft>
                <a:spcPts val="810"/>
              </a:spcAft>
              <a:buClr>
                <a:srgbClr val="6B7B8C"/>
              </a:buClr>
              <a:buSzPct val="100000"/>
              <a:buFont typeface="Arial"/>
              <a:buChar char="–"/>
            </a:pPr>
            <a:r>
              <a:rPr sz="1800" b="0" i="0">
                <a:solidFill>
                  <a:srgbClr val="3A4A5A"/>
                </a:solidFill>
              </a:rPr>
              <a:t>Turns silent mistakes into errors (assigning to an undeclared variable)</a:t>
            </a:r>
          </a:p>
          <a:p>
            <a:pPr marL="566928" indent="-256032">
              <a:spcAft>
                <a:spcPts val="810"/>
              </a:spcAft>
              <a:buClr>
                <a:srgbClr val="6B7B8C"/>
              </a:buClr>
              <a:buSzPct val="100000"/>
              <a:buFont typeface="Arial"/>
              <a:buChar char="–"/>
            </a:pPr>
            <a:r>
              <a:rPr sz="1709" b="0" i="0">
                <a:solidFill>
                  <a:srgbClr val="8A2B52"/>
                </a:solidFill>
                <a:latin typeface="Consolas"/>
              </a:rPr>
              <a:t>this</a:t>
            </a:r>
            <a:r>
              <a:rPr sz="1800" b="0" i="0">
                <a:solidFill>
                  <a:srgbClr val="3A4A5A"/>
                </a:solidFill>
              </a:rPr>
              <a:t> is </a:t>
            </a:r>
            <a:r>
              <a:rPr sz="1709" b="0" i="0">
                <a:solidFill>
                  <a:srgbClr val="8A2B52"/>
                </a:solidFill>
                <a:latin typeface="Consolas"/>
              </a:rPr>
              <a:t>undefined</a:t>
            </a:r>
            <a:r>
              <a:rPr sz="1800" b="0" i="0">
                <a:solidFill>
                  <a:srgbClr val="3A4A5A"/>
                </a:solidFill>
              </a:rPr>
              <a:t> in plain function calls, not </a:t>
            </a:r>
            <a:r>
              <a:rPr sz="1709" b="0" i="0">
                <a:solidFill>
                  <a:srgbClr val="8A2B52"/>
                </a:solidFill>
                <a:latin typeface="Consolas"/>
              </a:rPr>
              <a:t>window</a:t>
            </a:r>
          </a:p>
          <a:p>
            <a:pPr marL="274320" indent="-256032">
              <a:spcAft>
                <a:spcPts val="945"/>
              </a:spcAft>
              <a:buClr>
                <a:srgbClr val="42B883"/>
              </a:buClr>
              <a:buSzPct val="100000"/>
              <a:buFont typeface="Arial"/>
              <a:buChar char="•"/>
            </a:pPr>
            <a:r>
              <a:rPr sz="2100" b="0" i="0">
                <a:solidFill>
                  <a:srgbClr val="1F2A36"/>
                </a:solidFill>
              </a:rPr>
              <a:t>To invoke, put </a:t>
            </a:r>
            <a:r>
              <a:rPr sz="1995" b="0" i="0">
                <a:solidFill>
                  <a:srgbClr val="8A2B52"/>
                </a:solidFill>
                <a:latin typeface="Consolas"/>
              </a:rPr>
              <a:t>'use strict'</a:t>
            </a:r>
            <a:r>
              <a:rPr sz="2100" b="0" i="0">
                <a:solidFill>
                  <a:srgbClr val="1F2A36"/>
                </a:solidFill>
              </a:rPr>
              <a:t> before any other statements in a script or function</a:t>
            </a:r>
          </a:p>
        </p:txBody>
      </p:sp>
      <p:sp>
        <p:nvSpPr>
          <p:cNvPr id="4" name="Code"/>
          <p:cNvSpPr/>
          <p:nvPr/>
        </p:nvSpPr>
        <p:spPr>
          <a:xfrm>
            <a:off x="457200" y="4042028"/>
            <a:ext cx="8229600" cy="13004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function</a:t>
            </a:r>
            <a:r>
              <a:rPr sz="1600">
                <a:solidFill>
                  <a:srgbClr val="24292F"/>
                </a:solidFill>
                <a:latin typeface="Consolas"/>
              </a:rPr>
              <a:t> myStrictFunction() {</a:t>
            </a:r>
          </a:p>
          <a:p>
            <a:pPr marL="0" indent="0" algn="l">
              <a:lnSpc>
                <a:spcPct val="100000"/>
              </a:lnSpc>
              <a:buNone/>
            </a:pPr>
            <a:r>
              <a:rPr sz="1600">
                <a:solidFill>
                  <a:srgbClr val="24292F"/>
                </a:solidFill>
                <a:latin typeface="Consolas"/>
              </a:rPr>
              <a:t>  </a:t>
            </a:r>
            <a:r>
              <a:rPr sz="1600">
                <a:solidFill>
                  <a:srgbClr val="0A3069"/>
                </a:solidFill>
                <a:latin typeface="Consolas"/>
              </a:rPr>
              <a:t>'use strict'</a:t>
            </a:r>
          </a:p>
          <a:p>
            <a:pPr marL="0" indent="0" algn="l">
              <a:lnSpc>
                <a:spcPct val="100000"/>
              </a:lnSpc>
              <a:buNone/>
            </a:pPr>
            <a:r>
              <a:rPr sz="1600">
                <a:solidFill>
                  <a:srgbClr val="24292F"/>
                </a:solidFill>
                <a:latin typeface="Consolas"/>
              </a:rPr>
              <a:t>  </a:t>
            </a:r>
            <a:r>
              <a:rPr sz="1600" i="1">
                <a:solidFill>
                  <a:srgbClr val="6E7781"/>
                </a:solidFill>
                <a:latin typeface="Consolas"/>
              </a:rPr>
              <a:t>// ...</a:t>
            </a:r>
          </a:p>
          <a:p>
            <a:pPr marL="0" indent="0" algn="l">
              <a:lnSpc>
                <a:spcPct val="100000"/>
              </a:lnSpc>
              <a:buNone/>
            </a:pPr>
            <a:r>
              <a:rPr sz="1600">
                <a:solidFill>
                  <a:srgbClr val="24292F"/>
                </a:solidFill>
                <a:latin typeface="Consolas"/>
              </a:rPr>
              <a:t>}</a:t>
            </a:r>
          </a:p>
        </p:txBody>
      </p:sp>
      <p:sp>
        <p:nvSpPr>
          <p:cNvPr id="5" name="Body"/>
          <p:cNvSpPr txBox="1"/>
          <p:nvPr/>
        </p:nvSpPr>
        <p:spPr>
          <a:xfrm>
            <a:off x="457200" y="5488813"/>
            <a:ext cx="8229600" cy="840866"/>
          </a:xfrm>
          <a:prstGeom prst="rect">
            <a:avLst/>
          </a:prstGeom>
          <a:noFill/>
        </p:spPr>
        <p:txBody>
          <a:bodyPr wrap="square" lIns="0" tIns="0" rIns="0" bIns="0">
            <a:noAutofit/>
          </a:bodyPr>
          <a:lstStyle/>
          <a:p>
            <a:pPr marL="274320" indent="-256032">
              <a:spcAft>
                <a:spcPts val="945"/>
              </a:spcAft>
              <a:buClr>
                <a:srgbClr val="42B883"/>
              </a:buClr>
              <a:buSzPct val="100000"/>
              <a:buFont typeface="Arial"/>
              <a:buChar char="•"/>
            </a:pPr>
            <a:r>
              <a:rPr sz="2100" b="1" i="0">
                <a:solidFill>
                  <a:srgbClr val="1F2A36"/>
                </a:solidFill>
              </a:rPr>
              <a:t>Implied</a:t>
            </a:r>
            <a:r>
              <a:rPr sz="2100" b="0" i="0">
                <a:solidFill>
                  <a:srgbClr val="1F2A36"/>
                </a:solidFill>
              </a:rPr>
              <a:t> in ES modules and classes, so it's redundant in modern code</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289</a:t>
            </a:fld>
            <a:endParaRPr lang="en-US" sz="900">
              <a:solidFill>
                <a:srgbClr val="9AA7B4"/>
              </a:solidFill>
            </a:endParaRPr>
          </a:p>
        </p:txBody>
      </p:sp>
    </p:spTree>
    <p:extLst>
      <p:ext uri="{BB962C8B-B14F-4D97-AF65-F5344CB8AC3E}">
        <p14:creationId xmlns:p14="http://schemas.microsoft.com/office/powerpoint/2010/main" val="3282163981"/>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Understanding this</a:t>
            </a:r>
          </a:p>
        </p:txBody>
      </p:sp>
      <p:sp>
        <p:nvSpPr>
          <p:cNvPr id="3" name="Body"/>
          <p:cNvSpPr txBox="1"/>
          <p:nvPr/>
        </p:nvSpPr>
        <p:spPr>
          <a:xfrm>
            <a:off x="457200" y="1261872"/>
            <a:ext cx="8229600" cy="284010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090" b="0" i="0">
                <a:solidFill>
                  <a:srgbClr val="8A2B52"/>
                </a:solidFill>
                <a:latin typeface="Consolas"/>
              </a:rPr>
              <a:t>this</a:t>
            </a:r>
            <a:r>
              <a:rPr sz="2200" b="0" i="0">
                <a:solidFill>
                  <a:srgbClr val="1F2A36"/>
                </a:solidFill>
              </a:rPr>
              <a:t> lets a function be reused with different context objects</a:t>
            </a:r>
          </a:p>
          <a:p>
            <a:pPr marL="274320" indent="-256032">
              <a:spcAft>
                <a:spcPts val="990"/>
              </a:spcAft>
              <a:buClr>
                <a:srgbClr val="42B883"/>
              </a:buClr>
              <a:buSzPct val="100000"/>
              <a:buFont typeface="Arial"/>
              <a:buChar char="•"/>
            </a:pPr>
            <a:r>
              <a:rPr sz="2200" b="0" i="0">
                <a:solidFill>
                  <a:srgbClr val="1F2A36"/>
                </a:solidFill>
              </a:rPr>
              <a:t>It answers: which object is this function working on right now?</a:t>
            </a:r>
          </a:p>
          <a:p>
            <a:pPr marL="274320" indent="-256032">
              <a:spcAft>
                <a:spcPts val="990"/>
              </a:spcAft>
              <a:buClr>
                <a:srgbClr val="42B883"/>
              </a:buClr>
              <a:buSzPct val="100000"/>
              <a:buFont typeface="Arial"/>
              <a:buChar char="•"/>
            </a:pPr>
            <a:r>
              <a:rPr sz="2200" b="0" i="0">
                <a:solidFill>
                  <a:srgbClr val="1F2A36"/>
                </a:solidFill>
              </a:rPr>
              <a:t>Its value is set by </a:t>
            </a:r>
            <a:r>
              <a:rPr sz="2200" b="1" i="0">
                <a:solidFill>
                  <a:srgbClr val="1F2A36"/>
                </a:solidFill>
              </a:rPr>
              <a:t>how the function is called</a:t>
            </a:r>
            <a:r>
              <a:rPr sz="2200" b="0" i="0">
                <a:solidFill>
                  <a:srgbClr val="1F2A36"/>
                </a:solidFill>
              </a:rPr>
              <a:t>, not where it's defined</a:t>
            </a:r>
          </a:p>
          <a:p>
            <a:pPr marL="566928" indent="-256032">
              <a:spcAft>
                <a:spcPts val="855"/>
              </a:spcAft>
              <a:buClr>
                <a:srgbClr val="6B7B8C"/>
              </a:buClr>
              <a:buSzPct val="100000"/>
              <a:buFont typeface="Arial"/>
              <a:buChar char="–"/>
            </a:pPr>
            <a:r>
              <a:rPr sz="1900" b="0" i="0">
                <a:solidFill>
                  <a:srgbClr val="3A4A5A"/>
                </a:solidFill>
              </a:rPr>
              <a:t>…except in arrow functions, which use the surrounding </a:t>
            </a:r>
            <a:r>
              <a:rPr sz="1805" b="0" i="0">
                <a:solidFill>
                  <a:srgbClr val="8A2B52"/>
                </a:solidFill>
                <a:latin typeface="Consolas"/>
              </a:rPr>
              <a:t>this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290</a:t>
            </a:fld>
            <a:endParaRPr lang="en-US" sz="900">
              <a:solidFill>
                <a:srgbClr val="9AA7B4"/>
              </a:solidFill>
            </a:endParaRPr>
          </a:p>
        </p:txBody>
      </p:sp>
    </p:spTree>
    <p:extLst>
      <p:ext uri="{BB962C8B-B14F-4D97-AF65-F5344CB8AC3E}">
        <p14:creationId xmlns:p14="http://schemas.microsoft.com/office/powerpoint/2010/main" val="162865113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The 4 Rules of this</a:t>
            </a:r>
          </a:p>
        </p:txBody>
      </p:sp>
      <p:sp>
        <p:nvSpPr>
          <p:cNvPr id="3" name="Body"/>
          <p:cNvSpPr txBox="1"/>
          <p:nvPr/>
        </p:nvSpPr>
        <p:spPr>
          <a:xfrm>
            <a:off x="457200" y="1261872"/>
            <a:ext cx="8229600" cy="2572511"/>
          </a:xfrm>
          <a:prstGeom prst="rect">
            <a:avLst/>
          </a:prstGeom>
          <a:noFill/>
        </p:spPr>
        <p:txBody>
          <a:bodyPr wrap="square" lIns="0" tIns="0" rIns="0" bIns="0">
            <a:noAutofit/>
          </a:bodyPr>
          <a:lstStyle/>
          <a:p>
            <a:pPr marL="347472" indent="-329184">
              <a:spcAft>
                <a:spcPts val="990"/>
              </a:spcAft>
              <a:buClr>
                <a:srgbClr val="2E8B62"/>
              </a:buClr>
              <a:buFont typeface="+mj-lt"/>
              <a:buAutoNum type="arabicPeriod"/>
            </a:pPr>
            <a:r>
              <a:rPr sz="2200" b="1" i="0">
                <a:solidFill>
                  <a:srgbClr val="1F2A36"/>
                </a:solidFill>
              </a:rPr>
              <a:t>Implicit binding</a:t>
            </a:r>
            <a:r>
              <a:rPr sz="2200" b="0" i="0">
                <a:solidFill>
                  <a:srgbClr val="1F2A36"/>
                </a:solidFill>
              </a:rPr>
              <a:t> — </a:t>
            </a:r>
            <a:r>
              <a:rPr sz="2090" b="0" i="0">
                <a:solidFill>
                  <a:srgbClr val="8A2B52"/>
                </a:solidFill>
                <a:latin typeface="Consolas"/>
              </a:rPr>
              <a:t>obj.method()</a:t>
            </a:r>
            <a:r>
              <a:rPr sz="2200" b="0" i="0">
                <a:solidFill>
                  <a:srgbClr val="1F2A36"/>
                </a:solidFill>
              </a:rPr>
              <a:t>: </a:t>
            </a:r>
            <a:r>
              <a:rPr sz="2090" b="0" i="0">
                <a:solidFill>
                  <a:srgbClr val="8A2B52"/>
                </a:solidFill>
                <a:latin typeface="Consolas"/>
              </a:rPr>
              <a:t>this</a:t>
            </a:r>
            <a:r>
              <a:rPr sz="2200" b="0" i="0">
                <a:solidFill>
                  <a:srgbClr val="1F2A36"/>
                </a:solidFill>
              </a:rPr>
              <a:t> is </a:t>
            </a:r>
            <a:r>
              <a:rPr sz="2090" b="0" i="0">
                <a:solidFill>
                  <a:srgbClr val="8A2B52"/>
                </a:solidFill>
                <a:latin typeface="Consolas"/>
              </a:rPr>
              <a:t>obj</a:t>
            </a:r>
          </a:p>
          <a:p>
            <a:pPr marL="347472" indent="-329184">
              <a:spcAft>
                <a:spcPts val="990"/>
              </a:spcAft>
              <a:buClr>
                <a:srgbClr val="2E8B62"/>
              </a:buClr>
              <a:buFont typeface="+mj-lt"/>
              <a:buAutoNum type="arabicPeriod" startAt="2"/>
            </a:pPr>
            <a:r>
              <a:rPr sz="2200" b="1" i="0">
                <a:solidFill>
                  <a:srgbClr val="1F2A36"/>
                </a:solidFill>
              </a:rPr>
              <a:t>Explicit binding</a:t>
            </a:r>
            <a:r>
              <a:rPr sz="2200" b="0" i="0">
                <a:solidFill>
                  <a:srgbClr val="1F2A36"/>
                </a:solidFill>
              </a:rPr>
              <a:t> — </a:t>
            </a:r>
            <a:r>
              <a:rPr sz="2090" b="0" i="0">
                <a:solidFill>
                  <a:srgbClr val="8A2B52"/>
                </a:solidFill>
                <a:latin typeface="Consolas"/>
              </a:rPr>
              <a:t>fn.call(obj)</a:t>
            </a:r>
            <a:r>
              <a:rPr sz="2200" b="0" i="0">
                <a:solidFill>
                  <a:srgbClr val="1F2A36"/>
                </a:solidFill>
              </a:rPr>
              <a:t>, </a:t>
            </a:r>
            <a:r>
              <a:rPr sz="2090" b="0" i="0">
                <a:solidFill>
                  <a:srgbClr val="8A2B52"/>
                </a:solidFill>
                <a:latin typeface="Consolas"/>
              </a:rPr>
              <a:t>fn.apply(obj)</a:t>
            </a:r>
            <a:r>
              <a:rPr sz="2200" b="0" i="0">
                <a:solidFill>
                  <a:srgbClr val="1F2A36"/>
                </a:solidFill>
              </a:rPr>
              <a:t>, </a:t>
            </a:r>
            <a:r>
              <a:rPr sz="2090" b="0" i="0">
                <a:solidFill>
                  <a:srgbClr val="8A2B52"/>
                </a:solidFill>
                <a:latin typeface="Consolas"/>
              </a:rPr>
              <a:t>fn.bind(obj)</a:t>
            </a:r>
          </a:p>
          <a:p>
            <a:pPr marL="347472" indent="-329184">
              <a:spcAft>
                <a:spcPts val="990"/>
              </a:spcAft>
              <a:buClr>
                <a:srgbClr val="2E8B62"/>
              </a:buClr>
              <a:buFont typeface="+mj-lt"/>
              <a:buAutoNum type="arabicPeriod" startAt="3"/>
            </a:pPr>
            <a:r>
              <a:rPr sz="2200" b="1" i="0">
                <a:solidFill>
                  <a:srgbClr val="1F2A36"/>
                </a:solidFill>
              </a:rPr>
              <a:t>new binding</a:t>
            </a:r>
            <a:r>
              <a:rPr sz="2200" b="0" i="0">
                <a:solidFill>
                  <a:srgbClr val="1F2A36"/>
                </a:solidFill>
              </a:rPr>
              <a:t> — </a:t>
            </a:r>
            <a:r>
              <a:rPr sz="2090" b="0" i="0">
                <a:solidFill>
                  <a:srgbClr val="8A2B52"/>
                </a:solidFill>
                <a:latin typeface="Consolas"/>
              </a:rPr>
              <a:t>new Fn()</a:t>
            </a:r>
            <a:r>
              <a:rPr sz="2200" b="0" i="0">
                <a:solidFill>
                  <a:srgbClr val="1F2A36"/>
                </a:solidFill>
              </a:rPr>
              <a:t>: </a:t>
            </a:r>
            <a:r>
              <a:rPr sz="2090" b="0" i="0">
                <a:solidFill>
                  <a:srgbClr val="8A2B52"/>
                </a:solidFill>
                <a:latin typeface="Consolas"/>
              </a:rPr>
              <a:t>this</a:t>
            </a:r>
            <a:r>
              <a:rPr sz="2200" b="0" i="0">
                <a:solidFill>
                  <a:srgbClr val="1F2A36"/>
                </a:solidFill>
              </a:rPr>
              <a:t> is the new object</a:t>
            </a:r>
          </a:p>
          <a:p>
            <a:pPr marL="347472" indent="-329184">
              <a:spcAft>
                <a:spcPts val="990"/>
              </a:spcAft>
              <a:buClr>
                <a:srgbClr val="2E8B62"/>
              </a:buClr>
              <a:buFont typeface="+mj-lt"/>
              <a:buAutoNum type="arabicPeriod" startAt="4"/>
            </a:pPr>
            <a:r>
              <a:rPr sz="2200" b="1" i="0">
                <a:solidFill>
                  <a:srgbClr val="1F2A36"/>
                </a:solidFill>
              </a:rPr>
              <a:t>Default (window) binding</a:t>
            </a:r>
            <a:r>
              <a:rPr sz="2200" b="0" i="0">
                <a:solidFill>
                  <a:srgbClr val="1F2A36"/>
                </a:solidFill>
              </a:rPr>
              <a:t> — a plain call </a:t>
            </a:r>
            <a:r>
              <a:rPr sz="2090" b="0" i="0">
                <a:solidFill>
                  <a:srgbClr val="8A2B52"/>
                </a:solidFill>
                <a:latin typeface="Consolas"/>
              </a:rPr>
              <a:t>fn()</a:t>
            </a:r>
            <a:r>
              <a:rPr sz="2200" b="0" i="0">
                <a:solidFill>
                  <a:srgbClr val="1F2A36"/>
                </a:solidFill>
              </a:rPr>
              <a:t>: </a:t>
            </a:r>
            <a:r>
              <a:rPr sz="2090" b="0" i="0">
                <a:solidFill>
                  <a:srgbClr val="8A2B52"/>
                </a:solidFill>
                <a:latin typeface="Consolas"/>
              </a:rPr>
              <a:t>window</a:t>
            </a:r>
            <a:r>
              <a:rPr sz="2200" b="0" i="0">
                <a:solidFill>
                  <a:srgbClr val="1F2A36"/>
                </a:solidFill>
              </a:rPr>
              <a:t> in sloppy mode, </a:t>
            </a:r>
            <a:r>
              <a:rPr sz="2090" b="0" i="0">
                <a:solidFill>
                  <a:srgbClr val="8A2B52"/>
                </a:solidFill>
                <a:latin typeface="Consolas"/>
              </a:rPr>
              <a:t>undefined</a:t>
            </a:r>
            <a:r>
              <a:rPr sz="2200" b="0" i="0">
                <a:solidFill>
                  <a:srgbClr val="1F2A36"/>
                </a:solidFill>
              </a:rPr>
              <a:t> in strict mode</a:t>
            </a:r>
          </a:p>
        </p:txBody>
      </p:sp>
      <p:sp>
        <p:nvSpPr>
          <p:cNvPr id="4" name="Tip"/>
          <p:cNvSpPr/>
          <p:nvPr/>
        </p:nvSpPr>
        <p:spPr>
          <a:xfrm>
            <a:off x="457200" y="3889247"/>
            <a:ext cx="8229600" cy="579120"/>
          </a:xfrm>
          <a:prstGeom prst="roundRect">
            <a:avLst>
              <a:gd name="adj" fmla="val 8000"/>
            </a:avLst>
          </a:prstGeom>
          <a:solidFill>
            <a:srgbClr val="FFF6E0"/>
          </a:solidFill>
          <a:ln w="9525">
            <a:solidFill>
              <a:srgbClr val="F0D99C"/>
            </a:solidFill>
          </a:ln>
        </p:spPr>
        <p:txBody>
          <a:bodyPr wrap="square" lIns="182880" tIns="91440" rIns="182880" bIns="91440" rtlCol="0" anchor="ctr">
            <a:noAutofit/>
          </a:bodyPr>
          <a:lstStyle/>
          <a:p>
            <a:pPr marL="0" indent="0" algn="l">
              <a:buNone/>
            </a:pPr>
            <a:r>
              <a:rPr sz="2000" b="0" i="0">
                <a:solidFill>
                  <a:srgbClr val="1F2A36"/>
                </a:solidFill>
              </a:rPr>
              <a:t>Arrow functions ignore all four and use the enclosing </a:t>
            </a:r>
            <a:r>
              <a:rPr sz="1900" b="0" i="0">
                <a:solidFill>
                  <a:srgbClr val="8A2B52"/>
                </a:solidFill>
                <a:latin typeface="Consolas"/>
              </a:rPr>
              <a:t>this</a:t>
            </a:r>
            <a:r>
              <a:rPr sz="2000" b="0" i="0">
                <a:solidFill>
                  <a:srgbClr val="1F2A36"/>
                </a:solidFill>
              </a:rPr>
              <a: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291</a:t>
            </a:fld>
            <a:endParaRPr lang="en-US" sz="900">
              <a:solidFill>
                <a:srgbClr val="9AA7B4"/>
              </a:solidFill>
            </a:endParaRPr>
          </a:p>
        </p:txBody>
      </p:sp>
    </p:spTree>
    <p:extLst>
      <p:ext uri="{BB962C8B-B14F-4D97-AF65-F5344CB8AC3E}">
        <p14:creationId xmlns:p14="http://schemas.microsoft.com/office/powerpoint/2010/main" val="248752420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is this?</a:t>
            </a:r>
          </a:p>
        </p:txBody>
      </p:sp>
      <p:sp>
        <p:nvSpPr>
          <p:cNvPr id="3" name="Body"/>
          <p:cNvSpPr txBox="1"/>
          <p:nvPr/>
        </p:nvSpPr>
        <p:spPr>
          <a:xfrm>
            <a:off x="457200" y="1261872"/>
            <a:ext cx="8229600" cy="100228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Ask: </a:t>
            </a:r>
            <a:r>
              <a:rPr sz="2200" b="1" i="0">
                <a:solidFill>
                  <a:srgbClr val="1F2A36"/>
                </a:solidFill>
              </a:rPr>
              <a:t>how</a:t>
            </a:r>
            <a:r>
              <a:rPr sz="2200" b="0" i="0">
                <a:solidFill>
                  <a:srgbClr val="1F2A36"/>
                </a:solidFill>
              </a:rPr>
              <a:t> was the function invoked?</a:t>
            </a:r>
          </a:p>
          <a:p>
            <a:pPr marL="274320" indent="-256032">
              <a:spcAft>
                <a:spcPts val="990"/>
              </a:spcAft>
              <a:buClr>
                <a:srgbClr val="42B883"/>
              </a:buClr>
              <a:buSzPct val="100000"/>
              <a:buFont typeface="Arial"/>
              <a:buChar char="•"/>
            </a:pPr>
            <a:r>
              <a:rPr sz="2200" b="0" i="0">
                <a:solidFill>
                  <a:srgbClr val="1F2A36"/>
                </a:solidFill>
              </a:rPr>
              <a:t>We don't know what </a:t>
            </a:r>
            <a:r>
              <a:rPr sz="2090" b="0" i="0">
                <a:solidFill>
                  <a:srgbClr val="8A2B52"/>
                </a:solidFill>
                <a:latin typeface="Consolas"/>
              </a:rPr>
              <a:t>this</a:t>
            </a:r>
            <a:r>
              <a:rPr sz="2200" b="0" i="0">
                <a:solidFill>
                  <a:srgbClr val="1F2A36"/>
                </a:solidFill>
              </a:rPr>
              <a:t> is until the function is called</a:t>
            </a:r>
          </a:p>
        </p:txBody>
      </p:sp>
      <p:sp>
        <p:nvSpPr>
          <p:cNvPr id="4" name="Code"/>
          <p:cNvSpPr/>
          <p:nvPr/>
        </p:nvSpPr>
        <p:spPr>
          <a:xfrm>
            <a:off x="457200" y="2319020"/>
            <a:ext cx="8229600" cy="2371344"/>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CF222E"/>
                </a:solidFill>
                <a:latin typeface="Consolas"/>
              </a:rPr>
              <a:t>const</a:t>
            </a:r>
            <a:r>
              <a:rPr sz="1650">
                <a:solidFill>
                  <a:srgbClr val="24292F"/>
                </a:solidFill>
                <a:latin typeface="Consolas"/>
              </a:rPr>
              <a:t> logName = </a:t>
            </a:r>
            <a:r>
              <a:rPr sz="1650">
                <a:solidFill>
                  <a:srgbClr val="CF222E"/>
                </a:solidFill>
                <a:latin typeface="Consolas"/>
              </a:rPr>
              <a:t>function</a:t>
            </a:r>
            <a:r>
              <a:rPr sz="1650">
                <a:solidFill>
                  <a:srgbClr val="24292F"/>
                </a:solidFill>
                <a:latin typeface="Consolas"/>
              </a:rPr>
              <a:t> () {</a:t>
            </a:r>
          </a:p>
          <a:p>
            <a:pPr marL="0" indent="0" algn="l">
              <a:lnSpc>
                <a:spcPct val="100000"/>
              </a:lnSpc>
              <a:buNone/>
            </a:pPr>
            <a:r>
              <a:rPr sz="1650">
                <a:solidFill>
                  <a:srgbClr val="24292F"/>
                </a:solidFill>
                <a:latin typeface="Consolas"/>
              </a:rPr>
              <a:t>  console.log(</a:t>
            </a:r>
            <a:r>
              <a:rPr sz="1650">
                <a:solidFill>
                  <a:srgbClr val="CF222E"/>
                </a:solidFill>
                <a:latin typeface="Consolas"/>
              </a:rPr>
              <a:t>this</a:t>
            </a:r>
            <a:r>
              <a:rPr sz="1650">
                <a:solidFill>
                  <a:srgbClr val="24292F"/>
                </a:solidFill>
                <a:latin typeface="Consolas"/>
              </a:rPr>
              <a:t>.name)</a:t>
            </a:r>
          </a:p>
          <a:p>
            <a:pPr marL="0" indent="0" algn="l">
              <a:lnSpc>
                <a:spcPct val="100000"/>
              </a:lnSpc>
              <a:buNone/>
            </a:pPr>
            <a:r>
              <a:rPr sz="1650">
                <a:solidFill>
                  <a:srgbClr val="24292F"/>
                </a:solidFill>
                <a:latin typeface="Consolas"/>
              </a:rPr>
              <a:t>}</a:t>
            </a:r>
          </a:p>
          <a:p>
            <a:pPr marL="0" indent="0" algn="l">
              <a:lnSpc>
                <a:spcPct val="100000"/>
              </a:lnSpc>
              <a:buNone/>
            </a:pPr>
            <a:r>
              <a:rPr sz="1650">
                <a:latin typeface="Consolas"/>
              </a:rPr>
              <a:t> </a:t>
            </a:r>
          </a:p>
          <a:p>
            <a:pPr marL="0" indent="0" algn="l">
              <a:lnSpc>
                <a:spcPct val="100000"/>
              </a:lnSpc>
              <a:buNone/>
            </a:pPr>
            <a:r>
              <a:rPr sz="1650">
                <a:solidFill>
                  <a:srgbClr val="24292F"/>
                </a:solidFill>
                <a:latin typeface="Consolas"/>
              </a:rPr>
              <a:t>author.logName = logName</a:t>
            </a:r>
          </a:p>
          <a:p>
            <a:pPr marL="0" indent="0" algn="l">
              <a:lnSpc>
                <a:spcPct val="100000"/>
              </a:lnSpc>
              <a:buNone/>
            </a:pPr>
            <a:r>
              <a:rPr sz="1650">
                <a:solidFill>
                  <a:srgbClr val="24292F"/>
                </a:solidFill>
                <a:latin typeface="Consolas"/>
              </a:rPr>
              <a:t>author.logName()   </a:t>
            </a:r>
            <a:r>
              <a:rPr sz="1650" i="1">
                <a:solidFill>
                  <a:srgbClr val="6E7781"/>
                </a:solidFill>
                <a:latin typeface="Consolas"/>
              </a:rPr>
              <a:t>// this === author</a:t>
            </a:r>
          </a:p>
          <a:p>
            <a:pPr marL="0" indent="0" algn="l">
              <a:lnSpc>
                <a:spcPct val="100000"/>
              </a:lnSpc>
              <a:buNone/>
            </a:pPr>
            <a:r>
              <a:rPr sz="1650">
                <a:latin typeface="Consolas"/>
              </a:rPr>
              <a:t> </a:t>
            </a:r>
          </a:p>
          <a:p>
            <a:pPr marL="0" indent="0" algn="l">
              <a:lnSpc>
                <a:spcPct val="100000"/>
              </a:lnSpc>
              <a:buNone/>
            </a:pPr>
            <a:r>
              <a:rPr sz="1650">
                <a:solidFill>
                  <a:srgbClr val="24292F"/>
                </a:solidFill>
                <a:latin typeface="Consolas"/>
              </a:rPr>
              <a:t>logName()          </a:t>
            </a:r>
            <a:r>
              <a:rPr sz="1650" i="1">
                <a:solidFill>
                  <a:srgbClr val="6E7781"/>
                </a:solidFill>
                <a:latin typeface="Consolas"/>
              </a:rPr>
              <a:t>// this === undefined (strict) or window</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292</a:t>
            </a:fld>
            <a:endParaRPr lang="en-US" sz="900">
              <a:solidFill>
                <a:srgbClr val="9AA7B4"/>
              </a:solidFill>
            </a:endParaRPr>
          </a:p>
        </p:txBody>
      </p:sp>
    </p:spTree>
    <p:extLst>
      <p:ext uri="{BB962C8B-B14F-4D97-AF65-F5344CB8AC3E}">
        <p14:creationId xmlns:p14="http://schemas.microsoft.com/office/powerpoint/2010/main" val="313301337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Implicit Binding</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090" b="0" i="0">
                <a:solidFill>
                  <a:srgbClr val="8A2B52"/>
                </a:solidFill>
                <a:latin typeface="Consolas"/>
              </a:rPr>
              <a:t>this</a:t>
            </a:r>
            <a:r>
              <a:rPr sz="2200" b="0" i="0">
                <a:solidFill>
                  <a:srgbClr val="1F2A36"/>
                </a:solidFill>
              </a:rPr>
              <a:t> refers to the object to the </a:t>
            </a:r>
            <a:r>
              <a:rPr sz="2200" b="1" i="0">
                <a:solidFill>
                  <a:srgbClr val="1F2A36"/>
                </a:solidFill>
              </a:rPr>
              <a:t>left of the dot</a:t>
            </a:r>
            <a:r>
              <a:rPr sz="2200" b="0" i="0">
                <a:solidFill>
                  <a:srgbClr val="1F2A36"/>
                </a:solidFill>
              </a:rPr>
              <a:t>.</a:t>
            </a:r>
          </a:p>
        </p:txBody>
      </p:sp>
      <p:sp>
        <p:nvSpPr>
          <p:cNvPr id="4" name="Code"/>
          <p:cNvSpPr/>
          <p:nvPr/>
        </p:nvSpPr>
        <p:spPr>
          <a:xfrm>
            <a:off x="457200" y="1863597"/>
            <a:ext cx="8229600" cy="312724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author = {</a:t>
            </a:r>
          </a:p>
          <a:p>
            <a:pPr marL="0" indent="0" algn="l">
              <a:lnSpc>
                <a:spcPct val="100000"/>
              </a:lnSpc>
              <a:buNone/>
            </a:pPr>
            <a:r>
              <a:rPr sz="2000">
                <a:solidFill>
                  <a:srgbClr val="24292F"/>
                </a:solidFill>
                <a:latin typeface="Consolas"/>
              </a:rPr>
              <a:t>  name: </a:t>
            </a:r>
            <a:r>
              <a:rPr sz="2000">
                <a:solidFill>
                  <a:srgbClr val="0A3069"/>
                </a:solidFill>
                <a:latin typeface="Consolas"/>
              </a:rPr>
              <a:t>'Chris'</a:t>
            </a:r>
            <a:r>
              <a:rPr sz="2000">
                <a:solidFill>
                  <a:srgbClr val="24292F"/>
                </a:solidFill>
                <a:latin typeface="Consolas"/>
              </a:rPr>
              <a:t>,</a:t>
            </a:r>
          </a:p>
          <a:p>
            <a:pPr marL="0" indent="0" algn="l">
              <a:lnSpc>
                <a:spcPct val="100000"/>
              </a:lnSpc>
              <a:buNone/>
            </a:pPr>
            <a:r>
              <a:rPr sz="2000">
                <a:solidFill>
                  <a:srgbClr val="24292F"/>
                </a:solidFill>
                <a:latin typeface="Consolas"/>
              </a:rPr>
              <a:t>  homeTown: </a:t>
            </a:r>
            <a:r>
              <a:rPr sz="2000">
                <a:solidFill>
                  <a:srgbClr val="0A3069"/>
                </a:solidFill>
                <a:latin typeface="Consolas"/>
              </a:rPr>
              <a:t>'Detroit'</a:t>
            </a:r>
            <a:r>
              <a:rPr sz="2000">
                <a:solidFill>
                  <a:srgbClr val="24292F"/>
                </a:solidFill>
                <a:latin typeface="Consolas"/>
              </a:rPr>
              <a:t>,</a:t>
            </a:r>
          </a:p>
          <a:p>
            <a:pPr marL="0" indent="0" algn="l">
              <a:lnSpc>
                <a:spcPct val="100000"/>
              </a:lnSpc>
              <a:buNone/>
            </a:pPr>
            <a:r>
              <a:rPr sz="2000">
                <a:solidFill>
                  <a:srgbClr val="24292F"/>
                </a:solidFill>
                <a:latin typeface="Consolas"/>
              </a:rPr>
              <a:t>  logName: </a:t>
            </a:r>
            <a:r>
              <a:rPr sz="2000">
                <a:solidFill>
                  <a:srgbClr val="CF222E"/>
                </a:solidFill>
                <a:latin typeface="Consolas"/>
              </a:rPr>
              <a:t>function</a:t>
            </a:r>
            <a:r>
              <a:rPr sz="2000">
                <a:solidFill>
                  <a:srgbClr val="24292F"/>
                </a:solidFill>
                <a:latin typeface="Consolas"/>
              </a:rPr>
              <a:t> () {</a:t>
            </a:r>
          </a:p>
          <a:p>
            <a:pPr marL="0" indent="0" algn="l">
              <a:lnSpc>
                <a:spcPct val="100000"/>
              </a:lnSpc>
              <a:buNone/>
            </a:pPr>
            <a:r>
              <a:rPr sz="2000">
                <a:solidFill>
                  <a:srgbClr val="24292F"/>
                </a:solidFill>
                <a:latin typeface="Consolas"/>
              </a:rPr>
              <a:t>    console.log(</a:t>
            </a:r>
            <a:r>
              <a:rPr sz="2000">
                <a:solidFill>
                  <a:srgbClr val="CF222E"/>
                </a:solidFill>
                <a:latin typeface="Consolas"/>
              </a:rPr>
              <a:t>this</a:t>
            </a:r>
            <a:r>
              <a:rPr sz="2000">
                <a:solidFill>
                  <a:srgbClr val="24292F"/>
                </a:solidFill>
                <a:latin typeface="Consolas"/>
              </a:rPr>
              <a:t>.name)</a:t>
            </a:r>
          </a:p>
          <a:p>
            <a:pPr marL="0" indent="0" algn="l">
              <a:lnSpc>
                <a:spcPct val="100000"/>
              </a:lnSpc>
              <a:buNone/>
            </a:pPr>
            <a:r>
              <a:rPr sz="2000">
                <a:solidFill>
                  <a:srgbClr val="24292F"/>
                </a:solidFill>
                <a:latin typeface="Consolas"/>
              </a:rPr>
              <a:t>  },</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author.logName()   </a:t>
            </a:r>
            <a:r>
              <a:rPr sz="2000" i="1">
                <a:solidFill>
                  <a:srgbClr val="6E7781"/>
                </a:solidFill>
                <a:latin typeface="Consolas"/>
              </a:rPr>
              <a:t>// 'Chris'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293</a:t>
            </a:fld>
            <a:endParaRPr lang="en-US" sz="900">
              <a:solidFill>
                <a:srgbClr val="9AA7B4"/>
              </a:solidFill>
            </a:endParaRPr>
          </a:p>
        </p:txBody>
      </p:sp>
    </p:spTree>
    <p:extLst>
      <p:ext uri="{BB962C8B-B14F-4D97-AF65-F5344CB8AC3E}">
        <p14:creationId xmlns:p14="http://schemas.microsoft.com/office/powerpoint/2010/main" val="181473491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Explicit Binding</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090" b="0" i="0">
                <a:solidFill>
                  <a:srgbClr val="8A2B52"/>
                </a:solidFill>
                <a:latin typeface="Consolas"/>
              </a:rPr>
              <a:t>.call</a:t>
            </a:r>
            <a:r>
              <a:rPr sz="2200" b="0" i="0">
                <a:solidFill>
                  <a:srgbClr val="1F2A36"/>
                </a:solidFill>
              </a:rPr>
              <a:t>, </a:t>
            </a:r>
            <a:r>
              <a:rPr sz="2090" b="0" i="0">
                <a:solidFill>
                  <a:srgbClr val="8A2B52"/>
                </a:solidFill>
                <a:latin typeface="Consolas"/>
              </a:rPr>
              <a:t>.apply</a:t>
            </a:r>
            <a:r>
              <a:rPr sz="2200" b="0" i="0">
                <a:solidFill>
                  <a:srgbClr val="1F2A36"/>
                </a:solidFill>
              </a:rPr>
              <a:t> and </a:t>
            </a:r>
            <a:r>
              <a:rPr sz="2090" b="0" i="0">
                <a:solidFill>
                  <a:srgbClr val="8A2B52"/>
                </a:solidFill>
                <a:latin typeface="Consolas"/>
              </a:rPr>
              <a:t>.bind</a:t>
            </a:r>
            <a:r>
              <a:rPr sz="2200" b="0" i="0">
                <a:solidFill>
                  <a:srgbClr val="1F2A36"/>
                </a:solidFill>
              </a:rPr>
              <a:t> set </a:t>
            </a:r>
            <a:r>
              <a:rPr sz="2090" b="0" i="0">
                <a:solidFill>
                  <a:srgbClr val="8A2B52"/>
                </a:solidFill>
                <a:latin typeface="Consolas"/>
              </a:rPr>
              <a:t>this</a:t>
            </a:r>
            <a:r>
              <a:rPr sz="2200" b="0" i="0">
                <a:solidFill>
                  <a:srgbClr val="1F2A36"/>
                </a:solidFill>
              </a:rPr>
              <a:t> explicitly.</a:t>
            </a:r>
          </a:p>
        </p:txBody>
      </p:sp>
      <p:sp>
        <p:nvSpPr>
          <p:cNvPr id="4" name="Code"/>
          <p:cNvSpPr/>
          <p:nvPr/>
        </p:nvSpPr>
        <p:spPr>
          <a:xfrm>
            <a:off x="457200" y="1863597"/>
            <a:ext cx="8229600" cy="344220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CF222E"/>
                </a:solidFill>
                <a:latin typeface="Consolas"/>
              </a:rPr>
              <a:t>const</a:t>
            </a:r>
            <a:r>
              <a:rPr sz="2000">
                <a:solidFill>
                  <a:srgbClr val="24292F"/>
                </a:solidFill>
                <a:latin typeface="Consolas"/>
              </a:rPr>
              <a:t> logName = </a:t>
            </a:r>
            <a:r>
              <a:rPr sz="2000">
                <a:solidFill>
                  <a:srgbClr val="CF222E"/>
                </a:solidFill>
                <a:latin typeface="Consolas"/>
              </a:rPr>
              <a:t>function</a:t>
            </a:r>
            <a:r>
              <a:rPr sz="2000">
                <a:solidFill>
                  <a:srgbClr val="24292F"/>
                </a:solidFill>
                <a:latin typeface="Consolas"/>
              </a:rPr>
              <a:t> () {</a:t>
            </a:r>
          </a:p>
          <a:p>
            <a:pPr marL="0" indent="0" algn="l">
              <a:lnSpc>
                <a:spcPct val="100000"/>
              </a:lnSpc>
              <a:buNone/>
            </a:pPr>
            <a:r>
              <a:rPr sz="2000">
                <a:solidFill>
                  <a:srgbClr val="24292F"/>
                </a:solidFill>
                <a:latin typeface="Consolas"/>
              </a:rPr>
              <a:t>  console.log(</a:t>
            </a:r>
            <a:r>
              <a:rPr sz="2000">
                <a:solidFill>
                  <a:srgbClr val="CF222E"/>
                </a:solidFill>
                <a:latin typeface="Consolas"/>
              </a:rPr>
              <a:t>this</a:t>
            </a:r>
            <a:r>
              <a:rPr sz="2000">
                <a:solidFill>
                  <a:srgbClr val="24292F"/>
                </a:solidFill>
                <a:latin typeface="Consolas"/>
              </a:rPr>
              <a:t>.name)</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CF222E"/>
                </a:solidFill>
                <a:latin typeface="Consolas"/>
              </a:rPr>
              <a:t>const</a:t>
            </a:r>
            <a:r>
              <a:rPr sz="2000">
                <a:solidFill>
                  <a:srgbClr val="24292F"/>
                </a:solidFill>
                <a:latin typeface="Consolas"/>
              </a:rPr>
              <a:t> author = {</a:t>
            </a:r>
          </a:p>
          <a:p>
            <a:pPr marL="0" indent="0" algn="l">
              <a:lnSpc>
                <a:spcPct val="100000"/>
              </a:lnSpc>
              <a:buNone/>
            </a:pPr>
            <a:r>
              <a:rPr sz="2000">
                <a:solidFill>
                  <a:srgbClr val="24292F"/>
                </a:solidFill>
                <a:latin typeface="Consolas"/>
              </a:rPr>
              <a:t>  name: </a:t>
            </a:r>
            <a:r>
              <a:rPr sz="2000">
                <a:solidFill>
                  <a:srgbClr val="0A3069"/>
                </a:solidFill>
                <a:latin typeface="Consolas"/>
              </a:rPr>
              <a:t>'Chris'</a:t>
            </a:r>
            <a:r>
              <a:rPr sz="2000">
                <a:solidFill>
                  <a:srgbClr val="24292F"/>
                </a:solidFill>
                <a:latin typeface="Consolas"/>
              </a:rPr>
              <a:t>,</a:t>
            </a:r>
          </a:p>
          <a:p>
            <a:pPr marL="0" indent="0" algn="l">
              <a:lnSpc>
                <a:spcPct val="100000"/>
              </a:lnSpc>
              <a:buNone/>
            </a:pPr>
            <a:r>
              <a:rPr sz="2000">
                <a:solidFill>
                  <a:srgbClr val="24292F"/>
                </a:solidFill>
                <a:latin typeface="Consolas"/>
              </a:rPr>
              <a:t>  homeTown: </a:t>
            </a:r>
            <a:r>
              <a:rPr sz="2000">
                <a:solidFill>
                  <a:srgbClr val="0A3069"/>
                </a:solidFill>
                <a:latin typeface="Consolas"/>
              </a:rPr>
              <a:t>'Detroit'</a:t>
            </a:r>
            <a:r>
              <a:rPr sz="2000">
                <a:solidFill>
                  <a:srgbClr val="24292F"/>
                </a:solidFill>
                <a:latin typeface="Consolas"/>
              </a:rPr>
              <a:t>,</a:t>
            </a:r>
          </a:p>
          <a:p>
            <a:pPr marL="0" indent="0" algn="l">
              <a:lnSpc>
                <a:spcPct val="100000"/>
              </a:lnSpc>
              <a:buNone/>
            </a:pPr>
            <a:r>
              <a:rPr sz="2000">
                <a:solidFill>
                  <a:srgbClr val="24292F"/>
                </a:solidFill>
                <a:latin typeface="Consolas"/>
              </a:rPr>
              <a:t>}</a:t>
            </a:r>
          </a:p>
          <a:p>
            <a:pPr marL="0" indent="0" algn="l">
              <a:lnSpc>
                <a:spcPct val="100000"/>
              </a:lnSpc>
              <a:buNone/>
            </a:pPr>
            <a:r>
              <a:rPr sz="2000">
                <a:latin typeface="Consolas"/>
              </a:rPr>
              <a:t> </a:t>
            </a:r>
          </a:p>
          <a:p>
            <a:pPr marL="0" indent="0" algn="l">
              <a:lnSpc>
                <a:spcPct val="100000"/>
              </a:lnSpc>
              <a:buNone/>
            </a:pPr>
            <a:r>
              <a:rPr sz="2000">
                <a:solidFill>
                  <a:srgbClr val="24292F"/>
                </a:solidFill>
                <a:latin typeface="Consolas"/>
              </a:rPr>
              <a:t>logName.call(author)   </a:t>
            </a:r>
            <a:r>
              <a:rPr sz="2000" i="1">
                <a:solidFill>
                  <a:srgbClr val="6E7781"/>
                </a:solidFill>
                <a:latin typeface="Consolas"/>
              </a:rPr>
              <a:t>// 'Chris'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294</a:t>
            </a:fld>
            <a:endParaRPr lang="en-US" sz="900">
              <a:solidFill>
                <a:srgbClr val="9AA7B4"/>
              </a:solidFill>
            </a:endParaRPr>
          </a:p>
        </p:txBody>
      </p:sp>
    </p:spTree>
    <p:extLst>
      <p:ext uri="{BB962C8B-B14F-4D97-AF65-F5344CB8AC3E}">
        <p14:creationId xmlns:p14="http://schemas.microsoft.com/office/powerpoint/2010/main" val="148794992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Explicit Binding with .call</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Calls a function with a given </a:t>
            </a:r>
            <a:r>
              <a:rPr sz="2090" b="0" i="0">
                <a:solidFill>
                  <a:srgbClr val="8A2B52"/>
                </a:solidFill>
                <a:latin typeface="Consolas"/>
              </a:rPr>
              <a:t>this</a:t>
            </a:r>
            <a:r>
              <a:rPr sz="2200" b="0" i="0">
                <a:solidFill>
                  <a:srgbClr val="1F2A36"/>
                </a:solidFill>
              </a:rPr>
              <a:t> value and arguments given </a:t>
            </a:r>
            <a:r>
              <a:rPr sz="2200" b="1" i="0">
                <a:solidFill>
                  <a:srgbClr val="1F2A36"/>
                </a:solidFill>
              </a:rPr>
              <a:t>individually</a:t>
            </a:r>
            <a:r>
              <a:rPr sz="2200" b="0" i="0">
                <a:solidFill>
                  <a:srgbClr val="1F2A36"/>
                </a:solidFill>
              </a:rPr>
              <a:t>.</a:t>
            </a:r>
          </a:p>
        </p:txBody>
      </p:sp>
      <p:sp>
        <p:nvSpPr>
          <p:cNvPr id="4" name="Code"/>
          <p:cNvSpPr/>
          <p:nvPr/>
        </p:nvSpPr>
        <p:spPr>
          <a:xfrm>
            <a:off x="457200" y="2193290"/>
            <a:ext cx="8229600" cy="21823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const</a:t>
            </a:r>
            <a:r>
              <a:rPr sz="1500">
                <a:solidFill>
                  <a:srgbClr val="24292F"/>
                </a:solidFill>
                <a:latin typeface="Consolas"/>
              </a:rPr>
              <a:t> logName = </a:t>
            </a:r>
            <a:r>
              <a:rPr sz="1500">
                <a:solidFill>
                  <a:srgbClr val="CF222E"/>
                </a:solidFill>
                <a:latin typeface="Consolas"/>
              </a:rPr>
              <a:t>function</a:t>
            </a:r>
            <a:r>
              <a:rPr sz="1500">
                <a:solidFill>
                  <a:srgbClr val="24292F"/>
                </a:solidFill>
                <a:latin typeface="Consolas"/>
              </a:rPr>
              <a:t> (lang1) {</a:t>
            </a:r>
          </a:p>
          <a:p>
            <a:pPr marL="0" indent="0" algn="l">
              <a:lnSpc>
                <a:spcPct val="100000"/>
              </a:lnSpc>
              <a:buNone/>
            </a:pPr>
            <a:r>
              <a:rPr sz="1500">
                <a:solidFill>
                  <a:srgbClr val="24292F"/>
                </a:solidFill>
                <a:latin typeface="Consolas"/>
              </a:rPr>
              <a:t>  console.log(</a:t>
            </a:r>
            <a:r>
              <a:rPr sz="1500">
                <a:solidFill>
                  <a:srgbClr val="CF222E"/>
                </a:solidFill>
                <a:latin typeface="Consolas"/>
              </a:rPr>
              <a:t>this</a:t>
            </a:r>
            <a:r>
              <a:rPr sz="1500">
                <a:solidFill>
                  <a:srgbClr val="24292F"/>
                </a:solidFill>
                <a:latin typeface="Consolas"/>
              </a:rPr>
              <a:t>.fname + </a:t>
            </a:r>
            <a:r>
              <a:rPr sz="1500">
                <a:solidFill>
                  <a:srgbClr val="0A3069"/>
                </a:solidFill>
                <a:latin typeface="Consolas"/>
              </a:rPr>
              <a:t>' '</a:t>
            </a:r>
            <a:r>
              <a:rPr sz="1500">
                <a:solidFill>
                  <a:srgbClr val="24292F"/>
                </a:solidFill>
                <a:latin typeface="Consolas"/>
              </a:rPr>
              <a:t> + </a:t>
            </a:r>
            <a:r>
              <a:rPr sz="1500">
                <a:solidFill>
                  <a:srgbClr val="CF222E"/>
                </a:solidFill>
                <a:latin typeface="Consolas"/>
              </a:rPr>
              <a:t>this</a:t>
            </a:r>
            <a:r>
              <a:rPr sz="1500">
                <a:solidFill>
                  <a:srgbClr val="24292F"/>
                </a:solidFill>
                <a:latin typeface="Consolas"/>
              </a:rPr>
              <a:t>.lname + </a:t>
            </a:r>
            <a:r>
              <a:rPr sz="1500">
                <a:solidFill>
                  <a:srgbClr val="0A3069"/>
                </a:solidFill>
                <a:latin typeface="Consolas"/>
              </a:rPr>
              <a:t>' '</a:t>
            </a:r>
            <a:r>
              <a:rPr sz="1500">
                <a:solidFill>
                  <a:srgbClr val="24292F"/>
                </a:solidFill>
                <a:latin typeface="Consolas"/>
              </a:rPr>
              <a:t> + lang1)</a:t>
            </a:r>
          </a:p>
          <a:p>
            <a:pPr marL="0" indent="0" algn="l">
              <a:lnSpc>
                <a:spcPct val="100000"/>
              </a:lnSpc>
              <a:buNone/>
            </a:pPr>
            <a:r>
              <a:rPr sz="1500">
                <a:solidFill>
                  <a:srgbClr val="24292F"/>
                </a:solidFill>
                <a:latin typeface="Consolas"/>
              </a:rPr>
              <a:t>}</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const</a:t>
            </a:r>
            <a:r>
              <a:rPr sz="1500">
                <a:solidFill>
                  <a:srgbClr val="24292F"/>
                </a:solidFill>
                <a:latin typeface="Consolas"/>
              </a:rPr>
              <a:t> author = { fname: </a:t>
            </a:r>
            <a:r>
              <a:rPr sz="1500">
                <a:solidFill>
                  <a:srgbClr val="0A3069"/>
                </a:solidFill>
                <a:latin typeface="Consolas"/>
              </a:rPr>
              <a:t>'Chris'</a:t>
            </a:r>
            <a:r>
              <a:rPr sz="1500">
                <a:solidFill>
                  <a:srgbClr val="24292F"/>
                </a:solidFill>
                <a:latin typeface="Consolas"/>
              </a:rPr>
              <a:t>, lname: </a:t>
            </a:r>
            <a:r>
              <a:rPr sz="1500">
                <a:solidFill>
                  <a:srgbClr val="0A3069"/>
                </a:solidFill>
                <a:latin typeface="Consolas"/>
              </a:rPr>
              <a:t>'Minnick'</a:t>
            </a:r>
            <a:r>
              <a:rPr sz="1500">
                <a:solidFill>
                  <a:srgbClr val="24292F"/>
                </a:solidFill>
                <a:latin typeface="Consolas"/>
              </a:rPr>
              <a:t> }</a:t>
            </a:r>
          </a:p>
          <a:p>
            <a:pPr marL="0" indent="0" algn="l">
              <a:lnSpc>
                <a:spcPct val="100000"/>
              </a:lnSpc>
              <a:buNone/>
            </a:pPr>
            <a:r>
              <a:rPr sz="1500">
                <a:solidFill>
                  <a:srgbClr val="CF222E"/>
                </a:solidFill>
                <a:latin typeface="Consolas"/>
              </a:rPr>
              <a:t>const</a:t>
            </a:r>
            <a:r>
              <a:rPr sz="1500">
                <a:solidFill>
                  <a:srgbClr val="24292F"/>
                </a:solidFill>
                <a:latin typeface="Consolas"/>
              </a:rPr>
              <a:t> languages = [</a:t>
            </a:r>
            <a:r>
              <a:rPr sz="1500">
                <a:solidFill>
                  <a:srgbClr val="0A3069"/>
                </a:solidFill>
                <a:latin typeface="Consolas"/>
              </a:rPr>
              <a:t>'JavaScript'</a:t>
            </a:r>
            <a:r>
              <a:rPr sz="1500">
                <a:solidFill>
                  <a:srgbClr val="24292F"/>
                </a:solidFill>
                <a:latin typeface="Consolas"/>
              </a:rPr>
              <a:t>, </a:t>
            </a:r>
            <a:r>
              <a:rPr sz="1500">
                <a:solidFill>
                  <a:srgbClr val="0A3069"/>
                </a:solidFill>
                <a:latin typeface="Consolas"/>
              </a:rPr>
              <a:t>'HTML'</a:t>
            </a:r>
            <a:r>
              <a:rPr sz="1500">
                <a:solidFill>
                  <a:srgbClr val="24292F"/>
                </a:solidFill>
                <a:latin typeface="Consolas"/>
              </a:rPr>
              <a:t>, </a:t>
            </a:r>
            <a:r>
              <a:rPr sz="1500">
                <a:solidFill>
                  <a:srgbClr val="0A3069"/>
                </a:solidFill>
                <a:latin typeface="Consolas"/>
              </a:rPr>
              <a:t>'CSS'</a:t>
            </a:r>
            <a:r>
              <a:rPr sz="1500">
                <a:solidFill>
                  <a:srgbClr val="24292F"/>
                </a:solidFill>
                <a:latin typeface="Consolas"/>
              </a:rPr>
              <a:t>]</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logName.call(author, languages[</a:t>
            </a:r>
            <a:r>
              <a:rPr sz="1500">
                <a:solidFill>
                  <a:srgbClr val="0550AE"/>
                </a:solidFill>
                <a:latin typeface="Consolas"/>
              </a:rPr>
              <a:t>0</a:t>
            </a:r>
            <a:r>
              <a:rPr sz="1500">
                <a:solidFill>
                  <a:srgbClr val="24292F"/>
                </a:solidFill>
                <a:latin typeface="Consolas"/>
              </a:rPr>
              <a:t>])   </a:t>
            </a:r>
            <a:r>
              <a:rPr sz="1500" i="1">
                <a:solidFill>
                  <a:srgbClr val="6E7781"/>
                </a:solidFill>
                <a:latin typeface="Consolas"/>
              </a:rPr>
              <a:t>// 'Chris Minnick JavaScript'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295</a:t>
            </a:fld>
            <a:endParaRPr lang="en-US" sz="900">
              <a:solidFill>
                <a:srgbClr val="9AA7B4"/>
              </a:solidFill>
            </a:endParaRPr>
          </a:p>
        </p:txBody>
      </p:sp>
    </p:spTree>
    <p:extLst>
      <p:ext uri="{BB962C8B-B14F-4D97-AF65-F5344CB8AC3E}">
        <p14:creationId xmlns:p14="http://schemas.microsoft.com/office/powerpoint/2010/main" val="304382778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Explicit Binding with .apply</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Calls a function with a given </a:t>
            </a:r>
            <a:r>
              <a:rPr sz="2090" b="0" i="0">
                <a:solidFill>
                  <a:srgbClr val="8A2B52"/>
                </a:solidFill>
                <a:latin typeface="Consolas"/>
              </a:rPr>
              <a:t>this</a:t>
            </a:r>
            <a:r>
              <a:rPr sz="2200" b="0" i="0">
                <a:solidFill>
                  <a:srgbClr val="1F2A36"/>
                </a:solidFill>
              </a:rPr>
              <a:t> value and arguments given as an </a:t>
            </a:r>
            <a:r>
              <a:rPr sz="2200" b="1" i="0">
                <a:solidFill>
                  <a:srgbClr val="1F2A36"/>
                </a:solidFill>
              </a:rPr>
              <a:t>array</a:t>
            </a:r>
            <a:r>
              <a:rPr sz="2200" b="0" i="0">
                <a:solidFill>
                  <a:srgbClr val="1F2A36"/>
                </a:solidFill>
              </a:rPr>
              <a:t>.</a:t>
            </a:r>
          </a:p>
        </p:txBody>
      </p:sp>
      <p:sp>
        <p:nvSpPr>
          <p:cNvPr id="4" name="Code"/>
          <p:cNvSpPr/>
          <p:nvPr/>
        </p:nvSpPr>
        <p:spPr>
          <a:xfrm>
            <a:off x="457200" y="2193290"/>
            <a:ext cx="8229600" cy="3056382"/>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950">
                <a:solidFill>
                  <a:srgbClr val="CF222E"/>
                </a:solidFill>
                <a:latin typeface="Consolas"/>
              </a:rPr>
              <a:t>const</a:t>
            </a:r>
            <a:r>
              <a:rPr sz="1950">
                <a:solidFill>
                  <a:srgbClr val="24292F"/>
                </a:solidFill>
                <a:latin typeface="Consolas"/>
              </a:rPr>
              <a:t> logName = </a:t>
            </a:r>
            <a:r>
              <a:rPr sz="1950">
                <a:solidFill>
                  <a:srgbClr val="CF222E"/>
                </a:solidFill>
                <a:latin typeface="Consolas"/>
              </a:rPr>
              <a:t>function</a:t>
            </a:r>
            <a:r>
              <a:rPr sz="1950">
                <a:solidFill>
                  <a:srgbClr val="24292F"/>
                </a:solidFill>
                <a:latin typeface="Consolas"/>
              </a:rPr>
              <a:t> (food1, food2, food3) {</a:t>
            </a:r>
          </a:p>
          <a:p>
            <a:pPr marL="0" indent="0" algn="l">
              <a:lnSpc>
                <a:spcPct val="100000"/>
              </a:lnSpc>
              <a:buNone/>
            </a:pPr>
            <a:r>
              <a:rPr sz="1950">
                <a:solidFill>
                  <a:srgbClr val="24292F"/>
                </a:solidFill>
                <a:latin typeface="Consolas"/>
              </a:rPr>
              <a:t>  console.log(</a:t>
            </a:r>
            <a:r>
              <a:rPr sz="1950">
                <a:solidFill>
                  <a:srgbClr val="CF222E"/>
                </a:solidFill>
                <a:latin typeface="Consolas"/>
              </a:rPr>
              <a:t>this</a:t>
            </a:r>
            <a:r>
              <a:rPr sz="1950">
                <a:solidFill>
                  <a:srgbClr val="24292F"/>
                </a:solidFill>
                <a:latin typeface="Consolas"/>
              </a:rPr>
              <a:t>.fname + </a:t>
            </a:r>
            <a:r>
              <a:rPr sz="1950">
                <a:solidFill>
                  <a:srgbClr val="0A3069"/>
                </a:solidFill>
                <a:latin typeface="Consolas"/>
              </a:rPr>
              <a:t>' '</a:t>
            </a:r>
            <a:r>
              <a:rPr sz="1950">
                <a:solidFill>
                  <a:srgbClr val="24292F"/>
                </a:solidFill>
                <a:latin typeface="Consolas"/>
              </a:rPr>
              <a:t> + </a:t>
            </a:r>
            <a:r>
              <a:rPr sz="1950">
                <a:solidFill>
                  <a:srgbClr val="CF222E"/>
                </a:solidFill>
                <a:latin typeface="Consolas"/>
              </a:rPr>
              <a:t>this</a:t>
            </a:r>
            <a:r>
              <a:rPr sz="1950">
                <a:solidFill>
                  <a:srgbClr val="24292F"/>
                </a:solidFill>
                <a:latin typeface="Consolas"/>
              </a:rPr>
              <a:t>.lname)</a:t>
            </a:r>
          </a:p>
          <a:p>
            <a:pPr marL="0" indent="0" algn="l">
              <a:lnSpc>
                <a:spcPct val="100000"/>
              </a:lnSpc>
              <a:buNone/>
            </a:pPr>
            <a:r>
              <a:rPr sz="1950">
                <a:solidFill>
                  <a:srgbClr val="24292F"/>
                </a:solidFill>
                <a:latin typeface="Consolas"/>
              </a:rPr>
              <a:t>  console.log(food1, food2, food3)</a:t>
            </a:r>
          </a:p>
          <a:p>
            <a:pPr marL="0" indent="0" algn="l">
              <a:lnSpc>
                <a:spcPct val="100000"/>
              </a:lnSpc>
              <a:buNone/>
            </a:pPr>
            <a:r>
              <a:rPr sz="1950">
                <a:solidFill>
                  <a:srgbClr val="24292F"/>
                </a:solidFill>
                <a:latin typeface="Consolas"/>
              </a:rPr>
              <a:t>}</a:t>
            </a:r>
          </a:p>
          <a:p>
            <a:pPr marL="0" indent="0" algn="l">
              <a:lnSpc>
                <a:spcPct val="100000"/>
              </a:lnSpc>
              <a:buNone/>
            </a:pPr>
            <a:r>
              <a:rPr sz="1950">
                <a:latin typeface="Consolas"/>
              </a:rPr>
              <a:t> </a:t>
            </a:r>
          </a:p>
          <a:p>
            <a:pPr marL="0" indent="0" algn="l">
              <a:lnSpc>
                <a:spcPct val="100000"/>
              </a:lnSpc>
              <a:buNone/>
            </a:pPr>
            <a:r>
              <a:rPr sz="1950">
                <a:solidFill>
                  <a:srgbClr val="CF222E"/>
                </a:solidFill>
                <a:latin typeface="Consolas"/>
              </a:rPr>
              <a:t>const</a:t>
            </a:r>
            <a:r>
              <a:rPr sz="1950">
                <a:solidFill>
                  <a:srgbClr val="24292F"/>
                </a:solidFill>
                <a:latin typeface="Consolas"/>
              </a:rPr>
              <a:t> author = { fname: </a:t>
            </a:r>
            <a:r>
              <a:rPr sz="1950">
                <a:solidFill>
                  <a:srgbClr val="0A3069"/>
                </a:solidFill>
                <a:latin typeface="Consolas"/>
              </a:rPr>
              <a:t>'Chris'</a:t>
            </a:r>
            <a:r>
              <a:rPr sz="1950">
                <a:solidFill>
                  <a:srgbClr val="24292F"/>
                </a:solidFill>
                <a:latin typeface="Consolas"/>
              </a:rPr>
              <a:t>, lname: </a:t>
            </a:r>
            <a:r>
              <a:rPr sz="1950">
                <a:solidFill>
                  <a:srgbClr val="0A3069"/>
                </a:solidFill>
                <a:latin typeface="Consolas"/>
              </a:rPr>
              <a:t>'Minnick'</a:t>
            </a:r>
            <a:r>
              <a:rPr sz="1950">
                <a:solidFill>
                  <a:srgbClr val="24292F"/>
                </a:solidFill>
                <a:latin typeface="Consolas"/>
              </a:rPr>
              <a:t> }</a:t>
            </a:r>
          </a:p>
          <a:p>
            <a:pPr marL="0" indent="0" algn="l">
              <a:lnSpc>
                <a:spcPct val="100000"/>
              </a:lnSpc>
              <a:buNone/>
            </a:pPr>
            <a:r>
              <a:rPr sz="1950">
                <a:solidFill>
                  <a:srgbClr val="CF222E"/>
                </a:solidFill>
                <a:latin typeface="Consolas"/>
              </a:rPr>
              <a:t>const</a:t>
            </a:r>
            <a:r>
              <a:rPr sz="1950">
                <a:solidFill>
                  <a:srgbClr val="24292F"/>
                </a:solidFill>
                <a:latin typeface="Consolas"/>
              </a:rPr>
              <a:t> favoriteFoods = [</a:t>
            </a:r>
            <a:r>
              <a:rPr sz="1950">
                <a:solidFill>
                  <a:srgbClr val="0A3069"/>
                </a:solidFill>
                <a:latin typeface="Consolas"/>
              </a:rPr>
              <a:t>'Tacos'</a:t>
            </a:r>
            <a:r>
              <a:rPr sz="1950">
                <a:solidFill>
                  <a:srgbClr val="24292F"/>
                </a:solidFill>
                <a:latin typeface="Consolas"/>
              </a:rPr>
              <a:t>, </a:t>
            </a:r>
            <a:r>
              <a:rPr sz="1950">
                <a:solidFill>
                  <a:srgbClr val="0A3069"/>
                </a:solidFill>
                <a:latin typeface="Consolas"/>
              </a:rPr>
              <a:t>'Soup'</a:t>
            </a:r>
            <a:r>
              <a:rPr sz="1950">
                <a:solidFill>
                  <a:srgbClr val="24292F"/>
                </a:solidFill>
                <a:latin typeface="Consolas"/>
              </a:rPr>
              <a:t>, </a:t>
            </a:r>
            <a:r>
              <a:rPr sz="1950">
                <a:solidFill>
                  <a:srgbClr val="0A3069"/>
                </a:solidFill>
                <a:latin typeface="Consolas"/>
              </a:rPr>
              <a:t>'Sushi'</a:t>
            </a:r>
            <a:r>
              <a:rPr sz="1950">
                <a:solidFill>
                  <a:srgbClr val="24292F"/>
                </a:solidFill>
                <a:latin typeface="Consolas"/>
              </a:rPr>
              <a:t>]</a:t>
            </a:r>
          </a:p>
          <a:p>
            <a:pPr marL="0" indent="0" algn="l">
              <a:lnSpc>
                <a:spcPct val="100000"/>
              </a:lnSpc>
              <a:buNone/>
            </a:pPr>
            <a:r>
              <a:rPr sz="1950">
                <a:latin typeface="Consolas"/>
              </a:rPr>
              <a:t> </a:t>
            </a:r>
          </a:p>
          <a:p>
            <a:pPr marL="0" indent="0" algn="l">
              <a:lnSpc>
                <a:spcPct val="100000"/>
              </a:lnSpc>
              <a:buNone/>
            </a:pPr>
            <a:r>
              <a:rPr sz="1950">
                <a:solidFill>
                  <a:srgbClr val="24292F"/>
                </a:solidFill>
                <a:latin typeface="Consolas"/>
              </a:rPr>
              <a:t>logName.apply(author, favoriteFoods)</a:t>
            </a:r>
          </a:p>
        </p:txBody>
      </p:sp>
      <p:sp>
        <p:nvSpPr>
          <p:cNvPr id="5" name="Body"/>
          <p:cNvSpPr txBox="1"/>
          <p:nvPr/>
        </p:nvSpPr>
        <p:spPr>
          <a:xfrm>
            <a:off x="457200" y="5395976"/>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Today, </a:t>
            </a:r>
            <a:r>
              <a:rPr sz="2090" b="0" i="0">
                <a:solidFill>
                  <a:srgbClr val="8A2B52"/>
                </a:solidFill>
                <a:latin typeface="Consolas"/>
              </a:rPr>
              <a:t>logName.call(author, ...favoriteFoods)</a:t>
            </a:r>
            <a:r>
              <a:rPr sz="2200" b="0" i="0">
                <a:solidFill>
                  <a:srgbClr val="1F2A36"/>
                </a:solidFill>
              </a:rPr>
              <a:t> does the same thing</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296</a:t>
            </a:fld>
            <a:endParaRPr lang="en-US" sz="900">
              <a:solidFill>
                <a:srgbClr val="9AA7B4"/>
              </a:solidFill>
            </a:endParaRPr>
          </a:p>
        </p:txBody>
      </p:sp>
    </p:spTree>
    <p:extLst>
      <p:ext uri="{BB962C8B-B14F-4D97-AF65-F5344CB8AC3E}">
        <p14:creationId xmlns:p14="http://schemas.microsoft.com/office/powerpoint/2010/main" val="280623628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Explicit Binding with .bind</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Works like </a:t>
            </a:r>
            <a:r>
              <a:rPr sz="2090" b="0" i="0">
                <a:solidFill>
                  <a:srgbClr val="8A2B52"/>
                </a:solidFill>
                <a:latin typeface="Consolas"/>
              </a:rPr>
              <a:t>.call</a:t>
            </a:r>
            <a:r>
              <a:rPr sz="2200" b="0" i="0">
                <a:solidFill>
                  <a:srgbClr val="1F2A36"/>
                </a:solidFill>
              </a:rPr>
              <a:t>, but </a:t>
            </a:r>
            <a:r>
              <a:rPr sz="2200" b="1" i="0">
                <a:solidFill>
                  <a:srgbClr val="1F2A36"/>
                </a:solidFill>
              </a:rPr>
              <a:t>returns a new function</a:t>
            </a:r>
            <a:r>
              <a:rPr sz="2200" b="0" i="0">
                <a:solidFill>
                  <a:srgbClr val="1F2A36"/>
                </a:solidFill>
              </a:rPr>
              <a:t> instead of calling it immediately.</a:t>
            </a:r>
          </a:p>
        </p:txBody>
      </p:sp>
      <p:sp>
        <p:nvSpPr>
          <p:cNvPr id="4" name="Code"/>
          <p:cNvSpPr/>
          <p:nvPr/>
        </p:nvSpPr>
        <p:spPr>
          <a:xfrm>
            <a:off x="457200" y="2193290"/>
            <a:ext cx="8229600" cy="3064256"/>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logName = </a:t>
            </a:r>
            <a:r>
              <a:rPr sz="1600">
                <a:solidFill>
                  <a:srgbClr val="CF222E"/>
                </a:solidFill>
                <a:latin typeface="Consolas"/>
              </a:rPr>
              <a:t>function</a:t>
            </a:r>
            <a:r>
              <a:rPr sz="1600">
                <a:solidFill>
                  <a:srgbClr val="24292F"/>
                </a:solidFill>
                <a:latin typeface="Consolas"/>
              </a:rPr>
              <a:t> (food) {</a:t>
            </a:r>
          </a:p>
          <a:p>
            <a:pPr marL="0" indent="0" algn="l">
              <a:lnSpc>
                <a:spcPct val="100000"/>
              </a:lnSpc>
              <a:buNone/>
            </a:pPr>
            <a:r>
              <a:rPr sz="1600">
                <a:solidFill>
                  <a:srgbClr val="24292F"/>
                </a:solidFill>
                <a:latin typeface="Consolas"/>
              </a:rPr>
              <a:t>  console.log(</a:t>
            </a:r>
          </a:p>
          <a:p>
            <a:pPr marL="0" indent="0" algn="l">
              <a:lnSpc>
                <a:spcPct val="100000"/>
              </a:lnSpc>
              <a:buNone/>
            </a:pPr>
            <a:r>
              <a:rPr sz="1600">
                <a:solidFill>
                  <a:srgbClr val="24292F"/>
                </a:solidFill>
                <a:latin typeface="Consolas"/>
              </a:rPr>
              <a:t>    </a:t>
            </a:r>
            <a:r>
              <a:rPr sz="1600">
                <a:solidFill>
                  <a:srgbClr val="0A3069"/>
                </a:solidFill>
                <a:latin typeface="Consolas"/>
              </a:rPr>
              <a:t>`${this.fname} ${this.lname}'s favorite food was ${food}`</a:t>
            </a:r>
          </a:p>
          <a:p>
            <a:pPr marL="0" indent="0" algn="l">
              <a:lnSpc>
                <a:spcPct val="100000"/>
              </a:lnSpc>
              <a:buNone/>
            </a:pPr>
            <a:r>
              <a:rPr sz="1600">
                <a:solidFill>
                  <a:srgbClr val="24292F"/>
                </a:solidFill>
                <a:latin typeface="Consolas"/>
              </a:rPr>
              <a:t>  )</a:t>
            </a:r>
          </a:p>
          <a:p>
            <a:pPr marL="0" indent="0" algn="l">
              <a:lnSpc>
                <a:spcPct val="100000"/>
              </a:lnSpc>
              <a:buNone/>
            </a:pP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person = { fname: </a:t>
            </a:r>
            <a:r>
              <a:rPr sz="1600">
                <a:solidFill>
                  <a:srgbClr val="0A3069"/>
                </a:solidFill>
                <a:latin typeface="Consolas"/>
              </a:rPr>
              <a:t>'George'</a:t>
            </a:r>
            <a:r>
              <a:rPr sz="1600">
                <a:solidFill>
                  <a:srgbClr val="24292F"/>
                </a:solidFill>
                <a:latin typeface="Consolas"/>
              </a:rPr>
              <a:t>, lname: </a:t>
            </a:r>
            <a:r>
              <a:rPr sz="1600">
                <a:solidFill>
                  <a:srgbClr val="0A3069"/>
                </a:solidFill>
                <a:latin typeface="Consolas"/>
              </a:rPr>
              <a:t>'Washington'</a:t>
            </a:r>
            <a:r>
              <a:rPr sz="1600">
                <a:solidFill>
                  <a:srgbClr val="24292F"/>
                </a:solidFill>
                <a:latin typeface="Consolas"/>
              </a:rPr>
              <a:t> }</a:t>
            </a:r>
          </a:p>
          <a:p>
            <a:pPr marL="0" indent="0" algn="l">
              <a:lnSpc>
                <a:spcPct val="100000"/>
              </a:lnSpc>
              <a:buNone/>
            </a:pPr>
            <a:r>
              <a:rPr sz="1600">
                <a:latin typeface="Consolas"/>
              </a:rPr>
              <a:t> </a:t>
            </a:r>
          </a:p>
          <a:p>
            <a:pPr marL="0" indent="0" algn="l">
              <a:lnSpc>
                <a:spcPct val="100000"/>
              </a:lnSpc>
              <a:buNone/>
            </a:pPr>
            <a:r>
              <a:rPr sz="1600">
                <a:solidFill>
                  <a:srgbClr val="CF222E"/>
                </a:solidFill>
                <a:latin typeface="Consolas"/>
              </a:rPr>
              <a:t>const</a:t>
            </a:r>
            <a:r>
              <a:rPr sz="1600">
                <a:solidFill>
                  <a:srgbClr val="24292F"/>
                </a:solidFill>
                <a:latin typeface="Consolas"/>
              </a:rPr>
              <a:t> logMe = logName.bind(person, </a:t>
            </a:r>
            <a:r>
              <a:rPr sz="1600">
                <a:solidFill>
                  <a:srgbClr val="0A3069"/>
                </a:solidFill>
                <a:latin typeface="Consolas"/>
              </a:rPr>
              <a:t>'Tacos'</a:t>
            </a: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a:solidFill>
                  <a:srgbClr val="24292F"/>
                </a:solidFill>
                <a:latin typeface="Consolas"/>
              </a:rPr>
              <a:t>logMe()   </a:t>
            </a:r>
            <a:r>
              <a:rPr sz="1600" i="1">
                <a:solidFill>
                  <a:srgbClr val="6E7781"/>
                </a:solidFill>
                <a:latin typeface="Consolas"/>
              </a:rPr>
              <a:t>// "George Washington's favorite food was Tacos"</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297</a:t>
            </a:fld>
            <a:endParaRPr lang="en-US" sz="900">
              <a:solidFill>
                <a:srgbClr val="9AA7B4"/>
              </a:solidFill>
            </a:endParaRPr>
          </a:p>
        </p:txBody>
      </p:sp>
    </p:spTree>
    <p:extLst>
      <p:ext uri="{BB962C8B-B14F-4D97-AF65-F5344CB8AC3E}">
        <p14:creationId xmlns:p14="http://schemas.microsoft.com/office/powerpoint/2010/main" val="164442048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new Binding</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200" b="0" i="0">
                <a:solidFill>
                  <a:srgbClr val="1F2A36"/>
                </a:solidFill>
              </a:rPr>
              <a:t>When a function is called with </a:t>
            </a:r>
            <a:r>
              <a:rPr sz="2090" b="0" i="0">
                <a:solidFill>
                  <a:srgbClr val="8A2B52"/>
                </a:solidFill>
                <a:latin typeface="Consolas"/>
              </a:rPr>
              <a:t>new</a:t>
            </a:r>
            <a:r>
              <a:rPr sz="2200" b="0" i="0">
                <a:solidFill>
                  <a:srgbClr val="1F2A36"/>
                </a:solidFill>
              </a:rPr>
              <a:t>, </a:t>
            </a:r>
            <a:r>
              <a:rPr sz="2090" b="0" i="0">
                <a:solidFill>
                  <a:srgbClr val="8A2B52"/>
                </a:solidFill>
                <a:latin typeface="Consolas"/>
              </a:rPr>
              <a:t>this</a:t>
            </a:r>
            <a:r>
              <a:rPr sz="2200" b="0" i="0">
                <a:solidFill>
                  <a:srgbClr val="1F2A36"/>
                </a:solidFill>
              </a:rPr>
              <a:t> is bound to the </a:t>
            </a:r>
            <a:r>
              <a:rPr sz="2200" b="1" i="0">
                <a:solidFill>
                  <a:srgbClr val="1F2A36"/>
                </a:solidFill>
              </a:rPr>
              <a:t>new object</a:t>
            </a:r>
            <a:r>
              <a:rPr sz="2200" b="0" i="0">
                <a:solidFill>
                  <a:srgbClr val="1F2A36"/>
                </a:solidFill>
              </a:rPr>
              <a:t> being created.</a:t>
            </a:r>
          </a:p>
        </p:txBody>
      </p:sp>
      <p:sp>
        <p:nvSpPr>
          <p:cNvPr id="4" name="Code"/>
          <p:cNvSpPr/>
          <p:nvPr/>
        </p:nvSpPr>
        <p:spPr>
          <a:xfrm>
            <a:off x="457200" y="2193290"/>
            <a:ext cx="8229600" cy="277291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750">
                <a:solidFill>
                  <a:srgbClr val="CF222E"/>
                </a:solidFill>
                <a:latin typeface="Consolas"/>
              </a:rPr>
              <a:t>const</a:t>
            </a:r>
            <a:r>
              <a:rPr sz="1750">
                <a:solidFill>
                  <a:srgbClr val="24292F"/>
                </a:solidFill>
                <a:latin typeface="Consolas"/>
              </a:rPr>
              <a:t> City = </a:t>
            </a:r>
            <a:r>
              <a:rPr sz="1750">
                <a:solidFill>
                  <a:srgbClr val="CF222E"/>
                </a:solidFill>
                <a:latin typeface="Consolas"/>
              </a:rPr>
              <a:t>function</a:t>
            </a:r>
            <a:r>
              <a:rPr sz="1750">
                <a:solidFill>
                  <a:srgbClr val="24292F"/>
                </a:solidFill>
                <a:latin typeface="Consolas"/>
              </a:rPr>
              <a:t> (lat, long, state, pop) {</a:t>
            </a:r>
          </a:p>
          <a:p>
            <a:pPr marL="0" indent="0" algn="l">
              <a:lnSpc>
                <a:spcPct val="100000"/>
              </a:lnSpc>
              <a:buNone/>
            </a:pPr>
            <a:r>
              <a:rPr sz="1750">
                <a:solidFill>
                  <a:srgbClr val="24292F"/>
                </a:solidFill>
                <a:latin typeface="Consolas"/>
              </a:rPr>
              <a:t>  </a:t>
            </a:r>
            <a:r>
              <a:rPr sz="1750">
                <a:solidFill>
                  <a:srgbClr val="CF222E"/>
                </a:solidFill>
                <a:latin typeface="Consolas"/>
              </a:rPr>
              <a:t>this</a:t>
            </a:r>
            <a:r>
              <a:rPr sz="1750">
                <a:solidFill>
                  <a:srgbClr val="24292F"/>
                </a:solidFill>
                <a:latin typeface="Consolas"/>
              </a:rPr>
              <a:t>.lat = lat</a:t>
            </a:r>
          </a:p>
          <a:p>
            <a:pPr marL="0" indent="0" algn="l">
              <a:lnSpc>
                <a:spcPct val="100000"/>
              </a:lnSpc>
              <a:buNone/>
            </a:pPr>
            <a:r>
              <a:rPr sz="1750">
                <a:solidFill>
                  <a:srgbClr val="24292F"/>
                </a:solidFill>
                <a:latin typeface="Consolas"/>
              </a:rPr>
              <a:t>  </a:t>
            </a:r>
            <a:r>
              <a:rPr sz="1750">
                <a:solidFill>
                  <a:srgbClr val="CF222E"/>
                </a:solidFill>
                <a:latin typeface="Consolas"/>
              </a:rPr>
              <a:t>this</a:t>
            </a:r>
            <a:r>
              <a:rPr sz="1750">
                <a:solidFill>
                  <a:srgbClr val="24292F"/>
                </a:solidFill>
                <a:latin typeface="Consolas"/>
              </a:rPr>
              <a:t>.long = long</a:t>
            </a:r>
          </a:p>
          <a:p>
            <a:pPr marL="0" indent="0" algn="l">
              <a:lnSpc>
                <a:spcPct val="100000"/>
              </a:lnSpc>
              <a:buNone/>
            </a:pPr>
            <a:r>
              <a:rPr sz="1750">
                <a:solidFill>
                  <a:srgbClr val="24292F"/>
                </a:solidFill>
                <a:latin typeface="Consolas"/>
              </a:rPr>
              <a:t>  </a:t>
            </a:r>
            <a:r>
              <a:rPr sz="1750">
                <a:solidFill>
                  <a:srgbClr val="CF222E"/>
                </a:solidFill>
                <a:latin typeface="Consolas"/>
              </a:rPr>
              <a:t>this</a:t>
            </a:r>
            <a:r>
              <a:rPr sz="1750">
                <a:solidFill>
                  <a:srgbClr val="24292F"/>
                </a:solidFill>
                <a:latin typeface="Consolas"/>
              </a:rPr>
              <a:t>.state = state</a:t>
            </a:r>
          </a:p>
          <a:p>
            <a:pPr marL="0" indent="0" algn="l">
              <a:lnSpc>
                <a:spcPct val="100000"/>
              </a:lnSpc>
              <a:buNone/>
            </a:pPr>
            <a:r>
              <a:rPr sz="1750">
                <a:solidFill>
                  <a:srgbClr val="24292F"/>
                </a:solidFill>
                <a:latin typeface="Consolas"/>
              </a:rPr>
              <a:t>  </a:t>
            </a:r>
            <a:r>
              <a:rPr sz="1750">
                <a:solidFill>
                  <a:srgbClr val="CF222E"/>
                </a:solidFill>
                <a:latin typeface="Consolas"/>
              </a:rPr>
              <a:t>this</a:t>
            </a:r>
            <a:r>
              <a:rPr sz="1750">
                <a:solidFill>
                  <a:srgbClr val="24292F"/>
                </a:solidFill>
                <a:latin typeface="Consolas"/>
              </a:rPr>
              <a:t>.pop = pop</a:t>
            </a:r>
          </a:p>
          <a:p>
            <a:pPr marL="0" indent="0" algn="l">
              <a:lnSpc>
                <a:spcPct val="100000"/>
              </a:lnSpc>
              <a:buNone/>
            </a:pPr>
            <a:r>
              <a:rPr sz="1750">
                <a:solidFill>
                  <a:srgbClr val="24292F"/>
                </a:solidFill>
                <a:latin typeface="Consolas"/>
              </a:rPr>
              <a:t>}</a:t>
            </a:r>
          </a:p>
          <a:p>
            <a:pPr marL="0" indent="0" algn="l">
              <a:lnSpc>
                <a:spcPct val="100000"/>
              </a:lnSpc>
              <a:buNone/>
            </a:pPr>
            <a:r>
              <a:rPr sz="1750">
                <a:latin typeface="Consolas"/>
              </a:rPr>
              <a:t> </a:t>
            </a:r>
          </a:p>
          <a:p>
            <a:pPr marL="0" indent="0" algn="l">
              <a:lnSpc>
                <a:spcPct val="100000"/>
              </a:lnSpc>
              <a:buNone/>
            </a:pPr>
            <a:r>
              <a:rPr sz="1750">
                <a:solidFill>
                  <a:srgbClr val="CF222E"/>
                </a:solidFill>
                <a:latin typeface="Consolas"/>
              </a:rPr>
              <a:t>const</a:t>
            </a:r>
            <a:r>
              <a:rPr sz="1750">
                <a:solidFill>
                  <a:srgbClr val="24292F"/>
                </a:solidFill>
                <a:latin typeface="Consolas"/>
              </a:rPr>
              <a:t> sacramento = </a:t>
            </a:r>
            <a:r>
              <a:rPr sz="1750">
                <a:solidFill>
                  <a:srgbClr val="CF222E"/>
                </a:solidFill>
                <a:latin typeface="Consolas"/>
              </a:rPr>
              <a:t>new</a:t>
            </a:r>
            <a:r>
              <a:rPr sz="1750">
                <a:solidFill>
                  <a:srgbClr val="24292F"/>
                </a:solidFill>
                <a:latin typeface="Consolas"/>
              </a:rPr>
              <a:t> City(</a:t>
            </a:r>
            <a:r>
              <a:rPr sz="1750">
                <a:solidFill>
                  <a:srgbClr val="0550AE"/>
                </a:solidFill>
                <a:latin typeface="Consolas"/>
              </a:rPr>
              <a:t>38.58</a:t>
            </a:r>
            <a:r>
              <a:rPr sz="1750">
                <a:solidFill>
                  <a:srgbClr val="24292F"/>
                </a:solidFill>
                <a:latin typeface="Consolas"/>
              </a:rPr>
              <a:t>, -</a:t>
            </a:r>
            <a:r>
              <a:rPr sz="1750">
                <a:solidFill>
                  <a:srgbClr val="0550AE"/>
                </a:solidFill>
                <a:latin typeface="Consolas"/>
              </a:rPr>
              <a:t>121.49</a:t>
            </a:r>
            <a:r>
              <a:rPr sz="1750">
                <a:solidFill>
                  <a:srgbClr val="24292F"/>
                </a:solidFill>
                <a:latin typeface="Consolas"/>
              </a:rPr>
              <a:t>, </a:t>
            </a:r>
            <a:r>
              <a:rPr sz="1750">
                <a:solidFill>
                  <a:srgbClr val="0A3069"/>
                </a:solidFill>
                <a:latin typeface="Consolas"/>
              </a:rPr>
              <a:t>'CA'</a:t>
            </a:r>
            <a:r>
              <a:rPr sz="1750">
                <a:solidFill>
                  <a:srgbClr val="24292F"/>
                </a:solidFill>
                <a:latin typeface="Consolas"/>
              </a:rPr>
              <a:t>, </a:t>
            </a:r>
            <a:r>
              <a:rPr sz="1750">
                <a:solidFill>
                  <a:srgbClr val="0550AE"/>
                </a:solidFill>
                <a:latin typeface="Consolas"/>
              </a:rPr>
              <a:t>480000</a:t>
            </a:r>
            <a:r>
              <a:rPr sz="1750">
                <a:solidFill>
                  <a:srgbClr val="24292F"/>
                </a:solidFill>
                <a:latin typeface="Consolas"/>
              </a:rPr>
              <a:t>)</a:t>
            </a:r>
          </a:p>
          <a:p>
            <a:pPr marL="0" indent="0" algn="l">
              <a:lnSpc>
                <a:spcPct val="100000"/>
              </a:lnSpc>
              <a:buNone/>
            </a:pPr>
            <a:r>
              <a:rPr sz="1750">
                <a:solidFill>
                  <a:srgbClr val="24292F"/>
                </a:solidFill>
                <a:latin typeface="Consolas"/>
              </a:rPr>
              <a:t>console.log(sacramento.state)   </a:t>
            </a:r>
            <a:r>
              <a:rPr sz="1750" i="1">
                <a:solidFill>
                  <a:srgbClr val="6E7781"/>
                </a:solidFill>
                <a:latin typeface="Consolas"/>
              </a:rPr>
              <a:t>// 'CA'</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298</a:t>
            </a:fld>
            <a:endParaRPr lang="en-US" sz="900">
              <a:solidFill>
                <a:srgbClr val="9AA7B4"/>
              </a:solidFill>
            </a:endParaRPr>
          </a:p>
        </p:txBody>
      </p:sp>
    </p:spTree>
    <p:extLst>
      <p:ext uri="{BB962C8B-B14F-4D97-AF65-F5344CB8AC3E}">
        <p14:creationId xmlns:p14="http://schemas.microsoft.com/office/powerpoint/2010/main" val="2529755405"/>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Default (window) Binding</a:t>
            </a:r>
          </a:p>
        </p:txBody>
      </p:sp>
      <p:sp>
        <p:nvSpPr>
          <p:cNvPr id="3" name="Body"/>
          <p:cNvSpPr txBox="1"/>
          <p:nvPr/>
        </p:nvSpPr>
        <p:spPr>
          <a:xfrm>
            <a:off x="457200" y="1261872"/>
            <a:ext cx="8229600" cy="1787397"/>
          </a:xfrm>
          <a:prstGeom prst="rect">
            <a:avLst/>
          </a:prstGeom>
          <a:noFill/>
        </p:spPr>
        <p:txBody>
          <a:bodyPr wrap="square" lIns="0" tIns="0" rIns="0" bIns="0">
            <a:noAutofit/>
          </a:bodyPr>
          <a:lstStyle/>
          <a:p>
            <a:pPr marL="0" indent="0">
              <a:spcAft>
                <a:spcPts val="990"/>
              </a:spcAft>
              <a:buNone/>
            </a:pPr>
            <a:r>
              <a:rPr sz="2200" b="0" i="0">
                <a:solidFill>
                  <a:srgbClr val="1F2A36"/>
                </a:solidFill>
              </a:rPr>
              <a:t>When no object is specified or implied, </a:t>
            </a:r>
            <a:r>
              <a:rPr sz="2090" b="0" i="0">
                <a:solidFill>
                  <a:srgbClr val="8A2B52"/>
                </a:solidFill>
                <a:latin typeface="Consolas"/>
              </a:rPr>
              <a:t>this</a:t>
            </a:r>
            <a:r>
              <a:rPr sz="2200" b="0" i="0">
                <a:solidFill>
                  <a:srgbClr val="1F2A36"/>
                </a:solidFill>
              </a:rPr>
              <a:t> falls back to the default:</a:t>
            </a:r>
          </a:p>
          <a:p>
            <a:pPr marL="274320" indent="-256032">
              <a:spcAft>
                <a:spcPts val="990"/>
              </a:spcAft>
              <a:buClr>
                <a:srgbClr val="42B883"/>
              </a:buClr>
              <a:buSzPct val="100000"/>
              <a:buFont typeface="Arial"/>
              <a:buChar char="•"/>
            </a:pPr>
            <a:r>
              <a:rPr sz="2200" b="0" i="0">
                <a:solidFill>
                  <a:srgbClr val="1F2A36"/>
                </a:solidFill>
              </a:rPr>
              <a:t>the global object (</a:t>
            </a:r>
            <a:r>
              <a:rPr sz="2090" b="0" i="0">
                <a:solidFill>
                  <a:srgbClr val="8A2B52"/>
                </a:solidFill>
                <a:latin typeface="Consolas"/>
              </a:rPr>
              <a:t>window</a:t>
            </a:r>
            <a:r>
              <a:rPr sz="2200" b="0" i="0">
                <a:solidFill>
                  <a:srgbClr val="1F2A36"/>
                </a:solidFill>
              </a:rPr>
              <a:t>) in non-strict scripts</a:t>
            </a:r>
          </a:p>
          <a:p>
            <a:pPr marL="274320" indent="-256032">
              <a:spcAft>
                <a:spcPts val="990"/>
              </a:spcAft>
              <a:buClr>
                <a:srgbClr val="42B883"/>
              </a:buClr>
              <a:buSzPct val="100000"/>
              <a:buFont typeface="Arial"/>
              <a:buChar char="•"/>
            </a:pPr>
            <a:r>
              <a:rPr sz="2090" b="0" i="0">
                <a:solidFill>
                  <a:srgbClr val="8A2B52"/>
                </a:solidFill>
                <a:latin typeface="Consolas"/>
              </a:rPr>
              <a:t>undefined</a:t>
            </a:r>
            <a:r>
              <a:rPr sz="2200" b="0" i="0">
                <a:solidFill>
                  <a:srgbClr val="1F2A36"/>
                </a:solidFill>
              </a:rPr>
              <a:t> in strict mode, modules and classes</a:t>
            </a:r>
          </a:p>
        </p:txBody>
      </p:sp>
      <p:sp>
        <p:nvSpPr>
          <p:cNvPr id="4" name="Code"/>
          <p:cNvSpPr/>
          <p:nvPr/>
        </p:nvSpPr>
        <p:spPr>
          <a:xfrm>
            <a:off x="457200" y="3104133"/>
            <a:ext cx="8229600" cy="281228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const</a:t>
            </a:r>
            <a:r>
              <a:rPr sz="1600">
                <a:solidFill>
                  <a:srgbClr val="24292F"/>
                </a:solidFill>
                <a:latin typeface="Consolas"/>
              </a:rPr>
              <a:t> logName = </a:t>
            </a:r>
            <a:r>
              <a:rPr sz="1600">
                <a:solidFill>
                  <a:srgbClr val="CF222E"/>
                </a:solidFill>
                <a:latin typeface="Consolas"/>
              </a:rPr>
              <a:t>function</a:t>
            </a:r>
            <a:r>
              <a:rPr sz="1600">
                <a:solidFill>
                  <a:srgbClr val="24292F"/>
                </a:solidFill>
                <a:latin typeface="Consolas"/>
              </a:rPr>
              <a:t> () {</a:t>
            </a:r>
          </a:p>
          <a:p>
            <a:pPr marL="0" indent="0" algn="l">
              <a:lnSpc>
                <a:spcPct val="100000"/>
              </a:lnSpc>
              <a:buNone/>
            </a:pPr>
            <a:r>
              <a:rPr sz="1600">
                <a:solidFill>
                  <a:srgbClr val="24292F"/>
                </a:solidFill>
                <a:latin typeface="Consolas"/>
              </a:rPr>
              <a:t>  console.log(</a:t>
            </a:r>
            <a:r>
              <a:rPr sz="1600">
                <a:solidFill>
                  <a:srgbClr val="CF222E"/>
                </a:solidFill>
                <a:latin typeface="Consolas"/>
              </a:rPr>
              <a:t>this</a:t>
            </a:r>
            <a:r>
              <a:rPr sz="1600">
                <a:solidFill>
                  <a:srgbClr val="24292F"/>
                </a:solidFill>
                <a:latin typeface="Consolas"/>
              </a:rPr>
              <a:t>.name)</a:t>
            </a:r>
          </a:p>
          <a:p>
            <a:pPr marL="0" indent="0" algn="l">
              <a:lnSpc>
                <a:spcPct val="100000"/>
              </a:lnSpc>
              <a:buNone/>
            </a:pPr>
            <a:r>
              <a:rPr sz="1600">
                <a:solidFill>
                  <a:srgbClr val="24292F"/>
                </a:solidFill>
                <a:latin typeface="Consolas"/>
              </a:rPr>
              <a:t>}</a:t>
            </a:r>
          </a:p>
          <a:p>
            <a:pPr marL="0" indent="0" algn="l">
              <a:lnSpc>
                <a:spcPct val="100000"/>
              </a:lnSpc>
              <a:buNone/>
            </a:pPr>
            <a:r>
              <a:rPr sz="1600">
                <a:latin typeface="Consolas"/>
              </a:rPr>
              <a:t> </a:t>
            </a:r>
          </a:p>
          <a:p>
            <a:pPr marL="0" indent="0" algn="l">
              <a:lnSpc>
                <a:spcPct val="100000"/>
              </a:lnSpc>
              <a:buNone/>
            </a:pPr>
            <a:r>
              <a:rPr sz="1600" i="1">
                <a:solidFill>
                  <a:srgbClr val="6E7781"/>
                </a:solidFill>
                <a:latin typeface="Consolas"/>
              </a:rPr>
              <a:t>// in a classic, non-module &lt;script&gt;:</a:t>
            </a:r>
          </a:p>
          <a:p>
            <a:pPr marL="0" indent="0" algn="l">
              <a:lnSpc>
                <a:spcPct val="100000"/>
              </a:lnSpc>
              <a:buNone/>
            </a:pPr>
            <a:r>
              <a:rPr sz="1600">
                <a:solidFill>
                  <a:srgbClr val="24292F"/>
                </a:solidFill>
                <a:latin typeface="Consolas"/>
              </a:rPr>
              <a:t>window.name = </a:t>
            </a:r>
            <a:r>
              <a:rPr sz="1600">
                <a:solidFill>
                  <a:srgbClr val="0A3069"/>
                </a:solidFill>
                <a:latin typeface="Consolas"/>
              </a:rPr>
              <a:t>'Harry'</a:t>
            </a:r>
          </a:p>
          <a:p>
            <a:pPr marL="0" indent="0" algn="l">
              <a:lnSpc>
                <a:spcPct val="100000"/>
              </a:lnSpc>
              <a:buNone/>
            </a:pPr>
            <a:r>
              <a:rPr sz="1600">
                <a:solidFill>
                  <a:srgbClr val="24292F"/>
                </a:solidFill>
                <a:latin typeface="Consolas"/>
              </a:rPr>
              <a:t>logName()   </a:t>
            </a:r>
            <a:r>
              <a:rPr sz="1600" i="1">
                <a:solidFill>
                  <a:srgbClr val="6E7781"/>
                </a:solidFill>
                <a:latin typeface="Consolas"/>
              </a:rPr>
              <a:t>// 'Harry'</a:t>
            </a:r>
          </a:p>
          <a:p>
            <a:pPr marL="0" indent="0" algn="l">
              <a:lnSpc>
                <a:spcPct val="100000"/>
              </a:lnSpc>
              <a:buNone/>
            </a:pPr>
            <a:r>
              <a:rPr sz="1600">
                <a:latin typeface="Consolas"/>
              </a:rPr>
              <a:t> </a:t>
            </a:r>
          </a:p>
          <a:p>
            <a:pPr marL="0" indent="0" algn="l">
              <a:lnSpc>
                <a:spcPct val="100000"/>
              </a:lnSpc>
              <a:buNone/>
            </a:pPr>
            <a:r>
              <a:rPr sz="1600" i="1">
                <a:solidFill>
                  <a:srgbClr val="6E7781"/>
                </a:solidFill>
                <a:latin typeface="Consolas"/>
              </a:rPr>
              <a:t>// in a module or strict code:</a:t>
            </a:r>
          </a:p>
          <a:p>
            <a:pPr marL="0" indent="0" algn="l">
              <a:lnSpc>
                <a:spcPct val="100000"/>
              </a:lnSpc>
              <a:buNone/>
            </a:pPr>
            <a:r>
              <a:rPr sz="1600">
                <a:solidFill>
                  <a:srgbClr val="24292F"/>
                </a:solidFill>
                <a:latin typeface="Consolas"/>
              </a:rPr>
              <a:t>logName()   </a:t>
            </a:r>
            <a:r>
              <a:rPr sz="1600" i="1">
                <a:solidFill>
                  <a:srgbClr val="6E7781"/>
                </a:solidFill>
                <a:latin typeface="Consolas"/>
              </a:rPr>
              <a:t>// TypeError: Cannot read properties of undefined</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299</a:t>
            </a:fld>
            <a:endParaRPr lang="en-US" sz="900">
              <a:solidFill>
                <a:srgbClr val="9AA7B4"/>
              </a:solidFill>
            </a:endParaRPr>
          </a:p>
        </p:txBody>
      </p:sp>
    </p:spTree>
    <p:extLst>
      <p:ext uri="{BB962C8B-B14F-4D97-AF65-F5344CB8AC3E}">
        <p14:creationId xmlns:p14="http://schemas.microsoft.com/office/powerpoint/2010/main" val="404755055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Array.map()</a:t>
            </a:r>
          </a:p>
        </p:txBody>
      </p:sp>
      <p:sp>
        <p:nvSpPr>
          <p:cNvPr id="3" name="Body"/>
          <p:cNvSpPr txBox="1"/>
          <p:nvPr/>
        </p:nvSpPr>
        <p:spPr>
          <a:xfrm>
            <a:off x="457200" y="1261872"/>
            <a:ext cx="8229600" cy="876553"/>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Creates a </a:t>
            </a:r>
            <a:r>
              <a:rPr sz="2200" b="1" i="0">
                <a:solidFill>
                  <a:srgbClr val="1F2A36"/>
                </a:solidFill>
              </a:rPr>
              <a:t>new array</a:t>
            </a:r>
            <a:r>
              <a:rPr sz="2200" b="0" i="0">
                <a:solidFill>
                  <a:srgbClr val="1F2A36"/>
                </a:solidFill>
              </a:rPr>
              <a:t> with the result of calling a function on every element</a:t>
            </a:r>
          </a:p>
        </p:txBody>
      </p:sp>
      <p:sp>
        <p:nvSpPr>
          <p:cNvPr id="4" name="Code"/>
          <p:cNvSpPr/>
          <p:nvPr/>
        </p:nvSpPr>
        <p:spPr>
          <a:xfrm>
            <a:off x="457200" y="2193290"/>
            <a:ext cx="8229600" cy="18516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50">
                <a:solidFill>
                  <a:srgbClr val="CF222E"/>
                </a:solidFill>
                <a:latin typeface="Consolas"/>
              </a:rPr>
              <a:t>const</a:t>
            </a:r>
            <a:r>
              <a:rPr sz="1650">
                <a:solidFill>
                  <a:srgbClr val="24292F"/>
                </a:solidFill>
                <a:latin typeface="Consolas"/>
              </a:rPr>
              <a:t> newArray = arr.map((currentValue, index, array) =&gt; {</a:t>
            </a:r>
          </a:p>
          <a:p>
            <a:pPr marL="0" indent="0" algn="l">
              <a:lnSpc>
                <a:spcPct val="100000"/>
              </a:lnSpc>
              <a:buNone/>
            </a:pPr>
            <a:r>
              <a:rPr sz="1650">
                <a:solidFill>
                  <a:srgbClr val="24292F"/>
                </a:solidFill>
                <a:latin typeface="Consolas"/>
              </a:rPr>
              <a:t>  </a:t>
            </a:r>
            <a:r>
              <a:rPr sz="1650" i="1">
                <a:solidFill>
                  <a:srgbClr val="6E7781"/>
                </a:solidFill>
                <a:latin typeface="Consolas"/>
              </a:rPr>
              <a:t>// return the new element</a:t>
            </a:r>
          </a:p>
          <a:p>
            <a:pPr marL="0" indent="0" algn="l">
              <a:lnSpc>
                <a:spcPct val="100000"/>
              </a:lnSpc>
              <a:buNone/>
            </a:pPr>
            <a:r>
              <a:rPr sz="1650">
                <a:solidFill>
                  <a:srgbClr val="24292F"/>
                </a:solidFill>
                <a:latin typeface="Consolas"/>
              </a:rPr>
              <a:t>})</a:t>
            </a:r>
          </a:p>
          <a:p>
            <a:pPr marL="0" indent="0" algn="l">
              <a:lnSpc>
                <a:spcPct val="100000"/>
              </a:lnSpc>
              <a:buNone/>
            </a:pPr>
            <a:r>
              <a:rPr sz="1650">
                <a:latin typeface="Consolas"/>
              </a:rPr>
              <a:t> </a:t>
            </a:r>
          </a:p>
          <a:p>
            <a:pPr marL="0" indent="0" algn="l">
              <a:lnSpc>
                <a:spcPct val="100000"/>
              </a:lnSpc>
              <a:buNone/>
            </a:pPr>
            <a:r>
              <a:rPr sz="1650">
                <a:solidFill>
                  <a:srgbClr val="CF222E"/>
                </a:solidFill>
                <a:latin typeface="Consolas"/>
              </a:rPr>
              <a:t>const</a:t>
            </a:r>
            <a:r>
              <a:rPr sz="1650">
                <a:solidFill>
                  <a:srgbClr val="24292F"/>
                </a:solidFill>
                <a:latin typeface="Consolas"/>
              </a:rPr>
              <a:t> prices = [</a:t>
            </a:r>
            <a:r>
              <a:rPr sz="1650">
                <a:solidFill>
                  <a:srgbClr val="0550AE"/>
                </a:solidFill>
                <a:latin typeface="Consolas"/>
              </a:rPr>
              <a:t>10</a:t>
            </a:r>
            <a:r>
              <a:rPr sz="1650">
                <a:solidFill>
                  <a:srgbClr val="24292F"/>
                </a:solidFill>
                <a:latin typeface="Consolas"/>
              </a:rPr>
              <a:t>, </a:t>
            </a:r>
            <a:r>
              <a:rPr sz="1650">
                <a:solidFill>
                  <a:srgbClr val="0550AE"/>
                </a:solidFill>
                <a:latin typeface="Consolas"/>
              </a:rPr>
              <a:t>20</a:t>
            </a:r>
            <a:r>
              <a:rPr sz="1650">
                <a:solidFill>
                  <a:srgbClr val="24292F"/>
                </a:solidFill>
                <a:latin typeface="Consolas"/>
              </a:rPr>
              <a:t>, </a:t>
            </a:r>
            <a:r>
              <a:rPr sz="1650">
                <a:solidFill>
                  <a:srgbClr val="0550AE"/>
                </a:solidFill>
                <a:latin typeface="Consolas"/>
              </a:rPr>
              <a:t>30</a:t>
            </a:r>
            <a:r>
              <a:rPr sz="1650">
                <a:solidFill>
                  <a:srgbClr val="24292F"/>
                </a:solidFill>
                <a:latin typeface="Consolas"/>
              </a:rPr>
              <a:t>]</a:t>
            </a:r>
          </a:p>
          <a:p>
            <a:pPr marL="0" indent="0" algn="l">
              <a:lnSpc>
                <a:spcPct val="100000"/>
              </a:lnSpc>
              <a:buNone/>
            </a:pPr>
            <a:r>
              <a:rPr sz="1650">
                <a:solidFill>
                  <a:srgbClr val="CF222E"/>
                </a:solidFill>
                <a:latin typeface="Consolas"/>
              </a:rPr>
              <a:t>const</a:t>
            </a:r>
            <a:r>
              <a:rPr sz="1650">
                <a:solidFill>
                  <a:srgbClr val="24292F"/>
                </a:solidFill>
                <a:latin typeface="Consolas"/>
              </a:rPr>
              <a:t> withTax = prices.map((p) =&gt; p * </a:t>
            </a:r>
            <a:r>
              <a:rPr sz="1650">
                <a:solidFill>
                  <a:srgbClr val="0550AE"/>
                </a:solidFill>
                <a:latin typeface="Consolas"/>
              </a:rPr>
              <a:t>1.1</a:t>
            </a:r>
            <a:r>
              <a:rPr sz="1650">
                <a:solidFill>
                  <a:srgbClr val="24292F"/>
                </a:solidFill>
                <a:latin typeface="Consolas"/>
              </a:rPr>
              <a:t>)   </a:t>
            </a:r>
            <a:r>
              <a:rPr sz="1650" i="1">
                <a:solidFill>
                  <a:srgbClr val="6E7781"/>
                </a:solidFill>
                <a:latin typeface="Consolas"/>
              </a:rPr>
              <a:t>// [11, 22, 33]</a:t>
            </a:r>
          </a:p>
        </p:txBody>
      </p:sp>
      <p:sp>
        <p:nvSpPr>
          <p:cNvPr id="5" name="Body"/>
          <p:cNvSpPr txBox="1"/>
          <p:nvPr/>
        </p:nvSpPr>
        <p:spPr>
          <a:xfrm>
            <a:off x="457200" y="4191254"/>
            <a:ext cx="8229600" cy="1331976"/>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The callback receives the current value, its index, and the array</a:t>
            </a:r>
          </a:p>
          <a:p>
            <a:pPr marL="274320" indent="-256032">
              <a:spcAft>
                <a:spcPts val="990"/>
              </a:spcAft>
              <a:buClr>
                <a:srgbClr val="42B883"/>
              </a:buClr>
              <a:buSzPct val="100000"/>
              <a:buFont typeface="Arial"/>
              <a:buChar char="•"/>
            </a:pPr>
            <a:r>
              <a:rPr sz="2200" b="0" i="0">
                <a:solidFill>
                  <a:srgbClr val="1F2A36"/>
                </a:solidFill>
              </a:rPr>
              <a:t>The original array isn't changed</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300</a:t>
            </a:fld>
            <a:endParaRPr lang="en-US" sz="900">
              <a:solidFill>
                <a:srgbClr val="9AA7B4"/>
              </a:solidFill>
            </a:endParaRPr>
          </a:p>
        </p:txBody>
      </p:sp>
    </p:spTree>
    <p:extLst>
      <p:ext uri="{BB962C8B-B14F-4D97-AF65-F5344CB8AC3E}">
        <p14:creationId xmlns:p14="http://schemas.microsoft.com/office/powerpoint/2010/main" val="367611335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rgbClr val="3549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2468880"/>
            <a:ext cx="7680960" cy="1097280"/>
          </a:xfrm>
        </p:spPr>
        <p:txBody>
          <a:bodyPr wrap="square" lIns="0" tIns="0" rIns="0" bIns="0" anchor="t">
            <a:noAutofit/>
          </a:bodyPr>
          <a:lstStyle/>
          <a:p>
            <a:pPr marL="0" indent="0" algn="l">
              <a:buNone/>
            </a:pPr>
            <a:r>
              <a:rPr sz="4000" b="1" i="0" cap="none">
                <a:solidFill>
                  <a:srgbClr val="FFFFFF"/>
                </a:solidFill>
              </a:rPr>
              <a:t>Promises</a:t>
            </a:r>
          </a:p>
        </p:txBody>
      </p:sp>
      <p:sp>
        <p:nvSpPr>
          <p:cNvPr id="3" name="Kicker"/>
          <p:cNvSpPr txBox="1"/>
          <p:nvPr/>
        </p:nvSpPr>
        <p:spPr>
          <a:xfrm>
            <a:off x="731520" y="2057400"/>
            <a:ext cx="5486400" cy="365760"/>
          </a:xfrm>
          <a:prstGeom prst="rect">
            <a:avLst/>
          </a:prstGeom>
          <a:noFill/>
        </p:spPr>
        <p:txBody>
          <a:bodyPr wrap="square" lIns="0" tIns="0" rIns="0" bIns="0">
            <a:noAutofit/>
          </a:bodyPr>
          <a:lstStyle/>
          <a:p>
            <a:r>
              <a:rPr sz="1400" b="1">
                <a:solidFill>
                  <a:srgbClr val="42B883"/>
                </a:solidFill>
              </a:rPr>
              <a:t>APPENDIX · JAVASCRIPT REVIEW</a:t>
            </a:r>
          </a:p>
        </p:txBody>
      </p:sp>
      <p:sp>
        <p:nvSpPr>
          <p:cNvPr id="4" name="Subtitle"/>
          <p:cNvSpPr txBox="1"/>
          <p:nvPr/>
        </p:nvSpPr>
        <p:spPr>
          <a:xfrm>
            <a:off x="731520" y="3566160"/>
            <a:ext cx="7680960" cy="457200"/>
          </a:xfrm>
          <a:prstGeom prst="rect">
            <a:avLst/>
          </a:prstGeom>
          <a:noFill/>
        </p:spPr>
        <p:txBody>
          <a:bodyPr wrap="square" lIns="0" tIns="0" rIns="0" bIns="0">
            <a:noAutofit/>
          </a:bodyPr>
          <a:lstStyle/>
          <a:p>
            <a:r>
              <a:rPr sz="1800" b="0" i="1">
                <a:solidFill>
                  <a:srgbClr val="C9D6E2"/>
                </a:solidFill>
              </a:rPr>
              <a:t>Asynchronous JavaScript, from callbacks to async/await</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FB3C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FB3C4"/>
                </a:solidFill>
              </a:rPr>
              <a:t>301</a:t>
            </a:fld>
            <a:endParaRPr lang="en-US" sz="900">
              <a:solidFill>
                <a:srgbClr val="9FB3C4"/>
              </a:solidFill>
            </a:endParaRPr>
          </a:p>
        </p:txBody>
      </p:sp>
    </p:spTree>
    <p:extLst>
      <p:ext uri="{BB962C8B-B14F-4D97-AF65-F5344CB8AC3E}">
        <p14:creationId xmlns:p14="http://schemas.microsoft.com/office/powerpoint/2010/main" val="347218291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What Are Promises?</a:t>
            </a:r>
          </a:p>
        </p:txBody>
      </p:sp>
      <p:sp>
        <p:nvSpPr>
          <p:cNvPr id="3" name="Body"/>
          <p:cNvSpPr txBox="1"/>
          <p:nvPr/>
        </p:nvSpPr>
        <p:spPr>
          <a:xfrm>
            <a:off x="457200" y="1261872"/>
            <a:ext cx="8229600" cy="4082161"/>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An abstraction for asynchronous programming; an alternative to callbacks</a:t>
            </a:r>
          </a:p>
          <a:p>
            <a:pPr marL="274320" indent="-256032">
              <a:spcAft>
                <a:spcPts val="990"/>
              </a:spcAft>
              <a:buClr>
                <a:srgbClr val="42B883"/>
              </a:buClr>
              <a:buSzPct val="100000"/>
              <a:buFont typeface="Arial"/>
              <a:buChar char="•"/>
            </a:pPr>
            <a:r>
              <a:rPr sz="2200" b="0" i="0">
                <a:solidFill>
                  <a:srgbClr val="1F2A36"/>
                </a:solidFill>
              </a:rPr>
              <a:t>A promise represents the </a:t>
            </a:r>
            <a:r>
              <a:rPr sz="2200" b="1" i="0">
                <a:solidFill>
                  <a:srgbClr val="1F2A36"/>
                </a:solidFill>
              </a:rPr>
              <a:t>eventual result</a:t>
            </a:r>
            <a:r>
              <a:rPr sz="2200" b="0" i="0">
                <a:solidFill>
                  <a:srgbClr val="1F2A36"/>
                </a:solidFill>
              </a:rPr>
              <a:t> of an async operation</a:t>
            </a:r>
          </a:p>
          <a:p>
            <a:pPr marL="274320" indent="-256032">
              <a:spcAft>
                <a:spcPts val="990"/>
              </a:spcAft>
              <a:buClr>
                <a:srgbClr val="42B883"/>
              </a:buClr>
              <a:buSzPct val="100000"/>
              <a:buFont typeface="Arial"/>
              <a:buChar char="•"/>
            </a:pPr>
            <a:r>
              <a:rPr sz="2200" b="0" i="0">
                <a:solidFill>
                  <a:srgbClr val="1F2A36"/>
                </a:solidFill>
              </a:rPr>
              <a:t>It's always in one of three states:</a:t>
            </a:r>
          </a:p>
          <a:p>
            <a:pPr marL="566928" indent="-256032">
              <a:spcAft>
                <a:spcPts val="855"/>
              </a:spcAft>
              <a:buClr>
                <a:srgbClr val="6B7B8C"/>
              </a:buClr>
              <a:buSzPct val="100000"/>
              <a:buFont typeface="Arial"/>
              <a:buChar char="–"/>
            </a:pPr>
            <a:r>
              <a:rPr sz="1900" b="1" i="0">
                <a:solidFill>
                  <a:srgbClr val="3A4A5A"/>
                </a:solidFill>
              </a:rPr>
              <a:t>pending</a:t>
            </a:r>
            <a:r>
              <a:rPr sz="1900" b="0" i="0">
                <a:solidFill>
                  <a:srgbClr val="3A4A5A"/>
                </a:solidFill>
              </a:rPr>
              <a:t> — the initial state</a:t>
            </a:r>
          </a:p>
          <a:p>
            <a:pPr marL="566928" indent="-256032">
              <a:spcAft>
                <a:spcPts val="855"/>
              </a:spcAft>
              <a:buClr>
                <a:srgbClr val="6B7B8C"/>
              </a:buClr>
              <a:buSzPct val="100000"/>
              <a:buFont typeface="Arial"/>
              <a:buChar char="–"/>
            </a:pPr>
            <a:r>
              <a:rPr sz="1900" b="1" i="0">
                <a:solidFill>
                  <a:srgbClr val="3A4A5A"/>
                </a:solidFill>
              </a:rPr>
              <a:t>fulfilled</a:t>
            </a:r>
            <a:r>
              <a:rPr sz="1900" b="0" i="0">
                <a:solidFill>
                  <a:srgbClr val="3A4A5A"/>
                </a:solidFill>
              </a:rPr>
              <a:t> — the operation succeeded, with a value</a:t>
            </a:r>
          </a:p>
          <a:p>
            <a:pPr marL="566928" indent="-256032">
              <a:spcAft>
                <a:spcPts val="855"/>
              </a:spcAft>
              <a:buClr>
                <a:srgbClr val="6B7B8C"/>
              </a:buClr>
              <a:buSzPct val="100000"/>
              <a:buFont typeface="Arial"/>
              <a:buChar char="–"/>
            </a:pPr>
            <a:r>
              <a:rPr sz="1900" b="1" i="0">
                <a:solidFill>
                  <a:srgbClr val="3A4A5A"/>
                </a:solidFill>
              </a:rPr>
              <a:t>rejected</a:t>
            </a:r>
            <a:r>
              <a:rPr sz="1900" b="0" i="0">
                <a:solidFill>
                  <a:srgbClr val="3A4A5A"/>
                </a:solidFill>
              </a:rPr>
              <a:t> — the operation failed, with a reason (an error)</a:t>
            </a:r>
          </a:p>
          <a:p>
            <a:pPr marL="274320" indent="-256032">
              <a:spcAft>
                <a:spcPts val="990"/>
              </a:spcAft>
              <a:buClr>
                <a:srgbClr val="42B883"/>
              </a:buClr>
              <a:buSzPct val="100000"/>
              <a:buFont typeface="Arial"/>
              <a:buChar char="•"/>
            </a:pPr>
            <a:r>
              <a:rPr sz="2200" b="0" i="0">
                <a:solidFill>
                  <a:srgbClr val="1F2A36"/>
                </a:solidFill>
              </a:rPr>
              <a:t>Once fulfilled or rejected, it's </a:t>
            </a:r>
            <a:r>
              <a:rPr sz="2200" b="1" i="0">
                <a:solidFill>
                  <a:srgbClr val="1F2A36"/>
                </a:solidFill>
              </a:rPr>
              <a:t>settled</a:t>
            </a:r>
            <a:r>
              <a:rPr sz="2200" b="0" i="0">
                <a:solidFill>
                  <a:srgbClr val="1F2A36"/>
                </a:solidFill>
              </a:rPr>
              <a:t> and never changes</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302</a:t>
            </a:fld>
            <a:endParaRPr lang="en-US" sz="900">
              <a:solidFill>
                <a:srgbClr val="9AA7B4"/>
              </a:solidFill>
            </a:endParaRPr>
          </a:p>
        </p:txBody>
      </p:sp>
    </p:spTree>
    <p:extLst>
      <p:ext uri="{BB962C8B-B14F-4D97-AF65-F5344CB8AC3E}">
        <p14:creationId xmlns:p14="http://schemas.microsoft.com/office/powerpoint/2010/main" val="1257877933"/>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Promises vs. Event Listeners</a:t>
            </a:r>
          </a:p>
        </p:txBody>
      </p:sp>
      <p:sp>
        <p:nvSpPr>
          <p:cNvPr id="3" name="Body"/>
          <p:cNvSpPr txBox="1"/>
          <p:nvPr/>
        </p:nvSpPr>
        <p:spPr>
          <a:xfrm>
            <a:off x="457200" y="1261872"/>
            <a:ext cx="8229600" cy="2117090"/>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Event listeners are good for things that can happen </a:t>
            </a:r>
            <a:r>
              <a:rPr sz="2200" b="1" i="0">
                <a:solidFill>
                  <a:srgbClr val="1F2A36"/>
                </a:solidFill>
              </a:rPr>
              <a:t>many times</a:t>
            </a:r>
            <a:r>
              <a:rPr sz="2200" b="0" i="0">
                <a:solidFill>
                  <a:srgbClr val="1F2A36"/>
                </a:solidFill>
              </a:rPr>
              <a:t> to one object (clicks, keypresses)</a:t>
            </a:r>
          </a:p>
          <a:p>
            <a:pPr marL="274320" indent="-256032">
              <a:spcAft>
                <a:spcPts val="990"/>
              </a:spcAft>
              <a:buClr>
                <a:srgbClr val="42B883"/>
              </a:buClr>
              <a:buSzPct val="100000"/>
              <a:buFont typeface="Arial"/>
              <a:buChar char="•"/>
            </a:pPr>
            <a:r>
              <a:rPr sz="2200" b="0" i="0">
                <a:solidFill>
                  <a:srgbClr val="1F2A36"/>
                </a:solidFill>
              </a:rPr>
              <a:t>A promise can only succeed or fail </a:t>
            </a:r>
            <a:r>
              <a:rPr sz="2200" b="1" i="0">
                <a:solidFill>
                  <a:srgbClr val="1F2A36"/>
                </a:solidFill>
              </a:rPr>
              <a:t>once</a:t>
            </a:r>
          </a:p>
          <a:p>
            <a:pPr marL="274320" indent="-256032">
              <a:spcAft>
                <a:spcPts val="990"/>
              </a:spcAft>
              <a:buClr>
                <a:srgbClr val="42B883"/>
              </a:buClr>
              <a:buSzPct val="100000"/>
              <a:buFont typeface="Arial"/>
              <a:buChar char="•"/>
            </a:pPr>
            <a:r>
              <a:rPr sz="2200" b="0" i="0">
                <a:solidFill>
                  <a:srgbClr val="1F2A36"/>
                </a:solidFill>
              </a:rPr>
              <a:t>If a promise has already settled, you can still react to it at any time</a:t>
            </a:r>
          </a:p>
        </p:txBody>
      </p:sp>
      <p:sp>
        <p:nvSpPr>
          <p:cNvPr id="4" name="Code"/>
          <p:cNvSpPr/>
          <p:nvPr/>
        </p:nvSpPr>
        <p:spPr>
          <a:xfrm>
            <a:off x="457200" y="3433826"/>
            <a:ext cx="8229600" cy="60756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2000">
                <a:solidFill>
                  <a:srgbClr val="24292F"/>
                </a:solidFill>
                <a:latin typeface="Consolas"/>
              </a:rPr>
              <a:t>readJSON(filename).then(onSuccess, onFailure)</a:t>
            </a:r>
          </a:p>
        </p:txBody>
      </p:sp>
      <p:sp>
        <p:nvSpPr>
          <p:cNvPr id="5"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6"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303</a:t>
            </a:fld>
            <a:endParaRPr lang="en-US" sz="900">
              <a:solidFill>
                <a:srgbClr val="9AA7B4"/>
              </a:solidFill>
            </a:endParaRPr>
          </a:p>
        </p:txBody>
      </p:sp>
    </p:spTree>
    <p:extLst>
      <p:ext uri="{BB962C8B-B14F-4D97-AF65-F5344CB8AC3E}">
        <p14:creationId xmlns:p14="http://schemas.microsoft.com/office/powerpoint/2010/main" val="3977580649"/>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Why Use Promises?</a:t>
            </a:r>
          </a:p>
        </p:txBody>
      </p:sp>
      <p:sp>
        <p:nvSpPr>
          <p:cNvPr id="3" name="Body"/>
          <p:cNvSpPr txBox="1"/>
          <p:nvPr/>
        </p:nvSpPr>
        <p:spPr>
          <a:xfrm>
            <a:off x="457200" y="1261872"/>
            <a:ext cx="8229600" cy="3750944"/>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1" i="0">
                <a:solidFill>
                  <a:srgbClr val="1F2A36"/>
                </a:solidFill>
              </a:rPr>
              <a:t>Chain</a:t>
            </a:r>
            <a:r>
              <a:rPr sz="2200" b="0" i="0">
                <a:solidFill>
                  <a:srgbClr val="1F2A36"/>
                </a:solidFill>
              </a:rPr>
              <a:t> them to transform values or run more async steps in order</a:t>
            </a:r>
          </a:p>
          <a:p>
            <a:pPr marL="274320" indent="-256032">
              <a:spcAft>
                <a:spcPts val="990"/>
              </a:spcAft>
              <a:buClr>
                <a:srgbClr val="42B883"/>
              </a:buClr>
              <a:buSzPct val="100000"/>
              <a:buFont typeface="Arial"/>
              <a:buChar char="•"/>
            </a:pPr>
            <a:r>
              <a:rPr sz="2200" b="1" i="0">
                <a:solidFill>
                  <a:srgbClr val="1F2A36"/>
                </a:solidFill>
              </a:rPr>
              <a:t>Cleaner code</a:t>
            </a:r>
            <a:r>
              <a:rPr sz="2200" b="0" i="0">
                <a:solidFill>
                  <a:srgbClr val="1F2A36"/>
                </a:solidFill>
              </a:rPr>
              <a:t>: one </a:t>
            </a:r>
            <a:r>
              <a:rPr sz="2090" b="0" i="0">
                <a:solidFill>
                  <a:srgbClr val="8A2B52"/>
                </a:solidFill>
                <a:latin typeface="Consolas"/>
              </a:rPr>
              <a:t>.catch()</a:t>
            </a:r>
            <a:r>
              <a:rPr sz="2200" b="0" i="0">
                <a:solidFill>
                  <a:srgbClr val="1F2A36"/>
                </a:solidFill>
              </a:rPr>
              <a:t> handles errors for the whole chain</a:t>
            </a:r>
          </a:p>
          <a:p>
            <a:pPr marL="274320" indent="-256032">
              <a:spcAft>
                <a:spcPts val="990"/>
              </a:spcAft>
              <a:buClr>
                <a:srgbClr val="42B883"/>
              </a:buClr>
              <a:buSzPct val="100000"/>
              <a:buFont typeface="Arial"/>
              <a:buChar char="•"/>
            </a:pPr>
            <a:r>
              <a:rPr sz="2200" b="0" i="0">
                <a:solidFill>
                  <a:srgbClr val="1F2A36"/>
                </a:solidFill>
              </a:rPr>
              <a:t>Avoid the problems of deeply nested callbacks:</a:t>
            </a:r>
          </a:p>
          <a:p>
            <a:pPr marL="566928" indent="-256032">
              <a:spcAft>
                <a:spcPts val="855"/>
              </a:spcAft>
              <a:buClr>
                <a:srgbClr val="6B7B8C"/>
              </a:buClr>
              <a:buSzPct val="100000"/>
              <a:buFont typeface="Arial"/>
              <a:buChar char="–"/>
            </a:pPr>
            <a:r>
              <a:rPr sz="1900" b="0" i="0">
                <a:solidFill>
                  <a:srgbClr val="3A4A5A"/>
                </a:solidFill>
              </a:rPr>
              <a:t>"callback hell", the "pyramid of doom", the "Christmas tree"</a:t>
            </a:r>
          </a:p>
          <a:p>
            <a:pPr marL="274320" indent="-256032">
              <a:spcAft>
                <a:spcPts val="990"/>
              </a:spcAft>
              <a:buClr>
                <a:srgbClr val="42B883"/>
              </a:buClr>
              <a:buSzPct val="100000"/>
              <a:buFont typeface="Arial"/>
              <a:buChar char="•"/>
            </a:pPr>
            <a:r>
              <a:rPr sz="2200" b="1" i="0">
                <a:solidFill>
                  <a:srgbClr val="1F2A36"/>
                </a:solidFill>
              </a:rPr>
              <a:t>Combine</a:t>
            </a:r>
            <a:r>
              <a:rPr sz="2200" b="0" i="0">
                <a:solidFill>
                  <a:srgbClr val="1F2A36"/>
                </a:solidFill>
              </a:rPr>
              <a:t> them: </a:t>
            </a:r>
            <a:r>
              <a:rPr sz="2090" b="0" i="0">
                <a:solidFill>
                  <a:srgbClr val="8A2B52"/>
                </a:solidFill>
                <a:latin typeface="Consolas"/>
              </a:rPr>
              <a:t>Promise.all</a:t>
            </a:r>
            <a:r>
              <a:rPr sz="2200" b="0" i="0">
                <a:solidFill>
                  <a:srgbClr val="1F2A36"/>
                </a:solidFill>
              </a:rPr>
              <a:t>, </a:t>
            </a:r>
            <a:r>
              <a:rPr sz="2090" b="0" i="0">
                <a:solidFill>
                  <a:srgbClr val="8A2B52"/>
                </a:solidFill>
                <a:latin typeface="Consolas"/>
              </a:rPr>
              <a:t>Promise.allSettled</a:t>
            </a:r>
            <a:r>
              <a:rPr sz="2200" b="0" i="0">
                <a:solidFill>
                  <a:srgbClr val="1F2A36"/>
                </a:solidFill>
              </a:rPr>
              <a:t>, </a:t>
            </a:r>
            <a:r>
              <a:rPr sz="2090" b="0" i="0">
                <a:solidFill>
                  <a:srgbClr val="8A2B52"/>
                </a:solidFill>
                <a:latin typeface="Consolas"/>
              </a:rPr>
              <a:t>Promise.race</a:t>
            </a:r>
            <a:r>
              <a:rPr sz="2200" b="0" i="0">
                <a:solidFill>
                  <a:srgbClr val="1F2A36"/>
                </a:solidFill>
              </a:rPr>
              <a:t>, </a:t>
            </a:r>
            <a:r>
              <a:rPr sz="2090" b="0" i="0">
                <a:solidFill>
                  <a:srgbClr val="8A2B52"/>
                </a:solidFill>
                <a:latin typeface="Consolas"/>
              </a:rPr>
              <a:t>Promise.any</a:t>
            </a:r>
          </a:p>
          <a:p>
            <a:pPr marL="274320" indent="-256032">
              <a:spcAft>
                <a:spcPts val="990"/>
              </a:spcAft>
              <a:buClr>
                <a:srgbClr val="42B883"/>
              </a:buClr>
              <a:buSzPct val="100000"/>
              <a:buFont typeface="Arial"/>
              <a:buChar char="•"/>
            </a:pPr>
            <a:r>
              <a:rPr sz="2200" b="0" i="0">
                <a:solidFill>
                  <a:srgbClr val="1F2A36"/>
                </a:solidFill>
              </a:rPr>
              <a:t>They're the foundation of </a:t>
            </a:r>
            <a:r>
              <a:rPr sz="2090" b="0" i="0">
                <a:solidFill>
                  <a:srgbClr val="8A2B52"/>
                </a:solidFill>
                <a:latin typeface="Consolas"/>
              </a:rPr>
              <a:t>async</a:t>
            </a:r>
            <a:r>
              <a:rPr sz="2200" b="0" i="0">
                <a:solidFill>
                  <a:srgbClr val="1F2A36"/>
                </a:solidFill>
              </a:rPr>
              <a:t> / </a:t>
            </a:r>
            <a:r>
              <a:rPr sz="2090" b="0" i="0">
                <a:solidFill>
                  <a:srgbClr val="8A2B52"/>
                </a:solidFill>
                <a:latin typeface="Consolas"/>
              </a:rPr>
              <a:t>await</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304</a:t>
            </a:fld>
            <a:endParaRPr lang="en-US" sz="900">
              <a:solidFill>
                <a:srgbClr val="9AA7B4"/>
              </a:solidFill>
            </a:endParaRPr>
          </a:p>
        </p:txBody>
      </p:sp>
    </p:spTree>
    <p:extLst>
      <p:ext uri="{BB962C8B-B14F-4D97-AF65-F5344CB8AC3E}">
        <p14:creationId xmlns:p14="http://schemas.microsoft.com/office/powerpoint/2010/main" val="267094877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77240"/>
            <a:ext cx="8229600" cy="777240"/>
          </a:xfrm>
        </p:spPr>
        <p:txBody>
          <a:bodyPr wrap="square" lIns="0" tIns="0" rIns="0" bIns="0" anchor="ctr">
            <a:noAutofit/>
          </a:bodyPr>
          <a:lstStyle/>
          <a:p>
            <a:pPr marL="0" indent="0" algn="l">
              <a:buNone/>
            </a:pPr>
            <a:r>
              <a:rPr sz="3000" b="1" i="0" cap="none">
                <a:solidFill>
                  <a:srgbClr val="2C3E50"/>
                </a:solidFill>
              </a:rPr>
              <a:t>Callback vs. Promise</a:t>
            </a:r>
            <a:endParaRPr lang="en-US"/>
          </a:p>
        </p:txBody>
      </p:sp>
      <p:sp>
        <p:nvSpPr>
          <p:cNvPr id="3" name="Chip DEMO"/>
          <p:cNvSpPr/>
          <p:nvPr/>
        </p:nvSpPr>
        <p:spPr>
          <a:xfrm>
            <a:off x="457200" y="384048"/>
            <a:ext cx="702056" cy="292608"/>
          </a:xfrm>
          <a:prstGeom prst="roundRect">
            <a:avLst>
              <a:gd name="adj" fmla="val 50000"/>
            </a:avLst>
          </a:prstGeom>
          <a:solidFill>
            <a:srgbClr val="35495E"/>
          </a:solidFill>
          <a:ln>
            <a:noFill/>
          </a:ln>
        </p:spPr>
        <p:txBody>
          <a:bodyPr wrap="none" lIns="54864" tIns="0" rIns="54864" bIns="0" rtlCol="0" anchor="ctr"/>
          <a:lstStyle/>
          <a:p>
            <a:pPr algn="ctr"/>
            <a:r>
              <a:rPr sz="1300" b="1">
                <a:solidFill>
                  <a:srgbClr val="FFFFFF"/>
                </a:solidFill>
              </a:rPr>
              <a:t>DEMO</a:t>
            </a:r>
          </a:p>
        </p:txBody>
      </p:sp>
      <p:sp>
        <p:nvSpPr>
          <p:cNvPr id="4" name="Demo Path"/>
          <p:cNvSpPr txBox="1"/>
          <p:nvPr/>
        </p:nvSpPr>
        <p:spPr>
          <a:xfrm>
            <a:off x="457200" y="1691640"/>
            <a:ext cx="8229600" cy="365760"/>
          </a:xfrm>
          <a:prstGeom prst="rect">
            <a:avLst/>
          </a:prstGeom>
          <a:noFill/>
        </p:spPr>
        <p:txBody>
          <a:bodyPr wrap="square" lIns="0" tIns="0" rIns="0" bIns="0">
            <a:noAutofit/>
          </a:bodyPr>
          <a:lstStyle/>
          <a:p>
            <a:r>
              <a:rPr sz="1600" b="1" i="0">
                <a:solidFill>
                  <a:srgbClr val="6B7B8C"/>
                </a:solidFill>
              </a:rPr>
              <a:t>Files: </a:t>
            </a:r>
            <a:r>
              <a:rPr sz="1520" b="0" i="0">
                <a:solidFill>
                  <a:srgbClr val="35495E"/>
                </a:solidFill>
                <a:latin typeface="Consolas"/>
              </a:rPr>
              <a:t>demos/callback-vs-promise</a:t>
            </a:r>
          </a:p>
        </p:txBody>
      </p:sp>
      <p:sp>
        <p:nvSpPr>
          <p:cNvPr id="5" name="Body"/>
          <p:cNvSpPr txBox="1"/>
          <p:nvPr/>
        </p:nvSpPr>
        <p:spPr>
          <a:xfrm>
            <a:off x="457200" y="2148840"/>
            <a:ext cx="8229600" cy="480059"/>
          </a:xfrm>
          <a:prstGeom prst="rect">
            <a:avLst/>
          </a:prstGeom>
          <a:noFill/>
        </p:spPr>
        <p:txBody>
          <a:bodyPr wrap="square" lIns="0" tIns="0" rIns="0" bIns="0">
            <a:noAutofit/>
          </a:bodyPr>
          <a:lstStyle/>
          <a:p>
            <a:pPr marL="0" indent="0">
              <a:spcAft>
                <a:spcPts val="700"/>
              </a:spcAft>
              <a:buNone/>
            </a:pPr>
            <a:r>
              <a:rPr sz="2000" b="1" i="0">
                <a:solidFill>
                  <a:srgbClr val="2E8B62"/>
                </a:solidFill>
              </a:rPr>
              <a:t>Callback</a:t>
            </a:r>
          </a:p>
        </p:txBody>
      </p:sp>
      <p:sp>
        <p:nvSpPr>
          <p:cNvPr id="6" name="Code"/>
          <p:cNvSpPr/>
          <p:nvPr/>
        </p:nvSpPr>
        <p:spPr>
          <a:xfrm>
            <a:off x="457200" y="2683764"/>
            <a:ext cx="8229600" cy="1552448"/>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import</a:t>
            </a:r>
            <a:r>
              <a:rPr sz="1600">
                <a:solidFill>
                  <a:srgbClr val="24292F"/>
                </a:solidFill>
                <a:latin typeface="Consolas"/>
              </a:rPr>
              <a:t> fs </a:t>
            </a:r>
            <a:r>
              <a:rPr sz="1600">
                <a:solidFill>
                  <a:srgbClr val="CF222E"/>
                </a:solidFill>
                <a:latin typeface="Consolas"/>
              </a:rPr>
              <a:t>from</a:t>
            </a:r>
            <a:r>
              <a:rPr sz="1600">
                <a:solidFill>
                  <a:srgbClr val="24292F"/>
                </a:solidFill>
                <a:latin typeface="Consolas"/>
              </a:rPr>
              <a:t> </a:t>
            </a:r>
            <a:r>
              <a:rPr sz="1600">
                <a:solidFill>
                  <a:srgbClr val="0A3069"/>
                </a:solidFill>
                <a:latin typeface="Consolas"/>
              </a:rPr>
              <a:t>'node:fs'</a:t>
            </a:r>
          </a:p>
          <a:p>
            <a:pPr marL="0" indent="0" algn="l">
              <a:lnSpc>
                <a:spcPct val="100000"/>
              </a:lnSpc>
              <a:buNone/>
            </a:pPr>
            <a:r>
              <a:rPr sz="1600">
                <a:solidFill>
                  <a:srgbClr val="24292F"/>
                </a:solidFill>
                <a:latin typeface="Consolas"/>
              </a:rPr>
              <a:t>fs.readFile(</a:t>
            </a:r>
            <a:r>
              <a:rPr sz="1600">
                <a:solidFill>
                  <a:srgbClr val="0A3069"/>
                </a:solidFill>
                <a:latin typeface="Consolas"/>
              </a:rPr>
              <a:t>'text.txt'</a:t>
            </a:r>
            <a:r>
              <a:rPr sz="1600">
                <a:solidFill>
                  <a:srgbClr val="24292F"/>
                </a:solidFill>
                <a:latin typeface="Consolas"/>
              </a:rPr>
              <a:t>, (err, file) =&gt; {</a:t>
            </a:r>
          </a:p>
          <a:p>
            <a:pPr marL="0" indent="0" algn="l">
              <a:lnSpc>
                <a:spcPct val="100000"/>
              </a:lnSpc>
              <a:buNone/>
            </a:pPr>
            <a:r>
              <a:rPr sz="1600">
                <a:solidFill>
                  <a:srgbClr val="24292F"/>
                </a:solidFill>
                <a:latin typeface="Consolas"/>
              </a:rPr>
              <a:t>  </a:t>
            </a:r>
            <a:r>
              <a:rPr sz="1600">
                <a:solidFill>
                  <a:srgbClr val="CF222E"/>
                </a:solidFill>
                <a:latin typeface="Consolas"/>
              </a:rPr>
              <a:t>if</a:t>
            </a:r>
            <a:r>
              <a:rPr sz="1600">
                <a:solidFill>
                  <a:srgbClr val="24292F"/>
                </a:solidFill>
                <a:latin typeface="Consolas"/>
              </a:rPr>
              <a:t> (err) console.error(err)</a:t>
            </a:r>
          </a:p>
          <a:p>
            <a:pPr marL="0" indent="0" algn="l">
              <a:lnSpc>
                <a:spcPct val="100000"/>
              </a:lnSpc>
              <a:buNone/>
            </a:pPr>
            <a:r>
              <a:rPr sz="1600">
                <a:solidFill>
                  <a:srgbClr val="24292F"/>
                </a:solidFill>
                <a:latin typeface="Consolas"/>
              </a:rPr>
              <a:t>  </a:t>
            </a:r>
            <a:r>
              <a:rPr sz="1600">
                <a:solidFill>
                  <a:srgbClr val="CF222E"/>
                </a:solidFill>
                <a:latin typeface="Consolas"/>
              </a:rPr>
              <a:t>else</a:t>
            </a:r>
            <a:r>
              <a:rPr sz="1600">
                <a:solidFill>
                  <a:srgbClr val="24292F"/>
                </a:solidFill>
                <a:latin typeface="Consolas"/>
              </a:rPr>
              <a:t> console.log(file.toString())</a:t>
            </a:r>
          </a:p>
          <a:p>
            <a:pPr marL="0" indent="0" algn="l">
              <a:lnSpc>
                <a:spcPct val="100000"/>
              </a:lnSpc>
              <a:buNone/>
            </a:pPr>
            <a:r>
              <a:rPr sz="1600">
                <a:solidFill>
                  <a:srgbClr val="24292F"/>
                </a:solidFill>
                <a:latin typeface="Consolas"/>
              </a:rPr>
              <a:t>})</a:t>
            </a:r>
          </a:p>
        </p:txBody>
      </p:sp>
      <p:sp>
        <p:nvSpPr>
          <p:cNvPr id="7" name="Body"/>
          <p:cNvSpPr txBox="1"/>
          <p:nvPr/>
        </p:nvSpPr>
        <p:spPr>
          <a:xfrm>
            <a:off x="457200" y="4382516"/>
            <a:ext cx="8229600" cy="480059"/>
          </a:xfrm>
          <a:prstGeom prst="rect">
            <a:avLst/>
          </a:prstGeom>
          <a:noFill/>
        </p:spPr>
        <p:txBody>
          <a:bodyPr wrap="square" lIns="0" tIns="0" rIns="0" bIns="0">
            <a:noAutofit/>
          </a:bodyPr>
          <a:lstStyle/>
          <a:p>
            <a:pPr marL="0" indent="0">
              <a:spcAft>
                <a:spcPts val="700"/>
              </a:spcAft>
              <a:buNone/>
            </a:pPr>
            <a:r>
              <a:rPr sz="2000" b="1" i="0">
                <a:solidFill>
                  <a:srgbClr val="2E8B62"/>
                </a:solidFill>
              </a:rPr>
              <a:t>Promise</a:t>
            </a:r>
          </a:p>
        </p:txBody>
      </p:sp>
      <p:sp>
        <p:nvSpPr>
          <p:cNvPr id="8" name="Code"/>
          <p:cNvSpPr/>
          <p:nvPr/>
        </p:nvSpPr>
        <p:spPr>
          <a:xfrm>
            <a:off x="457200" y="4917440"/>
            <a:ext cx="8229600" cy="130048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600">
                <a:solidFill>
                  <a:srgbClr val="CF222E"/>
                </a:solidFill>
                <a:latin typeface="Consolas"/>
              </a:rPr>
              <a:t>import</a:t>
            </a:r>
            <a:r>
              <a:rPr sz="1600">
                <a:solidFill>
                  <a:srgbClr val="24292F"/>
                </a:solidFill>
                <a:latin typeface="Consolas"/>
              </a:rPr>
              <a:t> { readFile } </a:t>
            </a:r>
            <a:r>
              <a:rPr sz="1600">
                <a:solidFill>
                  <a:srgbClr val="CF222E"/>
                </a:solidFill>
                <a:latin typeface="Consolas"/>
              </a:rPr>
              <a:t>from</a:t>
            </a:r>
            <a:r>
              <a:rPr sz="1600">
                <a:solidFill>
                  <a:srgbClr val="24292F"/>
                </a:solidFill>
                <a:latin typeface="Consolas"/>
              </a:rPr>
              <a:t> </a:t>
            </a:r>
            <a:r>
              <a:rPr sz="1600">
                <a:solidFill>
                  <a:srgbClr val="0A3069"/>
                </a:solidFill>
                <a:latin typeface="Consolas"/>
              </a:rPr>
              <a:t>'node:fs/promises'</a:t>
            </a:r>
          </a:p>
          <a:p>
            <a:pPr marL="0" indent="0" algn="l">
              <a:lnSpc>
                <a:spcPct val="100000"/>
              </a:lnSpc>
              <a:buNone/>
            </a:pPr>
            <a:r>
              <a:rPr sz="1600">
                <a:solidFill>
                  <a:srgbClr val="24292F"/>
                </a:solidFill>
                <a:latin typeface="Consolas"/>
              </a:rPr>
              <a:t>readFile(</a:t>
            </a:r>
            <a:r>
              <a:rPr sz="1600">
                <a:solidFill>
                  <a:srgbClr val="0A3069"/>
                </a:solidFill>
                <a:latin typeface="Consolas"/>
              </a:rPr>
              <a:t>'text.txt'</a:t>
            </a:r>
            <a:r>
              <a:rPr sz="1600">
                <a:solidFill>
                  <a:srgbClr val="24292F"/>
                </a:solidFill>
                <a:latin typeface="Consolas"/>
              </a:rPr>
              <a:t>)</a:t>
            </a:r>
          </a:p>
          <a:p>
            <a:pPr marL="0" indent="0" algn="l">
              <a:lnSpc>
                <a:spcPct val="100000"/>
              </a:lnSpc>
              <a:buNone/>
            </a:pPr>
            <a:r>
              <a:rPr sz="1600">
                <a:solidFill>
                  <a:srgbClr val="24292F"/>
                </a:solidFill>
                <a:latin typeface="Consolas"/>
              </a:rPr>
              <a:t>  .then((data) =&gt; console.log(data.toString()))</a:t>
            </a:r>
          </a:p>
          <a:p>
            <a:pPr marL="0" indent="0" algn="l">
              <a:lnSpc>
                <a:spcPct val="100000"/>
              </a:lnSpc>
              <a:buNone/>
            </a:pPr>
            <a:r>
              <a:rPr sz="1600">
                <a:solidFill>
                  <a:srgbClr val="24292F"/>
                </a:solidFill>
                <a:latin typeface="Consolas"/>
              </a:rPr>
              <a:t>  .catch(console.error)</a:t>
            </a:r>
          </a:p>
        </p:txBody>
      </p:sp>
      <p:sp>
        <p:nvSpPr>
          <p:cNvPr id="9"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10"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305</a:t>
            </a:fld>
            <a:endParaRPr lang="en-US" sz="900">
              <a:solidFill>
                <a:srgbClr val="9AA7B4"/>
              </a:solidFill>
            </a:endParaRPr>
          </a:p>
        </p:txBody>
      </p:sp>
    </p:spTree>
    <p:extLst>
      <p:ext uri="{BB962C8B-B14F-4D97-AF65-F5344CB8AC3E}">
        <p14:creationId xmlns:p14="http://schemas.microsoft.com/office/powerpoint/2010/main" val="3296574520"/>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Creating Promises</a:t>
            </a:r>
          </a:p>
        </p:txBody>
      </p:sp>
      <p:sp>
        <p:nvSpPr>
          <p:cNvPr id="3" name="Body"/>
          <p:cNvSpPr txBox="1"/>
          <p:nvPr/>
        </p:nvSpPr>
        <p:spPr>
          <a:xfrm>
            <a:off x="457200" y="1261872"/>
            <a:ext cx="8229600" cy="546862"/>
          </a:xfrm>
          <a:prstGeom prst="rect">
            <a:avLst/>
          </a:prstGeom>
          <a:noFill/>
        </p:spPr>
        <p:txBody>
          <a:bodyPr wrap="square" lIns="0" tIns="0" rIns="0" bIns="0">
            <a:noAutofit/>
          </a:bodyPr>
          <a:lstStyle/>
          <a:p>
            <a:pPr marL="0" indent="0">
              <a:spcAft>
                <a:spcPts val="990"/>
              </a:spcAft>
              <a:buNone/>
            </a:pPr>
            <a:r>
              <a:rPr sz="2200" b="0" i="0">
                <a:solidFill>
                  <a:srgbClr val="1F2A36"/>
                </a:solidFill>
              </a:rPr>
              <a:t>Wrap a callback-based API in a </a:t>
            </a:r>
            <a:r>
              <a:rPr sz="2090" b="0" i="0">
                <a:solidFill>
                  <a:srgbClr val="8A2B52"/>
                </a:solidFill>
                <a:latin typeface="Consolas"/>
              </a:rPr>
              <a:t>Promise</a:t>
            </a:r>
            <a:r>
              <a:rPr sz="2200" b="0" i="0">
                <a:solidFill>
                  <a:srgbClr val="1F2A36"/>
                </a:solidFill>
              </a:rPr>
              <a:t>:</a:t>
            </a:r>
          </a:p>
        </p:txBody>
      </p:sp>
      <p:sp>
        <p:nvSpPr>
          <p:cNvPr id="4" name="Code"/>
          <p:cNvSpPr/>
          <p:nvPr/>
        </p:nvSpPr>
        <p:spPr>
          <a:xfrm>
            <a:off x="457200" y="1863597"/>
            <a:ext cx="8229600" cy="3127247"/>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500">
                <a:solidFill>
                  <a:srgbClr val="CF222E"/>
                </a:solidFill>
                <a:latin typeface="Consolas"/>
              </a:rPr>
              <a:t>import</a:t>
            </a:r>
            <a:r>
              <a:rPr sz="1500">
                <a:solidFill>
                  <a:srgbClr val="24292F"/>
                </a:solidFill>
                <a:latin typeface="Consolas"/>
              </a:rPr>
              <a:t> fs </a:t>
            </a:r>
            <a:r>
              <a:rPr sz="1500">
                <a:solidFill>
                  <a:srgbClr val="CF222E"/>
                </a:solidFill>
                <a:latin typeface="Consolas"/>
              </a:rPr>
              <a:t>from</a:t>
            </a:r>
            <a:r>
              <a:rPr sz="1500">
                <a:solidFill>
                  <a:srgbClr val="24292F"/>
                </a:solidFill>
                <a:latin typeface="Consolas"/>
              </a:rPr>
              <a:t> </a:t>
            </a:r>
            <a:r>
              <a:rPr sz="1500">
                <a:solidFill>
                  <a:srgbClr val="0A3069"/>
                </a:solidFill>
                <a:latin typeface="Consolas"/>
              </a:rPr>
              <a:t>'node:fs'</a:t>
            </a:r>
          </a:p>
          <a:p>
            <a:pPr marL="0" indent="0" algn="l">
              <a:lnSpc>
                <a:spcPct val="100000"/>
              </a:lnSpc>
              <a:buNone/>
            </a:pPr>
            <a:r>
              <a:rPr sz="1500">
                <a:latin typeface="Consolas"/>
              </a:rPr>
              <a:t> </a:t>
            </a:r>
          </a:p>
          <a:p>
            <a:pPr marL="0" indent="0" algn="l">
              <a:lnSpc>
                <a:spcPct val="100000"/>
              </a:lnSpc>
              <a:buNone/>
            </a:pPr>
            <a:r>
              <a:rPr sz="1500">
                <a:solidFill>
                  <a:srgbClr val="CF222E"/>
                </a:solidFill>
                <a:latin typeface="Consolas"/>
              </a:rPr>
              <a:t>function</a:t>
            </a:r>
            <a:r>
              <a:rPr sz="1500">
                <a:solidFill>
                  <a:srgbClr val="24292F"/>
                </a:solidFill>
                <a:latin typeface="Consolas"/>
              </a:rPr>
              <a:t> readFileAsync(file, encoding) {</a:t>
            </a:r>
          </a:p>
          <a:p>
            <a:pPr marL="0" indent="0" algn="l">
              <a:lnSpc>
                <a:spcPct val="100000"/>
              </a:lnSpc>
              <a:buNone/>
            </a:pPr>
            <a:r>
              <a:rPr sz="1500">
                <a:solidFill>
                  <a:srgbClr val="24292F"/>
                </a:solidFill>
                <a:latin typeface="Consolas"/>
              </a:rPr>
              <a:t>  </a:t>
            </a:r>
            <a:r>
              <a:rPr sz="1500">
                <a:solidFill>
                  <a:srgbClr val="CF222E"/>
                </a:solidFill>
                <a:latin typeface="Consolas"/>
              </a:rPr>
              <a:t>return</a:t>
            </a:r>
            <a:r>
              <a:rPr sz="1500">
                <a:solidFill>
                  <a:srgbClr val="24292F"/>
                </a:solidFill>
                <a:latin typeface="Consolas"/>
              </a:rPr>
              <a:t> </a:t>
            </a:r>
            <a:r>
              <a:rPr sz="1500">
                <a:solidFill>
                  <a:srgbClr val="CF222E"/>
                </a:solidFill>
                <a:latin typeface="Consolas"/>
              </a:rPr>
              <a:t>new</a:t>
            </a:r>
            <a:r>
              <a:rPr sz="1500">
                <a:solidFill>
                  <a:srgbClr val="24292F"/>
                </a:solidFill>
                <a:latin typeface="Consolas"/>
              </a:rPr>
              <a:t> Promise((resolve, reject) =&gt; {</a:t>
            </a:r>
          </a:p>
          <a:p>
            <a:pPr marL="0" indent="0" algn="l">
              <a:lnSpc>
                <a:spcPct val="100000"/>
              </a:lnSpc>
              <a:buNone/>
            </a:pPr>
            <a:r>
              <a:rPr sz="1500">
                <a:solidFill>
                  <a:srgbClr val="24292F"/>
                </a:solidFill>
                <a:latin typeface="Consolas"/>
              </a:rPr>
              <a:t>    fs.readFile(file, encoding, (err, data) =&gt; {</a:t>
            </a:r>
          </a:p>
          <a:p>
            <a:pPr marL="0" indent="0" algn="l">
              <a:lnSpc>
                <a:spcPct val="100000"/>
              </a:lnSpc>
              <a:buNone/>
            </a:pPr>
            <a:r>
              <a:rPr sz="1500">
                <a:solidFill>
                  <a:srgbClr val="24292F"/>
                </a:solidFill>
                <a:latin typeface="Consolas"/>
              </a:rPr>
              <a:t>      </a:t>
            </a:r>
            <a:r>
              <a:rPr sz="1500">
                <a:solidFill>
                  <a:srgbClr val="CF222E"/>
                </a:solidFill>
                <a:latin typeface="Consolas"/>
              </a:rPr>
              <a:t>if</a:t>
            </a:r>
            <a:r>
              <a:rPr sz="1500">
                <a:solidFill>
                  <a:srgbClr val="24292F"/>
                </a:solidFill>
                <a:latin typeface="Consolas"/>
              </a:rPr>
              <a:t> (err) </a:t>
            </a:r>
            <a:r>
              <a:rPr sz="1500">
                <a:solidFill>
                  <a:srgbClr val="CF222E"/>
                </a:solidFill>
                <a:latin typeface="Consolas"/>
              </a:rPr>
              <a:t>return</a:t>
            </a:r>
            <a:r>
              <a:rPr sz="1500">
                <a:solidFill>
                  <a:srgbClr val="24292F"/>
                </a:solidFill>
                <a:latin typeface="Consolas"/>
              </a:rPr>
              <a:t> reject(err)</a:t>
            </a:r>
          </a:p>
          <a:p>
            <a:pPr marL="0" indent="0" algn="l">
              <a:lnSpc>
                <a:spcPct val="100000"/>
              </a:lnSpc>
              <a:buNone/>
            </a:pPr>
            <a:r>
              <a:rPr sz="1500">
                <a:solidFill>
                  <a:srgbClr val="24292F"/>
                </a:solidFill>
                <a:latin typeface="Consolas"/>
              </a:rPr>
              <a:t>      resolve(data)</a:t>
            </a:r>
          </a:p>
          <a:p>
            <a:pPr marL="0" indent="0" algn="l">
              <a:lnSpc>
                <a:spcPct val="100000"/>
              </a:lnSpc>
              <a:buNone/>
            </a:pPr>
            <a:r>
              <a:rPr sz="1500">
                <a:solidFill>
                  <a:srgbClr val="24292F"/>
                </a:solidFill>
                <a:latin typeface="Consolas"/>
              </a:rPr>
              <a:t>    })</a:t>
            </a:r>
          </a:p>
          <a:p>
            <a:pPr marL="0" indent="0" algn="l">
              <a:lnSpc>
                <a:spcPct val="100000"/>
              </a:lnSpc>
              <a:buNone/>
            </a:pPr>
            <a:r>
              <a:rPr sz="1500">
                <a:solidFill>
                  <a:srgbClr val="24292F"/>
                </a:solidFill>
                <a:latin typeface="Consolas"/>
              </a:rPr>
              <a:t>  })</a:t>
            </a:r>
          </a:p>
          <a:p>
            <a:pPr marL="0" indent="0" algn="l">
              <a:lnSpc>
                <a:spcPct val="100000"/>
              </a:lnSpc>
              <a:buNone/>
            </a:pPr>
            <a:r>
              <a:rPr sz="1500">
                <a:solidFill>
                  <a:srgbClr val="24292F"/>
                </a:solidFill>
                <a:latin typeface="Consolas"/>
              </a:rPr>
              <a:t>}</a:t>
            </a:r>
          </a:p>
          <a:p>
            <a:pPr marL="0" indent="0" algn="l">
              <a:lnSpc>
                <a:spcPct val="100000"/>
              </a:lnSpc>
              <a:buNone/>
            </a:pPr>
            <a:r>
              <a:rPr sz="1500">
                <a:latin typeface="Consolas"/>
              </a:rPr>
              <a:t> </a:t>
            </a:r>
          </a:p>
          <a:p>
            <a:pPr marL="0" indent="0" algn="l">
              <a:lnSpc>
                <a:spcPct val="100000"/>
              </a:lnSpc>
              <a:buNone/>
            </a:pPr>
            <a:r>
              <a:rPr sz="1500">
                <a:solidFill>
                  <a:srgbClr val="24292F"/>
                </a:solidFill>
                <a:latin typeface="Consolas"/>
              </a:rPr>
              <a:t>readFileAsync(</a:t>
            </a:r>
            <a:r>
              <a:rPr sz="1500">
                <a:solidFill>
                  <a:srgbClr val="0A3069"/>
                </a:solidFill>
                <a:latin typeface="Consolas"/>
              </a:rPr>
              <a:t>'text.txt'</a:t>
            </a:r>
            <a:r>
              <a:rPr sz="1500">
                <a:solidFill>
                  <a:srgbClr val="24292F"/>
                </a:solidFill>
                <a:latin typeface="Consolas"/>
              </a:rPr>
              <a:t>, </a:t>
            </a:r>
            <a:r>
              <a:rPr sz="1500">
                <a:solidFill>
                  <a:srgbClr val="0A3069"/>
                </a:solidFill>
                <a:latin typeface="Consolas"/>
              </a:rPr>
              <a:t>'utf8'</a:t>
            </a:r>
            <a:r>
              <a:rPr sz="1500">
                <a:solidFill>
                  <a:srgbClr val="24292F"/>
                </a:solidFill>
                <a:latin typeface="Consolas"/>
              </a:rPr>
              <a:t>).then(console.log, console.error)</a:t>
            </a:r>
          </a:p>
        </p:txBody>
      </p:sp>
      <p:sp>
        <p:nvSpPr>
          <p:cNvPr id="5" name="Body"/>
          <p:cNvSpPr txBox="1"/>
          <p:nvPr/>
        </p:nvSpPr>
        <p:spPr>
          <a:xfrm>
            <a:off x="457200" y="5137150"/>
            <a:ext cx="8229600" cy="546862"/>
          </a:xfrm>
          <a:prstGeom prst="rect">
            <a:avLst/>
          </a:prstGeom>
          <a:noFill/>
        </p:spPr>
        <p:txBody>
          <a:bodyPr wrap="square" lIns="0" tIns="0" rIns="0" bIns="0">
            <a:noAutofit/>
          </a:bodyPr>
          <a:lstStyle/>
          <a:p>
            <a:pPr marL="274320" indent="-256032">
              <a:spcAft>
                <a:spcPts val="990"/>
              </a:spcAft>
              <a:buClr>
                <a:srgbClr val="42B883"/>
              </a:buClr>
              <a:buSzPct val="100000"/>
              <a:buFont typeface="Arial"/>
              <a:buChar char="•"/>
            </a:pPr>
            <a:r>
              <a:rPr sz="2200" b="0" i="0">
                <a:solidFill>
                  <a:srgbClr val="1F2A36"/>
                </a:solidFill>
              </a:rPr>
              <a:t>In Node, </a:t>
            </a:r>
            <a:r>
              <a:rPr sz="2090" b="0" i="0">
                <a:solidFill>
                  <a:srgbClr val="8A2B52"/>
                </a:solidFill>
                <a:latin typeface="Consolas"/>
              </a:rPr>
              <a:t>util.promisify()</a:t>
            </a:r>
            <a:r>
              <a:rPr sz="2200" b="0" i="0">
                <a:solidFill>
                  <a:srgbClr val="1F2A36"/>
                </a:solidFill>
              </a:rPr>
              <a:t> does this for you</a:t>
            </a:r>
          </a:p>
        </p:txBody>
      </p:sp>
      <p:sp>
        <p:nvSpPr>
          <p:cNvPr id="6"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7"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306</a:t>
            </a:fld>
            <a:endParaRPr lang="en-US" sz="900">
              <a:solidFill>
                <a:srgbClr val="9AA7B4"/>
              </a:solidFill>
            </a:endParaRPr>
          </a:p>
        </p:txBody>
      </p:sp>
    </p:spTree>
    <p:extLst>
      <p:ext uri="{BB962C8B-B14F-4D97-AF65-F5344CB8AC3E}">
        <p14:creationId xmlns:p14="http://schemas.microsoft.com/office/powerpoint/2010/main" val="367054854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Async / Await</a:t>
            </a:r>
          </a:p>
        </p:txBody>
      </p:sp>
      <p:sp>
        <p:nvSpPr>
          <p:cNvPr id="5" name="Body"/>
          <p:cNvSpPr txBox="1"/>
          <p:nvPr/>
        </p:nvSpPr>
        <p:spPr>
          <a:xfrm>
            <a:off x="457200" y="1261872"/>
            <a:ext cx="8229600" cy="876553"/>
          </a:xfrm>
          <a:prstGeom prst="rect">
            <a:avLst/>
          </a:prstGeom>
          <a:noFill/>
        </p:spPr>
        <p:txBody>
          <a:bodyPr wrap="square" lIns="0" tIns="0" rIns="0" bIns="0">
            <a:noAutofit/>
          </a:bodyPr>
          <a:lstStyle/>
          <a:p>
            <a:pPr marL="0" indent="0">
              <a:spcAft>
                <a:spcPts val="990"/>
              </a:spcAft>
              <a:buNone/>
            </a:pPr>
            <a:r>
              <a:rPr sz="2090" b="0" i="0">
                <a:solidFill>
                  <a:srgbClr val="8A2B52"/>
                </a:solidFill>
                <a:latin typeface="Consolas"/>
              </a:rPr>
              <a:t>async</a:t>
            </a:r>
            <a:r>
              <a:rPr sz="2200" b="0" i="0">
                <a:solidFill>
                  <a:srgbClr val="1F2A36"/>
                </a:solidFill>
              </a:rPr>
              <a:t> functions always return a promise; </a:t>
            </a:r>
            <a:r>
              <a:rPr sz="2090" b="0" i="0">
                <a:solidFill>
                  <a:srgbClr val="8A2B52"/>
                </a:solidFill>
                <a:latin typeface="Consolas"/>
              </a:rPr>
              <a:t>await</a:t>
            </a:r>
            <a:r>
              <a:rPr sz="2200" b="0" i="0">
                <a:solidFill>
                  <a:srgbClr val="1F2A36"/>
                </a:solidFill>
              </a:rPr>
              <a:t> pauses until a promise settles.</a:t>
            </a:r>
          </a:p>
        </p:txBody>
      </p:sp>
      <p:sp>
        <p:nvSpPr>
          <p:cNvPr id="6" name="Code"/>
          <p:cNvSpPr/>
          <p:nvPr/>
        </p:nvSpPr>
        <p:spPr>
          <a:xfrm>
            <a:off x="457200" y="2193290"/>
            <a:ext cx="8229600" cy="3820160"/>
          </a:xfrm>
          <a:prstGeom prst="roundRect">
            <a:avLst>
              <a:gd name="adj" fmla="val 3500"/>
            </a:avLst>
          </a:prstGeom>
          <a:solidFill>
            <a:srgbClr val="F4F6F8"/>
          </a:solidFill>
          <a:ln w="9525">
            <a:solidFill>
              <a:srgbClr val="D6DEE6"/>
            </a:solidFill>
          </a:ln>
        </p:spPr>
        <p:txBody>
          <a:bodyPr wrap="square" lIns="164592" tIns="118872" rIns="164592" bIns="91440" rtlCol="0" anchor="t">
            <a:noAutofit/>
          </a:bodyPr>
          <a:lstStyle/>
          <a:p>
            <a:pPr marL="0" indent="0" algn="l">
              <a:lnSpc>
                <a:spcPct val="100000"/>
              </a:lnSpc>
              <a:buNone/>
            </a:pPr>
            <a:r>
              <a:rPr sz="1400">
                <a:solidFill>
                  <a:srgbClr val="CF222E"/>
                </a:solidFill>
                <a:latin typeface="Consolas"/>
              </a:rPr>
              <a:t>async</a:t>
            </a:r>
            <a:r>
              <a:rPr sz="1400">
                <a:solidFill>
                  <a:srgbClr val="24292F"/>
                </a:solidFill>
                <a:latin typeface="Consolas"/>
              </a:rPr>
              <a:t> </a:t>
            </a:r>
            <a:r>
              <a:rPr sz="1400">
                <a:solidFill>
                  <a:srgbClr val="CF222E"/>
                </a:solidFill>
                <a:latin typeface="Consolas"/>
              </a:rPr>
              <a:t>function</a:t>
            </a:r>
            <a:r>
              <a:rPr sz="1400">
                <a:solidFill>
                  <a:srgbClr val="24292F"/>
                </a:solidFill>
                <a:latin typeface="Consolas"/>
              </a:rPr>
              <a:t> f() {</a:t>
            </a:r>
          </a:p>
          <a:p>
            <a:pPr marL="0" indent="0" algn="l">
              <a:lnSpc>
                <a:spcPct val="100000"/>
              </a:lnSpc>
              <a:buNone/>
            </a:pPr>
            <a:r>
              <a:rPr sz="1400">
                <a:solidFill>
                  <a:srgbClr val="24292F"/>
                </a:solidFill>
                <a:latin typeface="Consolas"/>
              </a:rPr>
              <a:t>  </a:t>
            </a:r>
            <a:r>
              <a:rPr sz="1400">
                <a:solidFill>
                  <a:srgbClr val="CF222E"/>
                </a:solidFill>
                <a:latin typeface="Consolas"/>
              </a:rPr>
              <a:t>return</a:t>
            </a:r>
            <a:r>
              <a:rPr sz="1400">
                <a:solidFill>
                  <a:srgbClr val="24292F"/>
                </a:solidFill>
                <a:latin typeface="Consolas"/>
              </a:rPr>
              <a:t> </a:t>
            </a:r>
            <a:r>
              <a:rPr sz="1400">
                <a:solidFill>
                  <a:srgbClr val="0550AE"/>
                </a:solidFill>
                <a:latin typeface="Consolas"/>
              </a:rPr>
              <a:t>1</a:t>
            </a:r>
          </a:p>
          <a:p>
            <a:pPr marL="0" indent="0" algn="l">
              <a:lnSpc>
                <a:spcPct val="100000"/>
              </a:lnSpc>
              <a:buNone/>
            </a:pPr>
            <a:r>
              <a:rPr sz="1400">
                <a:solidFill>
                  <a:srgbClr val="24292F"/>
                </a:solidFill>
                <a:latin typeface="Consolas"/>
              </a:rPr>
              <a:t>}</a:t>
            </a:r>
          </a:p>
          <a:p>
            <a:pPr marL="0" indent="0" algn="l">
              <a:lnSpc>
                <a:spcPct val="100000"/>
              </a:lnSpc>
              <a:buNone/>
            </a:pPr>
            <a:r>
              <a:rPr sz="1400">
                <a:solidFill>
                  <a:srgbClr val="24292F"/>
                </a:solidFill>
                <a:latin typeface="Consolas"/>
              </a:rPr>
              <a:t>f().then(console.log)   </a:t>
            </a:r>
            <a:r>
              <a:rPr sz="1400" i="1">
                <a:solidFill>
                  <a:srgbClr val="6E7781"/>
                </a:solidFill>
                <a:latin typeface="Consolas"/>
              </a:rPr>
              <a:t>// 1</a:t>
            </a:r>
          </a:p>
          <a:p>
            <a:pPr marL="0" indent="0" algn="l">
              <a:lnSpc>
                <a:spcPct val="100000"/>
              </a:lnSpc>
              <a:buNone/>
            </a:pPr>
            <a:r>
              <a:rPr sz="1400">
                <a:latin typeface="Consolas"/>
              </a:rPr>
              <a:t> </a:t>
            </a:r>
          </a:p>
          <a:p>
            <a:pPr marL="0" indent="0" algn="l">
              <a:lnSpc>
                <a:spcPct val="100000"/>
              </a:lnSpc>
              <a:buNone/>
            </a:pPr>
            <a:r>
              <a:rPr sz="1400">
                <a:solidFill>
                  <a:srgbClr val="CF222E"/>
                </a:solidFill>
                <a:latin typeface="Consolas"/>
              </a:rPr>
              <a:t>async</a:t>
            </a:r>
            <a:r>
              <a:rPr sz="1400">
                <a:solidFill>
                  <a:srgbClr val="24292F"/>
                </a:solidFill>
                <a:latin typeface="Consolas"/>
              </a:rPr>
              <a:t> </a:t>
            </a:r>
            <a:r>
              <a:rPr sz="1400">
                <a:solidFill>
                  <a:srgbClr val="CF222E"/>
                </a:solidFill>
                <a:latin typeface="Consolas"/>
              </a:rPr>
              <a:t>function</a:t>
            </a:r>
            <a:r>
              <a:rPr sz="1400">
                <a:solidFill>
                  <a:srgbClr val="24292F"/>
                </a:solidFill>
                <a:latin typeface="Consolas"/>
              </a:rPr>
              <a:t> getUser() {</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response = </a:t>
            </a:r>
            <a:r>
              <a:rPr sz="1400">
                <a:solidFill>
                  <a:srgbClr val="CF222E"/>
                </a:solidFill>
                <a:latin typeface="Consolas"/>
              </a:rPr>
              <a:t>await</a:t>
            </a:r>
            <a:r>
              <a:rPr sz="1400">
                <a:solidFill>
                  <a:srgbClr val="24292F"/>
                </a:solidFill>
                <a:latin typeface="Consolas"/>
              </a:rPr>
              <a:t> fetch(</a:t>
            </a:r>
            <a:r>
              <a:rPr sz="1400">
                <a:solidFill>
                  <a:srgbClr val="0A3069"/>
                </a:solidFill>
                <a:latin typeface="Consolas"/>
              </a:rPr>
              <a:t>'/api/user.json'</a:t>
            </a:r>
            <a:r>
              <a:rPr sz="1400">
                <a:solidFill>
                  <a:srgbClr val="24292F"/>
                </a:solidFill>
                <a:latin typeface="Consolas"/>
              </a:rPr>
              <a:t>)</a:t>
            </a:r>
          </a:p>
          <a:p>
            <a:pPr marL="0" indent="0" algn="l">
              <a:lnSpc>
                <a:spcPct val="100000"/>
              </a:lnSpc>
              <a:buNone/>
            </a:pPr>
            <a:r>
              <a:rPr sz="1400">
                <a:solidFill>
                  <a:srgbClr val="24292F"/>
                </a:solidFill>
                <a:latin typeface="Consolas"/>
              </a:rPr>
              <a:t>  </a:t>
            </a:r>
            <a:r>
              <a:rPr sz="1400">
                <a:solidFill>
                  <a:srgbClr val="CF222E"/>
                </a:solidFill>
                <a:latin typeface="Consolas"/>
              </a:rPr>
              <a:t>if</a:t>
            </a:r>
            <a:r>
              <a:rPr sz="1400">
                <a:solidFill>
                  <a:srgbClr val="24292F"/>
                </a:solidFill>
                <a:latin typeface="Consolas"/>
              </a:rPr>
              <a:t> (!response.ok) </a:t>
            </a:r>
            <a:r>
              <a:rPr sz="1400">
                <a:solidFill>
                  <a:srgbClr val="CF222E"/>
                </a:solidFill>
                <a:latin typeface="Consolas"/>
              </a:rPr>
              <a:t>throw</a:t>
            </a:r>
            <a:r>
              <a:rPr sz="1400">
                <a:solidFill>
                  <a:srgbClr val="24292F"/>
                </a:solidFill>
                <a:latin typeface="Consolas"/>
              </a:rPr>
              <a:t> </a:t>
            </a:r>
            <a:r>
              <a:rPr sz="1400">
                <a:solidFill>
                  <a:srgbClr val="CF222E"/>
                </a:solidFill>
                <a:latin typeface="Consolas"/>
              </a:rPr>
              <a:t>new</a:t>
            </a:r>
            <a:r>
              <a:rPr sz="1400">
                <a:solidFill>
                  <a:srgbClr val="24292F"/>
                </a:solidFill>
                <a:latin typeface="Consolas"/>
              </a:rPr>
              <a:t> Error(</a:t>
            </a:r>
            <a:r>
              <a:rPr sz="1400">
                <a:solidFill>
                  <a:srgbClr val="0A3069"/>
                </a:solidFill>
                <a:latin typeface="Consolas"/>
              </a:rPr>
              <a:t>`HTTP ${response.status}`</a:t>
            </a:r>
            <a:r>
              <a:rPr sz="1400">
                <a:solidFill>
                  <a:srgbClr val="24292F"/>
                </a:solidFill>
                <a:latin typeface="Consolas"/>
              </a:rPr>
              <a:t>)</a:t>
            </a:r>
          </a:p>
          <a:p>
            <a:pPr marL="0" indent="0" algn="l">
              <a:lnSpc>
                <a:spcPct val="100000"/>
              </a:lnSpc>
              <a:buNone/>
            </a:pPr>
            <a:r>
              <a:rPr sz="1400">
                <a:solidFill>
                  <a:srgbClr val="24292F"/>
                </a:solidFill>
                <a:latin typeface="Consolas"/>
              </a:rPr>
              <a:t>  </a:t>
            </a:r>
            <a:r>
              <a:rPr sz="1400">
                <a:solidFill>
                  <a:srgbClr val="CF222E"/>
                </a:solidFill>
                <a:latin typeface="Consolas"/>
              </a:rPr>
              <a:t>return</a:t>
            </a:r>
            <a:r>
              <a:rPr sz="1400">
                <a:solidFill>
                  <a:srgbClr val="24292F"/>
                </a:solidFill>
                <a:latin typeface="Consolas"/>
              </a:rPr>
              <a:t> response.json()</a:t>
            </a:r>
          </a:p>
          <a:p>
            <a:pPr marL="0" indent="0" algn="l">
              <a:lnSpc>
                <a:spcPct val="100000"/>
              </a:lnSpc>
              <a:buNone/>
            </a:pPr>
            <a:r>
              <a:rPr sz="1400">
                <a:solidFill>
                  <a:srgbClr val="24292F"/>
                </a:solidFill>
                <a:latin typeface="Consolas"/>
              </a:rPr>
              <a:t>}</a:t>
            </a:r>
          </a:p>
          <a:p>
            <a:pPr marL="0" indent="0" algn="l">
              <a:lnSpc>
                <a:spcPct val="100000"/>
              </a:lnSpc>
              <a:buNone/>
            </a:pPr>
            <a:r>
              <a:rPr sz="1400">
                <a:latin typeface="Consolas"/>
              </a:rPr>
              <a:t> </a:t>
            </a:r>
          </a:p>
          <a:p>
            <a:pPr marL="0" indent="0" algn="l">
              <a:lnSpc>
                <a:spcPct val="100000"/>
              </a:lnSpc>
              <a:buNone/>
            </a:pPr>
            <a:r>
              <a:rPr sz="1400">
                <a:solidFill>
                  <a:srgbClr val="CF222E"/>
                </a:solidFill>
                <a:latin typeface="Consolas"/>
              </a:rPr>
              <a:t>try</a:t>
            </a:r>
            <a:r>
              <a:rPr sz="1400">
                <a:solidFill>
                  <a:srgbClr val="24292F"/>
                </a:solidFill>
                <a:latin typeface="Consolas"/>
              </a:rPr>
              <a:t> {</a:t>
            </a:r>
          </a:p>
          <a:p>
            <a:pPr marL="0" indent="0" algn="l">
              <a:lnSpc>
                <a:spcPct val="100000"/>
              </a:lnSpc>
              <a:buNone/>
            </a:pPr>
            <a:r>
              <a:rPr sz="1400">
                <a:solidFill>
                  <a:srgbClr val="24292F"/>
                </a:solidFill>
                <a:latin typeface="Consolas"/>
              </a:rPr>
              <a:t>  </a:t>
            </a:r>
            <a:r>
              <a:rPr sz="1400">
                <a:solidFill>
                  <a:srgbClr val="CF222E"/>
                </a:solidFill>
                <a:latin typeface="Consolas"/>
              </a:rPr>
              <a:t>const</a:t>
            </a:r>
            <a:r>
              <a:rPr sz="1400">
                <a:solidFill>
                  <a:srgbClr val="24292F"/>
                </a:solidFill>
                <a:latin typeface="Consolas"/>
              </a:rPr>
              <a:t> user = </a:t>
            </a:r>
            <a:r>
              <a:rPr sz="1400">
                <a:solidFill>
                  <a:srgbClr val="CF222E"/>
                </a:solidFill>
                <a:latin typeface="Consolas"/>
              </a:rPr>
              <a:t>await</a:t>
            </a:r>
            <a:r>
              <a:rPr sz="1400">
                <a:solidFill>
                  <a:srgbClr val="24292F"/>
                </a:solidFill>
                <a:latin typeface="Consolas"/>
              </a:rPr>
              <a:t> getUser()</a:t>
            </a:r>
          </a:p>
          <a:p>
            <a:pPr marL="0" indent="0" algn="l">
              <a:lnSpc>
                <a:spcPct val="100000"/>
              </a:lnSpc>
              <a:buNone/>
            </a:pPr>
            <a:r>
              <a:rPr sz="1400">
                <a:solidFill>
                  <a:srgbClr val="24292F"/>
                </a:solidFill>
                <a:latin typeface="Consolas"/>
              </a:rPr>
              <a:t>} </a:t>
            </a:r>
            <a:r>
              <a:rPr sz="1400">
                <a:solidFill>
                  <a:srgbClr val="CF222E"/>
                </a:solidFill>
                <a:latin typeface="Consolas"/>
              </a:rPr>
              <a:t>catch</a:t>
            </a:r>
            <a:r>
              <a:rPr sz="1400">
                <a:solidFill>
                  <a:srgbClr val="24292F"/>
                </a:solidFill>
                <a:latin typeface="Consolas"/>
              </a:rPr>
              <a:t> (err) {</a:t>
            </a:r>
          </a:p>
          <a:p>
            <a:pPr marL="0" indent="0" algn="l">
              <a:lnSpc>
                <a:spcPct val="100000"/>
              </a:lnSpc>
              <a:buNone/>
            </a:pPr>
            <a:r>
              <a:rPr sz="1400">
                <a:solidFill>
                  <a:srgbClr val="24292F"/>
                </a:solidFill>
                <a:latin typeface="Consolas"/>
              </a:rPr>
              <a:t>  console.error(err)</a:t>
            </a:r>
          </a:p>
          <a:p>
            <a:pPr marL="0" indent="0" algn="l">
              <a:lnSpc>
                <a:spcPct val="100000"/>
              </a:lnSpc>
              <a:buNone/>
            </a:pPr>
            <a:r>
              <a:rPr sz="1400">
                <a:solidFill>
                  <a:srgbClr val="24292F"/>
                </a:solidFill>
                <a:latin typeface="Consolas"/>
              </a:rPr>
              <a:t>}</a:t>
            </a:r>
          </a:p>
        </p:txBody>
      </p:sp>
      <p:sp>
        <p:nvSpPr>
          <p:cNvPr id="7"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8"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307</a:t>
            </a:fld>
            <a:endParaRPr lang="en-US" sz="900">
              <a:solidFill>
                <a:srgbClr val="9AA7B4"/>
              </a:solidFill>
            </a:endParaRPr>
          </a:p>
        </p:txBody>
      </p:sp>
    </p:spTree>
    <p:extLst>
      <p:ext uri="{BB962C8B-B14F-4D97-AF65-F5344CB8AC3E}">
        <p14:creationId xmlns:p14="http://schemas.microsoft.com/office/powerpoint/2010/main" val="263402134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92608"/>
            <a:ext cx="8229600" cy="868680"/>
          </a:xfrm>
        </p:spPr>
        <p:txBody>
          <a:bodyPr wrap="square" lIns="0" tIns="0" rIns="0" bIns="0" anchor="ctr">
            <a:noAutofit/>
          </a:bodyPr>
          <a:lstStyle/>
          <a:p>
            <a:pPr marL="0" indent="0" algn="l">
              <a:buNone/>
            </a:pPr>
            <a:r>
              <a:rPr sz="3000" b="1" i="0" cap="none">
                <a:solidFill>
                  <a:srgbClr val="2C3E50"/>
                </a:solidFill>
              </a:rPr>
              <a:t>Disclaimer and Copyright</a:t>
            </a:r>
          </a:p>
        </p:txBody>
      </p:sp>
      <p:sp>
        <p:nvSpPr>
          <p:cNvPr id="3" name="Body"/>
          <p:cNvSpPr txBox="1"/>
          <p:nvPr/>
        </p:nvSpPr>
        <p:spPr>
          <a:xfrm>
            <a:off x="457200" y="1261872"/>
            <a:ext cx="8229600" cy="3670553"/>
          </a:xfrm>
          <a:prstGeom prst="rect">
            <a:avLst/>
          </a:prstGeom>
          <a:noFill/>
        </p:spPr>
        <p:txBody>
          <a:bodyPr wrap="square" lIns="0" tIns="0" rIns="0" bIns="0">
            <a:noAutofit/>
          </a:bodyPr>
          <a:lstStyle/>
          <a:p>
            <a:pPr marL="0" indent="0">
              <a:spcAft>
                <a:spcPts val="384"/>
              </a:spcAft>
              <a:buNone/>
            </a:pPr>
            <a:r>
              <a:rPr sz="1100" b="1" i="0">
                <a:solidFill>
                  <a:srgbClr val="2E8B62"/>
                </a:solidFill>
              </a:rPr>
              <a:t>Disclaimer</a:t>
            </a:r>
          </a:p>
          <a:p>
            <a:pPr marL="0" indent="0">
              <a:spcAft>
                <a:spcPts val="495"/>
              </a:spcAft>
              <a:buNone/>
            </a:pPr>
            <a:r>
              <a:rPr sz="1100" b="0" i="0">
                <a:solidFill>
                  <a:srgbClr val="1F2A36"/>
                </a:solidFill>
              </a:rPr>
              <a:t>WatzThis? takes care to ensure the accuracy and quality of this courseware and related courseware files. We cannot guarantee the accuracy of these materials. The courseware and related files are provided without any warranty whatsoever, including but not limited to implied warranties of merchantability or fitness for a particular purpose. Use of screenshots, product names and icons in the courseware are for editorial purposes only. No such use should be construed to imply sponsorship or endorsement of the courseware, nor any affiliation of such entity with WatzThis?.</a:t>
            </a:r>
          </a:p>
          <a:p>
            <a:pPr marL="0" indent="0">
              <a:spcAft>
                <a:spcPts val="384"/>
              </a:spcAft>
              <a:buNone/>
            </a:pPr>
            <a:r>
              <a:rPr sz="1100" b="1" i="0">
                <a:solidFill>
                  <a:srgbClr val="2E8B62"/>
                </a:solidFill>
              </a:rPr>
              <a:t>Third-Party Information</a:t>
            </a:r>
          </a:p>
          <a:p>
            <a:pPr marL="0" indent="0">
              <a:spcAft>
                <a:spcPts val="495"/>
              </a:spcAft>
              <a:buNone/>
            </a:pPr>
            <a:r>
              <a:rPr sz="1100" b="0" i="0">
                <a:solidFill>
                  <a:srgbClr val="1F2A36"/>
                </a:solidFill>
              </a:rPr>
              <a:t>This courseware contains links to third-party web sites that are not under our control and we are not responsible for the content of any linked sites. If you access a third-party web site mentioned in this courseware, then you do so at your own risk. We provide these links only as a convenience, and the inclusion of the link does not imply that we endorse or accept responsibility for the content on those third-party web sites. Information in this courseware may change without notice and does not represent a commitment on the part of the authors and publishers.</a:t>
            </a:r>
          </a:p>
          <a:p>
            <a:pPr marL="0" indent="0">
              <a:spcAft>
                <a:spcPts val="384"/>
              </a:spcAft>
              <a:buNone/>
            </a:pPr>
            <a:r>
              <a:rPr sz="1100" b="1" i="0">
                <a:solidFill>
                  <a:srgbClr val="2E8B62"/>
                </a:solidFill>
              </a:rPr>
              <a:t>Copyright</a:t>
            </a:r>
          </a:p>
          <a:p>
            <a:pPr marL="0" indent="0">
              <a:spcAft>
                <a:spcPts val="495"/>
              </a:spcAft>
              <a:buNone/>
            </a:pPr>
            <a:r>
              <a:rPr sz="1100" b="0" i="0">
                <a:solidFill>
                  <a:srgbClr val="1F2A36"/>
                </a:solidFill>
              </a:rPr>
              <a:t>Copyright 2026, WatzThis?. All rights reserved. Screenshots used for illustrative purposes are the property of the software proprietor. This publication, or any part thereof, may not be reproduced or transmitted in any form by any means, electronic or mechanical, including photocopying, recording, storage in an information retrieval system, or otherwise, without express written permission of WatzThis, 567 Commercial St, Astoria, OR 97103. www.watzthis.com</a:t>
            </a:r>
          </a:p>
          <a:p>
            <a:pPr marL="0" indent="0">
              <a:spcAft>
                <a:spcPts val="384"/>
              </a:spcAft>
              <a:buNone/>
            </a:pPr>
            <a:r>
              <a:rPr sz="1100" b="1" i="0">
                <a:solidFill>
                  <a:srgbClr val="2E8B62"/>
                </a:solidFill>
              </a:rPr>
              <a:t>Help us improve our courseware</a:t>
            </a:r>
          </a:p>
          <a:p>
            <a:pPr marL="0" indent="0">
              <a:spcAft>
                <a:spcPts val="495"/>
              </a:spcAft>
              <a:buNone/>
            </a:pPr>
            <a:r>
              <a:rPr sz="1100" b="0" i="0">
                <a:solidFill>
                  <a:srgbClr val="1F2A36"/>
                </a:solidFill>
              </a:rPr>
              <a:t>Please send your comments and suggestions by email to info@watzthis.com</a:t>
            </a:r>
          </a:p>
        </p:txBody>
      </p:sp>
      <p:sp>
        <p:nvSpPr>
          <p:cNvPr id="4" name="Footer"/>
          <p:cNvSpPr txBox="1"/>
          <p:nvPr/>
        </p:nvSpPr>
        <p:spPr>
          <a:xfrm>
            <a:off x="457200" y="6446520"/>
            <a:ext cx="4572000" cy="228600"/>
          </a:xfrm>
          <a:prstGeom prst="rect">
            <a:avLst/>
          </a:prstGeom>
          <a:noFill/>
        </p:spPr>
        <p:txBody>
          <a:bodyPr wrap="square" lIns="0" tIns="0" rIns="0" bIns="0">
            <a:noAutofit/>
          </a:bodyPr>
          <a:lstStyle/>
          <a:p>
            <a:r>
              <a:rPr sz="900">
                <a:solidFill>
                  <a:srgbClr val="9AA7B4"/>
                </a:solidFill>
              </a:rPr>
              <a:t>Professional Vue.js Development</a:t>
            </a:r>
          </a:p>
        </p:txBody>
      </p:sp>
      <p:sp>
        <p:nvSpPr>
          <p:cNvPr id="5" name="Slide Number"/>
          <p:cNvSpPr txBox="1"/>
          <p:nvPr/>
        </p:nvSpPr>
        <p:spPr>
          <a:xfrm>
            <a:off x="7772400" y="6446520"/>
            <a:ext cx="914400" cy="228600"/>
          </a:xfrm>
          <a:prstGeom prst="rect">
            <a:avLst/>
          </a:prstGeom>
          <a:noFill/>
        </p:spPr>
        <p:txBody>
          <a:bodyPr wrap="square" lIns="0" tIns="0" rIns="0" bIns="0">
            <a:noAutofit/>
          </a:bodyPr>
          <a:lstStyle/>
          <a:p>
            <a:pPr algn="r"/>
            <a:fld id="{B6F15528-21DE-4FAA-801E-634DDDAF4B2B}" type="slidenum">
              <a:rPr lang="en-US" sz="900">
                <a:solidFill>
                  <a:srgbClr val="9AA7B4"/>
                </a:solidFill>
              </a:rPr>
              <a:t>308</a:t>
            </a:fld>
            <a:endParaRPr lang="en-US" sz="900">
              <a:solidFill>
                <a:srgbClr val="9AA7B4"/>
              </a:solidFill>
            </a:endParaRPr>
          </a:p>
        </p:txBody>
      </p:sp>
    </p:spTree>
    <p:extLst>
      <p:ext uri="{BB962C8B-B14F-4D97-AF65-F5344CB8AC3E}">
        <p14:creationId xmlns:p14="http://schemas.microsoft.com/office/powerpoint/2010/main" val="2961007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6765</TotalTime>
  <Words>54781</Words>
  <Application>Microsoft Macintosh PowerPoint</Application>
  <PresentationFormat>On-screen Show (4:3)</PresentationFormat>
  <Paragraphs>4799</Paragraphs>
  <Slides>308</Slides>
  <Notes>308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308</vt:i4>
      </vt:variant>
    </vt:vector>
  </HeadingPairs>
  <TitlesOfParts>
    <vt:vector size="316" baseType="lpstr">
      <vt:lpstr>Arial</vt:lpstr>
      <vt:lpstr>Calibri</vt:lpstr>
      <vt:lpstr>Calibri Light</vt:lpstr>
      <vt:lpstr>Consolas</vt:lpstr>
      <vt:lpstr>Courier New</vt:lpstr>
      <vt:lpstr>Lucida Grande</vt:lpstr>
      <vt:lpstr>Wingdings 2</vt:lpstr>
      <vt:lpstr>Office Theme</vt:lpstr>
      <vt:lpstr>Professional Vue.js Development</vt:lpstr>
      <vt:lpstr>Introduction and Vue Quickstart</vt:lpstr>
      <vt:lpstr>Introduction</vt:lpstr>
      <vt:lpstr>About Me</vt:lpstr>
      <vt:lpstr>Introductions</vt:lpstr>
      <vt:lpstr>Daily Schedule (CT)</vt:lpstr>
      <vt:lpstr>The Big Picture</vt:lpstr>
      <vt:lpstr>What's New in JavaScript (aka ECMAScript)?</vt:lpstr>
      <vt:lpstr>What is Vue.js?</vt:lpstr>
      <vt:lpstr>What is Reactivity?</vt:lpstr>
      <vt:lpstr>History of Vue.js</vt:lpstr>
      <vt:lpstr>What Makes Vue Different?</vt:lpstr>
      <vt:lpstr>Comparison of Framework File Sizes</vt:lpstr>
      <vt:lpstr>Vue vs. React and Angular</vt:lpstr>
      <vt:lpstr>Vue.js Hello World</vt:lpstr>
      <vt:lpstr>Virtual DOM</vt:lpstr>
      <vt:lpstr>What Makes Vue's Virtual DOM Different?</vt:lpstr>
      <vt:lpstr>Vue Versions</vt:lpstr>
      <vt:lpstr>What Vue 3 Changed</vt:lpstr>
      <vt:lpstr>Vue QuickStart</vt:lpstr>
      <vt:lpstr>Code Editors and IDEs</vt:lpstr>
      <vt:lpstr>Installing and Configuring VS Code</vt:lpstr>
      <vt:lpstr>Vite</vt:lpstr>
      <vt:lpstr>Using create-vue</vt:lpstr>
      <vt:lpstr>Get Started with Vite</vt:lpstr>
      <vt:lpstr>Installing and Using the Vue DevTools</vt:lpstr>
      <vt:lpstr>Our Real-World Project: Conduit</vt:lpstr>
      <vt:lpstr>Single-File Components</vt:lpstr>
      <vt:lpstr>Your First Component</vt:lpstr>
      <vt:lpstr>Create More Components</vt:lpstr>
      <vt:lpstr>Testing Vue</vt:lpstr>
      <vt:lpstr>Node.js</vt:lpstr>
      <vt:lpstr>What is Node.js?</vt:lpstr>
      <vt:lpstr>How is Node.js Different?</vt:lpstr>
      <vt:lpstr>The Event Loop</vt:lpstr>
      <vt:lpstr>Recap: How is Node.js Different?</vt:lpstr>
      <vt:lpstr>Event Loop Phases</vt:lpstr>
      <vt:lpstr>Event Loop</vt:lpstr>
      <vt:lpstr>EventEmitter</vt:lpstr>
      <vt:lpstr>A Simple Node.js Example</vt:lpstr>
      <vt:lpstr>Modules Overview</vt:lpstr>
      <vt:lpstr>CommonJS Example</vt:lpstr>
      <vt:lpstr>ES Modules: import and export</vt:lpstr>
      <vt:lpstr>ES Modules in Node.js</vt:lpstr>
      <vt:lpstr>Front-end Node</vt:lpstr>
      <vt:lpstr>Getting Started with Node.js and npm</vt:lpstr>
      <vt:lpstr>Tooling</vt:lpstr>
      <vt:lpstr>Why Have Tooling?</vt:lpstr>
      <vt:lpstr>npm</vt:lpstr>
      <vt:lpstr>Other Package Managers</vt:lpstr>
      <vt:lpstr>Initialize npm</vt:lpstr>
      <vt:lpstr>node_modules</vt:lpstr>
      <vt:lpstr>package.json and Semantic Versioning</vt:lpstr>
      <vt:lpstr>npm install</vt:lpstr>
      <vt:lpstr>package.json Fields</vt:lpstr>
      <vt:lpstr>Making a Web Server</vt:lpstr>
      <vt:lpstr>Code-along: Set Up Your Own Tooling</vt:lpstr>
      <vt:lpstr>Static Code Analysis</vt:lpstr>
      <vt:lpstr>Lint Tools</vt:lpstr>
      <vt:lpstr>Configuring ESLint</vt:lpstr>
      <vt:lpstr>ESLint: What Can Be Configured?</vt:lpstr>
      <vt:lpstr>ESLint Rules</vt:lpstr>
      <vt:lpstr>Automate Linting</vt:lpstr>
      <vt:lpstr>Transpilers</vt:lpstr>
      <vt:lpstr>Browser Compatibility Tables</vt:lpstr>
      <vt:lpstr>Babel, esbuild, and Oxc</vt:lpstr>
      <vt:lpstr>Transpiling Example</vt:lpstr>
      <vt:lpstr>Bundlers</vt:lpstr>
      <vt:lpstr>How Vite Works</vt:lpstr>
      <vt:lpstr>The Document Object Model</vt:lpstr>
      <vt:lpstr>What is the DOM?</vt:lpstr>
      <vt:lpstr>Understanding Nodes</vt:lpstr>
      <vt:lpstr>EventTarget</vt:lpstr>
      <vt:lpstr>DOM Events</vt:lpstr>
      <vt:lpstr>Other Events</vt:lpstr>
      <vt:lpstr>Element</vt:lpstr>
      <vt:lpstr>Manipulating HTML with the DOM</vt:lpstr>
      <vt:lpstr>Manipulating HTML with the DOM</vt:lpstr>
      <vt:lpstr>Manipulating HTML with jQuery</vt:lpstr>
      <vt:lpstr>Manipulating HTML with React</vt:lpstr>
      <vt:lpstr>Manipulating HTML with Vue.js</vt:lpstr>
      <vt:lpstr>Debugging JavaScript</vt:lpstr>
      <vt:lpstr>Browser Development Tools</vt:lpstr>
      <vt:lpstr>Installing and Using the Vue DevTools</vt:lpstr>
      <vt:lpstr>Manual In-Browser Testing and Debugging</vt:lpstr>
      <vt:lpstr>Getting Started With Vue.js</vt:lpstr>
      <vt:lpstr>Basic Vue.js Features</vt:lpstr>
      <vt:lpstr>Options API vs. Composition API</vt:lpstr>
      <vt:lpstr>Creating and Mounting an App</vt:lpstr>
      <vt:lpstr>&lt;script setup&gt;</vt:lpstr>
      <vt:lpstr>ref and computed</vt:lpstr>
      <vt:lpstr>Compiler Macros</vt:lpstr>
      <vt:lpstr>App-level Configuration</vt:lpstr>
      <vt:lpstr>Vue Template Syntax</vt:lpstr>
      <vt:lpstr>Vue Templates</vt:lpstr>
      <vt:lpstr>Using HTML in Templates</vt:lpstr>
      <vt:lpstr>Using JavaScript in Templates</vt:lpstr>
      <vt:lpstr>Vue.js Directives</vt:lpstr>
      <vt:lpstr>Directive Arguments</vt:lpstr>
      <vt:lpstr>Directive Modifiers</vt:lpstr>
      <vt:lpstr>Vue.js Built-in Directives</vt:lpstr>
      <vt:lpstr>Custom Directives</vt:lpstr>
      <vt:lpstr>Loops and Lists</vt:lpstr>
      <vt:lpstr>Using key</vt:lpstr>
      <vt:lpstr>Using v-for</vt:lpstr>
      <vt:lpstr>v-for with Arrays</vt:lpstr>
      <vt:lpstr>v-for with Objects</vt:lpstr>
      <vt:lpstr>Conditional Rendering</vt:lpstr>
      <vt:lpstr>v-if vs. v-show</vt:lpstr>
      <vt:lpstr>Static Vue View</vt:lpstr>
      <vt:lpstr>Binding HTML Classes</vt:lpstr>
      <vt:lpstr>Adding Styles Conditionally</vt:lpstr>
      <vt:lpstr>Binding Styles</vt:lpstr>
      <vt:lpstr>Outputting Raw HTML</vt:lpstr>
      <vt:lpstr>Styling Vue Components</vt:lpstr>
      <vt:lpstr>Computed Properties</vt:lpstr>
      <vt:lpstr>Computed Properties</vt:lpstr>
      <vt:lpstr>Benefits of Computed Properties</vt:lpstr>
      <vt:lpstr>Filtering and Sorting a List with a Computed Property</vt:lpstr>
      <vt:lpstr>Using Setters in Computed Properties</vt:lpstr>
      <vt:lpstr>Computed Properties</vt:lpstr>
      <vt:lpstr>Reactive State</vt:lpstr>
      <vt:lpstr>ref and reactive</vt:lpstr>
      <vt:lpstr>Vue.js Data Binding</vt:lpstr>
      <vt:lpstr>v-bind directive</vt:lpstr>
      <vt:lpstr>Value Binding</vt:lpstr>
      <vt:lpstr>2-way Binding</vt:lpstr>
      <vt:lpstr>v-model directive</vt:lpstr>
      <vt:lpstr>Working with Arrays</vt:lpstr>
      <vt:lpstr>Reactivity Caveats</vt:lpstr>
      <vt:lpstr>Destructuring and Reactivity</vt:lpstr>
      <vt:lpstr>v-bind Shorthand</vt:lpstr>
      <vt:lpstr>Methods and State</vt:lpstr>
      <vt:lpstr>Event Handling</vt:lpstr>
      <vt:lpstr>Inline Event Handling</vt:lpstr>
      <vt:lpstr>Event Handling with Methods</vt:lpstr>
      <vt:lpstr>Event Modifiers</vt:lpstr>
      <vt:lpstr>v-on Shorthand</vt:lpstr>
      <vt:lpstr>Listening to Child Component Events</vt:lpstr>
      <vt:lpstr>Emitting a Value With an Event</vt:lpstr>
      <vt:lpstr>Events</vt:lpstr>
      <vt:lpstr>Watchers</vt:lpstr>
      <vt:lpstr>watch and watchEffect</vt:lpstr>
      <vt:lpstr>Component Lifecycle</vt:lpstr>
      <vt:lpstr>Setup (replacing beforeCreate / created)</vt:lpstr>
      <vt:lpstr>onBeforeMount</vt:lpstr>
      <vt:lpstr>onMounted</vt:lpstr>
      <vt:lpstr>onBeforeUpdate</vt:lpstr>
      <vt:lpstr>onUpdated</vt:lpstr>
      <vt:lpstr>onBeforeUnmount</vt:lpstr>
      <vt:lpstr>onUnmounted</vt:lpstr>
      <vt:lpstr>Lifecycle Hooks in Practice</vt:lpstr>
      <vt:lpstr>Using Lifecycle Hooks</vt:lpstr>
      <vt:lpstr>Component Lifecycle</vt:lpstr>
      <vt:lpstr>Vue and Forms</vt:lpstr>
      <vt:lpstr>Input Bindings</vt:lpstr>
      <vt:lpstr>2-way Binding Pros and Cons</vt:lpstr>
      <vt:lpstr>Creating a Form with Checkboxes</vt:lpstr>
      <vt:lpstr>Creating a Form with Radio Buttons</vt:lpstr>
      <vt:lpstr>Creating a Form with a Select Element</vt:lpstr>
      <vt:lpstr>Input Modifiers</vt:lpstr>
      <vt:lpstr>Forms</vt:lpstr>
      <vt:lpstr>Vue Components</vt:lpstr>
      <vt:lpstr>What are Vue Components?</vt:lpstr>
      <vt:lpstr>Creating a Component</vt:lpstr>
      <vt:lpstr>Organizing and Reusing Components</vt:lpstr>
      <vt:lpstr>Naming Components</vt:lpstr>
      <vt:lpstr>Local Components</vt:lpstr>
      <vt:lpstr>Global Components</vt:lpstr>
      <vt:lpstr>Global vs. Local</vt:lpstr>
      <vt:lpstr>Props</vt:lpstr>
      <vt:lpstr>Passing Data</vt:lpstr>
      <vt:lpstr>Using Props</vt:lpstr>
      <vt:lpstr>Fragments: Multiple Root Elements</vt:lpstr>
      <vt:lpstr>Using v-model on Components</vt:lpstr>
      <vt:lpstr>defineModel</vt:lpstr>
      <vt:lpstr>Content Distribution with Slots</vt:lpstr>
      <vt:lpstr>Cool Things You Can Do With Slots</vt:lpstr>
      <vt:lpstr>Naming Slots</vt:lpstr>
      <vt:lpstr>Using Named Slots</vt:lpstr>
      <vt:lpstr>Using Slots</vt:lpstr>
      <vt:lpstr>More Fun with Slots</vt:lpstr>
      <vt:lpstr>Slots</vt:lpstr>
      <vt:lpstr>Loading Components Asynchronously</vt:lpstr>
      <vt:lpstr>Composables</vt:lpstr>
      <vt:lpstr>Composable Basics</vt:lpstr>
      <vt:lpstr>Why Composables Replace Mixins</vt:lpstr>
      <vt:lpstr>Writing a Composable</vt:lpstr>
      <vt:lpstr>Using a Composable</vt:lpstr>
      <vt:lpstr>Composable Conventions</vt:lpstr>
      <vt:lpstr>Community Composables</vt:lpstr>
      <vt:lpstr>Composables</vt:lpstr>
      <vt:lpstr>Using Pinia</vt:lpstr>
      <vt:lpstr>Why a Store?</vt:lpstr>
      <vt:lpstr>The Problem</vt:lpstr>
      <vt:lpstr>Pinia</vt:lpstr>
      <vt:lpstr>Pinia vs. Vuex</vt:lpstr>
      <vt:lpstr>Installing Pinia</vt:lpstr>
      <vt:lpstr>Defining a Store</vt:lpstr>
      <vt:lpstr>Setup Stores</vt:lpstr>
      <vt:lpstr>State</vt:lpstr>
      <vt:lpstr>Getters</vt:lpstr>
      <vt:lpstr>Using a Store in a Component</vt:lpstr>
      <vt:lpstr>storeToRefs</vt:lpstr>
      <vt:lpstr>Actions</vt:lpstr>
      <vt:lpstr>No Mutations</vt:lpstr>
      <vt:lpstr>Multiple Stores</vt:lpstr>
      <vt:lpstr>Pinia and the DevTools</vt:lpstr>
      <vt:lpstr>Persisting Store State</vt:lpstr>
      <vt:lpstr>Testing a Store</vt:lpstr>
      <vt:lpstr>Implementing Pinia</vt:lpstr>
      <vt:lpstr>Single-Page Applications</vt:lpstr>
      <vt:lpstr>Creating an SPA with Vue Router</vt:lpstr>
      <vt:lpstr>Vue Router: the Template</vt:lpstr>
      <vt:lpstr>Vue Router: the JavaScript</vt:lpstr>
      <vt:lpstr>Routing</vt:lpstr>
      <vt:lpstr>AJAX with Pinia</vt:lpstr>
      <vt:lpstr>Testing</vt:lpstr>
      <vt:lpstr>Test-Driven Development</vt:lpstr>
      <vt:lpstr>Goal of TDD</vt:lpstr>
      <vt:lpstr>The TDD Cycle</vt:lpstr>
      <vt:lpstr>TDD Steps</vt:lpstr>
      <vt:lpstr>Red</vt:lpstr>
      <vt:lpstr>Green</vt:lpstr>
      <vt:lpstr>Refactor</vt:lpstr>
      <vt:lpstr>Assertions</vt:lpstr>
      <vt:lpstr>JavaScript Testing Frameworks</vt:lpstr>
      <vt:lpstr>JS Exception Handling</vt:lpstr>
      <vt:lpstr>Vitest Overview</vt:lpstr>
      <vt:lpstr>Vitest</vt:lpstr>
      <vt:lpstr>How Vitest Works</vt:lpstr>
      <vt:lpstr>Test Suites</vt:lpstr>
      <vt:lpstr>Specs</vt:lpstr>
      <vt:lpstr>Expectations</vt:lpstr>
      <vt:lpstr>Matchers</vt:lpstr>
      <vt:lpstr>TDD vs. BDD</vt:lpstr>
      <vt:lpstr>TDD Example</vt:lpstr>
      <vt:lpstr>BDD Example</vt:lpstr>
      <vt:lpstr>Mocking</vt:lpstr>
      <vt:lpstr>Mock Function</vt:lpstr>
      <vt:lpstr>Mocking a Module</vt:lpstr>
      <vt:lpstr>Resetting Mocks</vt:lpstr>
      <vt:lpstr>Fake Timers</vt:lpstr>
      <vt:lpstr>Snapshot Testing</vt:lpstr>
      <vt:lpstr>Sample Snapshot Test</vt:lpstr>
      <vt:lpstr>Vue Test Utils</vt:lpstr>
      <vt:lpstr>mount</vt:lpstr>
      <vt:lpstr>shallowMount</vt:lpstr>
      <vt:lpstr>Testing with Vitest</vt:lpstr>
      <vt:lpstr>Testing in a Real Browser</vt:lpstr>
      <vt:lpstr>Browser and End-to-End Testing</vt:lpstr>
      <vt:lpstr>Transitions and Animations</vt:lpstr>
      <vt:lpstr>&lt;Transition&gt;</vt:lpstr>
      <vt:lpstr>How &lt;Transition&gt; Works</vt:lpstr>
      <vt:lpstr>The Transition Classes</vt:lpstr>
      <vt:lpstr>Defining the CSS</vt:lpstr>
      <vt:lpstr>JavaScript Hooks</vt:lpstr>
      <vt:lpstr>Using the JavaScript Hooks</vt:lpstr>
      <vt:lpstr>Custom Transition Classes</vt:lpstr>
      <vt:lpstr>Custom Transition Classes Example</vt:lpstr>
      <vt:lpstr>Transitions and Animations</vt:lpstr>
      <vt:lpstr>ES2015 (ES6) and Beyond</vt:lpstr>
      <vt:lpstr>Variable Scoping with const and let</vt:lpstr>
      <vt:lpstr>let vs. var</vt:lpstr>
      <vt:lpstr>Block-scoped Functions</vt:lpstr>
      <vt:lpstr>Arrow Functions</vt:lpstr>
      <vt:lpstr>Arrow Function Parameters</vt:lpstr>
      <vt:lpstr>Arrow Functions and this</vt:lpstr>
      <vt:lpstr>Default Parameter Handling</vt:lpstr>
      <vt:lpstr>Rest Parameter</vt:lpstr>
      <vt:lpstr>Spread Operator</vt:lpstr>
      <vt:lpstr>Template Literals</vt:lpstr>
      <vt:lpstr>Template Literals: Tags and Raw Strings</vt:lpstr>
      <vt:lpstr>Enhanced Object Properties</vt:lpstr>
      <vt:lpstr>Computed Property Names</vt:lpstr>
      <vt:lpstr>Method Notation in Object Literals</vt:lpstr>
      <vt:lpstr>Array Destructuring</vt:lpstr>
      <vt:lpstr>Object Destructuring</vt:lpstr>
      <vt:lpstr>Symbol Primitive</vt:lpstr>
      <vt:lpstr>User-defined Iterators</vt:lpstr>
      <vt:lpstr>The for...of Statement</vt:lpstr>
      <vt:lpstr>Creating and Consuming Generator Functions</vt:lpstr>
      <vt:lpstr>Class Definition</vt:lpstr>
      <vt:lpstr>Class Declaration</vt:lpstr>
      <vt:lpstr>Class Expressions</vt:lpstr>
      <vt:lpstr>Class Inheritance</vt:lpstr>
      <vt:lpstr>Beyond ES2015</vt:lpstr>
      <vt:lpstr>Advanced JavaScript Topics</vt:lpstr>
      <vt:lpstr>"use strict"</vt:lpstr>
      <vt:lpstr>Understanding this</vt:lpstr>
      <vt:lpstr>The 4 Rules of this</vt:lpstr>
      <vt:lpstr>What is this?</vt:lpstr>
      <vt:lpstr>Implicit Binding</vt:lpstr>
      <vt:lpstr>Explicit Binding</vt:lpstr>
      <vt:lpstr>Explicit Binding with .call</vt:lpstr>
      <vt:lpstr>Explicit Binding with .apply</vt:lpstr>
      <vt:lpstr>Explicit Binding with .bind</vt:lpstr>
      <vt:lpstr>new Binding</vt:lpstr>
      <vt:lpstr>Default (window) Binding</vt:lpstr>
      <vt:lpstr>Array.map()</vt:lpstr>
      <vt:lpstr>Promises</vt:lpstr>
      <vt:lpstr>What Are Promises?</vt:lpstr>
      <vt:lpstr>Promises vs. Event Listeners</vt:lpstr>
      <vt:lpstr>Why Use Promises?</vt:lpstr>
      <vt:lpstr>Callback vs. Promise</vt:lpstr>
      <vt:lpstr>Creating Promises</vt:lpstr>
      <vt:lpstr>Async / Await</vt:lpstr>
      <vt:lpstr>Disclaimer and 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Vue.js Development</dc:title>
  <dc:creator>Chris Minnick</dc:creator>
  <cp:lastModifiedBy>Chris Minnick</cp:lastModifiedBy>
  <cp:revision>269</cp:revision>
  <cp:lastPrinted>2019-03-04T18:37:08Z</cp:lastPrinted>
  <dcterms:created xsi:type="dcterms:W3CDTF">2019-01-24T15:24:40Z</dcterms:created>
  <dcterms:modified xsi:type="dcterms:W3CDTF">2026-10-09T19:37:27Z</dcterms:modified>
</cp:coreProperties>
</file>
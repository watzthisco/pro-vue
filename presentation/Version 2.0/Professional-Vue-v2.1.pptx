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5" r:id="rId1"/>
  </p:sldMasterIdLst>
  <p:notesMasterIdLst>
    <p:notesMasterId r:id="rId310"/>
  </p:notesMasterIdLst>
  <p:handoutMasterIdLst>
    <p:handoutMasterId r:id="rId311"/>
  </p:handoutMasterIdLst>
  <p:sldIdLst>
    <p:sldId id="511" r:id="rId2"/>
    <p:sldId id="256" r:id="rId3"/>
    <p:sldId id="512" r:id="rId4"/>
    <p:sldId id="1715" r:id="rId5"/>
    <p:sldId id="699" r:id="rId6"/>
    <p:sldId id="700" r:id="rId7"/>
    <p:sldId id="706" r:id="rId8"/>
    <p:sldId id="514" r:id="rId9"/>
    <p:sldId id="999" r:id="rId10"/>
    <p:sldId id="1000" r:id="rId11"/>
    <p:sldId id="849" r:id="rId12"/>
    <p:sldId id="278" r:id="rId13"/>
    <p:sldId id="1655" r:id="rId14"/>
    <p:sldId id="259" r:id="rId15"/>
    <p:sldId id="1611" r:id="rId16"/>
    <p:sldId id="281" r:id="rId17"/>
    <p:sldId id="1010" r:id="rId18"/>
    <p:sldId id="282" r:id="rId19"/>
    <p:sldId id="283" r:id="rId20"/>
    <p:sldId id="808" r:id="rId21"/>
    <p:sldId id="517" r:id="rId22"/>
    <p:sldId id="518" r:id="rId23"/>
    <p:sldId id="831" r:id="rId24"/>
    <p:sldId id="857" r:id="rId25"/>
    <p:sldId id="1014" r:id="rId26"/>
    <p:sldId id="1656" r:id="rId27"/>
    <p:sldId id="1713" r:id="rId28"/>
    <p:sldId id="1728" r:id="rId29"/>
    <p:sldId id="1015" r:id="rId30"/>
    <p:sldId id="832" r:id="rId31"/>
    <p:sldId id="1645" r:id="rId32"/>
    <p:sldId id="519" r:id="rId33"/>
    <p:sldId id="520" r:id="rId34"/>
    <p:sldId id="827" r:id="rId35"/>
    <p:sldId id="898" r:id="rId36"/>
    <p:sldId id="998" r:id="rId37"/>
    <p:sldId id="899" r:id="rId38"/>
    <p:sldId id="911" r:id="rId39"/>
    <p:sldId id="709" r:id="rId40"/>
    <p:sldId id="708" r:id="rId41"/>
    <p:sldId id="828" r:id="rId42"/>
    <p:sldId id="741" r:id="rId43"/>
    <p:sldId id="1729" r:id="rId44"/>
    <p:sldId id="1730" r:id="rId45"/>
    <p:sldId id="713" r:id="rId46"/>
    <p:sldId id="521" r:id="rId47"/>
    <p:sldId id="842" r:id="rId48"/>
    <p:sldId id="843" r:id="rId49"/>
    <p:sldId id="535" r:id="rId50"/>
    <p:sldId id="1013" r:id="rId51"/>
    <p:sldId id="536" r:id="rId52"/>
    <p:sldId id="537" r:id="rId53"/>
    <p:sldId id="445" r:id="rId54"/>
    <p:sldId id="538" r:id="rId55"/>
    <p:sldId id="845" r:id="rId56"/>
    <p:sldId id="1646" r:id="rId57"/>
    <p:sldId id="1714" r:id="rId58"/>
    <p:sldId id="553" r:id="rId59"/>
    <p:sldId id="554" r:id="rId60"/>
    <p:sldId id="722" r:id="rId61"/>
    <p:sldId id="723" r:id="rId62"/>
    <p:sldId id="724" r:id="rId63"/>
    <p:sldId id="556" r:id="rId64"/>
    <p:sldId id="847" r:id="rId65"/>
    <p:sldId id="1657" r:id="rId66"/>
    <p:sldId id="1638" r:id="rId67"/>
    <p:sldId id="1658" r:id="rId68"/>
    <p:sldId id="1659" r:id="rId69"/>
    <p:sldId id="1660" r:id="rId70"/>
    <p:sldId id="264" r:id="rId71"/>
    <p:sldId id="446" r:id="rId72"/>
    <p:sldId id="643" r:id="rId73"/>
    <p:sldId id="644" r:id="rId74"/>
    <p:sldId id="645" r:id="rId75"/>
    <p:sldId id="646" r:id="rId76"/>
    <p:sldId id="647" r:id="rId77"/>
    <p:sldId id="648" r:id="rId78"/>
    <p:sldId id="649" r:id="rId79"/>
    <p:sldId id="650" r:id="rId80"/>
    <p:sldId id="651" r:id="rId81"/>
    <p:sldId id="1712" r:id="rId82"/>
    <p:sldId id="838" r:id="rId83"/>
    <p:sldId id="560" r:id="rId84"/>
    <p:sldId id="840" r:id="rId85"/>
    <p:sldId id="841" r:id="rId86"/>
    <p:sldId id="848" r:id="rId87"/>
    <p:sldId id="284" r:id="rId88"/>
    <p:sldId id="1727" r:id="rId89"/>
    <p:sldId id="1003" r:id="rId90"/>
    <p:sldId id="1726" r:id="rId91"/>
    <p:sldId id="1725" r:id="rId92"/>
    <p:sldId id="1724" r:id="rId93"/>
    <p:sldId id="274" r:id="rId94"/>
    <p:sldId id="852" r:id="rId95"/>
    <p:sldId id="277" r:id="rId96"/>
    <p:sldId id="853" r:id="rId97"/>
    <p:sldId id="303" r:id="rId98"/>
    <p:sldId id="1007" r:id="rId99"/>
    <p:sldId id="1008" r:id="rId100"/>
    <p:sldId id="1009" r:id="rId101"/>
    <p:sldId id="1004" r:id="rId102"/>
    <p:sldId id="1005" r:id="rId103"/>
    <p:sldId id="854" r:id="rId104"/>
    <p:sldId id="307" r:id="rId105"/>
    <p:sldId id="308" r:id="rId106"/>
    <p:sldId id="310" r:id="rId107"/>
    <p:sldId id="309" r:id="rId108"/>
    <p:sldId id="1017" r:id="rId109"/>
    <p:sldId id="1018" r:id="rId110"/>
    <p:sldId id="1691" r:id="rId111"/>
    <p:sldId id="1642" r:id="rId112"/>
    <p:sldId id="1643" r:id="rId113"/>
    <p:sldId id="1644" r:id="rId114"/>
    <p:sldId id="330" r:id="rId115"/>
    <p:sldId id="1692" r:id="rId116"/>
    <p:sldId id="1701" r:id="rId117"/>
    <p:sldId id="1022" r:id="rId118"/>
    <p:sldId id="1023" r:id="rId119"/>
    <p:sldId id="321" r:id="rId120"/>
    <p:sldId id="1024" r:id="rId121"/>
    <p:sldId id="1693" r:id="rId122"/>
    <p:sldId id="312" r:id="rId123"/>
    <p:sldId id="1639" r:id="rId124"/>
    <p:sldId id="1001" r:id="rId125"/>
    <p:sldId id="272" r:id="rId126"/>
    <p:sldId id="333" r:id="rId127"/>
    <p:sldId id="334" r:id="rId128"/>
    <p:sldId id="273" r:id="rId129"/>
    <p:sldId id="311" r:id="rId130"/>
    <p:sldId id="313" r:id="rId131"/>
    <p:sldId id="1016" r:id="rId132"/>
    <p:sldId id="290" r:id="rId133"/>
    <p:sldId id="1694" r:id="rId134"/>
    <p:sldId id="297" r:id="rId135"/>
    <p:sldId id="298" r:id="rId136"/>
    <p:sldId id="299" r:id="rId137"/>
    <p:sldId id="851" r:id="rId138"/>
    <p:sldId id="1661" r:id="rId139"/>
    <p:sldId id="345" r:id="rId140"/>
    <p:sldId id="1682" r:id="rId141"/>
    <p:sldId id="1695" r:id="rId142"/>
    <p:sldId id="1640" r:id="rId143"/>
    <p:sldId id="1641" r:id="rId144"/>
    <p:sldId id="1667" r:id="rId145"/>
    <p:sldId id="1668" r:id="rId146"/>
    <p:sldId id="1669" r:id="rId147"/>
    <p:sldId id="1670" r:id="rId148"/>
    <p:sldId id="1671" r:id="rId149"/>
    <p:sldId id="1672" r:id="rId150"/>
    <p:sldId id="1673" r:id="rId151"/>
    <p:sldId id="1674" r:id="rId152"/>
    <p:sldId id="1675" r:id="rId153"/>
    <p:sldId id="1676" r:id="rId154"/>
    <p:sldId id="1696" r:id="rId155"/>
    <p:sldId id="331" r:id="rId156"/>
    <p:sldId id="332" r:id="rId157"/>
    <p:sldId id="1002" r:id="rId158"/>
    <p:sldId id="335" r:id="rId159"/>
    <p:sldId id="336" r:id="rId160"/>
    <p:sldId id="337" r:id="rId161"/>
    <p:sldId id="338" r:id="rId162"/>
    <p:sldId id="1697" r:id="rId163"/>
    <p:sldId id="339" r:id="rId164"/>
    <p:sldId id="1006" r:id="rId165"/>
    <p:sldId id="340" r:id="rId166"/>
    <p:sldId id="341" r:id="rId167"/>
    <p:sldId id="1681" r:id="rId168"/>
    <p:sldId id="1677" r:id="rId169"/>
    <p:sldId id="1716" r:id="rId170"/>
    <p:sldId id="1678" r:id="rId171"/>
    <p:sldId id="1679" r:id="rId172"/>
    <p:sldId id="343" r:id="rId173"/>
    <p:sldId id="344" r:id="rId174"/>
    <p:sldId id="1680" r:id="rId175"/>
    <p:sldId id="346" r:id="rId176"/>
    <p:sldId id="1683" r:id="rId177"/>
    <p:sldId id="349" r:id="rId178"/>
    <p:sldId id="1686" r:id="rId179"/>
    <p:sldId id="1687" r:id="rId180"/>
    <p:sldId id="1688" r:id="rId181"/>
    <p:sldId id="1685" r:id="rId182"/>
    <p:sldId id="1689" r:id="rId183"/>
    <p:sldId id="1698" r:id="rId184"/>
    <p:sldId id="351" r:id="rId185"/>
    <p:sldId id="1647" r:id="rId186"/>
    <p:sldId id="1648" r:id="rId187"/>
    <p:sldId id="1649" r:id="rId188"/>
    <p:sldId id="1652" r:id="rId189"/>
    <p:sldId id="1653" r:id="rId190"/>
    <p:sldId id="1654" r:id="rId191"/>
    <p:sldId id="1650" r:id="rId192"/>
    <p:sldId id="1699" r:id="rId193"/>
    <p:sldId id="352" r:id="rId194"/>
    <p:sldId id="353" r:id="rId195"/>
    <p:sldId id="658" r:id="rId196"/>
    <p:sldId id="659" r:id="rId197"/>
    <p:sldId id="660" r:id="rId198"/>
    <p:sldId id="661" r:id="rId199"/>
    <p:sldId id="662" r:id="rId200"/>
    <p:sldId id="355" r:id="rId201"/>
    <p:sldId id="356" r:id="rId202"/>
    <p:sldId id="357" r:id="rId203"/>
    <p:sldId id="358" r:id="rId204"/>
    <p:sldId id="1690" r:id="rId205"/>
    <p:sldId id="359" r:id="rId206"/>
    <p:sldId id="360" r:id="rId207"/>
    <p:sldId id="361" r:id="rId208"/>
    <p:sldId id="1706" r:id="rId209"/>
    <p:sldId id="362" r:id="rId210"/>
    <p:sldId id="363" r:id="rId211"/>
    <p:sldId id="1702" r:id="rId212"/>
    <p:sldId id="391" r:id="rId213"/>
    <p:sldId id="392" r:id="rId214"/>
    <p:sldId id="1710" r:id="rId215"/>
    <p:sldId id="1711" r:id="rId216"/>
    <p:sldId id="1704" r:id="rId217"/>
    <p:sldId id="1703" r:id="rId218"/>
    <p:sldId id="406" r:id="rId219"/>
    <p:sldId id="561" r:id="rId220"/>
    <p:sldId id="750" r:id="rId221"/>
    <p:sldId id="751" r:id="rId222"/>
    <p:sldId id="562" r:id="rId223"/>
    <p:sldId id="752" r:id="rId224"/>
    <p:sldId id="753" r:id="rId225"/>
    <p:sldId id="754" r:id="rId226"/>
    <p:sldId id="563" r:id="rId227"/>
    <p:sldId id="761" r:id="rId228"/>
    <p:sldId id="564" r:id="rId229"/>
    <p:sldId id="565" r:id="rId230"/>
    <p:sldId id="473" r:id="rId231"/>
    <p:sldId id="566" r:id="rId232"/>
    <p:sldId id="567" r:id="rId233"/>
    <p:sldId id="568" r:id="rId234"/>
    <p:sldId id="569" r:id="rId235"/>
    <p:sldId id="570" r:id="rId236"/>
    <p:sldId id="571" r:id="rId237"/>
    <p:sldId id="448" r:id="rId238"/>
    <p:sldId id="449" r:id="rId239"/>
    <p:sldId id="791" r:id="rId240"/>
    <p:sldId id="792" r:id="rId241"/>
    <p:sldId id="795" r:id="rId242"/>
    <p:sldId id="796" r:id="rId243"/>
    <p:sldId id="794" r:id="rId244"/>
    <p:sldId id="797" r:id="rId245"/>
    <p:sldId id="798" r:id="rId246"/>
    <p:sldId id="756" r:id="rId247"/>
    <p:sldId id="757" r:id="rId248"/>
    <p:sldId id="1709" r:id="rId249"/>
    <p:sldId id="474" r:id="rId250"/>
    <p:sldId id="409" r:id="rId251"/>
    <p:sldId id="575" r:id="rId252"/>
    <p:sldId id="428" r:id="rId253"/>
    <p:sldId id="1717" r:id="rId254"/>
    <p:sldId id="1718" r:id="rId255"/>
    <p:sldId id="1719" r:id="rId256"/>
    <p:sldId id="1720" r:id="rId257"/>
    <p:sldId id="1721" r:id="rId258"/>
    <p:sldId id="1722" r:id="rId259"/>
    <p:sldId id="430" r:id="rId260"/>
    <p:sldId id="1723" r:id="rId261"/>
    <p:sldId id="1705" r:id="rId262"/>
    <p:sldId id="590" r:id="rId263"/>
    <p:sldId id="591" r:id="rId264"/>
    <p:sldId id="467" r:id="rId265"/>
    <p:sldId id="468" r:id="rId266"/>
    <p:sldId id="816" r:id="rId267"/>
    <p:sldId id="817" r:id="rId268"/>
    <p:sldId id="818" r:id="rId269"/>
    <p:sldId id="470" r:id="rId270"/>
    <p:sldId id="471" r:id="rId271"/>
    <p:sldId id="301" r:id="rId272"/>
    <p:sldId id="478" r:id="rId273"/>
    <p:sldId id="480" r:id="rId274"/>
    <p:sldId id="481" r:id="rId275"/>
    <p:sldId id="482" r:id="rId276"/>
    <p:sldId id="483" r:id="rId277"/>
    <p:sldId id="484" r:id="rId278"/>
    <p:sldId id="485" r:id="rId279"/>
    <p:sldId id="721" r:id="rId280"/>
    <p:sldId id="493" r:id="rId281"/>
    <p:sldId id="666" r:id="rId282"/>
    <p:sldId id="302" r:id="rId283"/>
    <p:sldId id="300" r:id="rId284"/>
    <p:sldId id="487" r:id="rId285"/>
    <p:sldId id="486" r:id="rId286"/>
    <p:sldId id="488" r:id="rId287"/>
    <p:sldId id="819" r:id="rId288"/>
    <p:sldId id="768" r:id="rId289"/>
    <p:sldId id="555" r:id="rId290"/>
    <p:sldId id="497" r:id="rId291"/>
    <p:sldId id="498" r:id="rId292"/>
    <p:sldId id="499" r:id="rId293"/>
    <p:sldId id="500" r:id="rId294"/>
    <p:sldId id="501" r:id="rId295"/>
    <p:sldId id="502" r:id="rId296"/>
    <p:sldId id="503" r:id="rId297"/>
    <p:sldId id="504" r:id="rId298"/>
    <p:sldId id="505" r:id="rId299"/>
    <p:sldId id="506" r:id="rId300"/>
    <p:sldId id="508" r:id="rId301"/>
    <p:sldId id="769" r:id="rId302"/>
    <p:sldId id="770" r:id="rId303"/>
    <p:sldId id="771" r:id="rId304"/>
    <p:sldId id="772" r:id="rId305"/>
    <p:sldId id="773" r:id="rId306"/>
    <p:sldId id="774" r:id="rId307"/>
    <p:sldId id="820" r:id="rId308"/>
    <p:sldId id="736" r:id="rId30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050A0E-7B66-5A48-8CFA-B665A53A6A76}">
          <p14:sldIdLst>
            <p14:sldId id="511"/>
            <p14:sldId id="256"/>
            <p14:sldId id="512"/>
            <p14:sldId id="1715"/>
            <p14:sldId id="699"/>
            <p14:sldId id="700"/>
            <p14:sldId id="706"/>
            <p14:sldId id="514"/>
            <p14:sldId id="999"/>
            <p14:sldId id="1000"/>
            <p14:sldId id="849"/>
            <p14:sldId id="278"/>
            <p14:sldId id="1655"/>
            <p14:sldId id="259"/>
            <p14:sldId id="1611"/>
            <p14:sldId id="281"/>
            <p14:sldId id="1010"/>
            <p14:sldId id="282"/>
            <p14:sldId id="283"/>
          </p14:sldIdLst>
        </p14:section>
        <p14:section name="Vue Quickstart" id="{77B3DB39-654D-1D4C-B222-84775226D246}">
          <p14:sldIdLst>
            <p14:sldId id="808"/>
            <p14:sldId id="517"/>
            <p14:sldId id="518"/>
            <p14:sldId id="831"/>
            <p14:sldId id="857"/>
            <p14:sldId id="1014"/>
            <p14:sldId id="1656"/>
            <p14:sldId id="1713"/>
            <p14:sldId id="1728"/>
            <p14:sldId id="1015"/>
            <p14:sldId id="832"/>
            <p14:sldId id="1645"/>
          </p14:sldIdLst>
        </p14:section>
        <p14:section name="Node.js" id="{E3607AB8-7E3F-994C-8053-84E21242FF6B}">
          <p14:sldIdLst>
            <p14:sldId id="519"/>
            <p14:sldId id="520"/>
            <p14:sldId id="827"/>
            <p14:sldId id="898"/>
            <p14:sldId id="998"/>
            <p14:sldId id="899"/>
            <p14:sldId id="911"/>
            <p14:sldId id="709"/>
            <p14:sldId id="708"/>
            <p14:sldId id="828"/>
            <p14:sldId id="741"/>
            <p14:sldId id="1729"/>
            <p14:sldId id="1730"/>
            <p14:sldId id="713"/>
            <p14:sldId id="521"/>
          </p14:sldIdLst>
        </p14:section>
        <p14:section name="Tooling" id="{E799AF48-300E-2744-AE4C-756FDE827D1C}">
          <p14:sldIdLst>
            <p14:sldId id="842"/>
            <p14:sldId id="843"/>
            <p14:sldId id="535"/>
            <p14:sldId id="1013"/>
            <p14:sldId id="536"/>
            <p14:sldId id="537"/>
            <p14:sldId id="445"/>
            <p14:sldId id="538"/>
            <p14:sldId id="845"/>
            <p14:sldId id="1646"/>
            <p14:sldId id="1714"/>
            <p14:sldId id="553"/>
            <p14:sldId id="554"/>
            <p14:sldId id="722"/>
            <p14:sldId id="723"/>
            <p14:sldId id="724"/>
            <p14:sldId id="556"/>
            <p14:sldId id="847"/>
            <p14:sldId id="1657"/>
            <p14:sldId id="1638"/>
            <p14:sldId id="1658"/>
            <p14:sldId id="1659"/>
            <p14:sldId id="1660"/>
            <p14:sldId id="264"/>
            <p14:sldId id="446"/>
            <p14:sldId id="643"/>
            <p14:sldId id="644"/>
            <p14:sldId id="645"/>
            <p14:sldId id="646"/>
            <p14:sldId id="647"/>
            <p14:sldId id="648"/>
            <p14:sldId id="649"/>
            <p14:sldId id="650"/>
            <p14:sldId id="651"/>
            <p14:sldId id="1712"/>
            <p14:sldId id="838"/>
            <p14:sldId id="560"/>
            <p14:sldId id="840"/>
            <p14:sldId id="841"/>
          </p14:sldIdLst>
        </p14:section>
        <p14:section name="Fundamentals of Vue.js" id="{5BBB167B-8391-2C48-B126-73D625715FA9}">
          <p14:sldIdLst>
            <p14:sldId id="848"/>
            <p14:sldId id="284"/>
            <p14:sldId id="1727"/>
            <p14:sldId id="1003"/>
            <p14:sldId id="1726"/>
            <p14:sldId id="1725"/>
            <p14:sldId id="1724"/>
            <p14:sldId id="274"/>
            <p14:sldId id="852"/>
            <p14:sldId id="277"/>
            <p14:sldId id="853"/>
            <p14:sldId id="303"/>
            <p14:sldId id="1007"/>
            <p14:sldId id="1008"/>
            <p14:sldId id="1009"/>
            <p14:sldId id="1004"/>
            <p14:sldId id="1005"/>
            <p14:sldId id="854"/>
            <p14:sldId id="307"/>
            <p14:sldId id="308"/>
            <p14:sldId id="310"/>
            <p14:sldId id="309"/>
            <p14:sldId id="1017"/>
            <p14:sldId id="1018"/>
            <p14:sldId id="1691"/>
            <p14:sldId id="1642"/>
            <p14:sldId id="1643"/>
            <p14:sldId id="1644"/>
            <p14:sldId id="330"/>
            <p14:sldId id="1692"/>
            <p14:sldId id="1701"/>
            <p14:sldId id="1022"/>
            <p14:sldId id="1023"/>
            <p14:sldId id="321"/>
            <p14:sldId id="1024"/>
            <p14:sldId id="1693"/>
            <p14:sldId id="312"/>
            <p14:sldId id="1639"/>
            <p14:sldId id="1001"/>
            <p14:sldId id="272"/>
            <p14:sldId id="333"/>
            <p14:sldId id="334"/>
            <p14:sldId id="273"/>
            <p14:sldId id="311"/>
            <p14:sldId id="313"/>
            <p14:sldId id="1016"/>
            <p14:sldId id="290"/>
            <p14:sldId id="1694"/>
            <p14:sldId id="297"/>
            <p14:sldId id="298"/>
            <p14:sldId id="299"/>
            <p14:sldId id="851"/>
            <p14:sldId id="1661"/>
            <p14:sldId id="345"/>
            <p14:sldId id="1682"/>
            <p14:sldId id="1695"/>
            <p14:sldId id="1640"/>
            <p14:sldId id="1641"/>
            <p14:sldId id="1667"/>
            <p14:sldId id="1668"/>
            <p14:sldId id="1669"/>
            <p14:sldId id="1670"/>
            <p14:sldId id="1671"/>
            <p14:sldId id="1672"/>
            <p14:sldId id="1673"/>
            <p14:sldId id="1674"/>
            <p14:sldId id="1675"/>
            <p14:sldId id="1676"/>
            <p14:sldId id="1696"/>
            <p14:sldId id="331"/>
            <p14:sldId id="332"/>
            <p14:sldId id="1002"/>
            <p14:sldId id="335"/>
            <p14:sldId id="336"/>
            <p14:sldId id="337"/>
            <p14:sldId id="338"/>
            <p14:sldId id="1697"/>
          </p14:sldIdLst>
        </p14:section>
        <p14:section name="Vue Components" id="{49F0A072-3364-914D-AE8A-CF4BF10C9F2C}">
          <p14:sldIdLst>
            <p14:sldId id="339"/>
            <p14:sldId id="1006"/>
            <p14:sldId id="340"/>
            <p14:sldId id="341"/>
            <p14:sldId id="1681"/>
            <p14:sldId id="1677"/>
            <p14:sldId id="1716"/>
            <p14:sldId id="1678"/>
            <p14:sldId id="1679"/>
            <p14:sldId id="343"/>
            <p14:sldId id="344"/>
            <p14:sldId id="1680"/>
            <p14:sldId id="346"/>
            <p14:sldId id="1683"/>
            <p14:sldId id="349"/>
            <p14:sldId id="1686"/>
            <p14:sldId id="1687"/>
            <p14:sldId id="1688"/>
            <p14:sldId id="1685"/>
            <p14:sldId id="1689"/>
            <p14:sldId id="1698"/>
            <p14:sldId id="351"/>
            <p14:sldId id="1647"/>
            <p14:sldId id="1648"/>
            <p14:sldId id="1649"/>
            <p14:sldId id="1652"/>
            <p14:sldId id="1653"/>
            <p14:sldId id="1654"/>
            <p14:sldId id="1650"/>
            <p14:sldId id="1699"/>
          </p14:sldIdLst>
        </p14:section>
        <p14:section name="Vuex" id="{710FAF74-7526-7241-A0AC-499E00CFF50A}">
          <p14:sldIdLst>
            <p14:sldId id="352"/>
            <p14:sldId id="353"/>
            <p14:sldId id="658"/>
            <p14:sldId id="659"/>
            <p14:sldId id="660"/>
            <p14:sldId id="661"/>
            <p14:sldId id="662"/>
            <p14:sldId id="355"/>
            <p14:sldId id="356"/>
            <p14:sldId id="357"/>
            <p14:sldId id="358"/>
            <p14:sldId id="1690"/>
            <p14:sldId id="359"/>
            <p14:sldId id="360"/>
            <p14:sldId id="361"/>
            <p14:sldId id="1706"/>
            <p14:sldId id="362"/>
            <p14:sldId id="363"/>
            <p14:sldId id="1702"/>
          </p14:sldIdLst>
        </p14:section>
        <p14:section name="Single Page Applications" id="{ED507FE0-AE25-1B4A-8EAD-2772886D21E1}">
          <p14:sldIdLst>
            <p14:sldId id="391"/>
            <p14:sldId id="392"/>
            <p14:sldId id="1710"/>
            <p14:sldId id="1711"/>
            <p14:sldId id="1704"/>
            <p14:sldId id="1703"/>
          </p14:sldIdLst>
        </p14:section>
        <p14:section name="Testing" id="{40461C12-B808-F34E-8DFF-B2EDB0D6F06A}">
          <p14:sldIdLst>
            <p14:sldId id="406"/>
            <p14:sldId id="561"/>
            <p14:sldId id="750"/>
            <p14:sldId id="751"/>
            <p14:sldId id="562"/>
            <p14:sldId id="752"/>
            <p14:sldId id="753"/>
            <p14:sldId id="754"/>
            <p14:sldId id="563"/>
            <p14:sldId id="761"/>
            <p14:sldId id="564"/>
            <p14:sldId id="565"/>
            <p14:sldId id="473"/>
            <p14:sldId id="566"/>
            <p14:sldId id="567"/>
            <p14:sldId id="568"/>
            <p14:sldId id="569"/>
            <p14:sldId id="570"/>
            <p14:sldId id="571"/>
            <p14:sldId id="448"/>
            <p14:sldId id="449"/>
            <p14:sldId id="791"/>
            <p14:sldId id="792"/>
            <p14:sldId id="795"/>
            <p14:sldId id="796"/>
            <p14:sldId id="794"/>
            <p14:sldId id="797"/>
            <p14:sldId id="798"/>
            <p14:sldId id="756"/>
            <p14:sldId id="757"/>
            <p14:sldId id="1709"/>
            <p14:sldId id="474"/>
            <p14:sldId id="409"/>
            <p14:sldId id="575"/>
          </p14:sldIdLst>
        </p14:section>
        <p14:section name="Transitions and Animation" id="{20852C64-EA2C-234F-BB41-3639254DC5A6}">
          <p14:sldIdLst>
            <p14:sldId id="428"/>
            <p14:sldId id="1717"/>
            <p14:sldId id="1718"/>
            <p14:sldId id="1719"/>
            <p14:sldId id="1720"/>
            <p14:sldId id="1721"/>
            <p14:sldId id="1722"/>
            <p14:sldId id="430"/>
            <p14:sldId id="1723"/>
            <p14:sldId id="1705"/>
          </p14:sldIdLst>
        </p14:section>
        <p14:section name="Modern JavaScript" id="{59853FE4-C631-314D-9A32-D5D208F07764}">
          <p14:sldIdLst>
            <p14:sldId id="590"/>
            <p14:sldId id="591"/>
            <p14:sldId id="467"/>
            <p14:sldId id="468"/>
            <p14:sldId id="816"/>
            <p14:sldId id="817"/>
            <p14:sldId id="818"/>
            <p14:sldId id="470"/>
            <p14:sldId id="471"/>
            <p14:sldId id="301"/>
            <p14:sldId id="478"/>
            <p14:sldId id="480"/>
            <p14:sldId id="481"/>
            <p14:sldId id="482"/>
            <p14:sldId id="483"/>
            <p14:sldId id="484"/>
            <p14:sldId id="485"/>
            <p14:sldId id="721"/>
            <p14:sldId id="493"/>
            <p14:sldId id="666"/>
            <p14:sldId id="302"/>
            <p14:sldId id="300"/>
            <p14:sldId id="487"/>
            <p14:sldId id="486"/>
            <p14:sldId id="488"/>
            <p14:sldId id="819"/>
            <p14:sldId id="768"/>
            <p14:sldId id="555"/>
            <p14:sldId id="497"/>
            <p14:sldId id="498"/>
            <p14:sldId id="499"/>
            <p14:sldId id="500"/>
            <p14:sldId id="501"/>
            <p14:sldId id="502"/>
            <p14:sldId id="503"/>
            <p14:sldId id="504"/>
            <p14:sldId id="505"/>
            <p14:sldId id="506"/>
            <p14:sldId id="508"/>
            <p14:sldId id="769"/>
            <p14:sldId id="770"/>
            <p14:sldId id="771"/>
            <p14:sldId id="772"/>
            <p14:sldId id="773"/>
            <p14:sldId id="774"/>
            <p14:sldId id="820"/>
          </p14:sldIdLst>
        </p14:section>
        <p14:section name="Copyright and Credits" id="{505EFFCD-B504-7545-881A-CE0A128F6255}">
          <p14:sldIdLst>
            <p14:sldId id="73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li Holland" initials="" lastIdx="7"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9" autoAdjust="0"/>
    <p:restoredTop sz="86402" autoAdjust="0"/>
  </p:normalViewPr>
  <p:slideViewPr>
    <p:cSldViewPr snapToGrid="0" snapToObjects="1">
      <p:cViewPr varScale="1">
        <p:scale>
          <a:sx n="107" d="100"/>
          <a:sy n="107" d="100"/>
        </p:scale>
        <p:origin x="528" y="160"/>
      </p:cViewPr>
      <p:guideLst>
        <p:guide orient="horz" pos="2160"/>
        <p:guide pos="2880"/>
      </p:guideLst>
    </p:cSldViewPr>
  </p:slideViewPr>
  <p:outlineViewPr>
    <p:cViewPr>
      <p:scale>
        <a:sx n="20" d="100"/>
        <a:sy n="20" d="100"/>
      </p:scale>
      <p:origin x="0" y="-1660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 r:id="rId106" collapse="1"/>
      <p:sld r:id="rId107" collapse="1"/>
      <p:sld r:id="rId108" collapse="1"/>
      <p:sld r:id="rId109" collapse="1"/>
      <p:sld r:id="rId110" collapse="1"/>
      <p:sld r:id="rId111" collapse="1"/>
      <p:sld r:id="rId112" collapse="1"/>
      <p:sld r:id="rId113" collapse="1"/>
      <p:sld r:id="rId114" collapse="1"/>
      <p:sld r:id="rId115" collapse="1"/>
      <p:sld r:id="rId116" collapse="1"/>
      <p:sld r:id="rId117" collapse="1"/>
      <p:sld r:id="rId118" collapse="1"/>
      <p:sld r:id="rId119" collapse="1"/>
      <p:sld r:id="rId120" collapse="1"/>
      <p:sld r:id="rId121" collapse="1"/>
      <p:sld r:id="rId122" collapse="1"/>
      <p:sld r:id="rId123" collapse="1"/>
      <p:sld r:id="rId124" collapse="1"/>
      <p:sld r:id="rId125" collapse="1"/>
      <p:sld r:id="rId126" collapse="1"/>
      <p:sld r:id="rId127" collapse="1"/>
      <p:sld r:id="rId128" collapse="1"/>
      <p:sld r:id="rId129" collapse="1"/>
      <p:sld r:id="rId130" collapse="1"/>
      <p:sld r:id="rId131" collapse="1"/>
      <p:sld r:id="rId132" collapse="1"/>
      <p:sld r:id="rId133" collapse="1"/>
      <p:sld r:id="rId134" collapse="1"/>
      <p:sld r:id="rId135" collapse="1"/>
      <p:sld r:id="rId136" collapse="1"/>
      <p:sld r:id="rId137" collapse="1"/>
      <p:sld r:id="rId138" collapse="1"/>
      <p:sld r:id="rId139" collapse="1"/>
      <p:sld r:id="rId140" collapse="1"/>
      <p:sld r:id="rId141" collapse="1"/>
      <p:sld r:id="rId142" collapse="1"/>
      <p:sld r:id="rId143" collapse="1"/>
      <p:sld r:id="rId144" collapse="1"/>
      <p:sld r:id="rId145" collapse="1"/>
      <p:sld r:id="rId146" collapse="1"/>
      <p:sld r:id="rId147" collapse="1"/>
      <p:sld r:id="rId148" collapse="1"/>
      <p:sld r:id="rId149" collapse="1"/>
      <p:sld r:id="rId150" collapse="1"/>
      <p:sld r:id="rId151" collapse="1"/>
      <p:sld r:id="rId152" collapse="1"/>
      <p:sld r:id="rId153" collapse="1"/>
      <p:sld r:id="rId154" collapse="1"/>
      <p:sld r:id="rId155" collapse="1"/>
      <p:sld r:id="rId156" collapse="1"/>
      <p:sld r:id="rId157" collapse="1"/>
      <p:sld r:id="rId158" collapse="1"/>
      <p:sld r:id="rId159" collapse="1"/>
      <p:sld r:id="rId160" collapse="1"/>
      <p:sld r:id="rId161" collapse="1"/>
      <p:sld r:id="rId162" collapse="1"/>
      <p:sld r:id="rId163" collapse="1"/>
      <p:sld r:id="rId164" collapse="1"/>
      <p:sld r:id="rId165" collapse="1"/>
      <p:sld r:id="rId166" collapse="1"/>
      <p:sld r:id="rId167" collapse="1"/>
      <p:sld r:id="rId168" collapse="1"/>
      <p:sld r:id="rId169" collapse="1"/>
      <p:sld r:id="rId170" collapse="1"/>
      <p:sld r:id="rId171" collapse="1"/>
      <p:sld r:id="rId172" collapse="1"/>
      <p:sld r:id="rId173" collapse="1"/>
      <p:sld r:id="rId174" collapse="1"/>
      <p:sld r:id="rId175" collapse="1"/>
      <p:sld r:id="rId176" collapse="1"/>
      <p:sld r:id="rId177" collapse="1"/>
      <p:sld r:id="rId178" collapse="1"/>
      <p:sld r:id="rId179" collapse="1"/>
      <p:sld r:id="rId180" collapse="1"/>
      <p:sld r:id="rId181" collapse="1"/>
      <p:sld r:id="rId182" collapse="1"/>
      <p:sld r:id="rId183" collapse="1"/>
      <p:sld r:id="rId184" collapse="1"/>
      <p:sld r:id="rId185" collapse="1"/>
      <p:sld r:id="rId186" collapse="1"/>
      <p:sld r:id="rId187" collapse="1"/>
      <p:sld r:id="rId188" collapse="1"/>
      <p:sld r:id="rId189" collapse="1"/>
      <p:sld r:id="rId190" collapse="1"/>
      <p:sld r:id="rId191" collapse="1"/>
      <p:sld r:id="rId192" collapse="1"/>
      <p:sld r:id="rId193" collapse="1"/>
      <p:sld r:id="rId194" collapse="1"/>
      <p:sld r:id="rId195" collapse="1"/>
      <p:sld r:id="rId196" collapse="1"/>
      <p:sld r:id="rId197" collapse="1"/>
      <p:sld r:id="rId198" collapse="1"/>
      <p:sld r:id="rId199" collapse="1"/>
      <p:sld r:id="rId200" collapse="1"/>
      <p:sld r:id="rId201" collapse="1"/>
      <p:sld r:id="rId202" collapse="1"/>
      <p:sld r:id="rId203" collapse="1"/>
      <p:sld r:id="rId204" collapse="1"/>
      <p:sld r:id="rId205" collapse="1"/>
      <p:sld r:id="rId206" collapse="1"/>
      <p:sld r:id="rId207" collapse="1"/>
      <p:sld r:id="rId208" collapse="1"/>
      <p:sld r:id="rId209" collapse="1"/>
      <p:sld r:id="rId210" collapse="1"/>
      <p:sld r:id="rId211" collapse="1"/>
      <p:sld r:id="rId212" collapse="1"/>
      <p:sld r:id="rId213" collapse="1"/>
      <p:sld r:id="rId214" collapse="1"/>
      <p:sld r:id="rId215" collapse="1"/>
      <p:sld r:id="rId216" collapse="1"/>
      <p:sld r:id="rId217" collapse="1"/>
      <p:sld r:id="rId218" collapse="1"/>
      <p:sld r:id="rId219" collapse="1"/>
      <p:sld r:id="rId220" collapse="1"/>
      <p:sld r:id="rId221" collapse="1"/>
      <p:sld r:id="rId222" collapse="1"/>
      <p:sld r:id="rId223" collapse="1"/>
      <p:sld r:id="rId224" collapse="1"/>
      <p:sld r:id="rId225" collapse="1"/>
      <p:sld r:id="rId226" collapse="1"/>
      <p:sld r:id="rId227" collapse="1"/>
      <p:sld r:id="rId228" collapse="1"/>
      <p:sld r:id="rId229" collapse="1"/>
      <p:sld r:id="rId230" collapse="1"/>
      <p:sld r:id="rId231" collapse="1"/>
      <p:sld r:id="rId232" collapse="1"/>
      <p:sld r:id="rId233" collapse="1"/>
      <p:sld r:id="rId234" collapse="1"/>
      <p:sld r:id="rId235" collapse="1"/>
      <p:sld r:id="rId236" collapse="1"/>
      <p:sld r:id="rId237" collapse="1"/>
      <p:sld r:id="rId238" collapse="1"/>
      <p:sld r:id="rId239" collapse="1"/>
      <p:sld r:id="rId240" collapse="1"/>
      <p:sld r:id="rId241" collapse="1"/>
      <p:sld r:id="rId242" collapse="1"/>
      <p:sld r:id="rId243" collapse="1"/>
      <p:sld r:id="rId244" collapse="1"/>
      <p:sld r:id="rId245" collapse="1"/>
      <p:sld r:id="rId246" collapse="1"/>
      <p:sld r:id="rId247" collapse="1"/>
      <p:sld r:id="rId248" collapse="1"/>
      <p:sld r:id="rId249" collapse="1"/>
      <p:sld r:id="rId250" collapse="1"/>
      <p:sld r:id="rId251" collapse="1"/>
      <p:sld r:id="rId252" collapse="1"/>
      <p:sld r:id="rId253" collapse="1"/>
      <p:sld r:id="rId254" collapse="1"/>
      <p:sld r:id="rId255" collapse="1"/>
      <p:sld r:id="rId256" collapse="1"/>
      <p:sld r:id="rId257" collapse="1"/>
      <p:sld r:id="rId258" collapse="1"/>
      <p:sld r:id="rId259" collapse="1"/>
      <p:sld r:id="rId260" collapse="1"/>
      <p:sld r:id="rId261" collapse="1"/>
      <p:sld r:id="rId262" collapse="1"/>
      <p:sld r:id="rId263" collapse="1"/>
      <p:sld r:id="rId264" collapse="1"/>
      <p:sld r:id="rId265" collapse="1"/>
      <p:sld r:id="rId266" collapse="1"/>
      <p:sld r:id="rId267" collapse="1"/>
      <p:sld r:id="rId268" collapse="1"/>
      <p:sld r:id="rId269" collapse="1"/>
      <p:sld r:id="rId270" collapse="1"/>
      <p:sld r:id="rId271" collapse="1"/>
      <p:sld r:id="rId272" collapse="1"/>
      <p:sld r:id="rId273" collapse="1"/>
      <p:sld r:id="rId274" collapse="1"/>
      <p:sld r:id="rId275" collapse="1"/>
      <p:sld r:id="rId276" collapse="1"/>
      <p:sld r:id="rId277" collapse="1"/>
      <p:sld r:id="rId278" collapse="1"/>
      <p:sld r:id="rId279" collapse="1"/>
      <p:sld r:id="rId280" collapse="1"/>
      <p:sld r:id="rId281" collapse="1"/>
      <p:sld r:id="rId282" collapse="1"/>
      <p:sld r:id="rId283" collapse="1"/>
      <p:sld r:id="rId284" collapse="1"/>
      <p:sld r:id="rId285" collapse="1"/>
      <p:sld r:id="rId286" collapse="1"/>
      <p:sld r:id="rId287" collapse="1"/>
      <p:sld r:id="rId288" collapse="1"/>
    </p:sldLst>
  </p:outlineViewPr>
  <p:notesTextViewPr>
    <p:cViewPr>
      <p:scale>
        <a:sx n="100" d="100"/>
        <a:sy n="100" d="100"/>
      </p:scale>
      <p:origin x="0" y="0"/>
    </p:cViewPr>
  </p:notesTextViewPr>
  <p:sorterViewPr>
    <p:cViewPr varScale="1">
      <p:scale>
        <a:sx n="100" d="100"/>
        <a:sy n="100" d="100"/>
      </p:scale>
      <p:origin x="0" y="20000"/>
    </p:cViewPr>
  </p:sorterViewPr>
  <p:notesViewPr>
    <p:cSldViewPr snapToGrid="0" snapToObjects="1">
      <p:cViewPr varScale="1">
        <p:scale>
          <a:sx n="66" d="100"/>
          <a:sy n="66" d="100"/>
        </p:scale>
        <p:origin x="-3632" y="-12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theme" Target="theme/theme1.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tableStyles" Target="tableStyle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notesMaster" Target="notesMasters/notesMaster1.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handoutMaster" Target="handoutMasters/handoutMaster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commentAuthors" Target="commentAuthor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viewProps" Target="viewProps.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s>
</file>

<file path=ppt/_rels/viewProps.xml.rels><?xml version="1.0" encoding="UTF-8" standalone="yes"?>
<Relationships xmlns="http://schemas.openxmlformats.org/package/2006/relationships"><Relationship Id="rId117" Type="http://schemas.openxmlformats.org/officeDocument/2006/relationships/slide" Target="slides/slide127.xml"/><Relationship Id="rId21" Type="http://schemas.openxmlformats.org/officeDocument/2006/relationships/slide" Target="slides/slide21.xml"/><Relationship Id="rId63" Type="http://schemas.openxmlformats.org/officeDocument/2006/relationships/slide" Target="slides/slide68.xml"/><Relationship Id="rId159" Type="http://schemas.openxmlformats.org/officeDocument/2006/relationships/slide" Target="slides/slide170.xml"/><Relationship Id="rId170" Type="http://schemas.openxmlformats.org/officeDocument/2006/relationships/slide" Target="slides/slide181.xml"/><Relationship Id="rId226" Type="http://schemas.openxmlformats.org/officeDocument/2006/relationships/slide" Target="slides/slide239.xml"/><Relationship Id="rId268" Type="http://schemas.openxmlformats.org/officeDocument/2006/relationships/slide" Target="slides/slide288.xml"/><Relationship Id="rId32" Type="http://schemas.openxmlformats.org/officeDocument/2006/relationships/slide" Target="slides/slide34.xml"/><Relationship Id="rId74" Type="http://schemas.openxmlformats.org/officeDocument/2006/relationships/slide" Target="slides/slide79.xml"/><Relationship Id="rId128" Type="http://schemas.openxmlformats.org/officeDocument/2006/relationships/slide" Target="slides/slide138.xml"/><Relationship Id="rId5" Type="http://schemas.openxmlformats.org/officeDocument/2006/relationships/slide" Target="slides/slide5.xml"/><Relationship Id="rId181" Type="http://schemas.openxmlformats.org/officeDocument/2006/relationships/slide" Target="slides/slide192.xml"/><Relationship Id="rId237" Type="http://schemas.openxmlformats.org/officeDocument/2006/relationships/slide" Target="slides/slide251.xml"/><Relationship Id="rId279" Type="http://schemas.openxmlformats.org/officeDocument/2006/relationships/slide" Target="slides/slide299.xml"/><Relationship Id="rId43" Type="http://schemas.openxmlformats.org/officeDocument/2006/relationships/slide" Target="slides/slide47.xml"/><Relationship Id="rId139" Type="http://schemas.openxmlformats.org/officeDocument/2006/relationships/slide" Target="slides/slide149.xml"/><Relationship Id="rId85" Type="http://schemas.openxmlformats.org/officeDocument/2006/relationships/slide" Target="slides/slide95.xml"/><Relationship Id="rId150" Type="http://schemas.openxmlformats.org/officeDocument/2006/relationships/slide" Target="slides/slide160.xml"/><Relationship Id="rId171" Type="http://schemas.openxmlformats.org/officeDocument/2006/relationships/slide" Target="slides/slide182.xml"/><Relationship Id="rId192" Type="http://schemas.openxmlformats.org/officeDocument/2006/relationships/slide" Target="slides/slide203.xml"/><Relationship Id="rId206" Type="http://schemas.openxmlformats.org/officeDocument/2006/relationships/slide" Target="slides/slide219.xml"/><Relationship Id="rId227" Type="http://schemas.openxmlformats.org/officeDocument/2006/relationships/slide" Target="slides/slide240.xml"/><Relationship Id="rId248" Type="http://schemas.openxmlformats.org/officeDocument/2006/relationships/slide" Target="slides/slide268.xml"/><Relationship Id="rId269" Type="http://schemas.openxmlformats.org/officeDocument/2006/relationships/slide" Target="slides/slide289.xml"/><Relationship Id="rId12" Type="http://schemas.openxmlformats.org/officeDocument/2006/relationships/slide" Target="slides/slide12.xml"/><Relationship Id="rId33" Type="http://schemas.openxmlformats.org/officeDocument/2006/relationships/slide" Target="slides/slide35.xml"/><Relationship Id="rId108" Type="http://schemas.openxmlformats.org/officeDocument/2006/relationships/slide" Target="slides/slide118.xml"/><Relationship Id="rId129" Type="http://schemas.openxmlformats.org/officeDocument/2006/relationships/slide" Target="slides/slide139.xml"/><Relationship Id="rId280" Type="http://schemas.openxmlformats.org/officeDocument/2006/relationships/slide" Target="slides/slide300.xml"/><Relationship Id="rId54" Type="http://schemas.openxmlformats.org/officeDocument/2006/relationships/slide" Target="slides/slide59.xml"/><Relationship Id="rId75" Type="http://schemas.openxmlformats.org/officeDocument/2006/relationships/slide" Target="slides/slide80.xml"/><Relationship Id="rId96" Type="http://schemas.openxmlformats.org/officeDocument/2006/relationships/slide" Target="slides/slide106.xml"/><Relationship Id="rId140" Type="http://schemas.openxmlformats.org/officeDocument/2006/relationships/slide" Target="slides/slide150.xml"/><Relationship Id="rId161" Type="http://schemas.openxmlformats.org/officeDocument/2006/relationships/slide" Target="slides/slide172.xml"/><Relationship Id="rId182" Type="http://schemas.openxmlformats.org/officeDocument/2006/relationships/slide" Target="slides/slide193.xml"/><Relationship Id="rId217" Type="http://schemas.openxmlformats.org/officeDocument/2006/relationships/slide" Target="slides/slide230.xml"/><Relationship Id="rId6" Type="http://schemas.openxmlformats.org/officeDocument/2006/relationships/slide" Target="slides/slide6.xml"/><Relationship Id="rId238" Type="http://schemas.openxmlformats.org/officeDocument/2006/relationships/slide" Target="slides/slide252.xml"/><Relationship Id="rId259" Type="http://schemas.openxmlformats.org/officeDocument/2006/relationships/slide" Target="slides/slide279.xml"/><Relationship Id="rId23" Type="http://schemas.openxmlformats.org/officeDocument/2006/relationships/slide" Target="slides/slide23.xml"/><Relationship Id="rId119" Type="http://schemas.openxmlformats.org/officeDocument/2006/relationships/slide" Target="slides/slide129.xml"/><Relationship Id="rId270" Type="http://schemas.openxmlformats.org/officeDocument/2006/relationships/slide" Target="slides/slide290.xml"/><Relationship Id="rId44" Type="http://schemas.openxmlformats.org/officeDocument/2006/relationships/slide" Target="slides/slide48.xml"/><Relationship Id="rId65" Type="http://schemas.openxmlformats.org/officeDocument/2006/relationships/slide" Target="slides/slide70.xml"/><Relationship Id="rId86" Type="http://schemas.openxmlformats.org/officeDocument/2006/relationships/slide" Target="slides/slide96.xml"/><Relationship Id="rId130" Type="http://schemas.openxmlformats.org/officeDocument/2006/relationships/slide" Target="slides/slide140.xml"/><Relationship Id="rId151" Type="http://schemas.openxmlformats.org/officeDocument/2006/relationships/slide" Target="slides/slide161.xml"/><Relationship Id="rId172" Type="http://schemas.openxmlformats.org/officeDocument/2006/relationships/slide" Target="slides/slide183.xml"/><Relationship Id="rId193" Type="http://schemas.openxmlformats.org/officeDocument/2006/relationships/slide" Target="slides/slide204.xml"/><Relationship Id="rId207" Type="http://schemas.openxmlformats.org/officeDocument/2006/relationships/slide" Target="slides/slide220.xml"/><Relationship Id="rId228" Type="http://schemas.openxmlformats.org/officeDocument/2006/relationships/slide" Target="slides/slide241.xml"/><Relationship Id="rId249" Type="http://schemas.openxmlformats.org/officeDocument/2006/relationships/slide" Target="slides/slide269.xml"/><Relationship Id="rId13" Type="http://schemas.openxmlformats.org/officeDocument/2006/relationships/slide" Target="slides/slide13.xml"/><Relationship Id="rId109" Type="http://schemas.openxmlformats.org/officeDocument/2006/relationships/slide" Target="slides/slide119.xml"/><Relationship Id="rId260" Type="http://schemas.openxmlformats.org/officeDocument/2006/relationships/slide" Target="slides/slide280.xml"/><Relationship Id="rId281" Type="http://schemas.openxmlformats.org/officeDocument/2006/relationships/slide" Target="slides/slide301.xml"/><Relationship Id="rId34" Type="http://schemas.openxmlformats.org/officeDocument/2006/relationships/slide" Target="slides/slide36.xml"/><Relationship Id="rId55" Type="http://schemas.openxmlformats.org/officeDocument/2006/relationships/slide" Target="slides/slide60.xml"/><Relationship Id="rId76" Type="http://schemas.openxmlformats.org/officeDocument/2006/relationships/slide" Target="slides/slide82.xml"/><Relationship Id="rId97" Type="http://schemas.openxmlformats.org/officeDocument/2006/relationships/slide" Target="slides/slide107.xml"/><Relationship Id="rId120" Type="http://schemas.openxmlformats.org/officeDocument/2006/relationships/slide" Target="slides/slide130.xml"/><Relationship Id="rId141" Type="http://schemas.openxmlformats.org/officeDocument/2006/relationships/slide" Target="slides/slide151.xml"/><Relationship Id="rId7" Type="http://schemas.openxmlformats.org/officeDocument/2006/relationships/slide" Target="slides/slide7.xml"/><Relationship Id="rId162" Type="http://schemas.openxmlformats.org/officeDocument/2006/relationships/slide" Target="slides/slide173.xml"/><Relationship Id="rId183" Type="http://schemas.openxmlformats.org/officeDocument/2006/relationships/slide" Target="slides/slide194.xml"/><Relationship Id="rId218" Type="http://schemas.openxmlformats.org/officeDocument/2006/relationships/slide" Target="slides/slide231.xml"/><Relationship Id="rId239" Type="http://schemas.openxmlformats.org/officeDocument/2006/relationships/slide" Target="slides/slide259.xml"/><Relationship Id="rId250" Type="http://schemas.openxmlformats.org/officeDocument/2006/relationships/slide" Target="slides/slide270.xml"/><Relationship Id="rId271" Type="http://schemas.openxmlformats.org/officeDocument/2006/relationships/slide" Target="slides/slide291.xml"/><Relationship Id="rId24" Type="http://schemas.openxmlformats.org/officeDocument/2006/relationships/slide" Target="slides/slide24.xml"/><Relationship Id="rId45" Type="http://schemas.openxmlformats.org/officeDocument/2006/relationships/slide" Target="slides/slide49.xml"/><Relationship Id="rId66" Type="http://schemas.openxmlformats.org/officeDocument/2006/relationships/slide" Target="slides/slide71.xml"/><Relationship Id="rId87" Type="http://schemas.openxmlformats.org/officeDocument/2006/relationships/slide" Target="slides/slide97.xml"/><Relationship Id="rId110" Type="http://schemas.openxmlformats.org/officeDocument/2006/relationships/slide" Target="slides/slide120.xml"/><Relationship Id="rId131" Type="http://schemas.openxmlformats.org/officeDocument/2006/relationships/slide" Target="slides/slide141.xml"/><Relationship Id="rId152" Type="http://schemas.openxmlformats.org/officeDocument/2006/relationships/slide" Target="slides/slide162.xml"/><Relationship Id="rId173" Type="http://schemas.openxmlformats.org/officeDocument/2006/relationships/slide" Target="slides/slide184.xml"/><Relationship Id="rId194" Type="http://schemas.openxmlformats.org/officeDocument/2006/relationships/slide" Target="slides/slide205.xml"/><Relationship Id="rId208" Type="http://schemas.openxmlformats.org/officeDocument/2006/relationships/slide" Target="slides/slide221.xml"/><Relationship Id="rId229" Type="http://schemas.openxmlformats.org/officeDocument/2006/relationships/slide" Target="slides/slide242.xml"/><Relationship Id="rId240" Type="http://schemas.openxmlformats.org/officeDocument/2006/relationships/slide" Target="slides/slide260.xml"/><Relationship Id="rId261" Type="http://schemas.openxmlformats.org/officeDocument/2006/relationships/slide" Target="slides/slide281.xml"/><Relationship Id="rId14" Type="http://schemas.openxmlformats.org/officeDocument/2006/relationships/slide" Target="slides/slide14.xml"/><Relationship Id="rId35" Type="http://schemas.openxmlformats.org/officeDocument/2006/relationships/slide" Target="slides/slide37.xml"/><Relationship Id="rId56" Type="http://schemas.openxmlformats.org/officeDocument/2006/relationships/slide" Target="slides/slide61.xml"/><Relationship Id="rId77" Type="http://schemas.openxmlformats.org/officeDocument/2006/relationships/slide" Target="slides/slide83.xml"/><Relationship Id="rId100" Type="http://schemas.openxmlformats.org/officeDocument/2006/relationships/slide" Target="slides/slide110.xml"/><Relationship Id="rId282" Type="http://schemas.openxmlformats.org/officeDocument/2006/relationships/slide" Target="slides/slide302.xml"/><Relationship Id="rId8" Type="http://schemas.openxmlformats.org/officeDocument/2006/relationships/slide" Target="slides/slide8.xml"/><Relationship Id="rId98" Type="http://schemas.openxmlformats.org/officeDocument/2006/relationships/slide" Target="slides/slide108.xml"/><Relationship Id="rId121" Type="http://schemas.openxmlformats.org/officeDocument/2006/relationships/slide" Target="slides/slide131.xml"/><Relationship Id="rId142" Type="http://schemas.openxmlformats.org/officeDocument/2006/relationships/slide" Target="slides/slide152.xml"/><Relationship Id="rId163" Type="http://schemas.openxmlformats.org/officeDocument/2006/relationships/slide" Target="slides/slide174.xml"/><Relationship Id="rId184" Type="http://schemas.openxmlformats.org/officeDocument/2006/relationships/slide" Target="slides/slide195.xml"/><Relationship Id="rId219" Type="http://schemas.openxmlformats.org/officeDocument/2006/relationships/slide" Target="slides/slide232.xml"/><Relationship Id="rId230" Type="http://schemas.openxmlformats.org/officeDocument/2006/relationships/slide" Target="slides/slide243.xml"/><Relationship Id="rId251" Type="http://schemas.openxmlformats.org/officeDocument/2006/relationships/slide" Target="slides/slide271.xml"/><Relationship Id="rId25" Type="http://schemas.openxmlformats.org/officeDocument/2006/relationships/slide" Target="slides/slide25.xml"/><Relationship Id="rId46" Type="http://schemas.openxmlformats.org/officeDocument/2006/relationships/slide" Target="slides/slide50.xml"/><Relationship Id="rId67" Type="http://schemas.openxmlformats.org/officeDocument/2006/relationships/slide" Target="slides/slide72.xml"/><Relationship Id="rId272" Type="http://schemas.openxmlformats.org/officeDocument/2006/relationships/slide" Target="slides/slide292.xml"/><Relationship Id="rId88" Type="http://schemas.openxmlformats.org/officeDocument/2006/relationships/slide" Target="slides/slide98.xml"/><Relationship Id="rId111" Type="http://schemas.openxmlformats.org/officeDocument/2006/relationships/slide" Target="slides/slide121.xml"/><Relationship Id="rId132" Type="http://schemas.openxmlformats.org/officeDocument/2006/relationships/slide" Target="slides/slide142.xml"/><Relationship Id="rId153" Type="http://schemas.openxmlformats.org/officeDocument/2006/relationships/slide" Target="slides/slide163.xml"/><Relationship Id="rId174" Type="http://schemas.openxmlformats.org/officeDocument/2006/relationships/slide" Target="slides/slide185.xml"/><Relationship Id="rId195" Type="http://schemas.openxmlformats.org/officeDocument/2006/relationships/slide" Target="slides/slide206.xml"/><Relationship Id="rId209" Type="http://schemas.openxmlformats.org/officeDocument/2006/relationships/slide" Target="slides/slide222.xml"/><Relationship Id="rId220" Type="http://schemas.openxmlformats.org/officeDocument/2006/relationships/slide" Target="slides/slide233.xml"/><Relationship Id="rId241" Type="http://schemas.openxmlformats.org/officeDocument/2006/relationships/slide" Target="slides/slide261.xml"/><Relationship Id="rId15" Type="http://schemas.openxmlformats.org/officeDocument/2006/relationships/slide" Target="slides/slide15.xml"/><Relationship Id="rId36" Type="http://schemas.openxmlformats.org/officeDocument/2006/relationships/slide" Target="slides/slide38.xml"/><Relationship Id="rId57" Type="http://schemas.openxmlformats.org/officeDocument/2006/relationships/slide" Target="slides/slide62.xml"/><Relationship Id="rId262" Type="http://schemas.openxmlformats.org/officeDocument/2006/relationships/slide" Target="slides/slide282.xml"/><Relationship Id="rId283" Type="http://schemas.openxmlformats.org/officeDocument/2006/relationships/slide" Target="slides/slide303.xml"/><Relationship Id="rId78" Type="http://schemas.openxmlformats.org/officeDocument/2006/relationships/slide" Target="slides/slide84.xml"/><Relationship Id="rId99" Type="http://schemas.openxmlformats.org/officeDocument/2006/relationships/slide" Target="slides/slide109.xml"/><Relationship Id="rId101" Type="http://schemas.openxmlformats.org/officeDocument/2006/relationships/slide" Target="slides/slide111.xml"/><Relationship Id="rId122" Type="http://schemas.openxmlformats.org/officeDocument/2006/relationships/slide" Target="slides/slide132.xml"/><Relationship Id="rId143" Type="http://schemas.openxmlformats.org/officeDocument/2006/relationships/slide" Target="slides/slide153.xml"/><Relationship Id="rId164" Type="http://schemas.openxmlformats.org/officeDocument/2006/relationships/slide" Target="slides/slide175.xml"/><Relationship Id="rId185" Type="http://schemas.openxmlformats.org/officeDocument/2006/relationships/slide" Target="slides/slide196.xml"/><Relationship Id="rId9" Type="http://schemas.openxmlformats.org/officeDocument/2006/relationships/slide" Target="slides/slide9.xml"/><Relationship Id="rId210" Type="http://schemas.openxmlformats.org/officeDocument/2006/relationships/slide" Target="slides/slide223.xml"/><Relationship Id="rId26" Type="http://schemas.openxmlformats.org/officeDocument/2006/relationships/slide" Target="slides/slide26.xml"/><Relationship Id="rId231" Type="http://schemas.openxmlformats.org/officeDocument/2006/relationships/slide" Target="slides/slide244.xml"/><Relationship Id="rId252" Type="http://schemas.openxmlformats.org/officeDocument/2006/relationships/slide" Target="slides/slide272.xml"/><Relationship Id="rId273" Type="http://schemas.openxmlformats.org/officeDocument/2006/relationships/slide" Target="slides/slide293.xml"/><Relationship Id="rId47" Type="http://schemas.openxmlformats.org/officeDocument/2006/relationships/slide" Target="slides/slide51.xml"/><Relationship Id="rId68" Type="http://schemas.openxmlformats.org/officeDocument/2006/relationships/slide" Target="slides/slide73.xml"/><Relationship Id="rId89" Type="http://schemas.openxmlformats.org/officeDocument/2006/relationships/slide" Target="slides/slide99.xml"/><Relationship Id="rId112" Type="http://schemas.openxmlformats.org/officeDocument/2006/relationships/slide" Target="slides/slide122.xml"/><Relationship Id="rId133" Type="http://schemas.openxmlformats.org/officeDocument/2006/relationships/slide" Target="slides/slide143.xml"/><Relationship Id="rId154" Type="http://schemas.openxmlformats.org/officeDocument/2006/relationships/slide" Target="slides/slide164.xml"/><Relationship Id="rId175" Type="http://schemas.openxmlformats.org/officeDocument/2006/relationships/slide" Target="slides/slide186.xml"/><Relationship Id="rId196" Type="http://schemas.openxmlformats.org/officeDocument/2006/relationships/slide" Target="slides/slide207.xml"/><Relationship Id="rId200" Type="http://schemas.openxmlformats.org/officeDocument/2006/relationships/slide" Target="slides/slide211.xml"/><Relationship Id="rId16" Type="http://schemas.openxmlformats.org/officeDocument/2006/relationships/slide" Target="slides/slide16.xml"/><Relationship Id="rId221" Type="http://schemas.openxmlformats.org/officeDocument/2006/relationships/slide" Target="slides/slide234.xml"/><Relationship Id="rId242" Type="http://schemas.openxmlformats.org/officeDocument/2006/relationships/slide" Target="slides/slide262.xml"/><Relationship Id="rId263" Type="http://schemas.openxmlformats.org/officeDocument/2006/relationships/slide" Target="slides/slide283.xml"/><Relationship Id="rId284" Type="http://schemas.openxmlformats.org/officeDocument/2006/relationships/slide" Target="slides/slide304.xml"/><Relationship Id="rId37" Type="http://schemas.openxmlformats.org/officeDocument/2006/relationships/slide" Target="slides/slide39.xml"/><Relationship Id="rId58" Type="http://schemas.openxmlformats.org/officeDocument/2006/relationships/slide" Target="slides/slide63.xml"/><Relationship Id="rId79" Type="http://schemas.openxmlformats.org/officeDocument/2006/relationships/slide" Target="slides/slide85.xml"/><Relationship Id="rId102" Type="http://schemas.openxmlformats.org/officeDocument/2006/relationships/slide" Target="slides/slide112.xml"/><Relationship Id="rId123" Type="http://schemas.openxmlformats.org/officeDocument/2006/relationships/slide" Target="slides/slide133.xml"/><Relationship Id="rId144" Type="http://schemas.openxmlformats.org/officeDocument/2006/relationships/slide" Target="slides/slide154.xml"/><Relationship Id="rId90" Type="http://schemas.openxmlformats.org/officeDocument/2006/relationships/slide" Target="slides/slide100.xml"/><Relationship Id="rId165" Type="http://schemas.openxmlformats.org/officeDocument/2006/relationships/slide" Target="slides/slide176.xml"/><Relationship Id="rId186" Type="http://schemas.openxmlformats.org/officeDocument/2006/relationships/slide" Target="slides/slide197.xml"/><Relationship Id="rId211" Type="http://schemas.openxmlformats.org/officeDocument/2006/relationships/slide" Target="slides/slide224.xml"/><Relationship Id="rId232" Type="http://schemas.openxmlformats.org/officeDocument/2006/relationships/slide" Target="slides/slide245.xml"/><Relationship Id="rId253" Type="http://schemas.openxmlformats.org/officeDocument/2006/relationships/slide" Target="slides/slide273.xml"/><Relationship Id="rId274" Type="http://schemas.openxmlformats.org/officeDocument/2006/relationships/slide" Target="slides/slide294.xml"/><Relationship Id="rId27" Type="http://schemas.openxmlformats.org/officeDocument/2006/relationships/slide" Target="slides/slide29.xml"/><Relationship Id="rId48" Type="http://schemas.openxmlformats.org/officeDocument/2006/relationships/slide" Target="slides/slide52.xml"/><Relationship Id="rId69" Type="http://schemas.openxmlformats.org/officeDocument/2006/relationships/slide" Target="slides/slide74.xml"/><Relationship Id="rId113" Type="http://schemas.openxmlformats.org/officeDocument/2006/relationships/slide" Target="slides/slide123.xml"/><Relationship Id="rId134" Type="http://schemas.openxmlformats.org/officeDocument/2006/relationships/slide" Target="slides/slide144.xml"/><Relationship Id="rId80" Type="http://schemas.openxmlformats.org/officeDocument/2006/relationships/slide" Target="slides/slide86.xml"/><Relationship Id="rId155" Type="http://schemas.openxmlformats.org/officeDocument/2006/relationships/slide" Target="slides/slide165.xml"/><Relationship Id="rId176" Type="http://schemas.openxmlformats.org/officeDocument/2006/relationships/slide" Target="slides/slide187.xml"/><Relationship Id="rId197" Type="http://schemas.openxmlformats.org/officeDocument/2006/relationships/slide" Target="slides/slide208.xml"/><Relationship Id="rId201" Type="http://schemas.openxmlformats.org/officeDocument/2006/relationships/slide" Target="slides/slide212.xml"/><Relationship Id="rId222" Type="http://schemas.openxmlformats.org/officeDocument/2006/relationships/slide" Target="slides/slide235.xml"/><Relationship Id="rId243" Type="http://schemas.openxmlformats.org/officeDocument/2006/relationships/slide" Target="slides/slide263.xml"/><Relationship Id="rId264" Type="http://schemas.openxmlformats.org/officeDocument/2006/relationships/slide" Target="slides/slide284.xml"/><Relationship Id="rId285" Type="http://schemas.openxmlformats.org/officeDocument/2006/relationships/slide" Target="slides/slide305.xml"/><Relationship Id="rId17" Type="http://schemas.openxmlformats.org/officeDocument/2006/relationships/slide" Target="slides/slide17.xml"/><Relationship Id="rId38" Type="http://schemas.openxmlformats.org/officeDocument/2006/relationships/slide" Target="slides/slide40.xml"/><Relationship Id="rId59" Type="http://schemas.openxmlformats.org/officeDocument/2006/relationships/slide" Target="slides/slide64.xml"/><Relationship Id="rId103" Type="http://schemas.openxmlformats.org/officeDocument/2006/relationships/slide" Target="slides/slide113.xml"/><Relationship Id="rId124" Type="http://schemas.openxmlformats.org/officeDocument/2006/relationships/slide" Target="slides/slide134.xml"/><Relationship Id="rId70" Type="http://schemas.openxmlformats.org/officeDocument/2006/relationships/slide" Target="slides/slide75.xml"/><Relationship Id="rId91" Type="http://schemas.openxmlformats.org/officeDocument/2006/relationships/slide" Target="slides/slide101.xml"/><Relationship Id="rId145" Type="http://schemas.openxmlformats.org/officeDocument/2006/relationships/slide" Target="slides/slide155.xml"/><Relationship Id="rId166" Type="http://schemas.openxmlformats.org/officeDocument/2006/relationships/slide" Target="slides/slide177.xml"/><Relationship Id="rId187" Type="http://schemas.openxmlformats.org/officeDocument/2006/relationships/slide" Target="slides/slide198.xml"/><Relationship Id="rId1" Type="http://schemas.openxmlformats.org/officeDocument/2006/relationships/slide" Target="slides/slide1.xml"/><Relationship Id="rId212" Type="http://schemas.openxmlformats.org/officeDocument/2006/relationships/slide" Target="slides/slide225.xml"/><Relationship Id="rId233" Type="http://schemas.openxmlformats.org/officeDocument/2006/relationships/slide" Target="slides/slide246.xml"/><Relationship Id="rId254" Type="http://schemas.openxmlformats.org/officeDocument/2006/relationships/slide" Target="slides/slide274.xml"/><Relationship Id="rId28" Type="http://schemas.openxmlformats.org/officeDocument/2006/relationships/slide" Target="slides/slide30.xml"/><Relationship Id="rId49" Type="http://schemas.openxmlformats.org/officeDocument/2006/relationships/slide" Target="slides/slide53.xml"/><Relationship Id="rId114" Type="http://schemas.openxmlformats.org/officeDocument/2006/relationships/slide" Target="slides/slide124.xml"/><Relationship Id="rId275" Type="http://schemas.openxmlformats.org/officeDocument/2006/relationships/slide" Target="slides/slide295.xml"/><Relationship Id="rId60" Type="http://schemas.openxmlformats.org/officeDocument/2006/relationships/slide" Target="slides/slide65.xml"/><Relationship Id="rId81" Type="http://schemas.openxmlformats.org/officeDocument/2006/relationships/slide" Target="slides/slide87.xml"/><Relationship Id="rId135" Type="http://schemas.openxmlformats.org/officeDocument/2006/relationships/slide" Target="slides/slide145.xml"/><Relationship Id="rId156" Type="http://schemas.openxmlformats.org/officeDocument/2006/relationships/slide" Target="slides/slide166.xml"/><Relationship Id="rId177" Type="http://schemas.openxmlformats.org/officeDocument/2006/relationships/slide" Target="slides/slide188.xml"/><Relationship Id="rId198" Type="http://schemas.openxmlformats.org/officeDocument/2006/relationships/slide" Target="slides/slide209.xml"/><Relationship Id="rId202" Type="http://schemas.openxmlformats.org/officeDocument/2006/relationships/slide" Target="slides/slide213.xml"/><Relationship Id="rId223" Type="http://schemas.openxmlformats.org/officeDocument/2006/relationships/slide" Target="slides/slide236.xml"/><Relationship Id="rId244" Type="http://schemas.openxmlformats.org/officeDocument/2006/relationships/slide" Target="slides/slide264.xml"/><Relationship Id="rId18" Type="http://schemas.openxmlformats.org/officeDocument/2006/relationships/slide" Target="slides/slide18.xml"/><Relationship Id="rId39" Type="http://schemas.openxmlformats.org/officeDocument/2006/relationships/slide" Target="slides/slide41.xml"/><Relationship Id="rId265" Type="http://schemas.openxmlformats.org/officeDocument/2006/relationships/slide" Target="slides/slide285.xml"/><Relationship Id="rId286" Type="http://schemas.openxmlformats.org/officeDocument/2006/relationships/slide" Target="slides/slide306.xml"/><Relationship Id="rId50" Type="http://schemas.openxmlformats.org/officeDocument/2006/relationships/slide" Target="slides/slide54.xml"/><Relationship Id="rId104" Type="http://schemas.openxmlformats.org/officeDocument/2006/relationships/slide" Target="slides/slide114.xml"/><Relationship Id="rId125" Type="http://schemas.openxmlformats.org/officeDocument/2006/relationships/slide" Target="slides/slide135.xml"/><Relationship Id="rId146" Type="http://schemas.openxmlformats.org/officeDocument/2006/relationships/slide" Target="slides/slide156.xml"/><Relationship Id="rId167" Type="http://schemas.openxmlformats.org/officeDocument/2006/relationships/slide" Target="slides/slide178.xml"/><Relationship Id="rId188" Type="http://schemas.openxmlformats.org/officeDocument/2006/relationships/slide" Target="slides/slide199.xml"/><Relationship Id="rId71" Type="http://schemas.openxmlformats.org/officeDocument/2006/relationships/slide" Target="slides/slide76.xml"/><Relationship Id="rId92" Type="http://schemas.openxmlformats.org/officeDocument/2006/relationships/slide" Target="slides/slide102.xml"/><Relationship Id="rId213" Type="http://schemas.openxmlformats.org/officeDocument/2006/relationships/slide" Target="slides/slide226.xml"/><Relationship Id="rId234" Type="http://schemas.openxmlformats.org/officeDocument/2006/relationships/slide" Target="slides/slide247.xml"/><Relationship Id="rId2" Type="http://schemas.openxmlformats.org/officeDocument/2006/relationships/slide" Target="slides/slide2.xml"/><Relationship Id="rId29" Type="http://schemas.openxmlformats.org/officeDocument/2006/relationships/slide" Target="slides/slide31.xml"/><Relationship Id="rId255" Type="http://schemas.openxmlformats.org/officeDocument/2006/relationships/slide" Target="slides/slide275.xml"/><Relationship Id="rId276" Type="http://schemas.openxmlformats.org/officeDocument/2006/relationships/slide" Target="slides/slide296.xml"/><Relationship Id="rId40" Type="http://schemas.openxmlformats.org/officeDocument/2006/relationships/slide" Target="slides/slide42.xml"/><Relationship Id="rId115" Type="http://schemas.openxmlformats.org/officeDocument/2006/relationships/slide" Target="slides/slide125.xml"/><Relationship Id="rId136" Type="http://schemas.openxmlformats.org/officeDocument/2006/relationships/slide" Target="slides/slide146.xml"/><Relationship Id="rId157" Type="http://schemas.openxmlformats.org/officeDocument/2006/relationships/slide" Target="slides/slide167.xml"/><Relationship Id="rId178" Type="http://schemas.openxmlformats.org/officeDocument/2006/relationships/slide" Target="slides/slide189.xml"/><Relationship Id="rId61" Type="http://schemas.openxmlformats.org/officeDocument/2006/relationships/slide" Target="slides/slide66.xml"/><Relationship Id="rId82" Type="http://schemas.openxmlformats.org/officeDocument/2006/relationships/slide" Target="slides/slide89.xml"/><Relationship Id="rId199" Type="http://schemas.openxmlformats.org/officeDocument/2006/relationships/slide" Target="slides/slide210.xml"/><Relationship Id="rId203" Type="http://schemas.openxmlformats.org/officeDocument/2006/relationships/slide" Target="slides/slide216.xml"/><Relationship Id="rId19" Type="http://schemas.openxmlformats.org/officeDocument/2006/relationships/slide" Target="slides/slide19.xml"/><Relationship Id="rId224" Type="http://schemas.openxmlformats.org/officeDocument/2006/relationships/slide" Target="slides/slide237.xml"/><Relationship Id="rId245" Type="http://schemas.openxmlformats.org/officeDocument/2006/relationships/slide" Target="slides/slide265.xml"/><Relationship Id="rId266" Type="http://schemas.openxmlformats.org/officeDocument/2006/relationships/slide" Target="slides/slide286.xml"/><Relationship Id="rId287" Type="http://schemas.openxmlformats.org/officeDocument/2006/relationships/slide" Target="slides/slide307.xml"/><Relationship Id="rId30" Type="http://schemas.openxmlformats.org/officeDocument/2006/relationships/slide" Target="slides/slide32.xml"/><Relationship Id="rId105" Type="http://schemas.openxmlformats.org/officeDocument/2006/relationships/slide" Target="slides/slide115.xml"/><Relationship Id="rId126" Type="http://schemas.openxmlformats.org/officeDocument/2006/relationships/slide" Target="slides/slide136.xml"/><Relationship Id="rId147" Type="http://schemas.openxmlformats.org/officeDocument/2006/relationships/slide" Target="slides/slide157.xml"/><Relationship Id="rId168" Type="http://schemas.openxmlformats.org/officeDocument/2006/relationships/slide" Target="slides/slide179.xml"/><Relationship Id="rId51" Type="http://schemas.openxmlformats.org/officeDocument/2006/relationships/slide" Target="slides/slide55.xml"/><Relationship Id="rId72" Type="http://schemas.openxmlformats.org/officeDocument/2006/relationships/slide" Target="slides/slide77.xml"/><Relationship Id="rId93" Type="http://schemas.openxmlformats.org/officeDocument/2006/relationships/slide" Target="slides/slide103.xml"/><Relationship Id="rId189" Type="http://schemas.openxmlformats.org/officeDocument/2006/relationships/slide" Target="slides/slide200.xml"/><Relationship Id="rId3" Type="http://schemas.openxmlformats.org/officeDocument/2006/relationships/slide" Target="slides/slide3.xml"/><Relationship Id="rId214" Type="http://schemas.openxmlformats.org/officeDocument/2006/relationships/slide" Target="slides/slide227.xml"/><Relationship Id="rId235" Type="http://schemas.openxmlformats.org/officeDocument/2006/relationships/slide" Target="slides/slide248.xml"/><Relationship Id="rId256" Type="http://schemas.openxmlformats.org/officeDocument/2006/relationships/slide" Target="slides/slide276.xml"/><Relationship Id="rId277" Type="http://schemas.openxmlformats.org/officeDocument/2006/relationships/slide" Target="slides/slide297.xml"/><Relationship Id="rId116" Type="http://schemas.openxmlformats.org/officeDocument/2006/relationships/slide" Target="slides/slide126.xml"/><Relationship Id="rId137" Type="http://schemas.openxmlformats.org/officeDocument/2006/relationships/slide" Target="slides/slide147.xml"/><Relationship Id="rId158" Type="http://schemas.openxmlformats.org/officeDocument/2006/relationships/slide" Target="slides/slide168.xml"/><Relationship Id="rId20" Type="http://schemas.openxmlformats.org/officeDocument/2006/relationships/slide" Target="slides/slide20.xml"/><Relationship Id="rId41" Type="http://schemas.openxmlformats.org/officeDocument/2006/relationships/slide" Target="slides/slide45.xml"/><Relationship Id="rId62" Type="http://schemas.openxmlformats.org/officeDocument/2006/relationships/slide" Target="slides/slide67.xml"/><Relationship Id="rId83" Type="http://schemas.openxmlformats.org/officeDocument/2006/relationships/slide" Target="slides/slide93.xml"/><Relationship Id="rId179" Type="http://schemas.openxmlformats.org/officeDocument/2006/relationships/slide" Target="slides/slide190.xml"/><Relationship Id="rId190" Type="http://schemas.openxmlformats.org/officeDocument/2006/relationships/slide" Target="slides/slide201.xml"/><Relationship Id="rId204" Type="http://schemas.openxmlformats.org/officeDocument/2006/relationships/slide" Target="slides/slide217.xml"/><Relationship Id="rId225" Type="http://schemas.openxmlformats.org/officeDocument/2006/relationships/slide" Target="slides/slide238.xml"/><Relationship Id="rId246" Type="http://schemas.openxmlformats.org/officeDocument/2006/relationships/slide" Target="slides/slide266.xml"/><Relationship Id="rId267" Type="http://schemas.openxmlformats.org/officeDocument/2006/relationships/slide" Target="slides/slide287.xml"/><Relationship Id="rId288" Type="http://schemas.openxmlformats.org/officeDocument/2006/relationships/slide" Target="slides/slide308.xml"/><Relationship Id="rId106" Type="http://schemas.openxmlformats.org/officeDocument/2006/relationships/slide" Target="slides/slide116.xml"/><Relationship Id="rId127" Type="http://schemas.openxmlformats.org/officeDocument/2006/relationships/slide" Target="slides/slide137.xml"/><Relationship Id="rId10" Type="http://schemas.openxmlformats.org/officeDocument/2006/relationships/slide" Target="slides/slide10.xml"/><Relationship Id="rId31" Type="http://schemas.openxmlformats.org/officeDocument/2006/relationships/slide" Target="slides/slide33.xml"/><Relationship Id="rId52" Type="http://schemas.openxmlformats.org/officeDocument/2006/relationships/slide" Target="slides/slide56.xml"/><Relationship Id="rId73" Type="http://schemas.openxmlformats.org/officeDocument/2006/relationships/slide" Target="slides/slide78.xml"/><Relationship Id="rId94" Type="http://schemas.openxmlformats.org/officeDocument/2006/relationships/slide" Target="slides/slide104.xml"/><Relationship Id="rId148" Type="http://schemas.openxmlformats.org/officeDocument/2006/relationships/slide" Target="slides/slide158.xml"/><Relationship Id="rId169" Type="http://schemas.openxmlformats.org/officeDocument/2006/relationships/slide" Target="slides/slide180.xml"/><Relationship Id="rId4" Type="http://schemas.openxmlformats.org/officeDocument/2006/relationships/slide" Target="slides/slide4.xml"/><Relationship Id="rId180" Type="http://schemas.openxmlformats.org/officeDocument/2006/relationships/slide" Target="slides/slide191.xml"/><Relationship Id="rId215" Type="http://schemas.openxmlformats.org/officeDocument/2006/relationships/slide" Target="slides/slide228.xml"/><Relationship Id="rId236" Type="http://schemas.openxmlformats.org/officeDocument/2006/relationships/slide" Target="slides/slide250.xml"/><Relationship Id="rId257" Type="http://schemas.openxmlformats.org/officeDocument/2006/relationships/slide" Target="slides/slide277.xml"/><Relationship Id="rId278" Type="http://schemas.openxmlformats.org/officeDocument/2006/relationships/slide" Target="slides/slide298.xml"/><Relationship Id="rId42" Type="http://schemas.openxmlformats.org/officeDocument/2006/relationships/slide" Target="slides/slide46.xml"/><Relationship Id="rId84" Type="http://schemas.openxmlformats.org/officeDocument/2006/relationships/slide" Target="slides/slide94.xml"/><Relationship Id="rId138" Type="http://schemas.openxmlformats.org/officeDocument/2006/relationships/slide" Target="slides/slide148.xml"/><Relationship Id="rId191" Type="http://schemas.openxmlformats.org/officeDocument/2006/relationships/slide" Target="slides/slide202.xml"/><Relationship Id="rId205" Type="http://schemas.openxmlformats.org/officeDocument/2006/relationships/slide" Target="slides/slide218.xml"/><Relationship Id="rId247" Type="http://schemas.openxmlformats.org/officeDocument/2006/relationships/slide" Target="slides/slide267.xml"/><Relationship Id="rId107" Type="http://schemas.openxmlformats.org/officeDocument/2006/relationships/slide" Target="slides/slide117.xml"/><Relationship Id="rId11" Type="http://schemas.openxmlformats.org/officeDocument/2006/relationships/slide" Target="slides/slide11.xml"/><Relationship Id="rId53" Type="http://schemas.openxmlformats.org/officeDocument/2006/relationships/slide" Target="slides/slide58.xml"/><Relationship Id="rId149" Type="http://schemas.openxmlformats.org/officeDocument/2006/relationships/slide" Target="slides/slide159.xml"/><Relationship Id="rId95" Type="http://schemas.openxmlformats.org/officeDocument/2006/relationships/slide" Target="slides/slide105.xml"/><Relationship Id="rId160" Type="http://schemas.openxmlformats.org/officeDocument/2006/relationships/slide" Target="slides/slide171.xml"/><Relationship Id="rId216" Type="http://schemas.openxmlformats.org/officeDocument/2006/relationships/slide" Target="slides/slide229.xml"/><Relationship Id="rId258" Type="http://schemas.openxmlformats.org/officeDocument/2006/relationships/slide" Target="slides/slide278.xml"/><Relationship Id="rId22" Type="http://schemas.openxmlformats.org/officeDocument/2006/relationships/slide" Target="slides/slide22.xml"/><Relationship Id="rId64" Type="http://schemas.openxmlformats.org/officeDocument/2006/relationships/slide" Target="slides/slide69.xml"/><Relationship Id="rId118" Type="http://schemas.openxmlformats.org/officeDocument/2006/relationships/slide" Target="slides/slide12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AE4713-A14D-5F4D-8515-B8A9D80C0FA1}" type="doc">
      <dgm:prSet loTypeId="urn:microsoft.com/office/officeart/2005/8/layout/cycle1" loCatId="" qsTypeId="urn:microsoft.com/office/officeart/2005/8/quickstyle/simple4#1" qsCatId="simple" csTypeId="urn:microsoft.com/office/officeart/2005/8/colors/accent1_2#1" csCatId="accent1" phldr="1"/>
      <dgm:spPr/>
      <dgm:t>
        <a:bodyPr/>
        <a:lstStyle/>
        <a:p>
          <a:endParaRPr lang="en-US"/>
        </a:p>
      </dgm:t>
    </dgm:pt>
    <dgm:pt modelId="{F28DB5D7-F285-3F4B-B878-157244510558}">
      <dgm:prSet phldrT="[Text]"/>
      <dgm:spPr/>
      <dgm:t>
        <a:bodyPr/>
        <a:lstStyle/>
        <a:p>
          <a:r>
            <a:rPr lang="en-US" dirty="0"/>
            <a:t>network and disk</a:t>
          </a:r>
        </a:p>
      </dgm:t>
    </dgm:pt>
    <dgm:pt modelId="{DA4BA29C-6C88-9142-9C8C-3201C9ACCF38}" type="parTrans" cxnId="{FD6CF22B-14D8-4947-AFEE-30ACC24DC09E}">
      <dgm:prSet/>
      <dgm:spPr/>
      <dgm:t>
        <a:bodyPr/>
        <a:lstStyle/>
        <a:p>
          <a:endParaRPr lang="en-US"/>
        </a:p>
      </dgm:t>
    </dgm:pt>
    <dgm:pt modelId="{D5349DB9-A4AC-D640-8244-ED278EE2901D}" type="sibTrans" cxnId="{FD6CF22B-14D8-4947-AFEE-30ACC24DC09E}">
      <dgm:prSet/>
      <dgm:spPr/>
      <dgm:t>
        <a:bodyPr/>
        <a:lstStyle/>
        <a:p>
          <a:endParaRPr lang="en-US"/>
        </a:p>
      </dgm:t>
    </dgm:pt>
    <dgm:pt modelId="{155997DD-D07F-804B-85DA-31C602C5D93A}">
      <dgm:prSet phldrT="[Text]"/>
      <dgm:spPr/>
      <dgm:t>
        <a:bodyPr/>
        <a:lstStyle/>
        <a:p>
          <a:r>
            <a:rPr lang="en-US" dirty="0"/>
            <a:t>setImmediate</a:t>
          </a:r>
        </a:p>
      </dgm:t>
    </dgm:pt>
    <dgm:pt modelId="{F0E5A37C-E517-524A-A3EF-7B0CD70D2439}" type="parTrans" cxnId="{C85BE93F-6E19-784E-9BF0-998128C58093}">
      <dgm:prSet/>
      <dgm:spPr/>
      <dgm:t>
        <a:bodyPr/>
        <a:lstStyle/>
        <a:p>
          <a:endParaRPr lang="en-US"/>
        </a:p>
      </dgm:t>
    </dgm:pt>
    <dgm:pt modelId="{01A70314-9B8D-E044-ACEC-40EDB78DB002}" type="sibTrans" cxnId="{C85BE93F-6E19-784E-9BF0-998128C58093}">
      <dgm:prSet/>
      <dgm:spPr/>
      <dgm:t>
        <a:bodyPr/>
        <a:lstStyle/>
        <a:p>
          <a:endParaRPr lang="en-US"/>
        </a:p>
      </dgm:t>
    </dgm:pt>
    <dgm:pt modelId="{28B0D35F-8576-874C-A46C-4821A8C5A41B}">
      <dgm:prSet phldrT="[Text]"/>
      <dgm:spPr/>
      <dgm:t>
        <a:bodyPr/>
        <a:lstStyle/>
        <a:p>
          <a:r>
            <a:rPr lang="en-US" dirty="0"/>
            <a:t>poll</a:t>
          </a:r>
        </a:p>
      </dgm:t>
    </dgm:pt>
    <dgm:pt modelId="{8E75C821-F364-5F41-BDAB-6D91C7154C8A}" type="parTrans" cxnId="{C4E2647C-B717-474C-8FB0-FB4D95A01158}">
      <dgm:prSet/>
      <dgm:spPr/>
      <dgm:t>
        <a:bodyPr/>
        <a:lstStyle/>
        <a:p>
          <a:endParaRPr lang="en-US"/>
        </a:p>
      </dgm:t>
    </dgm:pt>
    <dgm:pt modelId="{B52F71EE-39E9-044A-9ED0-4EEAE9B1791F}" type="sibTrans" cxnId="{C4E2647C-B717-474C-8FB0-FB4D95A01158}">
      <dgm:prSet/>
      <dgm:spPr/>
      <dgm:t>
        <a:bodyPr/>
        <a:lstStyle/>
        <a:p>
          <a:endParaRPr lang="en-US"/>
        </a:p>
      </dgm:t>
    </dgm:pt>
    <dgm:pt modelId="{4F1F535F-2062-FC40-8531-D34ABC69472F}">
      <dgm:prSet phldrT="[Text]"/>
      <dgm:spPr/>
      <dgm:t>
        <a:bodyPr/>
        <a:lstStyle/>
        <a:p>
          <a:r>
            <a:rPr lang="en-US" dirty="0"/>
            <a:t>timers</a:t>
          </a:r>
        </a:p>
      </dgm:t>
    </dgm:pt>
    <dgm:pt modelId="{14A26D67-9B51-D040-A938-9FF9D2754B26}" type="parTrans" cxnId="{C0BD07F2-FDFA-964C-8D2F-9B48515AF1AD}">
      <dgm:prSet/>
      <dgm:spPr/>
      <dgm:t>
        <a:bodyPr/>
        <a:lstStyle/>
        <a:p>
          <a:endParaRPr lang="en-US"/>
        </a:p>
      </dgm:t>
    </dgm:pt>
    <dgm:pt modelId="{C66780AF-F254-FE45-B16F-D2D8364E88B3}" type="sibTrans" cxnId="{C0BD07F2-FDFA-964C-8D2F-9B48515AF1AD}">
      <dgm:prSet/>
      <dgm:spPr/>
      <dgm:t>
        <a:bodyPr/>
        <a:lstStyle/>
        <a:p>
          <a:endParaRPr lang="en-US"/>
        </a:p>
      </dgm:t>
    </dgm:pt>
    <dgm:pt modelId="{3EB05BCB-5792-174F-90C4-4DAAEDD5D2D6}">
      <dgm:prSet phldrT="[Text]"/>
      <dgm:spPr/>
      <dgm:t>
        <a:bodyPr/>
        <a:lstStyle/>
        <a:p>
          <a:r>
            <a:rPr lang="en-US" dirty="0"/>
            <a:t>"close" events</a:t>
          </a:r>
        </a:p>
      </dgm:t>
    </dgm:pt>
    <dgm:pt modelId="{A3BA7DEE-4846-0948-B5D7-1F063EEF4A6C}" type="parTrans" cxnId="{5737CC00-98E0-9B4C-8AB5-C6F0D2DB7EA8}">
      <dgm:prSet/>
      <dgm:spPr/>
      <dgm:t>
        <a:bodyPr/>
        <a:lstStyle/>
        <a:p>
          <a:endParaRPr lang="en-US"/>
        </a:p>
      </dgm:t>
    </dgm:pt>
    <dgm:pt modelId="{E49D4D70-E1B0-D843-884A-AEE9DCD194CA}" type="sibTrans" cxnId="{5737CC00-98E0-9B4C-8AB5-C6F0D2DB7EA8}">
      <dgm:prSet/>
      <dgm:spPr/>
      <dgm:t>
        <a:bodyPr/>
        <a:lstStyle/>
        <a:p>
          <a:endParaRPr lang="en-US"/>
        </a:p>
      </dgm:t>
    </dgm:pt>
    <dgm:pt modelId="{F9B1A25C-2D54-6E41-AF10-99FC4E7A164A}" type="pres">
      <dgm:prSet presAssocID="{38AE4713-A14D-5F4D-8515-B8A9D80C0FA1}" presName="cycle" presStyleCnt="0">
        <dgm:presLayoutVars>
          <dgm:dir/>
          <dgm:resizeHandles val="exact"/>
        </dgm:presLayoutVars>
      </dgm:prSet>
      <dgm:spPr/>
    </dgm:pt>
    <dgm:pt modelId="{22E24D20-6978-DD47-A0D0-22CBE9777431}" type="pres">
      <dgm:prSet presAssocID="{4F1F535F-2062-FC40-8531-D34ABC69472F}" presName="dummy" presStyleCnt="0"/>
      <dgm:spPr/>
    </dgm:pt>
    <dgm:pt modelId="{5155E0D3-CC8A-B344-BA23-96B7FA7B0EFC}" type="pres">
      <dgm:prSet presAssocID="{4F1F535F-2062-FC40-8531-D34ABC69472F}" presName="node" presStyleLbl="revTx" presStyleIdx="0" presStyleCnt="5">
        <dgm:presLayoutVars>
          <dgm:bulletEnabled val="1"/>
        </dgm:presLayoutVars>
      </dgm:prSet>
      <dgm:spPr/>
    </dgm:pt>
    <dgm:pt modelId="{7228B475-E14C-9A4D-BD1E-D8DB72D86042}" type="pres">
      <dgm:prSet presAssocID="{C66780AF-F254-FE45-B16F-D2D8364E88B3}" presName="sibTrans" presStyleLbl="node1" presStyleIdx="0" presStyleCnt="5"/>
      <dgm:spPr/>
    </dgm:pt>
    <dgm:pt modelId="{74D26A3E-9692-404A-8AE6-160E9BE2BCEC}" type="pres">
      <dgm:prSet presAssocID="{F28DB5D7-F285-3F4B-B878-157244510558}" presName="dummy" presStyleCnt="0"/>
      <dgm:spPr/>
    </dgm:pt>
    <dgm:pt modelId="{55BE9641-4269-7A42-A910-426D9752779E}" type="pres">
      <dgm:prSet presAssocID="{F28DB5D7-F285-3F4B-B878-157244510558}" presName="node" presStyleLbl="revTx" presStyleIdx="1" presStyleCnt="5">
        <dgm:presLayoutVars>
          <dgm:bulletEnabled val="1"/>
        </dgm:presLayoutVars>
      </dgm:prSet>
      <dgm:spPr/>
    </dgm:pt>
    <dgm:pt modelId="{E00A5B7E-655F-8D48-AB4D-83474E764B63}" type="pres">
      <dgm:prSet presAssocID="{D5349DB9-A4AC-D640-8244-ED278EE2901D}" presName="sibTrans" presStyleLbl="node1" presStyleIdx="1" presStyleCnt="5"/>
      <dgm:spPr/>
    </dgm:pt>
    <dgm:pt modelId="{735FCADB-5A6F-0240-A073-ECB7AF53C1BD}" type="pres">
      <dgm:prSet presAssocID="{28B0D35F-8576-874C-A46C-4821A8C5A41B}" presName="dummy" presStyleCnt="0"/>
      <dgm:spPr/>
    </dgm:pt>
    <dgm:pt modelId="{33332993-8BA3-9740-BFAB-E56887F9E07D}" type="pres">
      <dgm:prSet presAssocID="{28B0D35F-8576-874C-A46C-4821A8C5A41B}" presName="node" presStyleLbl="revTx" presStyleIdx="2" presStyleCnt="5">
        <dgm:presLayoutVars>
          <dgm:bulletEnabled val="1"/>
        </dgm:presLayoutVars>
      </dgm:prSet>
      <dgm:spPr/>
    </dgm:pt>
    <dgm:pt modelId="{3651F450-6242-7541-B3F5-8A05C060CCBE}" type="pres">
      <dgm:prSet presAssocID="{B52F71EE-39E9-044A-9ED0-4EEAE9B1791F}" presName="sibTrans" presStyleLbl="node1" presStyleIdx="2" presStyleCnt="5"/>
      <dgm:spPr/>
    </dgm:pt>
    <dgm:pt modelId="{95FC53FE-6A29-3441-9531-D1D1D42D7409}" type="pres">
      <dgm:prSet presAssocID="{155997DD-D07F-804B-85DA-31C602C5D93A}" presName="dummy" presStyleCnt="0"/>
      <dgm:spPr/>
    </dgm:pt>
    <dgm:pt modelId="{35216850-AF9F-5B43-A90C-968B72138B8E}" type="pres">
      <dgm:prSet presAssocID="{155997DD-D07F-804B-85DA-31C602C5D93A}" presName="node" presStyleLbl="revTx" presStyleIdx="3" presStyleCnt="5">
        <dgm:presLayoutVars>
          <dgm:bulletEnabled val="1"/>
        </dgm:presLayoutVars>
      </dgm:prSet>
      <dgm:spPr/>
    </dgm:pt>
    <dgm:pt modelId="{50D65BF5-C8A3-554C-8CCA-99E7C86827B0}" type="pres">
      <dgm:prSet presAssocID="{01A70314-9B8D-E044-ACEC-40EDB78DB002}" presName="sibTrans" presStyleLbl="node1" presStyleIdx="3" presStyleCnt="5"/>
      <dgm:spPr/>
    </dgm:pt>
    <dgm:pt modelId="{8ABD426E-8C22-6A4E-A3A3-7AD733703762}" type="pres">
      <dgm:prSet presAssocID="{3EB05BCB-5792-174F-90C4-4DAAEDD5D2D6}" presName="dummy" presStyleCnt="0"/>
      <dgm:spPr/>
    </dgm:pt>
    <dgm:pt modelId="{AD59D848-B221-AA45-9720-A73F27E3AFF6}" type="pres">
      <dgm:prSet presAssocID="{3EB05BCB-5792-174F-90C4-4DAAEDD5D2D6}" presName="node" presStyleLbl="revTx" presStyleIdx="4" presStyleCnt="5">
        <dgm:presLayoutVars>
          <dgm:bulletEnabled val="1"/>
        </dgm:presLayoutVars>
      </dgm:prSet>
      <dgm:spPr/>
    </dgm:pt>
    <dgm:pt modelId="{D5D0369E-C7DC-5042-B0BE-3610AD682C2E}" type="pres">
      <dgm:prSet presAssocID="{E49D4D70-E1B0-D843-884A-AEE9DCD194CA}" presName="sibTrans" presStyleLbl="node1" presStyleIdx="4" presStyleCnt="5"/>
      <dgm:spPr/>
    </dgm:pt>
  </dgm:ptLst>
  <dgm:cxnLst>
    <dgm:cxn modelId="{5737CC00-98E0-9B4C-8AB5-C6F0D2DB7EA8}" srcId="{38AE4713-A14D-5F4D-8515-B8A9D80C0FA1}" destId="{3EB05BCB-5792-174F-90C4-4DAAEDD5D2D6}" srcOrd="4" destOrd="0" parTransId="{A3BA7DEE-4846-0948-B5D7-1F063EEF4A6C}" sibTransId="{E49D4D70-E1B0-D843-884A-AEE9DCD194CA}"/>
    <dgm:cxn modelId="{660DDD1C-78E1-704E-9218-C1BE54B8F0BD}" type="presOf" srcId="{E49D4D70-E1B0-D843-884A-AEE9DCD194CA}" destId="{D5D0369E-C7DC-5042-B0BE-3610AD682C2E}" srcOrd="0" destOrd="0" presId="urn:microsoft.com/office/officeart/2005/8/layout/cycle1"/>
    <dgm:cxn modelId="{8665F721-5975-BB41-A976-A72D0C5C6DAF}" type="presOf" srcId="{28B0D35F-8576-874C-A46C-4821A8C5A41B}" destId="{33332993-8BA3-9740-BFAB-E56887F9E07D}" srcOrd="0" destOrd="0" presId="urn:microsoft.com/office/officeart/2005/8/layout/cycle1"/>
    <dgm:cxn modelId="{C9C13C28-CB0A-BC4B-B809-8FD4CD7E4F67}" type="presOf" srcId="{4F1F535F-2062-FC40-8531-D34ABC69472F}" destId="{5155E0D3-CC8A-B344-BA23-96B7FA7B0EFC}" srcOrd="0" destOrd="0" presId="urn:microsoft.com/office/officeart/2005/8/layout/cycle1"/>
    <dgm:cxn modelId="{FD6CF22B-14D8-4947-AFEE-30ACC24DC09E}" srcId="{38AE4713-A14D-5F4D-8515-B8A9D80C0FA1}" destId="{F28DB5D7-F285-3F4B-B878-157244510558}" srcOrd="1" destOrd="0" parTransId="{DA4BA29C-6C88-9142-9C8C-3201C9ACCF38}" sibTransId="{D5349DB9-A4AC-D640-8244-ED278EE2901D}"/>
    <dgm:cxn modelId="{5517A52E-AF4F-214D-9908-C482AEF22CC8}" type="presOf" srcId="{C66780AF-F254-FE45-B16F-D2D8364E88B3}" destId="{7228B475-E14C-9A4D-BD1E-D8DB72D86042}" srcOrd="0" destOrd="0" presId="urn:microsoft.com/office/officeart/2005/8/layout/cycle1"/>
    <dgm:cxn modelId="{D2594D3C-2F8A-AC40-AF37-399AEC00D836}" type="presOf" srcId="{B52F71EE-39E9-044A-9ED0-4EEAE9B1791F}" destId="{3651F450-6242-7541-B3F5-8A05C060CCBE}" srcOrd="0" destOrd="0" presId="urn:microsoft.com/office/officeart/2005/8/layout/cycle1"/>
    <dgm:cxn modelId="{C85BE93F-6E19-784E-9BF0-998128C58093}" srcId="{38AE4713-A14D-5F4D-8515-B8A9D80C0FA1}" destId="{155997DD-D07F-804B-85DA-31C602C5D93A}" srcOrd="3" destOrd="0" parTransId="{F0E5A37C-E517-524A-A3EF-7B0CD70D2439}" sibTransId="{01A70314-9B8D-E044-ACEC-40EDB78DB002}"/>
    <dgm:cxn modelId="{83379F66-C98B-DA4A-8428-B25C486AD841}" type="presOf" srcId="{155997DD-D07F-804B-85DA-31C602C5D93A}" destId="{35216850-AF9F-5B43-A90C-968B72138B8E}" srcOrd="0" destOrd="0" presId="urn:microsoft.com/office/officeart/2005/8/layout/cycle1"/>
    <dgm:cxn modelId="{5DBD086C-9DA8-1844-A77E-E37971A3A9C8}" type="presOf" srcId="{D5349DB9-A4AC-D640-8244-ED278EE2901D}" destId="{E00A5B7E-655F-8D48-AB4D-83474E764B63}" srcOrd="0" destOrd="0" presId="urn:microsoft.com/office/officeart/2005/8/layout/cycle1"/>
    <dgm:cxn modelId="{C4E2647C-B717-474C-8FB0-FB4D95A01158}" srcId="{38AE4713-A14D-5F4D-8515-B8A9D80C0FA1}" destId="{28B0D35F-8576-874C-A46C-4821A8C5A41B}" srcOrd="2" destOrd="0" parTransId="{8E75C821-F364-5F41-BDAB-6D91C7154C8A}" sibTransId="{B52F71EE-39E9-044A-9ED0-4EEAE9B1791F}"/>
    <dgm:cxn modelId="{91B2E084-F5CD-3342-B831-7BBAE13CFEBF}" type="presOf" srcId="{3EB05BCB-5792-174F-90C4-4DAAEDD5D2D6}" destId="{AD59D848-B221-AA45-9720-A73F27E3AFF6}" srcOrd="0" destOrd="0" presId="urn:microsoft.com/office/officeart/2005/8/layout/cycle1"/>
    <dgm:cxn modelId="{EA923188-0C6D-EF41-A2F9-2142EA64369E}" type="presOf" srcId="{F28DB5D7-F285-3F4B-B878-157244510558}" destId="{55BE9641-4269-7A42-A910-426D9752779E}" srcOrd="0" destOrd="0" presId="urn:microsoft.com/office/officeart/2005/8/layout/cycle1"/>
    <dgm:cxn modelId="{0EC684A0-1FE2-CE42-88B4-FA0404796F88}" type="presOf" srcId="{01A70314-9B8D-E044-ACEC-40EDB78DB002}" destId="{50D65BF5-C8A3-554C-8CCA-99E7C86827B0}" srcOrd="0" destOrd="0" presId="urn:microsoft.com/office/officeart/2005/8/layout/cycle1"/>
    <dgm:cxn modelId="{F65BF4CC-F41F-4E4A-8948-0D70B79F1386}" type="presOf" srcId="{38AE4713-A14D-5F4D-8515-B8A9D80C0FA1}" destId="{F9B1A25C-2D54-6E41-AF10-99FC4E7A164A}" srcOrd="0" destOrd="0" presId="urn:microsoft.com/office/officeart/2005/8/layout/cycle1"/>
    <dgm:cxn modelId="{C0BD07F2-FDFA-964C-8D2F-9B48515AF1AD}" srcId="{38AE4713-A14D-5F4D-8515-B8A9D80C0FA1}" destId="{4F1F535F-2062-FC40-8531-D34ABC69472F}" srcOrd="0" destOrd="0" parTransId="{14A26D67-9B51-D040-A938-9FF9D2754B26}" sibTransId="{C66780AF-F254-FE45-B16F-D2D8364E88B3}"/>
    <dgm:cxn modelId="{2D445F5E-413A-B64C-A317-537B3226BA3B}" type="presParOf" srcId="{F9B1A25C-2D54-6E41-AF10-99FC4E7A164A}" destId="{22E24D20-6978-DD47-A0D0-22CBE9777431}" srcOrd="0" destOrd="0" presId="urn:microsoft.com/office/officeart/2005/8/layout/cycle1"/>
    <dgm:cxn modelId="{FD0D5487-77E3-7948-89DB-6B1C63E6EA03}" type="presParOf" srcId="{F9B1A25C-2D54-6E41-AF10-99FC4E7A164A}" destId="{5155E0D3-CC8A-B344-BA23-96B7FA7B0EFC}" srcOrd="1" destOrd="0" presId="urn:microsoft.com/office/officeart/2005/8/layout/cycle1"/>
    <dgm:cxn modelId="{B0B448DD-5D7A-9F40-A48F-5661731A6E84}" type="presParOf" srcId="{F9B1A25C-2D54-6E41-AF10-99FC4E7A164A}" destId="{7228B475-E14C-9A4D-BD1E-D8DB72D86042}" srcOrd="2" destOrd="0" presId="urn:microsoft.com/office/officeart/2005/8/layout/cycle1"/>
    <dgm:cxn modelId="{BC227C2D-2084-FD46-AB03-6999EA984F43}" type="presParOf" srcId="{F9B1A25C-2D54-6E41-AF10-99FC4E7A164A}" destId="{74D26A3E-9692-404A-8AE6-160E9BE2BCEC}" srcOrd="3" destOrd="0" presId="urn:microsoft.com/office/officeart/2005/8/layout/cycle1"/>
    <dgm:cxn modelId="{727B67CA-EFF1-D44E-A910-E76F035894EB}" type="presParOf" srcId="{F9B1A25C-2D54-6E41-AF10-99FC4E7A164A}" destId="{55BE9641-4269-7A42-A910-426D9752779E}" srcOrd="4" destOrd="0" presId="urn:microsoft.com/office/officeart/2005/8/layout/cycle1"/>
    <dgm:cxn modelId="{9459E5BE-928D-6D45-A6DE-D716E7F288FB}" type="presParOf" srcId="{F9B1A25C-2D54-6E41-AF10-99FC4E7A164A}" destId="{E00A5B7E-655F-8D48-AB4D-83474E764B63}" srcOrd="5" destOrd="0" presId="urn:microsoft.com/office/officeart/2005/8/layout/cycle1"/>
    <dgm:cxn modelId="{F78C4D3A-A49C-AE4C-A5C3-F2D1EF5A5495}" type="presParOf" srcId="{F9B1A25C-2D54-6E41-AF10-99FC4E7A164A}" destId="{735FCADB-5A6F-0240-A073-ECB7AF53C1BD}" srcOrd="6" destOrd="0" presId="urn:microsoft.com/office/officeart/2005/8/layout/cycle1"/>
    <dgm:cxn modelId="{2CB52238-FBBB-8247-A4D2-BD34DB7332F7}" type="presParOf" srcId="{F9B1A25C-2D54-6E41-AF10-99FC4E7A164A}" destId="{33332993-8BA3-9740-BFAB-E56887F9E07D}" srcOrd="7" destOrd="0" presId="urn:microsoft.com/office/officeart/2005/8/layout/cycle1"/>
    <dgm:cxn modelId="{18922DF6-06AC-4740-A9DB-C20E3338332C}" type="presParOf" srcId="{F9B1A25C-2D54-6E41-AF10-99FC4E7A164A}" destId="{3651F450-6242-7541-B3F5-8A05C060CCBE}" srcOrd="8" destOrd="0" presId="urn:microsoft.com/office/officeart/2005/8/layout/cycle1"/>
    <dgm:cxn modelId="{CB337491-62B5-2D47-BDB5-5CF5C5BC32FE}" type="presParOf" srcId="{F9B1A25C-2D54-6E41-AF10-99FC4E7A164A}" destId="{95FC53FE-6A29-3441-9531-D1D1D42D7409}" srcOrd="9" destOrd="0" presId="urn:microsoft.com/office/officeart/2005/8/layout/cycle1"/>
    <dgm:cxn modelId="{75C527E4-3AF3-F54F-BCE3-60A78797EFD5}" type="presParOf" srcId="{F9B1A25C-2D54-6E41-AF10-99FC4E7A164A}" destId="{35216850-AF9F-5B43-A90C-968B72138B8E}" srcOrd="10" destOrd="0" presId="urn:microsoft.com/office/officeart/2005/8/layout/cycle1"/>
    <dgm:cxn modelId="{BE2DBD7B-AD3B-4345-8E60-D51768807B2C}" type="presParOf" srcId="{F9B1A25C-2D54-6E41-AF10-99FC4E7A164A}" destId="{50D65BF5-C8A3-554C-8CCA-99E7C86827B0}" srcOrd="11" destOrd="0" presId="urn:microsoft.com/office/officeart/2005/8/layout/cycle1"/>
    <dgm:cxn modelId="{1B15E4E5-50AD-1A4B-A3B9-41A34571606F}" type="presParOf" srcId="{F9B1A25C-2D54-6E41-AF10-99FC4E7A164A}" destId="{8ABD426E-8C22-6A4E-A3A3-7AD733703762}" srcOrd="12" destOrd="0" presId="urn:microsoft.com/office/officeart/2005/8/layout/cycle1"/>
    <dgm:cxn modelId="{FBB0377D-DB66-0349-8CB9-BF8A397EA732}" type="presParOf" srcId="{F9B1A25C-2D54-6E41-AF10-99FC4E7A164A}" destId="{AD59D848-B221-AA45-9720-A73F27E3AFF6}" srcOrd="13" destOrd="0" presId="urn:microsoft.com/office/officeart/2005/8/layout/cycle1"/>
    <dgm:cxn modelId="{4A1B0133-3284-C742-BDAC-BDFCB064AD8A}" type="presParOf" srcId="{F9B1A25C-2D54-6E41-AF10-99FC4E7A164A}" destId="{D5D0369E-C7DC-5042-B0BE-3610AD682C2E}"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5E0D3-CC8A-B344-BA23-96B7FA7B0EFC}">
      <dsp:nvSpPr>
        <dsp:cNvPr id="0" name=""/>
        <dsp:cNvSpPr/>
      </dsp:nvSpPr>
      <dsp:spPr>
        <a:xfrm>
          <a:off x="4303458" y="35013"/>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timers</a:t>
          </a:r>
        </a:p>
      </dsp:txBody>
      <dsp:txXfrm>
        <a:off x="4303458" y="35013"/>
        <a:ext cx="1190494" cy="1190494"/>
      </dsp:txXfrm>
    </dsp:sp>
    <dsp:sp modelId="{7228B475-E14C-9A4D-BD1E-D8DB72D86042}">
      <dsp:nvSpPr>
        <dsp:cNvPr id="0" name=""/>
        <dsp:cNvSpPr/>
      </dsp:nvSpPr>
      <dsp:spPr>
        <a:xfrm>
          <a:off x="1500292" y="248"/>
          <a:ext cx="4466896" cy="4466896"/>
        </a:xfrm>
        <a:prstGeom prst="circularArrow">
          <a:avLst>
            <a:gd name="adj1" fmla="val 5197"/>
            <a:gd name="adj2" fmla="val 335686"/>
            <a:gd name="adj3" fmla="val 21294167"/>
            <a:gd name="adj4" fmla="val 19765428"/>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5BE9641-4269-7A42-A910-426D9752779E}">
      <dsp:nvSpPr>
        <dsp:cNvPr id="0" name=""/>
        <dsp:cNvSpPr/>
      </dsp:nvSpPr>
      <dsp:spPr>
        <a:xfrm>
          <a:off x="5023446" y="2250908"/>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network and disk</a:t>
          </a:r>
        </a:p>
      </dsp:txBody>
      <dsp:txXfrm>
        <a:off x="5023446" y="2250908"/>
        <a:ext cx="1190494" cy="1190494"/>
      </dsp:txXfrm>
    </dsp:sp>
    <dsp:sp modelId="{E00A5B7E-655F-8D48-AB4D-83474E764B63}">
      <dsp:nvSpPr>
        <dsp:cNvPr id="0" name=""/>
        <dsp:cNvSpPr/>
      </dsp:nvSpPr>
      <dsp:spPr>
        <a:xfrm>
          <a:off x="1500292" y="248"/>
          <a:ext cx="4466896" cy="4466896"/>
        </a:xfrm>
        <a:prstGeom prst="circularArrow">
          <a:avLst>
            <a:gd name="adj1" fmla="val 5197"/>
            <a:gd name="adj2" fmla="val 335686"/>
            <a:gd name="adj3" fmla="val 4015657"/>
            <a:gd name="adj4" fmla="val 2252552"/>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3332993-8BA3-9740-BFAB-E56887F9E07D}">
      <dsp:nvSpPr>
        <dsp:cNvPr id="0" name=""/>
        <dsp:cNvSpPr/>
      </dsp:nvSpPr>
      <dsp:spPr>
        <a:xfrm>
          <a:off x="3138493" y="3620406"/>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poll</a:t>
          </a:r>
        </a:p>
      </dsp:txBody>
      <dsp:txXfrm>
        <a:off x="3138493" y="3620406"/>
        <a:ext cx="1190494" cy="1190494"/>
      </dsp:txXfrm>
    </dsp:sp>
    <dsp:sp modelId="{3651F450-6242-7541-B3F5-8A05C060CCBE}">
      <dsp:nvSpPr>
        <dsp:cNvPr id="0" name=""/>
        <dsp:cNvSpPr/>
      </dsp:nvSpPr>
      <dsp:spPr>
        <a:xfrm>
          <a:off x="1500292" y="248"/>
          <a:ext cx="4466896" cy="4466896"/>
        </a:xfrm>
        <a:prstGeom prst="circularArrow">
          <a:avLst>
            <a:gd name="adj1" fmla="val 5197"/>
            <a:gd name="adj2" fmla="val 335686"/>
            <a:gd name="adj3" fmla="val 8211762"/>
            <a:gd name="adj4" fmla="val 6448657"/>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5216850-AF9F-5B43-A90C-968B72138B8E}">
      <dsp:nvSpPr>
        <dsp:cNvPr id="0" name=""/>
        <dsp:cNvSpPr/>
      </dsp:nvSpPr>
      <dsp:spPr>
        <a:xfrm>
          <a:off x="1253541" y="2250908"/>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setImmediate</a:t>
          </a:r>
        </a:p>
      </dsp:txBody>
      <dsp:txXfrm>
        <a:off x="1253541" y="2250908"/>
        <a:ext cx="1190494" cy="1190494"/>
      </dsp:txXfrm>
    </dsp:sp>
    <dsp:sp modelId="{50D65BF5-C8A3-554C-8CCA-99E7C86827B0}">
      <dsp:nvSpPr>
        <dsp:cNvPr id="0" name=""/>
        <dsp:cNvSpPr/>
      </dsp:nvSpPr>
      <dsp:spPr>
        <a:xfrm>
          <a:off x="1500292" y="248"/>
          <a:ext cx="4466896" cy="4466896"/>
        </a:xfrm>
        <a:prstGeom prst="circularArrow">
          <a:avLst>
            <a:gd name="adj1" fmla="val 5197"/>
            <a:gd name="adj2" fmla="val 335686"/>
            <a:gd name="adj3" fmla="val 12298886"/>
            <a:gd name="adj4" fmla="val 10770147"/>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D59D848-B221-AA45-9720-A73F27E3AFF6}">
      <dsp:nvSpPr>
        <dsp:cNvPr id="0" name=""/>
        <dsp:cNvSpPr/>
      </dsp:nvSpPr>
      <dsp:spPr>
        <a:xfrm>
          <a:off x="1973528" y="35013"/>
          <a:ext cx="1190494" cy="119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"close" events</a:t>
          </a:r>
        </a:p>
      </dsp:txBody>
      <dsp:txXfrm>
        <a:off x="1973528" y="35013"/>
        <a:ext cx="1190494" cy="1190494"/>
      </dsp:txXfrm>
    </dsp:sp>
    <dsp:sp modelId="{D5D0369E-C7DC-5042-B0BE-3610AD682C2E}">
      <dsp:nvSpPr>
        <dsp:cNvPr id="0" name=""/>
        <dsp:cNvSpPr/>
      </dsp:nvSpPr>
      <dsp:spPr>
        <a:xfrm>
          <a:off x="1500292" y="248"/>
          <a:ext cx="4466896" cy="4466896"/>
        </a:xfrm>
        <a:prstGeom prst="circularArrow">
          <a:avLst>
            <a:gd name="adj1" fmla="val 5197"/>
            <a:gd name="adj2" fmla="val 335686"/>
            <a:gd name="adj3" fmla="val 16866643"/>
            <a:gd name="adj4" fmla="val 15197671"/>
            <a:gd name="adj5" fmla="val 6063"/>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4FF009-9F88-194D-A2AD-FA18CB0F2480}" type="datetime1">
              <a:rPr lang="en-US" smtClean="0"/>
              <a:t>10/8/26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25DA05-135C-B149-9A52-79297AF95183}" type="slidenum">
              <a:rPr lang="en-US" smtClean="0"/>
              <a:t>‹#›</a:t>
            </a:fld>
            <a:endParaRPr lang="en-US"/>
          </a:p>
        </p:txBody>
      </p:sp>
    </p:spTree>
    <p:extLst>
      <p:ext uri="{BB962C8B-B14F-4D97-AF65-F5344CB8AC3E}">
        <p14:creationId xmlns:p14="http://schemas.microsoft.com/office/powerpoint/2010/main" val="6795731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77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a:t>
            </a:fld>
            <a:endParaRPr lang="en-US" dirty="0"/>
          </a:p>
        </p:txBody>
      </p:sp>
    </p:spTree>
    <p:extLst>
      <p:ext uri="{BB962C8B-B14F-4D97-AF65-F5344CB8AC3E}">
        <p14:creationId xmlns:p14="http://schemas.microsoft.com/office/powerpoint/2010/main" val="367031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3</a:t>
            </a:fld>
            <a:endParaRPr lang="en-US" dirty="0"/>
          </a:p>
        </p:txBody>
      </p:sp>
    </p:spTree>
    <p:extLst>
      <p:ext uri="{BB962C8B-B14F-4D97-AF65-F5344CB8AC3E}">
        <p14:creationId xmlns:p14="http://schemas.microsoft.com/office/powerpoint/2010/main" val="2940319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4</a:t>
            </a:fld>
            <a:endParaRPr lang="en-US"/>
          </a:p>
        </p:txBody>
      </p:sp>
    </p:spTree>
    <p:extLst>
      <p:ext uri="{BB962C8B-B14F-4D97-AF65-F5344CB8AC3E}">
        <p14:creationId xmlns:p14="http://schemas.microsoft.com/office/powerpoint/2010/main" val="2028558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a:t>
            </a:r>
            <a:r>
              <a:rPr lang="en-US" baseline="0" dirty="0"/>
              <a:t> answer these questions!</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a:t>
            </a:fld>
            <a:endParaRPr lang="en-US" dirty="0"/>
          </a:p>
        </p:txBody>
      </p:sp>
    </p:spTree>
    <p:extLst>
      <p:ext uri="{BB962C8B-B14F-4D97-AF65-F5344CB8AC3E}">
        <p14:creationId xmlns:p14="http://schemas.microsoft.com/office/powerpoint/2010/main" val="4064437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a rough estimate.</a:t>
            </a:r>
            <a:r>
              <a:rPr lang="en-US" baseline="0" dirty="0"/>
              <a:t> We may take breaks at different points, depending on where we are with the material. But, in general, we'll take a break in the morning, a break for lunch, and a couple breaks in the afternoon.</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a:t>
            </a:fld>
            <a:endParaRPr lang="en-US" dirty="0"/>
          </a:p>
        </p:txBody>
      </p:sp>
    </p:spTree>
    <p:extLst>
      <p:ext uri="{BB962C8B-B14F-4D97-AF65-F5344CB8AC3E}">
        <p14:creationId xmlns:p14="http://schemas.microsoft.com/office/powerpoint/2010/main" val="3973083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big topics we'll be covering. If</a:t>
            </a:r>
            <a:r>
              <a:rPr lang="en-US" baseline="0" dirty="0"/>
              <a:t> this is shorter than a 3-5 day class, we'll spend less time on the first part and do the other two more together than we would in a longer course.</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a:t>
            </a:fld>
            <a:endParaRPr lang="en-US" dirty="0"/>
          </a:p>
        </p:txBody>
      </p:sp>
    </p:spTree>
    <p:extLst>
      <p:ext uri="{BB962C8B-B14F-4D97-AF65-F5344CB8AC3E}">
        <p14:creationId xmlns:p14="http://schemas.microsoft.com/office/powerpoint/2010/main" val="1519784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8</a:t>
            </a:fld>
            <a:endParaRPr lang="en-US" dirty="0"/>
          </a:p>
        </p:txBody>
      </p:sp>
    </p:spTree>
    <p:extLst>
      <p:ext uri="{BB962C8B-B14F-4D97-AF65-F5344CB8AC3E}">
        <p14:creationId xmlns:p14="http://schemas.microsoft.com/office/powerpoint/2010/main" val="1229478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main thing that makes Vue different from every other front end JavaScript framework is its philosophy of allowing incremental adoption. You don't need to buy into an entire ecosystem with vue when you first get started. it's very easy to just include the vue library in a page and start using it. As you become more skilled with it, you'll want to integrate it into a modern front-end development build, testing, and module structure, but Vue makes that very painless, as you'll see. </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9</a:t>
            </a:fld>
            <a:endParaRPr lang="en-US" dirty="0"/>
          </a:p>
        </p:txBody>
      </p:sp>
    </p:spTree>
    <p:extLst>
      <p:ext uri="{BB962C8B-B14F-4D97-AF65-F5344CB8AC3E}">
        <p14:creationId xmlns:p14="http://schemas.microsoft.com/office/powerpoint/2010/main" val="463042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use this term 'reactive' in front-end development now to describe a web page changing in response to events. This is the role of every view library.</a:t>
            </a:r>
          </a:p>
        </p:txBody>
      </p:sp>
      <p:sp>
        <p:nvSpPr>
          <p:cNvPr id="4" name="Slide Number Placeholder 3"/>
          <p:cNvSpPr>
            <a:spLocks noGrp="1"/>
          </p:cNvSpPr>
          <p:nvPr>
            <p:ph type="sldNum" sz="quarter" idx="5"/>
          </p:nvPr>
        </p:nvSpPr>
        <p:spPr/>
        <p:txBody>
          <a:bodyPr/>
          <a:lstStyle/>
          <a:p>
            <a:fld id="{71770EAF-1B7F-084E-BE5F-E1B515CBCD96}" type="slidenum">
              <a:rPr lang="en-US" smtClean="0"/>
              <a:t>10</a:t>
            </a:fld>
            <a:endParaRPr lang="en-US" dirty="0"/>
          </a:p>
        </p:txBody>
      </p:sp>
    </p:spTree>
    <p:extLst>
      <p:ext uri="{BB962C8B-B14F-4D97-AF65-F5344CB8AC3E}">
        <p14:creationId xmlns:p14="http://schemas.microsoft.com/office/powerpoint/2010/main" val="399499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11</a:t>
            </a:fld>
            <a:endParaRPr lang="en-US" dirty="0"/>
          </a:p>
        </p:txBody>
      </p:sp>
    </p:spTree>
    <p:extLst>
      <p:ext uri="{BB962C8B-B14F-4D97-AF65-F5344CB8AC3E}">
        <p14:creationId xmlns:p14="http://schemas.microsoft.com/office/powerpoint/2010/main" val="1320841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a:t>
            </a:fld>
            <a:endParaRPr lang="en-US" dirty="0"/>
          </a:p>
        </p:txBody>
      </p:sp>
    </p:spTree>
    <p:extLst>
      <p:ext uri="{BB962C8B-B14F-4D97-AF65-F5344CB8AC3E}">
        <p14:creationId xmlns:p14="http://schemas.microsoft.com/office/powerpoint/2010/main" val="3416396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E01897-90C6-7B4B-BE5D-608DBB750E0D}" type="slidenum">
              <a:rPr lang="en-US" smtClean="0"/>
              <a:t>14</a:t>
            </a:fld>
            <a:endParaRPr lang="en-US" dirty="0"/>
          </a:p>
        </p:txBody>
      </p:sp>
    </p:spTree>
    <p:extLst>
      <p:ext uri="{BB962C8B-B14F-4D97-AF65-F5344CB8AC3E}">
        <p14:creationId xmlns:p14="http://schemas.microsoft.com/office/powerpoint/2010/main" val="283672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&lt;!DOCTYPE html&gt;</a:t>
            </a:r>
          </a:p>
          <a:p>
            <a:r>
              <a:rPr lang="en-US" sz="1200" b="0" kern="1200" dirty="0">
                <a:solidFill>
                  <a:schemeClr val="tx1"/>
                </a:solidFill>
                <a:effectLst/>
                <a:latin typeface="+mn-lt"/>
                <a:ea typeface="+mn-ea"/>
                <a:cs typeface="+mn-cs"/>
              </a:rPr>
              <a:t>&lt;html&gt;</a:t>
            </a:r>
          </a:p>
          <a:p>
            <a:r>
              <a:rPr lang="en-US" sz="1200" b="0" kern="1200" dirty="0">
                <a:solidFill>
                  <a:schemeClr val="tx1"/>
                </a:solidFill>
                <a:effectLst/>
                <a:latin typeface="+mn-lt"/>
                <a:ea typeface="+mn-ea"/>
                <a:cs typeface="+mn-cs"/>
              </a:rPr>
              <a:t>&lt;head&gt;</a:t>
            </a:r>
          </a:p>
          <a:p>
            <a:r>
              <a:rPr lang="en-US" sz="1200" b="0" kern="1200" dirty="0">
                <a:solidFill>
                  <a:schemeClr val="tx1"/>
                </a:solidFill>
                <a:effectLst/>
                <a:latin typeface="+mn-lt"/>
                <a:ea typeface="+mn-ea"/>
                <a:cs typeface="+mn-cs"/>
              </a:rPr>
              <a:t>&lt;script src="https://cdn.jsdelivr.net/npm/vue/dist/vue.js"&gt;&lt;/script&gt;</a:t>
            </a:r>
          </a:p>
          <a:p>
            <a:r>
              <a:rPr lang="en-US" sz="1200" b="0" kern="1200" dirty="0">
                <a:solidFill>
                  <a:schemeClr val="tx1"/>
                </a:solidFill>
                <a:effectLst/>
                <a:latin typeface="+mn-lt"/>
                <a:ea typeface="+mn-ea"/>
                <a:cs typeface="+mn-cs"/>
              </a:rPr>
              <a:t>&lt;/head&gt;</a:t>
            </a:r>
          </a:p>
          <a:p>
            <a:r>
              <a:rPr lang="en-US" sz="1200" b="0" kern="1200" dirty="0">
                <a:solidFill>
                  <a:schemeClr val="tx1"/>
                </a:solidFill>
                <a:effectLst/>
                <a:latin typeface="+mn-lt"/>
                <a:ea typeface="+mn-ea"/>
                <a:cs typeface="+mn-cs"/>
              </a:rPr>
              <a:t>&lt;body&gt;</a:t>
            </a:r>
          </a:p>
          <a:p>
            <a:r>
              <a:rPr lang="en-US" sz="1200" b="0" kern="1200" dirty="0">
                <a:solidFill>
                  <a:schemeClr val="tx1"/>
                </a:solidFill>
                <a:effectLst/>
                <a:latin typeface="+mn-lt"/>
                <a:ea typeface="+mn-ea"/>
                <a:cs typeface="+mn-cs"/>
              </a:rPr>
              <a:t>&lt;div id="app"&gt;</a:t>
            </a:r>
          </a:p>
          <a:p>
            <a:r>
              <a:rPr lang="en-US" sz="1200" b="0" kern="1200" dirty="0">
                <a:solidFill>
                  <a:schemeClr val="tx1"/>
                </a:solidFill>
                <a:effectLst/>
                <a:latin typeface="+mn-lt"/>
                <a:ea typeface="+mn-ea"/>
                <a:cs typeface="+mn-cs"/>
              </a:rPr>
              <a:t>{{ message }}</a:t>
            </a:r>
          </a:p>
          <a:p>
            <a:r>
              <a:rPr lang="en-US" sz="1200" b="0" kern="1200" dirty="0">
                <a:solidFill>
                  <a:schemeClr val="tx1"/>
                </a:solidFill>
                <a:effectLst/>
                <a:latin typeface="+mn-lt"/>
                <a:ea typeface="+mn-ea"/>
                <a:cs typeface="+mn-cs"/>
              </a:rPr>
              <a:t>&lt;/div&gt;</a:t>
            </a:r>
          </a:p>
          <a:p>
            <a:r>
              <a:rPr lang="en-US" sz="1200" b="0" kern="1200" dirty="0">
                <a:solidFill>
                  <a:schemeClr val="tx1"/>
                </a:solidFill>
                <a:effectLst/>
                <a:latin typeface="+mn-lt"/>
                <a:ea typeface="+mn-ea"/>
                <a:cs typeface="+mn-cs"/>
              </a:rPr>
              <a:t>&lt;script&gt;</a:t>
            </a:r>
          </a:p>
          <a:p>
            <a:r>
              <a:rPr lang="en-US" sz="1200" b="0" kern="1200" dirty="0">
                <a:solidFill>
                  <a:schemeClr val="tx1"/>
                </a:solidFill>
                <a:effectLst/>
                <a:latin typeface="+mn-lt"/>
                <a:ea typeface="+mn-ea"/>
                <a:cs typeface="+mn-cs"/>
              </a:rPr>
              <a:t>var app = new Vue({</a:t>
            </a:r>
          </a:p>
          <a:p>
            <a:r>
              <a:rPr lang="en-US" sz="1200" b="0" kern="1200" dirty="0">
                <a:solidFill>
                  <a:schemeClr val="tx1"/>
                </a:solidFill>
                <a:effectLst/>
                <a:latin typeface="+mn-lt"/>
                <a:ea typeface="+mn-ea"/>
                <a:cs typeface="+mn-cs"/>
              </a:rPr>
              <a:t>el: '#app',</a:t>
            </a:r>
          </a:p>
          <a:p>
            <a:r>
              <a:rPr lang="en-US" sz="1200" b="0" kern="1200" dirty="0">
                <a:solidFill>
                  <a:schemeClr val="tx1"/>
                </a:solidFill>
                <a:effectLst/>
                <a:latin typeface="+mn-lt"/>
                <a:ea typeface="+mn-ea"/>
                <a:cs typeface="+mn-cs"/>
              </a:rPr>
              <a:t>data: {</a:t>
            </a:r>
          </a:p>
          <a:p>
            <a:r>
              <a:rPr lang="en-US" sz="1200" b="0" kern="1200" dirty="0">
                <a:solidFill>
                  <a:schemeClr val="tx1"/>
                </a:solidFill>
                <a:effectLst/>
                <a:latin typeface="+mn-lt"/>
                <a:ea typeface="+mn-ea"/>
                <a:cs typeface="+mn-cs"/>
              </a:rPr>
              <a:t>message: 'Hello Vue!'</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&lt;/script&gt;</a:t>
            </a:r>
          </a:p>
          <a:p>
            <a:r>
              <a:rPr lang="en-US" sz="1200" b="0" kern="1200" dirty="0">
                <a:solidFill>
                  <a:schemeClr val="tx1"/>
                </a:solidFill>
                <a:effectLst/>
                <a:latin typeface="+mn-lt"/>
                <a:ea typeface="+mn-ea"/>
                <a:cs typeface="+mn-cs"/>
              </a:rPr>
              <a:t>&lt;/body&gt;</a:t>
            </a:r>
          </a:p>
          <a:p>
            <a:r>
              <a:rPr lang="en-US" sz="1200" b="0" kern="1200" dirty="0">
                <a:solidFill>
                  <a:schemeClr val="tx1"/>
                </a:solidFill>
                <a:effectLst/>
                <a:latin typeface="+mn-lt"/>
                <a:ea typeface="+mn-ea"/>
                <a:cs typeface="+mn-cs"/>
              </a:rPr>
              <a:t>&lt;/html&gt;</a:t>
            </a:r>
          </a:p>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15</a:t>
            </a:fld>
            <a:endParaRPr lang="en-US" dirty="0"/>
          </a:p>
        </p:txBody>
      </p:sp>
    </p:spTree>
    <p:extLst>
      <p:ext uri="{BB962C8B-B14F-4D97-AF65-F5344CB8AC3E}">
        <p14:creationId xmlns:p14="http://schemas.microsoft.com/office/powerpoint/2010/main" val="2532357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DOM manages updates to the browser DOM. </a:t>
            </a:r>
          </a:p>
          <a:p>
            <a:r>
              <a:rPr lang="en-US" dirty="0"/>
              <a:t>Renders views in memory and compares its rending with what’s currently in the browser to determine how to change the browser window.</a:t>
            </a:r>
          </a:p>
          <a:p>
            <a:r>
              <a:rPr lang="en-US" dirty="0"/>
              <a:t>DOM manipulation can be slow, but in doing this comparison of virtual DOMs, a framework can find more efficient ways to update the browser DOM.</a:t>
            </a:r>
          </a:p>
        </p:txBody>
      </p:sp>
      <p:sp>
        <p:nvSpPr>
          <p:cNvPr id="4" name="Slide Number Placeholder 3"/>
          <p:cNvSpPr>
            <a:spLocks noGrp="1"/>
          </p:cNvSpPr>
          <p:nvPr>
            <p:ph type="sldNum" sz="quarter" idx="5"/>
          </p:nvPr>
        </p:nvSpPr>
        <p:spPr/>
        <p:txBody>
          <a:bodyPr/>
          <a:lstStyle/>
          <a:p>
            <a:fld id="{71770EAF-1B7F-084E-BE5F-E1B515CBCD96}" type="slidenum">
              <a:rPr lang="en-US" smtClean="0"/>
              <a:t>16</a:t>
            </a:fld>
            <a:endParaRPr lang="en-US" dirty="0"/>
          </a:p>
        </p:txBody>
      </p:sp>
    </p:spTree>
    <p:extLst>
      <p:ext uri="{BB962C8B-B14F-4D97-AF65-F5344CB8AC3E}">
        <p14:creationId xmlns:p14="http://schemas.microsoft.com/office/powerpoint/2010/main" val="1341890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a:t>
            </a:fld>
            <a:endParaRPr lang="en-US" dirty="0"/>
          </a:p>
        </p:txBody>
      </p:sp>
    </p:spTree>
    <p:extLst>
      <p:ext uri="{BB962C8B-B14F-4D97-AF65-F5344CB8AC3E}">
        <p14:creationId xmlns:p14="http://schemas.microsoft.com/office/powerpoint/2010/main" val="4260427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working with hooks, logic is expressed in function calls that become reusable.</a:t>
            </a:r>
          </a:p>
          <a:p>
            <a:endParaRPr lang="en-US" dirty="0"/>
          </a:p>
          <a:p>
            <a:r>
              <a:rPr lang="en-US" dirty="0"/>
              <a:t>Hooks achieve what mixins do, but avoid two problems that come with mixins:</a:t>
            </a:r>
          </a:p>
          <a:p>
            <a:pPr marL="228600" indent="-228600">
              <a:buAutoNum type="arabicPeriod"/>
            </a:pPr>
            <a:r>
              <a:rPr lang="en-US" dirty="0"/>
              <a:t>they allow us to pass state from one to the other</a:t>
            </a:r>
          </a:p>
          <a:p>
            <a:pPr marL="228600" indent="-228600">
              <a:buAutoNum type="arabicPeriod"/>
            </a:pPr>
            <a:r>
              <a:rPr lang="en-US" dirty="0"/>
              <a:t>they make it explicit where logic is coming from</a:t>
            </a:r>
          </a:p>
          <a:p>
            <a:pPr marL="0" indent="0">
              <a:buNone/>
            </a:pPr>
            <a:endParaRPr lang="en-US" dirty="0"/>
          </a:p>
          <a:p>
            <a:pPr marL="0" indent="0">
              <a:buNone/>
            </a:pPr>
            <a:r>
              <a:rPr lang="en-US" dirty="0"/>
              <a:t>Good article about hooks and vue, with demos: https://css-tricks.com/what-hooks-mean-for-vue</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a:t>
            </a:fld>
            <a:endParaRPr lang="en-US" dirty="0"/>
          </a:p>
        </p:txBody>
      </p:sp>
    </p:spTree>
    <p:extLst>
      <p:ext uri="{BB962C8B-B14F-4D97-AF65-F5344CB8AC3E}">
        <p14:creationId xmlns:p14="http://schemas.microsoft.com/office/powerpoint/2010/main" val="2456482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20</a:t>
            </a:fld>
            <a:endParaRPr lang="en-US" dirty="0"/>
          </a:p>
        </p:txBody>
      </p:sp>
    </p:spTree>
    <p:extLst>
      <p:ext uri="{BB962C8B-B14F-4D97-AF65-F5344CB8AC3E}">
        <p14:creationId xmlns:p14="http://schemas.microsoft.com/office/powerpoint/2010/main" val="2376833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there are plenty of code</a:t>
            </a:r>
            <a:r>
              <a:rPr lang="en-US" baseline="0" dirty="0"/>
              <a:t> editors and IDEs available for JavaScript development. Purists still maintain that vi or eMacs are all you need, but with so many different libraries and tools involved in modern front-end development, professional developers should take advantage of the advanced features of a full IDE. </a:t>
            </a:r>
            <a:r>
              <a:rPr lang="en-US" dirty="0"/>
              <a:t>One of the best ones available</a:t>
            </a:r>
            <a:r>
              <a:rPr lang="en-US" baseline="0" dirty="0"/>
              <a:t> is VS Code, and that's what we'll be using in this course. We don</a:t>
            </a:r>
            <a:r>
              <a:rPr lang="fr-FR" baseline="0" dirty="0"/>
              <a:t>’</a:t>
            </a:r>
            <a:r>
              <a:rPr lang="en-US" baseline="0" dirty="0"/>
              <a:t>t endorse any particular code editor, however, and we encourage developers to experiment with as many IDEs as they can.</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21</a:t>
            </a:fld>
            <a:endParaRPr lang="en-US" dirty="0"/>
          </a:p>
        </p:txBody>
      </p:sp>
    </p:spTree>
    <p:extLst>
      <p:ext uri="{BB962C8B-B14F-4D97-AF65-F5344CB8AC3E}">
        <p14:creationId xmlns:p14="http://schemas.microsoft.com/office/powerpoint/2010/main" val="1238490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a:t>
            </a:fld>
            <a:endParaRPr lang="en-US" dirty="0"/>
          </a:p>
        </p:txBody>
      </p:sp>
    </p:spTree>
    <p:extLst>
      <p:ext uri="{BB962C8B-B14F-4D97-AF65-F5344CB8AC3E}">
        <p14:creationId xmlns:p14="http://schemas.microsoft.com/office/powerpoint/2010/main" val="3594174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Vue</a:t>
            </a:r>
            <a:r>
              <a:rPr lang="en-US" dirty="0"/>
              <a:t> cli can be used from the command line or from the GUI. I'll demonstrate both methods of using it and then you'll use it to get started with our project for the course.  After the demonstration, make sure that everyone can access their virtual machine for the course (if using) or can install </a:t>
            </a:r>
            <a:r>
              <a:rPr lang="en-US" dirty="0" err="1"/>
              <a:t>vue</a:t>
            </a:r>
            <a:r>
              <a:rPr lang="en-US" dirty="0"/>
              <a:t>-cli globally on their machines before proceeding to the next slide.</a:t>
            </a:r>
          </a:p>
        </p:txBody>
      </p:sp>
      <p:sp>
        <p:nvSpPr>
          <p:cNvPr id="4" name="Slide Number Placeholder 3"/>
          <p:cNvSpPr>
            <a:spLocks noGrp="1"/>
          </p:cNvSpPr>
          <p:nvPr>
            <p:ph type="sldNum" sz="quarter" idx="5"/>
          </p:nvPr>
        </p:nvSpPr>
        <p:spPr/>
        <p:txBody>
          <a:bodyPr/>
          <a:lstStyle/>
          <a:p>
            <a:fld id="{71770EAF-1B7F-084E-BE5F-E1B515CBCD96}" type="slidenum">
              <a:rPr lang="en-US" smtClean="0"/>
              <a:t>23</a:t>
            </a:fld>
            <a:endParaRPr lang="en-US" dirty="0"/>
          </a:p>
        </p:txBody>
      </p:sp>
    </p:spTree>
    <p:extLst>
      <p:ext uri="{BB962C8B-B14F-4D97-AF65-F5344CB8AC3E}">
        <p14:creationId xmlns:p14="http://schemas.microsoft.com/office/powerpoint/2010/main" val="2824291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24</a:t>
            </a:fld>
            <a:endParaRPr lang="en-US" dirty="0"/>
          </a:p>
        </p:txBody>
      </p:sp>
    </p:spTree>
    <p:extLst>
      <p:ext uri="{BB962C8B-B14F-4D97-AF65-F5344CB8AC3E}">
        <p14:creationId xmlns:p14="http://schemas.microsoft.com/office/powerpoint/2010/main" val="237824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a </a:t>
            </a:r>
            <a:r>
              <a:rPr lang="en-US" dirty="0" err="1"/>
              <a:t>vue</a:t>
            </a:r>
            <a:r>
              <a:rPr lang="en-US" dirty="0"/>
              <a:t> project, you'll want to install the </a:t>
            </a:r>
            <a:r>
              <a:rPr lang="en-US" dirty="0" err="1"/>
              <a:t>vue</a:t>
            </a:r>
            <a:r>
              <a:rPr lang="en-US" dirty="0"/>
              <a:t> </a:t>
            </a:r>
            <a:r>
              <a:rPr lang="en-US" dirty="0" err="1"/>
              <a:t>devtools</a:t>
            </a:r>
            <a:r>
              <a:rPr lang="en-US" dirty="0"/>
              <a:t> for chrome. Here's a quick demo of what you can do with the </a:t>
            </a:r>
            <a:r>
              <a:rPr lang="en-US" dirty="0" err="1"/>
              <a:t>vue</a:t>
            </a:r>
            <a:r>
              <a:rPr lang="en-US" dirty="0"/>
              <a:t> </a:t>
            </a:r>
            <a:r>
              <a:rPr lang="en-US" dirty="0" err="1"/>
              <a:t>devtools</a:t>
            </a:r>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26</a:t>
            </a:fld>
            <a:endParaRPr lang="en-US" dirty="0"/>
          </a:p>
        </p:txBody>
      </p:sp>
    </p:spTree>
    <p:extLst>
      <p:ext uri="{BB962C8B-B14F-4D97-AF65-F5344CB8AC3E}">
        <p14:creationId xmlns:p14="http://schemas.microsoft.com/office/powerpoint/2010/main" val="2751346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class, we'll be building a real-world application based on </a:t>
            </a:r>
            <a:r>
              <a:rPr lang="en-US" sz="1200" b="1" kern="1200" dirty="0">
                <a:solidFill>
                  <a:schemeClr val="tx1"/>
                </a:solidFill>
                <a:effectLst/>
                <a:latin typeface="+mn-lt"/>
                <a:ea typeface="+mn-ea"/>
                <a:cs typeface="+mn-cs"/>
              </a:rPr>
              <a:t>Conduit</a:t>
            </a:r>
            <a:r>
              <a:rPr lang="en-US" sz="1200" kern="1200" dirty="0">
                <a:solidFill>
                  <a:schemeClr val="tx1"/>
                </a:solidFill>
                <a:effectLst/>
                <a:latin typeface="+mn-lt"/>
                <a:ea typeface="+mn-ea"/>
                <a:cs typeface="+mn-cs"/>
              </a:rPr>
              <a:t>, an open source </a:t>
            </a:r>
            <a:r>
              <a:rPr lang="en-US" sz="1200" kern="1200" dirty="0" err="1">
                <a:solidFill>
                  <a:schemeClr val="tx1"/>
                </a:solidFill>
                <a:effectLst/>
                <a:latin typeface="+mn-lt"/>
                <a:ea typeface="+mn-ea"/>
                <a:cs typeface="+mn-cs"/>
              </a:rPr>
              <a:t>Medium.com</a:t>
            </a:r>
            <a:r>
              <a:rPr lang="en-US" sz="1200" kern="1200" dirty="0">
                <a:solidFill>
                  <a:schemeClr val="tx1"/>
                </a:solidFill>
                <a:effectLst/>
                <a:latin typeface="+mn-lt"/>
                <a:ea typeface="+mn-ea"/>
                <a:cs typeface="+mn-cs"/>
              </a:rPr>
              <a:t> clone. This application will make use of a wide variety of </a:t>
            </a:r>
            <a:r>
              <a:rPr lang="en-US" sz="1200" kern="1200" dirty="0" err="1">
                <a:solidFill>
                  <a:schemeClr val="tx1"/>
                </a:solidFill>
                <a:effectLst/>
                <a:latin typeface="+mn-lt"/>
                <a:ea typeface="+mn-ea"/>
                <a:cs typeface="+mn-cs"/>
              </a:rPr>
              <a:t>Vue.js</a:t>
            </a:r>
            <a:r>
              <a:rPr lang="en-US" sz="1200" kern="1200" dirty="0">
                <a:solidFill>
                  <a:schemeClr val="tx1"/>
                </a:solidFill>
                <a:effectLst/>
                <a:latin typeface="+mn-lt"/>
                <a:ea typeface="+mn-ea"/>
                <a:cs typeface="+mn-cs"/>
              </a:rPr>
              <a:t> features and related technologies, including components, authentication, routing, state management, a RESTful API and more.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Before continuing to the next lab, visit an instance of Conduit at https://</a:t>
            </a:r>
            <a:r>
              <a:rPr lang="en-US" sz="1200" kern="1200" dirty="0" err="1">
                <a:solidFill>
                  <a:schemeClr val="tx1"/>
                </a:solidFill>
                <a:effectLst/>
                <a:latin typeface="+mn-lt"/>
                <a:ea typeface="+mn-ea"/>
                <a:cs typeface="+mn-cs"/>
              </a:rPr>
              <a:t>conduit.watzthis.com</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27</a:t>
            </a:fld>
            <a:endParaRPr lang="en-US"/>
          </a:p>
        </p:txBody>
      </p:sp>
    </p:spTree>
    <p:extLst>
      <p:ext uri="{BB962C8B-B14F-4D97-AF65-F5344CB8AC3E}">
        <p14:creationId xmlns:p14="http://schemas.microsoft.com/office/powerpoint/2010/main" val="3556013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it's possible to use </a:t>
            </a:r>
            <a:r>
              <a:rPr lang="en-US" dirty="0" err="1"/>
              <a:t>Vue</a:t>
            </a:r>
            <a:r>
              <a:rPr lang="en-US" dirty="0"/>
              <a:t> by including the script into your html page, as you would do with jQuery, modern </a:t>
            </a:r>
            <a:r>
              <a:rPr lang="en-US" dirty="0" err="1"/>
              <a:t>javascript</a:t>
            </a:r>
            <a:r>
              <a:rPr lang="en-US" dirty="0"/>
              <a:t> frameworks use reusable components. This lab will give you an introduction to what components in </a:t>
            </a:r>
            <a:r>
              <a:rPr lang="en-US" dirty="0" err="1"/>
              <a:t>Vue</a:t>
            </a:r>
            <a:r>
              <a:rPr lang="en-US" dirty="0"/>
              <a:t> look like.</a:t>
            </a:r>
          </a:p>
        </p:txBody>
      </p:sp>
      <p:sp>
        <p:nvSpPr>
          <p:cNvPr id="4" name="Slide Number Placeholder 3"/>
          <p:cNvSpPr>
            <a:spLocks noGrp="1"/>
          </p:cNvSpPr>
          <p:nvPr>
            <p:ph type="sldNum" sz="quarter" idx="5"/>
          </p:nvPr>
        </p:nvSpPr>
        <p:spPr/>
        <p:txBody>
          <a:bodyPr/>
          <a:lstStyle/>
          <a:p>
            <a:fld id="{71770EAF-1B7F-084E-BE5F-E1B515CBCD96}" type="slidenum">
              <a:rPr lang="en-US" smtClean="0"/>
              <a:t>29</a:t>
            </a:fld>
            <a:endParaRPr lang="en-US"/>
          </a:p>
        </p:txBody>
      </p:sp>
    </p:spTree>
    <p:extLst>
      <p:ext uri="{BB962C8B-B14F-4D97-AF65-F5344CB8AC3E}">
        <p14:creationId xmlns:p14="http://schemas.microsoft.com/office/powerpoint/2010/main" val="37740068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you'll get more practice with creating </a:t>
            </a:r>
            <a:r>
              <a:rPr lang="en-US" dirty="0" err="1"/>
              <a:t>Vue</a:t>
            </a:r>
            <a:r>
              <a:rPr lang="en-US" dirty="0"/>
              <a:t> components, before we dive into what's happening behind the scenes with the tooling and how components work and how to compose components into a reactive </a:t>
            </a:r>
            <a:r>
              <a:rPr lang="en-US" dirty="0" err="1"/>
              <a:t>vue</a:t>
            </a:r>
            <a:r>
              <a:rPr lang="en-US" dirty="0"/>
              <a:t> application.</a:t>
            </a:r>
          </a:p>
        </p:txBody>
      </p:sp>
      <p:sp>
        <p:nvSpPr>
          <p:cNvPr id="4" name="Slide Number Placeholder 3"/>
          <p:cNvSpPr>
            <a:spLocks noGrp="1"/>
          </p:cNvSpPr>
          <p:nvPr>
            <p:ph type="sldNum" sz="quarter" idx="5"/>
          </p:nvPr>
        </p:nvSpPr>
        <p:spPr/>
        <p:txBody>
          <a:bodyPr/>
          <a:lstStyle/>
          <a:p>
            <a:fld id="{71770EAF-1B7F-084E-BE5F-E1B515CBCD96}" type="slidenum">
              <a:rPr lang="en-US" smtClean="0"/>
              <a:t>30</a:t>
            </a:fld>
            <a:endParaRPr lang="en-US"/>
          </a:p>
        </p:txBody>
      </p:sp>
    </p:spTree>
    <p:extLst>
      <p:ext uri="{BB962C8B-B14F-4D97-AF65-F5344CB8AC3E}">
        <p14:creationId xmlns:p14="http://schemas.microsoft.com/office/powerpoint/2010/main" val="14191627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you'll configure the tools you need for writing tests.</a:t>
            </a:r>
          </a:p>
        </p:txBody>
      </p:sp>
      <p:sp>
        <p:nvSpPr>
          <p:cNvPr id="4" name="Slide Number Placeholder 3"/>
          <p:cNvSpPr>
            <a:spLocks noGrp="1"/>
          </p:cNvSpPr>
          <p:nvPr>
            <p:ph type="sldNum" sz="quarter" idx="5"/>
          </p:nvPr>
        </p:nvSpPr>
        <p:spPr/>
        <p:txBody>
          <a:bodyPr/>
          <a:lstStyle/>
          <a:p>
            <a:fld id="{71770EAF-1B7F-084E-BE5F-E1B515CBCD96}" type="slidenum">
              <a:rPr lang="en-US" smtClean="0"/>
              <a:t>31</a:t>
            </a:fld>
            <a:endParaRPr lang="en-US"/>
          </a:p>
        </p:txBody>
      </p:sp>
    </p:spTree>
    <p:extLst>
      <p:ext uri="{BB962C8B-B14F-4D97-AF65-F5344CB8AC3E}">
        <p14:creationId xmlns:p14="http://schemas.microsoft.com/office/powerpoint/2010/main" val="2963647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modern </a:t>
            </a:r>
            <a:r>
              <a:rPr lang="en-US" dirty="0" err="1"/>
              <a:t>javascript</a:t>
            </a:r>
            <a:r>
              <a:rPr lang="en-US" dirty="0"/>
              <a:t> development is node.js, which runs the scripts we use for linting, testing, previewing, and building your applications.</a:t>
            </a:r>
          </a:p>
        </p:txBody>
      </p:sp>
      <p:sp>
        <p:nvSpPr>
          <p:cNvPr id="4" name="Slide Number Placeholder 3"/>
          <p:cNvSpPr>
            <a:spLocks noGrp="1"/>
          </p:cNvSpPr>
          <p:nvPr>
            <p:ph type="sldNum" sz="quarter" idx="10"/>
          </p:nvPr>
        </p:nvSpPr>
        <p:spPr/>
        <p:txBody>
          <a:bodyPr/>
          <a:lstStyle/>
          <a:p>
            <a:fld id="{71770EAF-1B7F-084E-BE5F-E1B515CBCD96}" type="slidenum">
              <a:rPr lang="en-US" smtClean="0"/>
              <a:t>32</a:t>
            </a:fld>
            <a:endParaRPr lang="en-US" dirty="0"/>
          </a:p>
        </p:txBody>
      </p:sp>
    </p:spTree>
    <p:extLst>
      <p:ext uri="{BB962C8B-B14F-4D97-AF65-F5344CB8AC3E}">
        <p14:creationId xmlns:p14="http://schemas.microsoft.com/office/powerpoint/2010/main" val="2837172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Node</a:t>
            </a:r>
            <a:r>
              <a:rPr lang="en-US" baseline="0" dirty="0"/>
              <a:t> started its life as a way to run JavaScript on the server. However, it's become an essential tool for managing modules, running tools, and automating front-end development.</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r>
              <a:rPr lang="en-US" dirty="0"/>
              <a:t>Node.js allows you to run JavaScript</a:t>
            </a:r>
            <a:r>
              <a:rPr lang="en-US" baseline="0" dirty="0"/>
              <a:t> from the command line. </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33</a:t>
            </a:fld>
            <a:endParaRPr lang="en-US" dirty="0"/>
          </a:p>
        </p:txBody>
      </p:sp>
    </p:spTree>
    <p:extLst>
      <p:ext uri="{BB962C8B-B14F-4D97-AF65-F5344CB8AC3E}">
        <p14:creationId xmlns:p14="http://schemas.microsoft.com/office/powerpoint/2010/main" val="1650531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loop is</a:t>
            </a:r>
            <a:r>
              <a:rPr lang="en-US" baseline="0" dirty="0"/>
              <a:t> a set of phases processed in a round-robin manner.</a:t>
            </a:r>
            <a:endParaRPr lang="en-US" dirty="0"/>
          </a:p>
        </p:txBody>
      </p:sp>
    </p:spTree>
    <p:extLst>
      <p:ext uri="{BB962C8B-B14F-4D97-AF65-F5344CB8AC3E}">
        <p14:creationId xmlns:p14="http://schemas.microsoft.com/office/powerpoint/2010/main" val="12690973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3929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982266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39</a:t>
            </a:fld>
            <a:endParaRPr lang="en-US" dirty="0"/>
          </a:p>
        </p:txBody>
      </p:sp>
    </p:spTree>
    <p:extLst>
      <p:ext uri="{BB962C8B-B14F-4D97-AF65-F5344CB8AC3E}">
        <p14:creationId xmlns:p14="http://schemas.microsoft.com/office/powerpoint/2010/main" val="40572907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40</a:t>
            </a:fld>
            <a:endParaRPr lang="en-US" dirty="0"/>
          </a:p>
        </p:txBody>
      </p:sp>
    </p:spTree>
    <p:extLst>
      <p:ext uri="{BB962C8B-B14F-4D97-AF65-F5344CB8AC3E}">
        <p14:creationId xmlns:p14="http://schemas.microsoft.com/office/powerpoint/2010/main" val="556539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5697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42</a:t>
            </a:fld>
            <a:endParaRPr lang="en-US" dirty="0"/>
          </a:p>
        </p:txBody>
      </p:sp>
    </p:spTree>
    <p:extLst>
      <p:ext uri="{BB962C8B-B14F-4D97-AF65-F5344CB8AC3E}">
        <p14:creationId xmlns:p14="http://schemas.microsoft.com/office/powerpoint/2010/main" val="904018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a:spLocks noGrp="1"/>
          </p:cNvSpPr>
          <p:nvPr>
            <p:ph type="body" idx="1"/>
          </p:nvPr>
        </p:nvSpPr>
        <p:spPr/>
        <p:txBody>
          <a:bodyPr/>
          <a:lstStyle/>
          <a:p>
            <a:r>
              <a:t>ES Modules are the standard JavaScript module system. Named imports use braces and the exported name. A module may also have one default export, imported without braces. This rewrites the preceding CommonJS circle example. Configure Node.js as shown on the next slide.</a:t>
            </a:r>
          </a:p>
          <a:p>
            <a:endParaRPr/>
          </a:p>
          <a:p>
            <a:r>
              <a:t>[Sources]</a:t>
            </a:r>
          </a:p>
          <a:p>
            <a:r>
              <a:t>https://nodejs.org/api/esm.html</a:t>
            </a:r>
          </a:p>
          <a:p>
            <a:r>
              <a:t>https://nodejs.org/api/packages.html#type</a:t>
            </a:r>
          </a:p>
          <a:p>
            <a:r>
              <a:t>[/Sources]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a:spLocks noGrp="1"/>
          </p:cNvSpPr>
          <p:nvPr>
            <p:ph type="body" idx="1"/>
          </p:nvPr>
        </p:nvSpPr>
        <p:spPr/>
        <p:txBody>
          <a:bodyPr/>
          <a:lstStyle/>
          <a:p>
            <a:r>
              <a:t>Place package.json beside foo.js and circle.js. The nearest parent package.json controls how Node interprets .js files in its package scope. Add the type field to existing JSON rather than replacing other fields. Run node foo.js. Alternatively rename both files to .mjs and update the import to ./circle.mjs. The .mjs and .cjs extensions explicitly select ES Modules and CommonJS respectively. Native Node.js ES Modules do not require Babel.</a:t>
            </a:r>
          </a:p>
          <a:p>
            <a:endParaRPr/>
          </a:p>
          <a:p>
            <a:r>
              <a:t>[Sources]</a:t>
            </a:r>
          </a:p>
          <a:p>
            <a:r>
              <a:t>https://nodejs.org/api/esm.html</a:t>
            </a:r>
          </a:p>
          <a:p>
            <a:r>
              <a:t>https://nodejs.org/api/packages.html#type</a:t>
            </a:r>
          </a:p>
          <a:p>
            <a:r>
              <a:t>[/Sources]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45</a:t>
            </a:fld>
            <a:endParaRPr lang="en-US" dirty="0"/>
          </a:p>
        </p:txBody>
      </p:sp>
    </p:spTree>
    <p:extLst>
      <p:ext uri="{BB962C8B-B14F-4D97-AF65-F5344CB8AC3E}">
        <p14:creationId xmlns:p14="http://schemas.microsoft.com/office/powerpoint/2010/main" val="40478815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46</a:t>
            </a:fld>
            <a:endParaRPr lang="en-US" dirty="0"/>
          </a:p>
        </p:txBody>
      </p:sp>
    </p:spTree>
    <p:extLst>
      <p:ext uri="{BB962C8B-B14F-4D97-AF65-F5344CB8AC3E}">
        <p14:creationId xmlns:p14="http://schemas.microsoft.com/office/powerpoint/2010/main" val="113862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next few labs, we'll use a new folder, outside of the </a:t>
            </a:r>
            <a:r>
              <a:rPr lang="en-US" dirty="0" err="1"/>
              <a:t>vue</a:t>
            </a:r>
            <a:r>
              <a:rPr lang="en-US" dirty="0"/>
              <a:t>-cli project you started, so we can work with and learn about some of the fundamental tools of modern JS development. </a:t>
            </a:r>
          </a:p>
        </p:txBody>
      </p:sp>
      <p:sp>
        <p:nvSpPr>
          <p:cNvPr id="4" name="Slide Number Placeholder 3"/>
          <p:cNvSpPr>
            <a:spLocks noGrp="1"/>
          </p:cNvSpPr>
          <p:nvPr>
            <p:ph type="sldNum" sz="quarter" idx="5"/>
          </p:nvPr>
        </p:nvSpPr>
        <p:spPr/>
        <p:txBody>
          <a:bodyPr/>
          <a:lstStyle/>
          <a:p>
            <a:fld id="{71770EAF-1B7F-084E-BE5F-E1B515CBCD96}" type="slidenum">
              <a:rPr lang="en-US" smtClean="0"/>
              <a:t>47</a:t>
            </a:fld>
            <a:endParaRPr lang="en-US"/>
          </a:p>
        </p:txBody>
      </p:sp>
    </p:spTree>
    <p:extLst>
      <p:ext uri="{BB962C8B-B14F-4D97-AF65-F5344CB8AC3E}">
        <p14:creationId xmlns:p14="http://schemas.microsoft.com/office/powerpoint/2010/main" val="17062515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71770EAF-1B7F-084E-BE5F-E1B515CBCD96}" type="slidenum">
              <a:rPr lang="en-US" smtClean="0"/>
              <a:t>49</a:t>
            </a:fld>
            <a:endParaRPr lang="en-US" dirty="0"/>
          </a:p>
        </p:txBody>
      </p:sp>
    </p:spTree>
    <p:extLst>
      <p:ext uri="{BB962C8B-B14F-4D97-AF65-F5344CB8AC3E}">
        <p14:creationId xmlns:p14="http://schemas.microsoft.com/office/powerpoint/2010/main" val="25681122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stores information</a:t>
            </a:r>
            <a:r>
              <a:rPr lang="en-US" baseline="0" dirty="0"/>
              <a:t> about the packages installed in your project in package.json. Run npm init to create a package.json file.</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51</a:t>
            </a:fld>
            <a:endParaRPr lang="en-US" dirty="0"/>
          </a:p>
        </p:txBody>
      </p:sp>
    </p:spTree>
    <p:extLst>
      <p:ext uri="{BB962C8B-B14F-4D97-AF65-F5344CB8AC3E}">
        <p14:creationId xmlns:p14="http://schemas.microsoft.com/office/powerpoint/2010/main" val="27108349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a:t>
            </a:r>
            <a:r>
              <a:rPr lang="en-US" baseline="0" dirty="0"/>
              <a:t> note: This isn't an issue at this point, but if you're working on Windows, you're going to run into a problem sooner or later. </a:t>
            </a:r>
            <a:r>
              <a:rPr lang="en-US" dirty="0"/>
              <a:t>Modules that have long chains of dependencies can create long file paths, which can break on Windows.</a:t>
            </a:r>
            <a:r>
              <a:rPr lang="en-US" baseline="0" dirty="0"/>
              <a:t> Running npm dedupe usually fixes the problem. Other p</a:t>
            </a:r>
            <a:r>
              <a:rPr lang="en-US" dirty="0"/>
              <a:t>ossible solutions: http://gsferreira.com/archive/2015/07/reduce-the-path-length-of-a-node-js-project/</a:t>
            </a:r>
          </a:p>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52</a:t>
            </a:fld>
            <a:endParaRPr lang="en-US" dirty="0"/>
          </a:p>
        </p:txBody>
      </p:sp>
    </p:spTree>
    <p:extLst>
      <p:ext uri="{BB962C8B-B14F-4D97-AF65-F5344CB8AC3E}">
        <p14:creationId xmlns:p14="http://schemas.microsoft.com/office/powerpoint/2010/main" val="20868373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53</a:t>
            </a:fld>
            <a:endParaRPr lang="en-US" dirty="0"/>
          </a:p>
        </p:txBody>
      </p:sp>
    </p:spTree>
    <p:extLst>
      <p:ext uri="{BB962C8B-B14F-4D97-AF65-F5344CB8AC3E}">
        <p14:creationId xmlns:p14="http://schemas.microsoft.com/office/powerpoint/2010/main" val="11377162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54</a:t>
            </a:fld>
            <a:endParaRPr lang="en-US" dirty="0"/>
          </a:p>
        </p:txBody>
      </p:sp>
    </p:spTree>
    <p:extLst>
      <p:ext uri="{BB962C8B-B14F-4D97-AF65-F5344CB8AC3E}">
        <p14:creationId xmlns:p14="http://schemas.microsoft.com/office/powerpoint/2010/main" val="10898462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Follow this process: https://</a:t>
            </a:r>
            <a:r>
              <a:rPr lang="en-US" dirty="0" err="1"/>
              <a:t>medium.freecodecamp.org</a:t>
            </a:r>
            <a:r>
              <a:rPr lang="en-US" dirty="0"/>
              <a:t>/how-to-create-a-vue-js-app-using-single-file-components-without-the-cli-7e73e5b8244f</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57</a:t>
            </a:fld>
            <a:endParaRPr lang="en-US"/>
          </a:p>
        </p:txBody>
      </p:sp>
    </p:spTree>
    <p:extLst>
      <p:ext uri="{BB962C8B-B14F-4D97-AF65-F5344CB8AC3E}">
        <p14:creationId xmlns:p14="http://schemas.microsoft.com/office/powerpoint/2010/main" val="16641646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58</a:t>
            </a:fld>
            <a:endParaRPr lang="en-US" dirty="0"/>
          </a:p>
        </p:txBody>
      </p:sp>
    </p:spTree>
    <p:extLst>
      <p:ext uri="{BB962C8B-B14F-4D97-AF65-F5344CB8AC3E}">
        <p14:creationId xmlns:p14="http://schemas.microsoft.com/office/powerpoint/2010/main" val="4919873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a:t>
            </a:r>
            <a:r>
              <a:rPr lang="en-US" baseline="0" dirty="0"/>
              <a:t>ing tools look at your code and look for errors and bad practices.</a:t>
            </a:r>
          </a:p>
          <a:p>
            <a:endParaRPr lang="en-US" baseline="0" dirty="0"/>
          </a:p>
          <a:p>
            <a:r>
              <a:rPr lang="en-US" baseline="0" dirty="0"/>
              <a:t>The first linting tool for JavaScript is JSLint, which was created by Douglas Crockford.</a:t>
            </a:r>
          </a:p>
          <a:p>
            <a:endParaRPr lang="en-US" baseline="0" dirty="0"/>
          </a:p>
          <a:p>
            <a:r>
              <a:rPr lang="en-US" baseline="0" dirty="0"/>
              <a:t>JSLint flags a lot of style issues that Crockford thinks are bad. </a:t>
            </a:r>
          </a:p>
          <a:p>
            <a:endParaRPr lang="en-US" baseline="0" dirty="0"/>
          </a:p>
          <a:p>
            <a:r>
              <a:rPr lang="en-US" baseline="0" dirty="0"/>
              <a:t>JSHint was created in order to give more control over which style issues are checked for.</a:t>
            </a:r>
          </a:p>
          <a:p>
            <a:endParaRPr lang="en-US" baseline="0" dirty="0"/>
          </a:p>
          <a:p>
            <a:r>
              <a:rPr lang="en-US" baseline="0" dirty="0"/>
              <a:t>ESLint is a new tool that is highly customizable and features plugins for many different styles, libraries, and frameworks -- including React and JSX.</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59</a:t>
            </a:fld>
            <a:endParaRPr lang="en-US" dirty="0"/>
          </a:p>
        </p:txBody>
      </p:sp>
    </p:spTree>
    <p:extLst>
      <p:ext uri="{BB962C8B-B14F-4D97-AF65-F5344CB8AC3E}">
        <p14:creationId xmlns:p14="http://schemas.microsoft.com/office/powerpoint/2010/main" val="449203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60</a:t>
            </a:fld>
            <a:endParaRPr lang="en-US" dirty="0"/>
          </a:p>
        </p:txBody>
      </p:sp>
    </p:spTree>
    <p:extLst>
      <p:ext uri="{BB962C8B-B14F-4D97-AF65-F5344CB8AC3E}">
        <p14:creationId xmlns:p14="http://schemas.microsoft.com/office/powerpoint/2010/main" val="11129209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61</a:t>
            </a:fld>
            <a:endParaRPr lang="en-US" dirty="0"/>
          </a:p>
        </p:txBody>
      </p:sp>
    </p:spTree>
    <p:extLst>
      <p:ext uri="{BB962C8B-B14F-4D97-AF65-F5344CB8AC3E}">
        <p14:creationId xmlns:p14="http://schemas.microsoft.com/office/powerpoint/2010/main" val="2791185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62</a:t>
            </a:fld>
            <a:endParaRPr lang="en-US" dirty="0"/>
          </a:p>
        </p:txBody>
      </p:sp>
    </p:spTree>
    <p:extLst>
      <p:ext uri="{BB962C8B-B14F-4D97-AF65-F5344CB8AC3E}">
        <p14:creationId xmlns:p14="http://schemas.microsoft.com/office/powerpoint/2010/main" val="1810958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63</a:t>
            </a:fld>
            <a:endParaRPr lang="en-US" dirty="0"/>
          </a:p>
        </p:txBody>
      </p:sp>
    </p:spTree>
    <p:extLst>
      <p:ext uri="{BB962C8B-B14F-4D97-AF65-F5344CB8AC3E}">
        <p14:creationId xmlns:p14="http://schemas.microsoft.com/office/powerpoint/2010/main" val="38709212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66</a:t>
            </a:fld>
            <a:endParaRPr lang="en-US" dirty="0"/>
          </a:p>
        </p:txBody>
      </p:sp>
    </p:spTree>
    <p:extLst>
      <p:ext uri="{BB962C8B-B14F-4D97-AF65-F5344CB8AC3E}">
        <p14:creationId xmlns:p14="http://schemas.microsoft.com/office/powerpoint/2010/main" val="1947894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67</a:t>
            </a:fld>
            <a:endParaRPr lang="en-US" dirty="0"/>
          </a:p>
        </p:txBody>
      </p:sp>
    </p:spTree>
    <p:extLst>
      <p:ext uri="{BB962C8B-B14F-4D97-AF65-F5344CB8AC3E}">
        <p14:creationId xmlns:p14="http://schemas.microsoft.com/office/powerpoint/2010/main" val="26902229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68</a:t>
            </a:fld>
            <a:endParaRPr lang="en-US" dirty="0"/>
          </a:p>
        </p:txBody>
      </p:sp>
    </p:spTree>
    <p:extLst>
      <p:ext uri="{BB962C8B-B14F-4D97-AF65-F5344CB8AC3E}">
        <p14:creationId xmlns:p14="http://schemas.microsoft.com/office/powerpoint/2010/main" val="40151963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69</a:t>
            </a:fld>
            <a:endParaRPr lang="en-US" dirty="0"/>
          </a:p>
        </p:txBody>
      </p:sp>
    </p:spTree>
    <p:extLst>
      <p:ext uri="{BB962C8B-B14F-4D97-AF65-F5344CB8AC3E}">
        <p14:creationId xmlns:p14="http://schemas.microsoft.com/office/powerpoint/2010/main" val="35025299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70</a:t>
            </a:fld>
            <a:endParaRPr lang="en-US" dirty="0"/>
          </a:p>
        </p:txBody>
      </p:sp>
    </p:spTree>
    <p:extLst>
      <p:ext uri="{BB962C8B-B14F-4D97-AF65-F5344CB8AC3E}">
        <p14:creationId xmlns:p14="http://schemas.microsoft.com/office/powerpoint/2010/main" val="11758207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71</a:t>
            </a:fld>
            <a:endParaRPr lang="en-US" dirty="0"/>
          </a:p>
        </p:txBody>
      </p:sp>
    </p:spTree>
    <p:extLst>
      <p:ext uri="{BB962C8B-B14F-4D97-AF65-F5344CB8AC3E}">
        <p14:creationId xmlns:p14="http://schemas.microsoft.com/office/powerpoint/2010/main" val="11352310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72</a:t>
            </a:fld>
            <a:endParaRPr lang="en-US" dirty="0"/>
          </a:p>
        </p:txBody>
      </p:sp>
    </p:spTree>
    <p:extLst>
      <p:ext uri="{BB962C8B-B14F-4D97-AF65-F5344CB8AC3E}">
        <p14:creationId xmlns:p14="http://schemas.microsoft.com/office/powerpoint/2010/main" val="32287277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73</a:t>
            </a:fld>
            <a:endParaRPr lang="en-US" dirty="0"/>
          </a:p>
        </p:txBody>
      </p:sp>
    </p:spTree>
    <p:extLst>
      <p:ext uri="{BB962C8B-B14F-4D97-AF65-F5344CB8AC3E}">
        <p14:creationId xmlns:p14="http://schemas.microsoft.com/office/powerpoint/2010/main" val="107072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74</a:t>
            </a:fld>
            <a:endParaRPr lang="en-US" dirty="0"/>
          </a:p>
        </p:txBody>
      </p:sp>
    </p:spTree>
    <p:extLst>
      <p:ext uri="{BB962C8B-B14F-4D97-AF65-F5344CB8AC3E}">
        <p14:creationId xmlns:p14="http://schemas.microsoft.com/office/powerpoint/2010/main" val="27123433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75</a:t>
            </a:fld>
            <a:endParaRPr lang="en-US" dirty="0"/>
          </a:p>
        </p:txBody>
      </p:sp>
    </p:spTree>
    <p:extLst>
      <p:ext uri="{BB962C8B-B14F-4D97-AF65-F5344CB8AC3E}">
        <p14:creationId xmlns:p14="http://schemas.microsoft.com/office/powerpoint/2010/main" val="34970766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76</a:t>
            </a:fld>
            <a:endParaRPr lang="en-US" dirty="0"/>
          </a:p>
        </p:txBody>
      </p:sp>
    </p:spTree>
    <p:extLst>
      <p:ext uri="{BB962C8B-B14F-4D97-AF65-F5344CB8AC3E}">
        <p14:creationId xmlns:p14="http://schemas.microsoft.com/office/powerpoint/2010/main" val="26116248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77</a:t>
            </a:fld>
            <a:endParaRPr lang="en-US" dirty="0"/>
          </a:p>
        </p:txBody>
      </p:sp>
    </p:spTree>
    <p:extLst>
      <p:ext uri="{BB962C8B-B14F-4D97-AF65-F5344CB8AC3E}">
        <p14:creationId xmlns:p14="http://schemas.microsoft.com/office/powerpoint/2010/main" val="27345262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78</a:t>
            </a:fld>
            <a:endParaRPr lang="en-US" dirty="0"/>
          </a:p>
        </p:txBody>
      </p:sp>
    </p:spTree>
    <p:extLst>
      <p:ext uri="{BB962C8B-B14F-4D97-AF65-F5344CB8AC3E}">
        <p14:creationId xmlns:p14="http://schemas.microsoft.com/office/powerpoint/2010/main" val="41553637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79</a:t>
            </a:fld>
            <a:endParaRPr lang="en-US" dirty="0"/>
          </a:p>
        </p:txBody>
      </p:sp>
    </p:spTree>
    <p:extLst>
      <p:ext uri="{BB962C8B-B14F-4D97-AF65-F5344CB8AC3E}">
        <p14:creationId xmlns:p14="http://schemas.microsoft.com/office/powerpoint/2010/main" val="10301029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80</a:t>
            </a:fld>
            <a:endParaRPr lang="en-US"/>
          </a:p>
        </p:txBody>
      </p:sp>
    </p:spTree>
    <p:extLst>
      <p:ext uri="{BB962C8B-B14F-4D97-AF65-F5344CB8AC3E}">
        <p14:creationId xmlns:p14="http://schemas.microsoft.com/office/powerpoint/2010/main" val="400702885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81</a:t>
            </a:fld>
            <a:endParaRPr lang="en-US"/>
          </a:p>
        </p:txBody>
      </p:sp>
    </p:spTree>
    <p:extLst>
      <p:ext uri="{BB962C8B-B14F-4D97-AF65-F5344CB8AC3E}">
        <p14:creationId xmlns:p14="http://schemas.microsoft.com/office/powerpoint/2010/main" val="23198430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83</a:t>
            </a:fld>
            <a:endParaRPr lang="en-US"/>
          </a:p>
        </p:txBody>
      </p:sp>
    </p:spTree>
    <p:extLst>
      <p:ext uri="{BB962C8B-B14F-4D97-AF65-F5344CB8AC3E}">
        <p14:creationId xmlns:p14="http://schemas.microsoft.com/office/powerpoint/2010/main" val="55134658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vue application consists of a root Vue instance created with new Vue. This root instance may be organized into a tree of reusable, nested, components.</a:t>
            </a:r>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89</a:t>
            </a:fld>
            <a:endParaRPr lang="en-US"/>
          </a:p>
        </p:txBody>
      </p:sp>
    </p:spTree>
    <p:extLst>
      <p:ext uri="{BB962C8B-B14F-4D97-AF65-F5344CB8AC3E}">
        <p14:creationId xmlns:p14="http://schemas.microsoft.com/office/powerpoint/2010/main" val="352293600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u="none" strike="noStrike" kern="1200" dirty="0">
                <a:solidFill>
                  <a:schemeClr val="tx1"/>
                </a:solidFill>
                <a:effectLst/>
                <a:latin typeface="+mn-lt"/>
                <a:ea typeface="+mn-ea"/>
                <a:cs typeface="+mn-cs"/>
              </a:rPr>
              <a:t>n </a:t>
            </a:r>
            <a:r>
              <a:rPr lang="en-US" sz="1200" b="0" u="none" strike="noStrike" kern="1200" dirty="0" err="1">
                <a:solidFill>
                  <a:schemeClr val="tx1"/>
                </a:solidFill>
                <a:effectLst/>
                <a:latin typeface="+mn-lt"/>
                <a:ea typeface="+mn-ea"/>
                <a:cs typeface="+mn-cs"/>
              </a:rPr>
              <a:t>Vue.js</a:t>
            </a:r>
            <a:r>
              <a:rPr lang="en-US" sz="1200" b="0" u="none" strike="noStrike" kern="1200" dirty="0">
                <a:solidFill>
                  <a:schemeClr val="tx1"/>
                </a:solidFill>
                <a:effectLst/>
                <a:latin typeface="+mn-lt"/>
                <a:ea typeface="+mn-ea"/>
                <a:cs typeface="+mn-cs"/>
              </a:rPr>
              <a:t>, </a:t>
            </a:r>
            <a:r>
              <a:rPr lang="en-US" sz="1200" b="1" u="none" strike="noStrike" kern="1200" dirty="0">
                <a:solidFill>
                  <a:schemeClr val="tx1"/>
                </a:solidFill>
                <a:effectLst/>
                <a:latin typeface="+mn-lt"/>
                <a:ea typeface="+mn-ea"/>
                <a:cs typeface="+mn-cs"/>
              </a:rPr>
              <a:t>compiler macros</a:t>
            </a:r>
            <a:r>
              <a:rPr lang="en-US" sz="1200" b="0" u="none" strike="noStrike" kern="1200" dirty="0">
                <a:solidFill>
                  <a:schemeClr val="tx1"/>
                </a:solidFill>
                <a:effectLst/>
                <a:latin typeface="+mn-lt"/>
                <a:ea typeface="+mn-ea"/>
                <a:cs typeface="+mn-cs"/>
              </a:rPr>
              <a:t> are special, globally available functions that can only be used inside &lt;script setup&gt; blocks. They are not actual runtime functions; instead, the </a:t>
            </a:r>
            <a:r>
              <a:rPr lang="en-US" sz="1200" b="1" u="none" strike="noStrike" kern="1200" dirty="0">
                <a:solidFill>
                  <a:schemeClr val="tx1"/>
                </a:solidFill>
                <a:effectLst/>
                <a:latin typeface="+mn-lt"/>
                <a:ea typeface="+mn-ea"/>
                <a:cs typeface="+mn-cs"/>
              </a:rPr>
              <a:t>Vue compiler detects them during build time and transforms them</a:t>
            </a:r>
            <a:r>
              <a:rPr lang="en-US" sz="1200" b="0" u="none" strike="noStrike" kern="1200" dirty="0">
                <a:solidFill>
                  <a:schemeClr val="tx1"/>
                </a:solidFill>
                <a:effectLst/>
                <a:latin typeface="+mn-lt"/>
                <a:ea typeface="+mn-ea"/>
                <a:cs typeface="+mn-cs"/>
              </a:rPr>
              <a:t> into standard JavaScript code.</a:t>
            </a:r>
          </a:p>
          <a:p>
            <a:r>
              <a:rPr lang="en-US" sz="1200" b="0" u="none" strike="noStrike" kern="1200" dirty="0">
                <a:solidFill>
                  <a:schemeClr val="tx1"/>
                </a:solidFill>
                <a:effectLst/>
                <a:latin typeface="+mn-lt"/>
                <a:ea typeface="+mn-ea"/>
                <a:cs typeface="+mn-cs"/>
              </a:rPr>
              <a:t>Because they are processed by the compiler, </a:t>
            </a:r>
            <a:r>
              <a:rPr lang="en-US" sz="1200" b="1" u="none" strike="noStrike" kern="1200" dirty="0">
                <a:solidFill>
                  <a:schemeClr val="tx1"/>
                </a:solidFill>
                <a:effectLst/>
                <a:latin typeface="+mn-lt"/>
                <a:ea typeface="+mn-ea"/>
                <a:cs typeface="+mn-cs"/>
              </a:rPr>
              <a:t>you must not import them</a:t>
            </a:r>
            <a:r>
              <a:rPr lang="en-US" sz="1200" b="0" u="none" strike="noStrike" kern="1200" dirty="0">
                <a:solidFill>
                  <a:schemeClr val="tx1"/>
                </a:solidFill>
                <a:effectLst/>
                <a:latin typeface="+mn-lt"/>
                <a:ea typeface="+mn-ea"/>
                <a:cs typeface="+mn-cs"/>
              </a:rPr>
              <a:t>. For example, importing </a:t>
            </a:r>
            <a:r>
              <a:rPr lang="en-US" sz="1200" b="0" u="none" strike="noStrike" kern="1200" dirty="0" err="1">
                <a:solidFill>
                  <a:schemeClr val="tx1"/>
                </a:solidFill>
                <a:effectLst/>
                <a:latin typeface="+mn-lt"/>
                <a:ea typeface="+mn-ea"/>
                <a:cs typeface="+mn-cs"/>
              </a:rPr>
              <a:t>defineProps</a:t>
            </a:r>
            <a:r>
              <a:rPr lang="en-US" sz="1200" b="0" u="none" strike="noStrike" kern="1200" dirty="0">
                <a:solidFill>
                  <a:schemeClr val="tx1"/>
                </a:solidFill>
                <a:effectLst/>
                <a:latin typeface="+mn-lt"/>
                <a:ea typeface="+mn-ea"/>
                <a:cs typeface="+mn-cs"/>
              </a:rPr>
              <a:t> from '</a:t>
            </a:r>
            <a:r>
              <a:rPr lang="en-US" sz="1200" b="0" u="none" strike="noStrike" kern="1200" dirty="0" err="1">
                <a:solidFill>
                  <a:schemeClr val="tx1"/>
                </a:solidFill>
                <a:effectLst/>
                <a:latin typeface="+mn-lt"/>
                <a:ea typeface="+mn-ea"/>
                <a:cs typeface="+mn-cs"/>
              </a:rPr>
              <a:t>vue</a:t>
            </a:r>
            <a:r>
              <a:rPr lang="en-US" sz="1200" b="0" u="none" strike="noStrike" kern="1200" dirty="0">
                <a:solidFill>
                  <a:schemeClr val="tx1"/>
                </a:solidFill>
                <a:effectLst/>
                <a:latin typeface="+mn-lt"/>
                <a:ea typeface="+mn-ea"/>
                <a:cs typeface="+mn-cs"/>
              </a:rPr>
              <a:t>' will trigger a linter warning or </a:t>
            </a:r>
            <a:r>
              <a:rPr lang="en-US" sz="1200" b="0" u="none" strike="noStrike" kern="1200">
                <a:solidFill>
                  <a:schemeClr val="tx1"/>
                </a:solidFill>
                <a:effectLst/>
                <a:latin typeface="+mn-lt"/>
                <a:ea typeface="+mn-ea"/>
                <a:cs typeface="+mn-cs"/>
              </a:rPr>
              <a:t>error.</a:t>
            </a:r>
            <a:endParaRPr lang="en-US" sz="1200" b="0" u="none" strike="noStrike"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2202803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95</a:t>
            </a:fld>
            <a:endParaRPr lang="en-US" dirty="0"/>
          </a:p>
        </p:txBody>
      </p:sp>
    </p:spTree>
    <p:extLst>
      <p:ext uri="{BB962C8B-B14F-4D97-AF65-F5344CB8AC3E}">
        <p14:creationId xmlns:p14="http://schemas.microsoft.com/office/powerpoint/2010/main" val="219955275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98</a:t>
            </a:fld>
            <a:endParaRPr lang="en-US" dirty="0"/>
          </a:p>
        </p:txBody>
      </p:sp>
    </p:spTree>
    <p:extLst>
      <p:ext uri="{BB962C8B-B14F-4D97-AF65-F5344CB8AC3E}">
        <p14:creationId xmlns:p14="http://schemas.microsoft.com/office/powerpoint/2010/main" val="38540993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100</a:t>
            </a:fld>
            <a:endParaRPr lang="en-US" dirty="0"/>
          </a:p>
        </p:txBody>
      </p:sp>
    </p:spTree>
    <p:extLst>
      <p:ext uri="{BB962C8B-B14F-4D97-AF65-F5344CB8AC3E}">
        <p14:creationId xmlns:p14="http://schemas.microsoft.com/office/powerpoint/2010/main" val="207459492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101</a:t>
            </a:fld>
            <a:endParaRPr lang="en-US" dirty="0"/>
          </a:p>
        </p:txBody>
      </p:sp>
    </p:spTree>
    <p:extLst>
      <p:ext uri="{BB962C8B-B14F-4D97-AF65-F5344CB8AC3E}">
        <p14:creationId xmlns:p14="http://schemas.microsoft.com/office/powerpoint/2010/main" val="29247704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102</a:t>
            </a:fld>
            <a:endParaRPr lang="en-US" dirty="0"/>
          </a:p>
        </p:txBody>
      </p:sp>
    </p:spTree>
    <p:extLst>
      <p:ext uri="{BB962C8B-B14F-4D97-AF65-F5344CB8AC3E}">
        <p14:creationId xmlns:p14="http://schemas.microsoft.com/office/powerpoint/2010/main" val="12612933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119</a:t>
            </a:fld>
            <a:endParaRPr lang="en-US" dirty="0"/>
          </a:p>
        </p:txBody>
      </p:sp>
    </p:spTree>
    <p:extLst>
      <p:ext uri="{BB962C8B-B14F-4D97-AF65-F5344CB8AC3E}">
        <p14:creationId xmlns:p14="http://schemas.microsoft.com/office/powerpoint/2010/main" val="144196504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83FAC-A721-45A3-BBDE-EAF2B09B7CD9}" type="slidenum">
              <a:rPr lang="en-US" smtClean="0"/>
              <a:t>123</a:t>
            </a:fld>
            <a:endParaRPr lang="en-US" dirty="0"/>
          </a:p>
        </p:txBody>
      </p:sp>
    </p:spTree>
    <p:extLst>
      <p:ext uri="{BB962C8B-B14F-4D97-AF65-F5344CB8AC3E}">
        <p14:creationId xmlns:p14="http://schemas.microsoft.com/office/powerpoint/2010/main" val="284456944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136</a:t>
            </a:fld>
            <a:endParaRPr lang="en-US"/>
          </a:p>
        </p:txBody>
      </p:sp>
    </p:spTree>
    <p:extLst>
      <p:ext uri="{BB962C8B-B14F-4D97-AF65-F5344CB8AC3E}">
        <p14:creationId xmlns:p14="http://schemas.microsoft.com/office/powerpoint/2010/main" val="20729469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urier" pitchFamily="2" charset="0"/>
              </a:rPr>
              <a:t>.stop = event.stopPropagation() // stop click propagation</a:t>
            </a:r>
          </a:p>
          <a:p>
            <a:r>
              <a:rPr lang="en-US" dirty="0">
                <a:latin typeface="Courier" pitchFamily="2" charset="0"/>
              </a:rPr>
              <a:t>.prevent = event.preventDefault() // prevent page reload</a:t>
            </a:r>
          </a:p>
          <a:p>
            <a:r>
              <a:rPr lang="en-US" dirty="0">
                <a:latin typeface="Courier" pitchFamily="2" charset="0"/>
              </a:rPr>
              <a:t>.capture // use capture mode  (inner element events handled first)</a:t>
            </a:r>
          </a:p>
          <a:p>
            <a:r>
              <a:rPr lang="en-US" dirty="0">
                <a:latin typeface="Courier" pitchFamily="2" charset="0"/>
              </a:rPr>
              <a:t>.self // trigger handler if event.target is this element</a:t>
            </a:r>
          </a:p>
          <a:p>
            <a:r>
              <a:rPr lang="en-US" dirty="0">
                <a:latin typeface="Courier" pitchFamily="2" charset="0"/>
              </a:rPr>
              <a:t>.once</a:t>
            </a:r>
          </a:p>
          <a:p>
            <a:r>
              <a:rPr lang="en-US" dirty="0">
                <a:latin typeface="Courier" pitchFamily="2" charset="0"/>
              </a:rPr>
              <a:t>.passive</a:t>
            </a:r>
          </a:p>
          <a:p>
            <a:endParaRPr lang="en-US" dirty="0"/>
          </a:p>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137</a:t>
            </a:fld>
            <a:endParaRPr lang="en-US" dirty="0"/>
          </a:p>
        </p:txBody>
      </p:sp>
    </p:spTree>
    <p:extLst>
      <p:ext uri="{BB962C8B-B14F-4D97-AF65-F5344CB8AC3E}">
        <p14:creationId xmlns:p14="http://schemas.microsoft.com/office/powerpoint/2010/main" val="26123749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139</a:t>
            </a:fld>
            <a:endParaRPr lang="en-US" dirty="0"/>
          </a:p>
        </p:txBody>
      </p:sp>
    </p:spTree>
    <p:extLst>
      <p:ext uri="{BB962C8B-B14F-4D97-AF65-F5344CB8AC3E}">
        <p14:creationId xmlns:p14="http://schemas.microsoft.com/office/powerpoint/2010/main" val="58055725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148</a:t>
            </a:fld>
            <a:endParaRPr lang="en-US" dirty="0"/>
          </a:p>
        </p:txBody>
      </p:sp>
    </p:spTree>
    <p:extLst>
      <p:ext uri="{BB962C8B-B14F-4D97-AF65-F5344CB8AC3E}">
        <p14:creationId xmlns:p14="http://schemas.microsoft.com/office/powerpoint/2010/main" val="22703916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163</a:t>
            </a:fld>
            <a:endParaRPr lang="en-US" dirty="0"/>
          </a:p>
        </p:txBody>
      </p:sp>
    </p:spTree>
    <p:extLst>
      <p:ext uri="{BB962C8B-B14F-4D97-AF65-F5344CB8AC3E}">
        <p14:creationId xmlns:p14="http://schemas.microsoft.com/office/powerpoint/2010/main" val="321455344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164</a:t>
            </a:fld>
            <a:endParaRPr lang="en-US" dirty="0"/>
          </a:p>
        </p:txBody>
      </p:sp>
    </p:spTree>
    <p:extLst>
      <p:ext uri="{BB962C8B-B14F-4D97-AF65-F5344CB8AC3E}">
        <p14:creationId xmlns:p14="http://schemas.microsoft.com/office/powerpoint/2010/main" val="352096252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165</a:t>
            </a:fld>
            <a:endParaRPr lang="en-US" dirty="0"/>
          </a:p>
        </p:txBody>
      </p:sp>
    </p:spTree>
    <p:extLst>
      <p:ext uri="{BB962C8B-B14F-4D97-AF65-F5344CB8AC3E}">
        <p14:creationId xmlns:p14="http://schemas.microsoft.com/office/powerpoint/2010/main" val="235951168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166</a:t>
            </a:fld>
            <a:endParaRPr lang="en-US" dirty="0"/>
          </a:p>
        </p:txBody>
      </p:sp>
    </p:spTree>
    <p:extLst>
      <p:ext uri="{BB962C8B-B14F-4D97-AF65-F5344CB8AC3E}">
        <p14:creationId xmlns:p14="http://schemas.microsoft.com/office/powerpoint/2010/main" val="47752773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177</a:t>
            </a:fld>
            <a:endParaRPr lang="en-US" dirty="0"/>
          </a:p>
        </p:txBody>
      </p:sp>
    </p:spTree>
    <p:extLst>
      <p:ext uri="{BB962C8B-B14F-4D97-AF65-F5344CB8AC3E}">
        <p14:creationId xmlns:p14="http://schemas.microsoft.com/office/powerpoint/2010/main" val="97638458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178</a:t>
            </a:fld>
            <a:endParaRPr lang="en-US" dirty="0"/>
          </a:p>
        </p:txBody>
      </p:sp>
    </p:spTree>
    <p:extLst>
      <p:ext uri="{BB962C8B-B14F-4D97-AF65-F5344CB8AC3E}">
        <p14:creationId xmlns:p14="http://schemas.microsoft.com/office/powerpoint/2010/main" val="211519285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185</a:t>
            </a:fld>
            <a:endParaRPr lang="en-US" dirty="0"/>
          </a:p>
        </p:txBody>
      </p:sp>
    </p:spTree>
    <p:extLst>
      <p:ext uri="{BB962C8B-B14F-4D97-AF65-F5344CB8AC3E}">
        <p14:creationId xmlns:p14="http://schemas.microsoft.com/office/powerpoint/2010/main" val="420198598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186</a:t>
            </a:fld>
            <a:endParaRPr lang="en-US" dirty="0"/>
          </a:p>
        </p:txBody>
      </p:sp>
    </p:spTree>
    <p:extLst>
      <p:ext uri="{BB962C8B-B14F-4D97-AF65-F5344CB8AC3E}">
        <p14:creationId xmlns:p14="http://schemas.microsoft.com/office/powerpoint/2010/main" val="8545509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187</a:t>
            </a:fld>
            <a:endParaRPr lang="en-US" dirty="0"/>
          </a:p>
        </p:txBody>
      </p:sp>
    </p:spTree>
    <p:extLst>
      <p:ext uri="{BB962C8B-B14F-4D97-AF65-F5344CB8AC3E}">
        <p14:creationId xmlns:p14="http://schemas.microsoft.com/office/powerpoint/2010/main" val="149249661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188</a:t>
            </a:fld>
            <a:endParaRPr lang="en-US" dirty="0"/>
          </a:p>
        </p:txBody>
      </p:sp>
    </p:spTree>
    <p:extLst>
      <p:ext uri="{BB962C8B-B14F-4D97-AF65-F5344CB8AC3E}">
        <p14:creationId xmlns:p14="http://schemas.microsoft.com/office/powerpoint/2010/main" val="328930465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189</a:t>
            </a:fld>
            <a:endParaRPr lang="en-US" dirty="0"/>
          </a:p>
        </p:txBody>
      </p:sp>
    </p:spTree>
    <p:extLst>
      <p:ext uri="{BB962C8B-B14F-4D97-AF65-F5344CB8AC3E}">
        <p14:creationId xmlns:p14="http://schemas.microsoft.com/office/powerpoint/2010/main" val="426960526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190</a:t>
            </a:fld>
            <a:endParaRPr lang="en-US" dirty="0"/>
          </a:p>
        </p:txBody>
      </p:sp>
    </p:spTree>
    <p:extLst>
      <p:ext uri="{BB962C8B-B14F-4D97-AF65-F5344CB8AC3E}">
        <p14:creationId xmlns:p14="http://schemas.microsoft.com/office/powerpoint/2010/main" val="136535842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191</a:t>
            </a:fld>
            <a:endParaRPr lang="en-US" dirty="0"/>
          </a:p>
        </p:txBody>
      </p:sp>
    </p:spTree>
    <p:extLst>
      <p:ext uri="{BB962C8B-B14F-4D97-AF65-F5344CB8AC3E}">
        <p14:creationId xmlns:p14="http://schemas.microsoft.com/office/powerpoint/2010/main" val="27995576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192</a:t>
            </a:fld>
            <a:endParaRPr lang="en-US" dirty="0"/>
          </a:p>
        </p:txBody>
      </p:sp>
    </p:spTree>
    <p:extLst>
      <p:ext uri="{BB962C8B-B14F-4D97-AF65-F5344CB8AC3E}">
        <p14:creationId xmlns:p14="http://schemas.microsoft.com/office/powerpoint/2010/main" val="325209410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193</a:t>
            </a:fld>
            <a:endParaRPr lang="en-US" dirty="0"/>
          </a:p>
        </p:txBody>
      </p:sp>
    </p:spTree>
    <p:extLst>
      <p:ext uri="{BB962C8B-B14F-4D97-AF65-F5344CB8AC3E}">
        <p14:creationId xmlns:p14="http://schemas.microsoft.com/office/powerpoint/2010/main" val="395521892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194</a:t>
            </a:fld>
            <a:endParaRPr lang="en-US" dirty="0"/>
          </a:p>
        </p:txBody>
      </p:sp>
    </p:spTree>
    <p:extLst>
      <p:ext uri="{BB962C8B-B14F-4D97-AF65-F5344CB8AC3E}">
        <p14:creationId xmlns:p14="http://schemas.microsoft.com/office/powerpoint/2010/main" val="393226386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195</a:t>
            </a:fld>
            <a:endParaRPr lang="en-US" dirty="0"/>
          </a:p>
        </p:txBody>
      </p:sp>
    </p:spTree>
    <p:extLst>
      <p:ext uri="{BB962C8B-B14F-4D97-AF65-F5344CB8AC3E}">
        <p14:creationId xmlns:p14="http://schemas.microsoft.com/office/powerpoint/2010/main" val="275164991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196</a:t>
            </a:fld>
            <a:endParaRPr lang="en-US" dirty="0"/>
          </a:p>
        </p:txBody>
      </p:sp>
    </p:spTree>
    <p:extLst>
      <p:ext uri="{BB962C8B-B14F-4D97-AF65-F5344CB8AC3E}">
        <p14:creationId xmlns:p14="http://schemas.microsoft.com/office/powerpoint/2010/main" val="405748879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197</a:t>
            </a:fld>
            <a:endParaRPr lang="en-US" dirty="0"/>
          </a:p>
        </p:txBody>
      </p:sp>
    </p:spTree>
    <p:extLst>
      <p:ext uri="{BB962C8B-B14F-4D97-AF65-F5344CB8AC3E}">
        <p14:creationId xmlns:p14="http://schemas.microsoft.com/office/powerpoint/2010/main" val="390667165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198</a:t>
            </a:fld>
            <a:endParaRPr lang="en-US" dirty="0"/>
          </a:p>
        </p:txBody>
      </p:sp>
    </p:spTree>
    <p:extLst>
      <p:ext uri="{BB962C8B-B14F-4D97-AF65-F5344CB8AC3E}">
        <p14:creationId xmlns:p14="http://schemas.microsoft.com/office/powerpoint/2010/main" val="145964068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199</a:t>
            </a:fld>
            <a:endParaRPr lang="en-US" dirty="0"/>
          </a:p>
        </p:txBody>
      </p:sp>
    </p:spTree>
    <p:extLst>
      <p:ext uri="{BB962C8B-B14F-4D97-AF65-F5344CB8AC3E}">
        <p14:creationId xmlns:p14="http://schemas.microsoft.com/office/powerpoint/2010/main" val="276091015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204</a:t>
            </a:fld>
            <a:endParaRPr lang="en-US" dirty="0"/>
          </a:p>
        </p:txBody>
      </p:sp>
    </p:spTree>
    <p:extLst>
      <p:ext uri="{BB962C8B-B14F-4D97-AF65-F5344CB8AC3E}">
        <p14:creationId xmlns:p14="http://schemas.microsoft.com/office/powerpoint/2010/main" val="345109021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211</a:t>
            </a:fld>
            <a:endParaRPr lang="en-US" dirty="0"/>
          </a:p>
        </p:txBody>
      </p:sp>
    </p:spTree>
    <p:extLst>
      <p:ext uri="{BB962C8B-B14F-4D97-AF65-F5344CB8AC3E}">
        <p14:creationId xmlns:p14="http://schemas.microsoft.com/office/powerpoint/2010/main" val="81938216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214</a:t>
            </a:fld>
            <a:endParaRPr lang="en-US" dirty="0"/>
          </a:p>
        </p:txBody>
      </p:sp>
    </p:spTree>
    <p:extLst>
      <p:ext uri="{BB962C8B-B14F-4D97-AF65-F5344CB8AC3E}">
        <p14:creationId xmlns:p14="http://schemas.microsoft.com/office/powerpoint/2010/main" val="4783731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770EAF-1B7F-084E-BE5F-E1B515CBCD96}" type="slidenum">
              <a:rPr lang="en-US" smtClean="0"/>
              <a:t>217</a:t>
            </a:fld>
            <a:endParaRPr lang="en-US" dirty="0"/>
          </a:p>
        </p:txBody>
      </p:sp>
    </p:spTree>
    <p:extLst>
      <p:ext uri="{BB962C8B-B14F-4D97-AF65-F5344CB8AC3E}">
        <p14:creationId xmlns:p14="http://schemas.microsoft.com/office/powerpoint/2010/main" val="351383896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we'll start talking about test</a:t>
            </a:r>
            <a:r>
              <a:rPr lang="en-US" baseline="0" dirty="0"/>
              <a:t>-driven development and automated testing.</a:t>
            </a:r>
          </a:p>
          <a:p>
            <a:endParaRPr lang="en-US" baseline="0" dirty="0"/>
          </a:p>
          <a:p>
            <a:r>
              <a:rPr lang="en-US" baseline="0" dirty="0"/>
              <a:t>The key with Test-Driven Development is to work in very small increments. </a:t>
            </a:r>
          </a:p>
          <a:p>
            <a:endParaRPr lang="en-US" baseline="0" dirty="0"/>
          </a:p>
          <a:p>
            <a:r>
              <a:rPr lang="en-US" baseline="0" dirty="0"/>
              <a:t>1. check that the code does was its supposed to do</a:t>
            </a:r>
          </a:p>
          <a:p>
            <a:r>
              <a:rPr lang="en-US" baseline="0" dirty="0"/>
              <a:t>2. group tests into suites</a:t>
            </a:r>
          </a:p>
          <a:p>
            <a:r>
              <a:rPr lang="en-US" baseline="0" dirty="0"/>
              <a:t>3. cross browser test automation</a:t>
            </a:r>
          </a:p>
        </p:txBody>
      </p:sp>
      <p:sp>
        <p:nvSpPr>
          <p:cNvPr id="4" name="Slide Number Placeholder 3"/>
          <p:cNvSpPr>
            <a:spLocks noGrp="1"/>
          </p:cNvSpPr>
          <p:nvPr>
            <p:ph type="sldNum" sz="quarter" idx="10"/>
          </p:nvPr>
        </p:nvSpPr>
        <p:spPr/>
        <p:txBody>
          <a:bodyPr/>
          <a:lstStyle/>
          <a:p>
            <a:fld id="{71770EAF-1B7F-084E-BE5F-E1B515CBCD96}" type="slidenum">
              <a:rPr lang="en-US" smtClean="0"/>
              <a:t>219</a:t>
            </a:fld>
            <a:endParaRPr lang="en-US" dirty="0"/>
          </a:p>
        </p:txBody>
      </p:sp>
    </p:spTree>
    <p:extLst>
      <p:ext uri="{BB962C8B-B14F-4D97-AF65-F5344CB8AC3E}">
        <p14:creationId xmlns:p14="http://schemas.microsoft.com/office/powerpoint/2010/main" val="11479271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220</a:t>
            </a:fld>
            <a:endParaRPr lang="en-US" dirty="0"/>
          </a:p>
        </p:txBody>
      </p:sp>
    </p:spTree>
    <p:extLst>
      <p:ext uri="{BB962C8B-B14F-4D97-AF65-F5344CB8AC3E}">
        <p14:creationId xmlns:p14="http://schemas.microsoft.com/office/powerpoint/2010/main" val="104167220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221</a:t>
            </a:fld>
            <a:endParaRPr lang="en-US" dirty="0"/>
          </a:p>
        </p:txBody>
      </p:sp>
    </p:spTree>
    <p:extLst>
      <p:ext uri="{BB962C8B-B14F-4D97-AF65-F5344CB8AC3E}">
        <p14:creationId xmlns:p14="http://schemas.microsoft.com/office/powerpoint/2010/main" val="10980590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222</a:t>
            </a:fld>
            <a:endParaRPr lang="en-US" dirty="0"/>
          </a:p>
        </p:txBody>
      </p:sp>
    </p:spTree>
    <p:extLst>
      <p:ext uri="{BB962C8B-B14F-4D97-AF65-F5344CB8AC3E}">
        <p14:creationId xmlns:p14="http://schemas.microsoft.com/office/powerpoint/2010/main" val="390482912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223</a:t>
            </a:fld>
            <a:endParaRPr lang="en-US" dirty="0"/>
          </a:p>
        </p:txBody>
      </p:sp>
    </p:spTree>
    <p:extLst>
      <p:ext uri="{BB962C8B-B14F-4D97-AF65-F5344CB8AC3E}">
        <p14:creationId xmlns:p14="http://schemas.microsoft.com/office/powerpoint/2010/main" val="175216376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224</a:t>
            </a:fld>
            <a:endParaRPr lang="en-US" dirty="0"/>
          </a:p>
        </p:txBody>
      </p:sp>
    </p:spTree>
    <p:extLst>
      <p:ext uri="{BB962C8B-B14F-4D97-AF65-F5344CB8AC3E}">
        <p14:creationId xmlns:p14="http://schemas.microsoft.com/office/powerpoint/2010/main" val="17316385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225</a:t>
            </a:fld>
            <a:endParaRPr lang="en-US" dirty="0"/>
          </a:p>
        </p:txBody>
      </p:sp>
    </p:spTree>
    <p:extLst>
      <p:ext uri="{BB962C8B-B14F-4D97-AF65-F5344CB8AC3E}">
        <p14:creationId xmlns:p14="http://schemas.microsoft.com/office/powerpoint/2010/main" val="52450207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226</a:t>
            </a:fld>
            <a:endParaRPr lang="en-US"/>
          </a:p>
        </p:txBody>
      </p:sp>
    </p:spTree>
    <p:extLst>
      <p:ext uri="{BB962C8B-B14F-4D97-AF65-F5344CB8AC3E}">
        <p14:creationId xmlns:p14="http://schemas.microsoft.com/office/powerpoint/2010/main" val="164344391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227</a:t>
            </a:fld>
            <a:endParaRPr lang="en-US"/>
          </a:p>
        </p:txBody>
      </p:sp>
    </p:spTree>
    <p:extLst>
      <p:ext uri="{BB962C8B-B14F-4D97-AF65-F5344CB8AC3E}">
        <p14:creationId xmlns:p14="http://schemas.microsoft.com/office/powerpoint/2010/main" val="203343681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a:t>
            </a:r>
            <a:r>
              <a:rPr lang="en-US" baseline="0" dirty="0"/>
              <a:t> using JavaScript's built-in try throw catch, you can write assertions and throw errors if the test of the assertion doesn't pass. If it doesn't, you can fix the code until the test passes. This test will fail. (node ./src/</a:t>
            </a:r>
            <a:r>
              <a:rPr lang="en-US" baseline="0" dirty="0" err="1"/>
              <a:t>trythrowcatch.js</a:t>
            </a:r>
            <a:r>
              <a:rPr lang="en-US" baseline="0" dirty="0"/>
              <a:t>). You could write an assertion function to simplify this, or you can use an assertion library that already exists.</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228</a:t>
            </a:fld>
            <a:endParaRPr lang="en-US"/>
          </a:p>
        </p:txBody>
      </p:sp>
    </p:spTree>
    <p:extLst>
      <p:ext uri="{BB962C8B-B14F-4D97-AF65-F5344CB8AC3E}">
        <p14:creationId xmlns:p14="http://schemas.microsoft.com/office/powerpoint/2010/main" val="175414012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r>
              <a:rPr lang="en-US" baseline="0"/>
              <a:t> is a Behavior-driven Development framework that includes its own assertion library. </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229</a:t>
            </a:fld>
            <a:endParaRPr lang="en-US"/>
          </a:p>
        </p:txBody>
      </p:sp>
    </p:spTree>
    <p:extLst>
      <p:ext uri="{BB962C8B-B14F-4D97-AF65-F5344CB8AC3E}">
        <p14:creationId xmlns:p14="http://schemas.microsoft.com/office/powerpoint/2010/main" val="406948931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230</a:t>
            </a:fld>
            <a:endParaRPr lang="en-US"/>
          </a:p>
        </p:txBody>
      </p:sp>
    </p:spTree>
    <p:extLst>
      <p:ext uri="{BB962C8B-B14F-4D97-AF65-F5344CB8AC3E}">
        <p14:creationId xmlns:p14="http://schemas.microsoft.com/office/powerpoint/2010/main" val="74109129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231</a:t>
            </a:fld>
            <a:endParaRPr lang="en-US"/>
          </a:p>
        </p:txBody>
      </p:sp>
    </p:spTree>
    <p:extLst>
      <p:ext uri="{BB962C8B-B14F-4D97-AF65-F5344CB8AC3E}">
        <p14:creationId xmlns:p14="http://schemas.microsoft.com/office/powerpoint/2010/main" val="124588598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232</a:t>
            </a:fld>
            <a:endParaRPr lang="en-US"/>
          </a:p>
        </p:txBody>
      </p:sp>
    </p:spTree>
    <p:extLst>
      <p:ext uri="{BB962C8B-B14F-4D97-AF65-F5344CB8AC3E}">
        <p14:creationId xmlns:p14="http://schemas.microsoft.com/office/powerpoint/2010/main" val="389918196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233</a:t>
            </a:fld>
            <a:endParaRPr lang="en-US"/>
          </a:p>
        </p:txBody>
      </p:sp>
    </p:spTree>
    <p:extLst>
      <p:ext uri="{BB962C8B-B14F-4D97-AF65-F5344CB8AC3E}">
        <p14:creationId xmlns:p14="http://schemas.microsoft.com/office/powerpoint/2010/main" val="253118501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234</a:t>
            </a:fld>
            <a:endParaRPr lang="en-US"/>
          </a:p>
        </p:txBody>
      </p:sp>
    </p:spTree>
    <p:extLst>
      <p:ext uri="{BB962C8B-B14F-4D97-AF65-F5344CB8AC3E}">
        <p14:creationId xmlns:p14="http://schemas.microsoft.com/office/powerpoint/2010/main" val="234352730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235</a:t>
            </a:fld>
            <a:endParaRPr lang="en-US"/>
          </a:p>
        </p:txBody>
      </p:sp>
    </p:spTree>
    <p:extLst>
      <p:ext uri="{BB962C8B-B14F-4D97-AF65-F5344CB8AC3E}">
        <p14:creationId xmlns:p14="http://schemas.microsoft.com/office/powerpoint/2010/main" val="69750284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difference between</a:t>
            </a:r>
            <a:r>
              <a:rPr lang="en-US" baseline="0"/>
              <a:t> TDD and BDD is subtle and it's mostly in language. TDD is designed for programmers to test software, while BDD helps design and document it. Neither style is better than the other and the choice depends on your framework, what you're comfortable with, and other factors.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236</a:t>
            </a:fld>
            <a:endParaRPr lang="en-US"/>
          </a:p>
        </p:txBody>
      </p:sp>
    </p:spTree>
    <p:extLst>
      <p:ext uri="{BB962C8B-B14F-4D97-AF65-F5344CB8AC3E}">
        <p14:creationId xmlns:p14="http://schemas.microsoft.com/office/powerpoint/2010/main" val="125332537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237</a:t>
            </a:fld>
            <a:endParaRPr lang="en-US"/>
          </a:p>
        </p:txBody>
      </p:sp>
    </p:spTree>
    <p:extLst>
      <p:ext uri="{BB962C8B-B14F-4D97-AF65-F5344CB8AC3E}">
        <p14:creationId xmlns:p14="http://schemas.microsoft.com/office/powerpoint/2010/main" val="109995536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238</a:t>
            </a:fld>
            <a:endParaRPr lang="en-US"/>
          </a:p>
        </p:txBody>
      </p:sp>
    </p:spTree>
    <p:extLst>
      <p:ext uri="{BB962C8B-B14F-4D97-AF65-F5344CB8AC3E}">
        <p14:creationId xmlns:p14="http://schemas.microsoft.com/office/powerpoint/2010/main" val="11358417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239</a:t>
            </a:fld>
            <a:endParaRPr lang="en-US"/>
          </a:p>
        </p:txBody>
      </p:sp>
    </p:spTree>
    <p:extLst>
      <p:ext uri="{BB962C8B-B14F-4D97-AF65-F5344CB8AC3E}">
        <p14:creationId xmlns:p14="http://schemas.microsoft.com/office/powerpoint/2010/main" val="31703028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240</a:t>
            </a:fld>
            <a:endParaRPr lang="en-US"/>
          </a:p>
        </p:txBody>
      </p:sp>
    </p:spTree>
    <p:extLst>
      <p:ext uri="{BB962C8B-B14F-4D97-AF65-F5344CB8AC3E}">
        <p14:creationId xmlns:p14="http://schemas.microsoft.com/office/powerpoint/2010/main" val="426533805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241</a:t>
            </a:fld>
            <a:endParaRPr lang="en-US"/>
          </a:p>
        </p:txBody>
      </p:sp>
    </p:spTree>
    <p:extLst>
      <p:ext uri="{BB962C8B-B14F-4D97-AF65-F5344CB8AC3E}">
        <p14:creationId xmlns:p14="http://schemas.microsoft.com/office/powerpoint/2010/main" val="278586688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242</a:t>
            </a:fld>
            <a:endParaRPr lang="en-US"/>
          </a:p>
        </p:txBody>
      </p:sp>
    </p:spTree>
    <p:extLst>
      <p:ext uri="{BB962C8B-B14F-4D97-AF65-F5344CB8AC3E}">
        <p14:creationId xmlns:p14="http://schemas.microsoft.com/office/powerpoint/2010/main" val="302291942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243</a:t>
            </a:fld>
            <a:endParaRPr lang="en-US"/>
          </a:p>
        </p:txBody>
      </p:sp>
    </p:spTree>
    <p:extLst>
      <p:ext uri="{BB962C8B-B14F-4D97-AF65-F5344CB8AC3E}">
        <p14:creationId xmlns:p14="http://schemas.microsoft.com/office/powerpoint/2010/main" val="385982600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244</a:t>
            </a:fld>
            <a:endParaRPr lang="en-US"/>
          </a:p>
        </p:txBody>
      </p:sp>
    </p:spTree>
    <p:extLst>
      <p:ext uri="{BB962C8B-B14F-4D97-AF65-F5344CB8AC3E}">
        <p14:creationId xmlns:p14="http://schemas.microsoft.com/office/powerpoint/2010/main" val="218152967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770EAF-1B7F-084E-BE5F-E1B515CBCD96}" type="slidenum">
              <a:rPr lang="en-US" smtClean="0"/>
              <a:t>245</a:t>
            </a:fld>
            <a:endParaRPr lang="en-US"/>
          </a:p>
        </p:txBody>
      </p:sp>
    </p:spTree>
    <p:extLst>
      <p:ext uri="{BB962C8B-B14F-4D97-AF65-F5344CB8AC3E}">
        <p14:creationId xmlns:p14="http://schemas.microsoft.com/office/powerpoint/2010/main" val="10562445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246</a:t>
            </a:fld>
            <a:endParaRPr lang="en-US"/>
          </a:p>
        </p:txBody>
      </p:sp>
    </p:spTree>
    <p:extLst>
      <p:ext uri="{BB962C8B-B14F-4D97-AF65-F5344CB8AC3E}">
        <p14:creationId xmlns:p14="http://schemas.microsoft.com/office/powerpoint/2010/main" val="163827819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247</a:t>
            </a:fld>
            <a:endParaRPr lang="en-US"/>
          </a:p>
        </p:txBody>
      </p:sp>
    </p:spTree>
    <p:extLst>
      <p:ext uri="{BB962C8B-B14F-4D97-AF65-F5344CB8AC3E}">
        <p14:creationId xmlns:p14="http://schemas.microsoft.com/office/powerpoint/2010/main" val="338067894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248</a:t>
            </a:fld>
            <a:endParaRPr lang="en-US"/>
          </a:p>
        </p:txBody>
      </p:sp>
    </p:spTree>
    <p:extLst>
      <p:ext uri="{BB962C8B-B14F-4D97-AF65-F5344CB8AC3E}">
        <p14:creationId xmlns:p14="http://schemas.microsoft.com/office/powerpoint/2010/main" val="366745131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249</a:t>
            </a:fld>
            <a:endParaRPr lang="en-US"/>
          </a:p>
        </p:txBody>
      </p:sp>
    </p:spTree>
    <p:extLst>
      <p:ext uri="{BB962C8B-B14F-4D97-AF65-F5344CB8AC3E}">
        <p14:creationId xmlns:p14="http://schemas.microsoft.com/office/powerpoint/2010/main" val="19604179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Karma works by starting a server that browser</a:t>
            </a:r>
            <a:r>
              <a:rPr lang="en-US" baseline="0"/>
              <a:t>s can connect to. Karma can then serve tests to the browsers to be run in the browser. Another similar test runner is </a:t>
            </a:r>
            <a:r>
              <a:rPr lang="en-US" baseline="0" err="1"/>
              <a:t>testem</a:t>
            </a:r>
            <a:r>
              <a:rPr lang="en-US" baseline="0"/>
              <a:t>.</a:t>
            </a:r>
          </a:p>
          <a:p>
            <a:endParaRPr lang="en-US" baseline="0"/>
          </a:p>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251</a:t>
            </a:fld>
            <a:endParaRPr lang="en-US"/>
          </a:p>
        </p:txBody>
      </p:sp>
    </p:spTree>
    <p:extLst>
      <p:ext uri="{BB962C8B-B14F-4D97-AF65-F5344CB8AC3E}">
        <p14:creationId xmlns:p14="http://schemas.microsoft.com/office/powerpoint/2010/main" val="234110621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262</a:t>
            </a:fld>
            <a:endParaRPr lang="en-US"/>
          </a:p>
        </p:txBody>
      </p:sp>
    </p:spTree>
    <p:extLst>
      <p:ext uri="{BB962C8B-B14F-4D97-AF65-F5344CB8AC3E}">
        <p14:creationId xmlns:p14="http://schemas.microsoft.com/office/powerpoint/2010/main" val="170738888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new things in ES6 that</a:t>
            </a:r>
            <a:r>
              <a:rPr lang="en-US" baseline="0" dirty="0"/>
              <a:t> we'll be talking about are const and let. Unlike variables defined using the var keyword, these new es6 keywords create block-scoped variables. They have some other important differences as well. </a:t>
            </a:r>
          </a:p>
          <a:p>
            <a:endParaRPr lang="en-US" baseline="0" dirty="0"/>
          </a:p>
          <a:p>
            <a:r>
              <a:rPr lang="en-US" baseline="0" dirty="0"/>
              <a:t>Const </a:t>
            </a:r>
            <a:r>
              <a:rPr lang="en-US" baseline="0" dirty="0" err="1"/>
              <a:t>creats</a:t>
            </a:r>
            <a:r>
              <a:rPr lang="en-US" baseline="0" dirty="0"/>
              <a:t> immutable variables -- that is, once you assign a value to a const, the value can't be changed.</a:t>
            </a:r>
          </a:p>
          <a:p>
            <a:endParaRPr lang="en-US" baseline="0" dirty="0"/>
          </a:p>
          <a:p>
            <a:r>
              <a:rPr lang="en-US" baseline="0" dirty="0"/>
              <a:t>Let creates block-scoped variables (variables that are private to their enclosing curly braces, as opposed to having function scope as JavaScript up to this point</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263</a:t>
            </a:fld>
            <a:endParaRPr lang="en-US"/>
          </a:p>
        </p:txBody>
      </p:sp>
    </p:spTree>
    <p:extLst>
      <p:ext uri="{BB962C8B-B14F-4D97-AF65-F5344CB8AC3E}">
        <p14:creationId xmlns:p14="http://schemas.microsoft.com/office/powerpoint/2010/main" val="303644322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that demonstrates</a:t>
            </a:r>
            <a:r>
              <a:rPr lang="en-US" baseline="0" dirty="0"/>
              <a:t> the difference between scoping with let and var.</a:t>
            </a:r>
            <a:endParaRPr lang="en-US" dirty="0"/>
          </a:p>
        </p:txBody>
      </p:sp>
      <p:sp>
        <p:nvSpPr>
          <p:cNvPr id="4" name="Slide Number Placeholder 3"/>
          <p:cNvSpPr>
            <a:spLocks noGrp="1"/>
          </p:cNvSpPr>
          <p:nvPr>
            <p:ph type="sldNum" sz="quarter" idx="10"/>
          </p:nvPr>
        </p:nvSpPr>
        <p:spPr/>
        <p:txBody>
          <a:bodyPr/>
          <a:lstStyle/>
          <a:p>
            <a:fld id="{71770EAF-1B7F-084E-BE5F-E1B515CBCD96}" type="slidenum">
              <a:rPr lang="en-US" smtClean="0"/>
              <a:t>264</a:t>
            </a:fld>
            <a:endParaRPr lang="en-US"/>
          </a:p>
        </p:txBody>
      </p:sp>
    </p:spTree>
    <p:extLst>
      <p:ext uri="{BB962C8B-B14F-4D97-AF65-F5344CB8AC3E}">
        <p14:creationId xmlns:p14="http://schemas.microsoft.com/office/powerpoint/2010/main" val="73279707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a:t>
            </a:r>
            <a:r>
              <a:rPr lang="en-US" baseline="0"/>
              <a:t> ES5, we used </a:t>
            </a:r>
            <a:r>
              <a:rPr lang="en-US" baseline="0" err="1"/>
              <a:t>iffe</a:t>
            </a:r>
            <a:r>
              <a:rPr lang="en-US" baseline="0"/>
              <a:t> and function expressions to block-scope function definitions. In ES6, we can create block-scoped function definitions using brackets.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265</a:t>
            </a:fld>
            <a:endParaRPr lang="en-US"/>
          </a:p>
        </p:txBody>
      </p:sp>
    </p:spTree>
    <p:extLst>
      <p:ext uri="{BB962C8B-B14F-4D97-AF65-F5344CB8AC3E}">
        <p14:creationId xmlns:p14="http://schemas.microsoft.com/office/powerpoint/2010/main" val="113237573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266</a:t>
            </a:fld>
            <a:endParaRPr lang="en-US"/>
          </a:p>
        </p:txBody>
      </p:sp>
    </p:spTree>
    <p:extLst>
      <p:ext uri="{BB962C8B-B14F-4D97-AF65-F5344CB8AC3E}">
        <p14:creationId xmlns:p14="http://schemas.microsoft.com/office/powerpoint/2010/main" val="312214973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Arrow</a:t>
            </a:r>
            <a:r>
              <a:rPr lang="en-US" baseline="0"/>
              <a:t> functions are always anonymous functions, meaning the only way to assign a name to them is to assign the function to a variable. Arrow functions also handle the this keyword more intuitively, which eliminates the need for the pre-ES6 hack shown here in order to refer to the object that a function is inside.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268</a:t>
            </a:fld>
            <a:endParaRPr lang="en-US"/>
          </a:p>
        </p:txBody>
      </p:sp>
    </p:spTree>
    <p:extLst>
      <p:ext uri="{BB962C8B-B14F-4D97-AF65-F5344CB8AC3E}">
        <p14:creationId xmlns:p14="http://schemas.microsoft.com/office/powerpoint/2010/main" val="161999633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269</a:t>
            </a:fld>
            <a:endParaRPr lang="en-US"/>
          </a:p>
        </p:txBody>
      </p:sp>
    </p:spTree>
    <p:extLst>
      <p:ext uri="{BB962C8B-B14F-4D97-AF65-F5344CB8AC3E}">
        <p14:creationId xmlns:p14="http://schemas.microsoft.com/office/powerpoint/2010/main" val="192511650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270</a:t>
            </a:fld>
            <a:endParaRPr lang="en-US"/>
          </a:p>
        </p:txBody>
      </p:sp>
    </p:spTree>
    <p:extLst>
      <p:ext uri="{BB962C8B-B14F-4D97-AF65-F5344CB8AC3E}">
        <p14:creationId xmlns:p14="http://schemas.microsoft.com/office/powerpoint/2010/main" val="94730049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271</a:t>
            </a:fld>
            <a:endParaRPr lang="en-US"/>
          </a:p>
        </p:txBody>
      </p:sp>
    </p:spTree>
    <p:extLst>
      <p:ext uri="{BB962C8B-B14F-4D97-AF65-F5344CB8AC3E}">
        <p14:creationId xmlns:p14="http://schemas.microsoft.com/office/powerpoint/2010/main" val="197744491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Template literals are enclosed by the back-tick (` `) (grave accent) character instead of double or single quotes.</a:t>
            </a:r>
          </a:p>
        </p:txBody>
      </p:sp>
      <p:sp>
        <p:nvSpPr>
          <p:cNvPr id="4" name="Slide Number Placeholder 3"/>
          <p:cNvSpPr>
            <a:spLocks noGrp="1"/>
          </p:cNvSpPr>
          <p:nvPr>
            <p:ph type="sldNum" sz="quarter" idx="10"/>
          </p:nvPr>
        </p:nvSpPr>
        <p:spPr/>
        <p:txBody>
          <a:bodyPr/>
          <a:lstStyle/>
          <a:p>
            <a:fld id="{71770EAF-1B7F-084E-BE5F-E1B515CBCD96}" type="slidenum">
              <a:rPr lang="en-US" smtClean="0"/>
              <a:t>272</a:t>
            </a:fld>
            <a:endParaRPr lang="en-US"/>
          </a:p>
        </p:txBody>
      </p:sp>
    </p:spTree>
    <p:extLst>
      <p:ext uri="{BB962C8B-B14F-4D97-AF65-F5344CB8AC3E}">
        <p14:creationId xmlns:p14="http://schemas.microsoft.com/office/powerpoint/2010/main" val="189435890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a:t>
            </a:r>
            <a:r>
              <a:rPr lang="en-US" baseline="0"/>
              <a:t> can also access raw strings, without interpretted backslashes.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273</a:t>
            </a:fld>
            <a:endParaRPr lang="en-US"/>
          </a:p>
        </p:txBody>
      </p:sp>
    </p:spTree>
    <p:extLst>
      <p:ext uri="{BB962C8B-B14F-4D97-AF65-F5344CB8AC3E}">
        <p14:creationId xmlns:p14="http://schemas.microsoft.com/office/powerpoint/2010/main" val="384027175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ES6</a:t>
            </a:r>
            <a:r>
              <a:rPr lang="en-US" baseline="0"/>
              <a:t> has a consise syntax for setting properties that have the same name and value. In this case, which part --the name or the value-- do you think the x and y in the ES6 code refers to? It's actually the value. Can you think of a way to check this?</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274</a:t>
            </a:fld>
            <a:endParaRPr lang="en-US"/>
          </a:p>
        </p:txBody>
      </p:sp>
    </p:spTree>
    <p:extLst>
      <p:ext uri="{BB962C8B-B14F-4D97-AF65-F5344CB8AC3E}">
        <p14:creationId xmlns:p14="http://schemas.microsoft.com/office/powerpoint/2010/main" val="3532371882"/>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275</a:t>
            </a:fld>
            <a:endParaRPr lang="en-US"/>
          </a:p>
        </p:txBody>
      </p:sp>
    </p:spTree>
    <p:extLst>
      <p:ext uri="{BB962C8B-B14F-4D97-AF65-F5344CB8AC3E}">
        <p14:creationId xmlns:p14="http://schemas.microsoft.com/office/powerpoint/2010/main" val="363476533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276</a:t>
            </a:fld>
            <a:endParaRPr lang="en-US"/>
          </a:p>
        </p:txBody>
      </p:sp>
    </p:spTree>
    <p:extLst>
      <p:ext uri="{BB962C8B-B14F-4D97-AF65-F5344CB8AC3E}">
        <p14:creationId xmlns:p14="http://schemas.microsoft.com/office/powerpoint/2010/main" val="42863841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277</a:t>
            </a:fld>
            <a:endParaRPr lang="en-US"/>
          </a:p>
        </p:txBody>
      </p:sp>
    </p:spTree>
    <p:extLst>
      <p:ext uri="{BB962C8B-B14F-4D97-AF65-F5344CB8AC3E}">
        <p14:creationId xmlns:p14="http://schemas.microsoft.com/office/powerpoint/2010/main" val="293777152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278</a:t>
            </a:fld>
            <a:endParaRPr lang="en-US"/>
          </a:p>
        </p:txBody>
      </p:sp>
    </p:spTree>
    <p:extLst>
      <p:ext uri="{BB962C8B-B14F-4D97-AF65-F5344CB8AC3E}">
        <p14:creationId xmlns:p14="http://schemas.microsoft.com/office/powerpoint/2010/main" val="229619771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call to Symbol</a:t>
            </a:r>
            <a:r>
              <a:rPr lang="en-US" baseline="0"/>
              <a:t> creates a new symbol. In the 2</a:t>
            </a:r>
            <a:r>
              <a:rPr lang="en-US" baseline="30000"/>
              <a:t>nd</a:t>
            </a:r>
            <a:r>
              <a:rPr lang="en-US" baseline="0"/>
              <a:t> and 3</a:t>
            </a:r>
            <a:r>
              <a:rPr lang="en-US" baseline="30000"/>
              <a:t>rd</a:t>
            </a:r>
            <a:r>
              <a:rPr lang="en-US" baseline="0"/>
              <a:t> examples, foo is not coerced into a symbol. "foo" is just an optional description.</a:t>
            </a:r>
          </a:p>
          <a:p>
            <a:endParaRPr lang="en-US" baseline="0"/>
          </a:p>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279</a:t>
            </a:fld>
            <a:endParaRPr lang="en-US"/>
          </a:p>
        </p:txBody>
      </p:sp>
    </p:spTree>
    <p:extLst>
      <p:ext uri="{BB962C8B-B14F-4D97-AF65-F5344CB8AC3E}">
        <p14:creationId xmlns:p14="http://schemas.microsoft.com/office/powerpoint/2010/main" val="332573777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280</a:t>
            </a:fld>
            <a:endParaRPr lang="en-US"/>
          </a:p>
        </p:txBody>
      </p:sp>
    </p:spTree>
    <p:extLst>
      <p:ext uri="{BB962C8B-B14F-4D97-AF65-F5344CB8AC3E}">
        <p14:creationId xmlns:p14="http://schemas.microsoft.com/office/powerpoint/2010/main" val="1862013655"/>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281</a:t>
            </a:fld>
            <a:endParaRPr lang="en-US"/>
          </a:p>
        </p:txBody>
      </p:sp>
    </p:spTree>
    <p:extLst>
      <p:ext uri="{BB962C8B-B14F-4D97-AF65-F5344CB8AC3E}">
        <p14:creationId xmlns:p14="http://schemas.microsoft.com/office/powerpoint/2010/main" val="78426351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282</a:t>
            </a:fld>
            <a:endParaRPr lang="en-US"/>
          </a:p>
        </p:txBody>
      </p:sp>
    </p:spTree>
    <p:extLst>
      <p:ext uri="{BB962C8B-B14F-4D97-AF65-F5344CB8AC3E}">
        <p14:creationId xmlns:p14="http://schemas.microsoft.com/office/powerpoint/2010/main" val="117932065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283</a:t>
            </a:fld>
            <a:endParaRPr lang="en-US"/>
          </a:p>
        </p:txBody>
      </p:sp>
    </p:spTree>
    <p:extLst>
      <p:ext uri="{BB962C8B-B14F-4D97-AF65-F5344CB8AC3E}">
        <p14:creationId xmlns:p14="http://schemas.microsoft.com/office/powerpoint/2010/main" val="364536907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284</a:t>
            </a:fld>
            <a:endParaRPr lang="en-US"/>
          </a:p>
        </p:txBody>
      </p:sp>
    </p:spTree>
    <p:extLst>
      <p:ext uri="{BB962C8B-B14F-4D97-AF65-F5344CB8AC3E}">
        <p14:creationId xmlns:p14="http://schemas.microsoft.com/office/powerpoint/2010/main" val="338815932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285</a:t>
            </a:fld>
            <a:endParaRPr lang="en-US"/>
          </a:p>
        </p:txBody>
      </p:sp>
    </p:spTree>
    <p:extLst>
      <p:ext uri="{BB962C8B-B14F-4D97-AF65-F5344CB8AC3E}">
        <p14:creationId xmlns:p14="http://schemas.microsoft.com/office/powerpoint/2010/main" val="4172822368"/>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286</a:t>
            </a:fld>
            <a:endParaRPr lang="en-US"/>
          </a:p>
        </p:txBody>
      </p:sp>
    </p:spTree>
    <p:extLst>
      <p:ext uri="{BB962C8B-B14F-4D97-AF65-F5344CB8AC3E}">
        <p14:creationId xmlns:p14="http://schemas.microsoft.com/office/powerpoint/2010/main" val="2680782215"/>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288</a:t>
            </a:fld>
            <a:endParaRPr lang="en-US"/>
          </a:p>
        </p:txBody>
      </p:sp>
    </p:spTree>
    <p:extLst>
      <p:ext uri="{BB962C8B-B14F-4D97-AF65-F5344CB8AC3E}">
        <p14:creationId xmlns:p14="http://schemas.microsoft.com/office/powerpoint/2010/main" val="1967951167"/>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289</a:t>
            </a:fld>
            <a:endParaRPr lang="en-US"/>
          </a:p>
        </p:txBody>
      </p:sp>
    </p:spTree>
    <p:extLst>
      <p:ext uri="{BB962C8B-B14F-4D97-AF65-F5344CB8AC3E}">
        <p14:creationId xmlns:p14="http://schemas.microsoft.com/office/powerpoint/2010/main" val="51188305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290</a:t>
            </a:fld>
            <a:endParaRPr lang="en-US"/>
          </a:p>
        </p:txBody>
      </p:sp>
    </p:spTree>
    <p:extLst>
      <p:ext uri="{BB962C8B-B14F-4D97-AF65-F5344CB8AC3E}">
        <p14:creationId xmlns:p14="http://schemas.microsoft.com/office/powerpoint/2010/main" val="108913752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291</a:t>
            </a:fld>
            <a:endParaRPr lang="en-US"/>
          </a:p>
        </p:txBody>
      </p:sp>
    </p:spTree>
    <p:extLst>
      <p:ext uri="{BB962C8B-B14F-4D97-AF65-F5344CB8AC3E}">
        <p14:creationId xmlns:p14="http://schemas.microsoft.com/office/powerpoint/2010/main" val="4046480439"/>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292</a:t>
            </a:fld>
            <a:endParaRPr lang="en-US"/>
          </a:p>
        </p:txBody>
      </p:sp>
    </p:spTree>
    <p:extLst>
      <p:ext uri="{BB962C8B-B14F-4D97-AF65-F5344CB8AC3E}">
        <p14:creationId xmlns:p14="http://schemas.microsoft.com/office/powerpoint/2010/main" val="381008991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case, this.name is</a:t>
            </a:r>
            <a:r>
              <a:rPr lang="en-US" baseline="0"/>
              <a:t> the same as author.name.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293</a:t>
            </a:fld>
            <a:endParaRPr lang="en-US"/>
          </a:p>
        </p:txBody>
      </p:sp>
    </p:spTree>
    <p:extLst>
      <p:ext uri="{BB962C8B-B14F-4D97-AF65-F5344CB8AC3E}">
        <p14:creationId xmlns:p14="http://schemas.microsoft.com/office/powerpoint/2010/main" val="334641616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explicit binding,</a:t>
            </a:r>
            <a:r>
              <a:rPr lang="en-US" baseline="0"/>
              <a:t> you can remove the method from an object and use call to indicate the context. In this case, when logName.call is invoked, this.name refers to author.name.</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294</a:t>
            </a:fld>
            <a:endParaRPr lang="en-US"/>
          </a:p>
        </p:txBody>
      </p:sp>
    </p:spTree>
    <p:extLst>
      <p:ext uri="{BB962C8B-B14F-4D97-AF65-F5344CB8AC3E}">
        <p14:creationId xmlns:p14="http://schemas.microsoft.com/office/powerpoint/2010/main" val="2753692447"/>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parameter of call is the context. Here, we're saying that the</a:t>
            </a:r>
            <a:r>
              <a:rPr lang="en-US" baseline="0"/>
              <a:t> logName function should be run in the context of the author object. After that, you can pass in parameters. We're passing in the first element of an array. The passed parameters are then available, as they normally would be, inside the function, and the properties of the author object are also available, by using the this keyword.</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295</a:t>
            </a:fld>
            <a:endParaRPr lang="en-US"/>
          </a:p>
        </p:txBody>
      </p:sp>
    </p:spTree>
    <p:extLst>
      <p:ext uri="{BB962C8B-B14F-4D97-AF65-F5344CB8AC3E}">
        <p14:creationId xmlns:p14="http://schemas.microsoft.com/office/powerpoint/2010/main" val="11182216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.apply</a:t>
            </a:r>
            <a:r>
              <a:rPr lang="en-US" baseline="0"/>
              <a:t> allows you to bind a function to an object and pass an array to the function, as shown here. We create a function called logName that take 3 parameters. We then create an object called author that has 2 properties and we define an array called favoriteFoods. By using .apply, we run logName in the context of the author object and we pass it the favoriteFoods array, which gets expanded for each of the 3 parameters of the function.</a:t>
            </a:r>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296</a:t>
            </a:fld>
            <a:endParaRPr lang="en-US"/>
          </a:p>
        </p:txBody>
      </p:sp>
    </p:spTree>
    <p:extLst>
      <p:ext uri="{BB962C8B-B14F-4D97-AF65-F5344CB8AC3E}">
        <p14:creationId xmlns:p14="http://schemas.microsoft.com/office/powerpoint/2010/main" val="368503430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297</a:t>
            </a:fld>
            <a:endParaRPr lang="en-US"/>
          </a:p>
        </p:txBody>
      </p:sp>
    </p:spTree>
    <p:extLst>
      <p:ext uri="{BB962C8B-B14F-4D97-AF65-F5344CB8AC3E}">
        <p14:creationId xmlns:p14="http://schemas.microsoft.com/office/powerpoint/2010/main" val="387491225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298</a:t>
            </a:fld>
            <a:endParaRPr lang="en-US"/>
          </a:p>
        </p:txBody>
      </p:sp>
    </p:spTree>
    <p:extLst>
      <p:ext uri="{BB962C8B-B14F-4D97-AF65-F5344CB8AC3E}">
        <p14:creationId xmlns:p14="http://schemas.microsoft.com/office/powerpoint/2010/main" val="147546920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299</a:t>
            </a:fld>
            <a:endParaRPr lang="en-US"/>
          </a:p>
        </p:txBody>
      </p:sp>
    </p:spTree>
    <p:extLst>
      <p:ext uri="{BB962C8B-B14F-4D97-AF65-F5344CB8AC3E}">
        <p14:creationId xmlns:p14="http://schemas.microsoft.com/office/powerpoint/2010/main" val="1254745676"/>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300</a:t>
            </a:fld>
            <a:endParaRPr lang="en-US"/>
          </a:p>
        </p:txBody>
      </p:sp>
    </p:spTree>
    <p:extLst>
      <p:ext uri="{BB962C8B-B14F-4D97-AF65-F5344CB8AC3E}">
        <p14:creationId xmlns:p14="http://schemas.microsoft.com/office/powerpoint/2010/main" val="2463565163"/>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301</a:t>
            </a:fld>
            <a:endParaRPr lang="en-US"/>
          </a:p>
        </p:txBody>
      </p:sp>
    </p:spTree>
    <p:extLst>
      <p:ext uri="{BB962C8B-B14F-4D97-AF65-F5344CB8AC3E}">
        <p14:creationId xmlns:p14="http://schemas.microsoft.com/office/powerpoint/2010/main" val="1959616322"/>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302</a:t>
            </a:fld>
            <a:endParaRPr lang="en-US"/>
          </a:p>
        </p:txBody>
      </p:sp>
    </p:spTree>
    <p:extLst>
      <p:ext uri="{BB962C8B-B14F-4D97-AF65-F5344CB8AC3E}">
        <p14:creationId xmlns:p14="http://schemas.microsoft.com/office/powerpoint/2010/main" val="146231346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303</a:t>
            </a:fld>
            <a:endParaRPr lang="en-US"/>
          </a:p>
        </p:txBody>
      </p:sp>
    </p:spTree>
    <p:extLst>
      <p:ext uri="{BB962C8B-B14F-4D97-AF65-F5344CB8AC3E}">
        <p14:creationId xmlns:p14="http://schemas.microsoft.com/office/powerpoint/2010/main" val="1299499566"/>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304</a:t>
            </a:fld>
            <a:endParaRPr lang="en-US"/>
          </a:p>
        </p:txBody>
      </p:sp>
    </p:spTree>
    <p:extLst>
      <p:ext uri="{BB962C8B-B14F-4D97-AF65-F5344CB8AC3E}">
        <p14:creationId xmlns:p14="http://schemas.microsoft.com/office/powerpoint/2010/main" val="780515772"/>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305</a:t>
            </a:fld>
            <a:endParaRPr lang="en-US"/>
          </a:p>
        </p:txBody>
      </p:sp>
    </p:spTree>
    <p:extLst>
      <p:ext uri="{BB962C8B-B14F-4D97-AF65-F5344CB8AC3E}">
        <p14:creationId xmlns:p14="http://schemas.microsoft.com/office/powerpoint/2010/main" val="129846412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306</a:t>
            </a:fld>
            <a:endParaRPr lang="en-US"/>
          </a:p>
        </p:txBody>
      </p:sp>
    </p:spTree>
    <p:extLst>
      <p:ext uri="{BB962C8B-B14F-4D97-AF65-F5344CB8AC3E}">
        <p14:creationId xmlns:p14="http://schemas.microsoft.com/office/powerpoint/2010/main" val="557778482"/>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307</a:t>
            </a:fld>
            <a:endParaRPr lang="en-US"/>
          </a:p>
        </p:txBody>
      </p:sp>
    </p:spTree>
    <p:extLst>
      <p:ext uri="{BB962C8B-B14F-4D97-AF65-F5344CB8AC3E}">
        <p14:creationId xmlns:p14="http://schemas.microsoft.com/office/powerpoint/2010/main" val="100582136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770EAF-1B7F-084E-BE5F-E1B515CBCD96}" type="slidenum">
              <a:rPr lang="en-US" smtClean="0"/>
              <a:t>308</a:t>
            </a:fld>
            <a:endParaRPr lang="en-US"/>
          </a:p>
        </p:txBody>
      </p:sp>
    </p:spTree>
    <p:extLst>
      <p:ext uri="{BB962C8B-B14F-4D97-AF65-F5344CB8AC3E}">
        <p14:creationId xmlns:p14="http://schemas.microsoft.com/office/powerpoint/2010/main" val="191912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25F646F-033F-1748-97FB-121FF7B0AB7B}"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329050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995CB-DAFD-3741-B8F7-0A5E29CF42BA}"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778767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2F5C7B-CB25-844F-9EFA-9A5B3F0CB86D}"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309815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0A85C3-53E4-6B4D-B0DC-5BE64C2C5A85}" type="datetime1">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3077248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86E174-3C22-E147-A23B-E7CA1747639F}" type="datetime1">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921460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507EB9-4FAB-9441-9E03-D59CCF45D6A9}" type="datetime1">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676022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EC5346-CA92-1F4B-B2A7-7A87B82059AB}" type="datetime1">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363411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C1570-81BA-E740-9C1F-FA9AA3519B73}" type="datetime1">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400998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61BC76-A7A1-8D4B-BCA4-7D6B806BFF73}" type="datetime1">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798025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57A72-B409-764A-A778-F6E26613E8CC}"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154931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95B196-62D3-7749-B654-1205E9B923FC}"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FFF67E-EC6A-B940-8DC7-BF9A5925C934}" type="slidenum">
              <a:rPr lang="en-US" smtClean="0"/>
              <a:t>‹#›</a:t>
            </a:fld>
            <a:endParaRPr lang="en-US"/>
          </a:p>
        </p:txBody>
      </p:sp>
    </p:spTree>
    <p:extLst>
      <p:ext uri="{BB962C8B-B14F-4D97-AF65-F5344CB8AC3E}">
        <p14:creationId xmlns:p14="http://schemas.microsoft.com/office/powerpoint/2010/main" val="2267784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22BEE-09DA-B244-8270-9B0B8F19578C}" type="datetime1">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39F4A7-500C-EC42-AE23-BEE4487EA55E}" type="slidenum">
              <a:rPr lang="en-US" smtClean="0"/>
              <a:t>‹#›</a:t>
            </a:fld>
            <a:endParaRPr lang="en-US"/>
          </a:p>
        </p:txBody>
      </p:sp>
    </p:spTree>
    <p:extLst>
      <p:ext uri="{BB962C8B-B14F-4D97-AF65-F5344CB8AC3E}">
        <p14:creationId xmlns:p14="http://schemas.microsoft.com/office/powerpoint/2010/main" val="1995058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e Layout">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D11AA4E-DE16-4647-B6F1-9E96FAC1B606}" type="datetime1">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
        <p:nvSpPr>
          <p:cNvPr id="7" name="Text Placeholder 6"/>
          <p:cNvSpPr>
            <a:spLocks noGrp="1"/>
          </p:cNvSpPr>
          <p:nvPr>
            <p:ph type="body" sz="quarter" idx="13" hasCustomPrompt="1"/>
          </p:nvPr>
        </p:nvSpPr>
        <p:spPr>
          <a:xfrm>
            <a:off x="457200" y="1628775"/>
            <a:ext cx="8229600" cy="4527550"/>
          </a:xfrm>
        </p:spPr>
        <p:txBody>
          <a:bodyPr>
            <a:normAutofit/>
          </a:bodyPr>
          <a:lstStyle>
            <a:lvl1pPr marL="0" indent="0">
              <a:buFont typeface="Lucida Grande"/>
              <a:buNone/>
              <a:defRPr sz="2000" baseline="0">
                <a:latin typeface="Courier New"/>
                <a:cs typeface="Courier New"/>
              </a:defRPr>
            </a:lvl1pPr>
            <a:lvl2pPr marL="457200" indent="0">
              <a:buFont typeface="Lucida Grande"/>
              <a:buNone/>
              <a:defRPr sz="2000">
                <a:latin typeface="Courier New"/>
                <a:cs typeface="Courier New"/>
              </a:defRPr>
            </a:lvl2pPr>
            <a:lvl3pPr marL="914400" indent="0">
              <a:buFont typeface="Arial"/>
              <a:buNone/>
              <a:defRPr sz="2000">
                <a:latin typeface="Courier New"/>
                <a:cs typeface="Courier New"/>
              </a:defRPr>
            </a:lvl3pPr>
            <a:lvl4pPr marL="1714500" indent="-342900">
              <a:buFont typeface="Lucida Grande"/>
              <a:buChar char="$"/>
              <a:defRPr>
                <a:latin typeface="Courier New"/>
                <a:cs typeface="Courier New"/>
              </a:defRPr>
            </a:lvl4pPr>
            <a:lvl5pPr marL="2171700" indent="-342900">
              <a:buFont typeface="Lucida Grande"/>
              <a:buChar char="$"/>
              <a:defRPr>
                <a:latin typeface="Courier New"/>
                <a:cs typeface="Courier New"/>
              </a:defRPr>
            </a:lvl5pPr>
            <a:lvl6pPr marL="2514600" indent="-228600">
              <a:buFont typeface="Lucida Grande"/>
              <a:buChar char="$"/>
              <a:defRPr/>
            </a:lvl6pPr>
          </a:lstStyle>
          <a:p>
            <a:pPr lvl="0"/>
            <a:r>
              <a:rPr lang="en-US"/>
              <a:t>&lt;html&gt;</a:t>
            </a:r>
          </a:p>
          <a:p>
            <a:pPr lvl="0"/>
            <a:r>
              <a:rPr lang="en-US"/>
              <a:t>	&lt;head&gt;</a:t>
            </a:r>
          </a:p>
          <a:p>
            <a:pPr lvl="0"/>
            <a:r>
              <a:rPr lang="en-US"/>
              <a:t>		&lt;title&gt;Test Page&lt;/title&gt;</a:t>
            </a:r>
          </a:p>
          <a:p>
            <a:pPr lvl="0"/>
            <a:r>
              <a:rPr lang="en-US"/>
              <a:t>	&lt;/head&gt;</a:t>
            </a:r>
          </a:p>
          <a:p>
            <a:pPr lvl="0"/>
            <a:r>
              <a:rPr lang="en-US"/>
              <a:t>	&lt;body&gt;</a:t>
            </a:r>
          </a:p>
          <a:p>
            <a:pPr lvl="0"/>
            <a:r>
              <a:rPr lang="en-US"/>
              <a:t>		&lt;p&gt;Hello, World!&lt;/p&gt;</a:t>
            </a:r>
          </a:p>
          <a:p>
            <a:pPr lvl="0"/>
            <a:r>
              <a:rPr lang="en-US"/>
              <a:t>	&lt;/body&gt;</a:t>
            </a:r>
          </a:p>
          <a:p>
            <a:pPr lvl="0"/>
            <a:r>
              <a:rPr lang="en-US"/>
              <a:t>&lt;/html&gt;</a:t>
            </a:r>
          </a:p>
        </p:txBody>
      </p:sp>
      <p:sp>
        <p:nvSpPr>
          <p:cNvPr id="9" name="Title 8"/>
          <p:cNvSpPr>
            <a:spLocks noGrp="1"/>
          </p:cNvSpPr>
          <p:nvPr>
            <p:ph type="title" hasCustomPrompt="1"/>
          </p:nvPr>
        </p:nvSpPr>
        <p:spPr/>
        <p:txBody>
          <a:bodyPr/>
          <a:lstStyle>
            <a:lvl1pPr>
              <a:defRPr baseline="0"/>
            </a:lvl1pPr>
          </a:lstStyle>
          <a:p>
            <a:r>
              <a:rPr lang="en-US"/>
              <a:t>Code</a:t>
            </a:r>
          </a:p>
        </p:txBody>
      </p:sp>
    </p:spTree>
    <p:extLst>
      <p:ext uri="{BB962C8B-B14F-4D97-AF65-F5344CB8AC3E}">
        <p14:creationId xmlns:p14="http://schemas.microsoft.com/office/powerpoint/2010/main" val="320134617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4638"/>
            <a:ext cx="8229600" cy="620728"/>
          </a:xfrm>
          <a:solidFill>
            <a:schemeClr val="tx1"/>
          </a:solidFill>
        </p:spPr>
        <p:txBody>
          <a:bodyPr/>
          <a:lstStyle>
            <a:lvl1pPr>
              <a:defRPr>
                <a:solidFill>
                  <a:schemeClr val="bg1"/>
                </a:solidFill>
              </a:defRPr>
            </a:lvl1pPr>
          </a:lstStyle>
          <a:p>
            <a:r>
              <a:rPr lang="en-US" dirty="0"/>
              <a:t>Objectives</a:t>
            </a:r>
          </a:p>
        </p:txBody>
      </p:sp>
      <p:sp>
        <p:nvSpPr>
          <p:cNvPr id="3" name="Date Placeholder 2"/>
          <p:cNvSpPr>
            <a:spLocks noGrp="1"/>
          </p:cNvSpPr>
          <p:nvPr>
            <p:ph type="dt" sz="half" idx="10"/>
          </p:nvPr>
        </p:nvSpPr>
        <p:spPr/>
        <p:txBody>
          <a:bodyPr/>
          <a:lstStyle/>
          <a:p>
            <a:fld id="{D4250B97-8A49-D240-8725-6807B97AC2AC}" type="datetime1">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FFF67E-EC6A-B940-8DC7-BF9A5925C934}" type="slidenum">
              <a:rPr lang="en-US" smtClean="0"/>
              <a:t>‹#›</a:t>
            </a:fld>
            <a:endParaRPr lang="en-US"/>
          </a:p>
        </p:txBody>
      </p:sp>
      <p:sp>
        <p:nvSpPr>
          <p:cNvPr id="7" name="TextBox 6"/>
          <p:cNvSpPr txBox="1"/>
          <p:nvPr userDrawn="1"/>
        </p:nvSpPr>
        <p:spPr>
          <a:xfrm>
            <a:off x="2280137" y="1352184"/>
            <a:ext cx="4572000" cy="4572000"/>
          </a:xfrm>
          <a:prstGeom prst="rect">
            <a:avLst/>
          </a:prstGeom>
          <a:noFill/>
          <a:ln>
            <a:solidFill>
              <a:schemeClr val="tx1"/>
            </a:solidFill>
          </a:ln>
        </p:spPr>
        <p:txBody>
          <a:bodyPr wrap="square" rtlCol="0">
            <a:normAutofit/>
          </a:bodyPr>
          <a:lstStyle/>
          <a:p>
            <a:pPr marL="285750" indent="-285750">
              <a:buFont typeface="Arial"/>
              <a:buChar char="•"/>
            </a:pPr>
            <a:r>
              <a:rPr lang="en-US"/>
              <a:t>item 1</a:t>
            </a:r>
          </a:p>
          <a:p>
            <a:pPr marL="285750" indent="-285750">
              <a:buFont typeface="Arial"/>
              <a:buChar char="•"/>
            </a:pPr>
            <a:r>
              <a:rPr lang="en-US"/>
              <a:t>item</a:t>
            </a:r>
            <a:r>
              <a:rPr lang="en-US" baseline="0"/>
              <a:t> 2</a:t>
            </a:r>
          </a:p>
          <a:p>
            <a:pPr marL="285750" indent="-285750">
              <a:buFont typeface="Arial"/>
              <a:buChar char="•"/>
            </a:pPr>
            <a:r>
              <a:rPr lang="en-US" baseline="0"/>
              <a:t>item 3</a:t>
            </a:r>
          </a:p>
          <a:p>
            <a:pPr marL="285750" indent="-285750">
              <a:buFont typeface="Arial"/>
              <a:buChar char="•"/>
            </a:pPr>
            <a:r>
              <a:rPr lang="en-US" baseline="0"/>
              <a:t>item 4</a:t>
            </a:r>
          </a:p>
          <a:p>
            <a:pPr marL="285750" indent="-285750">
              <a:buFont typeface="Arial"/>
              <a:buChar char="•"/>
            </a:pPr>
            <a:r>
              <a:rPr lang="en-US" baseline="0"/>
              <a:t>item 5</a:t>
            </a:r>
          </a:p>
          <a:p>
            <a:pPr marL="285750" indent="-285750">
              <a:buFont typeface="Arial"/>
              <a:buChar char="•"/>
            </a:pPr>
            <a:endParaRPr lang="en-US"/>
          </a:p>
        </p:txBody>
      </p:sp>
    </p:spTree>
    <p:extLst>
      <p:ext uri="{BB962C8B-B14F-4D97-AF65-F5344CB8AC3E}">
        <p14:creationId xmlns:p14="http://schemas.microsoft.com/office/powerpoint/2010/main" val="1046329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Slide (No Footer)">
    <p:spTree>
      <p:nvGrpSpPr>
        <p:cNvPr id="1" name=""/>
        <p:cNvGrpSpPr/>
        <p:nvPr/>
      </p:nvGrpSpPr>
      <p:grpSpPr>
        <a:xfrm>
          <a:off x="0" y="0"/>
          <a:ext cx="0" cy="0"/>
          <a:chOff x="0" y="0"/>
          <a:chExt cx="0" cy="0"/>
        </a:xfrm>
      </p:grpSpPr>
      <p:sp>
        <p:nvSpPr>
          <p:cNvPr id="6" name="Content"/>
          <p:cNvSpPr>
            <a:spLocks noGrp="1"/>
          </p:cNvSpPr>
          <p:nvPr>
            <p:ph sz="quarter" idx="12"/>
          </p:nvPr>
        </p:nvSpPr>
        <p:spPr>
          <a:xfrm>
            <a:off x="189310" y="1335654"/>
            <a:ext cx="8761809" cy="52937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p:txBody>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735140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de Slide">
    <p:spTree>
      <p:nvGrpSpPr>
        <p:cNvPr id="1" name=""/>
        <p:cNvGrpSpPr/>
        <p:nvPr/>
      </p:nvGrpSpPr>
      <p:grpSpPr>
        <a:xfrm>
          <a:off x="0" y="0"/>
          <a:ext cx="0" cy="0"/>
          <a:chOff x="0" y="0"/>
          <a:chExt cx="0" cy="0"/>
        </a:xfrm>
      </p:grpSpPr>
      <p:sp>
        <p:nvSpPr>
          <p:cNvPr id="8" name="Slide Number Placeholder"/>
          <p:cNvSpPr>
            <a:spLocks noGrp="1"/>
          </p:cNvSpPr>
          <p:nvPr>
            <p:ph type="sldNum" sz="quarter" idx="4"/>
          </p:nvPr>
        </p:nvSpPr>
        <p:spPr>
          <a:xfrm>
            <a:off x="6618716" y="6319468"/>
            <a:ext cx="578238" cy="365125"/>
          </a:xfrm>
          <a:prstGeom prst="rect">
            <a:avLst/>
          </a:prstGeom>
        </p:spPr>
        <p:txBody>
          <a:bodyPr vert="horz" lIns="91440" tIns="45720" rIns="91440" bIns="45720" rtlCol="0" anchor="ctr"/>
          <a:lstStyle>
            <a:lvl1pPr algn="r">
              <a:defRPr sz="900">
                <a:solidFill>
                  <a:schemeClr val="bg1"/>
                </a:solidFill>
              </a:defRPr>
            </a:lvl1pPr>
          </a:lstStyle>
          <a:p>
            <a:fld id="{7F5CE407-6216-4202-80E4-A30DC2F709B2}" type="slidenum">
              <a:rPr lang="en-US" smtClean="0"/>
              <a:pPr/>
              <a:t>‹#›</a:t>
            </a:fld>
            <a:endParaRPr lang="en-US"/>
          </a:p>
        </p:txBody>
      </p:sp>
      <p:sp>
        <p:nvSpPr>
          <p:cNvPr id="7" name="Date Placeholder"/>
          <p:cNvSpPr>
            <a:spLocks noGrp="1"/>
          </p:cNvSpPr>
          <p:nvPr>
            <p:ph type="dt" sz="half" idx="2"/>
          </p:nvPr>
        </p:nvSpPr>
        <p:spPr>
          <a:xfrm>
            <a:off x="5616077" y="6319468"/>
            <a:ext cx="995340" cy="365125"/>
          </a:xfrm>
          <a:prstGeom prst="rect">
            <a:avLst/>
          </a:prstGeom>
        </p:spPr>
        <p:txBody>
          <a:bodyPr vert="horz" lIns="91440" tIns="45720" rIns="91440" bIns="45720" rtlCol="0" anchor="ctr"/>
          <a:lstStyle>
            <a:lvl1pPr algn="r">
              <a:defRPr sz="750">
                <a:solidFill>
                  <a:schemeClr val="bg1"/>
                </a:solidFill>
              </a:defRPr>
            </a:lvl1pPr>
          </a:lstStyle>
          <a:p>
            <a:fld id="{B01F9CA3-105E-4857-9057-6DB6197DA786}" type="datetimeFigureOut">
              <a:rPr lang="en-US" smtClean="0"/>
              <a:pPr/>
              <a:t>10/8/26</a:t>
            </a:fld>
            <a:endParaRPr lang="en-US"/>
          </a:p>
        </p:txBody>
      </p:sp>
      <p:sp>
        <p:nvSpPr>
          <p:cNvPr id="3" name="Code Content"/>
          <p:cNvSpPr>
            <a:spLocks noGrp="1"/>
          </p:cNvSpPr>
          <p:nvPr>
            <p:ph type="body" sz="quarter" idx="10" hasCustomPrompt="1"/>
          </p:nvPr>
        </p:nvSpPr>
        <p:spPr>
          <a:xfrm>
            <a:off x="189780" y="1335654"/>
            <a:ext cx="8761270" cy="4836547"/>
          </a:xfrm>
        </p:spPr>
        <p:txBody>
          <a:bodyPr/>
          <a:lstStyle>
            <a:lvl1pPr marL="0" marR="0" indent="0" algn="l" defTabSz="685766" rtl="0" eaLnBrk="1" fontAlgn="auto" latinLnBrk="0" hangingPunct="1">
              <a:lnSpc>
                <a:spcPct val="100000"/>
              </a:lnSpc>
              <a:spcBef>
                <a:spcPts val="450"/>
              </a:spcBef>
              <a:spcAft>
                <a:spcPts val="0"/>
              </a:spcAft>
              <a:buClr>
                <a:schemeClr val="accent1"/>
              </a:buClr>
              <a:buSzPct val="110000"/>
              <a:buFont typeface="Wingdings 2" pitchFamily="18" charset="2"/>
              <a:buNone/>
              <a:tabLst/>
              <a:defRPr lang="en-US" sz="1350" kern="1200" baseline="0" dirty="0" smtClean="0">
                <a:solidFill>
                  <a:schemeClr val="accent1"/>
                </a:solidFill>
                <a:latin typeface="Consolas" panose="020B0609020204030204" pitchFamily="49" charset="0"/>
                <a:ea typeface="+mn-ea"/>
                <a:cs typeface="Consolas" panose="020B0609020204030204" pitchFamily="49" charset="0"/>
              </a:defRPr>
            </a:lvl1pPr>
          </a:lstStyle>
          <a:p>
            <a:pPr marL="0" marR="0" lvl="0" indent="0" algn="l" defTabSz="685766" rtl="0" eaLnBrk="1" fontAlgn="auto" latinLnBrk="0" hangingPunct="1">
              <a:lnSpc>
                <a:spcPct val="100000"/>
              </a:lnSpc>
              <a:spcBef>
                <a:spcPts val="0"/>
              </a:spcBef>
              <a:spcAft>
                <a:spcPts val="0"/>
              </a:spcAft>
              <a:buClr>
                <a:schemeClr val="accent1"/>
              </a:buClr>
              <a:buSzPct val="110000"/>
              <a:buFont typeface="Wingdings 2" pitchFamily="18" charset="2"/>
              <a:buNone/>
              <a:tabLst/>
              <a:defRPr/>
            </a:pPr>
            <a:r>
              <a:rPr lang="en-US" dirty="0"/>
              <a:t>// Insert code</a:t>
            </a:r>
          </a:p>
          <a:p>
            <a:pPr lvl="0"/>
            <a:endParaRPr lang="en-US" dirty="0"/>
          </a:p>
        </p:txBody>
      </p:sp>
      <p:sp>
        <p:nvSpPr>
          <p:cNvPr id="5" name="Title"/>
          <p:cNvSpPr>
            <a:spLocks noGrp="1"/>
          </p:cNvSpPr>
          <p:nvPr>
            <p:ph type="title"/>
          </p:nvPr>
        </p:nvSpPr>
        <p:spPr>
          <a:xfrm>
            <a:off x="189780" y="0"/>
            <a:ext cx="8761270" cy="1257300"/>
          </a:xfrm>
          <a:prstGeom prst="rect">
            <a:avLst/>
          </a:prstGeom>
        </p:spPr>
        <p:txBody>
          <a:bodyPr vert="horz" lIns="91440" tIns="45720" rIns="91440" bIns="45720" rtlCol="0" anchor="ctr" anchorCtr="0">
            <a:noAutofit/>
          </a:bodyPr>
          <a:lstStyle>
            <a:lvl1pPr>
              <a:defRPr baseline="0"/>
            </a:lvl1pPr>
          </a:lstStyle>
          <a:p>
            <a:r>
              <a:rPr lang="en-US"/>
              <a:t>Click to edit Master title style</a:t>
            </a:r>
            <a:endParaRPr dirty="0"/>
          </a:p>
        </p:txBody>
      </p:sp>
    </p:spTree>
    <p:extLst>
      <p:ext uri="{BB962C8B-B14F-4D97-AF65-F5344CB8AC3E}">
        <p14:creationId xmlns:p14="http://schemas.microsoft.com/office/powerpoint/2010/main" val="4271679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50B97-8A49-D240-8725-6807B97AC2AC}" type="datetime1">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a:ln>
            <a:solidFill>
              <a:srgbClr val="4F81BD"/>
            </a:solidFill>
          </a:ln>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FF67E-EC6A-B940-8DC7-BF9A5925C934}" type="slidenum">
              <a:rPr lang="en-US" smtClean="0"/>
              <a:t>‹#›</a:t>
            </a:fld>
            <a:endParaRPr lang="en-US"/>
          </a:p>
        </p:txBody>
      </p:sp>
    </p:spTree>
    <p:extLst>
      <p:ext uri="{BB962C8B-B14F-4D97-AF65-F5344CB8AC3E}">
        <p14:creationId xmlns:p14="http://schemas.microsoft.com/office/powerpoint/2010/main" val="289136479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9" r:id="rId13"/>
    <p:sldLayoutId id="2147483730" r:id="rId14"/>
    <p:sldLayoutId id="2147483732" r:id="rId15"/>
    <p:sldLayoutId id="2147483733" r:id="rId16"/>
  </p:sldLayoutIdLst>
  <p:hf hdr="0" ftr="0" dt="0"/>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2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5.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3.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3.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5.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5.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3" Type="http://schemas.openxmlformats.org/officeDocument/2006/relationships/hyperlink" Target="http://jsbin.com/pisupa/edit?js,console" TargetMode="External"/><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271.xml.rels><?xml version="1.0" encoding="UTF-8" standalone="yes"?>
<Relationships xmlns="http://schemas.openxmlformats.org/package/2006/relationships"><Relationship Id="rId3" Type="http://schemas.openxmlformats.org/officeDocument/2006/relationships/hyperlink" Target="http://jsbin.com/guxika/edit?js,console" TargetMode="External"/><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272.xml.rels><?xml version="1.0" encoding="UTF-8" standalone="yes"?>
<Relationships xmlns="http://schemas.openxmlformats.org/package/2006/relationships"><Relationship Id="rId3" Type="http://schemas.openxmlformats.org/officeDocument/2006/relationships/hyperlink" Target="http://jsbin.com/pusako/edit?js,console" TargetMode="External"/><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273.xml.rels><?xml version="1.0" encoding="UTF-8" standalone="yes"?>
<Relationships xmlns="http://schemas.openxmlformats.org/package/2006/relationships"><Relationship Id="rId3" Type="http://schemas.openxmlformats.org/officeDocument/2006/relationships/hyperlink" Target="http://jsbin.com/donibif/edit?js,console" TargetMode="External"/><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3" Type="http://schemas.openxmlformats.org/officeDocument/2006/relationships/hyperlink" Target="http://jsbin.com/wejuqe/edit?js,console" TargetMode="External"/><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5.xml"/></Relationships>
</file>

<file path=ppt/slides/_rels/slide277.xml.rels><?xml version="1.0" encoding="UTF-8" standalone="yes"?>
<Relationships xmlns="http://schemas.openxmlformats.org/package/2006/relationships"><Relationship Id="rId3" Type="http://schemas.openxmlformats.org/officeDocument/2006/relationships/hyperlink" Target="http://jsbin.com/yafage/edit?js,console" TargetMode="External"/><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3" Type="http://schemas.openxmlformats.org/officeDocument/2006/relationships/hyperlink" Target="http://jsbin.com/kuvizu/edit?js,console" TargetMode="External"/><Relationship Id="rId2" Type="http://schemas.openxmlformats.org/officeDocument/2006/relationships/notesSlide" Target="../notesSlides/notesSlide155.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3.xml"/></Relationships>
</file>

<file path=ppt/slides/_rels/slide281.xml.rels><?xml version="1.0" encoding="UTF-8" standalone="yes"?>
<Relationships xmlns="http://schemas.openxmlformats.org/package/2006/relationships"><Relationship Id="rId3" Type="http://schemas.openxmlformats.org/officeDocument/2006/relationships/hyperlink" Target="http://jsbin.com/nururoz/edit?js,console" TargetMode="External"/><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282.xml.rels><?xml version="1.0" encoding="UTF-8" standalone="yes"?>
<Relationships xmlns="http://schemas.openxmlformats.org/package/2006/relationships"><Relationship Id="rId3" Type="http://schemas.openxmlformats.org/officeDocument/2006/relationships/hyperlink" Target="http://jsbin.com/pozite/edit?js,console" TargetMode="External"/><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3.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3" Type="http://schemas.openxmlformats.org/officeDocument/2006/relationships/hyperlink" Target="http://jsbin.com/xikuzog/edit?js,console" TargetMode="External"/><Relationship Id="rId2" Type="http://schemas.openxmlformats.org/officeDocument/2006/relationships/notesSlide" Target="../notesSlides/notesSlide173.xml"/><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2.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3.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3.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3.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2911" y="3810000"/>
            <a:ext cx="7772400" cy="1470025"/>
          </a:xfrm>
        </p:spPr>
        <p:txBody>
          <a:bodyPr>
            <a:normAutofit/>
          </a:bodyPr>
          <a:lstStyle/>
          <a:p>
            <a:r>
              <a:t>Professional Vue.js Development</a:t>
            </a:r>
          </a:p>
        </p:txBody>
      </p:sp>
      <p:sp>
        <p:nvSpPr>
          <p:cNvPr id="3" name="Subtitle 2"/>
          <p:cNvSpPr>
            <a:spLocks noGrp="1"/>
          </p:cNvSpPr>
          <p:nvPr>
            <p:ph type="subTitle" idx="1"/>
          </p:nvPr>
        </p:nvSpPr>
        <p:spPr>
          <a:xfrm>
            <a:off x="1357489" y="5638799"/>
            <a:ext cx="6400800" cy="666817"/>
          </a:xfrm>
        </p:spPr>
        <p:txBody>
          <a:bodyPr>
            <a:noAutofit/>
          </a:bodyPr>
          <a:lstStyle/>
          <a:p>
            <a:r>
              <a:rPr dirty="0"/>
              <a:t>copyright 2026, Chris Minnick</a:t>
            </a:r>
          </a:p>
          <a:p>
            <a:r>
              <a:rPr dirty="0"/>
              <a:t>version 2.</a:t>
            </a:r>
            <a:r>
              <a:rPr lang="en-US" dirty="0"/>
              <a:t>1</a:t>
            </a:r>
            <a:r>
              <a:rPr dirty="0"/>
              <a:t>, 2026</a:t>
            </a:r>
          </a:p>
        </p:txBody>
      </p:sp>
      <p:pic>
        <p:nvPicPr>
          <p:cNvPr id="5" name="Picture 4">
            <a:extLst>
              <a:ext uri="{FF2B5EF4-FFF2-40B4-BE49-F238E27FC236}">
                <a16:creationId xmlns:a16="http://schemas.microsoft.com/office/drawing/2014/main" id="{F19B6D48-5C4A-3545-6AFC-E6EE2F06A53F}"/>
              </a:ext>
            </a:extLst>
          </p:cNvPr>
          <p:cNvPicPr>
            <a:picLocks noChangeAspect="1"/>
          </p:cNvPicPr>
          <p:nvPr/>
        </p:nvPicPr>
        <p:blipFill>
          <a:blip r:embed="rId3"/>
          <a:stretch>
            <a:fillRect/>
          </a:stretch>
        </p:blipFill>
        <p:spPr>
          <a:xfrm>
            <a:off x="3302000" y="1270000"/>
            <a:ext cx="2540000" cy="2540000"/>
          </a:xfrm>
          <a:prstGeom prst="rect">
            <a:avLst/>
          </a:prstGeom>
        </p:spPr>
      </p:pic>
    </p:spTree>
    <p:extLst>
      <p:ext uri="{BB962C8B-B14F-4D97-AF65-F5344CB8AC3E}">
        <p14:creationId xmlns:p14="http://schemas.microsoft.com/office/powerpoint/2010/main" val="2814126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672F-CAB2-B246-85D3-E9469D5F0B04}"/>
              </a:ext>
            </a:extLst>
          </p:cNvPr>
          <p:cNvSpPr>
            <a:spLocks noGrp="1"/>
          </p:cNvSpPr>
          <p:nvPr>
            <p:ph type="title"/>
          </p:nvPr>
        </p:nvSpPr>
        <p:spPr/>
        <p:txBody>
          <a:bodyPr/>
          <a:lstStyle/>
          <a:p>
            <a:r>
              <a:rPr lang="en-US" b="0" i="0" u="none" strike="noStrike" baseline="0" dirty="0">
                <a:solidFill>
                  <a:srgbClr val="2F5496"/>
                </a:solidFill>
                <a:latin typeface="Calibri Light" panose="020F0302020204030204" pitchFamily="34" charset="0"/>
              </a:rPr>
              <a:t>Introduction and Vue Quickstart</a:t>
            </a:r>
          </a:p>
        </p:txBody>
      </p:sp>
      <p:sp>
        <p:nvSpPr>
          <p:cNvPr id="4" name="Text Placeholder 3">
            <a:extLst>
              <a:ext uri="{FF2B5EF4-FFF2-40B4-BE49-F238E27FC236}">
                <a16:creationId xmlns:a16="http://schemas.microsoft.com/office/drawing/2014/main" id="{0F0F979B-C1BA-474D-BE2E-6EC9A22E6F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8429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lvl="0" rtl="0"/>
            <a:r>
              <a:rPr lang="en-US" dirty="0"/>
              <a:t>Introduction </a:t>
            </a:r>
          </a:p>
        </p:txBody>
      </p:sp>
      <p:sp>
        <p:nvSpPr>
          <p:cNvPr id="5" name="Text Placeholder 4"/>
          <p:cNvSpPr>
            <a:spLocks noGrp="1"/>
          </p:cNvSpPr>
          <p:nvPr>
            <p:ph type="subTitle" idx="1"/>
          </p:nvPr>
        </p:nvSpPr>
        <p:spPr/>
        <p:txBody>
          <a:bodyPr>
            <a:normAutofit lnSpcReduction="10000"/>
          </a:bodyPr>
          <a:lstStyle/>
          <a:p>
            <a:pPr algn="l"/>
            <a:r>
              <a:rPr lang="en-US" dirty="0"/>
              <a:t>Objectives</a:t>
            </a:r>
          </a:p>
          <a:p>
            <a:pPr marL="342900" indent="-342900" algn="l">
              <a:buFont typeface="Arial"/>
              <a:buChar char="•"/>
            </a:pPr>
            <a:r>
              <a:rPr lang="en-US" sz="1800" dirty="0"/>
              <a:t>Who am I?</a:t>
            </a:r>
          </a:p>
          <a:p>
            <a:pPr marL="342900" indent="-342900" algn="l">
              <a:buFont typeface="Arial"/>
              <a:buChar char="•"/>
            </a:pPr>
            <a:r>
              <a:rPr lang="en-US" sz="1800" dirty="0"/>
              <a:t>Who are you?</a:t>
            </a:r>
          </a:p>
          <a:p>
            <a:pPr marL="342900" indent="-342900" algn="l">
              <a:buFont typeface="Arial"/>
              <a:buChar char="•"/>
            </a:pPr>
            <a:r>
              <a:rPr lang="en-US" sz="1800" dirty="0"/>
              <a:t>Daily Schedule</a:t>
            </a:r>
          </a:p>
          <a:p>
            <a:pPr marL="342900" indent="-342900" algn="l">
              <a:buFont typeface="Arial"/>
              <a:buChar char="•"/>
            </a:pPr>
            <a:r>
              <a:rPr lang="en-US" sz="1800" dirty="0"/>
              <a:t>Course Schedule and Syllabus</a:t>
            </a:r>
          </a:p>
        </p:txBody>
      </p:sp>
      <p:sp>
        <p:nvSpPr>
          <p:cNvPr id="3" name="Slide Number Placeholder 2"/>
          <p:cNvSpPr>
            <a:spLocks noGrp="1"/>
          </p:cNvSpPr>
          <p:nvPr>
            <p:ph type="sldNum" sz="quarter" idx="12"/>
          </p:nvPr>
        </p:nvSpPr>
        <p:spPr/>
        <p:txBody>
          <a:bodyPr/>
          <a:lstStyle/>
          <a:p>
            <a:fld id="{6FFFF67E-EC6A-B940-8DC7-BF9A5925C934}" type="slidenum">
              <a:rPr lang="en-US" smtClean="0"/>
              <a:t>3</a:t>
            </a:fld>
            <a:endParaRPr lang="en-US" dirty="0"/>
          </a:p>
        </p:txBody>
      </p:sp>
    </p:spTree>
    <p:extLst>
      <p:ext uri="{BB962C8B-B14F-4D97-AF65-F5344CB8AC3E}">
        <p14:creationId xmlns:p14="http://schemas.microsoft.com/office/powerpoint/2010/main" val="8142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F6D83CC-1A15-FC40-BF58-9AE22DF03811}"/>
              </a:ext>
            </a:extLst>
          </p:cNvPr>
          <p:cNvSpPr>
            <a:spLocks noGrp="1"/>
          </p:cNvSpPr>
          <p:nvPr>
            <p:ph sz="quarter" idx="12"/>
          </p:nvPr>
        </p:nvSpPr>
        <p:spPr>
          <a:xfrm>
            <a:off x="189310" y="1858990"/>
            <a:ext cx="8761809" cy="3970310"/>
          </a:xfrm>
        </p:spPr>
        <p:txBody>
          <a:bodyPr/>
          <a:lstStyle/>
          <a:p>
            <a:r>
              <a:rPr lang="en-US" dirty="0"/>
              <a:t>Chris Minnick</a:t>
            </a:r>
          </a:p>
          <a:p>
            <a:r>
              <a:rPr lang="en-US" dirty="0"/>
              <a:t>Author, trainer, developer</a:t>
            </a:r>
          </a:p>
          <a:p>
            <a:r>
              <a:rPr lang="en-US" dirty="0"/>
              <a:t>Teaching programming since 2000</a:t>
            </a:r>
          </a:p>
          <a:p>
            <a:r>
              <a:rPr lang="en-US" dirty="0"/>
              <a:t>Teaching AI since 2023</a:t>
            </a:r>
          </a:p>
          <a:p>
            <a:r>
              <a:rPr lang="en-US" dirty="0"/>
              <a:t>Author of over 25 books, and numerous courses on programming and AI.</a:t>
            </a:r>
          </a:p>
        </p:txBody>
      </p:sp>
      <p:sp>
        <p:nvSpPr>
          <p:cNvPr id="5" name="Title 4">
            <a:extLst>
              <a:ext uri="{FF2B5EF4-FFF2-40B4-BE49-F238E27FC236}">
                <a16:creationId xmlns:a16="http://schemas.microsoft.com/office/drawing/2014/main" id="{1B79E5C8-ACE7-2D48-A75B-84159CF001C2}"/>
              </a:ext>
            </a:extLst>
          </p:cNvPr>
          <p:cNvSpPr>
            <a:spLocks noGrp="1"/>
          </p:cNvSpPr>
          <p:nvPr>
            <p:ph type="title"/>
          </p:nvPr>
        </p:nvSpPr>
        <p:spPr/>
        <p:txBody>
          <a:bodyPr/>
          <a:lstStyle/>
          <a:p>
            <a:r>
              <a:rPr lang="en-US" dirty="0"/>
              <a:t>About Me</a:t>
            </a:r>
          </a:p>
        </p:txBody>
      </p:sp>
    </p:spTree>
    <p:extLst>
      <p:ext uri="{BB962C8B-B14F-4D97-AF65-F5344CB8AC3E}">
        <p14:creationId xmlns:p14="http://schemas.microsoft.com/office/powerpoint/2010/main" val="3938706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Introductions</a:t>
            </a:r>
          </a:p>
        </p:txBody>
      </p:sp>
      <p:sp>
        <p:nvSpPr>
          <p:cNvPr id="3" name="Text Placeholder 2"/>
          <p:cNvSpPr>
            <a:spLocks noGrp="1"/>
          </p:cNvSpPr>
          <p:nvPr>
            <p:ph type="body" idx="1"/>
          </p:nvPr>
        </p:nvSpPr>
        <p:spPr/>
        <p:txBody>
          <a:bodyPr/>
          <a:lstStyle/>
          <a:p>
            <a:r>
              <a:rPr lang="en-US" dirty="0"/>
              <a:t>What's your name?</a:t>
            </a:r>
          </a:p>
          <a:p>
            <a:r>
              <a:rPr lang="en-US" dirty="0"/>
              <a:t>What do you do?</a:t>
            </a:r>
          </a:p>
          <a:p>
            <a:r>
              <a:rPr lang="en-US" dirty="0"/>
              <a:t>JavaScript level (beginner, intermediate, advanced)?</a:t>
            </a:r>
          </a:p>
          <a:p>
            <a:r>
              <a:rPr lang="en-US" dirty="0"/>
              <a:t>What do you want to know at the end of this course?</a:t>
            </a:r>
          </a:p>
          <a:p>
            <a:r>
              <a:rPr lang="en-US" dirty="0"/>
              <a:t>What do you like to do for fun?</a:t>
            </a:r>
          </a:p>
          <a:p>
            <a:r>
              <a:rPr lang="en-US" dirty="0"/>
              <a:t>Favorite food?</a:t>
            </a:r>
          </a:p>
          <a:p>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5</a:t>
            </a:fld>
            <a:endParaRPr lang="en-US" dirty="0"/>
          </a:p>
        </p:txBody>
      </p:sp>
    </p:spTree>
    <p:extLst>
      <p:ext uri="{BB962C8B-B14F-4D97-AF65-F5344CB8AC3E}">
        <p14:creationId xmlns:p14="http://schemas.microsoft.com/office/powerpoint/2010/main" val="3754296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Daily Schedule (CMT)</a:t>
            </a:r>
          </a:p>
        </p:txBody>
      </p:sp>
      <p:sp>
        <p:nvSpPr>
          <p:cNvPr id="3" name="Text Placeholder 2"/>
          <p:cNvSpPr>
            <a:spLocks noGrp="1"/>
          </p:cNvSpPr>
          <p:nvPr>
            <p:ph type="body" idx="1"/>
          </p:nvPr>
        </p:nvSpPr>
        <p:spPr/>
        <p:txBody>
          <a:bodyPr/>
          <a:lstStyle/>
          <a:p>
            <a:r>
              <a:rPr lang="en-US" dirty="0"/>
              <a:t>08:30 - 10:30</a:t>
            </a:r>
          </a:p>
          <a:p>
            <a:r>
              <a:rPr lang="en-US" dirty="0"/>
              <a:t>15 minute break</a:t>
            </a:r>
          </a:p>
          <a:p>
            <a:r>
              <a:rPr lang="en-US" dirty="0"/>
              <a:t>10:45 - 12:00</a:t>
            </a:r>
          </a:p>
          <a:p>
            <a:r>
              <a:rPr lang="en-US" dirty="0"/>
              <a:t>1 hour lunch break</a:t>
            </a:r>
          </a:p>
          <a:p>
            <a:r>
              <a:rPr lang="en-US" dirty="0"/>
              <a:t>1:00 - 2:00</a:t>
            </a:r>
          </a:p>
          <a:p>
            <a:r>
              <a:rPr lang="en-US" dirty="0"/>
              <a:t>15 minute break</a:t>
            </a:r>
          </a:p>
          <a:p>
            <a:r>
              <a:rPr lang="en-US" dirty="0"/>
              <a:t>2:15 - 3:15</a:t>
            </a:r>
          </a:p>
          <a:p>
            <a:r>
              <a:rPr lang="en-US" dirty="0"/>
              <a:t>15 minute break</a:t>
            </a:r>
          </a:p>
          <a:p>
            <a:r>
              <a:rPr lang="en-US" dirty="0"/>
              <a:t>3:30 - 4:30</a:t>
            </a:r>
          </a:p>
        </p:txBody>
      </p:sp>
      <p:sp>
        <p:nvSpPr>
          <p:cNvPr id="4" name="Slide Number Placeholder 3"/>
          <p:cNvSpPr>
            <a:spLocks noGrp="1"/>
          </p:cNvSpPr>
          <p:nvPr>
            <p:ph type="sldNum" sz="quarter" idx="12"/>
          </p:nvPr>
        </p:nvSpPr>
        <p:spPr/>
        <p:txBody>
          <a:bodyPr/>
          <a:lstStyle/>
          <a:p>
            <a:fld id="{A839F4A7-500C-EC42-AE23-BEE4487EA55E}" type="slidenum">
              <a:rPr lang="en-US" smtClean="0"/>
              <a:t>6</a:t>
            </a:fld>
            <a:endParaRPr lang="en-US" dirty="0"/>
          </a:p>
        </p:txBody>
      </p:sp>
    </p:spTree>
    <p:extLst>
      <p:ext uri="{BB962C8B-B14F-4D97-AF65-F5344CB8AC3E}">
        <p14:creationId xmlns:p14="http://schemas.microsoft.com/office/powerpoint/2010/main" val="727647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p>
        </p:txBody>
      </p:sp>
      <p:sp>
        <p:nvSpPr>
          <p:cNvPr id="3" name="Text Placeholder 2"/>
          <p:cNvSpPr>
            <a:spLocks noGrp="1"/>
          </p:cNvSpPr>
          <p:nvPr>
            <p:ph type="body" idx="1"/>
          </p:nvPr>
        </p:nvSpPr>
        <p:spPr/>
        <p:txBody>
          <a:bodyPr wrap="square">
            <a:normAutofit/>
          </a:bodyPr>
          <a:lstStyle/>
          <a:p>
            <a:r>
              <a:rPr lang="en-US" sz="3200" dirty="0"/>
              <a:t>Topics Covered in this Course</a:t>
            </a:r>
          </a:p>
          <a:p>
            <a:pPr lvl="1">
              <a:lnSpc>
                <a:spcPts val="3000"/>
              </a:lnSpc>
              <a:spcBef>
                <a:spcPts val="300"/>
              </a:spcBef>
              <a:spcAft>
                <a:spcPts val="0"/>
              </a:spcAft>
            </a:pPr>
            <a:r>
              <a:rPr lang="en-US" sz="2800" dirty="0"/>
              <a:t>Modern JavaScript, DOM and async/await</a:t>
            </a:r>
          </a:p>
          <a:p>
            <a:pPr lvl="1">
              <a:lnSpc>
                <a:spcPts val="3000"/>
              </a:lnSpc>
              <a:spcBef>
                <a:spcPts val="300"/>
              </a:spcBef>
              <a:spcAft>
                <a:spcPts val="0"/>
              </a:spcAft>
            </a:pPr>
            <a:r>
              <a:rPr lang="en-US" sz="2800" dirty="0"/>
              <a:t>Node.js, </a:t>
            </a:r>
            <a:r>
              <a:rPr lang="en-US" sz="2800" dirty="0" err="1"/>
              <a:t>npm</a:t>
            </a:r>
            <a:r>
              <a:rPr lang="en-US" sz="2800" dirty="0"/>
              <a:t>, Vite and build tooling</a:t>
            </a:r>
          </a:p>
          <a:p>
            <a:pPr lvl="1">
              <a:lnSpc>
                <a:spcPts val="3000"/>
              </a:lnSpc>
              <a:spcBef>
                <a:spcPts val="300"/>
              </a:spcBef>
              <a:spcAft>
                <a:spcPts val="0"/>
              </a:spcAft>
            </a:pPr>
            <a:r>
              <a:rPr lang="en-US" sz="2800" dirty="0" err="1"/>
              <a:t>Vue.js</a:t>
            </a:r>
            <a:r>
              <a:rPr lang="en-US" sz="2800" dirty="0"/>
              <a:t> templates, directives, forms and styling</a:t>
            </a:r>
          </a:p>
          <a:p>
            <a:pPr lvl="1">
              <a:lnSpc>
                <a:spcPts val="3000"/>
              </a:lnSpc>
              <a:spcBef>
                <a:spcPts val="300"/>
              </a:spcBef>
              <a:spcAft>
                <a:spcPts val="0"/>
              </a:spcAft>
            </a:pPr>
            <a:r>
              <a:rPr lang="en-US" sz="2800" dirty="0"/>
              <a:t>Composition API, reactivity and lifecycle hooks</a:t>
            </a:r>
          </a:p>
          <a:p>
            <a:pPr lvl="1">
              <a:lnSpc>
                <a:spcPts val="3000"/>
              </a:lnSpc>
              <a:spcBef>
                <a:spcPts val="300"/>
              </a:spcBef>
              <a:spcAft>
                <a:spcPts val="0"/>
              </a:spcAft>
            </a:pPr>
            <a:r>
              <a:rPr lang="en-US" sz="2800" dirty="0"/>
              <a:t>Components, props, slots and </a:t>
            </a:r>
            <a:r>
              <a:rPr lang="en-US" sz="2800" dirty="0" err="1"/>
              <a:t>composables</a:t>
            </a:r>
            <a:endParaRPr lang="en-US" sz="2800" dirty="0"/>
          </a:p>
          <a:p>
            <a:pPr lvl="1">
              <a:lnSpc>
                <a:spcPts val="3000"/>
              </a:lnSpc>
              <a:spcBef>
                <a:spcPts val="300"/>
              </a:spcBef>
              <a:spcAft>
                <a:spcPts val="0"/>
              </a:spcAft>
            </a:pPr>
            <a:r>
              <a:rPr lang="en-US" sz="2800" dirty="0" err="1"/>
              <a:t>Pinia</a:t>
            </a:r>
            <a:r>
              <a:rPr lang="en-US" sz="2800" dirty="0"/>
              <a:t> state management, Vue Router and APIs</a:t>
            </a:r>
          </a:p>
          <a:p>
            <a:pPr lvl="1">
              <a:lnSpc>
                <a:spcPts val="3000"/>
              </a:lnSpc>
              <a:spcBef>
                <a:spcPts val="300"/>
              </a:spcBef>
              <a:spcAft>
                <a:spcPts val="0"/>
              </a:spcAft>
            </a:pPr>
            <a:r>
              <a:rPr lang="en-US" sz="2800" dirty="0"/>
              <a:t>Debugging with browser and Vue </a:t>
            </a:r>
            <a:r>
              <a:rPr lang="en-US" sz="2800" dirty="0" err="1"/>
              <a:t>DevTools</a:t>
            </a:r>
            <a:endParaRPr lang="en-US" sz="2800" dirty="0"/>
          </a:p>
          <a:p>
            <a:pPr lvl="1">
              <a:lnSpc>
                <a:spcPts val="3000"/>
              </a:lnSpc>
              <a:spcBef>
                <a:spcPts val="300"/>
              </a:spcBef>
              <a:spcAft>
                <a:spcPts val="0"/>
              </a:spcAft>
            </a:pPr>
            <a:r>
              <a:rPr lang="en-US" sz="2800" dirty="0" err="1"/>
              <a:t>ESLint</a:t>
            </a:r>
            <a:r>
              <a:rPr lang="en-US" sz="2800" dirty="0"/>
              <a:t>, TDD, </a:t>
            </a:r>
            <a:r>
              <a:rPr lang="en-US" sz="2800" dirty="0" err="1"/>
              <a:t>Vitest</a:t>
            </a:r>
            <a:r>
              <a:rPr lang="en-US" sz="2800" dirty="0"/>
              <a:t> and Vue Test Utils</a:t>
            </a:r>
          </a:p>
          <a:p>
            <a:pPr lvl="1">
              <a:lnSpc>
                <a:spcPts val="3000"/>
              </a:lnSpc>
              <a:spcBef>
                <a:spcPts val="300"/>
              </a:spcBef>
              <a:spcAft>
                <a:spcPts val="0"/>
              </a:spcAft>
            </a:pPr>
            <a:r>
              <a:rPr lang="en-US" sz="2800" dirty="0"/>
              <a:t>Transitions and animations</a:t>
            </a:r>
          </a:p>
        </p:txBody>
      </p:sp>
      <p:sp>
        <p:nvSpPr>
          <p:cNvPr id="4" name="Slide Number Placeholder 3"/>
          <p:cNvSpPr>
            <a:spLocks noGrp="1"/>
          </p:cNvSpPr>
          <p:nvPr>
            <p:ph type="sldNum" sz="quarter" idx="12"/>
          </p:nvPr>
        </p:nvSpPr>
        <p:spPr/>
        <p:txBody>
          <a:bodyPr/>
          <a:lstStyle/>
          <a:p>
            <a:fld id="{A839F4A7-500C-EC42-AE23-BEE4487EA55E}" type="slidenum">
              <a:rPr lang="en-US" smtClean="0"/>
              <a:t>7</a:t>
            </a:fld>
            <a:endParaRPr lang="en-US" dirty="0"/>
          </a:p>
        </p:txBody>
      </p:sp>
    </p:spTree>
    <p:extLst>
      <p:ext uri="{BB962C8B-B14F-4D97-AF65-F5344CB8AC3E}">
        <p14:creationId xmlns:p14="http://schemas.microsoft.com/office/powerpoint/2010/main" val="3015212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What's New in JavaScript (aka ECMAScript)?</a:t>
            </a:r>
          </a:p>
        </p:txBody>
      </p:sp>
      <p:sp>
        <p:nvSpPr>
          <p:cNvPr id="3" name="Text Placeholder 2"/>
          <p:cNvSpPr>
            <a:spLocks noGrp="1"/>
          </p:cNvSpPr>
          <p:nvPr>
            <p:ph type="body" idx="1"/>
          </p:nvPr>
        </p:nvSpPr>
        <p:spPr/>
        <p:txBody>
          <a:bodyPr>
            <a:normAutofit lnSpcReduction="10000"/>
          </a:bodyPr>
          <a:lstStyle/>
          <a:p>
            <a:r>
              <a:rPr dirty="0"/>
              <a:t>ES2015 (aka ES6) introduced many new features, including:</a:t>
            </a:r>
            <a:endParaRPr lang="en-US" sz="2400" dirty="0"/>
          </a:p>
          <a:p>
            <a:pPr lvl="1"/>
            <a:r>
              <a:rPr dirty="0"/>
              <a:t>Arrow functions</a:t>
            </a:r>
            <a:endParaRPr lang="en-US" sz="2400" dirty="0"/>
          </a:p>
          <a:p>
            <a:pPr lvl="1"/>
            <a:r>
              <a:rPr dirty="0"/>
              <a:t>Classes</a:t>
            </a:r>
            <a:endParaRPr lang="en-US" sz="2400" dirty="0"/>
          </a:p>
          <a:p>
            <a:pPr lvl="1"/>
            <a:r>
              <a:rPr dirty="0"/>
              <a:t>Block-scoped binding constructs (let and const)</a:t>
            </a:r>
            <a:endParaRPr lang="en-US" sz="2400" dirty="0"/>
          </a:p>
          <a:p>
            <a:pPr lvl="1"/>
            <a:r>
              <a:rPr dirty="0"/>
              <a:t>Iterators</a:t>
            </a:r>
            <a:endParaRPr lang="en-US" sz="2400" dirty="0"/>
          </a:p>
          <a:p>
            <a:pPr lvl="1"/>
            <a:r>
              <a:rPr dirty="0"/>
              <a:t>Modules</a:t>
            </a:r>
            <a:endParaRPr lang="en-US" sz="2400" dirty="0"/>
          </a:p>
          <a:p>
            <a:pPr lvl="1"/>
            <a:r>
              <a:rPr dirty="0"/>
              <a:t>Promises</a:t>
            </a:r>
            <a:endParaRPr lang="en-US" sz="2400" dirty="0"/>
          </a:p>
          <a:p>
            <a:r>
              <a:rPr dirty="0"/>
              <a:t>Since 2015, a new version is released annually</a:t>
            </a:r>
            <a:endParaRPr lang="en-US" sz="2400" dirty="0"/>
          </a:p>
          <a:p>
            <a:pPr lvl="1"/>
            <a:r>
              <a:rPr dirty="0"/>
              <a:t>ES2020: optional chaining (?.), </a:t>
            </a:r>
            <a:r>
              <a:rPr dirty="0" err="1"/>
              <a:t>nullish</a:t>
            </a:r>
            <a:r>
              <a:rPr dirty="0"/>
              <a:t> coalescing (??)</a:t>
            </a:r>
            <a:endParaRPr lang="en-US" sz="2400" dirty="0"/>
          </a:p>
          <a:p>
            <a:pPr lvl="1"/>
            <a:r>
              <a:rPr dirty="0"/>
              <a:t>ES2021: </a:t>
            </a:r>
            <a:r>
              <a:rPr dirty="0" err="1"/>
              <a:t>String.replaceAll</a:t>
            </a:r>
            <a:r>
              <a:rPr dirty="0"/>
              <a:t>, logical assignment</a:t>
            </a:r>
            <a:endParaRPr lang="en-US" sz="2400" dirty="0"/>
          </a:p>
          <a:p>
            <a:pPr lvl="1"/>
            <a:r>
              <a:rPr dirty="0"/>
              <a:t>ES2022: top-level await, class fields, </a:t>
            </a:r>
            <a:r>
              <a:rPr dirty="0" err="1"/>
              <a:t>Array.at</a:t>
            </a:r>
            <a:endParaRPr lang="en-US" sz="2400" dirty="0"/>
          </a:p>
          <a:p>
            <a:pPr lvl="1"/>
            <a:r>
              <a:rPr dirty="0"/>
              <a:t>ES2024: </a:t>
            </a:r>
            <a:r>
              <a:rPr dirty="0" err="1"/>
              <a:t>Object.groupBy</a:t>
            </a:r>
            <a:r>
              <a:rPr dirty="0"/>
              <a:t>, </a:t>
            </a:r>
            <a:r>
              <a:rPr dirty="0" err="1"/>
              <a:t>Promise.withResolvers</a:t>
            </a:r>
            <a:endParaRPr lang="en-US" sz="2400" dirty="0"/>
          </a:p>
        </p:txBody>
      </p:sp>
      <p:sp>
        <p:nvSpPr>
          <p:cNvPr id="4" name="Slide Number Placeholder 3"/>
          <p:cNvSpPr>
            <a:spLocks noGrp="1"/>
          </p:cNvSpPr>
          <p:nvPr>
            <p:ph type="sldNum" sz="quarter" idx="12"/>
          </p:nvPr>
        </p:nvSpPr>
        <p:spPr/>
        <p:txBody>
          <a:bodyPr/>
          <a:lstStyle/>
          <a:p>
            <a:fld id="{A839F4A7-500C-EC42-AE23-BEE4487EA55E}" type="slidenum">
              <a:rPr lang="en-US" smtClean="0"/>
              <a:t>8</a:t>
            </a:fld>
            <a:endParaRPr lang="en-US" dirty="0"/>
          </a:p>
        </p:txBody>
      </p:sp>
    </p:spTree>
    <p:extLst>
      <p:ext uri="{BB962C8B-B14F-4D97-AF65-F5344CB8AC3E}">
        <p14:creationId xmlns:p14="http://schemas.microsoft.com/office/powerpoint/2010/main" val="140073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58B5-AE9E-8844-AFA8-74365ADB426A}"/>
              </a:ext>
            </a:extLst>
          </p:cNvPr>
          <p:cNvSpPr>
            <a:spLocks noGrp="1"/>
          </p:cNvSpPr>
          <p:nvPr>
            <p:ph type="title"/>
          </p:nvPr>
        </p:nvSpPr>
        <p:spPr/>
        <p:txBody>
          <a:bodyPr/>
          <a:lstStyle/>
          <a:p>
            <a:r>
              <a:rPr lang="en-US" dirty="0"/>
              <a:t>What is Vue.js?</a:t>
            </a:r>
          </a:p>
        </p:txBody>
      </p:sp>
      <p:sp>
        <p:nvSpPr>
          <p:cNvPr id="3" name="Content Placeholder 2">
            <a:extLst>
              <a:ext uri="{FF2B5EF4-FFF2-40B4-BE49-F238E27FC236}">
                <a16:creationId xmlns:a16="http://schemas.microsoft.com/office/drawing/2014/main" id="{9E8ABF7A-137A-AE47-AC42-2C49C6543BC4}"/>
              </a:ext>
            </a:extLst>
          </p:cNvPr>
          <p:cNvSpPr>
            <a:spLocks noGrp="1"/>
          </p:cNvSpPr>
          <p:nvPr>
            <p:ph idx="1"/>
          </p:nvPr>
        </p:nvSpPr>
        <p:spPr/>
        <p:txBody>
          <a:bodyPr/>
          <a:lstStyle/>
          <a:p>
            <a:r>
              <a:rPr lang="en-US" dirty="0"/>
              <a:t>A progressive, incrementally adoptable, reactive front-end JavaScript framework</a:t>
            </a:r>
          </a:p>
          <a:p>
            <a:endParaRPr lang="en-US" dirty="0"/>
          </a:p>
        </p:txBody>
      </p:sp>
      <p:sp>
        <p:nvSpPr>
          <p:cNvPr id="4" name="Slide Number Placeholder 3">
            <a:extLst>
              <a:ext uri="{FF2B5EF4-FFF2-40B4-BE49-F238E27FC236}">
                <a16:creationId xmlns:a16="http://schemas.microsoft.com/office/drawing/2014/main" id="{AD9ED84E-08B6-994F-A864-6EA61C9FB794}"/>
              </a:ext>
            </a:extLst>
          </p:cNvPr>
          <p:cNvSpPr>
            <a:spLocks noGrp="1"/>
          </p:cNvSpPr>
          <p:nvPr>
            <p:ph type="sldNum" sz="quarter" idx="12"/>
          </p:nvPr>
        </p:nvSpPr>
        <p:spPr/>
        <p:txBody>
          <a:bodyPr/>
          <a:lstStyle/>
          <a:p>
            <a:fld id="{6FFFF67E-EC6A-B940-8DC7-BF9A5925C934}" type="slidenum">
              <a:rPr lang="en-US" smtClean="0"/>
              <a:t>9</a:t>
            </a:fld>
            <a:endParaRPr lang="en-US" dirty="0"/>
          </a:p>
        </p:txBody>
      </p:sp>
    </p:spTree>
    <p:extLst>
      <p:ext uri="{BB962C8B-B14F-4D97-AF65-F5344CB8AC3E}">
        <p14:creationId xmlns:p14="http://schemas.microsoft.com/office/powerpoint/2010/main" val="620610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C65E-A88D-194A-B7AD-CAD7FFB6D404}"/>
              </a:ext>
            </a:extLst>
          </p:cNvPr>
          <p:cNvSpPr>
            <a:spLocks noGrp="1"/>
          </p:cNvSpPr>
          <p:nvPr>
            <p:ph type="title"/>
          </p:nvPr>
        </p:nvSpPr>
        <p:spPr/>
        <p:txBody>
          <a:bodyPr/>
          <a:lstStyle/>
          <a:p>
            <a:r>
              <a:rPr lang="en-US" dirty="0"/>
              <a:t>What is Reactivity?</a:t>
            </a:r>
          </a:p>
        </p:txBody>
      </p:sp>
      <p:sp>
        <p:nvSpPr>
          <p:cNvPr id="3" name="Content Placeholder 2">
            <a:extLst>
              <a:ext uri="{FF2B5EF4-FFF2-40B4-BE49-F238E27FC236}">
                <a16:creationId xmlns:a16="http://schemas.microsoft.com/office/drawing/2014/main" id="{4A6CA8ED-E0B9-D741-AFAB-8E735E927DE1}"/>
              </a:ext>
            </a:extLst>
          </p:cNvPr>
          <p:cNvSpPr>
            <a:spLocks noGrp="1"/>
          </p:cNvSpPr>
          <p:nvPr>
            <p:ph idx="1"/>
          </p:nvPr>
        </p:nvSpPr>
        <p:spPr/>
        <p:txBody>
          <a:bodyPr/>
          <a:lstStyle/>
          <a:p>
            <a:r>
              <a:rPr lang="en-US" dirty="0"/>
              <a:t>The way an application changes the view in response to actions.</a:t>
            </a:r>
          </a:p>
          <a:p>
            <a:pPr marL="0" indent="0">
              <a:buNone/>
            </a:pPr>
            <a:endParaRPr lang="en-US" dirty="0"/>
          </a:p>
        </p:txBody>
      </p:sp>
      <p:sp>
        <p:nvSpPr>
          <p:cNvPr id="4" name="Slide Number Placeholder 3">
            <a:extLst>
              <a:ext uri="{FF2B5EF4-FFF2-40B4-BE49-F238E27FC236}">
                <a16:creationId xmlns:a16="http://schemas.microsoft.com/office/drawing/2014/main" id="{8030A98E-B138-EB45-B811-8E7EC04499B9}"/>
              </a:ext>
            </a:extLst>
          </p:cNvPr>
          <p:cNvSpPr>
            <a:spLocks noGrp="1"/>
          </p:cNvSpPr>
          <p:nvPr>
            <p:ph type="sldNum" sz="quarter" idx="12"/>
          </p:nvPr>
        </p:nvSpPr>
        <p:spPr/>
        <p:txBody>
          <a:bodyPr/>
          <a:lstStyle/>
          <a:p>
            <a:fld id="{6FFFF67E-EC6A-B940-8DC7-BF9A5925C934}" type="slidenum">
              <a:rPr lang="en-US" smtClean="0"/>
              <a:t>10</a:t>
            </a:fld>
            <a:endParaRPr lang="en-US" dirty="0"/>
          </a:p>
        </p:txBody>
      </p:sp>
    </p:spTree>
    <p:extLst>
      <p:ext uri="{BB962C8B-B14F-4D97-AF65-F5344CB8AC3E}">
        <p14:creationId xmlns:p14="http://schemas.microsoft.com/office/powerpoint/2010/main" val="1997147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EF5-B40C-B644-AE83-A3B47A98BCC5}"/>
              </a:ext>
            </a:extLst>
          </p:cNvPr>
          <p:cNvSpPr>
            <a:spLocks noGrp="1"/>
          </p:cNvSpPr>
          <p:nvPr>
            <p:ph type="title"/>
          </p:nvPr>
        </p:nvSpPr>
        <p:spPr/>
        <p:txBody>
          <a:bodyPr/>
          <a:lstStyle/>
          <a:p>
            <a:r>
              <a:rPr lang="en-US" dirty="0"/>
              <a:t>History of Vue.js</a:t>
            </a:r>
          </a:p>
        </p:txBody>
      </p:sp>
      <p:sp>
        <p:nvSpPr>
          <p:cNvPr id="3" name="Text Placeholder 2">
            <a:extLst>
              <a:ext uri="{FF2B5EF4-FFF2-40B4-BE49-F238E27FC236}">
                <a16:creationId xmlns:a16="http://schemas.microsoft.com/office/drawing/2014/main" id="{EB53C634-1713-224E-8EC8-D534DA4FBFEF}"/>
              </a:ext>
            </a:extLst>
          </p:cNvPr>
          <p:cNvSpPr>
            <a:spLocks noGrp="1"/>
          </p:cNvSpPr>
          <p:nvPr>
            <p:ph type="body" idx="1"/>
          </p:nvPr>
        </p:nvSpPr>
        <p:spPr/>
        <p:txBody>
          <a:bodyPr/>
          <a:lstStyle/>
          <a:p>
            <a:r>
              <a:t>Created by Evan You after working for Google using AngularJS</a:t>
            </a:r>
          </a:p>
          <a:p>
            <a:pPr lvl="1"/>
            <a:r>
              <a:t>"I figured, what if I could just extract the part that I really liked about Angular and build something really lightweight."</a:t>
            </a:r>
          </a:p>
          <a:p>
            <a:r>
              <a:t>Vue was originally released in February 2014.</a:t>
            </a:r>
          </a:p>
          <a:p>
            <a:r>
              <a:t>Vue 3 shipped in September 2020 and became the default in 2022.</a:t>
            </a:r>
          </a:p>
          <a:p>
            <a:r>
              <a:t>Vue 2 reached end of life on 31 December 2023.</a:t>
            </a:r>
          </a:p>
        </p:txBody>
      </p:sp>
    </p:spTree>
    <p:extLst>
      <p:ext uri="{BB962C8B-B14F-4D97-AF65-F5344CB8AC3E}">
        <p14:creationId xmlns:p14="http://schemas.microsoft.com/office/powerpoint/2010/main" val="3346972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BB8D-F255-6F42-8374-24B902219203}"/>
              </a:ext>
            </a:extLst>
          </p:cNvPr>
          <p:cNvSpPr>
            <a:spLocks noGrp="1"/>
          </p:cNvSpPr>
          <p:nvPr>
            <p:ph type="title"/>
          </p:nvPr>
        </p:nvSpPr>
        <p:spPr/>
        <p:txBody>
          <a:bodyPr/>
          <a:lstStyle/>
          <a:p>
            <a:r>
              <a:rPr lang="en-US" dirty="0"/>
              <a:t>What makes Vue different?</a:t>
            </a:r>
          </a:p>
        </p:txBody>
      </p:sp>
      <p:sp>
        <p:nvSpPr>
          <p:cNvPr id="3" name="Text Placeholder 2">
            <a:extLst>
              <a:ext uri="{FF2B5EF4-FFF2-40B4-BE49-F238E27FC236}">
                <a16:creationId xmlns:a16="http://schemas.microsoft.com/office/drawing/2014/main" id="{803A2188-E870-9F43-868E-CAB6EBEEBE8D}"/>
              </a:ext>
            </a:extLst>
          </p:cNvPr>
          <p:cNvSpPr>
            <a:spLocks noGrp="1"/>
          </p:cNvSpPr>
          <p:nvPr>
            <p:ph type="body" idx="1"/>
          </p:nvPr>
        </p:nvSpPr>
        <p:spPr/>
        <p:txBody>
          <a:bodyPr/>
          <a:lstStyle/>
          <a:p>
            <a:r>
              <a:t>Incrementally adoptable</a:t>
            </a:r>
          </a:p>
          <a:p>
            <a:pPr lvl="1"/>
            <a:r>
              <a:t>You can use it with just a script include</a:t>
            </a:r>
          </a:p>
          <a:p>
            <a:pPr lvl="1"/>
            <a:r>
              <a:t>or, you can use it with modern tooling</a:t>
            </a:r>
          </a:p>
          <a:p>
            <a:r>
              <a:t>Combines many of the best features of React and Angular</a:t>
            </a:r>
          </a:p>
          <a:p>
            <a:pPr lvl="1"/>
            <a:r>
              <a:t>Has more built-in features than React</a:t>
            </a:r>
          </a:p>
          <a:p>
            <a:pPr lvl="1"/>
            <a:r>
              <a:t>Less complex than Angular</a:t>
            </a:r>
          </a:p>
          <a:p>
            <a:r>
              <a:t>Small! (~34kb gzipped for the runtime + reactivity)</a:t>
            </a:r>
          </a:p>
          <a:p>
            <a:pPr lvl="1"/>
            <a:r>
              <a:t>Unused features are tree-shaken out of the bundle</a:t>
            </a:r>
          </a:p>
          <a:p>
            <a:r>
              <a:t>Not created by a giant corporation</a:t>
            </a:r>
          </a:p>
          <a:p>
            <a:r>
              <a:t>Governed by an independent team, funded by its users</a:t>
            </a:r>
          </a:p>
        </p:txBody>
      </p:sp>
    </p:spTree>
    <p:extLst>
      <p:ext uri="{BB962C8B-B14F-4D97-AF65-F5344CB8AC3E}">
        <p14:creationId xmlns:p14="http://schemas.microsoft.com/office/powerpoint/2010/main" val="4080800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BB9B8AC-D001-D441-A98F-3A27D5ACE988}"/>
              </a:ext>
            </a:extLst>
          </p:cNvPr>
          <p:cNvGraphicFramePr>
            <a:graphicFrameLocks noGrp="1"/>
          </p:cNvGraphicFramePr>
          <p:nvPr>
            <p:ph sz="quarter" idx="12"/>
          </p:nvPr>
        </p:nvGraphicFramePr>
        <p:xfrm>
          <a:off x="1398389" y="2095143"/>
          <a:ext cx="6343650" cy="3289946"/>
        </p:xfrm>
        <a:graphic>
          <a:graphicData uri="http://schemas.openxmlformats.org/drawingml/2006/table">
            <a:tbl>
              <a:tblPr/>
              <a:tblGrid>
                <a:gridCol w="3171825">
                  <a:extLst>
                    <a:ext uri="{9D8B030D-6E8A-4147-A177-3AD203B41FA5}">
                      <a16:colId xmlns:a16="http://schemas.microsoft.com/office/drawing/2014/main" val="1952844962"/>
                    </a:ext>
                  </a:extLst>
                </a:gridCol>
                <a:gridCol w="3171825">
                  <a:extLst>
                    <a:ext uri="{9D8B030D-6E8A-4147-A177-3AD203B41FA5}">
                      <a16:colId xmlns:a16="http://schemas.microsoft.com/office/drawing/2014/main" val="1774522729"/>
                    </a:ext>
                  </a:extLst>
                </a:gridCol>
              </a:tblGrid>
              <a:tr h="291465">
                <a:tc>
                  <a:txBody>
                    <a:bodyPr/>
                    <a:lstStyle/>
                    <a:p>
                      <a:r>
                        <a:rPr lang="en-US" sz="1400" dirty="0">
                          <a:effectLst/>
                        </a:rPr>
                        <a:t>Angular 2 + Rx</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766K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2956245248"/>
                  </a:ext>
                </a:extLst>
              </a:tr>
              <a:tr h="291465">
                <a:tc>
                  <a:txBody>
                    <a:bodyPr/>
                    <a:lstStyle/>
                    <a:p>
                      <a:r>
                        <a:rPr lang="en-US" sz="1400" dirty="0">
                          <a:effectLst/>
                        </a:rPr>
                        <a:t>Angular 2</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566K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2065909455"/>
                  </a:ext>
                </a:extLst>
              </a:tr>
              <a:tr h="291465">
                <a:tc>
                  <a:txBody>
                    <a:bodyPr/>
                    <a:lstStyle/>
                    <a:p>
                      <a:r>
                        <a:rPr lang="en-US" sz="1400" dirty="0">
                          <a:effectLst/>
                        </a:rPr>
                        <a:t>Ember 2.2.0</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435K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3141467113"/>
                  </a:ext>
                </a:extLst>
              </a:tr>
              <a:tr h="291465">
                <a:tc>
                  <a:txBody>
                    <a:bodyPr/>
                    <a:lstStyle/>
                    <a:p>
                      <a:r>
                        <a:rPr lang="en-US" sz="1400" dirty="0">
                          <a:effectLst/>
                        </a:rPr>
                        <a:t>Ember 1.13.8</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tc>
                  <a:txBody>
                    <a:bodyPr/>
                    <a:lstStyle/>
                    <a:p>
                      <a:r>
                        <a:rPr lang="en-US" sz="1400" b="0" dirty="0">
                          <a:effectLst/>
                        </a:rPr>
                        <a:t>486K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3523778043"/>
                  </a:ext>
                </a:extLst>
              </a:tr>
              <a:tr h="291465">
                <a:tc>
                  <a:txBody>
                    <a:bodyPr/>
                    <a:lstStyle/>
                    <a:p>
                      <a:r>
                        <a:rPr lang="en-US" sz="1400" dirty="0">
                          <a:effectLst/>
                        </a:rPr>
                        <a:t>Angular 1.4.5</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143K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629471433"/>
                  </a:ext>
                </a:extLst>
              </a:tr>
              <a:tr h="291465">
                <a:tc>
                  <a:txBody>
                    <a:bodyPr/>
                    <a:lstStyle/>
                    <a:p>
                      <a:r>
                        <a:rPr lang="en-US" sz="1400" dirty="0">
                          <a:effectLst/>
                        </a:rPr>
                        <a:t>React 0.14.5 + React DOM</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133K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1349662601"/>
                  </a:ext>
                </a:extLst>
              </a:tr>
              <a:tr h="291465">
                <a:tc>
                  <a:txBody>
                    <a:bodyPr/>
                    <a:lstStyle/>
                    <a:p>
                      <a:r>
                        <a:rPr lang="en-US" sz="1400" dirty="0">
                          <a:effectLst/>
                        </a:rPr>
                        <a:t>React 0.14.5 + React DOM + Redux</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139K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2842404092"/>
                  </a:ext>
                </a:extLst>
              </a:tr>
              <a:tr h="291465">
                <a:tc>
                  <a:txBody>
                    <a:bodyPr/>
                    <a:lstStyle/>
                    <a:p>
                      <a:r>
                        <a:rPr lang="en-US" sz="1400" dirty="0">
                          <a:effectLst/>
                        </a:rPr>
                        <a:t>React 16.2.0 + React DOM</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t>97.5K</a:t>
                      </a:r>
                    </a:p>
                  </a:txBody>
                  <a:tcPr marL="68580" marR="68580" marT="34290" marB="34290">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3757723379"/>
                  </a:ext>
                </a:extLst>
              </a:tr>
              <a:tr h="291465">
                <a:tc>
                  <a:txBody>
                    <a:bodyPr/>
                    <a:lstStyle/>
                    <a:p>
                      <a:r>
                        <a:rPr lang="en-US" sz="1400" dirty="0">
                          <a:effectLst/>
                        </a:rPr>
                        <a:t>Vue 2.4.2</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tc>
                  <a:txBody>
                    <a:bodyPr/>
                    <a:lstStyle/>
                    <a:p>
                      <a:r>
                        <a:rPr lang="en-US" sz="1400" b="0" dirty="0">
                          <a:effectLst/>
                        </a:rPr>
                        <a:t>58.8K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1239610446"/>
                  </a:ext>
                </a:extLst>
              </a:tr>
              <a:tr h="291465">
                <a:tc>
                  <a:txBody>
                    <a:bodyPr/>
                    <a:lstStyle/>
                    <a:p>
                      <a:r>
                        <a:rPr lang="en-US" sz="1400" dirty="0">
                          <a:effectLst/>
                        </a:rPr>
                        <a:t>Inferno 1.2.2</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tc>
                  <a:txBody>
                    <a:bodyPr/>
                    <a:lstStyle/>
                    <a:p>
                      <a:r>
                        <a:rPr lang="en-US" sz="1400" b="0" dirty="0">
                          <a:effectLst/>
                        </a:rPr>
                        <a:t>48K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1851763801"/>
                  </a:ext>
                </a:extLst>
              </a:tr>
              <a:tr h="291465">
                <a:tc>
                  <a:txBody>
                    <a:bodyPr/>
                    <a:lstStyle/>
                    <a:p>
                      <a:r>
                        <a:rPr lang="en-US" sz="1400" dirty="0">
                          <a:effectLst/>
                        </a:rPr>
                        <a:t>Preact 7.2.0</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tc>
                  <a:txBody>
                    <a:bodyPr/>
                    <a:lstStyle/>
                    <a:p>
                      <a:r>
                        <a:rPr lang="en-US" sz="1400" b="0" dirty="0">
                          <a:effectLst/>
                        </a:rPr>
                        <a:t>16K</a:t>
                      </a:r>
                    </a:p>
                  </a:txBody>
                  <a:tcPr marL="92869" marR="92869" marT="42863" marB="42863"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2692141072"/>
                  </a:ext>
                </a:extLst>
              </a:tr>
            </a:tbl>
          </a:graphicData>
        </a:graphic>
      </p:graphicFrame>
      <p:sp>
        <p:nvSpPr>
          <p:cNvPr id="3" name="Title 2">
            <a:extLst>
              <a:ext uri="{FF2B5EF4-FFF2-40B4-BE49-F238E27FC236}">
                <a16:creationId xmlns:a16="http://schemas.microsoft.com/office/drawing/2014/main" id="{3D574811-850C-5448-8B28-3D61ACE94A82}"/>
              </a:ext>
            </a:extLst>
          </p:cNvPr>
          <p:cNvSpPr>
            <a:spLocks noGrp="1"/>
          </p:cNvSpPr>
          <p:nvPr>
            <p:ph type="title"/>
          </p:nvPr>
        </p:nvSpPr>
        <p:spPr/>
        <p:txBody>
          <a:bodyPr/>
          <a:lstStyle/>
          <a:p>
            <a:r>
              <a:rPr lang="en-US" dirty="0"/>
              <a:t>Comparison of Framework File Sizes</a:t>
            </a:r>
          </a:p>
        </p:txBody>
      </p:sp>
    </p:spTree>
    <p:extLst>
      <p:ext uri="{BB962C8B-B14F-4D97-AF65-F5344CB8AC3E}">
        <p14:creationId xmlns:p14="http://schemas.microsoft.com/office/powerpoint/2010/main" val="2218118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BDDA-559C-3D42-A270-EA38CC257945}"/>
              </a:ext>
            </a:extLst>
          </p:cNvPr>
          <p:cNvSpPr>
            <a:spLocks noGrp="1"/>
          </p:cNvSpPr>
          <p:nvPr>
            <p:ph type="title"/>
          </p:nvPr>
        </p:nvSpPr>
        <p:spPr>
          <a:xfrm>
            <a:off x="628650" y="365125"/>
            <a:ext cx="7886700" cy="1325563"/>
          </a:xfrm>
        </p:spPr>
        <p:txBody>
          <a:bodyPr>
            <a:normAutofit/>
          </a:bodyPr>
          <a:lstStyle/>
          <a:p>
            <a:r>
              <a:rPr lang="en-US" dirty="0"/>
              <a:t>Vue vs React and Angular</a:t>
            </a:r>
          </a:p>
        </p:txBody>
      </p:sp>
      <p:sp>
        <p:nvSpPr>
          <p:cNvPr id="3" name="Content Placeholder 2">
            <a:extLst>
              <a:ext uri="{FF2B5EF4-FFF2-40B4-BE49-F238E27FC236}">
                <a16:creationId xmlns:a16="http://schemas.microsoft.com/office/drawing/2014/main" id="{E6AEF31E-E94D-B64E-8D4B-99AE49066047}"/>
              </a:ext>
            </a:extLst>
          </p:cNvPr>
          <p:cNvSpPr>
            <a:spLocks noGrp="1"/>
          </p:cNvSpPr>
          <p:nvPr>
            <p:ph idx="1"/>
          </p:nvPr>
        </p:nvSpPr>
        <p:spPr/>
        <p:txBody>
          <a:bodyPr>
            <a:normAutofit fontScale="92500" lnSpcReduction="10000"/>
          </a:bodyPr>
          <a:lstStyle/>
          <a:p>
            <a:r>
              <a:t>Vue and Angular have 2-way data binding</a:t>
            </a:r>
          </a:p>
          <a:p>
            <a:pPr lvl="1"/>
            <a:r>
              <a:t>Detects changes to the data model and updates the view automatically.</a:t>
            </a:r>
          </a:p>
          <a:p>
            <a:pPr lvl="1"/>
            <a:r>
              <a:t>Detects changes to the view and updates the data model automatically.</a:t>
            </a:r>
          </a:p>
          <a:p>
            <a:r>
              <a:t>React has 1-way data binding</a:t>
            </a:r>
          </a:p>
          <a:p>
            <a:pPr lvl="1"/>
            <a:r>
              <a:t>Developers write functions or use a state management system to update the model when events happen.</a:t>
            </a:r>
          </a:p>
          <a:p>
            <a:pPr lvl="1"/>
            <a:r>
              <a:t>When the component re-renders, the view is updated from state.</a:t>
            </a:r>
          </a:p>
          <a:p>
            <a:r>
              <a:t>Vue and Angular have built-in utility attributes (directives)</a:t>
            </a:r>
          </a:p>
          <a:p>
            <a:pPr lvl="1"/>
            <a:r>
              <a:t>v-for, v-on, v-bind, v-model</a:t>
            </a:r>
          </a:p>
          <a:p>
            <a:r>
              <a:t>React is mostly just pure JavaScript</a:t>
            </a:r>
          </a:p>
          <a:p>
            <a:r>
              <a:t>All three now favour a function-based, composable component style</a:t>
            </a:r>
          </a:p>
          <a:p>
            <a:pPr lvl="1"/>
            <a:r>
              <a:t>Vue: the Composition API; React: hooks; Angular: signals</a:t>
            </a:r>
          </a:p>
        </p:txBody>
      </p:sp>
    </p:spTree>
    <p:extLst>
      <p:ext uri="{BB962C8B-B14F-4D97-AF65-F5344CB8AC3E}">
        <p14:creationId xmlns:p14="http://schemas.microsoft.com/office/powerpoint/2010/main" val="2033414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6023543-AA56-D04C-9C7B-869924BF59CC}"/>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&lt;div id="app"&gt;</a:t>
            </a:r>
          </a:p>
          <a:p>
            <a:pPr marL="0" indent="0">
              <a:buNone/>
            </a:pPr>
            <a:r>
              <a:rPr lang="en-US">
                <a:latin typeface="Courier New" pitchFamily="49" charset="0"/>
              </a:rPr>
              <a:t>  {{ message }}</a:t>
            </a:r>
          </a:p>
          <a:p>
            <a:pPr marL="0" indent="0">
              <a:buNone/>
            </a:pPr>
            <a:r>
              <a:rPr lang="en-US">
                <a:latin typeface="Courier New" pitchFamily="49" charset="0"/>
              </a:rPr>
              <a:t>&lt;/div&gt;</a:t>
            </a:r>
          </a:p>
          <a:p>
            <a:endParaRPr/>
          </a:p>
          <a:p>
            <a:pPr marL="0" indent="0">
              <a:buNone/>
            </a:pPr>
            <a:r>
              <a:rPr lang="en-US">
                <a:latin typeface="Courier New" pitchFamily="49" charset="0"/>
              </a:rPr>
              <a:t>import { createApp } from 'vue'</a:t>
            </a:r>
          </a:p>
          <a:p>
            <a:endParaRPr/>
          </a:p>
          <a:p>
            <a:r>
              <a:t>createApp({</a:t>
            </a:r>
          </a:p>
          <a:p>
            <a:pPr marL="0" indent="0">
              <a:buNone/>
            </a:pPr>
            <a:r>
              <a:rPr lang="en-US">
                <a:latin typeface="Courier New" pitchFamily="49" charset="0"/>
              </a:rPr>
              <a:t>  data() {</a:t>
            </a:r>
          </a:p>
          <a:p>
            <a:pPr marL="0" indent="0">
              <a:buNone/>
            </a:pPr>
            <a:r>
              <a:rPr lang="en-US">
                <a:latin typeface="Courier New" pitchFamily="49" charset="0"/>
              </a:rPr>
              <a:t>    return { message: 'Hello Vue!' }</a:t>
            </a:r>
          </a:p>
          <a:p>
            <a:pPr marL="0" indent="0">
              <a:buNone/>
            </a:pPr>
            <a:r>
              <a:rPr lang="en-US">
                <a:latin typeface="Courier New" pitchFamily="49" charset="0"/>
              </a:rPr>
              <a:t>  }</a:t>
            </a:r>
          </a:p>
          <a:p>
            <a:r>
              <a:t>}).mount('#app')</a:t>
            </a:r>
          </a:p>
          <a:p>
            <a:endParaRPr/>
          </a:p>
          <a:p>
            <a:pPr marL="0" indent="0">
              <a:buNone/>
            </a:pPr>
            <a:r>
              <a:rPr lang="en-US">
                <a:latin typeface="Courier New" pitchFamily="49" charset="0"/>
              </a:rPr>
              <a:t>// Vue 2 wrote: new Vue({ el: "#app", data: { ... } })</a:t>
            </a:r>
          </a:p>
        </p:txBody>
      </p:sp>
      <p:sp>
        <p:nvSpPr>
          <p:cNvPr id="2" name="Title 1">
            <a:extLst>
              <a:ext uri="{FF2B5EF4-FFF2-40B4-BE49-F238E27FC236}">
                <a16:creationId xmlns:a16="http://schemas.microsoft.com/office/drawing/2014/main" id="{FFA3E5CE-4E18-984F-B0B1-F506340DCEAE}"/>
              </a:ext>
            </a:extLst>
          </p:cNvPr>
          <p:cNvSpPr>
            <a:spLocks noGrp="1"/>
          </p:cNvSpPr>
          <p:nvPr>
            <p:ph type="title"/>
          </p:nvPr>
        </p:nvSpPr>
        <p:spPr/>
        <p:txBody>
          <a:bodyPr/>
          <a:lstStyle/>
          <a:p>
            <a:r>
              <a:t>Demo: Vue.js Hello World</a:t>
            </a:r>
          </a:p>
        </p:txBody>
      </p:sp>
    </p:spTree>
    <p:extLst>
      <p:ext uri="{BB962C8B-B14F-4D97-AF65-F5344CB8AC3E}">
        <p14:creationId xmlns:p14="http://schemas.microsoft.com/office/powerpoint/2010/main" val="3145165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BF70-E52E-AA4F-A232-3144C8A89F35}"/>
              </a:ext>
            </a:extLst>
          </p:cNvPr>
          <p:cNvSpPr>
            <a:spLocks noGrp="1"/>
          </p:cNvSpPr>
          <p:nvPr>
            <p:ph type="title"/>
          </p:nvPr>
        </p:nvSpPr>
        <p:spPr/>
        <p:txBody>
          <a:bodyPr/>
          <a:lstStyle/>
          <a:p>
            <a:r>
              <a:rPr lang="en-US" dirty="0"/>
              <a:t>Virtual DOM</a:t>
            </a:r>
          </a:p>
        </p:txBody>
      </p:sp>
      <p:sp>
        <p:nvSpPr>
          <p:cNvPr id="3" name="Text Placeholder 2">
            <a:extLst>
              <a:ext uri="{FF2B5EF4-FFF2-40B4-BE49-F238E27FC236}">
                <a16:creationId xmlns:a16="http://schemas.microsoft.com/office/drawing/2014/main" id="{8DC762E1-D762-4542-BF58-7AE5ADD533B0}"/>
              </a:ext>
            </a:extLst>
          </p:cNvPr>
          <p:cNvSpPr>
            <a:spLocks noGrp="1"/>
          </p:cNvSpPr>
          <p:nvPr>
            <p:ph type="body" idx="1"/>
          </p:nvPr>
        </p:nvSpPr>
        <p:spPr/>
        <p:txBody>
          <a:bodyPr>
            <a:normAutofit/>
          </a:bodyPr>
          <a:lstStyle/>
          <a:p>
            <a:endParaRPr lang="en-US" dirty="0"/>
          </a:p>
        </p:txBody>
      </p:sp>
      <p:pic>
        <p:nvPicPr>
          <p:cNvPr id="5" name="Picture 4">
            <a:extLst>
              <a:ext uri="{FF2B5EF4-FFF2-40B4-BE49-F238E27FC236}">
                <a16:creationId xmlns:a16="http://schemas.microsoft.com/office/drawing/2014/main" id="{27349186-4B9E-4D25-EB80-D50B5B46651A}"/>
              </a:ext>
            </a:extLst>
          </p:cNvPr>
          <p:cNvPicPr>
            <a:picLocks noChangeAspect="1"/>
          </p:cNvPicPr>
          <p:nvPr/>
        </p:nvPicPr>
        <p:blipFill>
          <a:blip r:embed="rId3"/>
          <a:stretch>
            <a:fillRect/>
          </a:stretch>
        </p:blipFill>
        <p:spPr>
          <a:xfrm>
            <a:off x="609600" y="1586765"/>
            <a:ext cx="8229600" cy="4937760"/>
          </a:xfrm>
          <a:prstGeom prst="rect">
            <a:avLst/>
          </a:prstGeom>
        </p:spPr>
      </p:pic>
    </p:spTree>
    <p:extLst>
      <p:ext uri="{BB962C8B-B14F-4D97-AF65-F5344CB8AC3E}">
        <p14:creationId xmlns:p14="http://schemas.microsoft.com/office/powerpoint/2010/main" val="892003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22E5-EAAF-C144-B9D6-9C360C69BFE1}"/>
              </a:ext>
            </a:extLst>
          </p:cNvPr>
          <p:cNvSpPr>
            <a:spLocks noGrp="1"/>
          </p:cNvSpPr>
          <p:nvPr>
            <p:ph type="title"/>
          </p:nvPr>
        </p:nvSpPr>
        <p:spPr/>
        <p:txBody>
          <a:bodyPr/>
          <a:lstStyle/>
          <a:p>
            <a:r>
              <a:rPr lang="en-US" dirty="0"/>
              <a:t>What Makes Vue Virtual DOM Different?</a:t>
            </a:r>
          </a:p>
        </p:txBody>
      </p:sp>
      <p:sp>
        <p:nvSpPr>
          <p:cNvPr id="3" name="Content Placeholder 2">
            <a:extLst>
              <a:ext uri="{FF2B5EF4-FFF2-40B4-BE49-F238E27FC236}">
                <a16:creationId xmlns:a16="http://schemas.microsoft.com/office/drawing/2014/main" id="{663B7336-2923-B34F-A499-DF1ED7303247}"/>
              </a:ext>
            </a:extLst>
          </p:cNvPr>
          <p:cNvSpPr>
            <a:spLocks noGrp="1"/>
          </p:cNvSpPr>
          <p:nvPr>
            <p:ph idx="1"/>
          </p:nvPr>
        </p:nvSpPr>
        <p:spPr/>
        <p:txBody>
          <a:bodyPr>
            <a:normAutofit/>
          </a:bodyPr>
          <a:lstStyle/>
          <a:p>
            <a:r>
              <a:rPr lang="en-US" sz="2800" dirty="0"/>
              <a:t>Can be rendered at run time or precompiled</a:t>
            </a:r>
          </a:p>
          <a:p>
            <a:r>
              <a:rPr lang="en-US" sz="2800" dirty="0"/>
              <a:t>Tracks a component’s dependencies automatically</a:t>
            </a:r>
          </a:p>
          <a:p>
            <a:pPr lvl="1"/>
            <a:r>
              <a:rPr lang="en-US" sz="2400" dirty="0"/>
              <a:t>Knows when a component needs to be re-rendered </a:t>
            </a:r>
          </a:p>
          <a:p>
            <a:pPr lvl="1"/>
            <a:r>
              <a:rPr lang="en-US" sz="2400" dirty="0"/>
              <a:t>Avoids re-rendering components that haven’t changed. </a:t>
            </a:r>
          </a:p>
          <a:p>
            <a:endParaRPr lang="en-US" sz="2800" dirty="0"/>
          </a:p>
        </p:txBody>
      </p:sp>
      <p:sp>
        <p:nvSpPr>
          <p:cNvPr id="4" name="Slide Number Placeholder 3">
            <a:extLst>
              <a:ext uri="{FF2B5EF4-FFF2-40B4-BE49-F238E27FC236}">
                <a16:creationId xmlns:a16="http://schemas.microsoft.com/office/drawing/2014/main" id="{29B53F7B-CFBF-0744-A2CE-887D28C048F1}"/>
              </a:ext>
            </a:extLst>
          </p:cNvPr>
          <p:cNvSpPr>
            <a:spLocks noGrp="1"/>
          </p:cNvSpPr>
          <p:nvPr>
            <p:ph type="sldNum" sz="quarter" idx="12"/>
          </p:nvPr>
        </p:nvSpPr>
        <p:spPr/>
        <p:txBody>
          <a:bodyPr/>
          <a:lstStyle/>
          <a:p>
            <a:fld id="{6FFFF67E-EC6A-B940-8DC7-BF9A5925C934}" type="slidenum">
              <a:rPr lang="en-US" smtClean="0"/>
              <a:t>17</a:t>
            </a:fld>
            <a:endParaRPr lang="en-US" dirty="0"/>
          </a:p>
        </p:txBody>
      </p:sp>
    </p:spTree>
    <p:extLst>
      <p:ext uri="{BB962C8B-B14F-4D97-AF65-F5344CB8AC3E}">
        <p14:creationId xmlns:p14="http://schemas.microsoft.com/office/powerpoint/2010/main" val="931105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8623-3181-8342-9CF8-9401EB523FD2}"/>
              </a:ext>
            </a:extLst>
          </p:cNvPr>
          <p:cNvSpPr>
            <a:spLocks noGrp="1"/>
          </p:cNvSpPr>
          <p:nvPr>
            <p:ph type="title"/>
          </p:nvPr>
        </p:nvSpPr>
        <p:spPr/>
        <p:txBody>
          <a:bodyPr/>
          <a:lstStyle/>
          <a:p>
            <a:r>
              <a:rPr lang="en-US" dirty="0"/>
              <a:t>Vue Versions</a:t>
            </a:r>
          </a:p>
        </p:txBody>
      </p:sp>
      <p:sp>
        <p:nvSpPr>
          <p:cNvPr id="3" name="Text Placeholder 2">
            <a:extLst>
              <a:ext uri="{FF2B5EF4-FFF2-40B4-BE49-F238E27FC236}">
                <a16:creationId xmlns:a16="http://schemas.microsoft.com/office/drawing/2014/main" id="{8CD3FC2D-D459-764D-A04A-0C31A07C0796}"/>
              </a:ext>
            </a:extLst>
          </p:cNvPr>
          <p:cNvSpPr>
            <a:spLocks noGrp="1"/>
          </p:cNvSpPr>
          <p:nvPr>
            <p:ph type="body" idx="1"/>
          </p:nvPr>
        </p:nvSpPr>
        <p:spPr/>
        <p:txBody>
          <a:bodyPr/>
          <a:lstStyle/>
          <a:p>
            <a:r>
              <a:t>1.0 - improved template syntax, v-for, hot reloading, scoped CSS</a:t>
            </a:r>
          </a:p>
          <a:p>
            <a:r>
              <a:t>2.0 - virtual DOM, JSX support, server-side rendering</a:t>
            </a:r>
          </a:p>
          <a:p>
            <a:r>
              <a:t>3.0 - Composition API, Teleport, Fragments, Proxy reactivity</a:t>
            </a:r>
          </a:p>
          <a:p>
            <a:r>
              <a:t>3.2 - &lt;script setup&gt;, v-memo, custom-element build</a:t>
            </a:r>
          </a:p>
          <a:p>
            <a:r>
              <a:t>3.3 - generic components, better TypeScript for defineProps</a:t>
            </a:r>
          </a:p>
          <a:p>
            <a:r>
              <a:t>3.4 - faster parser, stabilised defineModel</a:t>
            </a:r>
          </a:p>
          <a:p>
            <a:r>
              <a:t>3.5 - reactive props destructure, lazy hydration, lower memory</a:t>
            </a:r>
          </a:p>
        </p:txBody>
      </p:sp>
    </p:spTree>
    <p:extLst>
      <p:ext uri="{BB962C8B-B14F-4D97-AF65-F5344CB8AC3E}">
        <p14:creationId xmlns:p14="http://schemas.microsoft.com/office/powerpoint/2010/main" val="826436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32787-7B41-FF40-82D9-8D5D53C1FB24}"/>
              </a:ext>
            </a:extLst>
          </p:cNvPr>
          <p:cNvSpPr>
            <a:spLocks noGrp="1"/>
          </p:cNvSpPr>
          <p:nvPr>
            <p:ph type="title"/>
          </p:nvPr>
        </p:nvSpPr>
        <p:spPr/>
        <p:txBody>
          <a:bodyPr/>
          <a:lstStyle/>
          <a:p>
            <a:r>
              <a:t>What Vue 3 Changed</a:t>
            </a:r>
          </a:p>
        </p:txBody>
      </p:sp>
      <p:sp>
        <p:nvSpPr>
          <p:cNvPr id="3" name="Text Placeholder 2">
            <a:extLst>
              <a:ext uri="{FF2B5EF4-FFF2-40B4-BE49-F238E27FC236}">
                <a16:creationId xmlns:a16="http://schemas.microsoft.com/office/drawing/2014/main" id="{15199991-D632-CA49-A4BC-3A0CC4D38E12}"/>
              </a:ext>
            </a:extLst>
          </p:cNvPr>
          <p:cNvSpPr>
            <a:spLocks noGrp="1"/>
          </p:cNvSpPr>
          <p:nvPr>
            <p:ph type="body" idx="1"/>
          </p:nvPr>
        </p:nvSpPr>
        <p:spPr/>
        <p:txBody>
          <a:bodyPr/>
          <a:lstStyle/>
          <a:p>
            <a:r>
              <a:t>Reactivity rebuilt on Proxy</a:t>
            </a:r>
          </a:p>
          <a:p>
            <a:pPr lvl="1"/>
            <a:r>
              <a:t>Added and deleted properties are now tracked; Vue.set is gone</a:t>
            </a:r>
          </a:p>
          <a:p>
            <a:r>
              <a:t>The Composition API, and &lt;script setup&gt; on top of it</a:t>
            </a:r>
          </a:p>
          <a:p>
            <a:r>
              <a:t>Fragments: a component may have more than one root element</a:t>
            </a:r>
          </a:p>
          <a:p>
            <a:r>
              <a:t>Teleport: render part of a component elsewhere in the DOM</a:t>
            </a:r>
          </a:p>
          <a:p>
            <a:r>
              <a:t>Multiple app instances, each isolated — there is no global Vue</a:t>
            </a:r>
          </a:p>
          <a:p>
            <a:r>
              <a:t>First-class TypeScript support</a:t>
            </a:r>
          </a:p>
          <a:p>
            <a:r>
              <a:t>Removed: filters, $on/$off/$once, functional component syntax</a:t>
            </a:r>
          </a:p>
        </p:txBody>
      </p:sp>
    </p:spTree>
    <p:extLst>
      <p:ext uri="{BB962C8B-B14F-4D97-AF65-F5344CB8AC3E}">
        <p14:creationId xmlns:p14="http://schemas.microsoft.com/office/powerpoint/2010/main" val="613273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r>
              <a:t>Vue QuickStart</a:t>
            </a:r>
          </a:p>
        </p:txBody>
      </p:sp>
      <p:sp>
        <p:nvSpPr>
          <p:cNvPr id="4" name="Subtitle 3"/>
          <p:cNvSpPr>
            <a:spLocks noGrp="1"/>
          </p:cNvSpPr>
          <p:nvPr>
            <p:ph type="subTitle" idx="1"/>
          </p:nvPr>
        </p:nvSpPr>
        <p:spPr/>
        <p:txBody>
          <a:bodyPr>
            <a:normAutofit/>
          </a:bodyPr>
          <a:lstStyle/>
          <a:p>
            <a:pPr algn="l"/>
            <a:r>
              <a:t>Objectives</a:t>
            </a:r>
          </a:p>
          <a:p>
            <a:pPr lvl="1" algn="l"/>
            <a:r>
              <a:t>Scaffold a project with create-vue</a:t>
            </a:r>
          </a:p>
          <a:p>
            <a:pPr lvl="1" algn="l"/>
            <a:r>
              <a:t>Understand what Vite gives you</a:t>
            </a:r>
          </a:p>
          <a:p>
            <a:pPr lvl="1" algn="l"/>
            <a:r>
              <a:t>Run, build and test a Vue app</a:t>
            </a:r>
          </a:p>
        </p:txBody>
      </p:sp>
    </p:spTree>
    <p:extLst>
      <p:ext uri="{BB962C8B-B14F-4D97-AF65-F5344CB8AC3E}">
        <p14:creationId xmlns:p14="http://schemas.microsoft.com/office/powerpoint/2010/main" val="1646651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Code Editors and IDEs</a:t>
            </a:r>
          </a:p>
        </p:txBody>
      </p:sp>
      <p:sp>
        <p:nvSpPr>
          <p:cNvPr id="5" name="Text Placeholder 4"/>
          <p:cNvSpPr>
            <a:spLocks noGrp="1"/>
          </p:cNvSpPr>
          <p:nvPr>
            <p:ph type="body" idx="1"/>
          </p:nvPr>
        </p:nvSpPr>
        <p:spPr/>
        <p:txBody>
          <a:bodyPr>
            <a:normAutofit/>
          </a:bodyPr>
          <a:lstStyle/>
          <a:p>
            <a:r>
              <a:t>Visual Studio Code</a:t>
            </a:r>
          </a:p>
          <a:p>
            <a:pPr lvl="1"/>
            <a:r>
              <a:t>With the Vue - Official extension</a:t>
            </a:r>
          </a:p>
          <a:p>
            <a:r>
              <a:t>JetBrains WebStorm / IntelliJ IDEA</a:t>
            </a:r>
          </a:p>
          <a:p>
            <a:r>
              <a:t>Zed</a:t>
            </a:r>
          </a:p>
          <a:p>
            <a:r>
              <a:t>Sublime Text</a:t>
            </a:r>
          </a:p>
          <a:p>
            <a:r>
              <a:t>Neovim / Emacs</a:t>
            </a:r>
          </a:p>
          <a:p>
            <a:r>
              <a:t>Any editor with a Volar language-server client will do.</a:t>
            </a:r>
          </a:p>
        </p:txBody>
      </p:sp>
      <p:sp>
        <p:nvSpPr>
          <p:cNvPr id="3" name="Slide Number Placeholder 2"/>
          <p:cNvSpPr>
            <a:spLocks noGrp="1"/>
          </p:cNvSpPr>
          <p:nvPr>
            <p:ph type="sldNum" sz="quarter" idx="12"/>
          </p:nvPr>
        </p:nvSpPr>
        <p:spPr/>
        <p:txBody>
          <a:bodyPr/>
          <a:lstStyle/>
          <a:p>
            <a:fld id="{6FFFF67E-EC6A-B940-8DC7-BF9A5925C934}" type="slidenum">
              <a:rPr lang="en-US" smtClean="0"/>
              <a:t>21</a:t>
            </a:fld>
            <a:endParaRPr lang="en-US" dirty="0"/>
          </a:p>
        </p:txBody>
      </p:sp>
    </p:spTree>
    <p:extLst>
      <p:ext uri="{BB962C8B-B14F-4D97-AF65-F5344CB8AC3E}">
        <p14:creationId xmlns:p14="http://schemas.microsoft.com/office/powerpoint/2010/main" val="1585310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sz="3200" dirty="0"/>
              <a:t>Lab 01: Installing Visual Studio Code</a:t>
            </a:r>
          </a:p>
        </p:txBody>
      </p:sp>
      <p:sp>
        <p:nvSpPr>
          <p:cNvPr id="3" name="Slide Number Placeholder 2"/>
          <p:cNvSpPr>
            <a:spLocks noGrp="1"/>
          </p:cNvSpPr>
          <p:nvPr>
            <p:ph type="sldNum" sz="quarter" idx="12"/>
          </p:nvPr>
        </p:nvSpPr>
        <p:spPr/>
        <p:txBody>
          <a:bodyPr/>
          <a:lstStyle/>
          <a:p>
            <a:fld id="{6FFFF67E-EC6A-B940-8DC7-BF9A5925C934}" type="slidenum">
              <a:rPr lang="en-US" smtClean="0"/>
              <a:t>22</a:t>
            </a:fld>
            <a:endParaRPr lang="en-US" dirty="0"/>
          </a:p>
        </p:txBody>
      </p:sp>
      <p:pic>
        <p:nvPicPr>
          <p:cNvPr id="4" name="Content Placeholder 8">
            <a:extLst>
              <a:ext uri="{FF2B5EF4-FFF2-40B4-BE49-F238E27FC236}">
                <a16:creationId xmlns:a16="http://schemas.microsoft.com/office/drawing/2014/main" id="{DCC60875-8339-B4DE-2CF3-5706F06033E6}"/>
              </a:ext>
            </a:extLst>
          </p:cNvPr>
          <p:cNvPicPr>
            <a:picLocks noChangeAspect="1"/>
          </p:cNvPicPr>
          <p:nvPr/>
        </p:nvPicPr>
        <p:blipFill>
          <a:blip r:embed="rId3"/>
          <a:stretch>
            <a:fillRect/>
          </a:stretch>
        </p:blipFill>
        <p:spPr>
          <a:xfrm>
            <a:off x="1803097" y="1752600"/>
            <a:ext cx="5842606" cy="4525963"/>
          </a:xfrm>
          <a:prstGeom prst="rect">
            <a:avLst/>
          </a:prstGeom>
        </p:spPr>
      </p:pic>
      <p:sp>
        <p:nvSpPr>
          <p:cNvPr id="6" name="Content Placeholder 5">
            <a:extLst>
              <a:ext uri="{FF2B5EF4-FFF2-40B4-BE49-F238E27FC236}">
                <a16:creationId xmlns:a16="http://schemas.microsoft.com/office/drawing/2014/main" id="{BE452317-A928-CDC4-A810-9FCDA402A37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035015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012AB-9B1C-0647-8FB0-6A658BA2C210}"/>
              </a:ext>
            </a:extLst>
          </p:cNvPr>
          <p:cNvSpPr>
            <a:spLocks noGrp="1"/>
          </p:cNvSpPr>
          <p:nvPr>
            <p:ph type="title"/>
          </p:nvPr>
        </p:nvSpPr>
        <p:spPr/>
        <p:txBody>
          <a:bodyPr/>
          <a:lstStyle/>
          <a:p>
            <a:r>
              <a:t>Vite</a:t>
            </a:r>
          </a:p>
        </p:txBody>
      </p:sp>
      <p:sp>
        <p:nvSpPr>
          <p:cNvPr id="3" name="Text Placeholder 2">
            <a:extLst>
              <a:ext uri="{FF2B5EF4-FFF2-40B4-BE49-F238E27FC236}">
                <a16:creationId xmlns:a16="http://schemas.microsoft.com/office/drawing/2014/main" id="{C9CAF941-612E-3742-8C95-C42BA3C7FD39}"/>
              </a:ext>
            </a:extLst>
          </p:cNvPr>
          <p:cNvSpPr>
            <a:spLocks noGrp="1"/>
          </p:cNvSpPr>
          <p:nvPr>
            <p:ph type="body" idx="1"/>
          </p:nvPr>
        </p:nvSpPr>
        <p:spPr/>
        <p:txBody>
          <a:bodyPr/>
          <a:lstStyle/>
          <a:p>
            <a:r>
              <a:rPr dirty="0"/>
              <a:t>The build tool behind the current Vue tooling</a:t>
            </a:r>
          </a:p>
          <a:p>
            <a:r>
              <a:rPr dirty="0"/>
              <a:t>Development: serves your source as native ES modules</a:t>
            </a:r>
          </a:p>
          <a:p>
            <a:pPr lvl="1"/>
            <a:r>
              <a:rPr dirty="0"/>
              <a:t>No bundling step, so startup and reloads stay fast as the app grows</a:t>
            </a:r>
          </a:p>
          <a:p>
            <a:pPr lvl="1"/>
            <a:r>
              <a:rPr dirty="0"/>
              <a:t>Hot module replacement that keeps component state</a:t>
            </a:r>
          </a:p>
          <a:p>
            <a:r>
              <a:rPr dirty="0"/>
              <a:t>Production: bundles and minifies with Rollup</a:t>
            </a:r>
          </a:p>
          <a:p>
            <a:r>
              <a:rPr dirty="0"/>
              <a:t>Framework-agnostic — Vue support comes from @</a:t>
            </a:r>
            <a:r>
              <a:rPr dirty="0" err="1"/>
              <a:t>vitejs</a:t>
            </a:r>
            <a:r>
              <a:rPr dirty="0"/>
              <a:t>/plugin-</a:t>
            </a:r>
            <a:r>
              <a:rPr dirty="0" err="1"/>
              <a:t>vue</a:t>
            </a:r>
            <a:endParaRPr dirty="0"/>
          </a:p>
          <a:p>
            <a:r>
              <a:rPr dirty="0"/>
              <a:t>Vue CLI, which used webpack, reached end of life at the end of 2023</a:t>
            </a:r>
          </a:p>
        </p:txBody>
      </p:sp>
    </p:spTree>
    <p:extLst>
      <p:ext uri="{BB962C8B-B14F-4D97-AF65-F5344CB8AC3E}">
        <p14:creationId xmlns:p14="http://schemas.microsoft.com/office/powerpoint/2010/main" val="788762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A545-DE6A-DC40-9A11-B7ACE3E79106}"/>
              </a:ext>
            </a:extLst>
          </p:cNvPr>
          <p:cNvSpPr>
            <a:spLocks noGrp="1"/>
          </p:cNvSpPr>
          <p:nvPr>
            <p:ph type="title"/>
          </p:nvPr>
        </p:nvSpPr>
        <p:spPr/>
        <p:txBody>
          <a:bodyPr/>
          <a:lstStyle/>
          <a:p>
            <a:r>
              <a:t>Using create-vue</a:t>
            </a:r>
          </a:p>
        </p:txBody>
      </p:sp>
      <p:sp>
        <p:nvSpPr>
          <p:cNvPr id="4" name="Content Placeholder 3">
            <a:extLst>
              <a:ext uri="{FF2B5EF4-FFF2-40B4-BE49-F238E27FC236}">
                <a16:creationId xmlns:a16="http://schemas.microsoft.com/office/drawing/2014/main" id="{475DDDBC-4AEB-4D44-BADD-09F236842209}"/>
              </a:ext>
            </a:extLst>
          </p:cNvPr>
          <p:cNvSpPr>
            <a:spLocks noGrp="1"/>
          </p:cNvSpPr>
          <p:nvPr>
            <p:ph idx="1"/>
          </p:nvPr>
        </p:nvSpPr>
        <p:spPr/>
        <p:txBody>
          <a:bodyPr/>
          <a:lstStyle/>
          <a:p>
            <a:r>
              <a:t>Scaffold a project — nothing to install globally</a:t>
            </a:r>
          </a:p>
          <a:p>
            <a:pPr lvl="1"/>
            <a:r>
              <a:t>npm create vue@latest</a:t>
            </a:r>
          </a:p>
          <a:p>
            <a:r>
              <a:t>Then, in the new directory:</a:t>
            </a:r>
          </a:p>
          <a:p>
            <a:pPr lvl="1"/>
            <a:r>
              <a:t>npm install</a:t>
            </a:r>
          </a:p>
          <a:p>
            <a:pPr lvl="1"/>
            <a:r>
              <a:t>npm run dev      # start the dev server on :5173</a:t>
            </a:r>
          </a:p>
          <a:p>
            <a:pPr lvl="1"/>
            <a:r>
              <a:t>npm run build    # production build into dist/</a:t>
            </a:r>
          </a:p>
          <a:p>
            <a:pPr lvl="1"/>
            <a:r>
              <a:t>npm run preview  # serve the production build</a:t>
            </a:r>
          </a:p>
          <a:p>
            <a:r>
              <a:t>The prompts let you add Router, Pinia, Vitest, ESLint up front</a:t>
            </a:r>
          </a:p>
        </p:txBody>
      </p:sp>
      <p:sp>
        <p:nvSpPr>
          <p:cNvPr id="3" name="Slide Number Placeholder 2">
            <a:extLst>
              <a:ext uri="{FF2B5EF4-FFF2-40B4-BE49-F238E27FC236}">
                <a16:creationId xmlns:a16="http://schemas.microsoft.com/office/drawing/2014/main" id="{74189EDE-10CB-9749-83E2-3FF153626194}"/>
              </a:ext>
            </a:extLst>
          </p:cNvPr>
          <p:cNvSpPr>
            <a:spLocks noGrp="1"/>
          </p:cNvSpPr>
          <p:nvPr>
            <p:ph type="sldNum" sz="quarter" idx="12"/>
          </p:nvPr>
        </p:nvSpPr>
        <p:spPr/>
        <p:txBody>
          <a:bodyPr/>
          <a:lstStyle/>
          <a:p>
            <a:fld id="{6FFFF67E-EC6A-B940-8DC7-BF9A5925C934}" type="slidenum">
              <a:rPr lang="en-US" smtClean="0"/>
              <a:t>24</a:t>
            </a:fld>
            <a:endParaRPr lang="en-US" dirty="0"/>
          </a:p>
        </p:txBody>
      </p:sp>
    </p:spTree>
    <p:extLst>
      <p:ext uri="{BB962C8B-B14F-4D97-AF65-F5344CB8AC3E}">
        <p14:creationId xmlns:p14="http://schemas.microsoft.com/office/powerpoint/2010/main" val="1511814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21B7-2E73-CE41-8E41-02575CB3EAFD}"/>
              </a:ext>
            </a:extLst>
          </p:cNvPr>
          <p:cNvSpPr>
            <a:spLocks noGrp="1"/>
          </p:cNvSpPr>
          <p:nvPr>
            <p:ph type="title"/>
          </p:nvPr>
        </p:nvSpPr>
        <p:spPr/>
        <p:txBody>
          <a:bodyPr/>
          <a:lstStyle/>
          <a:p>
            <a:r>
              <a:t>Lab 02: Get Started with Vite</a:t>
            </a:r>
          </a:p>
        </p:txBody>
      </p:sp>
      <p:sp>
        <p:nvSpPr>
          <p:cNvPr id="3" name="Text Placeholder 2">
            <a:extLst>
              <a:ext uri="{FF2B5EF4-FFF2-40B4-BE49-F238E27FC236}">
                <a16:creationId xmlns:a16="http://schemas.microsoft.com/office/drawing/2014/main" id="{F7B5350E-92BD-434A-9A76-A93BC9FA0B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1CEEA2-2395-1D4B-9640-97CBBEB288E8}"/>
              </a:ext>
            </a:extLst>
          </p:cNvPr>
          <p:cNvSpPr>
            <a:spLocks noGrp="1"/>
          </p:cNvSpPr>
          <p:nvPr>
            <p:ph type="sldNum" sz="quarter" idx="12"/>
          </p:nvPr>
        </p:nvSpPr>
        <p:spPr/>
        <p:txBody>
          <a:bodyPr/>
          <a:lstStyle/>
          <a:p>
            <a:fld id="{A839F4A7-500C-EC42-AE23-BEE4487EA55E}" type="slidenum">
              <a:rPr lang="en-US" smtClean="0"/>
              <a:t>25</a:t>
            </a:fld>
            <a:endParaRPr lang="en-US" dirty="0"/>
          </a:p>
        </p:txBody>
      </p:sp>
    </p:spTree>
    <p:extLst>
      <p:ext uri="{BB962C8B-B14F-4D97-AF65-F5344CB8AC3E}">
        <p14:creationId xmlns:p14="http://schemas.microsoft.com/office/powerpoint/2010/main" val="2747635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8D39-E529-BC4E-8FAF-AA7AA4B9CC92}"/>
              </a:ext>
            </a:extLst>
          </p:cNvPr>
          <p:cNvSpPr>
            <a:spLocks noGrp="1"/>
          </p:cNvSpPr>
          <p:nvPr>
            <p:ph type="title"/>
          </p:nvPr>
        </p:nvSpPr>
        <p:spPr/>
        <p:txBody>
          <a:bodyPr/>
          <a:lstStyle/>
          <a:p>
            <a:r>
              <a:rPr lang="en-US" dirty="0"/>
              <a:t>Installing and Using the Vue DevTools</a:t>
            </a:r>
          </a:p>
        </p:txBody>
      </p:sp>
      <p:pic>
        <p:nvPicPr>
          <p:cNvPr id="3" name="Content Placeholder 5" descr="A screenshot of a cell phone&#10;&#10;Description automatically generated">
            <a:extLst>
              <a:ext uri="{FF2B5EF4-FFF2-40B4-BE49-F238E27FC236}">
                <a16:creationId xmlns:a16="http://schemas.microsoft.com/office/drawing/2014/main" id="{43F9D9B8-70FE-388B-74EB-84812C046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0271" y="2021682"/>
            <a:ext cx="5184686" cy="3970734"/>
          </a:xfrm>
          <a:prstGeom prst="rect">
            <a:avLst/>
          </a:prstGeom>
        </p:spPr>
      </p:pic>
      <p:sp>
        <p:nvSpPr>
          <p:cNvPr id="5" name="Content Placeholder 4">
            <a:extLst>
              <a:ext uri="{FF2B5EF4-FFF2-40B4-BE49-F238E27FC236}">
                <a16:creationId xmlns:a16="http://schemas.microsoft.com/office/drawing/2014/main" id="{54C6EE62-5385-D888-081D-A6B284754D31}"/>
              </a:ext>
            </a:extLst>
          </p:cNvPr>
          <p:cNvSpPr>
            <a:spLocks noGrp="1"/>
          </p:cNvSpPr>
          <p:nvPr>
            <p:ph sz="quarter" idx="12"/>
          </p:nvPr>
        </p:nvSpPr>
        <p:spPr/>
        <p:txBody>
          <a:bodyPr/>
          <a:lstStyle/>
          <a:p>
            <a:endParaRPr lang="en-US"/>
          </a:p>
        </p:txBody>
      </p:sp>
    </p:spTree>
    <p:extLst>
      <p:ext uri="{BB962C8B-B14F-4D97-AF65-F5344CB8AC3E}">
        <p14:creationId xmlns:p14="http://schemas.microsoft.com/office/powerpoint/2010/main" val="4266182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FBBA-BEA8-2B4B-9C4B-1A1B8D083F8E}"/>
              </a:ext>
            </a:extLst>
          </p:cNvPr>
          <p:cNvSpPr>
            <a:spLocks noGrp="1"/>
          </p:cNvSpPr>
          <p:nvPr>
            <p:ph type="title"/>
          </p:nvPr>
        </p:nvSpPr>
        <p:spPr/>
        <p:txBody>
          <a:bodyPr/>
          <a:lstStyle/>
          <a:p>
            <a:r>
              <a:t>Our Real-world Project: Conduit</a:t>
            </a:r>
          </a:p>
        </p:txBody>
      </p:sp>
      <p:sp>
        <p:nvSpPr>
          <p:cNvPr id="4" name="Slide Number Placeholder 3">
            <a:extLst>
              <a:ext uri="{FF2B5EF4-FFF2-40B4-BE49-F238E27FC236}">
                <a16:creationId xmlns:a16="http://schemas.microsoft.com/office/drawing/2014/main" id="{29C605EF-8856-B845-A783-5AA1396107F6}"/>
              </a:ext>
            </a:extLst>
          </p:cNvPr>
          <p:cNvSpPr>
            <a:spLocks noGrp="1"/>
          </p:cNvSpPr>
          <p:nvPr>
            <p:ph type="sldNum" sz="quarter" idx="12"/>
          </p:nvPr>
        </p:nvSpPr>
        <p:spPr/>
        <p:txBody>
          <a:bodyPr/>
          <a:lstStyle/>
          <a:p>
            <a:fld id="{6FFFF67E-EC6A-B940-8DC7-BF9A5925C934}" type="slidenum">
              <a:rPr lang="en-US" smtClean="0"/>
              <a:t>27</a:t>
            </a:fld>
            <a:endParaRPr lang="en-US"/>
          </a:p>
        </p:txBody>
      </p:sp>
      <p:pic>
        <p:nvPicPr>
          <p:cNvPr id="3" name="Content Placeholder 4">
            <a:extLst>
              <a:ext uri="{FF2B5EF4-FFF2-40B4-BE49-F238E27FC236}">
                <a16:creationId xmlns:a16="http://schemas.microsoft.com/office/drawing/2014/main" id="{16D94CB9-076E-D08E-CD22-B2631C6E71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21709" y="1752600"/>
            <a:ext cx="6805382" cy="4525963"/>
          </a:xfrm>
          <a:prstGeom prst="rect">
            <a:avLst/>
          </a:prstGeom>
        </p:spPr>
      </p:pic>
      <p:sp>
        <p:nvSpPr>
          <p:cNvPr id="7" name="Content Placeholder 6">
            <a:extLst>
              <a:ext uri="{FF2B5EF4-FFF2-40B4-BE49-F238E27FC236}">
                <a16:creationId xmlns:a16="http://schemas.microsoft.com/office/drawing/2014/main" id="{BD3D7CA0-CD16-A0A6-2DFB-FEDB108696A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99957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Single-File Components</a:t>
            </a:r>
          </a:p>
        </p:txBody>
      </p:sp>
      <p:sp>
        <p:nvSpPr>
          <p:cNvPr id="3" name="Content Placeholder 2"/>
          <p:cNvSpPr>
            <a:spLocks noGrp="1"/>
          </p:cNvSpPr>
          <p:nvPr>
            <p:ph idx="1"/>
          </p:nvPr>
        </p:nvSpPr>
        <p:spPr/>
        <p:txBody>
          <a:bodyPr/>
          <a:lstStyle/>
          <a:p>
            <a:r>
              <a:t>&lt;script setup&gt;   - the logic, using the Composition API</a:t>
            </a:r>
          </a:p>
          <a:p>
            <a:r>
              <a:t>&lt;template&gt;       - the markup</a:t>
            </a:r>
          </a:p>
          <a:p>
            <a:r>
              <a:t>&lt;style scoped&gt;   - CSS that applies to this component only</a:t>
            </a:r>
          </a:p>
          <a:p>
            <a:endParaRPr/>
          </a:p>
          <a:p>
            <a:r>
              <a:t>One file, one component, named after the file.</a:t>
            </a:r>
          </a:p>
          <a:p>
            <a:r>
              <a:t>Compiled at build time, so the format costs nothing at runtime.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F97F-2436-3D49-AA39-BDBBA58A4CE6}"/>
              </a:ext>
            </a:extLst>
          </p:cNvPr>
          <p:cNvSpPr>
            <a:spLocks noGrp="1"/>
          </p:cNvSpPr>
          <p:nvPr>
            <p:ph type="title"/>
          </p:nvPr>
        </p:nvSpPr>
        <p:spPr/>
        <p:txBody>
          <a:bodyPr/>
          <a:lstStyle/>
          <a:p>
            <a:r>
              <a:rPr lang="en-US" dirty="0"/>
              <a:t>Lab 03: Your First Component</a:t>
            </a:r>
          </a:p>
        </p:txBody>
      </p:sp>
      <p:sp>
        <p:nvSpPr>
          <p:cNvPr id="3" name="Content Placeholder 2">
            <a:extLst>
              <a:ext uri="{FF2B5EF4-FFF2-40B4-BE49-F238E27FC236}">
                <a16:creationId xmlns:a16="http://schemas.microsoft.com/office/drawing/2014/main" id="{1A6E199E-A6B4-6E48-AB63-AC7430D78FBC}"/>
              </a:ext>
            </a:extLst>
          </p:cNvPr>
          <p:cNvSpPr>
            <a:spLocks noGrp="1"/>
          </p:cNvSpPr>
          <p:nvPr>
            <p:ph idx="1"/>
          </p:nvPr>
        </p:nvSpPr>
        <p:spPr/>
        <p:txBody>
          <a:bodyPr/>
          <a:lstStyle/>
          <a:p>
            <a:r>
              <a:t>Modern JS frameworks use modules to create reusable components.</a:t>
            </a:r>
          </a:p>
          <a:p>
            <a:r>
              <a:t>Components are composed into user interfaces.</a:t>
            </a:r>
          </a:p>
          <a:p>
            <a:r>
              <a:t>Vue's components are called "Single File Components"</a:t>
            </a:r>
          </a:p>
          <a:p>
            <a:pPr lvl="1"/>
            <a:r>
              <a:t>They encapsulate Template, Script, and Style</a:t>
            </a:r>
          </a:p>
          <a:p>
            <a:r>
              <a:t>We write them with &lt;script setup&gt;, the Composition API syntax</a:t>
            </a:r>
          </a:p>
          <a:p>
            <a:pPr lvl="1"/>
            <a:r>
              <a:t>Every top-level binding is available to the template</a:t>
            </a:r>
          </a:p>
          <a:p>
            <a:pPr lvl="1"/>
            <a:r>
              <a:t>The import of a child component is its registration</a:t>
            </a:r>
          </a:p>
        </p:txBody>
      </p:sp>
      <p:sp>
        <p:nvSpPr>
          <p:cNvPr id="4" name="Slide Number Placeholder 3">
            <a:extLst>
              <a:ext uri="{FF2B5EF4-FFF2-40B4-BE49-F238E27FC236}">
                <a16:creationId xmlns:a16="http://schemas.microsoft.com/office/drawing/2014/main" id="{A512357F-DF6D-8746-BB19-95EC35F580E7}"/>
              </a:ext>
            </a:extLst>
          </p:cNvPr>
          <p:cNvSpPr>
            <a:spLocks noGrp="1"/>
          </p:cNvSpPr>
          <p:nvPr>
            <p:ph type="sldNum" sz="quarter" idx="12"/>
          </p:nvPr>
        </p:nvSpPr>
        <p:spPr/>
        <p:txBody>
          <a:bodyPr/>
          <a:lstStyle/>
          <a:p>
            <a:fld id="{6FFFF67E-EC6A-B940-8DC7-BF9A5925C934}" type="slidenum">
              <a:rPr lang="en-US" smtClean="0"/>
              <a:t>29</a:t>
            </a:fld>
            <a:endParaRPr lang="en-US" dirty="0"/>
          </a:p>
        </p:txBody>
      </p:sp>
    </p:spTree>
    <p:extLst>
      <p:ext uri="{BB962C8B-B14F-4D97-AF65-F5344CB8AC3E}">
        <p14:creationId xmlns:p14="http://schemas.microsoft.com/office/powerpoint/2010/main" val="3842585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52DB-3F32-5743-BD57-7215FC918BAA}"/>
              </a:ext>
            </a:extLst>
          </p:cNvPr>
          <p:cNvSpPr>
            <a:spLocks noGrp="1"/>
          </p:cNvSpPr>
          <p:nvPr>
            <p:ph type="title"/>
          </p:nvPr>
        </p:nvSpPr>
        <p:spPr/>
        <p:txBody>
          <a:bodyPr/>
          <a:lstStyle/>
          <a:p>
            <a:r>
              <a:rPr lang="en-US" dirty="0"/>
              <a:t>Lab 04: Create More Components</a:t>
            </a:r>
          </a:p>
        </p:txBody>
      </p:sp>
      <p:sp>
        <p:nvSpPr>
          <p:cNvPr id="3" name="Text Placeholder 2">
            <a:extLst>
              <a:ext uri="{FF2B5EF4-FFF2-40B4-BE49-F238E27FC236}">
                <a16:creationId xmlns:a16="http://schemas.microsoft.com/office/drawing/2014/main" id="{97F29195-2C50-A844-BB08-10C29AEE3471}"/>
              </a:ext>
            </a:extLst>
          </p:cNvPr>
          <p:cNvSpPr>
            <a:spLocks noGrp="1"/>
          </p:cNvSpPr>
          <p:nvPr>
            <p:ph type="body" idx="1"/>
          </p:nvPr>
        </p:nvSpPr>
        <p:spPr/>
        <p:txBody>
          <a:bodyPr/>
          <a:lstStyle/>
          <a:p>
            <a:r>
              <a:rPr lang="en-US" dirty="0"/>
              <a:t>Practice building more components by creating the main sections of the Conduit demo app.</a:t>
            </a:r>
          </a:p>
        </p:txBody>
      </p:sp>
    </p:spTree>
    <p:extLst>
      <p:ext uri="{BB962C8B-B14F-4D97-AF65-F5344CB8AC3E}">
        <p14:creationId xmlns:p14="http://schemas.microsoft.com/office/powerpoint/2010/main" val="1909470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52DB-3F32-5743-BD57-7215FC918BAA}"/>
              </a:ext>
            </a:extLst>
          </p:cNvPr>
          <p:cNvSpPr>
            <a:spLocks noGrp="1"/>
          </p:cNvSpPr>
          <p:nvPr>
            <p:ph type="title"/>
          </p:nvPr>
        </p:nvSpPr>
        <p:spPr/>
        <p:txBody>
          <a:bodyPr/>
          <a:lstStyle/>
          <a:p>
            <a:r>
              <a:t>Lab 05: Testing Vue</a:t>
            </a:r>
          </a:p>
        </p:txBody>
      </p:sp>
      <p:sp>
        <p:nvSpPr>
          <p:cNvPr id="3" name="Text Placeholder 2">
            <a:extLst>
              <a:ext uri="{FF2B5EF4-FFF2-40B4-BE49-F238E27FC236}">
                <a16:creationId xmlns:a16="http://schemas.microsoft.com/office/drawing/2014/main" id="{97F29195-2C50-A844-BB08-10C29AEE3471}"/>
              </a:ext>
            </a:extLst>
          </p:cNvPr>
          <p:cNvSpPr>
            <a:spLocks noGrp="1"/>
          </p:cNvSpPr>
          <p:nvPr>
            <p:ph type="body" idx="1"/>
          </p:nvPr>
        </p:nvSpPr>
        <p:spPr/>
        <p:txBody>
          <a:bodyPr/>
          <a:lstStyle/>
          <a:p>
            <a:r>
              <a:t>Write your first Vue tests with Vitest and Vue Test Utils.</a:t>
            </a:r>
          </a:p>
        </p:txBody>
      </p:sp>
    </p:spTree>
    <p:extLst>
      <p:ext uri="{BB962C8B-B14F-4D97-AF65-F5344CB8AC3E}">
        <p14:creationId xmlns:p14="http://schemas.microsoft.com/office/powerpoint/2010/main" val="2289647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lvl="0" rtl="0"/>
            <a:r>
              <a:rPr lang="en-US" dirty="0"/>
              <a:t>Node.js</a:t>
            </a:r>
          </a:p>
        </p:txBody>
      </p:sp>
      <p:sp>
        <p:nvSpPr>
          <p:cNvPr id="6" name="Subtitle 5"/>
          <p:cNvSpPr>
            <a:spLocks noGrp="1"/>
          </p:cNvSpPr>
          <p:nvPr>
            <p:ph type="subTitle" idx="1"/>
          </p:nvPr>
        </p:nvSpPr>
        <p:spPr/>
        <p:txBody>
          <a:bodyPr/>
          <a:lstStyle/>
          <a:p>
            <a:pPr algn="l"/>
            <a:r>
              <a:rPr lang="en-US" dirty="0"/>
              <a:t>Objectives</a:t>
            </a:r>
          </a:p>
          <a:p>
            <a:pPr marL="342900" indent="-342900" algn="l">
              <a:buFont typeface="Arial"/>
              <a:buChar char="•"/>
            </a:pPr>
            <a:r>
              <a:rPr lang="en-US" dirty="0"/>
              <a:t>Install Node</a:t>
            </a:r>
          </a:p>
          <a:p>
            <a:pPr marL="342900" indent="-342900" algn="l">
              <a:buFont typeface="Arial"/>
              <a:buChar char="•"/>
            </a:pPr>
            <a:r>
              <a:rPr lang="en-US" dirty="0"/>
              <a:t>Test node and get started using npm</a:t>
            </a:r>
          </a:p>
        </p:txBody>
      </p:sp>
      <p:sp>
        <p:nvSpPr>
          <p:cNvPr id="3" name="Slide Number Placeholder 2"/>
          <p:cNvSpPr>
            <a:spLocks noGrp="1"/>
          </p:cNvSpPr>
          <p:nvPr>
            <p:ph type="sldNum" sz="quarter" idx="12"/>
          </p:nvPr>
        </p:nvSpPr>
        <p:spPr/>
        <p:txBody>
          <a:bodyPr/>
          <a:lstStyle/>
          <a:p>
            <a:fld id="{6FFFF67E-EC6A-B940-8DC7-BF9A5925C934}" type="slidenum">
              <a:rPr lang="en-US" smtClean="0"/>
              <a:t>32</a:t>
            </a:fld>
            <a:endParaRPr lang="en-US" dirty="0"/>
          </a:p>
        </p:txBody>
      </p:sp>
    </p:spTree>
    <p:extLst>
      <p:ext uri="{BB962C8B-B14F-4D97-AF65-F5344CB8AC3E}">
        <p14:creationId xmlns:p14="http://schemas.microsoft.com/office/powerpoint/2010/main" val="2639213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What is Node.js?</a:t>
            </a:r>
          </a:p>
        </p:txBody>
      </p:sp>
      <p:sp>
        <p:nvSpPr>
          <p:cNvPr id="3" name="Text Placeholder 2"/>
          <p:cNvSpPr>
            <a:spLocks noGrp="1"/>
          </p:cNvSpPr>
          <p:nvPr>
            <p:ph type="body" idx="1"/>
          </p:nvPr>
        </p:nvSpPr>
        <p:spPr/>
        <p:txBody>
          <a:bodyPr>
            <a:normAutofit lnSpcReduction="10000"/>
          </a:bodyPr>
          <a:lstStyle/>
          <a:p>
            <a:r>
              <a:rPr lang="en-US" dirty="0"/>
              <a:t>JavaScript runtime</a:t>
            </a:r>
          </a:p>
          <a:p>
            <a:r>
              <a:rPr lang="en-US" dirty="0"/>
              <a:t>Built on Google Chrome's V8 JavaScript engine</a:t>
            </a:r>
          </a:p>
          <a:p>
            <a:r>
              <a:rPr lang="en-US" dirty="0"/>
              <a:t>Open-source</a:t>
            </a:r>
          </a:p>
          <a:p>
            <a:r>
              <a:rPr lang="en-US" dirty="0"/>
              <a:t>Event-driven</a:t>
            </a:r>
          </a:p>
          <a:p>
            <a:r>
              <a:rPr lang="en-US" dirty="0"/>
              <a:t>Non-blocking</a:t>
            </a:r>
          </a:p>
          <a:p>
            <a:pPr lvl="1"/>
            <a:r>
              <a:rPr lang="en-US" dirty="0"/>
              <a:t>Never waits</a:t>
            </a:r>
          </a:p>
          <a:p>
            <a:r>
              <a:rPr lang="en-US" dirty="0"/>
              <a:t>Single-threaded</a:t>
            </a:r>
          </a:p>
          <a:p>
            <a:pPr lvl="1"/>
            <a:r>
              <a:rPr lang="en-US" dirty="0"/>
              <a:t>Can handle thousands of concurrent connections with minimal overhead</a:t>
            </a:r>
          </a:p>
          <a:p>
            <a:r>
              <a:rPr lang="en-US" dirty="0"/>
              <a:t>No buffering</a:t>
            </a:r>
          </a:p>
          <a:p>
            <a:r>
              <a:rPr lang="en-US" dirty="0"/>
              <a:t>Used on the server as well as for development automation</a:t>
            </a:r>
          </a:p>
        </p:txBody>
      </p:sp>
      <p:sp>
        <p:nvSpPr>
          <p:cNvPr id="4" name="Slide Number Placeholder 3"/>
          <p:cNvSpPr>
            <a:spLocks noGrp="1"/>
          </p:cNvSpPr>
          <p:nvPr>
            <p:ph type="sldNum" sz="quarter" idx="12"/>
          </p:nvPr>
        </p:nvSpPr>
        <p:spPr/>
        <p:txBody>
          <a:bodyPr/>
          <a:lstStyle/>
          <a:p>
            <a:fld id="{A839F4A7-500C-EC42-AE23-BEE4487EA55E}" type="slidenum">
              <a:rPr lang="en-US" smtClean="0"/>
              <a:t>33</a:t>
            </a:fld>
            <a:endParaRPr lang="en-US" dirty="0"/>
          </a:p>
        </p:txBody>
      </p:sp>
    </p:spTree>
    <p:extLst>
      <p:ext uri="{BB962C8B-B14F-4D97-AF65-F5344CB8AC3E}">
        <p14:creationId xmlns:p14="http://schemas.microsoft.com/office/powerpoint/2010/main" val="1615943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Node.js Different?</a:t>
            </a:r>
          </a:p>
        </p:txBody>
      </p:sp>
      <p:sp>
        <p:nvSpPr>
          <p:cNvPr id="3" name="Content Placeholder 2"/>
          <p:cNvSpPr>
            <a:spLocks noGrp="1"/>
          </p:cNvSpPr>
          <p:nvPr>
            <p:ph idx="1"/>
          </p:nvPr>
        </p:nvSpPr>
        <p:spPr/>
        <p:txBody>
          <a:bodyPr>
            <a:normAutofit/>
          </a:bodyPr>
          <a:lstStyle/>
          <a:p>
            <a:r>
              <a:rPr lang="en-US" dirty="0"/>
              <a:t>JavaScript is single-threaded</a:t>
            </a:r>
          </a:p>
          <a:p>
            <a:r>
              <a:rPr lang="en-US" dirty="0"/>
              <a:t>A Node application has one event loop, and gives you the benefit of multithreading with async operations</a:t>
            </a:r>
          </a:p>
          <a:p>
            <a:pPr lvl="1"/>
            <a:r>
              <a:rPr lang="en-US" dirty="0"/>
              <a:t>Can handle thousands of concurrent connections with minimal overhead</a:t>
            </a:r>
          </a:p>
          <a:p>
            <a:r>
              <a:rPr lang="en-US" dirty="0"/>
              <a:t>No buffering</a:t>
            </a:r>
          </a:p>
          <a:p>
            <a:pPr lvl="1"/>
            <a:r>
              <a:rPr lang="en-US" dirty="0"/>
              <a:t>Node applications never buffer data.</a:t>
            </a:r>
          </a:p>
          <a:p>
            <a:pPr lvl="1"/>
            <a:r>
              <a:rPr lang="en-US" dirty="0"/>
              <a:t>Data is output in chunks.</a:t>
            </a:r>
          </a:p>
          <a:p>
            <a:r>
              <a:rPr lang="en-US" dirty="0"/>
              <a:t>Non-blocking</a:t>
            </a:r>
          </a:p>
          <a:p>
            <a:pPr lvl="1"/>
            <a:r>
              <a:rPr lang="en-US" dirty="0"/>
              <a:t>Node doesn't wait for data to be returned from APIs.</a:t>
            </a:r>
          </a:p>
          <a:p>
            <a:pPr lvl="1"/>
            <a:r>
              <a:rPr lang="en-US" dirty="0"/>
              <a:t>While it's possible to write blocking code in Node.js, it's discouraged.</a:t>
            </a:r>
          </a:p>
        </p:txBody>
      </p:sp>
      <p:sp>
        <p:nvSpPr>
          <p:cNvPr id="4" name="Slide Number Placeholder 3"/>
          <p:cNvSpPr>
            <a:spLocks noGrp="1"/>
          </p:cNvSpPr>
          <p:nvPr>
            <p:ph type="sldNum" sz="quarter" idx="12"/>
          </p:nvPr>
        </p:nvSpPr>
        <p:spPr/>
        <p:txBody>
          <a:bodyPr/>
          <a:lstStyle/>
          <a:p>
            <a:fld id="{6721A495-CE21-AE4A-AFC4-55FCCA1EB5E5}" type="slidenum">
              <a:rPr lang="en-US" smtClean="0"/>
              <a:t>34</a:t>
            </a:fld>
            <a:endParaRPr lang="en-US" dirty="0"/>
          </a:p>
        </p:txBody>
      </p:sp>
    </p:spTree>
    <p:extLst>
      <p:ext uri="{BB962C8B-B14F-4D97-AF65-F5344CB8AC3E}">
        <p14:creationId xmlns:p14="http://schemas.microsoft.com/office/powerpoint/2010/main" val="1232423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loop</a:t>
            </a:r>
          </a:p>
        </p:txBody>
      </p:sp>
      <p:sp>
        <p:nvSpPr>
          <p:cNvPr id="3" name="Content Placeholder 2"/>
          <p:cNvSpPr>
            <a:spLocks noGrp="1"/>
          </p:cNvSpPr>
          <p:nvPr>
            <p:ph idx="1"/>
          </p:nvPr>
        </p:nvSpPr>
        <p:spPr/>
        <p:txBody>
          <a:bodyPr/>
          <a:lstStyle/>
          <a:p>
            <a:r>
              <a:rPr lang="en-US" dirty="0"/>
              <a:t>Problem: JavaScript is single-threaded.</a:t>
            </a:r>
          </a:p>
          <a:p>
            <a:r>
              <a:rPr lang="en-US" dirty="0"/>
              <a:t>The event loop allows Node.js to perform non-blocking I/O operations.</a:t>
            </a:r>
          </a:p>
          <a:p>
            <a:pPr lvl="1"/>
            <a:r>
              <a:rPr lang="en-US" dirty="0"/>
              <a:t>Offloads operations to the system kernel when possible</a:t>
            </a:r>
          </a:p>
          <a:p>
            <a:r>
              <a:rPr lang="en-US" dirty="0"/>
              <a:t>Node initializes the event loop on startup</a:t>
            </a:r>
          </a:p>
          <a:p>
            <a:r>
              <a:rPr lang="en-US" dirty="0"/>
              <a:t>Loops through 6 phases</a:t>
            </a:r>
          </a:p>
          <a:p>
            <a:r>
              <a:rPr lang="en-US" dirty="0"/>
              <a:t>Between each run of the loop, Node.js checks if it's still waiting for anything and shuts down if not.</a:t>
            </a:r>
          </a:p>
        </p:txBody>
      </p:sp>
      <p:sp>
        <p:nvSpPr>
          <p:cNvPr id="4" name="Slide Number Placeholder 3"/>
          <p:cNvSpPr>
            <a:spLocks noGrp="1"/>
          </p:cNvSpPr>
          <p:nvPr>
            <p:ph type="sldNum" sz="quarter" idx="12"/>
          </p:nvPr>
        </p:nvSpPr>
        <p:spPr/>
        <p:txBody>
          <a:bodyPr/>
          <a:lstStyle/>
          <a:p>
            <a:fld id="{6721A495-CE21-AE4A-AFC4-55FCCA1EB5E5}" type="slidenum">
              <a:rPr lang="en-US" smtClean="0"/>
              <a:t>35</a:t>
            </a:fld>
            <a:endParaRPr lang="en-US" dirty="0"/>
          </a:p>
        </p:txBody>
      </p:sp>
    </p:spTree>
    <p:extLst>
      <p:ext uri="{BB962C8B-B14F-4D97-AF65-F5344CB8AC3E}">
        <p14:creationId xmlns:p14="http://schemas.microsoft.com/office/powerpoint/2010/main" val="2621516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Node.js Different?</a:t>
            </a:r>
          </a:p>
        </p:txBody>
      </p:sp>
      <p:sp>
        <p:nvSpPr>
          <p:cNvPr id="3" name="Content Placeholder 2"/>
          <p:cNvSpPr>
            <a:spLocks noGrp="1"/>
          </p:cNvSpPr>
          <p:nvPr>
            <p:ph idx="1"/>
          </p:nvPr>
        </p:nvSpPr>
        <p:spPr/>
        <p:txBody>
          <a:bodyPr>
            <a:normAutofit/>
          </a:bodyPr>
          <a:lstStyle/>
          <a:p>
            <a:r>
              <a:rPr lang="en-US" dirty="0"/>
              <a:t>JavaScript is single-threaded</a:t>
            </a:r>
          </a:p>
          <a:p>
            <a:r>
              <a:rPr lang="en-US" dirty="0"/>
              <a:t>A Node application has one event loop, and gives you the benefit of multithreading with async operations</a:t>
            </a:r>
          </a:p>
          <a:p>
            <a:pPr lvl="1"/>
            <a:r>
              <a:rPr lang="en-US" dirty="0"/>
              <a:t>Can handle thousands of concurrent connections with minimal overhead</a:t>
            </a:r>
          </a:p>
          <a:p>
            <a:r>
              <a:rPr lang="en-US" dirty="0"/>
              <a:t>No buffering</a:t>
            </a:r>
          </a:p>
          <a:p>
            <a:pPr lvl="1"/>
            <a:r>
              <a:rPr lang="en-US" dirty="0"/>
              <a:t>Node applications never buffer data.</a:t>
            </a:r>
          </a:p>
          <a:p>
            <a:pPr lvl="1"/>
            <a:r>
              <a:rPr lang="en-US" dirty="0"/>
              <a:t>Data is output in chunks.</a:t>
            </a:r>
          </a:p>
          <a:p>
            <a:r>
              <a:rPr lang="en-US" dirty="0"/>
              <a:t>Non-blocking</a:t>
            </a:r>
          </a:p>
          <a:p>
            <a:pPr lvl="1"/>
            <a:r>
              <a:rPr lang="en-US" dirty="0"/>
              <a:t>Node doesn't wait for data to be returned from APIs.</a:t>
            </a:r>
          </a:p>
          <a:p>
            <a:pPr lvl="1"/>
            <a:r>
              <a:rPr lang="en-US" dirty="0"/>
              <a:t>While it's possible to write blocking code in Node.js, it's discouraged.</a:t>
            </a:r>
          </a:p>
        </p:txBody>
      </p:sp>
      <p:sp>
        <p:nvSpPr>
          <p:cNvPr id="4" name="Slide Number Placeholder 3"/>
          <p:cNvSpPr>
            <a:spLocks noGrp="1"/>
          </p:cNvSpPr>
          <p:nvPr>
            <p:ph type="sldNum" sz="quarter" idx="12"/>
          </p:nvPr>
        </p:nvSpPr>
        <p:spPr/>
        <p:txBody>
          <a:bodyPr/>
          <a:lstStyle/>
          <a:p>
            <a:fld id="{6721A495-CE21-AE4A-AFC4-55FCCA1EB5E5}" type="slidenum">
              <a:rPr lang="en-US" smtClean="0"/>
              <a:t>36</a:t>
            </a:fld>
            <a:endParaRPr lang="en-US" dirty="0"/>
          </a:p>
        </p:txBody>
      </p:sp>
    </p:spTree>
    <p:extLst>
      <p:ext uri="{BB962C8B-B14F-4D97-AF65-F5344CB8AC3E}">
        <p14:creationId xmlns:p14="http://schemas.microsoft.com/office/powerpoint/2010/main" val="1433900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Loop Phases</a:t>
            </a:r>
          </a:p>
        </p:txBody>
      </p:sp>
      <p:sp>
        <p:nvSpPr>
          <p:cNvPr id="3" name="Text Placeholder 2"/>
          <p:cNvSpPr>
            <a:spLocks noGrp="1"/>
          </p:cNvSpPr>
          <p:nvPr>
            <p:ph type="body" idx="1"/>
          </p:nvPr>
        </p:nvSpPr>
        <p:spPr/>
        <p:txBody>
          <a:bodyPr/>
          <a:lstStyle/>
          <a:p>
            <a:pPr marL="571500" indent="-457200">
              <a:buFont typeface="+mj-lt"/>
              <a:buAutoNum type="arabicPeriod"/>
            </a:pPr>
            <a:r>
              <a:rPr lang="en-US" dirty="0"/>
              <a:t>timers - executes setTimeout() and setInterval() callbacks</a:t>
            </a:r>
          </a:p>
          <a:p>
            <a:pPr marL="571500" indent="-457200">
              <a:buFont typeface="+mj-lt"/>
              <a:buAutoNum type="arabicPeriod"/>
            </a:pPr>
            <a:r>
              <a:rPr lang="en-US" dirty="0"/>
              <a:t>I/O callbacks - executes most other callbacks</a:t>
            </a:r>
          </a:p>
          <a:p>
            <a:pPr lvl="1"/>
            <a:r>
              <a:rPr lang="en-US" dirty="0"/>
              <a:t>except close callbacks and setImmediate()</a:t>
            </a:r>
          </a:p>
          <a:p>
            <a:pPr marL="571500" indent="-457200">
              <a:buFont typeface="+mj-lt"/>
              <a:buAutoNum type="arabicPeriod"/>
            </a:pPr>
            <a:r>
              <a:rPr lang="en-US" dirty="0"/>
              <a:t>idle, prepare - internal use</a:t>
            </a:r>
          </a:p>
          <a:p>
            <a:pPr marL="571500" indent="-457200">
              <a:buFont typeface="+mj-lt"/>
              <a:buAutoNum type="arabicPeriod"/>
            </a:pPr>
            <a:r>
              <a:rPr lang="en-US" dirty="0"/>
              <a:t>poll - retrieve new I/O events</a:t>
            </a:r>
          </a:p>
          <a:p>
            <a:pPr marL="571500" indent="-457200">
              <a:buFont typeface="+mj-lt"/>
              <a:buAutoNum type="arabicPeriod"/>
            </a:pPr>
            <a:r>
              <a:rPr lang="en-US" dirty="0"/>
              <a:t>check - setImmediate() callbacks are executed</a:t>
            </a:r>
          </a:p>
          <a:p>
            <a:pPr marL="571500" indent="-457200">
              <a:buFont typeface="+mj-lt"/>
              <a:buAutoNum type="arabicPeriod"/>
            </a:pPr>
            <a:r>
              <a:rPr lang="en-US" dirty="0"/>
              <a:t>close callbacks - for example socket.on('close', ...)</a:t>
            </a:r>
          </a:p>
        </p:txBody>
      </p:sp>
      <p:sp>
        <p:nvSpPr>
          <p:cNvPr id="4" name="Slide Number Placeholder 3"/>
          <p:cNvSpPr>
            <a:spLocks noGrp="1"/>
          </p:cNvSpPr>
          <p:nvPr>
            <p:ph type="sldNum" sz="quarter" idx="12"/>
          </p:nvPr>
        </p:nvSpPr>
        <p:spPr/>
        <p:txBody>
          <a:bodyPr/>
          <a:lstStyle/>
          <a:p>
            <a:fld id="{1D21158B-3A13-A246-958D-D43CDD4D1464}" type="slidenum">
              <a:rPr lang="en-US" smtClean="0"/>
              <a:t>37</a:t>
            </a:fld>
            <a:endParaRPr lang="en-US" dirty="0"/>
          </a:p>
        </p:txBody>
      </p:sp>
    </p:spTree>
    <p:extLst>
      <p:ext uri="{BB962C8B-B14F-4D97-AF65-F5344CB8AC3E}">
        <p14:creationId xmlns:p14="http://schemas.microsoft.com/office/powerpoint/2010/main" val="2017676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233092" cy="784964"/>
          </a:xfrm>
        </p:spPr>
        <p:txBody>
          <a:bodyPr/>
          <a:lstStyle/>
          <a:p>
            <a:r>
              <a:rPr lang="en-US" dirty="0"/>
              <a:t>Event Loop</a:t>
            </a:r>
          </a:p>
        </p:txBody>
      </p:sp>
      <p:sp>
        <p:nvSpPr>
          <p:cNvPr id="4" name="Slide Number Placeholder 3"/>
          <p:cNvSpPr>
            <a:spLocks noGrp="1"/>
          </p:cNvSpPr>
          <p:nvPr>
            <p:ph type="sldNum" sz="quarter" idx="12"/>
          </p:nvPr>
        </p:nvSpPr>
        <p:spPr/>
        <p:txBody>
          <a:bodyPr/>
          <a:lstStyle/>
          <a:p>
            <a:fld id="{1D21158B-3A13-A246-958D-D43CDD4D1464}" type="slidenum">
              <a:rPr lang="en-US" smtClean="0"/>
              <a:t>38</a:t>
            </a:fld>
            <a:endParaRPr lang="en-US" dirty="0"/>
          </a:p>
        </p:txBody>
      </p:sp>
      <p:graphicFrame>
        <p:nvGraphicFramePr>
          <p:cNvPr id="5" name="Diagram 4"/>
          <p:cNvGraphicFramePr/>
          <p:nvPr/>
        </p:nvGraphicFramePr>
        <p:xfrm>
          <a:off x="482104" y="1127019"/>
          <a:ext cx="7467482" cy="4812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9627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EventEmitter</a:t>
            </a:r>
          </a:p>
        </p:txBody>
      </p:sp>
      <p:sp>
        <p:nvSpPr>
          <p:cNvPr id="6" name="Text Placeholder 5"/>
          <p:cNvSpPr>
            <a:spLocks noGrp="1"/>
          </p:cNvSpPr>
          <p:nvPr>
            <p:ph type="body" idx="1"/>
          </p:nvPr>
        </p:nvSpPr>
        <p:spPr/>
        <p:txBody>
          <a:bodyPr>
            <a:normAutofit lnSpcReduction="10000"/>
          </a:bodyPr>
          <a:lstStyle/>
          <a:p>
            <a:r>
              <a:rPr lang="en-US" dirty="0"/>
              <a:t>Node is event driven.</a:t>
            </a:r>
          </a:p>
          <a:p>
            <a:r>
              <a:rPr lang="en-US" dirty="0"/>
              <a:t>EventEmitter is a class that lets you listen for events and assign actions when those events occur.</a:t>
            </a:r>
          </a:p>
          <a:p>
            <a:r>
              <a:rPr lang="en-US" dirty="0"/>
              <a:t>Very loose way of coupling different parts of your application together.</a:t>
            </a:r>
          </a:p>
          <a:p>
            <a:pPr marL="0" indent="0">
              <a:buNone/>
            </a:pPr>
            <a:r>
              <a:rPr lang="en-US" sz="1800" dirty="0">
                <a:latin typeface="Courier New"/>
                <a:cs typeface="Courier New"/>
              </a:rPr>
              <a:t>var EventEmitter = require("events").EventEmitter;</a:t>
            </a:r>
          </a:p>
          <a:p>
            <a:pPr marL="0" indent="0">
              <a:buNone/>
            </a:pPr>
            <a:r>
              <a:rPr lang="en-US" sz="1800" dirty="0">
                <a:latin typeface="Courier New"/>
                <a:cs typeface="Courier New"/>
              </a:rPr>
              <a:t> </a:t>
            </a:r>
          </a:p>
          <a:p>
            <a:pPr marL="0" indent="0">
              <a:buNone/>
            </a:pPr>
            <a:r>
              <a:rPr lang="en-US" sz="1800" dirty="0">
                <a:latin typeface="Courier New"/>
                <a:cs typeface="Courier New"/>
              </a:rPr>
              <a:t>var ee = new EventEmitter();</a:t>
            </a:r>
          </a:p>
          <a:p>
            <a:pPr marL="0" indent="0">
              <a:buNone/>
            </a:pPr>
            <a:r>
              <a:rPr lang="en-US" sz="1800" dirty="0">
                <a:latin typeface="Courier New"/>
                <a:cs typeface="Courier New"/>
              </a:rPr>
              <a:t>ee.on("someEvent", function () {</a:t>
            </a:r>
          </a:p>
          <a:p>
            <a:pPr marL="0" indent="0">
              <a:buNone/>
            </a:pPr>
            <a:r>
              <a:rPr lang="en-US" sz="1800" dirty="0">
                <a:latin typeface="Courier New"/>
                <a:cs typeface="Courier New"/>
              </a:rPr>
              <a:t>    console.log("event has occured");</a:t>
            </a:r>
          </a:p>
          <a:p>
            <a:pPr marL="0" indent="0">
              <a:buNone/>
            </a:pPr>
            <a:r>
              <a:rPr lang="en-US" sz="1800" dirty="0">
                <a:latin typeface="Courier New"/>
                <a:cs typeface="Courier New"/>
              </a:rPr>
              <a:t>});</a:t>
            </a:r>
          </a:p>
          <a:p>
            <a:pPr marL="0" indent="0">
              <a:buNone/>
            </a:pPr>
            <a:r>
              <a:rPr lang="en-US" sz="1800" dirty="0">
                <a:latin typeface="Courier New"/>
                <a:cs typeface="Courier New"/>
              </a:rPr>
              <a:t> </a:t>
            </a:r>
          </a:p>
          <a:p>
            <a:pPr marL="0" indent="0">
              <a:buNone/>
            </a:pPr>
            <a:r>
              <a:rPr lang="en-US" sz="1800" dirty="0">
                <a:latin typeface="Courier New"/>
                <a:cs typeface="Courier New"/>
              </a:rPr>
              <a:t>ee.emit("someEvent");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39</a:t>
            </a:fld>
            <a:endParaRPr lang="en-US" dirty="0"/>
          </a:p>
        </p:txBody>
      </p:sp>
    </p:spTree>
    <p:extLst>
      <p:ext uri="{BB962C8B-B14F-4D97-AF65-F5344CB8AC3E}">
        <p14:creationId xmlns:p14="http://schemas.microsoft.com/office/powerpoint/2010/main" val="22770109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Node.js Example</a:t>
            </a:r>
          </a:p>
        </p:txBody>
      </p:sp>
      <p:sp>
        <p:nvSpPr>
          <p:cNvPr id="3" name="Text Placeholder 2"/>
          <p:cNvSpPr>
            <a:spLocks noGrp="1"/>
          </p:cNvSpPr>
          <p:nvPr>
            <p:ph type="body" idx="1"/>
          </p:nvPr>
        </p:nvSpPr>
        <p:spPr/>
        <p:txBody>
          <a:bodyPr/>
          <a:lstStyle/>
          <a:p>
            <a:pPr marL="0" indent="0">
              <a:buNone/>
            </a:pPr>
            <a:r>
              <a:rPr lang="en-US" sz="1600" dirty="0">
                <a:latin typeface="Courier New"/>
                <a:cs typeface="Courier New"/>
              </a:rPr>
              <a:t>const http = require('http');</a:t>
            </a:r>
          </a:p>
          <a:p>
            <a:pPr marL="0" indent="0">
              <a:buNone/>
            </a:pPr>
            <a:endParaRPr lang="en-US" sz="1600" dirty="0">
              <a:latin typeface="Courier New"/>
              <a:cs typeface="Courier New"/>
            </a:endParaRPr>
          </a:p>
          <a:p>
            <a:pPr marL="0" indent="0">
              <a:buNone/>
            </a:pPr>
            <a:r>
              <a:rPr lang="en-US" sz="1600" dirty="0">
                <a:latin typeface="Courier New"/>
                <a:cs typeface="Courier New"/>
              </a:rPr>
              <a:t>const hostname = '127.0.0.1';</a:t>
            </a:r>
          </a:p>
          <a:p>
            <a:pPr marL="0" indent="0">
              <a:buNone/>
            </a:pPr>
            <a:r>
              <a:rPr lang="en-US" sz="1600" dirty="0">
                <a:latin typeface="Courier New"/>
                <a:cs typeface="Courier New"/>
              </a:rPr>
              <a:t>const port = 3000;</a:t>
            </a:r>
          </a:p>
          <a:p>
            <a:pPr marL="0" indent="0">
              <a:buNone/>
            </a:pPr>
            <a:endParaRPr lang="en-US" sz="1600" dirty="0">
              <a:latin typeface="Courier New"/>
              <a:cs typeface="Courier New"/>
            </a:endParaRPr>
          </a:p>
          <a:p>
            <a:pPr marL="0" indent="0">
              <a:buNone/>
            </a:pPr>
            <a:r>
              <a:rPr lang="en-US" sz="1600" dirty="0">
                <a:latin typeface="Courier New"/>
                <a:cs typeface="Courier New"/>
              </a:rPr>
              <a:t>const server = http.createServer((req, res) =&gt; {</a:t>
            </a:r>
          </a:p>
          <a:p>
            <a:pPr marL="0" indent="0">
              <a:buNone/>
            </a:pPr>
            <a:r>
              <a:rPr lang="en-US" sz="1600" dirty="0">
                <a:latin typeface="Courier New"/>
                <a:cs typeface="Courier New"/>
              </a:rPr>
              <a:t>  res.statusCode = 200;</a:t>
            </a:r>
          </a:p>
          <a:p>
            <a:pPr marL="0" indent="0">
              <a:buNone/>
            </a:pPr>
            <a:r>
              <a:rPr lang="en-US" sz="1600" dirty="0">
                <a:latin typeface="Courier New"/>
                <a:cs typeface="Courier New"/>
              </a:rPr>
              <a:t>  res.setHeader('Content-Type', 'text/plain');</a:t>
            </a:r>
          </a:p>
          <a:p>
            <a:pPr marL="0" indent="0">
              <a:buNone/>
            </a:pPr>
            <a:r>
              <a:rPr lang="en-US" sz="1600" dirty="0">
                <a:latin typeface="Courier New"/>
                <a:cs typeface="Courier New"/>
              </a:rPr>
              <a:t>  res.end('Hello World\n');</a:t>
            </a:r>
          </a:p>
          <a:p>
            <a:pPr marL="0" indent="0">
              <a:buNone/>
            </a:pP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a:latin typeface="Courier New"/>
                <a:cs typeface="Courier New"/>
              </a:rPr>
              <a:t>server.listen(port, hostname, () =&gt; {</a:t>
            </a:r>
          </a:p>
          <a:p>
            <a:pPr marL="0" indent="0">
              <a:buNone/>
            </a:pPr>
            <a:r>
              <a:rPr lang="en-US" sz="1600" dirty="0">
                <a:latin typeface="Courier New"/>
                <a:cs typeface="Courier New"/>
              </a:rPr>
              <a:t>  console.log(`Server running at http://${hostname}:${port}/`);</a:t>
            </a:r>
          </a:p>
          <a:p>
            <a:pPr marL="0" indent="0">
              <a:buNone/>
            </a:pPr>
            <a:r>
              <a:rPr lang="en-US" sz="1600" dirty="0">
                <a:latin typeface="Courier New"/>
                <a:cs typeface="Courier New"/>
              </a:rPr>
              <a: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40</a:t>
            </a:fld>
            <a:endParaRPr lang="en-US" dirty="0"/>
          </a:p>
        </p:txBody>
      </p:sp>
    </p:spTree>
    <p:extLst>
      <p:ext uri="{BB962C8B-B14F-4D97-AF65-F5344CB8AC3E}">
        <p14:creationId xmlns:p14="http://schemas.microsoft.com/office/powerpoint/2010/main" val="2851037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 Overview</a:t>
            </a:r>
          </a:p>
        </p:txBody>
      </p:sp>
      <p:sp>
        <p:nvSpPr>
          <p:cNvPr id="3" name="Text Placeholder 2"/>
          <p:cNvSpPr>
            <a:spLocks noGrp="1"/>
          </p:cNvSpPr>
          <p:nvPr>
            <p:ph type="body" idx="1"/>
          </p:nvPr>
        </p:nvSpPr>
        <p:spPr/>
        <p:txBody>
          <a:bodyPr/>
          <a:lstStyle/>
          <a:p>
            <a:r>
              <a:rPr lang="en-US" dirty="0"/>
              <a:t>Node uses </a:t>
            </a:r>
            <a:r>
              <a:rPr lang="en-US" dirty="0" err="1"/>
              <a:t>CommonJS</a:t>
            </a:r>
            <a:r>
              <a:rPr lang="en-US" dirty="0"/>
              <a:t> by default for loading modules</a:t>
            </a:r>
          </a:p>
          <a:p>
            <a:r>
              <a:rPr lang="en-US" dirty="0"/>
              <a:t>Original name was ServerJS</a:t>
            </a:r>
          </a:p>
          <a:p>
            <a:r>
              <a:rPr lang="en-US" dirty="0"/>
              <a:t>Provides a way to import dependencies in JavaScript when used outside the browser (such as server side or in desktop applications)</a:t>
            </a:r>
          </a:p>
          <a:p>
            <a:pPr marL="0" indent="0">
              <a:buNone/>
            </a:pPr>
            <a:r>
              <a:rPr lang="en-US" dirty="0">
                <a:latin typeface="Courier New" charset="0"/>
                <a:ea typeface="Courier New" charset="0"/>
                <a:cs typeface="Courier New" charset="0"/>
              </a:rPr>
              <a:t>module.exports</a:t>
            </a:r>
            <a:r>
              <a:rPr lang="en-US" dirty="0"/>
              <a:t> </a:t>
            </a:r>
          </a:p>
          <a:p>
            <a:pPr lvl="1"/>
            <a:r>
              <a:rPr lang="en-US" dirty="0"/>
              <a:t>Encapsulates code into a module</a:t>
            </a:r>
            <a:endParaRPr lang="en-US" dirty="0">
              <a:latin typeface="Courier New" charset="0"/>
              <a:ea typeface="Courier New" charset="0"/>
              <a:cs typeface="Courier New" charset="0"/>
            </a:endParaRPr>
          </a:p>
          <a:p>
            <a:pPr marL="0" indent="0">
              <a:buNone/>
            </a:pPr>
            <a:r>
              <a:rPr lang="en-US" dirty="0">
                <a:latin typeface="Courier New" charset="0"/>
                <a:ea typeface="Courier New" charset="0"/>
                <a:cs typeface="Courier New" charset="0"/>
              </a:rPr>
              <a:t>require</a:t>
            </a:r>
            <a:r>
              <a:rPr lang="en-US" dirty="0"/>
              <a:t> </a:t>
            </a:r>
          </a:p>
          <a:p>
            <a:pPr lvl="1"/>
            <a:r>
              <a:rPr lang="en-US" dirty="0"/>
              <a:t>Imports a module into JavaScript code</a:t>
            </a:r>
          </a:p>
          <a:p>
            <a:endParaRPr lang="en-US" dirty="0"/>
          </a:p>
        </p:txBody>
      </p:sp>
      <p:sp>
        <p:nvSpPr>
          <p:cNvPr id="4" name="Slide Number Placeholder 3"/>
          <p:cNvSpPr>
            <a:spLocks noGrp="1"/>
          </p:cNvSpPr>
          <p:nvPr>
            <p:ph type="sldNum" sz="quarter" idx="12"/>
          </p:nvPr>
        </p:nvSpPr>
        <p:spPr/>
        <p:txBody>
          <a:bodyPr/>
          <a:lstStyle/>
          <a:p>
            <a:fld id="{1D21158B-3A13-A246-958D-D43CDD4D1464}" type="slidenum">
              <a:rPr lang="en-US" smtClean="0"/>
              <a:t>41</a:t>
            </a:fld>
            <a:endParaRPr lang="en-US" dirty="0"/>
          </a:p>
        </p:txBody>
      </p:sp>
    </p:spTree>
    <p:extLst>
      <p:ext uri="{BB962C8B-B14F-4D97-AF65-F5344CB8AC3E}">
        <p14:creationId xmlns:p14="http://schemas.microsoft.com/office/powerpoint/2010/main" val="2904578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42</a:t>
            </a:fld>
            <a:endParaRPr lang="en-US" dirty="0"/>
          </a:p>
        </p:txBody>
      </p:sp>
      <p:sp>
        <p:nvSpPr>
          <p:cNvPr id="5" name="Text Placeholder 4"/>
          <p:cNvSpPr>
            <a:spLocks noGrp="1"/>
          </p:cNvSpPr>
          <p:nvPr>
            <p:ph type="body" sz="quarter" idx="13"/>
          </p:nvPr>
        </p:nvSpPr>
        <p:spPr/>
        <p:txBody>
          <a:bodyPr/>
          <a:lstStyle/>
          <a:p>
            <a:r>
              <a:rPr lang="en-US" dirty="0">
                <a:latin typeface="+mn-lt"/>
              </a:rPr>
              <a:t>foo.js</a:t>
            </a:r>
          </a:p>
          <a:p>
            <a:endParaRPr lang="en-US" dirty="0"/>
          </a:p>
          <a:p>
            <a:pPr marL="0" indent="0">
              <a:buNone/>
            </a:pPr>
            <a:r>
              <a:rPr lang="en-US">
                <a:latin typeface="Courier New" pitchFamily="49" charset="0"/>
              </a:rPr>
              <a:t>var circle = require('./circle.js');</a:t>
            </a:r>
          </a:p>
          <a:p>
            <a:pPr marL="0" indent="0">
              <a:buNone/>
            </a:pPr>
            <a:r>
              <a:rPr lang="en-US">
                <a:latin typeface="Courier New" pitchFamily="49" charset="0"/>
              </a:rPr>
              <a:t>console.log('Area of circle: ' + circle.area(4));</a:t>
            </a:r>
          </a:p>
          <a:p>
            <a:endParaRPr lang="en-US" dirty="0"/>
          </a:p>
          <a:p>
            <a:endParaRPr lang="en-US" dirty="0"/>
          </a:p>
          <a:p>
            <a:r>
              <a:rPr lang="en-US" dirty="0">
                <a:latin typeface="+mn-lt"/>
              </a:rPr>
              <a:t>circle.js</a:t>
            </a:r>
          </a:p>
          <a:p>
            <a:endParaRPr lang="en-US" dirty="0"/>
          </a:p>
          <a:p>
            <a:r>
              <a:rPr lang="en-US" dirty="0"/>
              <a:t>exports.area = function</a:t>
            </a:r>
            <a:r>
              <a:rPr lang="is-IS" dirty="0"/>
              <a:t>(r){</a:t>
            </a:r>
          </a:p>
          <a:p>
            <a:pPr marL="0" indent="0">
              <a:buNone/>
            </a:pPr>
            <a:r>
              <a:rPr lang="is-IS">
                <a:latin typeface="Courier New" pitchFamily="49" charset="0"/>
              </a:rPr>
              <a:t>  return Math.PI * r * r;</a:t>
            </a:r>
          </a:p>
          <a:p>
            <a:pPr marL="0" indent="0">
              <a:buNone/>
            </a:pPr>
            <a:r>
              <a:rPr lang="is-IS">
                <a:latin typeface="Courier New" pitchFamily="49" charset="0"/>
              </a:rPr>
              <a:t>}</a:t>
            </a:r>
            <a:endParaRPr lang="en-US"/>
          </a:p>
        </p:txBody>
      </p:sp>
      <p:sp>
        <p:nvSpPr>
          <p:cNvPr id="2" name="Title 1"/>
          <p:cNvSpPr>
            <a:spLocks noGrp="1"/>
          </p:cNvSpPr>
          <p:nvPr>
            <p:ph type="title"/>
          </p:nvPr>
        </p:nvSpPr>
        <p:spPr/>
        <p:txBody>
          <a:bodyPr/>
          <a:lstStyle/>
          <a:p>
            <a:r>
              <a:rPr lang="en-US" dirty="0"/>
              <a:t>CommonJS Example</a:t>
            </a:r>
          </a:p>
        </p:txBody>
      </p:sp>
    </p:spTree>
    <p:extLst>
      <p:ext uri="{BB962C8B-B14F-4D97-AF65-F5344CB8AC3E}">
        <p14:creationId xmlns:p14="http://schemas.microsoft.com/office/powerpoint/2010/main" val="1557648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43</a:t>
            </a:fld>
            <a:endParaRPr lang="en-US"/>
          </a:p>
        </p:txBody>
      </p:sp>
      <p:sp>
        <p:nvSpPr>
          <p:cNvPr id="5" name="Text Placeholder 4"/>
          <p:cNvSpPr>
            <a:spLocks noGrp="1"/>
          </p:cNvSpPr>
          <p:nvPr>
            <p:ph type="body" sz="quarter" idx="13"/>
          </p:nvPr>
        </p:nvSpPr>
        <p:spPr/>
        <p:txBody>
          <a:bodyPr wrap="square"/>
          <a:lstStyle/>
          <a:p>
            <a:pPr>
              <a:lnSpc>
                <a:spcPts val="2300"/>
              </a:lnSpc>
              <a:spcBef>
                <a:spcPts val="0"/>
              </a:spcBef>
              <a:spcAft>
                <a:spcPts val="400"/>
              </a:spcAft>
            </a:pPr>
            <a:r>
              <a:rPr sz="2000">
                <a:latin typeface="+mn-lt"/>
              </a:rPr>
              <a:t>JavaScript’s standard module format uses import and export.</a:t>
            </a:r>
          </a:p>
          <a:p>
            <a:pPr>
              <a:lnSpc>
                <a:spcPts val="2300"/>
              </a:lnSpc>
              <a:spcBef>
                <a:spcPts val="0"/>
              </a:spcBef>
              <a:spcAft>
                <a:spcPts val="400"/>
              </a:spcAft>
            </a:pPr>
            <a:r>
              <a:rPr sz="2000">
                <a:latin typeface="+mn-lt"/>
              </a:rPr>
              <a:t>This example exports and imports a function by name.</a:t>
            </a:r>
          </a:p>
          <a:p>
            <a:pPr>
              <a:lnSpc>
                <a:spcPts val="2300"/>
              </a:lnSpc>
              <a:spcBef>
                <a:spcPts val="0"/>
              </a:spcBef>
              <a:spcAft>
                <a:spcPts val="400"/>
              </a:spcAft>
            </a:pPr>
            <a:endParaRPr sz="2000">
              <a:latin typeface="+mn-lt"/>
            </a:endParaRPr>
          </a:p>
          <a:p>
            <a:pPr>
              <a:lnSpc>
                <a:spcPts val="2300"/>
              </a:lnSpc>
              <a:spcBef>
                <a:spcPts val="0"/>
              </a:spcBef>
              <a:spcAft>
                <a:spcPts val="400"/>
              </a:spcAft>
            </a:pPr>
            <a:r>
              <a:rPr sz="2000">
                <a:latin typeface="+mn-lt"/>
              </a:rPr>
              <a:t>circle.js</a:t>
            </a:r>
          </a:p>
          <a:p>
            <a:pPr>
              <a:lnSpc>
                <a:spcPts val="2300"/>
              </a:lnSpc>
              <a:spcBef>
                <a:spcPts val="0"/>
              </a:spcBef>
              <a:spcAft>
                <a:spcPts val="400"/>
              </a:spcAft>
            </a:pPr>
            <a:r>
              <a:rPr sz="2000">
                <a:latin typeface="Courier New"/>
              </a:rPr>
              <a:t>export function area(r) {</a:t>
            </a:r>
          </a:p>
          <a:p>
            <a:pPr>
              <a:lnSpc>
                <a:spcPts val="2300"/>
              </a:lnSpc>
              <a:spcBef>
                <a:spcPts val="0"/>
              </a:spcBef>
              <a:spcAft>
                <a:spcPts val="400"/>
              </a:spcAft>
            </a:pPr>
            <a:r>
              <a:rPr sz="2000">
                <a:latin typeface="Courier New"/>
              </a:rPr>
              <a:t>  return Math.PI * r * r</a:t>
            </a:r>
          </a:p>
          <a:p>
            <a:pPr>
              <a:lnSpc>
                <a:spcPts val="2300"/>
              </a:lnSpc>
              <a:spcBef>
                <a:spcPts val="0"/>
              </a:spcBef>
              <a:spcAft>
                <a:spcPts val="400"/>
              </a:spcAft>
            </a:pPr>
            <a:r>
              <a:rPr sz="2000">
                <a:latin typeface="Courier New"/>
              </a:rPr>
              <a:t>}</a:t>
            </a:r>
          </a:p>
          <a:p>
            <a:pPr>
              <a:lnSpc>
                <a:spcPts val="2300"/>
              </a:lnSpc>
              <a:spcBef>
                <a:spcPts val="0"/>
              </a:spcBef>
              <a:spcAft>
                <a:spcPts val="400"/>
              </a:spcAft>
            </a:pPr>
            <a:endParaRPr sz="2000">
              <a:latin typeface="Courier New"/>
            </a:endParaRPr>
          </a:p>
          <a:p>
            <a:pPr>
              <a:lnSpc>
                <a:spcPts val="2300"/>
              </a:lnSpc>
              <a:spcBef>
                <a:spcPts val="0"/>
              </a:spcBef>
              <a:spcAft>
                <a:spcPts val="400"/>
              </a:spcAft>
            </a:pPr>
            <a:r>
              <a:rPr sz="2000">
                <a:latin typeface="+mn-lt"/>
              </a:rPr>
              <a:t>foo.js</a:t>
            </a:r>
          </a:p>
          <a:p>
            <a:pPr>
              <a:lnSpc>
                <a:spcPts val="2300"/>
              </a:lnSpc>
              <a:spcBef>
                <a:spcPts val="0"/>
              </a:spcBef>
              <a:spcAft>
                <a:spcPts val="400"/>
              </a:spcAft>
            </a:pPr>
            <a:r>
              <a:rPr sz="2000">
                <a:latin typeface="Courier New"/>
              </a:rPr>
              <a:t>import { area } from './circle.js'</a:t>
            </a:r>
          </a:p>
          <a:p>
            <a:pPr>
              <a:lnSpc>
                <a:spcPts val="2300"/>
              </a:lnSpc>
              <a:spcBef>
                <a:spcPts val="0"/>
              </a:spcBef>
              <a:spcAft>
                <a:spcPts val="400"/>
              </a:spcAft>
            </a:pPr>
            <a:r>
              <a:rPr sz="2000">
                <a:latin typeface="Courier New"/>
              </a:rPr>
              <a:t>console.log('Area of circle: ' + area(4))</a:t>
            </a:r>
          </a:p>
        </p:txBody>
      </p:sp>
      <p:sp>
        <p:nvSpPr>
          <p:cNvPr id="2" name="Title 1"/>
          <p:cNvSpPr>
            <a:spLocks noGrp="1"/>
          </p:cNvSpPr>
          <p:nvPr>
            <p:ph type="title"/>
          </p:nvPr>
        </p:nvSpPr>
        <p:spPr/>
        <p:txBody>
          <a:bodyPr/>
          <a:lstStyle/>
          <a:p>
            <a:r>
              <a:rPr lang="en-US"/>
              <a:t>ES Modules: import and export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ES Modules in Node.js</a:t>
            </a:r>
          </a:p>
        </p:txBody>
      </p:sp>
      <p:sp>
        <p:nvSpPr>
          <p:cNvPr id="3" name="Text Placeholder 2"/>
          <p:cNvSpPr>
            <a:spLocks noGrp="1"/>
          </p:cNvSpPr>
          <p:nvPr>
            <p:ph type="body" idx="1"/>
          </p:nvPr>
        </p:nvSpPr>
        <p:spPr/>
        <p:txBody>
          <a:bodyPr wrap="square"/>
          <a:lstStyle/>
          <a:p>
            <a:pPr>
              <a:spcBef>
                <a:spcPts val="800"/>
              </a:spcBef>
              <a:spcAft>
                <a:spcPts val="0"/>
              </a:spcAft>
            </a:pPr>
            <a:r>
              <a:t>Node.js supports both CommonJS and ES Modules.</a:t>
            </a:r>
          </a:p>
          <a:p>
            <a:pPr>
              <a:spcBef>
                <a:spcPts val="800"/>
              </a:spcBef>
              <a:spcAft>
                <a:spcPts val="0"/>
              </a:spcAft>
            </a:pPr>
            <a:r>
              <a:t>To run the previous example, add to package.json:</a:t>
            </a:r>
          </a:p>
          <a:p>
            <a:pPr lvl="1">
              <a:spcBef>
                <a:spcPts val="300"/>
              </a:spcBef>
              <a:spcAft>
                <a:spcPts val="0"/>
              </a:spcAft>
            </a:pPr>
            <a:r>
              <a:rPr>
                <a:latin typeface="Courier New"/>
              </a:rPr>
              <a:t>{ "type": "module" }</a:t>
            </a:r>
          </a:p>
          <a:p>
            <a:pPr lvl="1">
              <a:spcBef>
                <a:spcPts val="300"/>
              </a:spcBef>
              <a:spcAft>
                <a:spcPts val="0"/>
              </a:spcAft>
            </a:pPr>
            <a:r>
              <a:t>Node treats .js files in this package as ES Modules.</a:t>
            </a:r>
          </a:p>
          <a:p>
            <a:pPr>
              <a:spcBef>
                <a:spcPts val="800"/>
              </a:spcBef>
              <a:spcAft>
                <a:spcPts val="0"/>
              </a:spcAft>
            </a:pPr>
            <a:r>
              <a:t>Run the entry file with node foo.js.</a:t>
            </a:r>
          </a:p>
          <a:p>
            <a:pPr>
              <a:spcBef>
                <a:spcPts val="800"/>
              </a:spcBef>
              <a:spcAft>
                <a:spcPts val="0"/>
              </a:spcAft>
            </a:pPr>
            <a:r>
              <a:t>Alternative: use .mjs files and matching imports.</a:t>
            </a:r>
          </a:p>
          <a:p>
            <a:pPr lvl="1">
              <a:spcBef>
                <a:spcPts val="300"/>
              </a:spcBef>
              <a:spcAft>
                <a:spcPts val="0"/>
              </a:spcAft>
            </a:pPr>
            <a:r>
              <a:t>Use .cjs for CommonJS files in an ES Module package.</a:t>
            </a:r>
          </a:p>
          <a:p>
            <a:pPr>
              <a:spcBef>
                <a:spcPts val="800"/>
              </a:spcBef>
              <a:spcAft>
                <a:spcPts val="0"/>
              </a:spcAft>
            </a:pPr>
            <a:r>
              <a:t>Include extensions in relative imports: ./circle.js</a:t>
            </a:r>
          </a:p>
        </p:txBody>
      </p:sp>
      <p:sp>
        <p:nvSpPr>
          <p:cNvPr id="4" name="Slide Number Placeholder 3"/>
          <p:cNvSpPr>
            <a:spLocks noGrp="1"/>
          </p:cNvSpPr>
          <p:nvPr>
            <p:ph type="sldNum" sz="quarter" idx="12"/>
          </p:nvPr>
        </p:nvSpPr>
        <p:spPr/>
        <p:txBody>
          <a:bodyPr/>
          <a:lstStyle/>
          <a:p>
            <a:fld id="{1D21158B-3A13-A246-958D-D43CDD4D146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Front-end Node</a:t>
            </a:r>
          </a:p>
        </p:txBody>
      </p:sp>
      <p:sp>
        <p:nvSpPr>
          <p:cNvPr id="3" name="Text Placeholder 2"/>
          <p:cNvSpPr>
            <a:spLocks noGrp="1"/>
          </p:cNvSpPr>
          <p:nvPr>
            <p:ph type="body" idx="1"/>
          </p:nvPr>
        </p:nvSpPr>
        <p:spPr/>
        <p:txBody>
          <a:bodyPr/>
          <a:lstStyle/>
          <a:p>
            <a:r>
              <a:rPr lang="en-US" dirty="0"/>
              <a:t>Node has become an essential part of front end development.</a:t>
            </a:r>
          </a:p>
          <a:p>
            <a:r>
              <a:rPr lang="en-US" dirty="0"/>
              <a:t>It's used by:</a:t>
            </a:r>
          </a:p>
          <a:p>
            <a:pPr lvl="1"/>
            <a:r>
              <a:rPr lang="en-US" dirty="0"/>
              <a:t>Package installers</a:t>
            </a:r>
          </a:p>
          <a:p>
            <a:pPr lvl="1"/>
            <a:r>
              <a:rPr lang="en-US" dirty="0"/>
              <a:t>Task runners</a:t>
            </a:r>
          </a:p>
          <a:p>
            <a:pPr lvl="1"/>
            <a:r>
              <a:rPr lang="en-US" dirty="0"/>
              <a:t>Testing frameworks</a:t>
            </a:r>
          </a:p>
          <a:p>
            <a:pPr lvl="1"/>
            <a:r>
              <a:rPr lang="en-US" dirty="0"/>
              <a:t>CSS compilers</a:t>
            </a:r>
          </a:p>
          <a:p>
            <a:pPr lvl="1"/>
            <a:r>
              <a:rPr lang="en-US" dirty="0"/>
              <a:t>JS Transpilers</a:t>
            </a:r>
          </a:p>
          <a:p>
            <a:pPr lvl="1"/>
            <a:r>
              <a:rPr lang="en-US" dirty="0"/>
              <a:t>Web servers</a:t>
            </a:r>
          </a:p>
          <a:p>
            <a:pPr lvl="1"/>
            <a:r>
              <a:rPr lang="en-US" dirty="0"/>
              <a:t>Web browsers (PhantomJS)</a:t>
            </a:r>
          </a:p>
          <a:p>
            <a:pPr lvl="1"/>
            <a:r>
              <a:rPr lang="en-US" dirty="0"/>
              <a:t>and more!</a:t>
            </a:r>
          </a:p>
          <a:p>
            <a:pPr lvl="1"/>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45</a:t>
            </a:fld>
            <a:endParaRPr lang="en-US" dirty="0"/>
          </a:p>
        </p:txBody>
      </p:sp>
    </p:spTree>
    <p:extLst>
      <p:ext uri="{BB962C8B-B14F-4D97-AF65-F5344CB8AC3E}">
        <p14:creationId xmlns:p14="http://schemas.microsoft.com/office/powerpoint/2010/main" val="9672351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Lab 06 - Getting Started with Node.js</a:t>
            </a:r>
          </a:p>
        </p:txBody>
      </p:sp>
      <p:sp>
        <p:nvSpPr>
          <p:cNvPr id="3" name="Slide Number Placeholder 2"/>
          <p:cNvSpPr>
            <a:spLocks noGrp="1"/>
          </p:cNvSpPr>
          <p:nvPr>
            <p:ph type="sldNum" sz="quarter" idx="12"/>
          </p:nvPr>
        </p:nvSpPr>
        <p:spPr/>
        <p:txBody>
          <a:bodyPr/>
          <a:lstStyle/>
          <a:p>
            <a:fld id="{6FFFF67E-EC6A-B940-8DC7-BF9A5925C934}" type="slidenum">
              <a:rPr lang="en-US" smtClean="0"/>
              <a:t>46</a:t>
            </a:fld>
            <a:endParaRPr lang="en-US" dirty="0"/>
          </a:p>
        </p:txBody>
      </p:sp>
      <p:sp>
        <p:nvSpPr>
          <p:cNvPr id="6" name="Content Placeholder 5">
            <a:extLst>
              <a:ext uri="{FF2B5EF4-FFF2-40B4-BE49-F238E27FC236}">
                <a16:creationId xmlns:a16="http://schemas.microsoft.com/office/drawing/2014/main" id="{DF0B98CB-5C3E-A65B-A2CB-5D4ABF47D663}"/>
              </a:ext>
            </a:extLst>
          </p:cNvPr>
          <p:cNvSpPr>
            <a:spLocks noGrp="1"/>
          </p:cNvSpPr>
          <p:nvPr>
            <p:ph idx="1"/>
          </p:nvPr>
        </p:nvSpPr>
        <p:spPr/>
        <p:txBody>
          <a:bodyPr/>
          <a:lstStyle/>
          <a:p>
            <a:endParaRPr lang="en-US"/>
          </a:p>
        </p:txBody>
      </p:sp>
      <p:pic>
        <p:nvPicPr>
          <p:cNvPr id="7" name="Content Placeholder 3" descr="install-complete.png">
            <a:extLst>
              <a:ext uri="{FF2B5EF4-FFF2-40B4-BE49-F238E27FC236}">
                <a16:creationId xmlns:a16="http://schemas.microsoft.com/office/drawing/2014/main" id="{E5772C28-3BE5-F28C-ABC3-BEE156563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7900" y="2116931"/>
            <a:ext cx="4648200" cy="3492500"/>
          </a:xfrm>
          <a:prstGeom prst="rect">
            <a:avLst/>
          </a:prstGeom>
        </p:spPr>
      </p:pic>
    </p:spTree>
    <p:extLst>
      <p:ext uri="{BB962C8B-B14F-4D97-AF65-F5344CB8AC3E}">
        <p14:creationId xmlns:p14="http://schemas.microsoft.com/office/powerpoint/2010/main" val="28085012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072B-F5E5-9444-8FFE-8E677BA3423D}"/>
              </a:ext>
            </a:extLst>
          </p:cNvPr>
          <p:cNvSpPr>
            <a:spLocks noGrp="1"/>
          </p:cNvSpPr>
          <p:nvPr>
            <p:ph type="title"/>
          </p:nvPr>
        </p:nvSpPr>
        <p:spPr/>
        <p:txBody>
          <a:bodyPr/>
          <a:lstStyle/>
          <a:p>
            <a:r>
              <a:rPr lang="en-US" dirty="0"/>
              <a:t>Tooling </a:t>
            </a:r>
          </a:p>
        </p:txBody>
      </p:sp>
      <p:sp>
        <p:nvSpPr>
          <p:cNvPr id="4" name="Text Placeholder 3">
            <a:extLst>
              <a:ext uri="{FF2B5EF4-FFF2-40B4-BE49-F238E27FC236}">
                <a16:creationId xmlns:a16="http://schemas.microsoft.com/office/drawing/2014/main" id="{AF163FBE-C88C-A14E-BA58-652B6EF55A6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60574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E5E6-A87C-644D-A745-5DB2E475F9BE}"/>
              </a:ext>
            </a:extLst>
          </p:cNvPr>
          <p:cNvSpPr>
            <a:spLocks noGrp="1"/>
          </p:cNvSpPr>
          <p:nvPr>
            <p:ph type="title"/>
          </p:nvPr>
        </p:nvSpPr>
        <p:spPr/>
        <p:txBody>
          <a:bodyPr/>
          <a:lstStyle/>
          <a:p>
            <a:r>
              <a:rPr lang="en-US" dirty="0"/>
              <a:t>Why Have Tooling? </a:t>
            </a:r>
          </a:p>
        </p:txBody>
      </p:sp>
      <p:sp>
        <p:nvSpPr>
          <p:cNvPr id="3" name="Text Placeholder 2">
            <a:extLst>
              <a:ext uri="{FF2B5EF4-FFF2-40B4-BE49-F238E27FC236}">
                <a16:creationId xmlns:a16="http://schemas.microsoft.com/office/drawing/2014/main" id="{351EA7D3-79CD-BF4B-861B-EEAA8D0D8166}"/>
              </a:ext>
            </a:extLst>
          </p:cNvPr>
          <p:cNvSpPr>
            <a:spLocks noGrp="1"/>
          </p:cNvSpPr>
          <p:nvPr>
            <p:ph type="body" idx="1"/>
          </p:nvPr>
        </p:nvSpPr>
        <p:spPr/>
        <p:txBody>
          <a:bodyPr/>
          <a:lstStyle/>
          <a:p>
            <a:r>
              <a:rPr lang="en-US" dirty="0"/>
              <a:t>Front-end Web Development is complex.</a:t>
            </a:r>
          </a:p>
          <a:p>
            <a:r>
              <a:rPr lang="en-US" dirty="0"/>
              <a:t>Modern Web Tooling helps achieve four best practices of software development:</a:t>
            </a:r>
          </a:p>
          <a:p>
            <a:pPr lvl="1"/>
            <a:r>
              <a:rPr lang="en-US" dirty="0"/>
              <a:t>Version Control</a:t>
            </a:r>
          </a:p>
          <a:p>
            <a:pPr lvl="1"/>
            <a:r>
              <a:rPr lang="en-US" dirty="0"/>
              <a:t>Automation</a:t>
            </a:r>
          </a:p>
          <a:p>
            <a:pPr lvl="1"/>
            <a:r>
              <a:rPr lang="en-US" dirty="0"/>
              <a:t>Reproducible Build</a:t>
            </a:r>
          </a:p>
          <a:p>
            <a:pPr lvl="1"/>
            <a:r>
              <a:rPr lang="en-US" dirty="0"/>
              <a:t>Test-Driven Development</a:t>
            </a:r>
          </a:p>
        </p:txBody>
      </p:sp>
    </p:spTree>
    <p:extLst>
      <p:ext uri="{BB962C8B-B14F-4D97-AF65-F5344CB8AC3E}">
        <p14:creationId xmlns:p14="http://schemas.microsoft.com/office/powerpoint/2010/main" val="8391397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dirty="0"/>
              <a:t>npm</a:t>
            </a:r>
          </a:p>
        </p:txBody>
      </p:sp>
      <p:sp>
        <p:nvSpPr>
          <p:cNvPr id="3" name="Text Placeholder 2"/>
          <p:cNvSpPr>
            <a:spLocks noGrp="1"/>
          </p:cNvSpPr>
          <p:nvPr>
            <p:ph type="body" idx="1"/>
          </p:nvPr>
        </p:nvSpPr>
        <p:spPr/>
        <p:txBody>
          <a:bodyPr/>
          <a:lstStyle/>
          <a:p>
            <a:r>
              <a:rPr lang="en-US" dirty="0"/>
              <a:t>Installs, publishes, and manages node programs</a:t>
            </a:r>
          </a:p>
          <a:p>
            <a:r>
              <a:rPr lang="en-US" dirty="0"/>
              <a:t>Is bundled and installed with Node</a:t>
            </a:r>
          </a:p>
          <a:p>
            <a:r>
              <a:rPr lang="en-US" dirty="0"/>
              <a:t>Allows you to install Node.js applications from the npm registry</a:t>
            </a:r>
          </a:p>
          <a:p>
            <a:r>
              <a:rPr lang="en-US" dirty="0"/>
              <a:t>Written in JavaScript</a:t>
            </a:r>
          </a:p>
        </p:txBody>
      </p:sp>
      <p:sp>
        <p:nvSpPr>
          <p:cNvPr id="4" name="Slide Number Placeholder 3"/>
          <p:cNvSpPr>
            <a:spLocks noGrp="1"/>
          </p:cNvSpPr>
          <p:nvPr>
            <p:ph type="sldNum" sz="quarter" idx="12"/>
          </p:nvPr>
        </p:nvSpPr>
        <p:spPr/>
        <p:txBody>
          <a:bodyPr/>
          <a:lstStyle/>
          <a:p>
            <a:fld id="{A839F4A7-500C-EC42-AE23-BEE4487EA55E}" type="slidenum">
              <a:rPr lang="en-US" smtClean="0"/>
              <a:t>49</a:t>
            </a:fld>
            <a:endParaRPr lang="en-US" dirty="0"/>
          </a:p>
        </p:txBody>
      </p:sp>
    </p:spTree>
    <p:extLst>
      <p:ext uri="{BB962C8B-B14F-4D97-AF65-F5344CB8AC3E}">
        <p14:creationId xmlns:p14="http://schemas.microsoft.com/office/powerpoint/2010/main" val="4073180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8F96-B5E0-634E-A804-E8955EAABF83}"/>
              </a:ext>
            </a:extLst>
          </p:cNvPr>
          <p:cNvSpPr>
            <a:spLocks noGrp="1"/>
          </p:cNvSpPr>
          <p:nvPr>
            <p:ph type="title"/>
          </p:nvPr>
        </p:nvSpPr>
        <p:spPr/>
        <p:txBody>
          <a:bodyPr/>
          <a:lstStyle/>
          <a:p>
            <a:r>
              <a:t>Other package managers</a:t>
            </a:r>
          </a:p>
        </p:txBody>
      </p:sp>
      <p:sp>
        <p:nvSpPr>
          <p:cNvPr id="3" name="Content Placeholder 2">
            <a:extLst>
              <a:ext uri="{FF2B5EF4-FFF2-40B4-BE49-F238E27FC236}">
                <a16:creationId xmlns:a16="http://schemas.microsoft.com/office/drawing/2014/main" id="{5E9C8E6D-2718-3A4E-A7BD-B1A5AD9587D9}"/>
              </a:ext>
            </a:extLst>
          </p:cNvPr>
          <p:cNvSpPr>
            <a:spLocks noGrp="1"/>
          </p:cNvSpPr>
          <p:nvPr>
            <p:ph idx="1"/>
          </p:nvPr>
        </p:nvSpPr>
        <p:spPr/>
        <p:txBody>
          <a:bodyPr/>
          <a:lstStyle/>
          <a:p>
            <a:r>
              <a:t>npm ships with Node.js and is the default</a:t>
            </a:r>
          </a:p>
          <a:p>
            <a:r>
              <a:t>yarn — created by Facebook; Plug'n'Play install mode</a:t>
            </a:r>
          </a:p>
          <a:p>
            <a:r>
              <a:t>pnpm — hard-links a global store, so disk use stays flat</a:t>
            </a:r>
          </a:p>
          <a:p>
            <a:pPr lvl="1"/>
            <a:r>
              <a:t>Strict by default: a package can only import what it declares</a:t>
            </a:r>
          </a:p>
          <a:p>
            <a:r>
              <a:t>bun — a runtime with a very fast built-in installer</a:t>
            </a:r>
          </a:p>
          <a:p>
            <a:r>
              <a:t>All four read package.json; they differ in the lockfile</a:t>
            </a:r>
          </a:p>
        </p:txBody>
      </p:sp>
      <p:sp>
        <p:nvSpPr>
          <p:cNvPr id="4" name="Slide Number Placeholder 3">
            <a:extLst>
              <a:ext uri="{FF2B5EF4-FFF2-40B4-BE49-F238E27FC236}">
                <a16:creationId xmlns:a16="http://schemas.microsoft.com/office/drawing/2014/main" id="{F5F6C94D-375C-7047-AE0C-F667793FAFFF}"/>
              </a:ext>
            </a:extLst>
          </p:cNvPr>
          <p:cNvSpPr>
            <a:spLocks noGrp="1"/>
          </p:cNvSpPr>
          <p:nvPr>
            <p:ph type="sldNum" sz="quarter" idx="12"/>
          </p:nvPr>
        </p:nvSpPr>
        <p:spPr/>
        <p:txBody>
          <a:bodyPr/>
          <a:lstStyle/>
          <a:p>
            <a:fld id="{6FFFF67E-EC6A-B940-8DC7-BF9A5925C934}" type="slidenum">
              <a:rPr lang="en-US" smtClean="0"/>
              <a:t>50</a:t>
            </a:fld>
            <a:endParaRPr lang="en-US" dirty="0"/>
          </a:p>
        </p:txBody>
      </p:sp>
    </p:spTree>
    <p:extLst>
      <p:ext uri="{BB962C8B-B14F-4D97-AF65-F5344CB8AC3E}">
        <p14:creationId xmlns:p14="http://schemas.microsoft.com/office/powerpoint/2010/main" val="3697293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Lab 07 – Initialize npm</a:t>
            </a:r>
          </a:p>
        </p:txBody>
      </p:sp>
      <p:sp>
        <p:nvSpPr>
          <p:cNvPr id="3" name="Slide Number Placeholder 2"/>
          <p:cNvSpPr>
            <a:spLocks noGrp="1"/>
          </p:cNvSpPr>
          <p:nvPr>
            <p:ph type="sldNum" sz="quarter" idx="12"/>
          </p:nvPr>
        </p:nvSpPr>
        <p:spPr/>
        <p:txBody>
          <a:bodyPr/>
          <a:lstStyle/>
          <a:p>
            <a:fld id="{6FFFF67E-EC6A-B940-8DC7-BF9A5925C934}" type="slidenum">
              <a:rPr lang="en-US" smtClean="0"/>
              <a:t>51</a:t>
            </a:fld>
            <a:endParaRPr lang="en-US" dirty="0"/>
          </a:p>
        </p:txBody>
      </p:sp>
      <p:sp>
        <p:nvSpPr>
          <p:cNvPr id="6" name="Content Placeholder 5">
            <a:extLst>
              <a:ext uri="{FF2B5EF4-FFF2-40B4-BE49-F238E27FC236}">
                <a16:creationId xmlns:a16="http://schemas.microsoft.com/office/drawing/2014/main" id="{175D52E8-AB58-BC38-E16F-B115EADA5C6D}"/>
              </a:ext>
            </a:extLst>
          </p:cNvPr>
          <p:cNvSpPr>
            <a:spLocks noGrp="1"/>
          </p:cNvSpPr>
          <p:nvPr>
            <p:ph idx="1"/>
          </p:nvPr>
        </p:nvSpPr>
        <p:spPr/>
        <p:txBody>
          <a:bodyPr/>
          <a:lstStyle/>
          <a:p>
            <a:endParaRPr lang="en-US"/>
          </a:p>
        </p:txBody>
      </p:sp>
      <p:pic>
        <p:nvPicPr>
          <p:cNvPr id="7" name="Content Placeholder 4" descr="Screen Shot 2016-04-18 at 2.16.11 PM.png">
            <a:extLst>
              <a:ext uri="{FF2B5EF4-FFF2-40B4-BE49-F238E27FC236}">
                <a16:creationId xmlns:a16="http://schemas.microsoft.com/office/drawing/2014/main" id="{740040EC-E481-F1DC-5C84-47526EF845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6200" y="2345531"/>
            <a:ext cx="3911600" cy="3035300"/>
          </a:xfrm>
          <a:prstGeom prst="rect">
            <a:avLst/>
          </a:prstGeom>
        </p:spPr>
      </p:pic>
    </p:spTree>
    <p:extLst>
      <p:ext uri="{BB962C8B-B14F-4D97-AF65-F5344CB8AC3E}">
        <p14:creationId xmlns:p14="http://schemas.microsoft.com/office/powerpoint/2010/main" val="994024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node_modules</a:t>
            </a:r>
          </a:p>
        </p:txBody>
      </p:sp>
      <p:sp>
        <p:nvSpPr>
          <p:cNvPr id="3" name="Text Placeholder 2"/>
          <p:cNvSpPr>
            <a:spLocks noGrp="1"/>
          </p:cNvSpPr>
          <p:nvPr>
            <p:ph type="body" idx="1"/>
          </p:nvPr>
        </p:nvSpPr>
        <p:spPr/>
        <p:txBody>
          <a:bodyPr/>
          <a:lstStyle/>
          <a:p>
            <a:r>
              <a:rPr lang="en-US" dirty="0"/>
              <a:t>Two ways to install npm packages</a:t>
            </a:r>
          </a:p>
          <a:p>
            <a:pPr lvl="1"/>
            <a:r>
              <a:rPr lang="en-US" dirty="0"/>
              <a:t>Locally</a:t>
            </a:r>
          </a:p>
          <a:p>
            <a:pPr lvl="1"/>
            <a:r>
              <a:rPr lang="en-US" dirty="0"/>
              <a:t>Globally</a:t>
            </a:r>
          </a:p>
          <a:p>
            <a:r>
              <a:rPr lang="en-US" dirty="0"/>
              <a:t>When you install packages locally, they're put into the </a:t>
            </a:r>
            <a:r>
              <a:rPr lang="en-US" b="1" dirty="0"/>
              <a:t>node_modules</a:t>
            </a:r>
            <a:r>
              <a:rPr lang="en-US" dirty="0"/>
              <a:t> directory in your current directory.</a:t>
            </a:r>
          </a:p>
          <a:p>
            <a:r>
              <a:rPr lang="en-US" dirty="0"/>
              <a:t>You should always run npm install from the same directory as your </a:t>
            </a:r>
            <a:r>
              <a:rPr lang="en-US" b="1" dirty="0"/>
              <a:t>package.json</a:t>
            </a:r>
            <a:r>
              <a:rPr lang="en-US" dirty="0"/>
              <a:t> file, which should be at the root of your project.</a:t>
            </a:r>
          </a:p>
          <a:p>
            <a:r>
              <a:rPr lang="en-US" dirty="0"/>
              <a:t>Run </a:t>
            </a:r>
            <a:r>
              <a:rPr lang="en-US" dirty="0">
                <a:latin typeface="Courier New"/>
                <a:cs typeface="Courier New"/>
              </a:rPr>
              <a:t>npm update </a:t>
            </a:r>
            <a:r>
              <a:rPr lang="en-US" dirty="0"/>
              <a:t>to update local packages</a:t>
            </a:r>
          </a:p>
          <a:p>
            <a:r>
              <a:rPr lang="en-US" dirty="0"/>
              <a:t>Run </a:t>
            </a:r>
            <a:r>
              <a:rPr lang="en-US" dirty="0">
                <a:latin typeface="Courier New"/>
                <a:cs typeface="Courier New"/>
              </a:rPr>
              <a:t>npm outdated </a:t>
            </a:r>
            <a:r>
              <a:rPr lang="en-US" dirty="0"/>
              <a:t>to find out which packages are outdated.</a:t>
            </a:r>
          </a:p>
        </p:txBody>
      </p:sp>
      <p:sp>
        <p:nvSpPr>
          <p:cNvPr id="4" name="Slide Number Placeholder 3"/>
          <p:cNvSpPr>
            <a:spLocks noGrp="1"/>
          </p:cNvSpPr>
          <p:nvPr>
            <p:ph type="sldNum" sz="quarter" idx="12"/>
          </p:nvPr>
        </p:nvSpPr>
        <p:spPr/>
        <p:txBody>
          <a:bodyPr/>
          <a:lstStyle/>
          <a:p>
            <a:fld id="{A839F4A7-500C-EC42-AE23-BEE4487EA55E}" type="slidenum">
              <a:rPr lang="en-US" smtClean="0"/>
              <a:t>52</a:t>
            </a:fld>
            <a:endParaRPr lang="en-US" dirty="0"/>
          </a:p>
        </p:txBody>
      </p:sp>
    </p:spTree>
    <p:extLst>
      <p:ext uri="{BB962C8B-B14F-4D97-AF65-F5344CB8AC3E}">
        <p14:creationId xmlns:p14="http://schemas.microsoft.com/office/powerpoint/2010/main" val="301777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package.json</a:t>
            </a:r>
          </a:p>
        </p:txBody>
      </p:sp>
      <p:sp>
        <p:nvSpPr>
          <p:cNvPr id="3" name="Text Placeholder 2"/>
          <p:cNvSpPr>
            <a:spLocks noGrp="1"/>
          </p:cNvSpPr>
          <p:nvPr>
            <p:ph type="body" idx="1"/>
          </p:nvPr>
        </p:nvSpPr>
        <p:spPr/>
        <p:txBody>
          <a:bodyPr/>
          <a:lstStyle/>
          <a:p>
            <a:r>
              <a:rPr lang="en-US" dirty="0"/>
              <a:t>Manages locally installed npm packages</a:t>
            </a:r>
          </a:p>
          <a:p>
            <a:r>
              <a:rPr lang="en-US" dirty="0"/>
              <a:t>Documents packages your project depends on</a:t>
            </a:r>
          </a:p>
          <a:p>
            <a:r>
              <a:rPr lang="en-US" dirty="0"/>
              <a:t>Specifies the versions of each package your project can use</a:t>
            </a:r>
          </a:p>
          <a:p>
            <a:r>
              <a:rPr lang="en-US" dirty="0"/>
              <a:t>Makes your build reproducible</a:t>
            </a:r>
          </a:p>
          <a:p>
            <a:r>
              <a:rPr lang="en-US" dirty="0"/>
              <a:t>Package versions are specified using Semantic versioning (semver)</a:t>
            </a:r>
          </a:p>
          <a:p>
            <a:r>
              <a:rPr lang="en-US" dirty="0"/>
              <a:t>Semver ranges:</a:t>
            </a:r>
          </a:p>
          <a:p>
            <a:pPr marL="457200" lvl="1" indent="0">
              <a:buNone/>
            </a:pPr>
            <a:r>
              <a:rPr lang="en-US" dirty="0">
                <a:latin typeface="Courier New"/>
                <a:cs typeface="Courier New"/>
              </a:rPr>
              <a:t>~ </a:t>
            </a:r>
            <a:r>
              <a:rPr lang="en-US" dirty="0"/>
              <a:t>: patch release - 1.0.x</a:t>
            </a:r>
          </a:p>
          <a:p>
            <a:pPr marL="457200" lvl="1" indent="0">
              <a:buNone/>
            </a:pPr>
            <a:r>
              <a:rPr lang="en-US" dirty="0">
                <a:latin typeface="Courier New"/>
                <a:cs typeface="Courier New"/>
              </a:rPr>
              <a:t>^ </a:t>
            </a:r>
            <a:r>
              <a:rPr lang="en-US" dirty="0"/>
              <a:t>: minor release - 1.x</a:t>
            </a:r>
          </a:p>
          <a:p>
            <a:pPr marL="457200" lvl="1" indent="0">
              <a:buNone/>
            </a:pPr>
            <a:r>
              <a:rPr lang="en-US" dirty="0">
                <a:latin typeface="Courier New"/>
                <a:cs typeface="Courier New"/>
              </a:rPr>
              <a:t>* </a:t>
            </a:r>
            <a:r>
              <a:rPr lang="en-US" dirty="0"/>
              <a:t>: major release - x</a:t>
            </a:r>
          </a:p>
        </p:txBody>
      </p:sp>
      <p:sp>
        <p:nvSpPr>
          <p:cNvPr id="4" name="Slide Number Placeholder 3"/>
          <p:cNvSpPr>
            <a:spLocks noGrp="1"/>
          </p:cNvSpPr>
          <p:nvPr>
            <p:ph type="sldNum" sz="quarter" idx="12"/>
          </p:nvPr>
        </p:nvSpPr>
        <p:spPr/>
        <p:txBody>
          <a:bodyPr/>
          <a:lstStyle/>
          <a:p>
            <a:fld id="{A839F4A7-500C-EC42-AE23-BEE4487EA55E}" type="slidenum">
              <a:rPr lang="en-US" smtClean="0"/>
              <a:t>53</a:t>
            </a:fld>
            <a:endParaRPr lang="en-US" dirty="0"/>
          </a:p>
        </p:txBody>
      </p:sp>
    </p:spTree>
    <p:extLst>
      <p:ext uri="{BB962C8B-B14F-4D97-AF65-F5344CB8AC3E}">
        <p14:creationId xmlns:p14="http://schemas.microsoft.com/office/powerpoint/2010/main" val="23557390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npm install</a:t>
            </a:r>
          </a:p>
        </p:txBody>
      </p:sp>
      <p:sp>
        <p:nvSpPr>
          <p:cNvPr id="3" name="Text Placeholder 2"/>
          <p:cNvSpPr>
            <a:spLocks noGrp="1"/>
          </p:cNvSpPr>
          <p:nvPr>
            <p:ph type="body" idx="1"/>
          </p:nvPr>
        </p:nvSpPr>
        <p:spPr/>
        <p:txBody>
          <a:bodyPr/>
          <a:lstStyle/>
          <a:p>
            <a:r>
              <a:t>Is used to download and install a package</a:t>
            </a:r>
          </a:p>
          <a:p>
            <a:pPr lvl="1"/>
            <a:r>
              <a:t>(no flag): saves to dependencies — this is the default</a:t>
            </a:r>
          </a:p>
          <a:p>
            <a:pPr lvl="1"/>
            <a:r>
              <a:t>--save-dev (-D): saves to devDependencies</a:t>
            </a:r>
          </a:p>
          <a:p>
            <a:pPr lvl="1"/>
            <a:r>
              <a:t>--save-optional: saves to optionalDependencies</a:t>
            </a:r>
          </a:p>
          <a:p>
            <a:pPr lvl="1"/>
            <a:r>
              <a:t>--save-exact (-E): pins the exact version, no range operator</a:t>
            </a:r>
          </a:p>
          <a:p>
            <a:pPr lvl="1"/>
            <a:r>
              <a:t>--global (-g): installs to a shared location, not the project</a:t>
            </a:r>
          </a:p>
          <a:p>
            <a:r>
              <a:t>npm ci installs strictly from the lockfile — use it in CI</a:t>
            </a:r>
          </a:p>
        </p:txBody>
      </p:sp>
      <p:sp>
        <p:nvSpPr>
          <p:cNvPr id="4" name="Slide Number Placeholder 3"/>
          <p:cNvSpPr>
            <a:spLocks noGrp="1"/>
          </p:cNvSpPr>
          <p:nvPr>
            <p:ph type="sldNum" sz="quarter" idx="12"/>
          </p:nvPr>
        </p:nvSpPr>
        <p:spPr/>
        <p:txBody>
          <a:bodyPr/>
          <a:lstStyle/>
          <a:p>
            <a:fld id="{A839F4A7-500C-EC42-AE23-BEE4487EA55E}" type="slidenum">
              <a:rPr lang="en-US" smtClean="0"/>
              <a:t>54</a:t>
            </a:fld>
            <a:endParaRPr lang="en-US" dirty="0"/>
          </a:p>
        </p:txBody>
      </p:sp>
    </p:spTree>
    <p:extLst>
      <p:ext uri="{BB962C8B-B14F-4D97-AF65-F5344CB8AC3E}">
        <p14:creationId xmlns:p14="http://schemas.microsoft.com/office/powerpoint/2010/main" val="1654901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5BCF-D50E-A649-9C2F-6D03180EF1A0}"/>
              </a:ext>
            </a:extLst>
          </p:cNvPr>
          <p:cNvSpPr>
            <a:spLocks noGrp="1"/>
          </p:cNvSpPr>
          <p:nvPr>
            <p:ph type="title"/>
          </p:nvPr>
        </p:nvSpPr>
        <p:spPr/>
        <p:txBody>
          <a:bodyPr/>
          <a:lstStyle/>
          <a:p>
            <a:r>
              <a:rPr lang="en-US" dirty="0"/>
              <a:t>package.json</a:t>
            </a:r>
          </a:p>
        </p:txBody>
      </p:sp>
      <p:sp>
        <p:nvSpPr>
          <p:cNvPr id="3" name="Text Placeholder 2">
            <a:extLst>
              <a:ext uri="{FF2B5EF4-FFF2-40B4-BE49-F238E27FC236}">
                <a16:creationId xmlns:a16="http://schemas.microsoft.com/office/drawing/2014/main" id="{7E765BCD-DA8A-7844-A5ED-82D9212925A1}"/>
              </a:ext>
            </a:extLst>
          </p:cNvPr>
          <p:cNvSpPr>
            <a:spLocks noGrp="1"/>
          </p:cNvSpPr>
          <p:nvPr>
            <p:ph type="body" idx="1"/>
          </p:nvPr>
        </p:nvSpPr>
        <p:spPr/>
        <p:txBody>
          <a:bodyPr>
            <a:normAutofit lnSpcReduction="10000"/>
          </a:bodyPr>
          <a:lstStyle/>
          <a:p>
            <a:r>
              <a:rPr lang="en-US" dirty="0"/>
              <a:t>Every npm package contains this file</a:t>
            </a:r>
          </a:p>
          <a:p>
            <a:r>
              <a:rPr lang="en-US" dirty="0"/>
              <a:t>Holds metadata relevant to the project</a:t>
            </a:r>
          </a:p>
          <a:p>
            <a:pPr lvl="1"/>
            <a:r>
              <a:rPr lang="en-US" dirty="0"/>
              <a:t>Identifier Metadata</a:t>
            </a:r>
          </a:p>
          <a:p>
            <a:pPr lvl="2"/>
            <a:r>
              <a:rPr lang="en-US" dirty="0"/>
              <a:t>Name</a:t>
            </a:r>
          </a:p>
          <a:p>
            <a:pPr lvl="2"/>
            <a:r>
              <a:rPr lang="en-US" dirty="0"/>
              <a:t>Version</a:t>
            </a:r>
          </a:p>
          <a:p>
            <a:pPr lvl="2"/>
            <a:r>
              <a:rPr lang="en-US" dirty="0"/>
              <a:t>License</a:t>
            </a:r>
          </a:p>
          <a:p>
            <a:pPr lvl="2"/>
            <a:r>
              <a:rPr lang="en-US" dirty="0"/>
              <a:t>Description</a:t>
            </a:r>
          </a:p>
          <a:p>
            <a:pPr lvl="1"/>
            <a:r>
              <a:rPr lang="en-US" dirty="0"/>
              <a:t>Functional Metadata</a:t>
            </a:r>
          </a:p>
          <a:p>
            <a:pPr lvl="2"/>
            <a:r>
              <a:rPr lang="en-US" dirty="0"/>
              <a:t>Entry point</a:t>
            </a:r>
          </a:p>
          <a:p>
            <a:pPr lvl="2"/>
            <a:r>
              <a:rPr lang="en-US" dirty="0"/>
              <a:t>Repository</a:t>
            </a:r>
          </a:p>
          <a:p>
            <a:pPr lvl="2"/>
            <a:r>
              <a:rPr lang="en-US" dirty="0"/>
              <a:t>Scripts</a:t>
            </a:r>
          </a:p>
          <a:p>
            <a:pPr lvl="2"/>
            <a:r>
              <a:rPr lang="en-US" dirty="0"/>
              <a:t>Dependencies</a:t>
            </a:r>
          </a:p>
          <a:p>
            <a:pPr lvl="2"/>
            <a:r>
              <a:rPr lang="en-US" dirty="0"/>
              <a:t>Dev Dependencies</a:t>
            </a:r>
          </a:p>
          <a:p>
            <a:pPr lvl="2"/>
            <a:endParaRPr lang="en-US" dirty="0"/>
          </a:p>
        </p:txBody>
      </p:sp>
    </p:spTree>
    <p:extLst>
      <p:ext uri="{BB962C8B-B14F-4D97-AF65-F5344CB8AC3E}">
        <p14:creationId xmlns:p14="http://schemas.microsoft.com/office/powerpoint/2010/main" val="19950978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F96EB-90B9-C045-90B0-5943BB46A8D0}"/>
              </a:ext>
            </a:extLst>
          </p:cNvPr>
          <p:cNvSpPr>
            <a:spLocks noGrp="1"/>
          </p:cNvSpPr>
          <p:nvPr>
            <p:ph type="title"/>
          </p:nvPr>
        </p:nvSpPr>
        <p:spPr/>
        <p:txBody>
          <a:bodyPr/>
          <a:lstStyle/>
          <a:p>
            <a:r>
              <a:rPr lang="en-US" dirty="0"/>
              <a:t>Lab 08: Making a Web Server</a:t>
            </a:r>
          </a:p>
        </p:txBody>
      </p:sp>
      <p:sp>
        <p:nvSpPr>
          <p:cNvPr id="3" name="Content Placeholder 2">
            <a:extLst>
              <a:ext uri="{FF2B5EF4-FFF2-40B4-BE49-F238E27FC236}">
                <a16:creationId xmlns:a16="http://schemas.microsoft.com/office/drawing/2014/main" id="{649F501A-2966-B744-8605-B3F4FD107192}"/>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047423F7-14D2-2046-843E-353D6899EA40}"/>
              </a:ext>
            </a:extLst>
          </p:cNvPr>
          <p:cNvSpPr>
            <a:spLocks noGrp="1"/>
          </p:cNvSpPr>
          <p:nvPr>
            <p:ph type="sldNum" sz="quarter" idx="12"/>
          </p:nvPr>
        </p:nvSpPr>
        <p:spPr/>
        <p:txBody>
          <a:bodyPr/>
          <a:lstStyle/>
          <a:p>
            <a:fld id="{6FFFF67E-EC6A-B940-8DC7-BF9A5925C934}" type="slidenum">
              <a:rPr lang="en-US" smtClean="0"/>
              <a:t>56</a:t>
            </a:fld>
            <a:endParaRPr lang="en-US" dirty="0"/>
          </a:p>
        </p:txBody>
      </p:sp>
    </p:spTree>
    <p:extLst>
      <p:ext uri="{BB962C8B-B14F-4D97-AF65-F5344CB8AC3E}">
        <p14:creationId xmlns:p14="http://schemas.microsoft.com/office/powerpoint/2010/main" val="37586628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189E-8376-4146-BB3D-0BC40E04061E}"/>
              </a:ext>
            </a:extLst>
          </p:cNvPr>
          <p:cNvSpPr>
            <a:spLocks noGrp="1"/>
          </p:cNvSpPr>
          <p:nvPr>
            <p:ph type="title"/>
          </p:nvPr>
        </p:nvSpPr>
        <p:spPr/>
        <p:txBody>
          <a:bodyPr>
            <a:normAutofit fontScale="90000"/>
          </a:bodyPr>
          <a:lstStyle/>
          <a:p>
            <a:r>
              <a:t>Demo / Code-along: Set up your own tooling</a:t>
            </a:r>
          </a:p>
        </p:txBody>
      </p:sp>
      <p:sp>
        <p:nvSpPr>
          <p:cNvPr id="7" name="Content Placeholder 6">
            <a:extLst>
              <a:ext uri="{FF2B5EF4-FFF2-40B4-BE49-F238E27FC236}">
                <a16:creationId xmlns:a16="http://schemas.microsoft.com/office/drawing/2014/main" id="{EA0A11FC-0F4A-564C-82BB-990EC2448055}"/>
              </a:ext>
            </a:extLst>
          </p:cNvPr>
          <p:cNvSpPr>
            <a:spLocks noGrp="1"/>
          </p:cNvSpPr>
          <p:nvPr>
            <p:ph idx="1"/>
          </p:nvPr>
        </p:nvSpPr>
        <p:spPr/>
        <p:txBody>
          <a:bodyPr/>
          <a:lstStyle/>
          <a:p>
            <a:r>
              <a:t>How to create a Vue.js app with single-file components, starting from an empty directory.</a:t>
            </a:r>
          </a:p>
          <a:p>
            <a:r>
              <a:t>github.com/watzthisco/pro-vue/demos/Vue-Starter</a:t>
            </a:r>
          </a:p>
          <a:p>
            <a:r>
              <a:t>Three dependencies: vue, vite, @vitejs/plugin-vue</a:t>
            </a:r>
          </a:p>
        </p:txBody>
      </p:sp>
      <p:sp>
        <p:nvSpPr>
          <p:cNvPr id="4" name="Slide Number Placeholder 3">
            <a:extLst>
              <a:ext uri="{FF2B5EF4-FFF2-40B4-BE49-F238E27FC236}">
                <a16:creationId xmlns:a16="http://schemas.microsoft.com/office/drawing/2014/main" id="{AB09DBD8-2A94-1C48-9B35-CB0F53CFE6F1}"/>
              </a:ext>
            </a:extLst>
          </p:cNvPr>
          <p:cNvSpPr>
            <a:spLocks noGrp="1"/>
          </p:cNvSpPr>
          <p:nvPr>
            <p:ph type="sldNum" sz="quarter" idx="12"/>
          </p:nvPr>
        </p:nvSpPr>
        <p:spPr/>
        <p:txBody>
          <a:bodyPr/>
          <a:lstStyle/>
          <a:p>
            <a:fld id="{6FFFF67E-EC6A-B940-8DC7-BF9A5925C934}" type="slidenum">
              <a:rPr lang="en-US" smtClean="0"/>
              <a:t>57</a:t>
            </a:fld>
            <a:endParaRPr lang="en-US"/>
          </a:p>
        </p:txBody>
      </p:sp>
    </p:spTree>
    <p:extLst>
      <p:ext uri="{BB962C8B-B14F-4D97-AF65-F5344CB8AC3E}">
        <p14:creationId xmlns:p14="http://schemas.microsoft.com/office/powerpoint/2010/main" val="3326523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dirty="0"/>
            </a:br>
            <a:r>
              <a:t>Static Code Analysis</a:t>
            </a:r>
          </a:p>
        </p:txBody>
      </p:sp>
      <p:sp>
        <p:nvSpPr>
          <p:cNvPr id="5" name="Subtitle 4"/>
          <p:cNvSpPr>
            <a:spLocks noGrp="1"/>
          </p:cNvSpPr>
          <p:nvPr>
            <p:ph type="subTitle" idx="1"/>
          </p:nvPr>
        </p:nvSpPr>
        <p:spPr/>
        <p:txBody>
          <a:bodyPr>
            <a:normAutofit fontScale="92500" lnSpcReduction="10000"/>
          </a:bodyPr>
          <a:lstStyle/>
          <a:p>
            <a:pPr algn="l"/>
            <a:r>
              <a:t>Objectives</a:t>
            </a:r>
          </a:p>
          <a:p>
            <a:pPr lvl="1" algn="l"/>
            <a:r>
              <a:t>Learn about lint tools</a:t>
            </a:r>
          </a:p>
          <a:p>
            <a:pPr lvl="1" algn="l"/>
            <a:r>
              <a:t>Use ESLint</a:t>
            </a:r>
          </a:p>
          <a:p>
            <a:pPr lvl="1" algn="l"/>
            <a:r>
              <a:t>Configure ESLint with a flat config</a:t>
            </a:r>
          </a:p>
          <a:p>
            <a:pPr lvl="1" algn="l"/>
            <a:r>
              <a:t>Manual testing with a local dev server</a:t>
            </a:r>
          </a:p>
        </p:txBody>
      </p:sp>
      <p:sp>
        <p:nvSpPr>
          <p:cNvPr id="3" name="Slide Number Placeholder 2"/>
          <p:cNvSpPr>
            <a:spLocks noGrp="1"/>
          </p:cNvSpPr>
          <p:nvPr>
            <p:ph type="sldNum" sz="quarter" idx="12"/>
          </p:nvPr>
        </p:nvSpPr>
        <p:spPr/>
        <p:txBody>
          <a:bodyPr/>
          <a:lstStyle/>
          <a:p>
            <a:fld id="{6FFFF67E-EC6A-B940-8DC7-BF9A5925C934}" type="slidenum">
              <a:rPr lang="en-US" smtClean="0"/>
              <a:t>58</a:t>
            </a:fld>
            <a:endParaRPr lang="en-US" dirty="0"/>
          </a:p>
        </p:txBody>
      </p:sp>
    </p:spTree>
    <p:extLst>
      <p:ext uri="{BB962C8B-B14F-4D97-AF65-F5344CB8AC3E}">
        <p14:creationId xmlns:p14="http://schemas.microsoft.com/office/powerpoint/2010/main" val="16474681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Lint tools</a:t>
            </a:r>
          </a:p>
        </p:txBody>
      </p:sp>
      <p:sp>
        <p:nvSpPr>
          <p:cNvPr id="3" name="Text Placeholder 2"/>
          <p:cNvSpPr>
            <a:spLocks noGrp="1"/>
          </p:cNvSpPr>
          <p:nvPr>
            <p:ph type="body" idx="1"/>
          </p:nvPr>
        </p:nvSpPr>
        <p:spPr/>
        <p:txBody>
          <a:bodyPr/>
          <a:lstStyle/>
          <a:p>
            <a:pPr rtl="0"/>
            <a:r>
              <a:t>ESLint</a:t>
            </a:r>
          </a:p>
          <a:p>
            <a:pPr lvl="1" rtl="0"/>
            <a:r>
              <a:t>The standard. Pluggable, and "agenda free" - it does not push a particular style</a:t>
            </a:r>
          </a:p>
          <a:p>
            <a:pPr lvl="1" rtl="0"/>
            <a:r>
              <a:t>Flat config (eslint.config.js) since version 9</a:t>
            </a:r>
          </a:p>
          <a:p>
            <a:pPr rtl="0"/>
            <a:r>
              <a:t>Biome</a:t>
            </a:r>
          </a:p>
          <a:p>
            <a:pPr lvl="1" rtl="0"/>
            <a:r>
              <a:t>Linter and formatter in one, written in Rust</a:t>
            </a:r>
          </a:p>
          <a:p>
            <a:pPr rtl="0"/>
            <a:r>
              <a:t>oxlint</a:t>
            </a:r>
          </a:p>
          <a:p>
            <a:pPr lvl="1" rtl="0"/>
            <a:r>
              <a:t>A very fast linter, also Rust; often run alongside ESLint</a:t>
            </a:r>
          </a:p>
          <a:p>
            <a:pPr rtl="0"/>
            <a:r>
              <a:t>Prettier</a:t>
            </a:r>
          </a:p>
          <a:p>
            <a:pPr lvl="1" rtl="0"/>
            <a:r>
              <a:t>A formatter, not a linter - it is about layout, not correctness</a:t>
            </a:r>
          </a:p>
          <a:p>
            <a:pPr rtl="0"/>
            <a:r>
              <a:t>JSLint and JSHint came first, and are now rarely used.</a:t>
            </a:r>
          </a:p>
        </p:txBody>
      </p:sp>
      <p:sp>
        <p:nvSpPr>
          <p:cNvPr id="4" name="Slide Number Placeholder 3"/>
          <p:cNvSpPr>
            <a:spLocks noGrp="1"/>
          </p:cNvSpPr>
          <p:nvPr>
            <p:ph type="sldNum" sz="quarter" idx="12"/>
          </p:nvPr>
        </p:nvSpPr>
        <p:spPr/>
        <p:txBody>
          <a:bodyPr/>
          <a:lstStyle/>
          <a:p>
            <a:fld id="{A839F4A7-500C-EC42-AE23-BEE4487EA55E}" type="slidenum">
              <a:rPr lang="en-US" smtClean="0"/>
              <a:t>59</a:t>
            </a:fld>
            <a:endParaRPr lang="en-US" dirty="0"/>
          </a:p>
        </p:txBody>
      </p:sp>
    </p:spTree>
    <p:extLst>
      <p:ext uri="{BB962C8B-B14F-4D97-AF65-F5344CB8AC3E}">
        <p14:creationId xmlns:p14="http://schemas.microsoft.com/office/powerpoint/2010/main" val="20702942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Configuring ESLint</a:t>
            </a:r>
          </a:p>
        </p:txBody>
      </p:sp>
      <p:sp>
        <p:nvSpPr>
          <p:cNvPr id="6" name="Text Placeholder 5"/>
          <p:cNvSpPr>
            <a:spLocks noGrp="1"/>
          </p:cNvSpPr>
          <p:nvPr>
            <p:ph type="body" idx="1"/>
          </p:nvPr>
        </p:nvSpPr>
        <p:spPr/>
        <p:txBody>
          <a:bodyPr/>
          <a:lstStyle/>
          <a:p>
            <a:r>
              <a:t>Two ways</a:t>
            </a:r>
          </a:p>
          <a:p>
            <a:pPr lvl="1"/>
            <a:r>
              <a:t>Configuration comments</a:t>
            </a:r>
          </a:p>
          <a:p>
            <a:pPr lvl="2"/>
            <a:r>
              <a:t>embed configuration info in JS files with comments</a:t>
            </a:r>
          </a:p>
          <a:p>
            <a:pPr lvl="2"/>
            <a:r>
              <a:t>/* eslint eqeqeq: "off", curly: "error" */</a:t>
            </a:r>
          </a:p>
          <a:p>
            <a:pPr lvl="1"/>
            <a:r>
              <a:t>Configuration files</a:t>
            </a:r>
          </a:p>
          <a:p>
            <a:pPr lvl="2"/>
            <a:r>
              <a:t>eslint.config.js — the "flat config" format</a:t>
            </a:r>
          </a:p>
          <a:p>
            <a:r>
              <a:t>Flat config became the default in ESLint 9</a:t>
            </a:r>
          </a:p>
          <a:p>
            <a:pPr lvl="1"/>
            <a:r>
              <a:t>It exports an array; each entry applies to the files it matches</a:t>
            </a:r>
          </a:p>
          <a:p>
            <a:pPr lvl="1"/>
            <a:r>
              <a:t>.eslintrc.* and .eslintignore were removed in ESLint 10</a:t>
            </a:r>
          </a:p>
        </p:txBody>
      </p:sp>
      <p:sp>
        <p:nvSpPr>
          <p:cNvPr id="2" name="Slide Number Placeholder 1"/>
          <p:cNvSpPr>
            <a:spLocks noGrp="1"/>
          </p:cNvSpPr>
          <p:nvPr>
            <p:ph type="sldNum" sz="quarter" idx="12"/>
          </p:nvPr>
        </p:nvSpPr>
        <p:spPr/>
        <p:txBody>
          <a:bodyPr/>
          <a:lstStyle/>
          <a:p>
            <a:fld id="{6FFFF67E-EC6A-B940-8DC7-BF9A5925C934}" type="slidenum">
              <a:rPr lang="en-US" smtClean="0"/>
              <a:t>60</a:t>
            </a:fld>
            <a:endParaRPr lang="en-US" dirty="0"/>
          </a:p>
        </p:txBody>
      </p:sp>
    </p:spTree>
    <p:extLst>
      <p:ext uri="{BB962C8B-B14F-4D97-AF65-F5344CB8AC3E}">
        <p14:creationId xmlns:p14="http://schemas.microsoft.com/office/powerpoint/2010/main" val="4517208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ESLint: What Can Be Configured?</a:t>
            </a:r>
          </a:p>
        </p:txBody>
      </p:sp>
      <p:sp>
        <p:nvSpPr>
          <p:cNvPr id="3" name="Text Placeholder 2"/>
          <p:cNvSpPr>
            <a:spLocks noGrp="1"/>
          </p:cNvSpPr>
          <p:nvPr>
            <p:ph type="body" idx="1"/>
          </p:nvPr>
        </p:nvSpPr>
        <p:spPr/>
        <p:txBody>
          <a:bodyPr/>
          <a:lstStyle/>
          <a:p>
            <a:r>
              <a:t>languageOptions</a:t>
            </a:r>
          </a:p>
          <a:p>
            <a:pPr lvl="1"/>
            <a:r>
              <a:t>ecmaVersion, sourceType, and the parser to use</a:t>
            </a:r>
          </a:p>
          <a:p>
            <a:pPr lvl="1"/>
            <a:r>
              <a:t>globals — the predefined variables the code can rely on</a:t>
            </a:r>
          </a:p>
          <a:p>
            <a:r>
              <a:t>files / ignores</a:t>
            </a:r>
          </a:p>
          <a:p>
            <a:pPr lvl="1"/>
            <a:r>
              <a:t>Which paths this configuration object applies to</a:t>
            </a:r>
          </a:p>
          <a:p>
            <a:r>
              <a:t>plugins</a:t>
            </a:r>
          </a:p>
          <a:p>
            <a:pPr lvl="1"/>
            <a:r>
              <a:t>Imported objects now, not strings resolved by name</a:t>
            </a:r>
          </a:p>
          <a:p>
            <a:r>
              <a:t>rules</a:t>
            </a:r>
          </a:p>
          <a:p>
            <a:pPr lvl="1"/>
            <a:r>
              <a:t>Enable rules at different levels</a:t>
            </a:r>
          </a:p>
        </p:txBody>
      </p:sp>
      <p:sp>
        <p:nvSpPr>
          <p:cNvPr id="4" name="Slide Number Placeholder 3"/>
          <p:cNvSpPr>
            <a:spLocks noGrp="1"/>
          </p:cNvSpPr>
          <p:nvPr>
            <p:ph type="sldNum" sz="quarter" idx="12"/>
          </p:nvPr>
        </p:nvSpPr>
        <p:spPr/>
        <p:txBody>
          <a:bodyPr/>
          <a:lstStyle/>
          <a:p>
            <a:fld id="{A839F4A7-500C-EC42-AE23-BEE4487EA55E}" type="slidenum">
              <a:rPr lang="en-US" smtClean="0"/>
              <a:t>61</a:t>
            </a:fld>
            <a:endParaRPr lang="en-US" dirty="0"/>
          </a:p>
        </p:txBody>
      </p:sp>
    </p:spTree>
    <p:extLst>
      <p:ext uri="{BB962C8B-B14F-4D97-AF65-F5344CB8AC3E}">
        <p14:creationId xmlns:p14="http://schemas.microsoft.com/office/powerpoint/2010/main" val="23554648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ESLint Rules</a:t>
            </a:r>
          </a:p>
        </p:txBody>
      </p:sp>
      <p:sp>
        <p:nvSpPr>
          <p:cNvPr id="3" name="Text Placeholder 2"/>
          <p:cNvSpPr>
            <a:spLocks noGrp="1"/>
          </p:cNvSpPr>
          <p:nvPr>
            <p:ph type="body" idx="1"/>
          </p:nvPr>
        </p:nvSpPr>
        <p:spPr/>
        <p:txBody>
          <a:bodyPr>
            <a:normAutofit lnSpcReduction="10000"/>
          </a:bodyPr>
          <a:lstStyle/>
          <a:p>
            <a:r>
              <a:rPr lang="en-US" dirty="0"/>
              <a:t>3 Levels</a:t>
            </a:r>
          </a:p>
          <a:p>
            <a:pPr lvl="1"/>
            <a:r>
              <a:rPr lang="en-US" dirty="0"/>
              <a:t>"off" or 0</a:t>
            </a:r>
          </a:p>
          <a:p>
            <a:pPr lvl="2"/>
            <a:r>
              <a:rPr lang="en-US" dirty="0"/>
              <a:t>Rule not applied.</a:t>
            </a:r>
          </a:p>
          <a:p>
            <a:pPr lvl="1"/>
            <a:r>
              <a:rPr lang="en-US" dirty="0"/>
              <a:t>"warn" or 1</a:t>
            </a:r>
          </a:p>
          <a:p>
            <a:pPr lvl="2"/>
            <a:r>
              <a:rPr lang="en-US" dirty="0"/>
              <a:t>Warn but don't exit.</a:t>
            </a:r>
          </a:p>
          <a:p>
            <a:pPr lvl="1"/>
            <a:r>
              <a:rPr lang="en-US" dirty="0"/>
              <a:t>"error" or 2</a:t>
            </a:r>
          </a:p>
          <a:p>
            <a:pPr lvl="2"/>
            <a:r>
              <a:rPr lang="en-US" dirty="0"/>
              <a:t>Error and exit.</a:t>
            </a:r>
          </a:p>
          <a:p>
            <a:pPr marL="0" indent="0">
              <a:buNone/>
            </a:pPr>
            <a:r>
              <a:rPr lang="en-US" sz="1800" dirty="0">
                <a:latin typeface="Courier New"/>
                <a:cs typeface="Courier New"/>
              </a:rPr>
              <a:t>Example rules</a:t>
            </a:r>
            <a:endParaRPr lang="en-US" sz="1800">
              <a:latin typeface="Courier New"/>
              <a:cs typeface="Courier New"/>
            </a:endParaRPr>
          </a:p>
          <a:p>
            <a:pPr marL="0" lvl="2" indent="0">
              <a:buNone/>
            </a:pPr>
            <a:r>
              <a:rPr lang="en-US" dirty="0">
                <a:latin typeface="Courier New"/>
                <a:cs typeface="Courier New"/>
              </a:rPr>
              <a:t>{</a:t>
            </a:r>
            <a:br>
              <a:rPr lang="en-US" dirty="0">
                <a:latin typeface="Courier New"/>
                <a:cs typeface="Courier New"/>
              </a:rPr>
            </a:br>
            <a:r>
              <a:rPr lang="en-US" dirty="0">
                <a:latin typeface="Courier New"/>
                <a:cs typeface="Courier New"/>
              </a:rPr>
              <a:t>    "rules": {</a:t>
            </a:r>
            <a:br>
              <a:rPr lang="en-US" dirty="0">
                <a:latin typeface="Courier New"/>
                <a:cs typeface="Courier New"/>
              </a:rPr>
            </a:br>
            <a:r>
              <a:rPr lang="en-US" dirty="0">
                <a:latin typeface="Courier New"/>
                <a:cs typeface="Courier New"/>
              </a:rPr>
              <a:t>    "eqeqeq": "off",</a:t>
            </a:r>
            <a:br>
              <a:rPr lang="en-US" dirty="0">
                <a:latin typeface="Courier New"/>
                <a:cs typeface="Courier New"/>
              </a:rPr>
            </a:br>
            <a:r>
              <a:rPr lang="en-US" dirty="0">
                <a:latin typeface="Courier New"/>
                <a:cs typeface="Courier New"/>
              </a:rPr>
              <a:t>    "curly": "error",</a:t>
            </a:r>
            <a:br>
              <a:rPr lang="en-US" dirty="0">
                <a:latin typeface="Courier New"/>
                <a:cs typeface="Courier New"/>
              </a:rPr>
            </a:br>
            <a:r>
              <a:rPr lang="en-US" dirty="0">
                <a:latin typeface="Courier New"/>
                <a:cs typeface="Courier New"/>
              </a:rPr>
              <a:t>    "quotes": ["error", "double"]</a:t>
            </a:r>
            <a:br>
              <a:rPr lang="en-US" dirty="0">
                <a:latin typeface="Courier New"/>
                <a:cs typeface="Courier New"/>
              </a:rPr>
            </a:br>
            <a:r>
              <a:rPr lang="en-US" dirty="0">
                <a:latin typeface="Courier New"/>
                <a:cs typeface="Courier New"/>
              </a:rPr>
              <a:t>}</a:t>
            </a:r>
            <a:br>
              <a:rPr lang="en-US" dirty="0">
                <a:latin typeface="Courier New"/>
                <a:cs typeface="Courier New"/>
              </a:rPr>
            </a:br>
            <a:r>
              <a:rPr lang="en-US" dirty="0">
                <a:latin typeface="Courier New"/>
                <a:cs typeface="Courier New"/>
              </a:rPr>
              <a:t>}</a:t>
            </a:r>
            <a:endParaRPr lang="en-US" sz="12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62</a:t>
            </a:fld>
            <a:endParaRPr lang="en-US" dirty="0"/>
          </a:p>
        </p:txBody>
      </p:sp>
    </p:spTree>
    <p:extLst>
      <p:ext uri="{BB962C8B-B14F-4D97-AF65-F5344CB8AC3E}">
        <p14:creationId xmlns:p14="http://schemas.microsoft.com/office/powerpoint/2010/main" val="10336142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Lab 09 - Automate Linting</a:t>
            </a:r>
          </a:p>
        </p:txBody>
      </p:sp>
      <p:sp>
        <p:nvSpPr>
          <p:cNvPr id="3" name="Text Placeholder 2"/>
          <p:cNvSpPr>
            <a:spLocks noGrp="1"/>
          </p:cNvSpPr>
          <p:nvPr>
            <p:ph type="body" idx="1"/>
          </p:nvPr>
        </p:nvSpPr>
        <p:spPr/>
        <p:txBody>
          <a:bodyPr/>
          <a:lstStyle/>
          <a:p>
            <a:r>
              <a:t>Install ESLint into the project</a:t>
            </a:r>
          </a:p>
          <a:p>
            <a:r>
              <a:t>Write an eslint.config.js flat config</a:t>
            </a:r>
          </a:p>
          <a:p>
            <a:r>
              <a:t>Create an npm script called "lint"</a:t>
            </a:r>
          </a:p>
          <a:p>
            <a:r>
              <a:t>Make the lint task a dependency of the default build task</a:t>
            </a:r>
          </a:p>
        </p:txBody>
      </p:sp>
      <p:sp>
        <p:nvSpPr>
          <p:cNvPr id="4" name="Slide Number Placeholder 3"/>
          <p:cNvSpPr>
            <a:spLocks noGrp="1"/>
          </p:cNvSpPr>
          <p:nvPr>
            <p:ph type="sldNum" sz="quarter" idx="12"/>
          </p:nvPr>
        </p:nvSpPr>
        <p:spPr/>
        <p:txBody>
          <a:bodyPr/>
          <a:lstStyle/>
          <a:p>
            <a:fld id="{A839F4A7-500C-EC42-AE23-BEE4487EA55E}" type="slidenum">
              <a:rPr lang="en-US" smtClean="0"/>
              <a:t>63</a:t>
            </a:fld>
            <a:endParaRPr lang="en-US" dirty="0"/>
          </a:p>
        </p:txBody>
      </p:sp>
    </p:spTree>
    <p:extLst>
      <p:ext uri="{BB962C8B-B14F-4D97-AF65-F5344CB8AC3E}">
        <p14:creationId xmlns:p14="http://schemas.microsoft.com/office/powerpoint/2010/main" val="18549553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6A5B-CCB9-EF4B-AE73-9D6203ADA4C3}"/>
              </a:ext>
            </a:extLst>
          </p:cNvPr>
          <p:cNvSpPr>
            <a:spLocks noGrp="1"/>
          </p:cNvSpPr>
          <p:nvPr>
            <p:ph type="title"/>
          </p:nvPr>
        </p:nvSpPr>
        <p:spPr/>
        <p:txBody>
          <a:bodyPr/>
          <a:lstStyle/>
          <a:p>
            <a:r>
              <a:t>Transpilers</a:t>
            </a:r>
          </a:p>
        </p:txBody>
      </p:sp>
      <p:sp>
        <p:nvSpPr>
          <p:cNvPr id="3" name="Text Placeholder 2">
            <a:extLst>
              <a:ext uri="{FF2B5EF4-FFF2-40B4-BE49-F238E27FC236}">
                <a16:creationId xmlns:a16="http://schemas.microsoft.com/office/drawing/2014/main" id="{8ED2D117-023A-DF4D-A7A8-D4FC824B1C17}"/>
              </a:ext>
            </a:extLst>
          </p:cNvPr>
          <p:cNvSpPr>
            <a:spLocks noGrp="1"/>
          </p:cNvSpPr>
          <p:nvPr>
            <p:ph type="body" idx="1"/>
          </p:nvPr>
        </p:nvSpPr>
        <p:spPr/>
        <p:txBody>
          <a:bodyPr/>
          <a:lstStyle/>
          <a:p>
            <a:r>
              <a:t>Not all browsers support the same JavaScript and CSS features.</a:t>
            </a:r>
          </a:p>
          <a:p>
            <a:r>
              <a:t>https://caniuse.com</a:t>
            </a:r>
          </a:p>
          <a:p>
            <a:r>
              <a:t>Transpilers convert modern code to a form older browsers accept.</a:t>
            </a:r>
          </a:p>
          <a:p>
            <a:r>
              <a:t>Vite does this for you at build time, guided by browserslist.</a:t>
            </a:r>
          </a:p>
          <a:p>
            <a:pPr lvl="1"/>
            <a:r>
              <a:t>esbuild handles the syntax; the target defaults to browsers with native ES module support.</a:t>
            </a:r>
          </a:p>
        </p:txBody>
      </p:sp>
    </p:spTree>
    <p:extLst>
      <p:ext uri="{BB962C8B-B14F-4D97-AF65-F5344CB8AC3E}">
        <p14:creationId xmlns:p14="http://schemas.microsoft.com/office/powerpoint/2010/main" val="8924703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2BC2EC-2615-E54C-8D68-D71549BFB37D}"/>
              </a:ext>
            </a:extLst>
          </p:cNvPr>
          <p:cNvSpPr>
            <a:spLocks noGrp="1"/>
          </p:cNvSpPr>
          <p:nvPr>
            <p:ph type="title"/>
          </p:nvPr>
        </p:nvSpPr>
        <p:spPr/>
        <p:txBody>
          <a:bodyPr/>
          <a:lstStyle/>
          <a:p>
            <a:r>
              <a:rPr lang="en-US" dirty="0"/>
              <a:t>Browser compat-table</a:t>
            </a:r>
          </a:p>
        </p:txBody>
      </p:sp>
      <p:sp>
        <p:nvSpPr>
          <p:cNvPr id="4" name="Slide Number Placeholder 3">
            <a:extLst>
              <a:ext uri="{FF2B5EF4-FFF2-40B4-BE49-F238E27FC236}">
                <a16:creationId xmlns:a16="http://schemas.microsoft.com/office/drawing/2014/main" id="{49AC0A7A-3DDA-1443-B30A-009794A96BFE}"/>
              </a:ext>
            </a:extLst>
          </p:cNvPr>
          <p:cNvSpPr>
            <a:spLocks noGrp="1"/>
          </p:cNvSpPr>
          <p:nvPr>
            <p:ph type="sldNum" sz="quarter" idx="12"/>
          </p:nvPr>
        </p:nvSpPr>
        <p:spPr/>
        <p:txBody>
          <a:bodyPr/>
          <a:lstStyle/>
          <a:p>
            <a:fld id="{A839F4A7-500C-EC42-AE23-BEE4487EA55E}" type="slidenum">
              <a:rPr lang="en-US" smtClean="0"/>
              <a:t>65</a:t>
            </a:fld>
            <a:endParaRPr lang="en-US" dirty="0"/>
          </a:p>
        </p:txBody>
      </p:sp>
      <p:pic>
        <p:nvPicPr>
          <p:cNvPr id="2" name="Content Placeholder 11" descr="A screenshot of a video game&#10;&#10;Description automatically generated">
            <a:extLst>
              <a:ext uri="{FF2B5EF4-FFF2-40B4-BE49-F238E27FC236}">
                <a16:creationId xmlns:a16="http://schemas.microsoft.com/office/drawing/2014/main" id="{554743B6-9B53-67A8-9E40-951999A4F775}"/>
              </a:ext>
            </a:extLst>
          </p:cNvPr>
          <p:cNvPicPr>
            <a:picLocks noChangeAspect="1"/>
          </p:cNvPicPr>
          <p:nvPr/>
        </p:nvPicPr>
        <p:blipFill>
          <a:blip r:embed="rId2"/>
          <a:stretch>
            <a:fillRect/>
          </a:stretch>
        </p:blipFill>
        <p:spPr>
          <a:xfrm>
            <a:off x="609600" y="1917962"/>
            <a:ext cx="8229600" cy="4195239"/>
          </a:xfrm>
          <a:prstGeom prst="rect">
            <a:avLst/>
          </a:prstGeom>
        </p:spPr>
      </p:pic>
      <p:sp>
        <p:nvSpPr>
          <p:cNvPr id="6" name="Content Placeholder 5">
            <a:extLst>
              <a:ext uri="{FF2B5EF4-FFF2-40B4-BE49-F238E27FC236}">
                <a16:creationId xmlns:a16="http://schemas.microsoft.com/office/drawing/2014/main" id="{5C7604C7-E9FC-DB14-B0F6-B4230547674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1267229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t>Babel and esbuild</a:t>
            </a:r>
          </a:p>
        </p:txBody>
      </p:sp>
      <p:sp>
        <p:nvSpPr>
          <p:cNvPr id="3" name="Text Placeholder 2"/>
          <p:cNvSpPr>
            <a:spLocks noGrp="1"/>
          </p:cNvSpPr>
          <p:nvPr>
            <p:ph type="body" idx="1"/>
          </p:nvPr>
        </p:nvSpPr>
        <p:spPr/>
        <p:txBody>
          <a:bodyPr/>
          <a:lstStyle/>
          <a:p>
            <a:r>
              <a:rPr dirty="0"/>
              <a:t>Babel is a </a:t>
            </a:r>
            <a:r>
              <a:rPr dirty="0" err="1"/>
              <a:t>transpiler</a:t>
            </a:r>
            <a:r>
              <a:rPr dirty="0"/>
              <a:t>.</a:t>
            </a:r>
          </a:p>
          <a:p>
            <a:pPr lvl="1"/>
            <a:r>
              <a:rPr dirty="0"/>
              <a:t>Plugin-based, and the reference implementation for new syntax</a:t>
            </a:r>
          </a:p>
          <a:p>
            <a:r>
              <a:rPr dirty="0"/>
              <a:t>Vite uses </a:t>
            </a:r>
            <a:r>
              <a:rPr dirty="0" err="1"/>
              <a:t>esbuild</a:t>
            </a:r>
            <a:r>
              <a:rPr dirty="0"/>
              <a:t> instead for its dev-time transform</a:t>
            </a:r>
          </a:p>
          <a:p>
            <a:pPr lvl="1"/>
            <a:r>
              <a:rPr dirty="0"/>
              <a:t>Written in Go, and roughly two orders of magnitude faster</a:t>
            </a:r>
          </a:p>
          <a:p>
            <a:r>
              <a:rPr dirty="0"/>
              <a:t>You rarely configure either one directly in a Vite project</a:t>
            </a:r>
          </a:p>
        </p:txBody>
      </p:sp>
      <p:sp>
        <p:nvSpPr>
          <p:cNvPr id="4" name="Slide Number Placeholder 3"/>
          <p:cNvSpPr>
            <a:spLocks noGrp="1"/>
          </p:cNvSpPr>
          <p:nvPr>
            <p:ph type="sldNum" sz="quarter" idx="12"/>
          </p:nvPr>
        </p:nvSpPr>
        <p:spPr/>
        <p:txBody>
          <a:bodyPr/>
          <a:lstStyle/>
          <a:p>
            <a:fld id="{A839F4A7-500C-EC42-AE23-BEE4487EA55E}" type="slidenum">
              <a:rPr lang="en-US" smtClean="0"/>
              <a:t>66</a:t>
            </a:fld>
            <a:endParaRPr lang="en-US" dirty="0"/>
          </a:p>
        </p:txBody>
      </p:sp>
    </p:spTree>
    <p:extLst>
      <p:ext uri="{BB962C8B-B14F-4D97-AF65-F5344CB8AC3E}">
        <p14:creationId xmlns:p14="http://schemas.microsoft.com/office/powerpoint/2010/main" val="3877279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71884E-BE35-2B43-B7ED-EE02B6FB27D8}"/>
              </a:ext>
            </a:extLst>
          </p:cNvPr>
          <p:cNvSpPr>
            <a:spLocks noGrp="1"/>
          </p:cNvSpPr>
          <p:nvPr>
            <p:ph type="title"/>
          </p:nvPr>
        </p:nvSpPr>
        <p:spPr/>
        <p:txBody>
          <a:bodyPr/>
          <a:lstStyle/>
          <a:p>
            <a:r>
              <a:rPr lang="en-US" dirty="0"/>
              <a:t>Transpiling Example</a:t>
            </a:r>
          </a:p>
        </p:txBody>
      </p:sp>
      <p:sp>
        <p:nvSpPr>
          <p:cNvPr id="6" name="Text Placeholder 5">
            <a:extLst>
              <a:ext uri="{FF2B5EF4-FFF2-40B4-BE49-F238E27FC236}">
                <a16:creationId xmlns:a16="http://schemas.microsoft.com/office/drawing/2014/main" id="{97B0718C-2D0D-9446-B30B-F9E26F7C5692}"/>
              </a:ext>
            </a:extLst>
          </p:cNvPr>
          <p:cNvSpPr>
            <a:spLocks noGrp="1"/>
          </p:cNvSpPr>
          <p:nvPr>
            <p:ph type="body" idx="1"/>
          </p:nvPr>
        </p:nvSpPr>
        <p:spPr/>
        <p:txBody>
          <a:bodyPr/>
          <a:lstStyle/>
          <a:p>
            <a:r>
              <a:rPr lang="en-US" dirty="0"/>
              <a:t>ES2015	</a:t>
            </a:r>
          </a:p>
        </p:txBody>
      </p:sp>
      <p:sp>
        <p:nvSpPr>
          <p:cNvPr id="7" name="Content Placeholder 6">
            <a:extLst>
              <a:ext uri="{FF2B5EF4-FFF2-40B4-BE49-F238E27FC236}">
                <a16:creationId xmlns:a16="http://schemas.microsoft.com/office/drawing/2014/main" id="{327F7C50-0065-2847-B662-7AB4C7D38330}"/>
              </a:ext>
            </a:extLst>
          </p:cNvPr>
          <p:cNvSpPr>
            <a:spLocks noGrp="1"/>
          </p:cNvSpPr>
          <p:nvPr>
            <p:ph sz="half" idx="2"/>
          </p:nvPr>
        </p:nvSpPr>
        <p:spPr/>
        <p:txBody>
          <a:bodyPr/>
          <a:lstStyle/>
          <a:p>
            <a:pPr marL="0" indent="0">
              <a:buNone/>
            </a:pPr>
            <a:r>
              <a:rPr lang="en-US">
                <a:latin typeface="Courier New" pitchFamily="49" charset="0"/>
              </a:rPr>
              <a:t>let myFunc = ()=&gt;{</a:t>
            </a:r>
          </a:p>
          <a:p>
            <a:pPr marL="0" indent="0">
              <a:buNone/>
            </a:pPr>
            <a:r>
              <a:rPr lang="en-US">
                <a:latin typeface="Courier New" pitchFamily="49" charset="0"/>
              </a:rPr>
              <a:t>	let myVar = {</a:t>
            </a:r>
          </a:p>
          <a:p>
            <a:pPr marL="0" indent="0">
              <a:buNone/>
            </a:pPr>
            <a:r>
              <a:rPr lang="en-US" dirty="0"/>
              <a:t>  		myProp,</a:t>
            </a:r>
          </a:p>
          <a:p>
            <a:pPr marL="0" indent="0">
              <a:buNone/>
            </a:pPr>
            <a:r>
              <a:rPr lang="en-US">
                <a:latin typeface="Courier New" pitchFamily="49" charset="0"/>
              </a:rPr>
              <a:t>	};</a:t>
            </a:r>
          </a:p>
          <a:p>
            <a:pPr marL="0" indent="0">
              <a:buNone/>
            </a:pPr>
            <a:r>
              <a:rPr lang="en-US">
                <a:latin typeface="Courier New" pitchFamily="49" charset="0"/>
              </a:rPr>
              <a:t>};</a:t>
            </a:r>
          </a:p>
        </p:txBody>
      </p:sp>
      <p:sp>
        <p:nvSpPr>
          <p:cNvPr id="8" name="Text Placeholder 7">
            <a:extLst>
              <a:ext uri="{FF2B5EF4-FFF2-40B4-BE49-F238E27FC236}">
                <a16:creationId xmlns:a16="http://schemas.microsoft.com/office/drawing/2014/main" id="{3382D0D2-FFC5-5542-AA6F-A50A9C0C0DA7}"/>
              </a:ext>
            </a:extLst>
          </p:cNvPr>
          <p:cNvSpPr>
            <a:spLocks noGrp="1"/>
          </p:cNvSpPr>
          <p:nvPr>
            <p:ph type="body" sz="quarter" idx="3"/>
          </p:nvPr>
        </p:nvSpPr>
        <p:spPr/>
        <p:txBody>
          <a:bodyPr/>
          <a:lstStyle/>
          <a:p>
            <a:r>
              <a:rPr lang="en-US" dirty="0"/>
              <a:t>ES5</a:t>
            </a:r>
          </a:p>
        </p:txBody>
      </p:sp>
      <p:sp>
        <p:nvSpPr>
          <p:cNvPr id="9" name="Content Placeholder 8">
            <a:extLst>
              <a:ext uri="{FF2B5EF4-FFF2-40B4-BE49-F238E27FC236}">
                <a16:creationId xmlns:a16="http://schemas.microsoft.com/office/drawing/2014/main" id="{C5ECA69E-DD4E-7147-916C-9F1C823E2401}"/>
              </a:ext>
            </a:extLst>
          </p:cNvPr>
          <p:cNvSpPr>
            <a:spLocks noGrp="1"/>
          </p:cNvSpPr>
          <p:nvPr>
            <p:ph sz="quarter" idx="4"/>
          </p:nvPr>
        </p:nvSpPr>
        <p:spPr/>
        <p:txBody>
          <a:bodyPr/>
          <a:lstStyle/>
          <a:p>
            <a:pPr marL="0" indent="0">
              <a:buNone/>
            </a:pPr>
            <a:r>
              <a:rPr lang="en-US" dirty="0"/>
              <a:t>"use strict";</a:t>
            </a:r>
          </a:p>
          <a:p>
            <a:pPr marL="0" indent="0">
              <a:buNone/>
            </a:pPr>
            <a:endParaRPr lang="en-US" dirty="0"/>
          </a:p>
          <a:p>
            <a:pPr marL="0" indent="0">
              <a:buNone/>
            </a:pPr>
            <a:r>
              <a:rPr lang="en-US">
                <a:latin typeface="Courier New" pitchFamily="49" charset="0"/>
              </a:rPr>
              <a:t>var myFunc = function myFunc() {</a:t>
            </a:r>
          </a:p>
          <a:p>
            <a:pPr marL="0" indent="0">
              <a:buNone/>
            </a:pPr>
            <a:r>
              <a:rPr lang="en-US">
                <a:latin typeface="Courier New" pitchFamily="49" charset="0"/>
              </a:rPr>
              <a:t>  var myVar = {</a:t>
            </a:r>
          </a:p>
          <a:p>
            <a:pPr marL="0" indent="0">
              <a:buNone/>
            </a:pPr>
            <a:r>
              <a:rPr lang="en-US" dirty="0"/>
              <a:t>    myProp: myProp</a:t>
            </a:r>
          </a:p>
          <a:p>
            <a:pPr marL="0" indent="0">
              <a:buNone/>
            </a:pPr>
            <a:r>
              <a:rPr lang="en-US">
                <a:latin typeface="Courier New" pitchFamily="49" charset="0"/>
              </a:rPr>
              <a:t>  };</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7AAB9101-3C4B-0D4D-87EA-A6F03190D96D}"/>
              </a:ext>
            </a:extLst>
          </p:cNvPr>
          <p:cNvSpPr>
            <a:spLocks noGrp="1"/>
          </p:cNvSpPr>
          <p:nvPr>
            <p:ph type="sldNum" sz="quarter" idx="12"/>
          </p:nvPr>
        </p:nvSpPr>
        <p:spPr/>
        <p:txBody>
          <a:bodyPr/>
          <a:lstStyle/>
          <a:p>
            <a:fld id="{6FFFF67E-EC6A-B940-8DC7-BF9A5925C934}" type="slidenum">
              <a:rPr lang="en-US" smtClean="0"/>
              <a:t>67</a:t>
            </a:fld>
            <a:endParaRPr lang="en-US" dirty="0"/>
          </a:p>
        </p:txBody>
      </p:sp>
    </p:spTree>
    <p:extLst>
      <p:ext uri="{BB962C8B-B14F-4D97-AF65-F5344CB8AC3E}">
        <p14:creationId xmlns:p14="http://schemas.microsoft.com/office/powerpoint/2010/main" val="10018001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Bundlers</a:t>
            </a:r>
          </a:p>
        </p:txBody>
      </p:sp>
      <p:sp>
        <p:nvSpPr>
          <p:cNvPr id="4" name="Slide Number Placeholder 3"/>
          <p:cNvSpPr>
            <a:spLocks noGrp="1"/>
          </p:cNvSpPr>
          <p:nvPr>
            <p:ph type="sldNum" sz="quarter" idx="12"/>
          </p:nvPr>
        </p:nvSpPr>
        <p:spPr/>
        <p:txBody>
          <a:bodyPr/>
          <a:lstStyle/>
          <a:p>
            <a:fld id="{A839F4A7-500C-EC42-AE23-BEE4487EA55E}" type="slidenum">
              <a:rPr lang="en-US" smtClean="0"/>
              <a:t>68</a:t>
            </a:fld>
            <a:endParaRPr lang="en-US" dirty="0"/>
          </a:p>
        </p:txBody>
      </p:sp>
      <p:sp>
        <p:nvSpPr>
          <p:cNvPr id="5" name="TextBox 4"/>
          <p:cNvSpPr txBox="1"/>
          <p:nvPr/>
        </p:nvSpPr>
        <p:spPr>
          <a:xfrm>
            <a:off x="457200" y="1600200"/>
            <a:ext cx="8229600" cy="4525963"/>
          </a:xfrm>
          <a:prstGeom prst="rect">
            <a:avLst/>
          </a:prstGeom>
          <a:noFill/>
        </p:spPr>
        <p:txBody>
          <a:bodyPr wrap="square">
            <a:spAutoFit/>
          </a:bodyPr>
          <a:lstStyle/>
          <a:p>
            <a:r>
              <a:rPr sz="1800"/>
              <a:t>A bundler resolves your import graph and writes deployable files.</a:t>
            </a:r>
          </a:p>
          <a:p>
            <a:r>
              <a:rPr sz="1800"/>
              <a:t>webpack — the incumbent; configured with loaders and plugins</a:t>
            </a:r>
          </a:p>
          <a:p>
            <a:r>
              <a:rPr sz="1800"/>
              <a:t>Rollup — what Vite uses for production builds</a:t>
            </a:r>
          </a:p>
          <a:p>
            <a:r>
              <a:rPr sz="1800"/>
              <a:t>esbuild — what Vite uses to pre-bundle dependencies</a:t>
            </a:r>
          </a:p>
          <a:p>
            <a:r>
              <a:rPr sz="1800"/>
              <a:t>In development Vite does not bundle your source at all.</a:t>
            </a:r>
          </a:p>
        </p:txBody>
      </p:sp>
    </p:spTree>
    <p:extLst>
      <p:ext uri="{BB962C8B-B14F-4D97-AF65-F5344CB8AC3E}">
        <p14:creationId xmlns:p14="http://schemas.microsoft.com/office/powerpoint/2010/main" val="9939742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Vite Works</a:t>
            </a:r>
          </a:p>
        </p:txBody>
      </p:sp>
      <p:sp>
        <p:nvSpPr>
          <p:cNvPr id="3" name="Content Placeholder 2"/>
          <p:cNvSpPr>
            <a:spLocks noGrp="1"/>
          </p:cNvSpPr>
          <p:nvPr>
            <p:ph idx="1"/>
          </p:nvPr>
        </p:nvSpPr>
        <p:spPr/>
        <p:txBody>
          <a:bodyPr/>
          <a:lstStyle/>
          <a:p>
            <a:r>
              <a:t>In development</a:t>
            </a:r>
          </a:p>
          <a:p>
            <a:pPr lvl="1"/>
            <a:r>
              <a:t>Serves your source over HTTP as native ES modules</a:t>
            </a:r>
          </a:p>
          <a:p>
            <a:pPr lvl="1"/>
            <a:r>
              <a:t>Transforms each file only when the browser asks for it</a:t>
            </a:r>
          </a:p>
          <a:p>
            <a:pPr lvl="1"/>
            <a:r>
              <a:t>Pre-bundles dependencies once with esbuild, then caches them</a:t>
            </a:r>
          </a:p>
          <a:p>
            <a:r>
              <a:t>In production</a:t>
            </a:r>
          </a:p>
          <a:p>
            <a:pPr lvl="1"/>
            <a:r>
              <a:t>Bundles with Rollup: tree-shaking, code-splitting, minification</a:t>
            </a:r>
          </a:p>
          <a:p>
            <a:pPr lvl="1"/>
            <a:r>
              <a:t>Each lazily-imported route becomes its own chunk</a:t>
            </a:r>
          </a:p>
          <a:p>
            <a:r>
              <a:t>Plugins extend both pipelines — @vitejs/plugin-vue compiles SFCs</a:t>
            </a:r>
          </a:p>
        </p:txBody>
      </p:sp>
      <p:sp>
        <p:nvSpPr>
          <p:cNvPr id="4" name="Slide Number Placeholder 3"/>
          <p:cNvSpPr>
            <a:spLocks noGrp="1"/>
          </p:cNvSpPr>
          <p:nvPr>
            <p:ph type="sldNum" sz="quarter" idx="12"/>
          </p:nvPr>
        </p:nvSpPr>
        <p:spPr/>
        <p:txBody>
          <a:bodyPr/>
          <a:lstStyle/>
          <a:p>
            <a:fld id="{6FFFF67E-EC6A-B940-8DC7-BF9A5925C934}" type="slidenum">
              <a:rPr lang="en-US" smtClean="0"/>
              <a:t>69</a:t>
            </a:fld>
            <a:endParaRPr lang="en-US" dirty="0"/>
          </a:p>
        </p:txBody>
      </p:sp>
    </p:spTree>
    <p:extLst>
      <p:ext uri="{BB962C8B-B14F-4D97-AF65-F5344CB8AC3E}">
        <p14:creationId xmlns:p14="http://schemas.microsoft.com/office/powerpoint/2010/main" val="21600233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dirty="0"/>
            </a:br>
            <a:r>
              <a:t>The Document Object Model</a:t>
            </a:r>
          </a:p>
        </p:txBody>
      </p:sp>
      <p:sp>
        <p:nvSpPr>
          <p:cNvPr id="4" name="Subtitle 3"/>
          <p:cNvSpPr>
            <a:spLocks noGrp="1"/>
          </p:cNvSpPr>
          <p:nvPr>
            <p:ph type="subTitle" idx="1"/>
          </p:nvPr>
        </p:nvSpPr>
        <p:spPr/>
        <p:txBody>
          <a:bodyPr/>
          <a:lstStyle/>
          <a:p>
            <a:pPr algn="l"/>
            <a:r>
              <a:rPr lang="en-US" dirty="0"/>
              <a:t>Objectives</a:t>
            </a:r>
          </a:p>
          <a:p>
            <a:pPr marL="342900" indent="-342900" algn="l">
              <a:buFont typeface="Arial"/>
              <a:buChar char="•"/>
            </a:pPr>
            <a:r>
              <a:rPr lang="en-US" sz="1800" dirty="0"/>
              <a:t>Understand how the DOM works</a:t>
            </a:r>
          </a:p>
          <a:p>
            <a:pPr marL="342900" indent="-342900" algn="l">
              <a:buFont typeface="Arial"/>
              <a:buChar char="•"/>
            </a:pPr>
            <a:r>
              <a:rPr lang="en-US" sz="1800" dirty="0"/>
              <a:t>Select DOM nodes</a:t>
            </a:r>
          </a:p>
          <a:p>
            <a:pPr marL="342900" indent="-342900" algn="l">
              <a:buFont typeface="Arial"/>
              <a:buChar char="•"/>
            </a:pPr>
            <a:r>
              <a:rPr lang="en-US" sz="1800" dirty="0"/>
              <a:t>Manipulate the DOM with JavaScript</a:t>
            </a:r>
          </a:p>
          <a:p>
            <a:pPr marL="342900" indent="-342900" algn="l">
              <a:buFont typeface="Arial"/>
              <a:buChar char="•"/>
            </a:pPr>
            <a:endParaRPr lang="en-US" dirty="0"/>
          </a:p>
        </p:txBody>
      </p:sp>
    </p:spTree>
    <p:extLst>
      <p:ext uri="{BB962C8B-B14F-4D97-AF65-F5344CB8AC3E}">
        <p14:creationId xmlns:p14="http://schemas.microsoft.com/office/powerpoint/2010/main" val="4341508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the DOM?</a:t>
            </a:r>
          </a:p>
        </p:txBody>
      </p:sp>
      <p:sp>
        <p:nvSpPr>
          <p:cNvPr id="6" name="Text Placeholder 5"/>
          <p:cNvSpPr>
            <a:spLocks noGrp="1"/>
          </p:cNvSpPr>
          <p:nvPr>
            <p:ph sz="half" idx="1"/>
          </p:nvPr>
        </p:nvSpPr>
        <p:spPr/>
        <p:txBody>
          <a:bodyPr/>
          <a:lstStyle/>
          <a:p>
            <a:r>
              <a:rPr lang="en-US" dirty="0"/>
              <a:t>JavaScript API for HTML documents</a:t>
            </a:r>
          </a:p>
          <a:p>
            <a:r>
              <a:rPr lang="en-US" dirty="0"/>
              <a:t>Represents elements as a tree structure</a:t>
            </a:r>
          </a:p>
          <a:p>
            <a:r>
              <a:rPr lang="en-US" dirty="0"/>
              <a:t>Objects in the tree can be addressed and manipulated using methods.</a:t>
            </a:r>
          </a:p>
        </p:txBody>
      </p:sp>
      <p:pic>
        <p:nvPicPr>
          <p:cNvPr id="7" name="Content Placeholder 6" descr="450px-JKDOM.SVG.png"/>
          <p:cNvPicPr>
            <a:picLocks noGrp="1" noChangeAspect="1"/>
          </p:cNvPicPr>
          <p:nvPr>
            <p:ph sz="half" idx="2"/>
          </p:nvPr>
        </p:nvPicPr>
        <p:blipFill>
          <a:blip>
            <a:extLst>
              <a:ext uri="{28A0092B-C50C-407E-A947-70E740481C1C}">
                <a14:useLocalDpi xmlns:a14="http://schemas.microsoft.com/office/drawing/2010/main" val="0"/>
              </a:ext>
            </a:extLst>
          </a:blip>
          <a:stretch>
            <a:fillRect/>
          </a:stretch>
        </p:blipFill>
        <p:spPr>
          <a:xfrm>
            <a:off x="5290813" y="1417638"/>
            <a:ext cx="3272775" cy="4363701"/>
          </a:xfrm>
        </p:spPr>
      </p:pic>
      <p:sp>
        <p:nvSpPr>
          <p:cNvPr id="4" name="Slide Number Placeholder 3"/>
          <p:cNvSpPr>
            <a:spLocks noGrp="1"/>
          </p:cNvSpPr>
          <p:nvPr>
            <p:ph type="sldNum" sz="quarter" idx="12"/>
          </p:nvPr>
        </p:nvSpPr>
        <p:spPr/>
        <p:txBody>
          <a:bodyPr/>
          <a:lstStyle/>
          <a:p>
            <a:fld id="{6FFFF67E-EC6A-B940-8DC7-BF9A5925C934}" type="slidenum">
              <a:rPr lang="en-US" smtClean="0"/>
              <a:t>71</a:t>
            </a:fld>
            <a:endParaRPr lang="en-US" dirty="0"/>
          </a:p>
        </p:txBody>
      </p:sp>
      <p:sp>
        <p:nvSpPr>
          <p:cNvPr id="10" name="TextBox 9"/>
          <p:cNvSpPr txBox="1"/>
          <p:nvPr/>
        </p:nvSpPr>
        <p:spPr>
          <a:xfrm>
            <a:off x="4980295" y="5861956"/>
            <a:ext cx="4185198" cy="646331"/>
          </a:xfrm>
          <a:prstGeom prst="rect">
            <a:avLst/>
          </a:prstGeom>
          <a:noFill/>
        </p:spPr>
        <p:txBody>
          <a:bodyPr wrap="none" rtlCol="0">
            <a:spAutoFit/>
          </a:bodyPr>
          <a:lstStyle/>
          <a:p>
            <a:r>
              <a:rPr lang="en-US" sz="1200" i="1" dirty="0"/>
              <a:t>JohnManuel [GFDL (http://www.gnu.org/copyleft/fdl.html) or </a:t>
            </a:r>
          </a:p>
          <a:p>
            <a:r>
              <a:rPr lang="en-US" sz="1200" i="1" dirty="0"/>
              <a:t>CC BY-SA 3.0 (http://creativecommons.org/licenses/by-sa/3.0)],</a:t>
            </a:r>
          </a:p>
          <a:p>
            <a:r>
              <a:rPr lang="en-US" sz="1200" i="1" dirty="0"/>
              <a:t> via Wikimedia Commons</a:t>
            </a:r>
            <a:endParaRPr lang="en-US" i="1" dirty="0"/>
          </a:p>
        </p:txBody>
      </p:sp>
      <p:pic>
        <p:nvPicPr>
          <p:cNvPr id="2" name="Content Placeholder 6" descr="450px-JKDOM.SVG.png">
            <a:extLst>
              <a:ext uri="{FF2B5EF4-FFF2-40B4-BE49-F238E27FC236}">
                <a16:creationId xmlns:a16="http://schemas.microsoft.com/office/drawing/2014/main" id="{4113ECF3-14BF-3C10-67BA-E297076837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0813" y="1417638"/>
            <a:ext cx="3272775" cy="4363701"/>
          </a:xfrm>
          <a:prstGeom prst="rect">
            <a:avLst/>
          </a:prstGeom>
        </p:spPr>
      </p:pic>
    </p:spTree>
    <p:extLst>
      <p:ext uri="{BB962C8B-B14F-4D97-AF65-F5344CB8AC3E}">
        <p14:creationId xmlns:p14="http://schemas.microsoft.com/office/powerpoint/2010/main" val="29116454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a:t>
            </a:r>
            <a:r>
              <a:rPr lang="en-US" baseline="0" dirty="0"/>
              <a:t> Nodes</a:t>
            </a:r>
            <a:endParaRPr lang="en-US" dirty="0"/>
          </a:p>
        </p:txBody>
      </p:sp>
      <p:sp>
        <p:nvSpPr>
          <p:cNvPr id="3" name="Text Placeholder 2"/>
          <p:cNvSpPr>
            <a:spLocks noGrp="1"/>
          </p:cNvSpPr>
          <p:nvPr>
            <p:ph type="body" idx="1"/>
          </p:nvPr>
        </p:nvSpPr>
        <p:spPr/>
        <p:txBody>
          <a:bodyPr/>
          <a:lstStyle/>
          <a:p>
            <a:r>
              <a:rPr lang="en-US" dirty="0"/>
              <a:t>DOM interfaces that inherit from Node</a:t>
            </a:r>
          </a:p>
          <a:p>
            <a:pPr lvl="1"/>
            <a:r>
              <a:rPr lang="en-US" dirty="0"/>
              <a:t>Document</a:t>
            </a:r>
          </a:p>
          <a:p>
            <a:pPr lvl="1"/>
            <a:r>
              <a:rPr lang="en-US" dirty="0"/>
              <a:t>Element</a:t>
            </a:r>
          </a:p>
          <a:p>
            <a:pPr lvl="1"/>
            <a:r>
              <a:rPr lang="en-US" dirty="0"/>
              <a:t>CharacterData</a:t>
            </a:r>
          </a:p>
          <a:p>
            <a:pPr lvl="2"/>
            <a:r>
              <a:rPr lang="en-US" dirty="0"/>
              <a:t>Text</a:t>
            </a:r>
          </a:p>
          <a:p>
            <a:pPr lvl="2"/>
            <a:r>
              <a:rPr lang="en-US" dirty="0"/>
              <a:t>Comment</a:t>
            </a:r>
          </a:p>
          <a:p>
            <a:pPr lvl="1"/>
            <a:r>
              <a:rPr lang="en-US" dirty="0"/>
              <a:t>DocumentType</a:t>
            </a:r>
          </a:p>
          <a:p>
            <a:r>
              <a:rPr lang="en-US" dirty="0"/>
              <a:t>Nodes inherit properties from EventTarget</a:t>
            </a:r>
          </a:p>
        </p:txBody>
      </p:sp>
      <p:sp>
        <p:nvSpPr>
          <p:cNvPr id="4" name="Slide Number Placeholder 3"/>
          <p:cNvSpPr>
            <a:spLocks noGrp="1"/>
          </p:cNvSpPr>
          <p:nvPr>
            <p:ph type="sldNum" sz="quarter" idx="12"/>
          </p:nvPr>
        </p:nvSpPr>
        <p:spPr/>
        <p:txBody>
          <a:bodyPr/>
          <a:lstStyle/>
          <a:p>
            <a:fld id="{A839F4A7-500C-EC42-AE23-BEE4487EA55E}" type="slidenum">
              <a:rPr lang="en-US" smtClean="0"/>
              <a:t>72</a:t>
            </a:fld>
            <a:endParaRPr lang="en-US" dirty="0"/>
          </a:p>
        </p:txBody>
      </p:sp>
    </p:spTree>
    <p:extLst>
      <p:ext uri="{BB962C8B-B14F-4D97-AF65-F5344CB8AC3E}">
        <p14:creationId xmlns:p14="http://schemas.microsoft.com/office/powerpoint/2010/main" val="25740462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EventTarget</a:t>
            </a:r>
          </a:p>
        </p:txBody>
      </p:sp>
      <p:sp>
        <p:nvSpPr>
          <p:cNvPr id="3" name="Text Placeholder 2"/>
          <p:cNvSpPr>
            <a:spLocks noGrp="1"/>
          </p:cNvSpPr>
          <p:nvPr>
            <p:ph type="body" idx="1"/>
          </p:nvPr>
        </p:nvSpPr>
        <p:spPr/>
        <p:txBody>
          <a:bodyPr/>
          <a:lstStyle/>
          <a:p>
            <a:r>
              <a:rPr lang="en-US" dirty="0"/>
              <a:t>An interface implemented by objects that can receive events (aka event targets)</a:t>
            </a:r>
          </a:p>
          <a:p>
            <a:r>
              <a:rPr lang="en-US" dirty="0"/>
              <a:t>Examples:</a:t>
            </a:r>
          </a:p>
          <a:p>
            <a:pPr lvl="1"/>
            <a:r>
              <a:rPr lang="en-US" dirty="0"/>
              <a:t>Element</a:t>
            </a:r>
          </a:p>
          <a:p>
            <a:pPr lvl="1"/>
            <a:r>
              <a:rPr lang="en-US" dirty="0"/>
              <a:t>Document</a:t>
            </a:r>
          </a:p>
          <a:p>
            <a:pPr lvl="1"/>
            <a:r>
              <a:rPr lang="en-US" dirty="0"/>
              <a:t>Window</a:t>
            </a:r>
          </a:p>
          <a:p>
            <a:r>
              <a:rPr lang="en-US" dirty="0"/>
              <a:t>Many event targets support setting event handlers.</a:t>
            </a:r>
          </a:p>
        </p:txBody>
      </p:sp>
      <p:sp>
        <p:nvSpPr>
          <p:cNvPr id="4" name="Slide Number Placeholder 3"/>
          <p:cNvSpPr>
            <a:spLocks noGrp="1"/>
          </p:cNvSpPr>
          <p:nvPr>
            <p:ph type="sldNum" sz="quarter" idx="12"/>
          </p:nvPr>
        </p:nvSpPr>
        <p:spPr/>
        <p:txBody>
          <a:bodyPr/>
          <a:lstStyle/>
          <a:p>
            <a:fld id="{A839F4A7-500C-EC42-AE23-BEE4487EA55E}" type="slidenum">
              <a:rPr lang="en-US" smtClean="0"/>
              <a:t>73</a:t>
            </a:fld>
            <a:endParaRPr lang="en-US" dirty="0"/>
          </a:p>
        </p:txBody>
      </p:sp>
    </p:spTree>
    <p:extLst>
      <p:ext uri="{BB962C8B-B14F-4D97-AF65-F5344CB8AC3E}">
        <p14:creationId xmlns:p14="http://schemas.microsoft.com/office/powerpoint/2010/main" val="19763160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 Events</a:t>
            </a:r>
          </a:p>
        </p:txBody>
      </p:sp>
      <p:sp>
        <p:nvSpPr>
          <p:cNvPr id="3" name="Text Placeholder 2"/>
          <p:cNvSpPr>
            <a:spLocks noGrp="1"/>
          </p:cNvSpPr>
          <p:nvPr>
            <p:ph type="body" idx="1"/>
          </p:nvPr>
        </p:nvSpPr>
        <p:spPr>
          <a:xfrm>
            <a:off x="103909" y="1600200"/>
            <a:ext cx="9432725" cy="4525963"/>
          </a:xfrm>
        </p:spPr>
        <p:txBody>
          <a:bodyPr numCol="3">
            <a:normAutofit/>
          </a:bodyPr>
          <a:lstStyle/>
          <a:p>
            <a:r>
              <a:rPr lang="en-US" dirty="0"/>
              <a:t>Things that happen in the DOM</a:t>
            </a:r>
          </a:p>
          <a:p>
            <a:pPr marL="0" lvl="1" indent="0">
              <a:buNone/>
            </a:pPr>
            <a:r>
              <a:rPr lang="en-US" dirty="0">
                <a:latin typeface="Courier New"/>
                <a:cs typeface="Courier New"/>
              </a:rPr>
              <a:t>abort</a:t>
            </a:r>
            <a:endParaRPr lang="en-US">
              <a:latin typeface="Courier New"/>
              <a:cs typeface="Courier New"/>
            </a:endParaRPr>
          </a:p>
          <a:p>
            <a:pPr marL="0" lvl="1" indent="0">
              <a:buNone/>
            </a:pPr>
            <a:r>
              <a:rPr lang="en-US" dirty="0">
                <a:latin typeface="Courier New"/>
                <a:cs typeface="Courier New"/>
              </a:rPr>
              <a:t>beforeinput</a:t>
            </a:r>
            <a:endParaRPr lang="en-US">
              <a:latin typeface="Courier New"/>
              <a:cs typeface="Courier New"/>
            </a:endParaRPr>
          </a:p>
          <a:p>
            <a:pPr marL="0" lvl="1" indent="0">
              <a:buNone/>
            </a:pPr>
            <a:r>
              <a:rPr lang="en-US" dirty="0">
                <a:latin typeface="Courier New"/>
                <a:cs typeface="Courier New"/>
              </a:rPr>
              <a:t>blur</a:t>
            </a:r>
            <a:endParaRPr lang="en-US">
              <a:latin typeface="Courier New"/>
              <a:cs typeface="Courier New"/>
            </a:endParaRPr>
          </a:p>
          <a:p>
            <a:pPr marL="0" lvl="1" indent="0">
              <a:buNone/>
            </a:pPr>
            <a:r>
              <a:rPr lang="en-US" dirty="0">
                <a:latin typeface="Courier New"/>
                <a:cs typeface="Courier New"/>
              </a:rPr>
              <a:t>click</a:t>
            </a:r>
            <a:endParaRPr lang="en-US">
              <a:latin typeface="Courier New"/>
              <a:cs typeface="Courier New"/>
            </a:endParaRPr>
          </a:p>
          <a:p>
            <a:pPr marL="0" lvl="1" indent="0">
              <a:buNone/>
            </a:pPr>
            <a:r>
              <a:rPr lang="en-US" dirty="0">
                <a:latin typeface="Courier New"/>
                <a:cs typeface="Courier New"/>
              </a:rPr>
              <a:t>compositionend</a:t>
            </a:r>
            <a:endParaRPr lang="en-US">
              <a:latin typeface="Courier New"/>
              <a:cs typeface="Courier New"/>
            </a:endParaRPr>
          </a:p>
          <a:p>
            <a:pPr marL="0" lvl="1" indent="0">
              <a:buNone/>
            </a:pPr>
            <a:r>
              <a:rPr lang="en-US" sz="1800" dirty="0">
                <a:latin typeface="Courier New"/>
                <a:cs typeface="Courier New"/>
              </a:rPr>
              <a:t>compositionupdate</a:t>
            </a:r>
            <a:endParaRPr lang="en-US">
              <a:latin typeface="Courier New"/>
              <a:cs typeface="Courier New"/>
            </a:endParaRPr>
          </a:p>
          <a:p>
            <a:pPr marL="0" lvl="1" indent="0">
              <a:buNone/>
            </a:pPr>
            <a:r>
              <a:rPr lang="en-US" dirty="0">
                <a:latin typeface="Courier New"/>
                <a:cs typeface="Courier New"/>
              </a:rPr>
              <a:t>dblclick</a:t>
            </a:r>
            <a:endParaRPr lang="en-US">
              <a:latin typeface="Courier New"/>
              <a:cs typeface="Courier New"/>
            </a:endParaRPr>
          </a:p>
          <a:p>
            <a:pPr marL="0" lvl="1" indent="0">
              <a:buNone/>
            </a:pPr>
            <a:r>
              <a:rPr lang="en-US" dirty="0">
                <a:latin typeface="Courier New"/>
                <a:cs typeface="Courier New"/>
              </a:rPr>
              <a:t>error</a:t>
            </a:r>
            <a:endParaRPr lang="en-US">
              <a:latin typeface="Courier New"/>
              <a:cs typeface="Courier New"/>
            </a:endParaRPr>
          </a:p>
          <a:p>
            <a:pPr marL="0" lvl="1" indent="0">
              <a:buNone/>
            </a:pPr>
            <a:r>
              <a:rPr lang="en-US" dirty="0">
                <a:latin typeface="Courier New"/>
                <a:cs typeface="Courier New"/>
              </a:rPr>
              <a:t>focus</a:t>
            </a:r>
            <a:endParaRPr lang="en-US">
              <a:latin typeface="Courier New"/>
              <a:cs typeface="Courier New"/>
            </a:endParaRPr>
          </a:p>
          <a:p>
            <a:pPr marL="0" lvl="1" indent="0">
              <a:buNone/>
            </a:pPr>
            <a:r>
              <a:rPr lang="en-US" dirty="0">
                <a:latin typeface="Courier New"/>
                <a:cs typeface="Courier New"/>
              </a:rPr>
              <a:t>focusin</a:t>
            </a:r>
            <a:endParaRPr lang="en-US">
              <a:latin typeface="Courier New"/>
              <a:cs typeface="Courier New"/>
            </a:endParaRPr>
          </a:p>
          <a:p>
            <a:pPr marL="0" lvl="1" indent="0">
              <a:buNone/>
            </a:pPr>
            <a:r>
              <a:rPr lang="en-US" dirty="0">
                <a:latin typeface="Courier New"/>
                <a:cs typeface="Courier New"/>
              </a:rPr>
              <a:t>focusout</a:t>
            </a:r>
            <a:endParaRPr lang="en-US">
              <a:latin typeface="Courier New"/>
              <a:cs typeface="Courier New"/>
            </a:endParaRPr>
          </a:p>
          <a:p>
            <a:pPr marL="0" lvl="1" indent="0">
              <a:buNone/>
            </a:pPr>
            <a:r>
              <a:rPr lang="en-US" dirty="0">
                <a:latin typeface="Courier New"/>
                <a:cs typeface="Courier New"/>
              </a:rPr>
              <a:t>input</a:t>
            </a:r>
            <a:endParaRPr lang="en-US">
              <a:latin typeface="Courier New"/>
              <a:cs typeface="Courier New"/>
            </a:endParaRPr>
          </a:p>
          <a:p>
            <a:pPr marL="0" lvl="1" indent="0">
              <a:buNone/>
            </a:pPr>
            <a:r>
              <a:rPr lang="en-US" dirty="0">
                <a:latin typeface="Courier New"/>
                <a:cs typeface="Courier New"/>
              </a:rPr>
              <a:t>keydown</a:t>
            </a:r>
            <a:endParaRPr lang="en-US">
              <a:latin typeface="Courier New"/>
              <a:cs typeface="Courier New"/>
            </a:endParaRPr>
          </a:p>
          <a:p>
            <a:pPr marL="0" lvl="1" indent="0">
              <a:buNone/>
            </a:pPr>
            <a:r>
              <a:rPr lang="en-US" dirty="0">
                <a:latin typeface="Courier New"/>
                <a:cs typeface="Courier New"/>
              </a:rPr>
              <a:t>keyup</a:t>
            </a:r>
            <a:endParaRPr lang="en-US">
              <a:latin typeface="Courier New"/>
              <a:cs typeface="Courier New"/>
            </a:endParaRPr>
          </a:p>
          <a:p>
            <a:pPr marL="0" lvl="1" indent="0">
              <a:buNone/>
            </a:pPr>
            <a:r>
              <a:rPr lang="en-US" dirty="0">
                <a:latin typeface="Courier New"/>
                <a:cs typeface="Courier New"/>
              </a:rPr>
              <a:t>load</a:t>
            </a:r>
            <a:endParaRPr lang="en-US">
              <a:latin typeface="Courier New"/>
              <a:cs typeface="Courier New"/>
            </a:endParaRPr>
          </a:p>
          <a:p>
            <a:pPr marL="0" lvl="1" indent="0">
              <a:buNone/>
            </a:pPr>
            <a:r>
              <a:rPr lang="en-US" dirty="0">
                <a:latin typeface="Courier New"/>
                <a:cs typeface="Courier New"/>
              </a:rPr>
              <a:t>mousedown</a:t>
            </a:r>
            <a:endParaRPr lang="en-US">
              <a:latin typeface="Courier New"/>
              <a:cs typeface="Courier New"/>
            </a:endParaRPr>
          </a:p>
          <a:p>
            <a:pPr marL="0" lvl="1" indent="0">
              <a:buNone/>
            </a:pPr>
            <a:r>
              <a:rPr lang="en-US" dirty="0">
                <a:latin typeface="Courier New"/>
                <a:cs typeface="Courier New"/>
              </a:rPr>
              <a:t>mouseenter</a:t>
            </a:r>
            <a:endParaRPr lang="en-US">
              <a:latin typeface="Courier New"/>
              <a:cs typeface="Courier New"/>
            </a:endParaRPr>
          </a:p>
          <a:p>
            <a:pPr marL="0" lvl="1" indent="0">
              <a:buNone/>
            </a:pPr>
            <a:r>
              <a:rPr lang="en-US" dirty="0">
                <a:latin typeface="Courier New"/>
                <a:cs typeface="Courier New"/>
              </a:rPr>
              <a:t>mouseleave</a:t>
            </a:r>
            <a:endParaRPr lang="en-US">
              <a:latin typeface="Courier New"/>
              <a:cs typeface="Courier New"/>
            </a:endParaRPr>
          </a:p>
          <a:p>
            <a:pPr marL="0" lvl="1" indent="0">
              <a:buNone/>
            </a:pPr>
            <a:r>
              <a:rPr lang="en-US" dirty="0">
                <a:latin typeface="Courier New"/>
                <a:cs typeface="Courier New"/>
              </a:rPr>
              <a:t>mousemove</a:t>
            </a:r>
            <a:endParaRPr lang="en-US">
              <a:latin typeface="Courier New"/>
              <a:cs typeface="Courier New"/>
            </a:endParaRPr>
          </a:p>
          <a:p>
            <a:pPr marL="0" lvl="1" indent="0">
              <a:buNone/>
            </a:pPr>
            <a:r>
              <a:rPr lang="en-US" dirty="0">
                <a:latin typeface="Courier New"/>
                <a:cs typeface="Courier New"/>
              </a:rPr>
              <a:t>mouseout</a:t>
            </a:r>
            <a:endParaRPr lang="en-US">
              <a:latin typeface="Courier New"/>
              <a:cs typeface="Courier New"/>
            </a:endParaRPr>
          </a:p>
          <a:p>
            <a:pPr marL="0" lvl="1" indent="0">
              <a:buNone/>
            </a:pPr>
            <a:r>
              <a:rPr lang="en-US" dirty="0">
                <a:latin typeface="Courier New"/>
                <a:cs typeface="Courier New"/>
              </a:rPr>
              <a:t>mouseover</a:t>
            </a:r>
            <a:endParaRPr lang="en-US">
              <a:latin typeface="Courier New"/>
              <a:cs typeface="Courier New"/>
            </a:endParaRPr>
          </a:p>
          <a:p>
            <a:pPr marL="0" lvl="1" indent="0">
              <a:buNone/>
            </a:pPr>
            <a:r>
              <a:rPr lang="en-US" dirty="0">
                <a:latin typeface="Courier New"/>
                <a:cs typeface="Courier New"/>
              </a:rPr>
              <a:t>mouseup</a:t>
            </a:r>
            <a:endParaRPr lang="en-US">
              <a:latin typeface="Courier New"/>
              <a:cs typeface="Courier New"/>
            </a:endParaRPr>
          </a:p>
          <a:p>
            <a:pPr marL="0" lvl="1" indent="0">
              <a:buNone/>
            </a:pPr>
            <a:r>
              <a:rPr lang="en-US" dirty="0">
                <a:latin typeface="Courier New"/>
                <a:cs typeface="Courier New"/>
              </a:rPr>
              <a:t>resize</a:t>
            </a:r>
            <a:endParaRPr lang="en-US">
              <a:latin typeface="Courier New"/>
              <a:cs typeface="Courier New"/>
            </a:endParaRPr>
          </a:p>
          <a:p>
            <a:pPr marL="0" lvl="1" indent="0">
              <a:buNone/>
            </a:pPr>
            <a:r>
              <a:rPr lang="en-US" dirty="0">
                <a:latin typeface="Courier New"/>
                <a:cs typeface="Courier New"/>
              </a:rPr>
              <a:t>scroll</a:t>
            </a:r>
            <a:endParaRPr lang="en-US">
              <a:latin typeface="Courier New"/>
              <a:cs typeface="Courier New"/>
            </a:endParaRPr>
          </a:p>
          <a:p>
            <a:pPr marL="0" lvl="1" indent="0">
              <a:buNone/>
            </a:pPr>
            <a:r>
              <a:rPr lang="en-US" dirty="0">
                <a:latin typeface="Courier New"/>
                <a:cs typeface="Courier New"/>
              </a:rPr>
              <a:t>select</a:t>
            </a:r>
            <a:endParaRPr lang="en-US">
              <a:latin typeface="Courier New"/>
              <a:cs typeface="Courier New"/>
            </a:endParaRPr>
          </a:p>
          <a:p>
            <a:pPr marL="0" lvl="1" indent="0">
              <a:buNone/>
            </a:pPr>
            <a:r>
              <a:rPr lang="en-US" dirty="0">
                <a:latin typeface="Courier New"/>
                <a:cs typeface="Courier New"/>
              </a:rPr>
              <a:t>unload</a:t>
            </a:r>
            <a:endParaRPr lang="en-US">
              <a:latin typeface="Courier New"/>
              <a:cs typeface="Courier New"/>
            </a:endParaRPr>
          </a:p>
          <a:p>
            <a:pPr marL="0" lvl="1" indent="0">
              <a:buNone/>
            </a:pPr>
            <a:r>
              <a:rPr lang="en-US" dirty="0">
                <a:latin typeface="Courier New"/>
                <a:cs typeface="Courier New"/>
              </a:rPr>
              <a:t>wheel</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74</a:t>
            </a:fld>
            <a:endParaRPr lang="en-US" dirty="0"/>
          </a:p>
        </p:txBody>
      </p:sp>
    </p:spTree>
    <p:extLst>
      <p:ext uri="{BB962C8B-B14F-4D97-AF65-F5344CB8AC3E}">
        <p14:creationId xmlns:p14="http://schemas.microsoft.com/office/powerpoint/2010/main" val="18344276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Events</a:t>
            </a:r>
          </a:p>
        </p:txBody>
      </p:sp>
      <p:sp>
        <p:nvSpPr>
          <p:cNvPr id="3" name="Text Placeholder 2"/>
          <p:cNvSpPr>
            <a:spLocks noGrp="1"/>
          </p:cNvSpPr>
          <p:nvPr>
            <p:ph type="body" idx="1"/>
          </p:nvPr>
        </p:nvSpPr>
        <p:spPr/>
        <p:txBody>
          <a:bodyPr/>
          <a:lstStyle/>
          <a:p>
            <a:r>
              <a:rPr lang="en-US" dirty="0"/>
              <a:t>Many interfaces implement events or inherit events. </a:t>
            </a:r>
          </a:p>
          <a:p>
            <a:r>
              <a:rPr lang="en-US" dirty="0"/>
              <a:t>Visit </a:t>
            </a:r>
            <a:r>
              <a:rPr lang="en-US" i="1" dirty="0"/>
              <a:t>http://developer.mozilla.org/en-US/docs/Web/Events.</a:t>
            </a:r>
          </a:p>
        </p:txBody>
      </p:sp>
      <p:sp>
        <p:nvSpPr>
          <p:cNvPr id="4" name="Slide Number Placeholder 3"/>
          <p:cNvSpPr>
            <a:spLocks noGrp="1"/>
          </p:cNvSpPr>
          <p:nvPr>
            <p:ph type="sldNum" sz="quarter" idx="12"/>
          </p:nvPr>
        </p:nvSpPr>
        <p:spPr/>
        <p:txBody>
          <a:bodyPr/>
          <a:lstStyle/>
          <a:p>
            <a:fld id="{A839F4A7-500C-EC42-AE23-BEE4487EA55E}" type="slidenum">
              <a:rPr lang="en-US" smtClean="0"/>
              <a:t>75</a:t>
            </a:fld>
            <a:endParaRPr lang="en-US" dirty="0"/>
          </a:p>
        </p:txBody>
      </p:sp>
    </p:spTree>
    <p:extLst>
      <p:ext uri="{BB962C8B-B14F-4D97-AF65-F5344CB8AC3E}">
        <p14:creationId xmlns:p14="http://schemas.microsoft.com/office/powerpoint/2010/main" val="2867254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a:t>
            </a:r>
          </a:p>
        </p:txBody>
      </p:sp>
      <p:sp>
        <p:nvSpPr>
          <p:cNvPr id="3" name="Text Placeholder 2"/>
          <p:cNvSpPr>
            <a:spLocks noGrp="1"/>
          </p:cNvSpPr>
          <p:nvPr>
            <p:ph type="body" idx="1"/>
          </p:nvPr>
        </p:nvSpPr>
        <p:spPr/>
        <p:txBody>
          <a:bodyPr>
            <a:normAutofit lnSpcReduction="10000"/>
          </a:bodyPr>
          <a:lstStyle/>
          <a:p>
            <a:r>
              <a:rPr lang="en-US" dirty="0"/>
              <a:t>Interface for elements within a Document</a:t>
            </a:r>
          </a:p>
          <a:p>
            <a:r>
              <a:rPr lang="en-US" dirty="0"/>
              <a:t>Inherits properties and methods from Node and EventTarget</a:t>
            </a:r>
          </a:p>
          <a:p>
            <a:r>
              <a:rPr lang="en-US" dirty="0"/>
              <a:t>Most common properties:</a:t>
            </a:r>
          </a:p>
          <a:p>
            <a:pPr marL="0" lvl="1" indent="0">
              <a:buNone/>
            </a:pPr>
            <a:r>
              <a:rPr lang="en-US" dirty="0">
                <a:latin typeface="Courier New"/>
                <a:cs typeface="Courier New"/>
              </a:rPr>
              <a:t>innerHTML</a:t>
            </a:r>
            <a:endParaRPr lang="en-US">
              <a:latin typeface="Courier New"/>
              <a:cs typeface="Courier New"/>
            </a:endParaRPr>
          </a:p>
          <a:p>
            <a:pPr marL="0" lvl="1" indent="0">
              <a:buNone/>
            </a:pPr>
            <a:r>
              <a:rPr lang="en-US" dirty="0">
                <a:latin typeface="Courier New"/>
                <a:cs typeface="Courier New"/>
              </a:rPr>
              <a:t>attributes</a:t>
            </a:r>
            <a:endParaRPr lang="en-US">
              <a:latin typeface="Courier New"/>
              <a:cs typeface="Courier New"/>
            </a:endParaRPr>
          </a:p>
          <a:p>
            <a:pPr marL="0" lvl="1" indent="0">
              <a:buNone/>
            </a:pPr>
            <a:r>
              <a:rPr lang="en-US" dirty="0">
                <a:latin typeface="Courier New"/>
                <a:cs typeface="Courier New"/>
              </a:rPr>
              <a:t>classList</a:t>
            </a:r>
            <a:endParaRPr lang="en-US">
              <a:latin typeface="Courier New"/>
              <a:cs typeface="Courier New"/>
            </a:endParaRPr>
          </a:p>
          <a:p>
            <a:pPr marL="0" lvl="1" indent="0">
              <a:buNone/>
            </a:pPr>
            <a:r>
              <a:rPr lang="en-US" dirty="0">
                <a:latin typeface="Courier New"/>
                <a:cs typeface="Courier New"/>
              </a:rPr>
              <a:t>id</a:t>
            </a:r>
            <a:endParaRPr lang="en-US">
              <a:latin typeface="Courier New"/>
              <a:cs typeface="Courier New"/>
            </a:endParaRPr>
          </a:p>
          <a:p>
            <a:pPr marL="0" lvl="1" indent="0">
              <a:buNone/>
            </a:pPr>
            <a:r>
              <a:rPr lang="en-US" dirty="0">
                <a:latin typeface="Courier New"/>
                <a:cs typeface="Courier New"/>
              </a:rPr>
              <a:t>tagName</a:t>
            </a:r>
            <a:endParaRPr lang="en-US">
              <a:latin typeface="Courier New"/>
              <a:cs typeface="Courier New"/>
            </a:endParaRPr>
          </a:p>
          <a:p>
            <a:r>
              <a:rPr lang="en-US" dirty="0"/>
              <a:t>Most common methods</a:t>
            </a:r>
          </a:p>
          <a:p>
            <a:pPr marL="0" lvl="1" indent="0">
              <a:buNone/>
            </a:pPr>
            <a:r>
              <a:rPr lang="en-US" dirty="0">
                <a:latin typeface="Courier New"/>
                <a:cs typeface="Courier New"/>
              </a:rPr>
              <a:t>getElementById</a:t>
            </a:r>
            <a:endParaRPr lang="en-US">
              <a:latin typeface="Courier New"/>
              <a:cs typeface="Courier New"/>
            </a:endParaRPr>
          </a:p>
          <a:p>
            <a:pPr marL="0" lvl="1" indent="0">
              <a:buNone/>
            </a:pPr>
            <a:r>
              <a:rPr lang="en-US" dirty="0">
                <a:latin typeface="Courier New"/>
                <a:cs typeface="Courier New"/>
              </a:rPr>
              <a:t>addEventListener</a:t>
            </a:r>
            <a:endParaRPr lang="en-US">
              <a:latin typeface="Courier New"/>
              <a:cs typeface="Courier New"/>
            </a:endParaRPr>
          </a:p>
          <a:p>
            <a:pPr marL="0" lvl="1" indent="0">
              <a:buNone/>
            </a:pPr>
            <a:r>
              <a:rPr lang="en-US" dirty="0">
                <a:latin typeface="Courier New"/>
                <a:cs typeface="Courier New"/>
              </a:rPr>
              <a:t>querySelectorAll</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76</a:t>
            </a:fld>
            <a:endParaRPr lang="en-US" dirty="0"/>
          </a:p>
        </p:txBody>
      </p:sp>
    </p:spTree>
    <p:extLst>
      <p:ext uri="{BB962C8B-B14F-4D97-AF65-F5344CB8AC3E}">
        <p14:creationId xmlns:p14="http://schemas.microsoft.com/office/powerpoint/2010/main" val="5314790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Manipulating HTML with the DOM</a:t>
            </a:r>
          </a:p>
        </p:txBody>
      </p:sp>
      <p:sp>
        <p:nvSpPr>
          <p:cNvPr id="3" name="Text Placeholder 2"/>
          <p:cNvSpPr>
            <a:spLocks noGrp="1"/>
          </p:cNvSpPr>
          <p:nvPr>
            <p:ph type="body" idx="1"/>
          </p:nvPr>
        </p:nvSpPr>
        <p:spPr/>
        <p:txBody>
          <a:bodyPr>
            <a:normAutofit lnSpcReduction="10000"/>
          </a:bodyPr>
          <a:lstStyle/>
          <a:p>
            <a:r>
              <a:rPr lang="en-US" dirty="0"/>
              <a:t>You can get and set properties of HTML elements with JavaScript through the DOM</a:t>
            </a:r>
          </a:p>
          <a:p>
            <a:pPr marL="0" indent="0">
              <a:buNone/>
            </a:pPr>
            <a:endParaRPr lang="en-US" dirty="0"/>
          </a:p>
          <a:p>
            <a:pPr marL="0" indent="0">
              <a:buNone/>
            </a:pPr>
            <a:r>
              <a:rPr lang="en-US" sz="1800" dirty="0">
                <a:latin typeface="Courier New"/>
                <a:cs typeface="Courier New"/>
              </a:rPr>
              <a:t>//starting HTML and DOM Element</a:t>
            </a:r>
          </a:p>
          <a:p>
            <a:pPr marL="0" indent="0">
              <a:buNone/>
            </a:pPr>
            <a:r>
              <a:rPr lang="en-US" sz="1800" dirty="0">
                <a:latin typeface="Courier New"/>
                <a:cs typeface="Courier New"/>
              </a:rPr>
              <a:t>&lt;p id="favoriteMovie"&gt;The Matrix&lt;/p&gt;</a:t>
            </a:r>
          </a:p>
          <a:p>
            <a:pPr marL="0" indent="0">
              <a:buNone/>
            </a:pPr>
            <a:endParaRPr lang="en-US" sz="1800" dirty="0">
              <a:latin typeface="Courier New"/>
              <a:cs typeface="Courier New"/>
            </a:endParaRPr>
          </a:p>
          <a:p>
            <a:pPr marL="0" indent="0">
              <a:buNone/>
            </a:pPr>
            <a:r>
              <a:rPr lang="en-US" sz="1800" dirty="0">
                <a:latin typeface="Courier New"/>
                <a:cs typeface="Courier New"/>
              </a:rPr>
              <a:t>&lt;script&gt;</a:t>
            </a:r>
          </a:p>
          <a:p>
            <a:pPr marL="0" indent="0">
              <a:buNone/>
            </a:pPr>
            <a:r>
              <a:rPr lang="en-US" sz="1800" dirty="0">
                <a:latin typeface="Courier New"/>
                <a:cs typeface="Courier New"/>
              </a:rPr>
              <a:t>getElementById("favoriteMovie")</a:t>
            </a:r>
          </a:p>
          <a:p>
            <a:pPr marL="0" indent="0">
              <a:buNone/>
            </a:pPr>
            <a:r>
              <a:rPr lang="en-US" sz="1800" dirty="0">
                <a:latin typeface="Courier New"/>
                <a:cs typeface="Courier New"/>
              </a:rPr>
              <a:t>	.innerHTML = "The Godfather";</a:t>
            </a:r>
          </a:p>
          <a:p>
            <a:pPr marL="0" indent="0">
              <a:buNone/>
            </a:pPr>
            <a:r>
              <a:rPr lang="en-US" sz="1800" dirty="0">
                <a:latin typeface="Courier New"/>
                <a:cs typeface="Courier New"/>
              </a:rPr>
              <a:t>&lt;/script&gt;</a:t>
            </a:r>
          </a:p>
          <a:p>
            <a:pPr marL="0" indent="0">
              <a:buNone/>
            </a:pPr>
            <a:endParaRPr lang="en-US" sz="1800" dirty="0">
              <a:latin typeface="Courier New"/>
              <a:cs typeface="Courier New"/>
            </a:endParaRPr>
          </a:p>
          <a:p>
            <a:pPr marL="0" indent="0">
              <a:buNone/>
            </a:pPr>
            <a:r>
              <a:rPr lang="en-US" sz="1800" dirty="0">
                <a:latin typeface="Courier New"/>
                <a:cs typeface="Courier New"/>
              </a:rPr>
              <a:t>//updates DOM, which updates the browser</a:t>
            </a:r>
          </a:p>
          <a:p>
            <a:pPr marL="0" indent="0">
              <a:buNone/>
            </a:pPr>
            <a:r>
              <a:rPr lang="en-US" sz="1800" dirty="0">
                <a:latin typeface="Courier New"/>
                <a:cs typeface="Courier New"/>
              </a:rPr>
              <a:t>&lt;p id="favoriteMovie"&gt;The Godfather&lt;/p&gt;</a:t>
            </a:r>
          </a:p>
        </p:txBody>
      </p:sp>
      <p:sp>
        <p:nvSpPr>
          <p:cNvPr id="4" name="Slide Number Placeholder 3"/>
          <p:cNvSpPr>
            <a:spLocks noGrp="1"/>
          </p:cNvSpPr>
          <p:nvPr>
            <p:ph type="sldNum" sz="quarter" idx="12"/>
          </p:nvPr>
        </p:nvSpPr>
        <p:spPr/>
        <p:txBody>
          <a:bodyPr/>
          <a:lstStyle/>
          <a:p>
            <a:fld id="{A839F4A7-500C-EC42-AE23-BEE4487EA55E}" type="slidenum">
              <a:rPr lang="en-US" smtClean="0"/>
              <a:t>77</a:t>
            </a:fld>
            <a:endParaRPr lang="en-US" dirty="0"/>
          </a:p>
        </p:txBody>
      </p:sp>
    </p:spTree>
    <p:extLst>
      <p:ext uri="{BB962C8B-B14F-4D97-AF65-F5344CB8AC3E}">
        <p14:creationId xmlns:p14="http://schemas.microsoft.com/office/powerpoint/2010/main" val="25189202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78</a:t>
            </a:fld>
            <a:endParaRPr lang="en-US" dirty="0"/>
          </a:p>
        </p:txBody>
      </p:sp>
      <p:sp>
        <p:nvSpPr>
          <p:cNvPr id="3" name="Text Placeholder 2"/>
          <p:cNvSpPr>
            <a:spLocks noGrp="1"/>
          </p:cNvSpPr>
          <p:nvPr>
            <p:ph type="body" sz="quarter" idx="13"/>
          </p:nvPr>
        </p:nvSpPr>
        <p:spPr/>
        <p:txBody>
          <a:bodyPr/>
          <a:lstStyle/>
          <a:p>
            <a:pPr marL="0" indent="0">
              <a:buNone/>
            </a:pPr>
            <a:r>
              <a:rPr lang="en-US">
                <a:latin typeface="Courier New" pitchFamily="49" charset="0"/>
              </a:rPr>
              <a:t>&lt;ol id="favoriteSongs"&gt;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&lt;/ol&gt;</a:t>
            </a:r>
          </a:p>
          <a:p>
            <a:endParaRPr lang="en-US" dirty="0"/>
          </a:p>
          <a:p>
            <a:pPr marL="0" indent="0">
              <a:buNone/>
            </a:pPr>
            <a:r>
              <a:rPr lang="en-US">
                <a:latin typeface="Courier New" pitchFamily="49" charset="0"/>
              </a:rPr>
              <a:t>&lt;script&gt;</a:t>
            </a:r>
          </a:p>
          <a:p>
            <a:pPr marL="0" indent="0">
              <a:buNone/>
            </a:pPr>
            <a:r>
              <a:rPr lang="en-US">
                <a:latin typeface="Courier New" pitchFamily="49" charset="0"/>
              </a:rPr>
              <a:t>var mySongs=document</a:t>
            </a:r>
          </a:p>
          <a:p>
            <a:pPr marL="0" indent="0">
              <a:buNone/>
            </a:pPr>
            <a:r>
              <a:rPr lang="en-US">
                <a:latin typeface="Courier New" pitchFamily="49" charset="0"/>
              </a:rPr>
              <a:t>	.querySelectorAll("#favoriteSongs .song");</a:t>
            </a:r>
          </a:p>
          <a:p>
            <a:r>
              <a:rPr lang="en-US" dirty="0"/>
              <a:t>mySongs[0].innerHTML = "My New Favorite Song";</a:t>
            </a:r>
          </a:p>
          <a:p>
            <a:pPr marL="0" indent="0">
              <a:buNone/>
            </a:pPr>
            <a:r>
              <a:rPr lang="en-US">
                <a:latin typeface="Courier New" pitchFamily="49" charset="0"/>
              </a:rPr>
              <a:t>&lt;/script&gt;</a:t>
            </a:r>
          </a:p>
        </p:txBody>
      </p:sp>
      <p:sp>
        <p:nvSpPr>
          <p:cNvPr id="2" name="Title 1"/>
          <p:cNvSpPr>
            <a:spLocks noGrp="1"/>
          </p:cNvSpPr>
          <p:nvPr>
            <p:ph type="title"/>
          </p:nvPr>
        </p:nvSpPr>
        <p:spPr/>
        <p:txBody>
          <a:bodyPr/>
          <a:lstStyle/>
          <a:p>
            <a:r>
              <a:rPr lang="en-US" dirty="0"/>
              <a:t>Manipulating HTML with the DOM</a:t>
            </a:r>
          </a:p>
        </p:txBody>
      </p:sp>
    </p:spTree>
    <p:extLst>
      <p:ext uri="{BB962C8B-B14F-4D97-AF65-F5344CB8AC3E}">
        <p14:creationId xmlns:p14="http://schemas.microsoft.com/office/powerpoint/2010/main" val="32206518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79</a:t>
            </a:fld>
            <a:endParaRPr lang="en-US" dirty="0"/>
          </a:p>
        </p:txBody>
      </p:sp>
      <p:sp>
        <p:nvSpPr>
          <p:cNvPr id="3" name="Text Placeholder 2"/>
          <p:cNvSpPr>
            <a:spLocks noGrp="1"/>
          </p:cNvSpPr>
          <p:nvPr>
            <p:ph type="body" sz="quarter" idx="13"/>
          </p:nvPr>
        </p:nvSpPr>
        <p:spPr/>
        <p:txBody>
          <a:bodyPr/>
          <a:lstStyle/>
          <a:p>
            <a:pPr marL="0" indent="0">
              <a:buNone/>
            </a:pPr>
            <a:r>
              <a:rPr lang="en-US">
                <a:latin typeface="Courier New" pitchFamily="49" charset="0"/>
              </a:rPr>
              <a:t>&lt;ol id="favoriteSongs"&gt;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  &lt;li class="song"&gt;&lt;/li&gt;</a:t>
            </a:r>
          </a:p>
          <a:p>
            <a:pPr marL="0" indent="0">
              <a:buNone/>
            </a:pPr>
            <a:r>
              <a:rPr lang="en-US">
                <a:latin typeface="Courier New" pitchFamily="49" charset="0"/>
              </a:rPr>
              <a:t>&lt;/ol&gt;</a:t>
            </a:r>
          </a:p>
          <a:p>
            <a:endParaRPr lang="en-US" dirty="0"/>
          </a:p>
          <a:p>
            <a:pPr marL="0" indent="0">
              <a:buNone/>
            </a:pPr>
            <a:r>
              <a:rPr lang="en-US">
                <a:latin typeface="Courier New" pitchFamily="49" charset="0"/>
              </a:rPr>
              <a:t>&lt;script&gt;</a:t>
            </a:r>
          </a:p>
          <a:p>
            <a:pPr marL="0" indent="0">
              <a:buNone/>
            </a:pPr>
            <a:r>
              <a:rPr lang="en-US">
                <a:latin typeface="Courier New" pitchFamily="49" charset="0"/>
              </a:rPr>
              <a:t>$("#favoriteSongs .song").first()</a:t>
            </a:r>
          </a:p>
          <a:p>
            <a:pPr marL="0" indent="0">
              <a:buNone/>
            </a:pPr>
            <a:r>
              <a:rPr lang="en-US">
                <a:latin typeface="Courier New" pitchFamily="49" charset="0"/>
              </a:rPr>
              <a:t>	.html("My New Favorite Song");</a:t>
            </a:r>
          </a:p>
          <a:p>
            <a:pPr marL="0" indent="0">
              <a:buNone/>
            </a:pPr>
            <a:r>
              <a:rPr lang="en-US">
                <a:latin typeface="Courier New" pitchFamily="49" charset="0"/>
              </a:rPr>
              <a:t>&lt;/script&gt;</a:t>
            </a:r>
          </a:p>
        </p:txBody>
      </p:sp>
      <p:sp>
        <p:nvSpPr>
          <p:cNvPr id="4" name="Title 3"/>
          <p:cNvSpPr>
            <a:spLocks noGrp="1"/>
          </p:cNvSpPr>
          <p:nvPr>
            <p:ph type="title"/>
          </p:nvPr>
        </p:nvSpPr>
        <p:spPr/>
        <p:txBody>
          <a:bodyPr/>
          <a:lstStyle/>
          <a:p>
            <a:r>
              <a:rPr lang="en-US" dirty="0"/>
              <a:t>Manipulating HTML with JQuery</a:t>
            </a:r>
          </a:p>
        </p:txBody>
      </p:sp>
    </p:spTree>
    <p:extLst>
      <p:ext uri="{BB962C8B-B14F-4D97-AF65-F5344CB8AC3E}">
        <p14:creationId xmlns:p14="http://schemas.microsoft.com/office/powerpoint/2010/main" val="3097357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80</a:t>
            </a:fld>
            <a:endParaRPr lang="en-US" dirty="0"/>
          </a:p>
        </p:txBody>
      </p:sp>
      <p:sp>
        <p:nvSpPr>
          <p:cNvPr id="3" name="Text Placeholder 2"/>
          <p:cNvSpPr>
            <a:spLocks noGrp="1"/>
          </p:cNvSpPr>
          <p:nvPr>
            <p:ph type="body" sz="quarter" idx="13"/>
          </p:nvPr>
        </p:nvSpPr>
        <p:spPr/>
        <p:txBody>
          <a:bodyPr>
            <a:noAutofit/>
          </a:bodyPr>
          <a:lstStyle/>
          <a:p>
            <a:pPr marL="0" indent="0">
              <a:buNone/>
            </a:pPr>
            <a:r>
              <a:rPr lang="en-US">
                <a:latin typeface="Courier New" pitchFamily="49" charset="0"/>
              </a:rPr>
              <a:t>&lt;div id="favoriteSongs"&gt;&lt;/div&gt;</a:t>
            </a:r>
          </a:p>
          <a:p>
            <a:endParaRPr/>
          </a:p>
          <a:p>
            <a:pPr marL="0" indent="0">
              <a:buNone/>
            </a:pPr>
            <a:r>
              <a:rPr lang="en-US">
                <a:latin typeface="Courier New" pitchFamily="49" charset="0"/>
              </a:rPr>
              <a:t>function FavoriteSongs({ song }) {</a:t>
            </a:r>
          </a:p>
          <a:p>
            <a:pPr marL="0" indent="0">
              <a:buNone/>
            </a:pPr>
            <a:r>
              <a:rPr lang="en-US">
                <a:latin typeface="Courier New" pitchFamily="49" charset="0"/>
              </a:rPr>
              <a:t>  return (</a:t>
            </a:r>
          </a:p>
          <a:p>
            <a:pPr marL="0" indent="0">
              <a:buNone/>
            </a:pPr>
            <a:r>
              <a:rPr lang="en-US">
                <a:latin typeface="Courier New" pitchFamily="49" charset="0"/>
              </a:rPr>
              <a:t>    &lt;ol&gt;</a:t>
            </a:r>
          </a:p>
          <a:p>
            <a:pPr marL="0" indent="0">
              <a:buNone/>
            </a:pPr>
            <a:r>
              <a:rPr lang="en-US">
                <a:latin typeface="Courier New" pitchFamily="49" charset="0"/>
              </a:rPr>
              <a:t>      &lt;li className="song"&gt;{song}&lt;/li&gt;</a:t>
            </a:r>
          </a:p>
          <a:p>
            <a:pPr marL="0" indent="0">
              <a:buNone/>
            </a:pPr>
            <a:r>
              <a:rPr lang="en-US">
                <a:latin typeface="Courier New" pitchFamily="49" charset="0"/>
              </a:rPr>
              <a:t>    &lt;/ol&gt;</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createRoot(document.getElementById('favoriteSongs'))</a:t>
            </a:r>
          </a:p>
          <a:p>
            <a:pPr marL="0" indent="0">
              <a:buNone/>
            </a:pPr>
            <a:r>
              <a:rPr lang="en-US">
                <a:latin typeface="Courier New" pitchFamily="49" charset="0"/>
              </a:rPr>
              <a:t>  .render(&lt;FavoriteSongs song="My New Favorite Song" /&gt;);</a:t>
            </a:r>
          </a:p>
        </p:txBody>
      </p:sp>
      <p:sp>
        <p:nvSpPr>
          <p:cNvPr id="4" name="Title 3"/>
          <p:cNvSpPr>
            <a:spLocks noGrp="1"/>
          </p:cNvSpPr>
          <p:nvPr>
            <p:ph type="title"/>
          </p:nvPr>
        </p:nvSpPr>
        <p:spPr/>
        <p:txBody>
          <a:bodyPr/>
          <a:lstStyle/>
          <a:p>
            <a:r>
              <a:t>Manipulating HTML with React</a:t>
            </a:r>
          </a:p>
        </p:txBody>
      </p:sp>
    </p:spTree>
    <p:extLst>
      <p:ext uri="{BB962C8B-B14F-4D97-AF65-F5344CB8AC3E}">
        <p14:creationId xmlns:p14="http://schemas.microsoft.com/office/powerpoint/2010/main" val="36921492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2A8968-AE87-D24E-ABF3-933FFBE608BD}"/>
              </a:ext>
            </a:extLst>
          </p:cNvPr>
          <p:cNvSpPr>
            <a:spLocks noGrp="1"/>
          </p:cNvSpPr>
          <p:nvPr>
            <p:ph type="sldNum" sz="quarter" idx="4"/>
          </p:nvPr>
        </p:nvSpPr>
        <p:spPr/>
        <p:txBody>
          <a:bodyPr/>
          <a:lstStyle/>
          <a:p>
            <a:fld id="{7F5CE407-6216-4202-80E4-A30DC2F709B2}" type="slidenum">
              <a:rPr lang="en-US" smtClean="0"/>
              <a:pPr/>
              <a:t>81</a:t>
            </a:fld>
            <a:endParaRPr lang="en-US"/>
          </a:p>
        </p:txBody>
      </p:sp>
      <p:sp>
        <p:nvSpPr>
          <p:cNvPr id="3" name="Text Placeholder 2">
            <a:extLst>
              <a:ext uri="{FF2B5EF4-FFF2-40B4-BE49-F238E27FC236}">
                <a16:creationId xmlns:a16="http://schemas.microsoft.com/office/drawing/2014/main" id="{B2937872-F4A7-1243-8E88-B180BEA83196}"/>
              </a:ext>
            </a:extLst>
          </p:cNvPr>
          <p:cNvSpPr>
            <a:spLocks noGrp="1"/>
          </p:cNvSpPr>
          <p:nvPr>
            <p:ph type="body" sz="quarter" idx="10"/>
          </p:nvPr>
        </p:nvSpPr>
        <p:spPr/>
        <p:txBody>
          <a:bodyPr>
            <a:normAutofit fontScale="92500" lnSpcReduction="10000"/>
          </a:bodyPr>
          <a:lstStyle/>
          <a:p>
            <a:pPr marL="0" indent="0">
              <a:buNone/>
            </a:pPr>
            <a:r>
              <a:rPr lang="en-US">
                <a:latin typeface="Courier New" pitchFamily="49" charset="0"/>
              </a:rPr>
              <a:t>&lt;div id="favoriteSongs"&gt;</a:t>
            </a:r>
          </a:p>
          <a:p>
            <a:pPr marL="0" indent="0">
              <a:buNone/>
            </a:pPr>
            <a:r>
              <a:rPr lang="en-US">
                <a:latin typeface="Courier New" pitchFamily="49" charset="0"/>
              </a:rPr>
              <a:t>  &lt;ol&gt;</a:t>
            </a:r>
          </a:p>
          <a:p>
            <a:pPr marL="0" indent="0">
              <a:buNone/>
            </a:pPr>
            <a:r>
              <a:rPr lang="en-US">
                <a:latin typeface="Courier New" pitchFamily="49" charset="0"/>
              </a:rPr>
              <a:t>    &lt;li v-for="song in songs" :key="song.title" class="song"&gt;</a:t>
            </a:r>
          </a:p>
          <a:p>
            <a:pPr marL="0" indent="0">
              <a:buNone/>
            </a:pPr>
            <a:r>
              <a:rPr lang="en-US">
                <a:latin typeface="Courier New" pitchFamily="49" charset="0"/>
              </a:rPr>
              <a:t>      {{ song.title }}</a:t>
            </a:r>
          </a:p>
          <a:p>
            <a:pPr marL="0" indent="0">
              <a:buNone/>
            </a:pPr>
            <a:r>
              <a:rPr lang="en-US">
                <a:latin typeface="Courier New" pitchFamily="49" charset="0"/>
              </a:rPr>
              <a:t>    &lt;/li&gt;</a:t>
            </a:r>
          </a:p>
          <a:p>
            <a:pPr marL="0" indent="0">
              <a:buNone/>
            </a:pPr>
            <a:r>
              <a:rPr lang="en-US">
                <a:latin typeface="Courier New" pitchFamily="49" charset="0"/>
              </a:rPr>
              <a:t>  &lt;/ol&gt;</a:t>
            </a:r>
          </a:p>
          <a:p>
            <a:pPr marL="0" indent="0">
              <a:buNone/>
            </a:pPr>
            <a:r>
              <a:rPr lang="en-US">
                <a:latin typeface="Courier New" pitchFamily="49" charset="0"/>
              </a:rPr>
              <a:t>&lt;/div&gt;</a:t>
            </a:r>
          </a:p>
          <a:p>
            <a:endParaRPr/>
          </a:p>
          <a:p>
            <a:pPr marL="0" indent="0">
              <a:buNone/>
            </a:pPr>
            <a:r>
              <a:rPr lang="en-US">
                <a:latin typeface="Courier New" pitchFamily="49" charset="0"/>
              </a:rPr>
              <a:t>import { createApp } from 'vue'</a:t>
            </a:r>
          </a:p>
          <a:p>
            <a:endParaRPr/>
          </a:p>
          <a:p>
            <a:r>
              <a:t>createApp({</a:t>
            </a:r>
          </a:p>
          <a:p>
            <a:pPr marL="0" indent="0">
              <a:buNone/>
            </a:pPr>
            <a:r>
              <a:rPr lang="en-US">
                <a:latin typeface="Courier New" pitchFamily="49" charset="0"/>
              </a:rPr>
              <a:t>  data() {</a:t>
            </a:r>
          </a:p>
          <a:p>
            <a:pPr marL="0" indent="0">
              <a:buNone/>
            </a:pPr>
            <a:r>
              <a:rPr lang="en-US">
                <a:latin typeface="Courier New" pitchFamily="49" charset="0"/>
              </a:rPr>
              <a:t>    return {</a:t>
            </a:r>
          </a:p>
          <a:p>
            <a:r>
              <a:t>      songs: [</a:t>
            </a:r>
          </a:p>
          <a:p>
            <a:pPr marL="0" indent="0">
              <a:buNone/>
            </a:pPr>
            <a:r>
              <a:rPr lang="en-US">
                <a:latin typeface="Courier New" pitchFamily="49" charset="0"/>
              </a:rPr>
              <a:t>        { title: 'Walk This Way' },</a:t>
            </a:r>
          </a:p>
          <a:p>
            <a:pPr marL="0" indent="0">
              <a:buNone/>
            </a:pPr>
            <a:r>
              <a:rPr lang="en-US">
                <a:latin typeface="Courier New" pitchFamily="49" charset="0"/>
              </a:rPr>
              <a:t>        { title: 'Give It Away' },</a:t>
            </a:r>
          </a:p>
          <a:p>
            <a:pPr marL="0" indent="0">
              <a:buNone/>
            </a:pPr>
            <a:r>
              <a:rPr lang="en-US">
                <a:latin typeface="Courier New" pitchFamily="49" charset="0"/>
              </a:rPr>
              <a:t>        { title: 'My Way' }</a:t>
            </a:r>
          </a:p>
          <a:p>
            <a:pPr marL="0" indent="0">
              <a:buNone/>
            </a:pPr>
            <a:r>
              <a:rPr lang="en-US">
                <a:latin typeface="Courier New" pitchFamily="49" charset="0"/>
              </a:rPr>
              <a:t>      ]</a:t>
            </a:r>
          </a:p>
          <a:p>
            <a:pPr marL="0" indent="0">
              <a:buNone/>
            </a:pPr>
            <a:r>
              <a:rPr lang="en-US">
                <a:latin typeface="Courier New" pitchFamily="49" charset="0"/>
              </a:rPr>
              <a:t>    }</a:t>
            </a:r>
          </a:p>
          <a:p>
            <a:pPr marL="0" indent="0">
              <a:buNone/>
            </a:pPr>
            <a:r>
              <a:rPr lang="en-US">
                <a:latin typeface="Courier New" pitchFamily="49" charset="0"/>
              </a:rPr>
              <a:t>  }</a:t>
            </a:r>
          </a:p>
          <a:p>
            <a:r>
              <a:t>}).mount('#favoriteSongs')</a:t>
            </a:r>
          </a:p>
        </p:txBody>
      </p:sp>
      <p:sp>
        <p:nvSpPr>
          <p:cNvPr id="4" name="Title 3">
            <a:extLst>
              <a:ext uri="{FF2B5EF4-FFF2-40B4-BE49-F238E27FC236}">
                <a16:creationId xmlns:a16="http://schemas.microsoft.com/office/drawing/2014/main" id="{85455855-B8FC-1242-91D7-2AC86C5A1AA7}"/>
              </a:ext>
            </a:extLst>
          </p:cNvPr>
          <p:cNvSpPr>
            <a:spLocks noGrp="1"/>
          </p:cNvSpPr>
          <p:nvPr>
            <p:ph type="title"/>
          </p:nvPr>
        </p:nvSpPr>
        <p:spPr/>
        <p:txBody>
          <a:bodyPr/>
          <a:lstStyle/>
          <a:p>
            <a:r>
              <a:t>Manipulating HTML With Vue.js</a:t>
            </a:r>
          </a:p>
        </p:txBody>
      </p:sp>
    </p:spTree>
    <p:extLst>
      <p:ext uri="{BB962C8B-B14F-4D97-AF65-F5344CB8AC3E}">
        <p14:creationId xmlns:p14="http://schemas.microsoft.com/office/powerpoint/2010/main" val="2478086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0AC2-5D88-3648-BF20-16C5B1F8955B}"/>
              </a:ext>
            </a:extLst>
          </p:cNvPr>
          <p:cNvSpPr>
            <a:spLocks noGrp="1"/>
          </p:cNvSpPr>
          <p:nvPr>
            <p:ph type="title"/>
          </p:nvPr>
        </p:nvSpPr>
        <p:spPr/>
        <p:txBody>
          <a:bodyPr/>
          <a:lstStyle/>
          <a:p>
            <a:r>
              <a:rPr lang="en-US"/>
              <a:t>Debugging JavaScript </a:t>
            </a:r>
          </a:p>
        </p:txBody>
      </p:sp>
      <p:sp>
        <p:nvSpPr>
          <p:cNvPr id="4" name="Text Placeholder 3">
            <a:extLst>
              <a:ext uri="{FF2B5EF4-FFF2-40B4-BE49-F238E27FC236}">
                <a16:creationId xmlns:a16="http://schemas.microsoft.com/office/drawing/2014/main" id="{2D8E3058-24D5-F94D-A2FC-3E1AF01DE0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050658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a:t>Browser Development Tools</a:t>
            </a:r>
          </a:p>
        </p:txBody>
      </p:sp>
      <p:sp>
        <p:nvSpPr>
          <p:cNvPr id="3" name="Text Placeholder 2"/>
          <p:cNvSpPr>
            <a:spLocks noGrp="1"/>
          </p:cNvSpPr>
          <p:nvPr>
            <p:ph type="body" idx="1"/>
          </p:nvPr>
        </p:nvSpPr>
        <p:spPr/>
        <p:txBody>
          <a:bodyPr/>
          <a:lstStyle/>
          <a:p>
            <a:r>
              <a:rPr lang="en-US"/>
              <a:t>Using Chrome Developer Tools</a:t>
            </a:r>
          </a:p>
          <a:p>
            <a:r>
              <a:rPr lang="en-US"/>
              <a:t>Using IE F12 Developer Tools</a:t>
            </a:r>
          </a:p>
        </p:txBody>
      </p:sp>
      <p:sp>
        <p:nvSpPr>
          <p:cNvPr id="4" name="Slide Number Placeholder 3"/>
          <p:cNvSpPr>
            <a:spLocks noGrp="1"/>
          </p:cNvSpPr>
          <p:nvPr>
            <p:ph type="sldNum" sz="quarter" idx="12"/>
          </p:nvPr>
        </p:nvSpPr>
        <p:spPr/>
        <p:txBody>
          <a:bodyPr/>
          <a:lstStyle/>
          <a:p>
            <a:fld id="{A839F4A7-500C-EC42-AE23-BEE4487EA55E}" type="slidenum">
              <a:rPr lang="en-US" smtClean="0"/>
              <a:t>83</a:t>
            </a:fld>
            <a:endParaRPr lang="en-US"/>
          </a:p>
        </p:txBody>
      </p:sp>
    </p:spTree>
    <p:extLst>
      <p:ext uri="{BB962C8B-B14F-4D97-AF65-F5344CB8AC3E}">
        <p14:creationId xmlns:p14="http://schemas.microsoft.com/office/powerpoint/2010/main" val="17653166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8D39-E529-BC4E-8FAF-AA7AA4B9CC92}"/>
              </a:ext>
            </a:extLst>
          </p:cNvPr>
          <p:cNvSpPr>
            <a:spLocks noGrp="1"/>
          </p:cNvSpPr>
          <p:nvPr>
            <p:ph type="title"/>
          </p:nvPr>
        </p:nvSpPr>
        <p:spPr/>
        <p:txBody>
          <a:bodyPr/>
          <a:lstStyle/>
          <a:p>
            <a:r>
              <a:t>Installing and Using the Vue DevTools</a:t>
            </a:r>
          </a:p>
        </p:txBody>
      </p:sp>
      <p:sp>
        <p:nvSpPr>
          <p:cNvPr id="3" name="Text Placeholder 2">
            <a:extLst>
              <a:ext uri="{FF2B5EF4-FFF2-40B4-BE49-F238E27FC236}">
                <a16:creationId xmlns:a16="http://schemas.microsoft.com/office/drawing/2014/main" id="{8154C812-9D91-4F42-8F37-FF7A40228AAF}"/>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9F4013D-F7D5-DA88-8313-8E2D0F790FBA}"/>
              </a:ext>
            </a:extLst>
          </p:cNvPr>
          <p:cNvPicPr>
            <a:picLocks noChangeAspect="1"/>
          </p:cNvPicPr>
          <p:nvPr/>
        </p:nvPicPr>
        <p:blipFill>
          <a:blip r:embed="rId2"/>
          <a:stretch>
            <a:fillRect/>
          </a:stretch>
        </p:blipFill>
        <p:spPr>
          <a:xfrm>
            <a:off x="1761066" y="2644246"/>
            <a:ext cx="5655637" cy="3481917"/>
          </a:xfrm>
          <a:prstGeom prst="rect">
            <a:avLst/>
          </a:prstGeom>
        </p:spPr>
      </p:pic>
    </p:spTree>
    <p:extLst>
      <p:ext uri="{BB962C8B-B14F-4D97-AF65-F5344CB8AC3E}">
        <p14:creationId xmlns:p14="http://schemas.microsoft.com/office/powerpoint/2010/main" val="8131937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812CA-C837-E349-8D2D-0DD83FB8A19F}"/>
              </a:ext>
            </a:extLst>
          </p:cNvPr>
          <p:cNvSpPr>
            <a:spLocks noGrp="1"/>
          </p:cNvSpPr>
          <p:nvPr>
            <p:ph type="title"/>
          </p:nvPr>
        </p:nvSpPr>
        <p:spPr/>
        <p:txBody>
          <a:bodyPr>
            <a:normAutofit fontScale="90000"/>
          </a:bodyPr>
          <a:lstStyle/>
          <a:p>
            <a:r>
              <a:rPr lang="en-US"/>
              <a:t>Lab 10: Manual In-Browser Testing and Debugging</a:t>
            </a:r>
          </a:p>
        </p:txBody>
      </p:sp>
      <p:sp>
        <p:nvSpPr>
          <p:cNvPr id="4" name="Content Placeholder 3">
            <a:extLst>
              <a:ext uri="{FF2B5EF4-FFF2-40B4-BE49-F238E27FC236}">
                <a16:creationId xmlns:a16="http://schemas.microsoft.com/office/drawing/2014/main" id="{26E06461-A48B-11A7-43DC-724863BEBAD9}"/>
              </a:ext>
            </a:extLst>
          </p:cNvPr>
          <p:cNvSpPr>
            <a:spLocks noGrp="1"/>
          </p:cNvSpPr>
          <p:nvPr>
            <p:ph idx="1"/>
          </p:nvPr>
        </p:nvSpPr>
        <p:spPr/>
        <p:txBody>
          <a:bodyPr/>
          <a:lstStyle/>
          <a:p>
            <a:endParaRPr lang="en-US"/>
          </a:p>
        </p:txBody>
      </p:sp>
      <p:pic>
        <p:nvPicPr>
          <p:cNvPr id="5" name="Content Placeholder 5" descr="A screenshot of a cell phone&#10;&#10;Description automatically generated">
            <a:extLst>
              <a:ext uri="{FF2B5EF4-FFF2-40B4-BE49-F238E27FC236}">
                <a16:creationId xmlns:a16="http://schemas.microsoft.com/office/drawing/2014/main" id="{23F4CD1F-66F0-9543-B6B8-BBCE093835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543" y="1417638"/>
            <a:ext cx="6912914" cy="5294312"/>
          </a:xfrm>
          <a:prstGeom prst="rect">
            <a:avLst/>
          </a:prstGeom>
        </p:spPr>
      </p:pic>
    </p:spTree>
    <p:extLst>
      <p:ext uri="{BB962C8B-B14F-4D97-AF65-F5344CB8AC3E}">
        <p14:creationId xmlns:p14="http://schemas.microsoft.com/office/powerpoint/2010/main" val="41403195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C311-F7BF-4946-B136-170DC1A059C1}"/>
              </a:ext>
            </a:extLst>
          </p:cNvPr>
          <p:cNvSpPr>
            <a:spLocks noGrp="1"/>
          </p:cNvSpPr>
          <p:nvPr>
            <p:ph type="title"/>
          </p:nvPr>
        </p:nvSpPr>
        <p:spPr/>
        <p:txBody>
          <a:bodyPr/>
          <a:lstStyle/>
          <a:p>
            <a:r>
              <a:rPr lang="en-US" dirty="0"/>
              <a:t>Getting Started With </a:t>
            </a:r>
            <a:r>
              <a:rPr lang="en-US" dirty="0" err="1"/>
              <a:t>Vue.Js</a:t>
            </a:r>
            <a:endParaRPr lang="en-US" dirty="0"/>
          </a:p>
        </p:txBody>
      </p:sp>
      <p:sp>
        <p:nvSpPr>
          <p:cNvPr id="4" name="Text Placeholder 3">
            <a:extLst>
              <a:ext uri="{FF2B5EF4-FFF2-40B4-BE49-F238E27FC236}">
                <a16:creationId xmlns:a16="http://schemas.microsoft.com/office/drawing/2014/main" id="{CDC0F026-130A-184C-8BE9-D217802673A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16196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F581-1563-2A44-ADCA-4EDE837108F0}"/>
              </a:ext>
            </a:extLst>
          </p:cNvPr>
          <p:cNvSpPr>
            <a:spLocks noGrp="1"/>
          </p:cNvSpPr>
          <p:nvPr>
            <p:ph type="title"/>
          </p:nvPr>
        </p:nvSpPr>
        <p:spPr/>
        <p:txBody>
          <a:bodyPr/>
          <a:lstStyle/>
          <a:p>
            <a:r>
              <a:rPr lang="en-US" dirty="0"/>
              <a:t>Basic </a:t>
            </a:r>
            <a:r>
              <a:rPr lang="en-US" dirty="0" err="1"/>
              <a:t>Vue.Js</a:t>
            </a:r>
            <a:r>
              <a:rPr lang="en-US" dirty="0"/>
              <a:t> Features</a:t>
            </a:r>
          </a:p>
        </p:txBody>
      </p:sp>
      <p:sp>
        <p:nvSpPr>
          <p:cNvPr id="4" name="Text Placeholder 3">
            <a:extLst>
              <a:ext uri="{FF2B5EF4-FFF2-40B4-BE49-F238E27FC236}">
                <a16:creationId xmlns:a16="http://schemas.microsoft.com/office/drawing/2014/main" id="{1450C921-D83B-BD46-AA97-D004562D4B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5472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Options API vs. Composition API</a:t>
            </a:r>
          </a:p>
        </p:txBody>
      </p:sp>
      <p:sp>
        <p:nvSpPr>
          <p:cNvPr id="3" name="Content Placeholder 2"/>
          <p:cNvSpPr>
            <a:spLocks noGrp="1"/>
          </p:cNvSpPr>
          <p:nvPr>
            <p:ph idx="1"/>
          </p:nvPr>
        </p:nvSpPr>
        <p:spPr/>
        <p:txBody>
          <a:bodyPr/>
          <a:lstStyle/>
          <a:p>
            <a:r>
              <a:t>Options API</a:t>
            </a:r>
          </a:p>
          <a:p>
            <a:pPr lvl="1"/>
            <a:r>
              <a:t>Code is grouped by option: data, computed, methods, watch</a:t>
            </a:r>
          </a:p>
          <a:p>
            <a:pPr lvl="1"/>
            <a:r>
              <a:t>A single feature is spread across several options</a:t>
            </a:r>
          </a:p>
          <a:p>
            <a:pPr lvl="1"/>
            <a:r>
              <a:t>Reuse means mixins</a:t>
            </a:r>
          </a:p>
          <a:p>
            <a:r>
              <a:t>Composition API</a:t>
            </a:r>
          </a:p>
          <a:p>
            <a:pPr lvl="1"/>
            <a:r>
              <a:t>Code is grouped by feature</a:t>
            </a:r>
          </a:p>
          <a:p>
            <a:pPr lvl="1"/>
            <a:r>
              <a:t>Reuse means composables - ordinary functions</a:t>
            </a:r>
          </a:p>
          <a:p>
            <a:pPr lvl="1"/>
            <a:r>
              <a:t>Better type inference and IDE support</a:t>
            </a:r>
          </a:p>
          <a:p>
            <a:r>
              <a:t>Both are fully supported. This course uses the Composition API, which is what current Vue code is written with.</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52B36E-6629-A248-9650-EA2531F5E458}"/>
              </a:ext>
            </a:extLst>
          </p:cNvPr>
          <p:cNvSpPr>
            <a:spLocks noGrp="1"/>
          </p:cNvSpPr>
          <p:nvPr>
            <p:ph type="sldNum" sz="quarter" idx="12"/>
          </p:nvPr>
        </p:nvSpPr>
        <p:spPr/>
        <p:txBody>
          <a:bodyPr/>
          <a:lstStyle/>
          <a:p>
            <a:fld id="{6FFFF67E-EC6A-B940-8DC7-BF9A5925C934}" type="slidenum">
              <a:rPr lang="en-US" smtClean="0"/>
              <a:t>89</a:t>
            </a:fld>
            <a:endParaRPr lang="en-US"/>
          </a:p>
        </p:txBody>
      </p:sp>
      <p:sp>
        <p:nvSpPr>
          <p:cNvPr id="5" name="Text Placeholder 4">
            <a:extLst>
              <a:ext uri="{FF2B5EF4-FFF2-40B4-BE49-F238E27FC236}">
                <a16:creationId xmlns:a16="http://schemas.microsoft.com/office/drawing/2014/main" id="{95EA5AE3-E551-C744-9BF3-20E5CA798863}"/>
              </a:ext>
            </a:extLst>
          </p:cNvPr>
          <p:cNvSpPr>
            <a:spLocks noGrp="1"/>
          </p:cNvSpPr>
          <p:nvPr>
            <p:ph type="body" sz="quarter" idx="13"/>
          </p:nvPr>
        </p:nvSpPr>
        <p:spPr/>
        <p:txBody>
          <a:bodyPr>
            <a:normAutofit/>
          </a:bodyPr>
          <a:lstStyle/>
          <a:p>
            <a:pPr marL="0" indent="0">
              <a:buNone/>
            </a:pPr>
            <a:r>
              <a:rPr lang="en-US" sz="1600" dirty="0">
                <a:latin typeface="Courier New" pitchFamily="49" charset="0"/>
              </a:rPr>
              <a:t>import { </a:t>
            </a:r>
            <a:r>
              <a:rPr lang="en-US" sz="1600" dirty="0" err="1">
                <a:latin typeface="Courier New" pitchFamily="49" charset="0"/>
              </a:rPr>
              <a:t>createApp</a:t>
            </a:r>
            <a:r>
              <a:rPr lang="en-US" sz="1600" dirty="0">
                <a:latin typeface="Courier New" pitchFamily="49" charset="0"/>
              </a:rPr>
              <a:t> } from '</a:t>
            </a:r>
            <a:r>
              <a:rPr lang="en-US" sz="1600" dirty="0" err="1">
                <a:latin typeface="Courier New" pitchFamily="49" charset="0"/>
              </a:rPr>
              <a:t>vue</a:t>
            </a:r>
            <a:r>
              <a:rPr lang="en-US" sz="1600" dirty="0">
                <a:latin typeface="Courier New" pitchFamily="49" charset="0"/>
              </a:rPr>
              <a:t>'</a:t>
            </a:r>
          </a:p>
          <a:p>
            <a:r>
              <a:rPr sz="1600" dirty="0"/>
              <a:t>import App from './</a:t>
            </a:r>
            <a:r>
              <a:rPr sz="1600" dirty="0" err="1"/>
              <a:t>App.vue</a:t>
            </a:r>
            <a:r>
              <a:rPr sz="1600" dirty="0"/>
              <a:t>'</a:t>
            </a:r>
          </a:p>
          <a:p>
            <a:endParaRPr sz="1600" dirty="0"/>
          </a:p>
          <a:p>
            <a:pPr marL="0" indent="0">
              <a:buNone/>
            </a:pPr>
            <a:r>
              <a:rPr lang="en-US" sz="1600" dirty="0">
                <a:latin typeface="Courier New" pitchFamily="49" charset="0"/>
              </a:rPr>
              <a:t>const app = </a:t>
            </a:r>
            <a:r>
              <a:rPr lang="en-US" sz="1600" dirty="0" err="1">
                <a:latin typeface="Courier New" pitchFamily="49" charset="0"/>
              </a:rPr>
              <a:t>createApp</a:t>
            </a:r>
            <a:r>
              <a:rPr lang="en-US" sz="1600" dirty="0">
                <a:latin typeface="Courier New" pitchFamily="49" charset="0"/>
              </a:rPr>
              <a:t>(App)   // an isolated application instance</a:t>
            </a:r>
          </a:p>
          <a:p>
            <a:endParaRPr sz="1600" dirty="0"/>
          </a:p>
          <a:p>
            <a:r>
              <a:rPr sz="1600" dirty="0" err="1"/>
              <a:t>app.use</a:t>
            </a:r>
            <a:r>
              <a:rPr sz="1600" dirty="0"/>
              <a:t>(</a:t>
            </a:r>
            <a:r>
              <a:rPr sz="1600" dirty="0" err="1"/>
              <a:t>createPinia</a:t>
            </a:r>
            <a:r>
              <a:rPr sz="1600" dirty="0"/>
              <a:t>())       // plugins are installed per app</a:t>
            </a:r>
          </a:p>
          <a:p>
            <a:pPr marL="0" indent="0">
              <a:buNone/>
            </a:pPr>
            <a:r>
              <a:rPr lang="en-US" sz="1600" dirty="0" err="1">
                <a:latin typeface="Courier New" pitchFamily="49" charset="0"/>
              </a:rPr>
              <a:t>app.use</a:t>
            </a:r>
            <a:r>
              <a:rPr lang="en-US" sz="1600" dirty="0">
                <a:latin typeface="Courier New" pitchFamily="49" charset="0"/>
              </a:rPr>
              <a:t>(router)</a:t>
            </a:r>
          </a:p>
          <a:p>
            <a:r>
              <a:rPr sz="1600" dirty="0" err="1"/>
              <a:t>app.mount</a:t>
            </a:r>
            <a:r>
              <a:rPr sz="1600" dirty="0"/>
              <a:t>('#app')           // where to render</a:t>
            </a:r>
          </a:p>
          <a:p>
            <a:endParaRPr sz="1600" dirty="0"/>
          </a:p>
          <a:p>
            <a:pPr marL="0" indent="0">
              <a:buNone/>
            </a:pPr>
            <a:r>
              <a:rPr lang="en-US" sz="1600" dirty="0">
                <a:latin typeface="Courier New" pitchFamily="49" charset="0"/>
              </a:rPr>
              <a:t>// There is no global Vue object, so two apps on the same page</a:t>
            </a:r>
          </a:p>
          <a:p>
            <a:pPr marL="0" indent="0">
              <a:buNone/>
            </a:pPr>
            <a:r>
              <a:rPr lang="en-US" sz="1600" dirty="0">
                <a:latin typeface="Courier New" pitchFamily="49" charset="0"/>
              </a:rPr>
              <a:t>// never share plugins, components, or configuration.</a:t>
            </a:r>
          </a:p>
        </p:txBody>
      </p:sp>
      <p:sp>
        <p:nvSpPr>
          <p:cNvPr id="2" name="Title 1">
            <a:extLst>
              <a:ext uri="{FF2B5EF4-FFF2-40B4-BE49-F238E27FC236}">
                <a16:creationId xmlns:a16="http://schemas.microsoft.com/office/drawing/2014/main" id="{A47E2060-2F25-DA44-ADF3-D7C0834A0592}"/>
              </a:ext>
            </a:extLst>
          </p:cNvPr>
          <p:cNvSpPr>
            <a:spLocks noGrp="1"/>
          </p:cNvSpPr>
          <p:nvPr>
            <p:ph type="title"/>
          </p:nvPr>
        </p:nvSpPr>
        <p:spPr/>
        <p:txBody>
          <a:bodyPr/>
          <a:lstStyle/>
          <a:p>
            <a:r>
              <a:t>Creating and Mounting an App</a:t>
            </a:r>
          </a:p>
        </p:txBody>
      </p:sp>
    </p:spTree>
    <p:extLst>
      <p:ext uri="{BB962C8B-B14F-4D97-AF65-F5344CB8AC3E}">
        <p14:creationId xmlns:p14="http://schemas.microsoft.com/office/powerpoint/2010/main" val="35878620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a:latin typeface="Courier New" pitchFamily="49" charset="0"/>
              </a:rPr>
              <a:t>&lt;script setup&gt;</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latin typeface="Courier New" pitchFamily="49" charset="0"/>
              </a:rPr>
              <a:t>&lt;script setup&gt;</a:t>
            </a:r>
          </a:p>
          <a:p>
            <a:pPr marL="0" indent="0">
              <a:buNone/>
            </a:pPr>
            <a:r>
              <a:rPr lang="en-US" dirty="0">
                <a:latin typeface="Courier New" pitchFamily="49" charset="0"/>
              </a:rPr>
              <a:t>import { computed, ref } from '</a:t>
            </a:r>
            <a:r>
              <a:rPr lang="en-US" dirty="0" err="1">
                <a:latin typeface="Courier New" pitchFamily="49" charset="0"/>
              </a:rPr>
              <a:t>vue</a:t>
            </a:r>
            <a:r>
              <a:rPr lang="en-US" dirty="0">
                <a:latin typeface="Courier New" pitchFamily="49" charset="0"/>
              </a:rPr>
              <a:t>'</a:t>
            </a:r>
          </a:p>
          <a:p>
            <a:pPr marL="0" indent="0">
              <a:buNone/>
            </a:pPr>
            <a:r>
              <a:rPr dirty="0">
                <a:latin typeface="Courier New" panose="02070309020205020404" pitchFamily="49" charset="0"/>
                <a:cs typeface="Courier New" panose="02070309020205020404" pitchFamily="49" charset="0"/>
              </a:rPr>
              <a:t>import </a:t>
            </a:r>
            <a:r>
              <a:rPr dirty="0" err="1">
                <a:latin typeface="Courier New" panose="02070309020205020404" pitchFamily="49" charset="0"/>
                <a:cs typeface="Courier New" panose="02070309020205020404" pitchFamily="49" charset="0"/>
              </a:rPr>
              <a:t>ArticleList</a:t>
            </a:r>
            <a:r>
              <a:rPr dirty="0">
                <a:latin typeface="Courier New" panose="02070309020205020404" pitchFamily="49" charset="0"/>
                <a:cs typeface="Courier New" panose="02070309020205020404" pitchFamily="49" charset="0"/>
              </a:rPr>
              <a:t> from './</a:t>
            </a:r>
            <a:r>
              <a:rPr dirty="0" err="1">
                <a:latin typeface="Courier New" panose="02070309020205020404" pitchFamily="49" charset="0"/>
                <a:cs typeface="Courier New" panose="02070309020205020404" pitchFamily="49" charset="0"/>
              </a:rPr>
              <a:t>ArticleList.vue</a:t>
            </a:r>
            <a:r>
              <a:rPr dirty="0">
                <a:latin typeface="Courier New" panose="02070309020205020404" pitchFamily="49" charset="0"/>
                <a:cs typeface="Courier New" panose="02070309020205020404" pitchFamily="49" charset="0"/>
              </a:rPr>
              <a:t>'</a:t>
            </a:r>
          </a:p>
          <a:p>
            <a:endParaRPr dirty="0"/>
          </a:p>
          <a:p>
            <a:pPr marL="0" indent="0">
              <a:buNone/>
            </a:pPr>
            <a:r>
              <a:rPr lang="en-US" dirty="0">
                <a:latin typeface="Courier New" pitchFamily="49" charset="0"/>
              </a:rPr>
              <a:t>const count = ref(0)                          // state</a:t>
            </a:r>
          </a:p>
          <a:p>
            <a:pPr marL="0" indent="0">
              <a:buNone/>
            </a:pPr>
            <a:r>
              <a:rPr lang="en-US" dirty="0">
                <a:latin typeface="Courier New" pitchFamily="49" charset="0"/>
              </a:rPr>
              <a:t>const doubled = computed(() =&gt; </a:t>
            </a:r>
            <a:r>
              <a:rPr lang="en-US" dirty="0" err="1">
                <a:latin typeface="Courier New" pitchFamily="49" charset="0"/>
              </a:rPr>
              <a:t>count.value</a:t>
            </a:r>
            <a:r>
              <a:rPr lang="en-US" dirty="0">
                <a:latin typeface="Courier New" pitchFamily="49" charset="0"/>
              </a:rPr>
              <a:t> * 2)</a:t>
            </a:r>
          </a:p>
          <a:p>
            <a:endParaRPr dirty="0"/>
          </a:p>
          <a:p>
            <a:pPr marL="0" indent="0">
              <a:buNone/>
            </a:pPr>
            <a:r>
              <a:rPr lang="en-US" dirty="0">
                <a:latin typeface="Courier New" pitchFamily="49" charset="0"/>
              </a:rPr>
              <a:t>function increment() { </a:t>
            </a:r>
            <a:r>
              <a:rPr lang="en-US" dirty="0" err="1">
                <a:latin typeface="Courier New" pitchFamily="49" charset="0"/>
              </a:rPr>
              <a:t>count.value</a:t>
            </a:r>
            <a:r>
              <a:rPr lang="en-US" dirty="0">
                <a:latin typeface="Courier New" pitchFamily="49" charset="0"/>
              </a:rPr>
              <a:t>++ }    // behavior</a:t>
            </a:r>
          </a:p>
          <a:p>
            <a:pPr marL="0" indent="0">
              <a:buNone/>
            </a:pPr>
            <a:r>
              <a:rPr lang="en-US" dirty="0">
                <a:latin typeface="Courier New" pitchFamily="49" charset="0"/>
              </a:rPr>
              <a:t>&lt;/script&gt;</a:t>
            </a:r>
          </a:p>
          <a:p>
            <a:endParaRPr dirty="0"/>
          </a:p>
          <a:p>
            <a:pPr marL="0" indent="0">
              <a:buNone/>
            </a:pPr>
            <a:r>
              <a:rPr lang="en-US" dirty="0">
                <a:latin typeface="Courier New" pitchFamily="49" charset="0"/>
              </a:rPr>
              <a:t>// Every top-level binding is available to the template.</a:t>
            </a:r>
          </a:p>
          <a:p>
            <a:pPr marL="0" indent="0">
              <a:buNone/>
            </a:pPr>
            <a:r>
              <a:rPr lang="en-US" dirty="0">
                <a:latin typeface="Courier New" pitchFamily="49" charset="0"/>
              </a:rPr>
              <a:t>// No export default, no components object, no `this`.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 and computed</a:t>
            </a:r>
          </a:p>
        </p:txBody>
      </p:sp>
      <p:sp>
        <p:nvSpPr>
          <p:cNvPr id="3" name="Content Placeholder 2"/>
          <p:cNvSpPr>
            <a:spLocks noGrp="1"/>
          </p:cNvSpPr>
          <p:nvPr>
            <p:ph idx="1"/>
          </p:nvPr>
        </p:nvSpPr>
        <p:spPr/>
        <p:txBody>
          <a:bodyPr/>
          <a:lstStyle/>
          <a:p>
            <a:r>
              <a:t>ref(value) wraps any value in a reactive container</a:t>
            </a:r>
          </a:p>
          <a:p>
            <a:pPr lvl="1"/>
            <a:r>
              <a:t>Read and write it as .value in script</a:t>
            </a:r>
          </a:p>
          <a:p>
            <a:pPr lvl="1"/>
            <a:r>
              <a:t>Vue unwraps it for you in the template</a:t>
            </a:r>
          </a:p>
          <a:p>
            <a:r>
              <a:t>computed(getter) derives a cached, read-only value</a:t>
            </a:r>
          </a:p>
          <a:p>
            <a:pPr lvl="1"/>
            <a:r>
              <a:t>Re-evaluates only when something it read has changed</a:t>
            </a:r>
          </a:p>
          <a:p>
            <a:r>
              <a:t>reactive(object) makes an object reactive without .value</a:t>
            </a:r>
          </a:p>
          <a:p>
            <a:pPr lvl="1"/>
            <a:r>
              <a:t>Objects only, and it does not survive destructuring</a:t>
            </a:r>
          </a:p>
          <a:p>
            <a:r>
              <a:t>Reach for ref by default.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Compiler Macros</a:t>
            </a:r>
          </a:p>
        </p:txBody>
      </p:sp>
      <p:sp>
        <p:nvSpPr>
          <p:cNvPr id="3" name="Content Placeholder 2"/>
          <p:cNvSpPr>
            <a:spLocks noGrp="1"/>
          </p:cNvSpPr>
          <p:nvPr>
            <p:ph idx="1"/>
          </p:nvPr>
        </p:nvSpPr>
        <p:spPr/>
        <p:txBody>
          <a:bodyPr/>
          <a:lstStyle/>
          <a:p>
            <a:r>
              <a:t>Available only at the top level of &lt;script setup&gt;. They are not imported - the compiler handles them.</a:t>
            </a:r>
          </a:p>
          <a:p>
            <a:endParaRPr/>
          </a:p>
          <a:p>
            <a:r>
              <a:t>defineProps({ ... })       - declare the props</a:t>
            </a:r>
          </a:p>
          <a:p>
            <a:r>
              <a:t>defineEmits(['change'])    - declare the events</a:t>
            </a:r>
          </a:p>
          <a:p>
            <a:r>
              <a:t>defineModel()              - a writable v-model ref (3.4+)</a:t>
            </a:r>
          </a:p>
          <a:p>
            <a:r>
              <a:t>defineExpose({ ... })      - expose members to a template ref</a:t>
            </a:r>
          </a:p>
          <a:p>
            <a:r>
              <a:t>defineOptions({ ... })     - set component options such as name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58B05-F62F-7E4D-BB89-E7DC3EA13136}"/>
              </a:ext>
            </a:extLst>
          </p:cNvPr>
          <p:cNvSpPr>
            <a:spLocks noGrp="1"/>
          </p:cNvSpPr>
          <p:nvPr>
            <p:ph type="title"/>
          </p:nvPr>
        </p:nvSpPr>
        <p:spPr>
          <a:xfrm>
            <a:off x="628650" y="365125"/>
            <a:ext cx="7886700" cy="1325563"/>
          </a:xfrm>
        </p:spPr>
        <p:txBody>
          <a:bodyPr>
            <a:normAutofit/>
          </a:bodyPr>
          <a:lstStyle/>
          <a:p>
            <a:r>
              <a:t>App-level Configuration</a:t>
            </a:r>
          </a:p>
        </p:txBody>
      </p:sp>
      <p:sp>
        <p:nvSpPr>
          <p:cNvPr id="3" name="TextBox 2"/>
          <p:cNvSpPr txBox="1"/>
          <p:nvPr/>
        </p:nvSpPr>
        <p:spPr>
          <a:xfrm>
            <a:off x="628650" y="1825625"/>
            <a:ext cx="7886700" cy="2031325"/>
          </a:xfrm>
          <a:prstGeom prst="rect">
            <a:avLst/>
          </a:prstGeom>
          <a:noFill/>
        </p:spPr>
        <p:txBody>
          <a:bodyPr wrap="square">
            <a:spAutoFit/>
          </a:bodyPr>
          <a:lstStyle/>
          <a:p>
            <a:r>
              <a:rPr sz="1800"/>
              <a:t>app.component(name, Component) — register globally</a:t>
            </a:r>
          </a:p>
          <a:p>
            <a:r>
              <a:rPr sz="1800"/>
              <a:t>app.directive(name, definition) — register a custom directive</a:t>
            </a:r>
          </a:p>
          <a:p>
            <a:r>
              <a:rPr sz="1800"/>
              <a:t>app.use(plugin) — install a plugin</a:t>
            </a:r>
          </a:p>
          <a:p>
            <a:r>
              <a:rPr sz="1800"/>
              <a:t>app.provide(key, value) — provide a value to every descendant</a:t>
            </a:r>
          </a:p>
          <a:p>
            <a:r>
              <a:rPr sz="1800"/>
              <a:t>app.config.errorHandler — catch errors from any component</a:t>
            </a:r>
          </a:p>
          <a:p>
            <a:pPr marL="0" indent="0">
              <a:buNone/>
            </a:pPr>
            <a:r>
              <a:rPr lang="en-US" sz="1800">
                <a:latin typeface="Courier New" pitchFamily="49" charset="0"/>
              </a:rPr>
              <a:t>app.mount(selector) / app.unmount()</a:t>
            </a:r>
          </a:p>
          <a:p>
            <a:r>
              <a:rPr sz="1800"/>
              <a:t>Vue 2 set all of these on the global Vue; Vue 3 scopes them to the app instance.</a:t>
            </a:r>
          </a:p>
        </p:txBody>
      </p:sp>
    </p:spTree>
    <p:extLst>
      <p:ext uri="{BB962C8B-B14F-4D97-AF65-F5344CB8AC3E}">
        <p14:creationId xmlns:p14="http://schemas.microsoft.com/office/powerpoint/2010/main" val="5461529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D341-7EF1-6A4D-A3A2-E190A36569C0}"/>
              </a:ext>
            </a:extLst>
          </p:cNvPr>
          <p:cNvSpPr>
            <a:spLocks noGrp="1"/>
          </p:cNvSpPr>
          <p:nvPr>
            <p:ph type="title"/>
          </p:nvPr>
        </p:nvSpPr>
        <p:spPr/>
        <p:txBody>
          <a:bodyPr/>
          <a:lstStyle/>
          <a:p>
            <a:r>
              <a:t>Vue Template Syntax</a:t>
            </a:r>
          </a:p>
        </p:txBody>
      </p:sp>
      <p:sp>
        <p:nvSpPr>
          <p:cNvPr id="4" name="Text Placeholder 3">
            <a:extLst>
              <a:ext uri="{FF2B5EF4-FFF2-40B4-BE49-F238E27FC236}">
                <a16:creationId xmlns:a16="http://schemas.microsoft.com/office/drawing/2014/main" id="{68180055-7C5B-5642-AA19-C69DB4167F65}"/>
              </a:ext>
            </a:extLst>
          </p:cNvPr>
          <p:cNvSpPr>
            <a:spLocks noGrp="1"/>
          </p:cNvSpPr>
          <p:nvPr>
            <p:ph type="body" idx="1"/>
          </p:nvPr>
        </p:nvSpPr>
        <p:spPr>
          <a:xfrm>
            <a:off x="722313" y="948691"/>
            <a:ext cx="7772400" cy="3458210"/>
          </a:xfrm>
        </p:spPr>
        <p:txBody>
          <a:bodyPr>
            <a:normAutofit lnSpcReduction="10000"/>
          </a:bodyPr>
          <a:lstStyle/>
          <a:p>
            <a:pPr marL="0" indent="0">
              <a:buNone/>
            </a:pPr>
            <a:r>
              <a:rPr lang="en-US">
                <a:latin typeface="Courier New" pitchFamily="49" charset="0"/>
              </a:rPr>
              <a:t>&lt;script setup&gt;</a:t>
            </a:r>
          </a:p>
          <a:p>
            <a:pPr marL="0" indent="0">
              <a:buNone/>
            </a:pPr>
            <a:r>
              <a:rPr lang="en-US">
                <a:latin typeface="Courier New" pitchFamily="49" charset="0"/>
              </a:rPr>
              <a:t>import { computed, ref } from 'vue'</a:t>
            </a:r>
          </a:p>
          <a:p>
            <a:endParaRPr/>
          </a:p>
          <a:p>
            <a:pPr marL="0" indent="0">
              <a:buNone/>
            </a:pPr>
            <a:r>
              <a:rPr lang="en-US">
                <a:latin typeface="Courier New" pitchFamily="49" charset="0"/>
              </a:rPr>
              <a:t>const message = ref('Hello')          // state</a:t>
            </a:r>
          </a:p>
          <a:p>
            <a:pPr marL="0" indent="0">
              <a:buNone/>
            </a:pPr>
            <a:r>
              <a:rPr lang="en-US">
                <a:latin typeface="Courier New" pitchFamily="49" charset="0"/>
              </a:rPr>
              <a:t>const shouted = computed(() =&gt; message.value.toUpperCase())</a:t>
            </a:r>
          </a:p>
          <a:p>
            <a:endParaRPr/>
          </a:p>
          <a:p>
            <a:pPr marL="0" indent="0">
              <a:buNone/>
            </a:pPr>
            <a:r>
              <a:rPr lang="en-US">
                <a:latin typeface="Courier New" pitchFamily="49" charset="0"/>
              </a:rPr>
              <a:t>function reset() { message.value = '' }  // behaviour</a:t>
            </a:r>
          </a:p>
          <a:p>
            <a:pPr marL="0" indent="0">
              <a:buNone/>
            </a:pPr>
            <a:r>
              <a:rPr lang="en-US">
                <a:latin typeface="Courier New" pitchFamily="49" charset="0"/>
              </a:rPr>
              <a:t>&lt;/script&gt;</a:t>
            </a:r>
          </a:p>
        </p:txBody>
      </p:sp>
    </p:spTree>
    <p:extLst>
      <p:ext uri="{BB962C8B-B14F-4D97-AF65-F5344CB8AC3E}">
        <p14:creationId xmlns:p14="http://schemas.microsoft.com/office/powerpoint/2010/main" val="40511565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DCE4-BE88-6D47-AABB-A705E3AE2D7C}"/>
              </a:ext>
            </a:extLst>
          </p:cNvPr>
          <p:cNvSpPr>
            <a:spLocks noGrp="1"/>
          </p:cNvSpPr>
          <p:nvPr>
            <p:ph type="title"/>
          </p:nvPr>
        </p:nvSpPr>
        <p:spPr/>
        <p:txBody>
          <a:bodyPr/>
          <a:lstStyle/>
          <a:p>
            <a:r>
              <a:rPr lang="en-US" dirty="0"/>
              <a:t>Vue Templates</a:t>
            </a:r>
          </a:p>
        </p:txBody>
      </p:sp>
      <p:sp>
        <p:nvSpPr>
          <p:cNvPr id="10" name="Content Placeholder 9">
            <a:extLst>
              <a:ext uri="{FF2B5EF4-FFF2-40B4-BE49-F238E27FC236}">
                <a16:creationId xmlns:a16="http://schemas.microsoft.com/office/drawing/2014/main" id="{C1DB7B96-6145-2249-AA9D-3801EBA0E3CB}"/>
              </a:ext>
            </a:extLst>
          </p:cNvPr>
          <p:cNvSpPr>
            <a:spLocks noGrp="1"/>
          </p:cNvSpPr>
          <p:nvPr>
            <p:ph idx="1"/>
          </p:nvPr>
        </p:nvSpPr>
        <p:spPr/>
        <p:txBody>
          <a:bodyPr/>
          <a:lstStyle/>
          <a:p>
            <a:pPr lvl="0"/>
            <a:r>
              <a:rPr lang="en-US" dirty="0"/>
              <a:t>Vue compiles templates to Virtual DOM render functions.</a:t>
            </a:r>
          </a:p>
          <a:p>
            <a:pPr lvl="0"/>
            <a:r>
              <a:rPr lang="en-US" dirty="0"/>
              <a:t>Vue Templates are most often written using HTML, but can also be written using JSX or using JavaScript directly.</a:t>
            </a:r>
          </a:p>
          <a:p>
            <a:endParaRPr lang="en-US" dirty="0"/>
          </a:p>
        </p:txBody>
      </p:sp>
    </p:spTree>
    <p:extLst>
      <p:ext uri="{BB962C8B-B14F-4D97-AF65-F5344CB8AC3E}">
        <p14:creationId xmlns:p14="http://schemas.microsoft.com/office/powerpoint/2010/main" val="15133252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B23F1-B5E1-5E47-8C01-F861903E962A}"/>
              </a:ext>
            </a:extLst>
          </p:cNvPr>
          <p:cNvSpPr>
            <a:spLocks noGrp="1"/>
          </p:cNvSpPr>
          <p:nvPr>
            <p:ph type="title"/>
          </p:nvPr>
        </p:nvSpPr>
        <p:spPr/>
        <p:txBody>
          <a:bodyPr/>
          <a:lstStyle/>
          <a:p>
            <a:r>
              <a:rPr lang="en-US" dirty="0"/>
              <a:t>Using HTML in Templates</a:t>
            </a:r>
          </a:p>
        </p:txBody>
      </p:sp>
      <p:sp>
        <p:nvSpPr>
          <p:cNvPr id="3" name="Text Placeholder 2">
            <a:extLst>
              <a:ext uri="{FF2B5EF4-FFF2-40B4-BE49-F238E27FC236}">
                <a16:creationId xmlns:a16="http://schemas.microsoft.com/office/drawing/2014/main" id="{87C73344-F043-F54E-88DA-9213FD68AA09}"/>
              </a:ext>
            </a:extLst>
          </p:cNvPr>
          <p:cNvSpPr>
            <a:spLocks noGrp="1"/>
          </p:cNvSpPr>
          <p:nvPr>
            <p:ph type="body" idx="1"/>
          </p:nvPr>
        </p:nvSpPr>
        <p:spPr/>
        <p:txBody>
          <a:bodyPr/>
          <a:lstStyle/>
          <a:p>
            <a:pPr lvl="0"/>
            <a:r>
              <a:rPr lang="en-US" dirty="0"/>
              <a:t>Uses mustache syntax for text interpolation</a:t>
            </a:r>
          </a:p>
          <a:p>
            <a:pPr marL="0" lvl="1" indent="0">
              <a:buNone/>
            </a:pPr>
            <a:r>
              <a:rPr lang="en-US">
                <a:latin typeface="Courier New" pitchFamily="49" charset="0"/>
              </a:rPr>
              <a:t>&lt;div&gt;{{ customerName }}&lt;/div&gt;</a:t>
            </a:r>
          </a:p>
          <a:p>
            <a:pPr lvl="0"/>
            <a:r>
              <a:rPr lang="en-US" dirty="0"/>
              <a:t>To output HTML, use the v-html directive</a:t>
            </a:r>
          </a:p>
          <a:p>
            <a:pPr marL="0" lvl="1" indent="0">
              <a:buNone/>
            </a:pPr>
            <a:r>
              <a:rPr lang="en-US">
                <a:latin typeface="Courier New" pitchFamily="49" charset="0"/>
              </a:rPr>
              <a:t>{{ info }} //outputs as plain text</a:t>
            </a:r>
          </a:p>
          <a:p>
            <a:pPr lvl="1"/>
            <a:r>
              <a:rPr lang="en-US" dirty="0"/>
              <a:t>&lt;div v-html="info"&gt;&lt;/div&gt; //output as HTML</a:t>
            </a:r>
          </a:p>
          <a:p>
            <a:pPr marL="0" indent="0">
              <a:buNone/>
            </a:pPr>
            <a:endParaRPr lang="en-US" dirty="0"/>
          </a:p>
          <a:p>
            <a:endParaRPr lang="en-US" dirty="0"/>
          </a:p>
        </p:txBody>
      </p:sp>
    </p:spTree>
    <p:extLst>
      <p:ext uri="{BB962C8B-B14F-4D97-AF65-F5344CB8AC3E}">
        <p14:creationId xmlns:p14="http://schemas.microsoft.com/office/powerpoint/2010/main" val="4566057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7CAD5-2D3B-024D-85AA-86A648D2C920}"/>
              </a:ext>
            </a:extLst>
          </p:cNvPr>
          <p:cNvSpPr>
            <a:spLocks noGrp="1"/>
          </p:cNvSpPr>
          <p:nvPr>
            <p:ph type="title"/>
          </p:nvPr>
        </p:nvSpPr>
        <p:spPr/>
        <p:txBody>
          <a:bodyPr/>
          <a:lstStyle/>
          <a:p>
            <a:r>
              <a:rPr lang="en-US" dirty="0"/>
              <a:t>Using JavaScript in Templates</a:t>
            </a:r>
          </a:p>
        </p:txBody>
      </p:sp>
      <p:sp>
        <p:nvSpPr>
          <p:cNvPr id="3" name="Text Placeholder 2">
            <a:extLst>
              <a:ext uri="{FF2B5EF4-FFF2-40B4-BE49-F238E27FC236}">
                <a16:creationId xmlns:a16="http://schemas.microsoft.com/office/drawing/2014/main" id="{835AC2E6-3538-3B45-BC8F-D41F829AE46F}"/>
              </a:ext>
            </a:extLst>
          </p:cNvPr>
          <p:cNvSpPr>
            <a:spLocks noGrp="1"/>
          </p:cNvSpPr>
          <p:nvPr>
            <p:ph type="body" idx="1"/>
          </p:nvPr>
        </p:nvSpPr>
        <p:spPr/>
        <p:txBody>
          <a:bodyPr/>
          <a:lstStyle/>
          <a:p>
            <a:r>
              <a:rPr lang="en-US" dirty="0"/>
              <a:t>Vue supports using JavaScript expressions inside templates and in data bindings.</a:t>
            </a:r>
          </a:p>
          <a:p>
            <a:pPr marL="0" indent="0">
              <a:buNone/>
            </a:pPr>
            <a:r>
              <a:rPr lang="en-US">
                <a:latin typeface="Courier New" pitchFamily="2" charset="0"/>
              </a:rPr>
              <a:t>{{ counter++ }}</a:t>
            </a:r>
          </a:p>
          <a:p>
            <a:pPr marL="0" indent="0">
              <a:buNone/>
            </a:pPr>
            <a:r>
              <a:rPr lang="en-US">
                <a:latin typeface="Courier New" pitchFamily="2" charset="0"/>
              </a:rPr>
              <a:t>{{ loggedIn ? &lt;LogOut /&gt; : &lt;LogIn /&gt; }}</a:t>
            </a:r>
          </a:p>
          <a:p>
            <a:pPr marL="0" indent="0">
              <a:buNone/>
            </a:pPr>
            <a:r>
              <a:rPr lang="en-US">
                <a:latin typeface="Courier New" pitchFamily="2" charset="0"/>
              </a:rPr>
              <a:t>&lt;div v-bind:id="'list-' + id"&gt;&lt;/div&gt;</a:t>
            </a:r>
          </a:p>
          <a:p>
            <a:endParaRPr lang="en-US" dirty="0"/>
          </a:p>
        </p:txBody>
      </p:sp>
    </p:spTree>
    <p:extLst>
      <p:ext uri="{BB962C8B-B14F-4D97-AF65-F5344CB8AC3E}">
        <p14:creationId xmlns:p14="http://schemas.microsoft.com/office/powerpoint/2010/main" val="302643972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8C372B-37EB-CC4A-B0A7-3EDB3583AA0A}"/>
              </a:ext>
            </a:extLst>
          </p:cNvPr>
          <p:cNvSpPr>
            <a:spLocks noGrp="1"/>
          </p:cNvSpPr>
          <p:nvPr>
            <p:ph type="title"/>
          </p:nvPr>
        </p:nvSpPr>
        <p:spPr/>
        <p:txBody>
          <a:bodyPr/>
          <a:lstStyle/>
          <a:p>
            <a:r>
              <a:rPr lang="en-US" dirty="0"/>
              <a:t>Vue.js Directives</a:t>
            </a:r>
          </a:p>
        </p:txBody>
      </p:sp>
      <p:sp>
        <p:nvSpPr>
          <p:cNvPr id="3" name="Text Placeholder 2">
            <a:extLst>
              <a:ext uri="{FF2B5EF4-FFF2-40B4-BE49-F238E27FC236}">
                <a16:creationId xmlns:a16="http://schemas.microsoft.com/office/drawing/2014/main" id="{6A327710-6BF7-0044-AD20-61147DE0981E}"/>
              </a:ext>
            </a:extLst>
          </p:cNvPr>
          <p:cNvSpPr>
            <a:spLocks noGrp="1"/>
          </p:cNvSpPr>
          <p:nvPr>
            <p:ph idx="1"/>
          </p:nvPr>
        </p:nvSpPr>
        <p:spPr/>
        <p:txBody>
          <a:bodyPr/>
          <a:lstStyle/>
          <a:p>
            <a:r>
              <a:rPr lang="en-US" dirty="0"/>
              <a:t>Attributes that take a JavaScript expression as their value.</a:t>
            </a:r>
          </a:p>
          <a:p>
            <a:r>
              <a:rPr lang="en-US" dirty="0"/>
              <a:t>They have a prefix followed by a directive ID</a:t>
            </a:r>
          </a:p>
          <a:p>
            <a:endParaRPr lang="en-US" dirty="0"/>
          </a:p>
          <a:p>
            <a:r>
              <a:rPr lang="en-US" dirty="0"/>
              <a:t>Example:</a:t>
            </a:r>
          </a:p>
          <a:p>
            <a:pPr marL="0" indent="0">
              <a:buNone/>
            </a:pPr>
            <a:r>
              <a:rPr lang="en-US">
                <a:latin typeface="Courier New" pitchFamily="49" charset="0"/>
              </a:rPr>
              <a:t>&lt;div v-if="test"&gt;The test is true&lt;/div&gt;</a:t>
            </a:r>
          </a:p>
        </p:txBody>
      </p:sp>
      <p:sp>
        <p:nvSpPr>
          <p:cNvPr id="2" name="Slide Number Placeholder 1">
            <a:extLst>
              <a:ext uri="{FF2B5EF4-FFF2-40B4-BE49-F238E27FC236}">
                <a16:creationId xmlns:a16="http://schemas.microsoft.com/office/drawing/2014/main" id="{5023640D-7D4C-FE41-9D8F-B8566C9A45CA}"/>
              </a:ext>
            </a:extLst>
          </p:cNvPr>
          <p:cNvSpPr>
            <a:spLocks noGrp="1"/>
          </p:cNvSpPr>
          <p:nvPr>
            <p:ph type="sldNum" sz="quarter" idx="12"/>
          </p:nvPr>
        </p:nvSpPr>
        <p:spPr/>
        <p:txBody>
          <a:bodyPr/>
          <a:lstStyle/>
          <a:p>
            <a:fld id="{6FFFF67E-EC6A-B940-8DC7-BF9A5925C934}" type="slidenum">
              <a:rPr lang="en-US" smtClean="0"/>
              <a:t>98</a:t>
            </a:fld>
            <a:endParaRPr lang="en-US" dirty="0"/>
          </a:p>
        </p:txBody>
      </p:sp>
    </p:spTree>
    <p:extLst>
      <p:ext uri="{BB962C8B-B14F-4D97-AF65-F5344CB8AC3E}">
        <p14:creationId xmlns:p14="http://schemas.microsoft.com/office/powerpoint/2010/main" val="3477922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FE81-8D2D-A64A-B376-61DC734A2DC2}"/>
              </a:ext>
            </a:extLst>
          </p:cNvPr>
          <p:cNvSpPr>
            <a:spLocks noGrp="1"/>
          </p:cNvSpPr>
          <p:nvPr>
            <p:ph type="title"/>
          </p:nvPr>
        </p:nvSpPr>
        <p:spPr/>
        <p:txBody>
          <a:bodyPr/>
          <a:lstStyle/>
          <a:p>
            <a:r>
              <a:rPr lang="en-US" dirty="0"/>
              <a:t>Directive Arguments</a:t>
            </a:r>
          </a:p>
        </p:txBody>
      </p:sp>
      <p:sp>
        <p:nvSpPr>
          <p:cNvPr id="3" name="Content Placeholder 2">
            <a:extLst>
              <a:ext uri="{FF2B5EF4-FFF2-40B4-BE49-F238E27FC236}">
                <a16:creationId xmlns:a16="http://schemas.microsoft.com/office/drawing/2014/main" id="{1321D9A7-AF07-064D-BAE9-D9D6231D9A4B}"/>
              </a:ext>
            </a:extLst>
          </p:cNvPr>
          <p:cNvSpPr>
            <a:spLocks noGrp="1"/>
          </p:cNvSpPr>
          <p:nvPr>
            <p:ph idx="1"/>
          </p:nvPr>
        </p:nvSpPr>
        <p:spPr/>
        <p:txBody>
          <a:bodyPr/>
          <a:lstStyle/>
          <a:p>
            <a:r>
              <a:rPr lang="en-US" dirty="0"/>
              <a:t>Directives may take an argument</a:t>
            </a:r>
          </a:p>
          <a:p>
            <a:r>
              <a:rPr lang="en-US" dirty="0"/>
              <a:t>: is used between directive ID and the argument.</a:t>
            </a:r>
          </a:p>
          <a:p>
            <a:endParaRPr lang="en-US" dirty="0"/>
          </a:p>
          <a:p>
            <a:pPr marL="0" indent="0">
              <a:buNone/>
            </a:pPr>
            <a:r>
              <a:rPr lang="en-US">
                <a:latin typeface="Courier New" pitchFamily="49" charset="0"/>
              </a:rPr>
              <a:t>&lt;button v-on:click="doSomething"&gt;Click Me&lt;/button&gt;</a:t>
            </a:r>
          </a:p>
        </p:txBody>
      </p:sp>
      <p:sp>
        <p:nvSpPr>
          <p:cNvPr id="4" name="Slide Number Placeholder 3">
            <a:extLst>
              <a:ext uri="{FF2B5EF4-FFF2-40B4-BE49-F238E27FC236}">
                <a16:creationId xmlns:a16="http://schemas.microsoft.com/office/drawing/2014/main" id="{8E9989F3-1C64-4645-BC7F-2CA109D801D6}"/>
              </a:ext>
            </a:extLst>
          </p:cNvPr>
          <p:cNvSpPr>
            <a:spLocks noGrp="1"/>
          </p:cNvSpPr>
          <p:nvPr>
            <p:ph type="sldNum" sz="quarter" idx="12"/>
          </p:nvPr>
        </p:nvSpPr>
        <p:spPr/>
        <p:txBody>
          <a:bodyPr/>
          <a:lstStyle/>
          <a:p>
            <a:fld id="{6FFFF67E-EC6A-B940-8DC7-BF9A5925C934}" type="slidenum">
              <a:rPr lang="en-US" smtClean="0"/>
              <a:t>99</a:t>
            </a:fld>
            <a:endParaRPr lang="en-US" dirty="0"/>
          </a:p>
        </p:txBody>
      </p:sp>
    </p:spTree>
    <p:extLst>
      <p:ext uri="{BB962C8B-B14F-4D97-AF65-F5344CB8AC3E}">
        <p14:creationId xmlns:p14="http://schemas.microsoft.com/office/powerpoint/2010/main" val="24987879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C03F-6608-E840-AC12-2973AA274399}"/>
              </a:ext>
            </a:extLst>
          </p:cNvPr>
          <p:cNvSpPr>
            <a:spLocks noGrp="1"/>
          </p:cNvSpPr>
          <p:nvPr>
            <p:ph type="title"/>
          </p:nvPr>
        </p:nvSpPr>
        <p:spPr/>
        <p:txBody>
          <a:bodyPr/>
          <a:lstStyle/>
          <a:p>
            <a:r>
              <a:rPr lang="en-US" dirty="0"/>
              <a:t>Directive Modifiers</a:t>
            </a:r>
          </a:p>
        </p:txBody>
      </p:sp>
      <p:sp>
        <p:nvSpPr>
          <p:cNvPr id="3" name="Content Placeholder 2">
            <a:extLst>
              <a:ext uri="{FF2B5EF4-FFF2-40B4-BE49-F238E27FC236}">
                <a16:creationId xmlns:a16="http://schemas.microsoft.com/office/drawing/2014/main" id="{3DDE585B-ABC8-1040-B188-0302E4EB06CE}"/>
              </a:ext>
            </a:extLst>
          </p:cNvPr>
          <p:cNvSpPr>
            <a:spLocks noGrp="1"/>
          </p:cNvSpPr>
          <p:nvPr>
            <p:ph idx="1"/>
          </p:nvPr>
        </p:nvSpPr>
        <p:spPr/>
        <p:txBody>
          <a:bodyPr/>
          <a:lstStyle/>
          <a:p>
            <a:r>
              <a:rPr lang="en-US" dirty="0"/>
              <a:t>Some directives have modifiers that bind the directive in some particular way.</a:t>
            </a:r>
          </a:p>
          <a:p>
            <a:r>
              <a:rPr lang="en-US" dirty="0"/>
              <a:t>These modifiers follow a . after the argument.</a:t>
            </a:r>
          </a:p>
          <a:p>
            <a:pPr marL="0" indent="0">
              <a:buNone/>
            </a:pPr>
            <a:endParaRPr lang="en-US" dirty="0"/>
          </a:p>
          <a:p>
            <a:pPr marL="0" indent="0">
              <a:buNone/>
            </a:pPr>
            <a:r>
              <a:rPr lang="en-US">
                <a:latin typeface="Courier New" pitchFamily="49" charset="0"/>
              </a:rPr>
              <a:t>&lt;form v-on:submit.prevent="doSomething"&gt;...&lt;/form&gt;</a:t>
            </a:r>
          </a:p>
          <a:p>
            <a:pPr marL="0" indent="0">
              <a:buNone/>
            </a:pPr>
            <a:endParaRPr lang="en-US" dirty="0"/>
          </a:p>
          <a:p>
            <a:pPr marL="0" indent="0">
              <a:buNone/>
            </a:pPr>
            <a:r>
              <a:rPr lang="en-US" dirty="0"/>
              <a:t>.prevent will call event.preventDefault to prevent the default form action prior to calling the doSomething function.</a:t>
            </a:r>
          </a:p>
        </p:txBody>
      </p:sp>
      <p:sp>
        <p:nvSpPr>
          <p:cNvPr id="4" name="Slide Number Placeholder 3">
            <a:extLst>
              <a:ext uri="{FF2B5EF4-FFF2-40B4-BE49-F238E27FC236}">
                <a16:creationId xmlns:a16="http://schemas.microsoft.com/office/drawing/2014/main" id="{D64F4860-C81C-6A48-995C-CB8D2CF8A572}"/>
              </a:ext>
            </a:extLst>
          </p:cNvPr>
          <p:cNvSpPr>
            <a:spLocks noGrp="1"/>
          </p:cNvSpPr>
          <p:nvPr>
            <p:ph type="sldNum" sz="quarter" idx="12"/>
          </p:nvPr>
        </p:nvSpPr>
        <p:spPr/>
        <p:txBody>
          <a:bodyPr/>
          <a:lstStyle/>
          <a:p>
            <a:fld id="{6FFFF67E-EC6A-B940-8DC7-BF9A5925C934}" type="slidenum">
              <a:rPr lang="en-US" smtClean="0"/>
              <a:t>100</a:t>
            </a:fld>
            <a:endParaRPr lang="en-US" dirty="0"/>
          </a:p>
        </p:txBody>
      </p:sp>
    </p:spTree>
    <p:extLst>
      <p:ext uri="{BB962C8B-B14F-4D97-AF65-F5344CB8AC3E}">
        <p14:creationId xmlns:p14="http://schemas.microsoft.com/office/powerpoint/2010/main" val="12214230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12A31-5DD9-594D-9E9D-BCEE8D03FE42}"/>
              </a:ext>
            </a:extLst>
          </p:cNvPr>
          <p:cNvSpPr>
            <a:spLocks noGrp="1"/>
          </p:cNvSpPr>
          <p:nvPr>
            <p:ph type="title"/>
          </p:nvPr>
        </p:nvSpPr>
        <p:spPr/>
        <p:txBody>
          <a:bodyPr/>
          <a:lstStyle/>
          <a:p>
            <a:r>
              <a:rPr lang="en-US" dirty="0"/>
              <a:t>Vue.js Default Directives</a:t>
            </a:r>
          </a:p>
        </p:txBody>
      </p:sp>
      <p:sp>
        <p:nvSpPr>
          <p:cNvPr id="3" name="Content Placeholder 2">
            <a:extLst>
              <a:ext uri="{FF2B5EF4-FFF2-40B4-BE49-F238E27FC236}">
                <a16:creationId xmlns:a16="http://schemas.microsoft.com/office/drawing/2014/main" id="{93F46998-4E1F-2F4C-9B87-FD476F11AD1C}"/>
              </a:ext>
            </a:extLst>
          </p:cNvPr>
          <p:cNvSpPr>
            <a:spLocks noGrp="1"/>
          </p:cNvSpPr>
          <p:nvPr>
            <p:ph idx="1"/>
          </p:nvPr>
        </p:nvSpPr>
        <p:spPr/>
        <p:txBody>
          <a:bodyPr/>
          <a:lstStyle/>
          <a:p>
            <a:r>
              <a:rPr lang="en-US" sz="1800" dirty="0">
                <a:solidFill>
                  <a:srgbClr val="000000"/>
                </a:solidFill>
              </a:rPr>
              <a:t>Prefixed with v-</a:t>
            </a:r>
          </a:p>
          <a:p>
            <a:r>
              <a:rPr lang="en-US" sz="1800" dirty="0">
                <a:solidFill>
                  <a:srgbClr val="000000"/>
                </a:solidFill>
              </a:rPr>
              <a:t>v-bind</a:t>
            </a:r>
          </a:p>
          <a:p>
            <a:pPr lvl="1"/>
            <a:r>
              <a:rPr lang="en-US" dirty="0">
                <a:solidFill>
                  <a:srgbClr val="000000"/>
                </a:solidFill>
              </a:rPr>
              <a:t>binds attributes to data</a:t>
            </a:r>
          </a:p>
          <a:p>
            <a:r>
              <a:rPr lang="en-US" sz="1800" dirty="0">
                <a:solidFill>
                  <a:srgbClr val="000000"/>
                </a:solidFill>
              </a:rPr>
              <a:t>v-if</a:t>
            </a:r>
          </a:p>
          <a:p>
            <a:pPr lvl="1"/>
            <a:r>
              <a:rPr lang="en-US" dirty="0">
                <a:solidFill>
                  <a:srgbClr val="000000"/>
                </a:solidFill>
              </a:rPr>
              <a:t>conditional rendering</a:t>
            </a:r>
          </a:p>
          <a:p>
            <a:r>
              <a:rPr lang="en-US" sz="1800" dirty="0">
                <a:solidFill>
                  <a:srgbClr val="000000"/>
                </a:solidFill>
              </a:rPr>
              <a:t>v-for</a:t>
            </a:r>
          </a:p>
          <a:p>
            <a:pPr lvl="1"/>
            <a:r>
              <a:rPr lang="en-US" dirty="0">
                <a:solidFill>
                  <a:srgbClr val="000000"/>
                </a:solidFill>
              </a:rPr>
              <a:t>loops over arrays</a:t>
            </a:r>
          </a:p>
          <a:p>
            <a:r>
              <a:rPr lang="en-US" sz="1800" dirty="0">
                <a:solidFill>
                  <a:srgbClr val="000000"/>
                </a:solidFill>
              </a:rPr>
              <a:t>v-on</a:t>
            </a:r>
          </a:p>
          <a:p>
            <a:pPr lvl="1"/>
            <a:r>
              <a:rPr lang="en-US" dirty="0">
                <a:solidFill>
                  <a:srgbClr val="000000"/>
                </a:solidFill>
              </a:rPr>
              <a:t>event handling</a:t>
            </a:r>
          </a:p>
          <a:p>
            <a:r>
              <a:rPr lang="en-US" sz="1800" dirty="0">
                <a:solidFill>
                  <a:srgbClr val="000000"/>
                </a:solidFill>
              </a:rPr>
              <a:t>v-model</a:t>
            </a:r>
          </a:p>
          <a:p>
            <a:pPr lvl="1"/>
            <a:r>
              <a:rPr lang="en-US" dirty="0">
                <a:solidFill>
                  <a:srgbClr val="000000"/>
                </a:solidFill>
              </a:rPr>
              <a:t>2-way binding between inputs and app state</a:t>
            </a:r>
          </a:p>
          <a:p>
            <a:endParaRPr lang="en-US" sz="1800" dirty="0">
              <a:solidFill>
                <a:srgbClr val="000000"/>
              </a:solidFill>
            </a:endParaRPr>
          </a:p>
          <a:p>
            <a:endParaRPr lang="en-US" dirty="0"/>
          </a:p>
        </p:txBody>
      </p:sp>
      <p:sp>
        <p:nvSpPr>
          <p:cNvPr id="4" name="Slide Number Placeholder 3">
            <a:extLst>
              <a:ext uri="{FF2B5EF4-FFF2-40B4-BE49-F238E27FC236}">
                <a16:creationId xmlns:a16="http://schemas.microsoft.com/office/drawing/2014/main" id="{61107067-9D0C-6E43-BD7F-474B27BE8574}"/>
              </a:ext>
            </a:extLst>
          </p:cNvPr>
          <p:cNvSpPr>
            <a:spLocks noGrp="1"/>
          </p:cNvSpPr>
          <p:nvPr>
            <p:ph type="sldNum" sz="quarter" idx="12"/>
          </p:nvPr>
        </p:nvSpPr>
        <p:spPr/>
        <p:txBody>
          <a:bodyPr/>
          <a:lstStyle/>
          <a:p>
            <a:fld id="{6FFFF67E-EC6A-B940-8DC7-BF9A5925C934}" type="slidenum">
              <a:rPr lang="en-US" smtClean="0"/>
              <a:t>101</a:t>
            </a:fld>
            <a:endParaRPr lang="en-US" dirty="0"/>
          </a:p>
        </p:txBody>
      </p:sp>
    </p:spTree>
    <p:extLst>
      <p:ext uri="{BB962C8B-B14F-4D97-AF65-F5344CB8AC3E}">
        <p14:creationId xmlns:p14="http://schemas.microsoft.com/office/powerpoint/2010/main" val="17890816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E3D4D-DB46-EB46-BB81-9EA720275BE5}"/>
              </a:ext>
            </a:extLst>
          </p:cNvPr>
          <p:cNvSpPr>
            <a:spLocks noGrp="1"/>
          </p:cNvSpPr>
          <p:nvPr>
            <p:ph type="title"/>
          </p:nvPr>
        </p:nvSpPr>
        <p:spPr/>
        <p:txBody>
          <a:bodyPr/>
          <a:lstStyle/>
          <a:p>
            <a:r>
              <a:t>Custom Directives</a:t>
            </a:r>
          </a:p>
        </p:txBody>
      </p:sp>
      <p:sp>
        <p:nvSpPr>
          <p:cNvPr id="3" name="Content Placeholder 2">
            <a:extLst>
              <a:ext uri="{FF2B5EF4-FFF2-40B4-BE49-F238E27FC236}">
                <a16:creationId xmlns:a16="http://schemas.microsoft.com/office/drawing/2014/main" id="{0596F5EA-B462-604D-9544-EDAA2760A575}"/>
              </a:ext>
            </a:extLst>
          </p:cNvPr>
          <p:cNvSpPr>
            <a:spLocks noGrp="1"/>
          </p:cNvSpPr>
          <p:nvPr>
            <p:ph idx="1"/>
          </p:nvPr>
        </p:nvSpPr>
        <p:spPr/>
        <p:txBody>
          <a:bodyPr>
            <a:normAutofit fontScale="85000" lnSpcReduction="10000"/>
          </a:bodyPr>
          <a:lstStyle/>
          <a:p>
            <a:r>
              <a:rPr dirty="0"/>
              <a:t>Components are the main way to reuse code.</a:t>
            </a:r>
          </a:p>
          <a:p>
            <a:r>
              <a:rPr dirty="0"/>
              <a:t>Still, there may be times when you need low-level DOM access on plain elements.</a:t>
            </a:r>
          </a:p>
          <a:p>
            <a:endParaRPr dirty="0"/>
          </a:p>
          <a:p>
            <a:pPr marL="0" indent="0">
              <a:buNone/>
            </a:pPr>
            <a:r>
              <a:rPr dirty="0">
                <a:latin typeface="Courier New" panose="02070309020205020404" pitchFamily="49" charset="0"/>
                <a:cs typeface="Courier New" panose="02070309020205020404" pitchFamily="49" charset="0"/>
              </a:rPr>
              <a:t>const </a:t>
            </a:r>
            <a:r>
              <a:rPr dirty="0" err="1">
                <a:latin typeface="Courier New" panose="02070309020205020404" pitchFamily="49" charset="0"/>
                <a:cs typeface="Courier New" panose="02070309020205020404" pitchFamily="49" charset="0"/>
              </a:rPr>
              <a:t>vFocus</a:t>
            </a:r>
            <a:r>
              <a:rPr dirty="0">
                <a:latin typeface="Courier New" panose="02070309020205020404" pitchFamily="49" charset="0"/>
                <a:cs typeface="Courier New" panose="02070309020205020404" pitchFamily="49" charset="0"/>
              </a:rPr>
              <a:t> = {</a:t>
            </a:r>
          </a:p>
          <a:p>
            <a:pPr marL="0" indent="0">
              <a:buNone/>
            </a:pPr>
            <a:r>
              <a:rPr dirty="0">
                <a:latin typeface="Courier New" panose="02070309020205020404" pitchFamily="49" charset="0"/>
                <a:cs typeface="Courier New" panose="02070309020205020404" pitchFamily="49" charset="0"/>
              </a:rPr>
              <a:t>  mounted: (el) =&gt; </a:t>
            </a:r>
            <a:r>
              <a:rPr dirty="0" err="1">
                <a:latin typeface="Courier New" panose="02070309020205020404" pitchFamily="49" charset="0"/>
                <a:cs typeface="Courier New" panose="02070309020205020404" pitchFamily="49" charset="0"/>
              </a:rPr>
              <a:t>el.focus</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&lt;input v-focus&gt;</a:t>
            </a:r>
          </a:p>
          <a:p>
            <a:pPr marL="0" indent="0">
              <a:buNone/>
            </a:pPr>
            <a:endParaRPr dirty="0">
              <a:latin typeface="Courier New" panose="02070309020205020404" pitchFamily="49" charset="0"/>
              <a:cs typeface="Courier New" panose="02070309020205020404" pitchFamily="49" charset="0"/>
            </a:endParaRPr>
          </a:p>
          <a:p>
            <a:pPr marL="0" indent="0">
              <a:buNone/>
            </a:pPr>
            <a:r>
              <a:rPr sz="1900" dirty="0">
                <a:latin typeface="Courier New" panose="02070309020205020404" pitchFamily="49" charset="0"/>
                <a:cs typeface="Courier New" panose="02070309020205020404" pitchFamily="49" charset="0"/>
              </a:rPr>
              <a:t>// In &lt;script setup&gt;, a const named </a:t>
            </a:r>
            <a:r>
              <a:rPr sz="1900" dirty="0" err="1">
                <a:latin typeface="Courier New" panose="02070309020205020404" pitchFamily="49" charset="0"/>
                <a:cs typeface="Courier New" panose="02070309020205020404" pitchFamily="49" charset="0"/>
              </a:rPr>
              <a:t>vName</a:t>
            </a:r>
            <a:r>
              <a:rPr sz="1900" dirty="0">
                <a:latin typeface="Courier New" panose="02070309020205020404" pitchFamily="49" charset="0"/>
                <a:cs typeface="Courier New" panose="02070309020205020404" pitchFamily="49" charset="0"/>
              </a:rPr>
              <a:t> is usable as v-name.</a:t>
            </a:r>
          </a:p>
          <a:p>
            <a:pPr marL="0" indent="0">
              <a:buNone/>
            </a:pPr>
            <a:r>
              <a:rPr sz="1900" dirty="0">
                <a:latin typeface="Courier New" panose="02070309020205020404" pitchFamily="49" charset="0"/>
                <a:cs typeface="Courier New" panose="02070309020205020404" pitchFamily="49" charset="0"/>
              </a:rPr>
              <a:t>// The hook names now match the component lifecycle: what Vue 2</a:t>
            </a:r>
          </a:p>
          <a:p>
            <a:pPr marL="0" indent="0">
              <a:buNone/>
            </a:pPr>
            <a:r>
              <a:rPr sz="1900" dirty="0">
                <a:latin typeface="Courier New" panose="02070309020205020404" pitchFamily="49" charset="0"/>
                <a:cs typeface="Courier New" panose="02070309020205020404" pitchFamily="49" charset="0"/>
              </a:rPr>
              <a:t>// called "inserted" is "mounted".</a:t>
            </a:r>
          </a:p>
        </p:txBody>
      </p:sp>
      <p:sp>
        <p:nvSpPr>
          <p:cNvPr id="4" name="Slide Number Placeholder 3">
            <a:extLst>
              <a:ext uri="{FF2B5EF4-FFF2-40B4-BE49-F238E27FC236}">
                <a16:creationId xmlns:a16="http://schemas.microsoft.com/office/drawing/2014/main" id="{C6A11872-E59F-324C-9C79-2B95534E8EEF}"/>
              </a:ext>
            </a:extLst>
          </p:cNvPr>
          <p:cNvSpPr>
            <a:spLocks noGrp="1"/>
          </p:cNvSpPr>
          <p:nvPr>
            <p:ph type="sldNum" sz="quarter" idx="12"/>
          </p:nvPr>
        </p:nvSpPr>
        <p:spPr/>
        <p:txBody>
          <a:bodyPr/>
          <a:lstStyle/>
          <a:p>
            <a:fld id="{6FFFF67E-EC6A-B940-8DC7-BF9A5925C934}" type="slidenum">
              <a:rPr lang="en-US" smtClean="0"/>
              <a:t>102</a:t>
            </a:fld>
            <a:endParaRPr lang="en-US" dirty="0"/>
          </a:p>
        </p:txBody>
      </p:sp>
    </p:spTree>
    <p:extLst>
      <p:ext uri="{BB962C8B-B14F-4D97-AF65-F5344CB8AC3E}">
        <p14:creationId xmlns:p14="http://schemas.microsoft.com/office/powerpoint/2010/main" val="29988002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1B1-2B89-4549-A150-A354EA3C7BBB}"/>
              </a:ext>
            </a:extLst>
          </p:cNvPr>
          <p:cNvSpPr>
            <a:spLocks noGrp="1"/>
          </p:cNvSpPr>
          <p:nvPr>
            <p:ph type="title"/>
          </p:nvPr>
        </p:nvSpPr>
        <p:spPr/>
        <p:txBody>
          <a:bodyPr/>
          <a:lstStyle/>
          <a:p>
            <a:r>
              <a:rPr lang="en-US" dirty="0"/>
              <a:t>Loops and Lists</a:t>
            </a:r>
          </a:p>
        </p:txBody>
      </p:sp>
      <p:sp>
        <p:nvSpPr>
          <p:cNvPr id="3" name="Text Placeholder 2">
            <a:extLst>
              <a:ext uri="{FF2B5EF4-FFF2-40B4-BE49-F238E27FC236}">
                <a16:creationId xmlns:a16="http://schemas.microsoft.com/office/drawing/2014/main" id="{6C8D077A-EF18-E846-BE71-3939A08C0E2A}"/>
              </a:ext>
            </a:extLst>
          </p:cNvPr>
          <p:cNvSpPr>
            <a:spLocks noGrp="1"/>
          </p:cNvSpPr>
          <p:nvPr>
            <p:ph type="body" idx="1"/>
          </p:nvPr>
        </p:nvSpPr>
        <p:spPr/>
        <p:txBody>
          <a:bodyPr>
            <a:normAutofit/>
          </a:bodyPr>
          <a:lstStyle/>
          <a:p>
            <a:r>
              <a:rPr dirty="0"/>
              <a:t>Use the v-for directive to render a list of items from an array or object</a:t>
            </a:r>
          </a:p>
          <a:p>
            <a:pPr marL="0" indent="0">
              <a:buNone/>
            </a:pPr>
            <a:endParaRPr lang="en-US"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&lt;ul&gt;</a:t>
            </a:r>
          </a:p>
          <a:p>
            <a:pPr marL="0" indent="0">
              <a:buNone/>
            </a:pPr>
            <a:r>
              <a:rPr sz="1800" dirty="0">
                <a:latin typeface="Courier New" panose="02070309020205020404" pitchFamily="49" charset="0"/>
                <a:cs typeface="Courier New" panose="02070309020205020404" pitchFamily="49" charset="0"/>
              </a:rPr>
              <a:t>  &lt;li v-for="song in songs" :key="</a:t>
            </a:r>
            <a:r>
              <a:rPr sz="1800" dirty="0" err="1">
                <a:latin typeface="Courier New" panose="02070309020205020404" pitchFamily="49" charset="0"/>
                <a:cs typeface="Courier New" panose="02070309020205020404" pitchFamily="49" charset="0"/>
              </a:rPr>
              <a:t>song.id</a:t>
            </a:r>
            <a:r>
              <a:rPr sz="1800" dirty="0">
                <a:latin typeface="Courier New" panose="02070309020205020404" pitchFamily="49" charset="0"/>
                <a:cs typeface="Courier New" panose="02070309020205020404" pitchFamily="49" charset="0"/>
              </a:rPr>
              <a:t>"&gt;</a:t>
            </a:r>
          </a:p>
          <a:p>
            <a:pPr marL="0" indent="0">
              <a:buNone/>
            </a:pPr>
            <a:r>
              <a:rPr sz="1800" dirty="0">
                <a:latin typeface="Courier New" panose="02070309020205020404" pitchFamily="49" charset="0"/>
                <a:cs typeface="Courier New" panose="02070309020205020404" pitchFamily="49" charset="0"/>
              </a:rPr>
              <a:t>    {{ </a:t>
            </a:r>
            <a:r>
              <a:rPr sz="1800" dirty="0" err="1">
                <a:latin typeface="Courier New" panose="02070309020205020404" pitchFamily="49" charset="0"/>
                <a:cs typeface="Courier New" panose="02070309020205020404" pitchFamily="49" charset="0"/>
              </a:rPr>
              <a:t>song.title</a:t>
            </a:r>
            <a:r>
              <a:rPr sz="1800" dirty="0">
                <a:latin typeface="Courier New" panose="02070309020205020404" pitchFamily="49" charset="0"/>
                <a:cs typeface="Courier New" panose="02070309020205020404" pitchFamily="49" charset="0"/>
              </a:rPr>
              <a:t> }}</a:t>
            </a:r>
          </a:p>
          <a:p>
            <a:pPr marL="0" indent="0">
              <a:buNone/>
            </a:pPr>
            <a:r>
              <a:rPr sz="1800" dirty="0">
                <a:latin typeface="Courier New" panose="02070309020205020404" pitchFamily="49" charset="0"/>
                <a:cs typeface="Courier New" panose="02070309020205020404" pitchFamily="49" charset="0"/>
              </a:rPr>
              <a:t>  &lt;/li&gt;</a:t>
            </a:r>
          </a:p>
          <a:p>
            <a:pPr marL="0" indent="0">
              <a:buNone/>
            </a:pPr>
            <a:r>
              <a:rPr sz="1800" dirty="0">
                <a:latin typeface="Courier New" panose="02070309020205020404" pitchFamily="49" charset="0"/>
                <a:cs typeface="Courier New" panose="02070309020205020404" pitchFamily="49" charset="0"/>
              </a:rPr>
              <a:t>&lt;/ul&gt;</a:t>
            </a:r>
          </a:p>
          <a:p>
            <a:pPr marL="0" indent="0">
              <a:buNone/>
            </a:pPr>
            <a:endParaRPr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const songs = ref([{ id: 1, title: 'Hotel California' }])</a:t>
            </a:r>
          </a:p>
        </p:txBody>
      </p:sp>
    </p:spTree>
    <p:extLst>
      <p:ext uri="{BB962C8B-B14F-4D97-AF65-F5344CB8AC3E}">
        <p14:creationId xmlns:p14="http://schemas.microsoft.com/office/powerpoint/2010/main" val="28441099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6AB7-0228-0242-B446-A2766448E6D1}"/>
              </a:ext>
            </a:extLst>
          </p:cNvPr>
          <p:cNvSpPr>
            <a:spLocks noGrp="1"/>
          </p:cNvSpPr>
          <p:nvPr>
            <p:ph type="title"/>
          </p:nvPr>
        </p:nvSpPr>
        <p:spPr/>
        <p:txBody>
          <a:bodyPr/>
          <a:lstStyle/>
          <a:p>
            <a:r>
              <a:rPr lang="en-US" dirty="0"/>
              <a:t>Using key</a:t>
            </a:r>
          </a:p>
        </p:txBody>
      </p:sp>
      <p:sp>
        <p:nvSpPr>
          <p:cNvPr id="3" name="Text Placeholder 2">
            <a:extLst>
              <a:ext uri="{FF2B5EF4-FFF2-40B4-BE49-F238E27FC236}">
                <a16:creationId xmlns:a16="http://schemas.microsoft.com/office/drawing/2014/main" id="{3EA29C60-F99A-E44E-A7E1-0A2BFC8297AF}"/>
              </a:ext>
            </a:extLst>
          </p:cNvPr>
          <p:cNvSpPr>
            <a:spLocks noGrp="1"/>
          </p:cNvSpPr>
          <p:nvPr>
            <p:ph type="body" idx="1"/>
          </p:nvPr>
        </p:nvSpPr>
        <p:spPr/>
        <p:txBody>
          <a:bodyPr/>
          <a:lstStyle/>
          <a:p>
            <a:r>
              <a:rPr dirty="0"/>
              <a:t>Always provide a key with v-for.</a:t>
            </a:r>
          </a:p>
          <a:p>
            <a:endParaRPr dirty="0"/>
          </a:p>
          <a:p>
            <a:pPr marL="0" indent="0">
              <a:buNone/>
            </a:pPr>
            <a:r>
              <a:rPr dirty="0">
                <a:latin typeface="Courier New" panose="02070309020205020404" pitchFamily="49" charset="0"/>
                <a:cs typeface="Courier New" panose="02070309020205020404" pitchFamily="49" charset="0"/>
              </a:rPr>
              <a:t>&lt;li v-for="song in songs" :key="</a:t>
            </a:r>
            <a:r>
              <a:rPr dirty="0" err="1">
                <a:latin typeface="Courier New" panose="02070309020205020404" pitchFamily="49" charset="0"/>
                <a:cs typeface="Courier New" panose="02070309020205020404" pitchFamily="49" charset="0"/>
              </a:rPr>
              <a:t>song.id</a:t>
            </a:r>
            <a:r>
              <a:rPr dirty="0">
                <a:latin typeface="Courier New" panose="02070309020205020404" pitchFamily="49" charset="0"/>
                <a:cs typeface="Courier New" panose="02070309020205020404" pitchFamily="49" charset="0"/>
              </a:rPr>
              <a:t>"&gt;</a:t>
            </a:r>
          </a:p>
          <a:p>
            <a:pPr marL="0" indent="0">
              <a:buNone/>
            </a:pPr>
            <a:r>
              <a:rPr dirty="0">
                <a:latin typeface="Courier New" panose="02070309020205020404" pitchFamily="49" charset="0"/>
                <a:cs typeface="Courier New" panose="02070309020205020404" pitchFamily="49" charset="0"/>
              </a:rPr>
              <a:t>  {{ </a:t>
            </a:r>
            <a:r>
              <a:rPr dirty="0" err="1">
                <a:latin typeface="Courier New" panose="02070309020205020404" pitchFamily="49" charset="0"/>
                <a:cs typeface="Courier New" panose="02070309020205020404" pitchFamily="49" charset="0"/>
              </a:rPr>
              <a:t>song.title</a:t>
            </a:r>
            <a:r>
              <a:rPr dirty="0">
                <a:latin typeface="Courier New" panose="02070309020205020404" pitchFamily="49" charset="0"/>
                <a:cs typeface="Courier New" panose="02070309020205020404" pitchFamily="49" charset="0"/>
              </a:rPr>
              <a:t> }}</a:t>
            </a:r>
          </a:p>
          <a:p>
            <a:pPr marL="0" indent="0">
              <a:buNone/>
            </a:pPr>
            <a:r>
              <a:rPr dirty="0">
                <a:latin typeface="Courier New" panose="02070309020205020404" pitchFamily="49" charset="0"/>
                <a:cs typeface="Courier New" panose="02070309020205020404" pitchFamily="49" charset="0"/>
              </a:rPr>
              <a:t>&lt;/li&gt;</a:t>
            </a:r>
          </a:p>
          <a:p>
            <a:endParaRPr dirty="0"/>
          </a:p>
          <a:p>
            <a:r>
              <a:rPr dirty="0"/>
              <a:t>Providing a key helps Vue track each node's identity.</a:t>
            </a:r>
          </a:p>
          <a:p>
            <a:r>
              <a:rPr dirty="0"/>
              <a:t>The key goes on the element that carries v-for — including on a &lt;template v-for&gt;, which Vue 2 did not allow.</a:t>
            </a:r>
          </a:p>
          <a:p>
            <a:r>
              <a:rPr dirty="0"/>
              <a:t>Use a stable id, not the array index.</a:t>
            </a:r>
          </a:p>
        </p:txBody>
      </p:sp>
    </p:spTree>
    <p:extLst>
      <p:ext uri="{BB962C8B-B14F-4D97-AF65-F5344CB8AC3E}">
        <p14:creationId xmlns:p14="http://schemas.microsoft.com/office/powerpoint/2010/main" val="22187565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CAA5-B433-F84D-A628-2562C9AFEDF1}"/>
              </a:ext>
            </a:extLst>
          </p:cNvPr>
          <p:cNvSpPr>
            <a:spLocks noGrp="1"/>
          </p:cNvSpPr>
          <p:nvPr>
            <p:ph type="title"/>
          </p:nvPr>
        </p:nvSpPr>
        <p:spPr/>
        <p:txBody>
          <a:bodyPr/>
          <a:lstStyle/>
          <a:p>
            <a:r>
              <a:rPr lang="en-US" dirty="0"/>
              <a:t>Using v-for</a:t>
            </a:r>
          </a:p>
        </p:txBody>
      </p:sp>
      <p:sp>
        <p:nvSpPr>
          <p:cNvPr id="3" name="Text Placeholder 2">
            <a:extLst>
              <a:ext uri="{FF2B5EF4-FFF2-40B4-BE49-F238E27FC236}">
                <a16:creationId xmlns:a16="http://schemas.microsoft.com/office/drawing/2014/main" id="{8B5AADD7-CA39-CA41-9602-8D3B0456B8EC}"/>
              </a:ext>
            </a:extLst>
          </p:cNvPr>
          <p:cNvSpPr>
            <a:spLocks noGrp="1"/>
          </p:cNvSpPr>
          <p:nvPr>
            <p:ph type="body" idx="1"/>
          </p:nvPr>
        </p:nvSpPr>
        <p:spPr/>
        <p:txBody>
          <a:bodyPr/>
          <a:lstStyle/>
          <a:p>
            <a:r>
              <a:rPr lang="en-US" dirty="0"/>
              <a:t>Renders a list based on an array or object</a:t>
            </a:r>
          </a:p>
          <a:p>
            <a:r>
              <a:rPr lang="en-US" dirty="0"/>
              <a:t>Often used with HTML lists</a:t>
            </a:r>
          </a:p>
          <a:p>
            <a:pPr marL="0" indent="0">
              <a:buNone/>
            </a:pPr>
            <a:endParaRPr lang="en-US" sz="1800">
              <a:latin typeface="Courier New" pitchFamily="2" charset="0"/>
            </a:endParaRPr>
          </a:p>
          <a:p>
            <a:pPr marL="0" indent="0">
              <a:buNone/>
            </a:pPr>
            <a:endParaRPr lang="en-US" sz="1800">
              <a:latin typeface="Courier New" pitchFamily="2" charset="0"/>
            </a:endParaRPr>
          </a:p>
        </p:txBody>
      </p:sp>
    </p:spTree>
    <p:extLst>
      <p:ext uri="{BB962C8B-B14F-4D97-AF65-F5344CB8AC3E}">
        <p14:creationId xmlns:p14="http://schemas.microsoft.com/office/powerpoint/2010/main" val="15842979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6E9C-84E1-6345-8ED2-A3F0BBD5DE2D}"/>
              </a:ext>
            </a:extLst>
          </p:cNvPr>
          <p:cNvSpPr>
            <a:spLocks noGrp="1"/>
          </p:cNvSpPr>
          <p:nvPr>
            <p:ph type="title"/>
          </p:nvPr>
        </p:nvSpPr>
        <p:spPr/>
        <p:txBody>
          <a:bodyPr/>
          <a:lstStyle/>
          <a:p>
            <a:r>
              <a:rPr lang="en-US" dirty="0"/>
              <a:t>v-for with Arrays</a:t>
            </a:r>
          </a:p>
        </p:txBody>
      </p:sp>
      <p:sp>
        <p:nvSpPr>
          <p:cNvPr id="3" name="Text Placeholder 2">
            <a:extLst>
              <a:ext uri="{FF2B5EF4-FFF2-40B4-BE49-F238E27FC236}">
                <a16:creationId xmlns:a16="http://schemas.microsoft.com/office/drawing/2014/main" id="{D4A84571-2E60-0747-BAA9-BF6877010660}"/>
              </a:ext>
            </a:extLst>
          </p:cNvPr>
          <p:cNvSpPr>
            <a:spLocks noGrp="1"/>
          </p:cNvSpPr>
          <p:nvPr>
            <p:ph type="body" idx="1"/>
          </p:nvPr>
        </p:nvSpPr>
        <p:spPr/>
        <p:txBody>
          <a:bodyPr>
            <a:normAutofit fontScale="85000" lnSpcReduction="20000"/>
          </a:bodyPr>
          <a:lstStyle/>
          <a:p>
            <a:pPr marL="0" indent="0">
              <a:buNone/>
            </a:pPr>
            <a:r>
              <a:rPr lang="en-US">
                <a:latin typeface="Courier New" pitchFamily="2" charset="0"/>
              </a:rPr>
              <a:t>&lt;ul id="favorite-songs"&gt;</a:t>
            </a:r>
          </a:p>
          <a:p>
            <a:pPr marL="0" lvl="1" indent="0">
              <a:buNone/>
            </a:pPr>
            <a:r>
              <a:rPr lang="en-US" sz="2400">
                <a:latin typeface="Courier New" pitchFamily="2" charset="0"/>
              </a:rPr>
              <a:t>&lt;li v-for="song in songs"&gt;</a:t>
            </a:r>
          </a:p>
          <a:p>
            <a:pPr marL="0" lvl="2" indent="0">
              <a:buNone/>
            </a:pPr>
            <a:r>
              <a:rPr lang="en-US" sz="2400">
                <a:latin typeface="Courier New" pitchFamily="2" charset="0"/>
              </a:rPr>
              <a:t>{{song.title}}</a:t>
            </a:r>
          </a:p>
          <a:p>
            <a:pPr marL="0" lvl="1" indent="0">
              <a:buNone/>
            </a:pPr>
            <a:r>
              <a:rPr lang="en-US" sz="2400">
                <a:latin typeface="Courier New" pitchFamily="2" charset="0"/>
              </a:rPr>
              <a:t>&lt;/li&gt;</a:t>
            </a:r>
          </a:p>
          <a:p>
            <a:pPr marL="0" indent="0">
              <a:buNone/>
            </a:pPr>
            <a:r>
              <a:rPr lang="en-US">
                <a:latin typeface="Courier New" pitchFamily="2" charset="0"/>
              </a:rPr>
              <a:t>&lt;/ul&gt;</a:t>
            </a:r>
          </a:p>
          <a:p>
            <a:pPr marL="0" indent="0">
              <a:buNone/>
            </a:pPr>
            <a:r>
              <a:rPr lang="en-US">
                <a:latin typeface="Courier New" pitchFamily="2" charset="0"/>
              </a:rPr>
              <a:t>...</a:t>
            </a:r>
          </a:p>
          <a:p>
            <a:pPr marL="0" indent="0">
              <a:buNone/>
            </a:pPr>
            <a:r>
              <a:rPr lang="en-US">
                <a:latin typeface="Courier New" pitchFamily="2" charset="0"/>
              </a:rPr>
              <a:t>songs: [</a:t>
            </a:r>
          </a:p>
          <a:p>
            <a:pPr marL="0" indent="0">
              <a:buNone/>
            </a:pPr>
            <a:r>
              <a:rPr lang="en-US">
                <a:latin typeface="Courier New" pitchFamily="2" charset="0"/>
              </a:rPr>
              <a:t>	{title: 'Hotel California'},</a:t>
            </a:r>
          </a:p>
          <a:p>
            <a:pPr marL="0" indent="0">
              <a:buNone/>
            </a:pPr>
            <a:r>
              <a:rPr lang="en-US">
                <a:latin typeface="Courier New" pitchFamily="2" charset="0"/>
              </a:rPr>
              <a:t>	{title: 'April in Paris'}</a:t>
            </a:r>
          </a:p>
          <a:p>
            <a:pPr marL="0" indent="0">
              <a:buNone/>
            </a:pPr>
            <a:r>
              <a:rPr lang="en-US">
                <a:latin typeface="Courier New" pitchFamily="2" charset="0"/>
              </a:rPr>
              <a:t>]</a:t>
            </a:r>
          </a:p>
          <a:p>
            <a:pPr marL="0" indent="0">
              <a:buNone/>
            </a:pPr>
            <a:r>
              <a:rPr lang="en-US">
                <a:latin typeface="Courier New" pitchFamily="2" charset="0"/>
              </a:rPr>
              <a:t>...</a:t>
            </a:r>
          </a:p>
          <a:p>
            <a:pPr marL="0" indent="0">
              <a:buNone/>
            </a:pPr>
            <a:r>
              <a:rPr lang="en-US">
                <a:latin typeface="Courier New" pitchFamily="2" charset="0"/>
              </a:rPr>
              <a:t>Result:</a:t>
            </a:r>
          </a:p>
          <a:p>
            <a:pPr marL="0" indent="0">
              <a:buNone/>
            </a:pPr>
            <a:r>
              <a:rPr lang="en-US">
                <a:latin typeface="Courier New" pitchFamily="2" charset="0"/>
              </a:rPr>
              <a:t>Hotel California</a:t>
            </a:r>
          </a:p>
          <a:p>
            <a:pPr marL="0" indent="0">
              <a:buNone/>
            </a:pPr>
            <a:r>
              <a:rPr lang="en-US">
                <a:latin typeface="Courier New" pitchFamily="2" charset="0"/>
              </a:rPr>
              <a:t>April in Paris</a:t>
            </a:r>
          </a:p>
          <a:p>
            <a:endParaRPr lang="en-US" dirty="0"/>
          </a:p>
        </p:txBody>
      </p:sp>
    </p:spTree>
    <p:extLst>
      <p:ext uri="{BB962C8B-B14F-4D97-AF65-F5344CB8AC3E}">
        <p14:creationId xmlns:p14="http://schemas.microsoft.com/office/powerpoint/2010/main" val="6282289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8D76-4EF2-424D-8172-DD0F88EAF4F5}"/>
              </a:ext>
            </a:extLst>
          </p:cNvPr>
          <p:cNvSpPr>
            <a:spLocks noGrp="1"/>
          </p:cNvSpPr>
          <p:nvPr>
            <p:ph type="title"/>
          </p:nvPr>
        </p:nvSpPr>
        <p:spPr/>
        <p:txBody>
          <a:bodyPr/>
          <a:lstStyle/>
          <a:p>
            <a:r>
              <a:rPr lang="en-US" dirty="0"/>
              <a:t>v-for with Objects</a:t>
            </a:r>
          </a:p>
        </p:txBody>
      </p:sp>
      <p:sp>
        <p:nvSpPr>
          <p:cNvPr id="3" name="Text Placeholder 2">
            <a:extLst>
              <a:ext uri="{FF2B5EF4-FFF2-40B4-BE49-F238E27FC236}">
                <a16:creationId xmlns:a16="http://schemas.microsoft.com/office/drawing/2014/main" id="{1716DEAD-DBC1-1D45-A85C-6F7227F5159C}"/>
              </a:ext>
            </a:extLst>
          </p:cNvPr>
          <p:cNvSpPr>
            <a:spLocks noGrp="1"/>
          </p:cNvSpPr>
          <p:nvPr>
            <p:ph type="body" idx="1"/>
          </p:nvPr>
        </p:nvSpPr>
        <p:spPr/>
        <p:txBody>
          <a:bodyPr>
            <a:normAutofit fontScale="70000" lnSpcReduction="20000"/>
          </a:bodyPr>
          <a:lstStyle/>
          <a:p>
            <a:r>
              <a:rPr lang="en-US" dirty="0"/>
              <a:t>When used with an object, v-for iterates over the properties of the object.</a:t>
            </a:r>
          </a:p>
          <a:p>
            <a:pPr marL="0" indent="0">
              <a:buNone/>
            </a:pPr>
            <a:endParaRPr lang="en-US">
              <a:latin typeface="Courier New" pitchFamily="2" charset="0"/>
            </a:endParaRPr>
          </a:p>
          <a:p>
            <a:pPr marL="0" indent="0">
              <a:buNone/>
            </a:pPr>
            <a:r>
              <a:rPr lang="en-US">
                <a:latin typeface="Courier New" pitchFamily="2" charset="0"/>
              </a:rPr>
              <a:t>&lt;ul id="object-for-example"&gt;</a:t>
            </a:r>
          </a:p>
          <a:p>
            <a:pPr marL="0" lvl="1" indent="0">
              <a:buNone/>
            </a:pPr>
            <a:r>
              <a:rPr lang="en-US" sz="2400">
                <a:latin typeface="Courier New" pitchFamily="2" charset="0"/>
              </a:rPr>
              <a:t>&lt;li v-for="value in object"&gt;</a:t>
            </a:r>
          </a:p>
          <a:p>
            <a:pPr marL="0" lvl="2" indent="0">
              <a:buNone/>
            </a:pPr>
            <a:r>
              <a:rPr lang="en-US" sz="2400">
                <a:latin typeface="Courier New" pitchFamily="2" charset="0"/>
              </a:rPr>
              <a:t>{{value}}</a:t>
            </a:r>
          </a:p>
          <a:p>
            <a:pPr marL="0" lvl="1" indent="0">
              <a:buNone/>
            </a:pPr>
            <a:r>
              <a:rPr lang="en-US" sz="2400">
                <a:latin typeface="Courier New" pitchFamily="2" charset="0"/>
              </a:rPr>
              <a:t>&lt;/li&gt;</a:t>
            </a:r>
          </a:p>
          <a:p>
            <a:pPr marL="0" indent="0">
              <a:buNone/>
            </a:pPr>
            <a:r>
              <a:rPr lang="en-US">
                <a:latin typeface="Courier New" pitchFamily="2" charset="0"/>
              </a:rPr>
              <a:t>&lt;/ul&gt;</a:t>
            </a:r>
          </a:p>
          <a:p>
            <a:pPr marL="0" indent="0">
              <a:buNone/>
            </a:pPr>
            <a:endParaRPr lang="en-US">
              <a:latin typeface="Courier New" pitchFamily="2" charset="0"/>
            </a:endParaRPr>
          </a:p>
          <a:p>
            <a:pPr marL="0" indent="0">
              <a:buNone/>
            </a:pPr>
            <a:r>
              <a:rPr lang="en-US">
                <a:latin typeface="Courier New" pitchFamily="2" charset="0"/>
              </a:rPr>
              <a:t>...</a:t>
            </a:r>
          </a:p>
          <a:p>
            <a:pPr marL="0" indent="0">
              <a:buNone/>
            </a:pPr>
            <a:r>
              <a:rPr lang="en-US">
                <a:latin typeface="Courier New" pitchFamily="2" charset="0"/>
              </a:rPr>
              <a:t>object: {</a:t>
            </a:r>
          </a:p>
          <a:p>
            <a:pPr marL="0" indent="0">
              <a:buNone/>
            </a:pPr>
            <a:r>
              <a:rPr lang="en-US">
                <a:latin typeface="Courier New" pitchFamily="2" charset="0"/>
              </a:rPr>
              <a:t>	firstName: 'Joe',</a:t>
            </a:r>
          </a:p>
          <a:p>
            <a:pPr marL="0" indent="0">
              <a:buNone/>
            </a:pPr>
            <a:r>
              <a:rPr lang="en-US">
                <a:latin typeface="Courier New" pitchFamily="2" charset="0"/>
              </a:rPr>
              <a:t>	lastName: 'Smith'</a:t>
            </a:r>
          </a:p>
          <a:p>
            <a:pPr marL="0" indent="0">
              <a:buNone/>
            </a:pPr>
            <a:r>
              <a:rPr lang="en-US">
                <a:latin typeface="Courier New" pitchFamily="2" charset="0"/>
              </a:rPr>
              <a:t>}</a:t>
            </a:r>
          </a:p>
          <a:p>
            <a:pPr marL="0" indent="0">
              <a:buNone/>
            </a:pPr>
            <a:r>
              <a:rPr lang="en-US">
                <a:latin typeface="Courier New" pitchFamily="2" charset="0"/>
              </a:rPr>
              <a:t>...</a:t>
            </a:r>
          </a:p>
          <a:p>
            <a:pPr marL="0" indent="0">
              <a:buNone/>
            </a:pPr>
            <a:r>
              <a:rPr lang="en-US">
                <a:latin typeface="Courier New" pitchFamily="2" charset="0"/>
              </a:rPr>
              <a:t>Result:</a:t>
            </a:r>
          </a:p>
          <a:p>
            <a:pPr marL="0" indent="0">
              <a:buNone/>
            </a:pPr>
            <a:r>
              <a:rPr lang="en-US">
                <a:latin typeface="Courier New" pitchFamily="2" charset="0"/>
              </a:rPr>
              <a:t>Joe</a:t>
            </a:r>
          </a:p>
          <a:p>
            <a:pPr marL="0" indent="0">
              <a:buNone/>
            </a:pPr>
            <a:r>
              <a:rPr lang="en-US">
                <a:latin typeface="Courier New" pitchFamily="2" charset="0"/>
              </a:rPr>
              <a:t>Doe</a:t>
            </a:r>
          </a:p>
          <a:p>
            <a:pPr marL="0" indent="0">
              <a:buNone/>
            </a:pPr>
            <a:endParaRPr lang="en-US" dirty="0"/>
          </a:p>
        </p:txBody>
      </p:sp>
    </p:spTree>
    <p:extLst>
      <p:ext uri="{BB962C8B-B14F-4D97-AF65-F5344CB8AC3E}">
        <p14:creationId xmlns:p14="http://schemas.microsoft.com/office/powerpoint/2010/main" val="32046659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817F-D47B-B347-A447-5C3B6AE47AB4}"/>
              </a:ext>
            </a:extLst>
          </p:cNvPr>
          <p:cNvSpPr>
            <a:spLocks noGrp="1"/>
          </p:cNvSpPr>
          <p:nvPr>
            <p:ph type="title"/>
          </p:nvPr>
        </p:nvSpPr>
        <p:spPr/>
        <p:txBody>
          <a:bodyPr/>
          <a:lstStyle/>
          <a:p>
            <a:r>
              <a:rPr lang="en-US" dirty="0"/>
              <a:t>Conditional Rendering</a:t>
            </a:r>
          </a:p>
        </p:txBody>
      </p:sp>
      <p:sp>
        <p:nvSpPr>
          <p:cNvPr id="3" name="Text Placeholder 2">
            <a:extLst>
              <a:ext uri="{FF2B5EF4-FFF2-40B4-BE49-F238E27FC236}">
                <a16:creationId xmlns:a16="http://schemas.microsoft.com/office/drawing/2014/main" id="{B9A7453B-DEB4-BF40-9FF2-FB6DAE68E53C}"/>
              </a:ext>
            </a:extLst>
          </p:cNvPr>
          <p:cNvSpPr>
            <a:spLocks noGrp="1"/>
          </p:cNvSpPr>
          <p:nvPr>
            <p:ph type="body" idx="1"/>
          </p:nvPr>
        </p:nvSpPr>
        <p:spPr/>
        <p:txBody>
          <a:bodyPr/>
          <a:lstStyle/>
          <a:p>
            <a:r>
              <a:rPr lang="en-US" sz="3000" dirty="0"/>
              <a:t>Use v-if / v-else-if / v-else</a:t>
            </a:r>
          </a:p>
          <a:p>
            <a:pPr marL="0" indent="0">
              <a:buNone/>
            </a:pPr>
            <a:endParaRPr lang="en-US">
              <a:latin typeface="Courier New" pitchFamily="2" charset="0"/>
            </a:endParaRPr>
          </a:p>
          <a:p>
            <a:pPr marL="0" indent="0">
              <a:buNone/>
            </a:pPr>
            <a:r>
              <a:rPr lang="en-US">
                <a:latin typeface="Courier New" pitchFamily="2" charset="0"/>
              </a:rPr>
              <a:t>&lt;h1 v-if="thing === true"&gt;It is so&lt;/h1&gt;</a:t>
            </a:r>
          </a:p>
          <a:p>
            <a:pPr marL="0" indent="0">
              <a:buNone/>
            </a:pPr>
            <a:r>
              <a:rPr lang="en-US">
                <a:latin typeface="Courier New" pitchFamily="2" charset="0"/>
              </a:rPr>
              <a:t>&lt;h1 v-else-if="thing === undefined"&gt;We don't know&lt;/h1&gt;</a:t>
            </a:r>
          </a:p>
          <a:p>
            <a:pPr marL="0" indent="0">
              <a:buNone/>
            </a:pPr>
            <a:r>
              <a:rPr lang="en-US">
                <a:latin typeface="Courier New" pitchFamily="2" charset="0"/>
              </a:rPr>
              <a:t>&lt;h1 v-else&gt;Is it not so&lt;/h1&gt;</a:t>
            </a:r>
          </a:p>
        </p:txBody>
      </p:sp>
    </p:spTree>
    <p:extLst>
      <p:ext uri="{BB962C8B-B14F-4D97-AF65-F5344CB8AC3E}">
        <p14:creationId xmlns:p14="http://schemas.microsoft.com/office/powerpoint/2010/main" val="21385280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2AC3-9D6E-6F48-8D9C-03FBA7CC64AF}"/>
              </a:ext>
            </a:extLst>
          </p:cNvPr>
          <p:cNvSpPr>
            <a:spLocks noGrp="1"/>
          </p:cNvSpPr>
          <p:nvPr>
            <p:ph type="title"/>
          </p:nvPr>
        </p:nvSpPr>
        <p:spPr/>
        <p:txBody>
          <a:bodyPr/>
          <a:lstStyle/>
          <a:p>
            <a:r>
              <a:rPr lang="en-US" dirty="0"/>
              <a:t>v-if vs. v-show</a:t>
            </a:r>
          </a:p>
        </p:txBody>
      </p:sp>
      <p:sp>
        <p:nvSpPr>
          <p:cNvPr id="3" name="Text Placeholder 2">
            <a:extLst>
              <a:ext uri="{FF2B5EF4-FFF2-40B4-BE49-F238E27FC236}">
                <a16:creationId xmlns:a16="http://schemas.microsoft.com/office/drawing/2014/main" id="{364048F1-4052-BB4C-8E4F-E3210EC9CAB8}"/>
              </a:ext>
            </a:extLst>
          </p:cNvPr>
          <p:cNvSpPr>
            <a:spLocks noGrp="1"/>
          </p:cNvSpPr>
          <p:nvPr>
            <p:ph type="body" idx="1"/>
          </p:nvPr>
        </p:nvSpPr>
        <p:spPr/>
        <p:txBody>
          <a:bodyPr/>
          <a:lstStyle/>
          <a:p>
            <a:r>
              <a:rPr lang="en-US" dirty="0"/>
              <a:t>v-show can be used for conditional rendering also</a:t>
            </a:r>
          </a:p>
          <a:p>
            <a:r>
              <a:rPr lang="en-US" dirty="0"/>
              <a:t>The difference is that v-show only toggles the CSS display property.</a:t>
            </a:r>
          </a:p>
        </p:txBody>
      </p:sp>
    </p:spTree>
    <p:extLst>
      <p:ext uri="{BB962C8B-B14F-4D97-AF65-F5344CB8AC3E}">
        <p14:creationId xmlns:p14="http://schemas.microsoft.com/office/powerpoint/2010/main" val="39613036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2A5809-FFF2-964A-8720-128BE5F65E74}"/>
              </a:ext>
            </a:extLst>
          </p:cNvPr>
          <p:cNvSpPr>
            <a:spLocks noGrp="1"/>
          </p:cNvSpPr>
          <p:nvPr>
            <p:ph type="title"/>
          </p:nvPr>
        </p:nvSpPr>
        <p:spPr/>
        <p:txBody>
          <a:bodyPr/>
          <a:lstStyle/>
          <a:p>
            <a:r>
              <a:t>Lab 11: Static Vue View</a:t>
            </a:r>
          </a:p>
        </p:txBody>
      </p:sp>
      <p:sp>
        <p:nvSpPr>
          <p:cNvPr id="4" name="Slide Number Placeholder 3">
            <a:extLst>
              <a:ext uri="{FF2B5EF4-FFF2-40B4-BE49-F238E27FC236}">
                <a16:creationId xmlns:a16="http://schemas.microsoft.com/office/drawing/2014/main" id="{202EAFDF-03F4-A942-808A-F324DBDB9B82}"/>
              </a:ext>
            </a:extLst>
          </p:cNvPr>
          <p:cNvSpPr>
            <a:spLocks noGrp="1"/>
          </p:cNvSpPr>
          <p:nvPr>
            <p:ph type="sldNum" sz="quarter" idx="12"/>
          </p:nvPr>
        </p:nvSpPr>
        <p:spPr/>
        <p:txBody>
          <a:bodyPr/>
          <a:lstStyle/>
          <a:p>
            <a:fld id="{A839F4A7-500C-EC42-AE23-BEE4487EA55E}" type="slidenum">
              <a:rPr lang="en-US" smtClean="0"/>
              <a:t>110</a:t>
            </a:fld>
            <a:endParaRPr lang="en-US" dirty="0"/>
          </a:p>
        </p:txBody>
      </p:sp>
      <p:sp>
        <p:nvSpPr>
          <p:cNvPr id="6" name="Content Placeholder 5">
            <a:extLst>
              <a:ext uri="{FF2B5EF4-FFF2-40B4-BE49-F238E27FC236}">
                <a16:creationId xmlns:a16="http://schemas.microsoft.com/office/drawing/2014/main" id="{404BAD3D-3542-888B-2A10-B0689777EA6A}"/>
              </a:ext>
            </a:extLst>
          </p:cNvPr>
          <p:cNvSpPr>
            <a:spLocks noGrp="1"/>
          </p:cNvSpPr>
          <p:nvPr>
            <p:ph idx="1"/>
          </p:nvPr>
        </p:nvSpPr>
        <p:spPr/>
        <p:txBody>
          <a:bodyPr/>
          <a:lstStyle/>
          <a:p>
            <a:endParaRPr lang="en-US"/>
          </a:p>
        </p:txBody>
      </p:sp>
      <p:pic>
        <p:nvPicPr>
          <p:cNvPr id="7" name="Content Placeholder 2" descr="A screenshot of a cell phone&#10;&#10;Description automatically generated">
            <a:extLst>
              <a:ext uri="{FF2B5EF4-FFF2-40B4-BE49-F238E27FC236}">
                <a16:creationId xmlns:a16="http://schemas.microsoft.com/office/drawing/2014/main" id="{19A898B9-A106-1B1E-8D8C-08F050453DDC}"/>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40723251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0827A-EA1F-B04E-9C75-B2A4BF813EAA}"/>
              </a:ext>
            </a:extLst>
          </p:cNvPr>
          <p:cNvSpPr>
            <a:spLocks noGrp="1"/>
          </p:cNvSpPr>
          <p:nvPr>
            <p:ph type="title"/>
          </p:nvPr>
        </p:nvSpPr>
        <p:spPr/>
        <p:txBody>
          <a:bodyPr/>
          <a:lstStyle/>
          <a:p>
            <a:r>
              <a:rPr lang="en-US" dirty="0"/>
              <a:t>Binding HTML Classes</a:t>
            </a:r>
          </a:p>
        </p:txBody>
      </p:sp>
      <p:sp>
        <p:nvSpPr>
          <p:cNvPr id="3" name="Text Placeholder 2">
            <a:extLst>
              <a:ext uri="{FF2B5EF4-FFF2-40B4-BE49-F238E27FC236}">
                <a16:creationId xmlns:a16="http://schemas.microsoft.com/office/drawing/2014/main" id="{A8811902-6860-E846-B697-A98960F65F59}"/>
              </a:ext>
            </a:extLst>
          </p:cNvPr>
          <p:cNvSpPr>
            <a:spLocks noGrp="1"/>
          </p:cNvSpPr>
          <p:nvPr>
            <p:ph type="body" idx="1"/>
          </p:nvPr>
        </p:nvSpPr>
        <p:spPr/>
        <p:txBody>
          <a:bodyPr/>
          <a:lstStyle/>
          <a:p>
            <a:r>
              <a:t>:class can be used to dynamically toggle classes</a:t>
            </a:r>
          </a:p>
          <a:p>
            <a:pPr marL="0" indent="0">
              <a:buNone/>
            </a:pPr>
            <a:r>
              <a:rPr lang="en-US">
                <a:latin typeface="Courier New" pitchFamily="49" charset="0"/>
              </a:rPr>
              <a:t>&lt;div :class="{ active: isActive }"&gt;&lt;/div&gt;</a:t>
            </a:r>
          </a:p>
          <a:p>
            <a:r>
              <a:t>pass an array to :class to apply a list of classes</a:t>
            </a:r>
          </a:p>
          <a:p>
            <a:pPr marL="0" indent="0">
              <a:buNone/>
            </a:pPr>
            <a:r>
              <a:rPr lang="en-US">
                <a:latin typeface="Courier New" pitchFamily="49" charset="0"/>
              </a:rPr>
              <a:t>&lt;div :class="[baseClass, { active: isActive }]"&gt;&lt;/div&gt;</a:t>
            </a:r>
          </a:p>
          <a:p>
            <a:r>
              <a:t>Vue merges these with any static class attribute on the element.</a:t>
            </a:r>
          </a:p>
        </p:txBody>
      </p:sp>
    </p:spTree>
    <p:extLst>
      <p:ext uri="{BB962C8B-B14F-4D97-AF65-F5344CB8AC3E}">
        <p14:creationId xmlns:p14="http://schemas.microsoft.com/office/powerpoint/2010/main" val="13228552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F292-8BC6-FC4A-BC0C-EDEA44C44745}"/>
              </a:ext>
            </a:extLst>
          </p:cNvPr>
          <p:cNvSpPr>
            <a:spLocks noGrp="1"/>
          </p:cNvSpPr>
          <p:nvPr>
            <p:ph type="title"/>
          </p:nvPr>
        </p:nvSpPr>
        <p:spPr/>
        <p:txBody>
          <a:bodyPr/>
          <a:lstStyle/>
          <a:p>
            <a:r>
              <a:rPr lang="en-US" dirty="0"/>
              <a:t>Adding Styles Conditionally </a:t>
            </a:r>
          </a:p>
        </p:txBody>
      </p:sp>
      <p:sp>
        <p:nvSpPr>
          <p:cNvPr id="3" name="Text Placeholder 2">
            <a:extLst>
              <a:ext uri="{FF2B5EF4-FFF2-40B4-BE49-F238E27FC236}">
                <a16:creationId xmlns:a16="http://schemas.microsoft.com/office/drawing/2014/main" id="{C2A5A867-0564-AC47-8137-01628A17E64C}"/>
              </a:ext>
            </a:extLst>
          </p:cNvPr>
          <p:cNvSpPr>
            <a:spLocks noGrp="1"/>
          </p:cNvSpPr>
          <p:nvPr>
            <p:ph type="body" idx="1"/>
          </p:nvPr>
        </p:nvSpPr>
        <p:spPr/>
        <p:txBody>
          <a:bodyPr/>
          <a:lstStyle/>
          <a:p>
            <a:r>
              <a:t>You can bind a computed property or a ref to the class attribute to change styles based on conditions.</a:t>
            </a:r>
          </a:p>
          <a:p>
            <a:endParaRPr/>
          </a:p>
          <a:p>
            <a:pPr marL="0" indent="0">
              <a:buNone/>
            </a:pPr>
            <a:r>
              <a:rPr lang="en-US">
                <a:latin typeface="Courier New" pitchFamily="49" charset="0"/>
              </a:rPr>
              <a:t>&lt;div :class="[{ active: isActive }, errorClass]"&gt;&lt;/div&gt;</a:t>
            </a:r>
          </a:p>
          <a:p>
            <a:endParaRPr/>
          </a:p>
          <a:p>
            <a:pPr marL="0" indent="0">
              <a:buNone/>
            </a:pPr>
            <a:r>
              <a:rPr lang="en-US">
                <a:latin typeface="Courier New" pitchFamily="49" charset="0"/>
              </a:rPr>
              <a:t>const errorClass = computed(() =&gt; (hasError.value ? 'text-danger' : ''))</a:t>
            </a:r>
          </a:p>
        </p:txBody>
      </p:sp>
    </p:spTree>
    <p:extLst>
      <p:ext uri="{BB962C8B-B14F-4D97-AF65-F5344CB8AC3E}">
        <p14:creationId xmlns:p14="http://schemas.microsoft.com/office/powerpoint/2010/main" val="7195220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C6C4-07E5-F440-BAEA-F1B0A187E303}"/>
              </a:ext>
            </a:extLst>
          </p:cNvPr>
          <p:cNvSpPr>
            <a:spLocks noGrp="1"/>
          </p:cNvSpPr>
          <p:nvPr>
            <p:ph type="title"/>
          </p:nvPr>
        </p:nvSpPr>
        <p:spPr/>
        <p:txBody>
          <a:bodyPr/>
          <a:lstStyle/>
          <a:p>
            <a:r>
              <a:rPr lang="en-US" dirty="0"/>
              <a:t>Binding Styles</a:t>
            </a:r>
          </a:p>
        </p:txBody>
      </p:sp>
      <p:sp>
        <p:nvSpPr>
          <p:cNvPr id="3" name="Text Placeholder 2">
            <a:extLst>
              <a:ext uri="{FF2B5EF4-FFF2-40B4-BE49-F238E27FC236}">
                <a16:creationId xmlns:a16="http://schemas.microsoft.com/office/drawing/2014/main" id="{DF050830-B35E-774B-BBCF-4FFB40757C21}"/>
              </a:ext>
            </a:extLst>
          </p:cNvPr>
          <p:cNvSpPr>
            <a:spLocks noGrp="1"/>
          </p:cNvSpPr>
          <p:nvPr>
            <p:ph type="body" idx="1"/>
          </p:nvPr>
        </p:nvSpPr>
        <p:spPr/>
        <p:txBody>
          <a:bodyPr>
            <a:normAutofit/>
          </a:bodyPr>
          <a:lstStyle/>
          <a:p>
            <a:r>
              <a:rPr dirty="0"/>
              <a:t>Inline object syntax for :style</a:t>
            </a:r>
          </a:p>
          <a:p>
            <a:pPr marL="0" indent="0">
              <a:buNone/>
            </a:pPr>
            <a:endParaRPr lang="en-US"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&lt;div :style="{ color: </a:t>
            </a:r>
            <a:r>
              <a:rPr sz="1600" dirty="0" err="1">
                <a:latin typeface="Courier New" panose="02070309020205020404" pitchFamily="49" charset="0"/>
                <a:cs typeface="Courier New" panose="02070309020205020404" pitchFamily="49" charset="0"/>
              </a:rPr>
              <a:t>activeColor</a:t>
            </a: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fontSize</a:t>
            </a: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fontSize</a:t>
            </a:r>
            <a:r>
              <a:rPr sz="1600" dirty="0">
                <a:latin typeface="Courier New" panose="02070309020205020404" pitchFamily="49" charset="0"/>
                <a:cs typeface="Courier New" panose="02070309020205020404" pitchFamily="49" charset="0"/>
              </a:rPr>
              <a:t> + '</a:t>
            </a:r>
            <a:r>
              <a:rPr sz="1600" dirty="0" err="1">
                <a:latin typeface="Courier New" panose="02070309020205020404" pitchFamily="49" charset="0"/>
                <a:cs typeface="Courier New" panose="02070309020205020404" pitchFamily="49" charset="0"/>
              </a:rPr>
              <a:t>px</a:t>
            </a:r>
            <a:r>
              <a:rPr sz="1600" dirty="0">
                <a:latin typeface="Courier New" panose="02070309020205020404" pitchFamily="49" charset="0"/>
                <a:cs typeface="Courier New" panose="02070309020205020404" pitchFamily="49" charset="0"/>
              </a:rPr>
              <a:t>' }"&gt;</a:t>
            </a:r>
          </a:p>
          <a:p>
            <a:pPr marL="0" indent="0">
              <a:buNone/>
            </a:pPr>
            <a:r>
              <a:rPr sz="1600" dirty="0">
                <a:latin typeface="Courier New" panose="02070309020205020404" pitchFamily="49" charset="0"/>
                <a:cs typeface="Courier New" panose="02070309020205020404" pitchFamily="49" charset="0"/>
              </a:rPr>
              <a:t>&lt;/div&gt;</a:t>
            </a:r>
          </a:p>
          <a:p>
            <a:pPr marL="0" indent="0">
              <a:buNone/>
            </a:pPr>
            <a:endParaRPr sz="1600" dirty="0">
              <a:latin typeface="Courier New" panose="02070309020205020404" pitchFamily="49" charset="0"/>
              <a:cs typeface="Courier New" panose="02070309020205020404" pitchFamily="49" charset="0"/>
            </a:endParaRPr>
          </a:p>
          <a:p>
            <a:r>
              <a:rPr dirty="0"/>
              <a:t>Bind to a style object to keep the template cleaner</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&lt;div :style="</a:t>
            </a:r>
            <a:r>
              <a:rPr sz="1600" dirty="0" err="1">
                <a:latin typeface="Courier New" panose="02070309020205020404" pitchFamily="49" charset="0"/>
                <a:cs typeface="Courier New" panose="02070309020205020404" pitchFamily="49" charset="0"/>
              </a:rPr>
              <a:t>styleObject</a:t>
            </a:r>
            <a:r>
              <a:rPr sz="1600" dirty="0">
                <a:latin typeface="Courier New" panose="02070309020205020404" pitchFamily="49" charset="0"/>
                <a:cs typeface="Courier New" panose="02070309020205020404" pitchFamily="49" charset="0"/>
              </a:rPr>
              <a:t>"&gt;&lt;/div&gt;</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const </a:t>
            </a:r>
            <a:r>
              <a:rPr sz="1600" dirty="0" err="1">
                <a:latin typeface="Courier New" panose="02070309020205020404" pitchFamily="49" charset="0"/>
                <a:cs typeface="Courier New" panose="02070309020205020404" pitchFamily="49" charset="0"/>
              </a:rPr>
              <a:t>styleObject</a:t>
            </a:r>
            <a:r>
              <a:rPr sz="1600" dirty="0">
                <a:latin typeface="Courier New" panose="02070309020205020404" pitchFamily="49" charset="0"/>
                <a:cs typeface="Courier New" panose="02070309020205020404" pitchFamily="49" charset="0"/>
              </a:rPr>
              <a:t> = reactive({</a:t>
            </a:r>
          </a:p>
          <a:p>
            <a:pPr marL="0" indent="0">
              <a:buNone/>
            </a:pPr>
            <a:r>
              <a:rPr sz="1600" dirty="0">
                <a:latin typeface="Courier New" panose="02070309020205020404" pitchFamily="49" charset="0"/>
                <a:cs typeface="Courier New" panose="02070309020205020404" pitchFamily="49" charset="0"/>
              </a:rPr>
              <a:t>  color: 'red',</a:t>
            </a:r>
          </a:p>
          <a:p>
            <a:pPr marL="0" indent="0">
              <a:buNone/>
            </a:pP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fontSize</a:t>
            </a:r>
            <a:r>
              <a:rPr sz="1600" dirty="0">
                <a:latin typeface="Courier New" panose="02070309020205020404" pitchFamily="49" charset="0"/>
                <a:cs typeface="Courier New" panose="02070309020205020404" pitchFamily="49" charset="0"/>
              </a:rPr>
              <a:t>: '13px'</a:t>
            </a:r>
          </a:p>
          <a:p>
            <a:pPr marL="0" indent="0">
              <a:buNone/>
            </a:pPr>
            <a:r>
              <a:rPr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247369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852EB-7FD8-D540-A792-E399C88DDE7B}"/>
              </a:ext>
            </a:extLst>
          </p:cNvPr>
          <p:cNvSpPr>
            <a:spLocks noGrp="1"/>
          </p:cNvSpPr>
          <p:nvPr>
            <p:ph type="title"/>
          </p:nvPr>
        </p:nvSpPr>
        <p:spPr/>
        <p:txBody>
          <a:bodyPr/>
          <a:lstStyle/>
          <a:p>
            <a:r>
              <a:rPr lang="en-US" dirty="0"/>
              <a:t>Outputting Raw HTML </a:t>
            </a:r>
          </a:p>
        </p:txBody>
      </p:sp>
      <p:sp>
        <p:nvSpPr>
          <p:cNvPr id="4" name="Text Placeholder 3">
            <a:extLst>
              <a:ext uri="{FF2B5EF4-FFF2-40B4-BE49-F238E27FC236}">
                <a16:creationId xmlns:a16="http://schemas.microsoft.com/office/drawing/2014/main" id="{87A44893-0E90-274B-A0B8-5978985B9443}"/>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28052303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5427-6362-5443-A7A8-28A78F639C82}"/>
              </a:ext>
            </a:extLst>
          </p:cNvPr>
          <p:cNvSpPr>
            <a:spLocks noGrp="1"/>
          </p:cNvSpPr>
          <p:nvPr>
            <p:ph type="title"/>
          </p:nvPr>
        </p:nvSpPr>
        <p:spPr/>
        <p:txBody>
          <a:bodyPr/>
          <a:lstStyle/>
          <a:p>
            <a:r>
              <a:rPr lang="en-US" dirty="0"/>
              <a:t>Lab 12: Styling Vue Components</a:t>
            </a:r>
          </a:p>
        </p:txBody>
      </p:sp>
      <p:sp>
        <p:nvSpPr>
          <p:cNvPr id="4" name="Slide Number Placeholder 3">
            <a:extLst>
              <a:ext uri="{FF2B5EF4-FFF2-40B4-BE49-F238E27FC236}">
                <a16:creationId xmlns:a16="http://schemas.microsoft.com/office/drawing/2014/main" id="{AAFC85E7-7928-F649-B4F8-B737C4868151}"/>
              </a:ext>
            </a:extLst>
          </p:cNvPr>
          <p:cNvSpPr>
            <a:spLocks noGrp="1"/>
          </p:cNvSpPr>
          <p:nvPr>
            <p:ph type="sldNum" sz="quarter" idx="12"/>
          </p:nvPr>
        </p:nvSpPr>
        <p:spPr/>
        <p:txBody>
          <a:bodyPr/>
          <a:lstStyle/>
          <a:p>
            <a:fld id="{A839F4A7-500C-EC42-AE23-BEE4487EA55E}" type="slidenum">
              <a:rPr lang="en-US" smtClean="0"/>
              <a:t>115</a:t>
            </a:fld>
            <a:endParaRPr lang="en-US" dirty="0"/>
          </a:p>
        </p:txBody>
      </p:sp>
      <p:sp>
        <p:nvSpPr>
          <p:cNvPr id="5" name="Content Placeholder 4">
            <a:extLst>
              <a:ext uri="{FF2B5EF4-FFF2-40B4-BE49-F238E27FC236}">
                <a16:creationId xmlns:a16="http://schemas.microsoft.com/office/drawing/2014/main" id="{5B743381-3ED2-F6CB-A61F-72A8F03AE8E6}"/>
              </a:ext>
            </a:extLst>
          </p:cNvPr>
          <p:cNvSpPr>
            <a:spLocks noGrp="1"/>
          </p:cNvSpPr>
          <p:nvPr>
            <p:ph idx="1"/>
          </p:nvPr>
        </p:nvSpPr>
        <p:spPr/>
        <p:txBody>
          <a:bodyPr/>
          <a:lstStyle/>
          <a:p>
            <a:endParaRPr lang="en-US"/>
          </a:p>
        </p:txBody>
      </p:sp>
      <p:pic>
        <p:nvPicPr>
          <p:cNvPr id="6" name="Content Placeholder 6" descr="A screenshot of a cell phone&#10;&#10;Description automatically generated">
            <a:extLst>
              <a:ext uri="{FF2B5EF4-FFF2-40B4-BE49-F238E27FC236}">
                <a16:creationId xmlns:a16="http://schemas.microsoft.com/office/drawing/2014/main" id="{5A9D9A8F-82DA-41E3-07CE-D73DEC6FCE32}"/>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347952021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22765-83E3-CA41-A8E4-780FC379C903}"/>
              </a:ext>
            </a:extLst>
          </p:cNvPr>
          <p:cNvSpPr>
            <a:spLocks noGrp="1"/>
          </p:cNvSpPr>
          <p:nvPr>
            <p:ph type="title"/>
          </p:nvPr>
        </p:nvSpPr>
        <p:spPr/>
        <p:txBody>
          <a:bodyPr/>
          <a:lstStyle/>
          <a:p>
            <a:r>
              <a:t>Computed Properties</a:t>
            </a:r>
          </a:p>
        </p:txBody>
      </p:sp>
      <p:sp>
        <p:nvSpPr>
          <p:cNvPr id="3" name="Text Placeholder 2">
            <a:extLst>
              <a:ext uri="{FF2B5EF4-FFF2-40B4-BE49-F238E27FC236}">
                <a16:creationId xmlns:a16="http://schemas.microsoft.com/office/drawing/2014/main" id="{DA71487D-B035-CC4D-A37B-B8DAB414C956}"/>
              </a:ext>
            </a:extLst>
          </p:cNvPr>
          <p:cNvSpPr>
            <a:spLocks noGrp="1"/>
          </p:cNvSpPr>
          <p:nvPr>
            <p:ph type="body" idx="1"/>
          </p:nvPr>
        </p:nvSpPr>
        <p:spPr>
          <a:xfrm>
            <a:off x="722313" y="788671"/>
            <a:ext cx="7772400" cy="3618230"/>
          </a:xfrm>
        </p:spPr>
        <p:txBody>
          <a:bodyPr>
            <a:normAutofit/>
          </a:bodyPr>
          <a:lstStyle/>
          <a:p>
            <a:pPr marL="0" indent="0">
              <a:buNone/>
            </a:pPr>
            <a:r>
              <a:rPr lang="en-US">
                <a:latin typeface="Courier New" pitchFamily="49" charset="0"/>
              </a:rPr>
              <a:t>import { computed, ref } from 'vue'</a:t>
            </a:r>
          </a:p>
          <a:p>
            <a:endParaRPr/>
          </a:p>
          <a:p>
            <a:pPr marL="0" indent="0">
              <a:buNone/>
            </a:pPr>
            <a:r>
              <a:rPr lang="en-US">
                <a:latin typeface="Courier New" pitchFamily="49" charset="0"/>
              </a:rPr>
              <a:t>const firstName = ref('Ada')</a:t>
            </a:r>
          </a:p>
          <a:p>
            <a:pPr marL="0" indent="0">
              <a:buNone/>
            </a:pPr>
            <a:r>
              <a:rPr lang="en-US">
                <a:latin typeface="Courier New" pitchFamily="49" charset="0"/>
              </a:rPr>
              <a:t>const lastName = ref('Lovelace')</a:t>
            </a:r>
          </a:p>
          <a:p>
            <a:endParaRPr/>
          </a:p>
          <a:p>
            <a:pPr marL="0" indent="0">
              <a:buNone/>
            </a:pPr>
            <a:r>
              <a:rPr lang="en-US">
                <a:latin typeface="Courier New" pitchFamily="49" charset="0"/>
              </a:rPr>
              <a:t>const fullName = computed(</a:t>
            </a:r>
          </a:p>
          <a:p>
            <a:pPr marL="0" indent="0">
              <a:buNone/>
            </a:pPr>
            <a:r>
              <a:rPr lang="en-US">
                <a:latin typeface="Courier New" pitchFamily="49" charset="0"/>
              </a:rPr>
              <a:t>  () =&gt; `${firstName.value} ${lastName.value}`</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9BBFFF16-BBB3-5246-97C3-3EF4D35DD0A5}"/>
              </a:ext>
            </a:extLst>
          </p:cNvPr>
          <p:cNvSpPr>
            <a:spLocks noGrp="1"/>
          </p:cNvSpPr>
          <p:nvPr>
            <p:ph type="sldNum" sz="quarter" idx="12"/>
          </p:nvPr>
        </p:nvSpPr>
        <p:spPr/>
        <p:txBody>
          <a:bodyPr/>
          <a:lstStyle/>
          <a:p>
            <a:fld id="{6FFFF67E-EC6A-B940-8DC7-BF9A5925C934}" type="slidenum">
              <a:rPr lang="en-US" smtClean="0"/>
              <a:t>116</a:t>
            </a:fld>
            <a:endParaRPr lang="en-US" dirty="0"/>
          </a:p>
        </p:txBody>
      </p:sp>
    </p:spTree>
    <p:extLst>
      <p:ext uri="{BB962C8B-B14F-4D97-AF65-F5344CB8AC3E}">
        <p14:creationId xmlns:p14="http://schemas.microsoft.com/office/powerpoint/2010/main" val="125646644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C9E2-1903-AD4C-80C8-F3740B3631C3}"/>
              </a:ext>
            </a:extLst>
          </p:cNvPr>
          <p:cNvSpPr>
            <a:spLocks noGrp="1"/>
          </p:cNvSpPr>
          <p:nvPr>
            <p:ph type="title"/>
          </p:nvPr>
        </p:nvSpPr>
        <p:spPr/>
        <p:txBody>
          <a:bodyPr/>
          <a:lstStyle/>
          <a:p>
            <a:r>
              <a:rPr lang="en-US" dirty="0"/>
              <a:t>Computed Properties </a:t>
            </a:r>
          </a:p>
        </p:txBody>
      </p:sp>
      <p:sp>
        <p:nvSpPr>
          <p:cNvPr id="3" name="Text Placeholder 2">
            <a:extLst>
              <a:ext uri="{FF2B5EF4-FFF2-40B4-BE49-F238E27FC236}">
                <a16:creationId xmlns:a16="http://schemas.microsoft.com/office/drawing/2014/main" id="{208AA5E7-6CCF-7445-98E6-10D3461FDD87}"/>
              </a:ext>
            </a:extLst>
          </p:cNvPr>
          <p:cNvSpPr>
            <a:spLocks noGrp="1"/>
          </p:cNvSpPr>
          <p:nvPr>
            <p:ph type="body" idx="1"/>
          </p:nvPr>
        </p:nvSpPr>
        <p:spPr/>
        <p:txBody>
          <a:bodyPr>
            <a:normAutofit/>
          </a:bodyPr>
          <a:lstStyle/>
          <a:p>
            <a:r>
              <a:rPr dirty="0"/>
              <a:t>Useful for operations too complex to sit in a template.</a:t>
            </a:r>
          </a:p>
          <a:p>
            <a:r>
              <a:rPr dirty="0"/>
              <a:t>Created by calling computed() with a getter function.</a:t>
            </a:r>
          </a:p>
          <a:p>
            <a:endParaRPr dirty="0"/>
          </a:p>
          <a:p>
            <a:pPr marL="0" indent="0">
              <a:buNone/>
            </a:pPr>
            <a:r>
              <a:rPr sz="1600" dirty="0">
                <a:latin typeface="Courier New" panose="02070309020205020404" pitchFamily="49" charset="0"/>
                <a:cs typeface="Courier New" panose="02070309020205020404" pitchFamily="49" charset="0"/>
              </a:rPr>
              <a:t>const message = ref('Hi There')</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const </a:t>
            </a:r>
            <a:r>
              <a:rPr sz="1600" dirty="0" err="1">
                <a:latin typeface="Courier New" panose="02070309020205020404" pitchFamily="49" charset="0"/>
                <a:cs typeface="Courier New" panose="02070309020205020404" pitchFamily="49" charset="0"/>
              </a:rPr>
              <a:t>reversedMessage</a:t>
            </a:r>
            <a:r>
              <a:rPr sz="1600" dirty="0">
                <a:latin typeface="Courier New" panose="02070309020205020404" pitchFamily="49" charset="0"/>
                <a:cs typeface="Courier New" panose="02070309020205020404" pitchFamily="49" charset="0"/>
              </a:rPr>
              <a:t> = computed(() =&gt;</a:t>
            </a:r>
          </a:p>
          <a:p>
            <a:pPr marL="0" indent="0">
              <a:buNone/>
            </a:pPr>
            <a:r>
              <a:rPr sz="1600" dirty="0">
                <a:latin typeface="Courier New" panose="02070309020205020404" pitchFamily="49" charset="0"/>
                <a:cs typeface="Courier New" panose="02070309020205020404" pitchFamily="49" charset="0"/>
              </a:rPr>
              <a:t>  </a:t>
            </a:r>
            <a:r>
              <a:rPr sz="1600" dirty="0" err="1">
                <a:latin typeface="Courier New" panose="02070309020205020404" pitchFamily="49" charset="0"/>
                <a:cs typeface="Courier New" panose="02070309020205020404" pitchFamily="49" charset="0"/>
              </a:rPr>
              <a:t>message.value.split</a:t>
            </a:r>
            <a:r>
              <a:rPr sz="1600" dirty="0">
                <a:latin typeface="Courier New" panose="02070309020205020404" pitchFamily="49" charset="0"/>
                <a:cs typeface="Courier New" panose="02070309020205020404" pitchFamily="49" charset="0"/>
              </a:rPr>
              <a:t>('').reverse().join('')</a:t>
            </a:r>
          </a:p>
          <a:p>
            <a:pPr marL="0" indent="0">
              <a:buNone/>
            </a:pPr>
            <a:r>
              <a:rPr sz="1600" dirty="0">
                <a:latin typeface="Courier New" panose="02070309020205020404" pitchFamily="49" charset="0"/>
                <a:cs typeface="Courier New" panose="02070309020205020404" pitchFamily="49" charset="0"/>
              </a:rPr>
              <a:t>)</a:t>
            </a:r>
          </a:p>
          <a:p>
            <a:pPr marL="0" indent="0">
              <a:buNone/>
            </a:pP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 computed() returns a ref, so read it as </a:t>
            </a:r>
            <a:r>
              <a:rPr sz="1600" dirty="0" err="1">
                <a:latin typeface="Courier New" panose="02070309020205020404" pitchFamily="49" charset="0"/>
                <a:cs typeface="Courier New" panose="02070309020205020404" pitchFamily="49" charset="0"/>
              </a:rPr>
              <a:t>reversedMessage.value</a:t>
            </a:r>
            <a:endParaRPr sz="1600" dirty="0">
              <a:latin typeface="Courier New" panose="02070309020205020404" pitchFamily="49" charset="0"/>
              <a:cs typeface="Courier New" panose="02070309020205020404" pitchFamily="49" charset="0"/>
            </a:endParaRPr>
          </a:p>
          <a:p>
            <a:pPr marL="0" indent="0">
              <a:buNone/>
            </a:pPr>
            <a:r>
              <a:rPr sz="1600" dirty="0">
                <a:latin typeface="Courier New" panose="02070309020205020404" pitchFamily="49" charset="0"/>
                <a:cs typeface="Courier New" panose="02070309020205020404" pitchFamily="49" charset="0"/>
              </a:rPr>
              <a:t>// in script and as </a:t>
            </a:r>
            <a:r>
              <a:rPr sz="1600" dirty="0" err="1">
                <a:latin typeface="Courier New" panose="02070309020205020404" pitchFamily="49" charset="0"/>
                <a:cs typeface="Courier New" panose="02070309020205020404" pitchFamily="49" charset="0"/>
              </a:rPr>
              <a:t>reversedMessage</a:t>
            </a:r>
            <a:r>
              <a:rPr sz="1600" dirty="0">
                <a:latin typeface="Courier New" panose="02070309020205020404" pitchFamily="49" charset="0"/>
                <a:cs typeface="Courier New" panose="02070309020205020404" pitchFamily="49" charset="0"/>
              </a:rPr>
              <a:t> in the template.</a:t>
            </a:r>
          </a:p>
        </p:txBody>
      </p:sp>
    </p:spTree>
    <p:extLst>
      <p:ext uri="{BB962C8B-B14F-4D97-AF65-F5344CB8AC3E}">
        <p14:creationId xmlns:p14="http://schemas.microsoft.com/office/powerpoint/2010/main" val="18739330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D653B-508B-F54D-AFB8-C163A07E5519}"/>
              </a:ext>
            </a:extLst>
          </p:cNvPr>
          <p:cNvSpPr>
            <a:spLocks noGrp="1"/>
          </p:cNvSpPr>
          <p:nvPr>
            <p:ph type="title"/>
          </p:nvPr>
        </p:nvSpPr>
        <p:spPr/>
        <p:txBody>
          <a:bodyPr/>
          <a:lstStyle/>
          <a:p>
            <a:r>
              <a:rPr lang="en-US" dirty="0"/>
              <a:t>Benefits of Computed Properties</a:t>
            </a:r>
          </a:p>
        </p:txBody>
      </p:sp>
      <p:sp>
        <p:nvSpPr>
          <p:cNvPr id="3" name="Text Placeholder 2">
            <a:extLst>
              <a:ext uri="{FF2B5EF4-FFF2-40B4-BE49-F238E27FC236}">
                <a16:creationId xmlns:a16="http://schemas.microsoft.com/office/drawing/2014/main" id="{43A1F013-4E50-8042-AA77-1AEFCD73A663}"/>
              </a:ext>
            </a:extLst>
          </p:cNvPr>
          <p:cNvSpPr>
            <a:spLocks noGrp="1"/>
          </p:cNvSpPr>
          <p:nvPr>
            <p:ph type="body" idx="1"/>
          </p:nvPr>
        </p:nvSpPr>
        <p:spPr/>
        <p:txBody>
          <a:bodyPr/>
          <a:lstStyle/>
          <a:p>
            <a:r>
              <a:t>Unlike a plain function call, a computed property is cached and will not re-run unless a reactive value it read has changed.</a:t>
            </a:r>
          </a:p>
          <a:p>
            <a:r>
              <a:t>Can often be used instead of a watcher.</a:t>
            </a:r>
          </a:p>
          <a:p>
            <a:r>
              <a:t>A getter should have no side effects — do not mutate state or make requests inside one.</a:t>
            </a:r>
          </a:p>
        </p:txBody>
      </p:sp>
    </p:spTree>
    <p:extLst>
      <p:ext uri="{BB962C8B-B14F-4D97-AF65-F5344CB8AC3E}">
        <p14:creationId xmlns:p14="http://schemas.microsoft.com/office/powerpoint/2010/main" val="31700629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99CE-0F31-EC49-B332-20618D306D25}"/>
              </a:ext>
            </a:extLst>
          </p:cNvPr>
          <p:cNvSpPr>
            <a:spLocks noGrp="1"/>
          </p:cNvSpPr>
          <p:nvPr>
            <p:ph type="title"/>
          </p:nvPr>
        </p:nvSpPr>
        <p:spPr/>
        <p:txBody>
          <a:bodyPr/>
          <a:lstStyle/>
          <a:p>
            <a:r>
              <a:rPr lang="en-US" dirty="0"/>
              <a:t>Filtering / Sorting a List with a Computed Property </a:t>
            </a:r>
          </a:p>
        </p:txBody>
      </p:sp>
      <p:sp>
        <p:nvSpPr>
          <p:cNvPr id="4" name="Text Placeholder 3">
            <a:extLst>
              <a:ext uri="{FF2B5EF4-FFF2-40B4-BE49-F238E27FC236}">
                <a16:creationId xmlns:a16="http://schemas.microsoft.com/office/drawing/2014/main" id="{26739E17-B5C5-8243-8F6B-B0C5FAE35F01}"/>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25536931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53B0-23FB-2D49-B02D-C9D91922C17C}"/>
              </a:ext>
            </a:extLst>
          </p:cNvPr>
          <p:cNvSpPr>
            <a:spLocks noGrp="1"/>
          </p:cNvSpPr>
          <p:nvPr>
            <p:ph type="title"/>
          </p:nvPr>
        </p:nvSpPr>
        <p:spPr/>
        <p:txBody>
          <a:bodyPr/>
          <a:lstStyle/>
          <a:p>
            <a:r>
              <a:rPr lang="en-US" dirty="0"/>
              <a:t>Using Setters in Computed Properties </a:t>
            </a:r>
          </a:p>
        </p:txBody>
      </p:sp>
      <p:sp>
        <p:nvSpPr>
          <p:cNvPr id="3" name="Text Placeholder 2">
            <a:extLst>
              <a:ext uri="{FF2B5EF4-FFF2-40B4-BE49-F238E27FC236}">
                <a16:creationId xmlns:a16="http://schemas.microsoft.com/office/drawing/2014/main" id="{981CE235-BAED-504C-AE06-8BB412119603}"/>
              </a:ext>
            </a:extLst>
          </p:cNvPr>
          <p:cNvSpPr>
            <a:spLocks noGrp="1"/>
          </p:cNvSpPr>
          <p:nvPr>
            <p:ph type="body" idx="1"/>
          </p:nvPr>
        </p:nvSpPr>
        <p:spPr/>
        <p:txBody>
          <a:bodyPr>
            <a:normAutofit fontScale="92500" lnSpcReduction="10000"/>
          </a:bodyPr>
          <a:lstStyle/>
          <a:p>
            <a:r>
              <a:rPr dirty="0"/>
              <a:t>Computed properties are getter-only by default.</a:t>
            </a:r>
          </a:p>
          <a:p>
            <a:r>
              <a:rPr dirty="0"/>
              <a:t>Pass an object with get and set when you need to write to one.</a:t>
            </a:r>
          </a:p>
          <a:p>
            <a:endParaRPr dirty="0"/>
          </a:p>
          <a:p>
            <a:pPr marL="0" indent="0">
              <a:buNone/>
            </a:pPr>
            <a:r>
              <a:rPr dirty="0">
                <a:latin typeface="Courier New" panose="02070309020205020404" pitchFamily="49" charset="0"/>
                <a:cs typeface="Courier New" panose="02070309020205020404" pitchFamily="49" charset="0"/>
              </a:rPr>
              <a:t>const </a:t>
            </a:r>
            <a:r>
              <a:rPr dirty="0" err="1">
                <a:latin typeface="Courier New" panose="02070309020205020404" pitchFamily="49" charset="0"/>
                <a:cs typeface="Courier New" panose="02070309020205020404" pitchFamily="49" charset="0"/>
              </a:rPr>
              <a:t>fullName</a:t>
            </a:r>
            <a:r>
              <a:rPr dirty="0">
                <a:latin typeface="Courier New" panose="02070309020205020404" pitchFamily="49" charset="0"/>
                <a:cs typeface="Courier New" panose="02070309020205020404" pitchFamily="49" charset="0"/>
              </a:rPr>
              <a:t> = computed({</a:t>
            </a:r>
          </a:p>
          <a:p>
            <a:pPr marL="0" indent="0">
              <a:buNone/>
            </a:pPr>
            <a:r>
              <a:rPr dirty="0">
                <a:latin typeface="Courier New" panose="02070309020205020404" pitchFamily="49" charset="0"/>
                <a:cs typeface="Courier New" panose="02070309020205020404" pitchFamily="49" charset="0"/>
              </a:rPr>
              <a:t>  get: () =&gt; `${</a:t>
            </a:r>
            <a:r>
              <a:rPr dirty="0" err="1">
                <a:latin typeface="Courier New" panose="02070309020205020404" pitchFamily="49" charset="0"/>
                <a:cs typeface="Courier New" panose="02070309020205020404" pitchFamily="49" charset="0"/>
              </a:rPr>
              <a:t>firstName.value</a:t>
            </a:r>
            <a:r>
              <a:rPr dirty="0">
                <a:latin typeface="Courier New" panose="02070309020205020404" pitchFamily="49" charset="0"/>
                <a:cs typeface="Courier New" panose="02070309020205020404" pitchFamily="49" charset="0"/>
              </a:rPr>
              <a:t>} ${</a:t>
            </a:r>
            <a:r>
              <a:rPr dirty="0" err="1">
                <a:latin typeface="Courier New" panose="02070309020205020404" pitchFamily="49" charset="0"/>
                <a:cs typeface="Courier New" panose="02070309020205020404" pitchFamily="49" charset="0"/>
              </a:rPr>
              <a:t>lastName.value</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  set: (</a:t>
            </a:r>
            <a:r>
              <a:rPr dirty="0" err="1">
                <a:latin typeface="Courier New" panose="02070309020205020404" pitchFamily="49" charset="0"/>
                <a:cs typeface="Courier New" panose="02070309020205020404" pitchFamily="49" charset="0"/>
              </a:rPr>
              <a:t>newValue</a:t>
            </a:r>
            <a:r>
              <a:rPr dirty="0">
                <a:latin typeface="Courier New" panose="02070309020205020404" pitchFamily="49" charset="0"/>
                <a:cs typeface="Courier New" panose="02070309020205020404" pitchFamily="49" charset="0"/>
              </a:rPr>
              <a:t>) =&gt; {</a:t>
            </a:r>
          </a:p>
          <a:p>
            <a:pPr marL="0" indent="0">
              <a:buNone/>
            </a:pPr>
            <a:r>
              <a:rPr dirty="0">
                <a:latin typeface="Courier New" panose="02070309020205020404" pitchFamily="49" charset="0"/>
                <a:cs typeface="Courier New" panose="02070309020205020404" pitchFamily="49" charset="0"/>
              </a:rPr>
              <a:t>    const names = </a:t>
            </a:r>
            <a:r>
              <a:rPr dirty="0" err="1">
                <a:latin typeface="Courier New" panose="02070309020205020404" pitchFamily="49" charset="0"/>
                <a:cs typeface="Courier New" panose="02070309020205020404" pitchFamily="49" charset="0"/>
              </a:rPr>
              <a:t>newValue.split</a:t>
            </a:r>
            <a:r>
              <a:rPr dirty="0">
                <a:latin typeface="Courier New" panose="02070309020205020404" pitchFamily="49" charset="0"/>
                <a:cs typeface="Courier New" panose="02070309020205020404" pitchFamily="49" charset="0"/>
              </a:rPr>
              <a:t>(' ')</a:t>
            </a:r>
          </a:p>
          <a:p>
            <a:pPr marL="0" indent="0">
              <a:buNone/>
            </a:pPr>
            <a:r>
              <a:rPr dirty="0">
                <a:latin typeface="Courier New" panose="02070309020205020404" pitchFamily="49" charset="0"/>
                <a:cs typeface="Courier New" panose="02070309020205020404" pitchFamily="49" charset="0"/>
              </a:rPr>
              <a:t>    </a:t>
            </a:r>
            <a:r>
              <a:rPr dirty="0" err="1">
                <a:latin typeface="Courier New" panose="02070309020205020404" pitchFamily="49" charset="0"/>
                <a:cs typeface="Courier New" panose="02070309020205020404" pitchFamily="49" charset="0"/>
              </a:rPr>
              <a:t>firstName.value</a:t>
            </a:r>
            <a:r>
              <a:rPr dirty="0">
                <a:latin typeface="Courier New" panose="02070309020205020404" pitchFamily="49" charset="0"/>
                <a:cs typeface="Courier New" panose="02070309020205020404" pitchFamily="49" charset="0"/>
              </a:rPr>
              <a:t> = names[0]</a:t>
            </a:r>
          </a:p>
          <a:p>
            <a:pPr marL="0" indent="0">
              <a:buNone/>
            </a:pPr>
            <a:r>
              <a:rPr dirty="0">
                <a:latin typeface="Courier New" panose="02070309020205020404" pitchFamily="49" charset="0"/>
                <a:cs typeface="Courier New" panose="02070309020205020404" pitchFamily="49" charset="0"/>
              </a:rPr>
              <a:t>    </a:t>
            </a:r>
            <a:r>
              <a:rPr dirty="0" err="1">
                <a:latin typeface="Courier New" panose="02070309020205020404" pitchFamily="49" charset="0"/>
                <a:cs typeface="Courier New" panose="02070309020205020404" pitchFamily="49" charset="0"/>
              </a:rPr>
              <a:t>lastName.value</a:t>
            </a:r>
            <a:r>
              <a:rPr dirty="0">
                <a:latin typeface="Courier New" panose="02070309020205020404" pitchFamily="49" charset="0"/>
                <a:cs typeface="Courier New" panose="02070309020205020404" pitchFamily="49" charset="0"/>
              </a:rPr>
              <a:t> = </a:t>
            </a:r>
            <a:r>
              <a:rPr dirty="0" err="1">
                <a:latin typeface="Courier New" panose="02070309020205020404" pitchFamily="49" charset="0"/>
                <a:cs typeface="Courier New" panose="02070309020205020404" pitchFamily="49" charset="0"/>
              </a:rPr>
              <a:t>names.at</a:t>
            </a:r>
            <a:r>
              <a:rPr dirty="0">
                <a:latin typeface="Courier New" panose="02070309020205020404" pitchFamily="49" charset="0"/>
                <a:cs typeface="Courier New" panose="02070309020205020404" pitchFamily="49" charset="0"/>
              </a:rPr>
              <a:t>(-1)</a:t>
            </a:r>
          </a:p>
          <a:p>
            <a:pPr marL="0" indent="0">
              <a:buNone/>
            </a:pPr>
            <a:r>
              <a:rPr dirty="0">
                <a:latin typeface="Courier New" panose="02070309020205020404" pitchFamily="49" charset="0"/>
                <a:cs typeface="Courier New" panose="02070309020205020404" pitchFamily="49" charset="0"/>
              </a:rPr>
              <a:t>  }</a:t>
            </a:r>
          </a:p>
          <a:p>
            <a:pPr marL="0" indent="0">
              <a:buNone/>
            </a:pPr>
            <a:r>
              <a:rPr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245431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8496-1C66-664F-BA53-89411EDE49B4}"/>
              </a:ext>
            </a:extLst>
          </p:cNvPr>
          <p:cNvSpPr>
            <a:spLocks noGrp="1"/>
          </p:cNvSpPr>
          <p:nvPr>
            <p:ph type="title"/>
          </p:nvPr>
        </p:nvSpPr>
        <p:spPr/>
        <p:txBody>
          <a:bodyPr/>
          <a:lstStyle/>
          <a:p>
            <a:r>
              <a:rPr lang="en-US" dirty="0"/>
              <a:t>Lab 13: Computed Properties</a:t>
            </a:r>
          </a:p>
        </p:txBody>
      </p:sp>
      <p:sp>
        <p:nvSpPr>
          <p:cNvPr id="4" name="Slide Number Placeholder 3">
            <a:extLst>
              <a:ext uri="{FF2B5EF4-FFF2-40B4-BE49-F238E27FC236}">
                <a16:creationId xmlns:a16="http://schemas.microsoft.com/office/drawing/2014/main" id="{92330C7D-5879-D840-9502-CCA72E9D9C34}"/>
              </a:ext>
            </a:extLst>
          </p:cNvPr>
          <p:cNvSpPr>
            <a:spLocks noGrp="1"/>
          </p:cNvSpPr>
          <p:nvPr>
            <p:ph type="sldNum" sz="quarter" idx="12"/>
          </p:nvPr>
        </p:nvSpPr>
        <p:spPr/>
        <p:txBody>
          <a:bodyPr/>
          <a:lstStyle/>
          <a:p>
            <a:fld id="{A839F4A7-500C-EC42-AE23-BEE4487EA55E}" type="slidenum">
              <a:rPr lang="en-US" smtClean="0"/>
              <a:t>121</a:t>
            </a:fld>
            <a:endParaRPr lang="en-US" dirty="0"/>
          </a:p>
        </p:txBody>
      </p:sp>
      <p:sp>
        <p:nvSpPr>
          <p:cNvPr id="5" name="Content Placeholder 4">
            <a:extLst>
              <a:ext uri="{FF2B5EF4-FFF2-40B4-BE49-F238E27FC236}">
                <a16:creationId xmlns:a16="http://schemas.microsoft.com/office/drawing/2014/main" id="{68A3F835-CA88-7F70-7939-546CBB99AA98}"/>
              </a:ext>
            </a:extLst>
          </p:cNvPr>
          <p:cNvSpPr>
            <a:spLocks noGrp="1"/>
          </p:cNvSpPr>
          <p:nvPr>
            <p:ph idx="1"/>
          </p:nvPr>
        </p:nvSpPr>
        <p:spPr/>
        <p:txBody>
          <a:bodyPr/>
          <a:lstStyle/>
          <a:p>
            <a:endParaRPr lang="en-US"/>
          </a:p>
        </p:txBody>
      </p:sp>
      <p:pic>
        <p:nvPicPr>
          <p:cNvPr id="6" name="Content Placeholder 6">
            <a:extLst>
              <a:ext uri="{FF2B5EF4-FFF2-40B4-BE49-F238E27FC236}">
                <a16:creationId xmlns:a16="http://schemas.microsoft.com/office/drawing/2014/main" id="{50FE6924-0B72-A149-6A1C-D568907DE922}"/>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39037034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94E-A7E8-0947-A452-CEE153FCD0BE}"/>
              </a:ext>
            </a:extLst>
          </p:cNvPr>
          <p:cNvSpPr>
            <a:spLocks noGrp="1"/>
          </p:cNvSpPr>
          <p:nvPr>
            <p:ph type="title"/>
          </p:nvPr>
        </p:nvSpPr>
        <p:spPr/>
        <p:txBody>
          <a:bodyPr/>
          <a:lstStyle/>
          <a:p>
            <a:r>
              <a:t>Reactive State</a:t>
            </a:r>
          </a:p>
        </p:txBody>
      </p:sp>
      <p:sp>
        <p:nvSpPr>
          <p:cNvPr id="5" name="Text Placeholder 3">
            <a:extLst>
              <a:ext uri="{FF2B5EF4-FFF2-40B4-BE49-F238E27FC236}">
                <a16:creationId xmlns:a16="http://schemas.microsoft.com/office/drawing/2014/main" id="{48C99DA6-100D-B047-B07C-A4D3ECA8FE38}"/>
              </a:ext>
            </a:extLst>
          </p:cNvPr>
          <p:cNvSpPr>
            <a:spLocks noGrp="1"/>
          </p:cNvSpPr>
          <p:nvPr>
            <p:ph type="body" idx="1"/>
          </p:nvPr>
        </p:nvSpPr>
        <p:spPr>
          <a:xfrm>
            <a:off x="722313" y="685801"/>
            <a:ext cx="7772400" cy="3721100"/>
          </a:xfrm>
        </p:spPr>
        <p:txBody>
          <a:bodyPr>
            <a:normAutofit lnSpcReduction="10000"/>
          </a:bodyPr>
          <a:lstStyle/>
          <a:p>
            <a:pPr marL="0" indent="0">
              <a:buNone/>
            </a:pPr>
            <a:r>
              <a:rPr lang="en-US">
                <a:latin typeface="Courier New" pitchFamily="49" charset="0"/>
              </a:rPr>
              <a:t>import { reactive, ref } from 'vue'</a:t>
            </a:r>
          </a:p>
          <a:p>
            <a:endParaRPr/>
          </a:p>
          <a:p>
            <a:pPr marL="0" indent="0">
              <a:buNone/>
            </a:pPr>
            <a:r>
              <a:rPr lang="en-US">
                <a:latin typeface="Courier New" pitchFamily="49" charset="0"/>
              </a:rPr>
              <a:t>const count = ref(0)              // any value; use .value</a:t>
            </a:r>
          </a:p>
          <a:p>
            <a:pPr marL="0" indent="0">
              <a:buNone/>
            </a:pPr>
            <a:r>
              <a:rPr lang="en-US">
                <a:latin typeface="Courier New" pitchFamily="49" charset="0"/>
              </a:rPr>
              <a:t>const user = reactive({ name: '' })  // objects only; no .value</a:t>
            </a:r>
          </a:p>
          <a:p>
            <a:endParaRPr/>
          </a:p>
          <a:p>
            <a:pPr marL="0" indent="0">
              <a:buNone/>
            </a:pPr>
            <a:r>
              <a:rPr lang="en-US">
                <a:latin typeface="Courier New" pitchFamily="49" charset="0"/>
              </a:rPr>
              <a:t>// A ref is the default choice. reactive() cannot hold a</a:t>
            </a:r>
          </a:p>
          <a:p>
            <a:pPr marL="0" indent="0">
              <a:buNone/>
            </a:pPr>
            <a:r>
              <a:rPr lang="en-US">
                <a:latin typeface="Courier New" pitchFamily="49" charset="0"/>
              </a:rPr>
              <a:t>// primitive, and loses reactivity if you destructure it.</a:t>
            </a:r>
          </a:p>
        </p:txBody>
      </p:sp>
    </p:spTree>
    <p:extLst>
      <p:ext uri="{BB962C8B-B14F-4D97-AF65-F5344CB8AC3E}">
        <p14:creationId xmlns:p14="http://schemas.microsoft.com/office/powerpoint/2010/main" val="25278326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AA3CEE-E51D-3B44-975C-7AAD1C8303CC}"/>
              </a:ext>
            </a:extLst>
          </p:cNvPr>
          <p:cNvSpPr>
            <a:spLocks noGrp="1"/>
          </p:cNvSpPr>
          <p:nvPr>
            <p:ph sz="quarter" idx="12"/>
          </p:nvPr>
        </p:nvSpPr>
        <p:spPr/>
        <p:txBody>
          <a:bodyPr/>
          <a:lstStyle/>
          <a:p>
            <a:r>
              <a:t>State lives in refs, declared at the top of &lt;script setup&gt;.</a:t>
            </a:r>
          </a:p>
          <a:p>
            <a:r>
              <a:t>When a ref changes, every component that read it re-renders.</a:t>
            </a:r>
          </a:p>
          <a:p>
            <a:r>
              <a:t>Vue 3 tracks state with a Proxy, so properties added or deleted after creation are reactive too.</a:t>
            </a:r>
          </a:p>
          <a:p>
            <a:r>
              <a:t>Vue.set and vm.$set existed only to work around that limit in Vue 2, and were removed.</a:t>
            </a:r>
          </a:p>
        </p:txBody>
      </p:sp>
      <p:sp>
        <p:nvSpPr>
          <p:cNvPr id="3" name="Title 2">
            <a:extLst>
              <a:ext uri="{FF2B5EF4-FFF2-40B4-BE49-F238E27FC236}">
                <a16:creationId xmlns:a16="http://schemas.microsoft.com/office/drawing/2014/main" id="{EB1AE3FF-39D3-6C42-B186-99B6F0586D8C}"/>
              </a:ext>
            </a:extLst>
          </p:cNvPr>
          <p:cNvSpPr>
            <a:spLocks noGrp="1"/>
          </p:cNvSpPr>
          <p:nvPr>
            <p:ph type="title"/>
          </p:nvPr>
        </p:nvSpPr>
        <p:spPr/>
        <p:txBody>
          <a:bodyPr/>
          <a:lstStyle/>
          <a:p>
            <a:r>
              <a:t>ref and reactive</a:t>
            </a:r>
          </a:p>
        </p:txBody>
      </p:sp>
    </p:spTree>
    <p:extLst>
      <p:ext uri="{BB962C8B-B14F-4D97-AF65-F5344CB8AC3E}">
        <p14:creationId xmlns:p14="http://schemas.microsoft.com/office/powerpoint/2010/main" val="12698572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55C5-FB32-3B47-A8F7-DC98007D31FC}"/>
              </a:ext>
            </a:extLst>
          </p:cNvPr>
          <p:cNvSpPr>
            <a:spLocks noGrp="1"/>
          </p:cNvSpPr>
          <p:nvPr>
            <p:ph type="title"/>
          </p:nvPr>
        </p:nvSpPr>
        <p:spPr/>
        <p:txBody>
          <a:bodyPr/>
          <a:lstStyle/>
          <a:p>
            <a:r>
              <a:rPr lang="en-US" dirty="0"/>
              <a:t>Vue.js Data Binding</a:t>
            </a:r>
          </a:p>
        </p:txBody>
      </p:sp>
      <p:sp>
        <p:nvSpPr>
          <p:cNvPr id="3" name="Content Placeholder 2">
            <a:extLst>
              <a:ext uri="{FF2B5EF4-FFF2-40B4-BE49-F238E27FC236}">
                <a16:creationId xmlns:a16="http://schemas.microsoft.com/office/drawing/2014/main" id="{DC5EB640-4166-554B-861B-6D941472AFFA}"/>
              </a:ext>
            </a:extLst>
          </p:cNvPr>
          <p:cNvSpPr>
            <a:spLocks noGrp="1"/>
          </p:cNvSpPr>
          <p:nvPr>
            <p:ph idx="1"/>
          </p:nvPr>
        </p:nvSpPr>
        <p:spPr/>
        <p:txBody>
          <a:bodyPr/>
          <a:lstStyle/>
          <a:p>
            <a:r>
              <a:t>Use the v-bind directive (shorthand :) to bind an attribute to a reactive value — one-way binding.</a:t>
            </a:r>
          </a:p>
          <a:p>
            <a:r>
              <a:t>Vue keeps the attribute up to date with the value.</a:t>
            </a:r>
          </a:p>
          <a:p>
            <a:r>
              <a:t>Use the v-model directive to create two-way binding between an input and a ref.</a:t>
            </a:r>
          </a:p>
        </p:txBody>
      </p:sp>
      <p:sp>
        <p:nvSpPr>
          <p:cNvPr id="4" name="Slide Number Placeholder 3">
            <a:extLst>
              <a:ext uri="{FF2B5EF4-FFF2-40B4-BE49-F238E27FC236}">
                <a16:creationId xmlns:a16="http://schemas.microsoft.com/office/drawing/2014/main" id="{6AD0E8AA-E008-9044-842D-2A69292BB29E}"/>
              </a:ext>
            </a:extLst>
          </p:cNvPr>
          <p:cNvSpPr>
            <a:spLocks noGrp="1"/>
          </p:cNvSpPr>
          <p:nvPr>
            <p:ph type="sldNum" sz="quarter" idx="12"/>
          </p:nvPr>
        </p:nvSpPr>
        <p:spPr/>
        <p:txBody>
          <a:bodyPr/>
          <a:lstStyle/>
          <a:p>
            <a:fld id="{6FFFF67E-EC6A-B940-8DC7-BF9A5925C934}" type="slidenum">
              <a:rPr lang="en-US" smtClean="0"/>
              <a:t>124</a:t>
            </a:fld>
            <a:endParaRPr lang="en-US" dirty="0"/>
          </a:p>
        </p:txBody>
      </p:sp>
    </p:spTree>
    <p:extLst>
      <p:ext uri="{BB962C8B-B14F-4D97-AF65-F5344CB8AC3E}">
        <p14:creationId xmlns:p14="http://schemas.microsoft.com/office/powerpoint/2010/main" val="412165052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EBF496-E336-7848-B915-B07F22ADF4F8}"/>
              </a:ext>
            </a:extLst>
          </p:cNvPr>
          <p:cNvSpPr>
            <a:spLocks noGrp="1"/>
          </p:cNvSpPr>
          <p:nvPr>
            <p:ph type="body" sz="quarter" idx="10"/>
          </p:nvPr>
        </p:nvSpPr>
        <p:spPr/>
        <p:txBody>
          <a:bodyPr>
            <a:normAutofit/>
          </a:bodyPr>
          <a:lstStyle/>
          <a:p>
            <a:pPr marL="0" indent="0">
              <a:buNone/>
            </a:pPr>
            <a:r>
              <a:rPr lang="en-US" sz="2000">
                <a:latin typeface="Courier New" pitchFamily="49" charset="0"/>
              </a:rPr>
              <a:t>&lt;!-- bind an attribute </a:t>
            </a:r>
            <a:r>
              <a:rPr lang="en-US" sz="2000">
                <a:latin typeface="Courier New" pitchFamily="49" charset="0"/>
                <a:sym typeface="Wingdings" pitchFamily="2" charset="2"/>
              </a:rPr>
              <a:t>--&gt;</a:t>
            </a:r>
          </a:p>
          <a:p>
            <a:pPr marL="0" indent="0">
              <a:buNone/>
            </a:pPr>
            <a:r>
              <a:rPr lang="en-US" sz="2000">
                <a:latin typeface="Courier New" pitchFamily="49" charset="0"/>
              </a:rPr>
              <a:t>&lt;img v-bind:src="imageSrc"&gt;</a:t>
            </a:r>
          </a:p>
          <a:p>
            <a:endParaRPr lang="en-US" sz="2000" dirty="0"/>
          </a:p>
          <a:p>
            <a:pPr marL="0" indent="0">
              <a:buNone/>
            </a:pPr>
            <a:r>
              <a:rPr lang="en-US" sz="2000">
                <a:latin typeface="Courier New" pitchFamily="49" charset="0"/>
              </a:rPr>
              <a:t>&lt;!-- dynamic attribute name </a:t>
            </a:r>
            <a:r>
              <a:rPr lang="en-US" sz="2000">
                <a:latin typeface="Courier New" pitchFamily="49" charset="0"/>
                <a:sym typeface="Wingdings" pitchFamily="2" charset="2"/>
              </a:rPr>
              <a:t>--&gt;</a:t>
            </a:r>
          </a:p>
          <a:p>
            <a:pPr marL="0" indent="0">
              <a:buNone/>
            </a:pPr>
            <a:r>
              <a:rPr lang="en-US" sz="2000">
                <a:latin typeface="Courier New" pitchFamily="49" charset="0"/>
                <a:sym typeface="Wingdings" pitchFamily="2" charset="2"/>
              </a:rPr>
              <a:t>&lt;button v-bind:[key]="value"&gt;&lt;/button&gt;</a:t>
            </a:r>
          </a:p>
          <a:p>
            <a:endParaRPr lang="en-US" sz="2000" dirty="0"/>
          </a:p>
          <a:p>
            <a:pPr marL="0" indent="0">
              <a:buNone/>
            </a:pPr>
            <a:r>
              <a:rPr lang="en-US" sz="2000">
                <a:latin typeface="Courier New" pitchFamily="49" charset="0"/>
              </a:rPr>
              <a:t>&lt;!-- with inline string concatenation </a:t>
            </a:r>
            <a:r>
              <a:rPr lang="en-US" sz="2000">
                <a:latin typeface="Courier New" pitchFamily="49" charset="0"/>
                <a:sym typeface="Wingdings" pitchFamily="2" charset="2"/>
              </a:rPr>
              <a:t>--&gt;</a:t>
            </a:r>
          </a:p>
          <a:p>
            <a:pPr marL="0" indent="0">
              <a:buNone/>
            </a:pPr>
            <a:r>
              <a:rPr lang="en-US" sz="2000">
                <a:latin typeface="Courier New" pitchFamily="49" charset="0"/>
                <a:sym typeface="Wingdings" pitchFamily="2" charset="2"/>
              </a:rPr>
              <a:t>&lt;img v-bind:src="'/path/to/images/' + filename"&gt;</a:t>
            </a:r>
          </a:p>
          <a:p>
            <a:endParaRPr lang="en-US" sz="2000" dirty="0">
              <a:sym typeface="Wingdings" pitchFamily="2" charset="2"/>
            </a:endParaRPr>
          </a:p>
          <a:p>
            <a:endParaRPr lang="en-US" sz="2000" dirty="0"/>
          </a:p>
        </p:txBody>
      </p:sp>
      <p:sp>
        <p:nvSpPr>
          <p:cNvPr id="2" name="Title 1">
            <a:extLst>
              <a:ext uri="{FF2B5EF4-FFF2-40B4-BE49-F238E27FC236}">
                <a16:creationId xmlns:a16="http://schemas.microsoft.com/office/drawing/2014/main" id="{246CD358-B98F-2B4D-B17A-19AFED71B7C6}"/>
              </a:ext>
            </a:extLst>
          </p:cNvPr>
          <p:cNvSpPr>
            <a:spLocks noGrp="1"/>
          </p:cNvSpPr>
          <p:nvPr>
            <p:ph type="title"/>
          </p:nvPr>
        </p:nvSpPr>
        <p:spPr/>
        <p:txBody>
          <a:bodyPr/>
          <a:lstStyle/>
          <a:p>
            <a:r>
              <a:rPr lang="en-US" dirty="0"/>
              <a:t>v-bind directive</a:t>
            </a:r>
          </a:p>
        </p:txBody>
      </p:sp>
    </p:spTree>
    <p:extLst>
      <p:ext uri="{BB962C8B-B14F-4D97-AF65-F5344CB8AC3E}">
        <p14:creationId xmlns:p14="http://schemas.microsoft.com/office/powerpoint/2010/main" val="205050647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1B4A-1735-084D-A8E2-F4E28C88CF61}"/>
              </a:ext>
            </a:extLst>
          </p:cNvPr>
          <p:cNvSpPr>
            <a:spLocks noGrp="1"/>
          </p:cNvSpPr>
          <p:nvPr>
            <p:ph type="title"/>
          </p:nvPr>
        </p:nvSpPr>
        <p:spPr/>
        <p:txBody>
          <a:bodyPr/>
          <a:lstStyle/>
          <a:p>
            <a:r>
              <a:rPr lang="en-US" dirty="0"/>
              <a:t>Value Binding</a:t>
            </a:r>
          </a:p>
        </p:txBody>
      </p:sp>
      <p:sp>
        <p:nvSpPr>
          <p:cNvPr id="3" name="Text Placeholder 2">
            <a:extLst>
              <a:ext uri="{FF2B5EF4-FFF2-40B4-BE49-F238E27FC236}">
                <a16:creationId xmlns:a16="http://schemas.microsoft.com/office/drawing/2014/main" id="{BA61B751-91DA-2F4B-A42B-B7B5A6B475E5}"/>
              </a:ext>
            </a:extLst>
          </p:cNvPr>
          <p:cNvSpPr>
            <a:spLocks noGrp="1"/>
          </p:cNvSpPr>
          <p:nvPr>
            <p:ph type="body" idx="1"/>
          </p:nvPr>
        </p:nvSpPr>
        <p:spPr/>
        <p:txBody>
          <a:bodyPr/>
          <a:lstStyle/>
          <a:p>
            <a:r>
              <a:rPr dirty="0"/>
              <a:t>Use v-bind to bind the value of a radio, checkbox, or select option to a dynamic value.</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&lt;input type="checkbox" v-model="toggle" true-value="yes" false-value="no"&gt;</a:t>
            </a:r>
          </a:p>
          <a:p>
            <a:pPr marL="0" indent="0">
              <a:buNone/>
            </a:pPr>
            <a:r>
              <a:rPr dirty="0">
                <a:latin typeface="Courier New" panose="02070309020205020404" pitchFamily="49" charset="0"/>
                <a:cs typeface="Courier New" panose="02070309020205020404" pitchFamily="49" charset="0"/>
              </a:rPr>
              <a:t>&lt;input type="radio" v-model="pick" :value="a"&gt;</a:t>
            </a:r>
          </a:p>
        </p:txBody>
      </p:sp>
    </p:spTree>
    <p:extLst>
      <p:ext uri="{BB962C8B-B14F-4D97-AF65-F5344CB8AC3E}">
        <p14:creationId xmlns:p14="http://schemas.microsoft.com/office/powerpoint/2010/main" val="6809749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DECF-E4E8-2142-B7F5-48679ED3E617}"/>
              </a:ext>
            </a:extLst>
          </p:cNvPr>
          <p:cNvSpPr>
            <a:spLocks noGrp="1"/>
          </p:cNvSpPr>
          <p:nvPr>
            <p:ph type="title"/>
          </p:nvPr>
        </p:nvSpPr>
        <p:spPr/>
        <p:txBody>
          <a:bodyPr/>
          <a:lstStyle/>
          <a:p>
            <a:r>
              <a:rPr lang="en-US" dirty="0"/>
              <a:t>2-way Binding</a:t>
            </a:r>
          </a:p>
        </p:txBody>
      </p:sp>
      <p:sp>
        <p:nvSpPr>
          <p:cNvPr id="4" name="Text Placeholder 3">
            <a:extLst>
              <a:ext uri="{FF2B5EF4-FFF2-40B4-BE49-F238E27FC236}">
                <a16:creationId xmlns:a16="http://schemas.microsoft.com/office/drawing/2014/main" id="{75D8F384-7B2A-6E4A-A76E-644CEE71662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49113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5518-1C08-2E43-94FE-5C80DD6B289B}"/>
              </a:ext>
            </a:extLst>
          </p:cNvPr>
          <p:cNvSpPr>
            <a:spLocks noGrp="1"/>
          </p:cNvSpPr>
          <p:nvPr>
            <p:ph type="title"/>
          </p:nvPr>
        </p:nvSpPr>
        <p:spPr/>
        <p:txBody>
          <a:bodyPr/>
          <a:lstStyle/>
          <a:p>
            <a:r>
              <a:rPr lang="en-US" dirty="0"/>
              <a:t>v-model directive</a:t>
            </a:r>
          </a:p>
        </p:txBody>
      </p:sp>
      <p:sp>
        <p:nvSpPr>
          <p:cNvPr id="3" name="Content Placeholder 2">
            <a:extLst>
              <a:ext uri="{FF2B5EF4-FFF2-40B4-BE49-F238E27FC236}">
                <a16:creationId xmlns:a16="http://schemas.microsoft.com/office/drawing/2014/main" id="{F9F977BD-6135-1A40-A917-C76DE6FD43D9}"/>
              </a:ext>
            </a:extLst>
          </p:cNvPr>
          <p:cNvSpPr>
            <a:spLocks noGrp="1"/>
          </p:cNvSpPr>
          <p:nvPr>
            <p:ph idx="1"/>
          </p:nvPr>
        </p:nvSpPr>
        <p:spPr/>
        <p:txBody>
          <a:bodyPr/>
          <a:lstStyle/>
          <a:p>
            <a:r>
              <a:rPr lang="en-US" dirty="0"/>
              <a:t>Use v-model to create a two-way data binding on form input, textarea, and select elements.</a:t>
            </a:r>
          </a:p>
          <a:p>
            <a:r>
              <a:rPr lang="en-US" dirty="0"/>
              <a:t>v-model will ignore </a:t>
            </a:r>
            <a:r>
              <a:rPr lang="en-US">
                <a:latin typeface="Courier New" pitchFamily="2" charset="0"/>
              </a:rPr>
              <a:t>value</a:t>
            </a:r>
            <a:r>
              <a:rPr lang="en-US" dirty="0"/>
              <a:t>, </a:t>
            </a:r>
            <a:r>
              <a:rPr lang="en-US">
                <a:latin typeface="Courier New" pitchFamily="2" charset="0"/>
              </a:rPr>
              <a:t>checked</a:t>
            </a:r>
            <a:r>
              <a:rPr lang="en-US" dirty="0"/>
              <a:t> or </a:t>
            </a:r>
            <a:r>
              <a:rPr lang="en-US">
                <a:latin typeface="Courier New" pitchFamily="2" charset="0"/>
              </a:rPr>
              <a:t>selected</a:t>
            </a:r>
            <a:r>
              <a:rPr lang="en-US" dirty="0"/>
              <a:t> attributes</a:t>
            </a:r>
          </a:p>
          <a:p>
            <a:endParaRPr lang="en-US" dirty="0"/>
          </a:p>
        </p:txBody>
      </p:sp>
    </p:spTree>
    <p:extLst>
      <p:ext uri="{BB962C8B-B14F-4D97-AF65-F5344CB8AC3E}">
        <p14:creationId xmlns:p14="http://schemas.microsoft.com/office/powerpoint/2010/main" val="28938722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93D0-D8C1-6346-B21C-9EE190FDC3F7}"/>
              </a:ext>
            </a:extLst>
          </p:cNvPr>
          <p:cNvSpPr>
            <a:spLocks noGrp="1"/>
          </p:cNvSpPr>
          <p:nvPr>
            <p:ph type="title"/>
          </p:nvPr>
        </p:nvSpPr>
        <p:spPr/>
        <p:txBody>
          <a:bodyPr/>
          <a:lstStyle/>
          <a:p>
            <a:r>
              <a:t>Working with Arrays</a:t>
            </a:r>
          </a:p>
        </p:txBody>
      </p:sp>
      <p:sp>
        <p:nvSpPr>
          <p:cNvPr id="3" name="Text Placeholder 2">
            <a:extLst>
              <a:ext uri="{FF2B5EF4-FFF2-40B4-BE49-F238E27FC236}">
                <a16:creationId xmlns:a16="http://schemas.microsoft.com/office/drawing/2014/main" id="{EF64DB55-A3FC-5744-893E-DAD710D552A4}"/>
              </a:ext>
            </a:extLst>
          </p:cNvPr>
          <p:cNvSpPr>
            <a:spLocks noGrp="1"/>
          </p:cNvSpPr>
          <p:nvPr>
            <p:ph type="body" idx="1"/>
          </p:nvPr>
        </p:nvSpPr>
        <p:spPr/>
        <p:txBody>
          <a:bodyPr/>
          <a:lstStyle/>
          <a:p>
            <a:r>
              <a:t>All array mutations are reactive, because Vue 3 observes the array through a Proxy:</a:t>
            </a:r>
          </a:p>
          <a:p>
            <a:pPr lvl="1"/>
            <a:r>
              <a:t>push, pop, shift, unshift, splice, sort, reverse</a:t>
            </a:r>
          </a:p>
          <a:p>
            <a:pPr lvl="1"/>
            <a:r>
              <a:t>items[0] = value — assignment by index</a:t>
            </a:r>
          </a:p>
          <a:p>
            <a:pPr lvl="1"/>
            <a:r>
              <a:t>items.length = 0</a:t>
            </a:r>
          </a:p>
          <a:p>
            <a:r>
              <a:t>Vue 2 could not detect the last two, and needed Vue.set and splice as workarounds.</a:t>
            </a:r>
          </a:p>
          <a:p>
            <a:r>
              <a:t>Replacing the array wholesale is still often clearer:</a:t>
            </a:r>
          </a:p>
          <a:p>
            <a:pPr lvl="1"/>
            <a:r>
              <a:t>items.value = items.value.filter(...)</a:t>
            </a:r>
          </a:p>
        </p:txBody>
      </p:sp>
    </p:spTree>
    <p:extLst>
      <p:ext uri="{BB962C8B-B14F-4D97-AF65-F5344CB8AC3E}">
        <p14:creationId xmlns:p14="http://schemas.microsoft.com/office/powerpoint/2010/main" val="288412876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E92-86A7-0544-9362-A575AEC1A933}"/>
              </a:ext>
            </a:extLst>
          </p:cNvPr>
          <p:cNvSpPr>
            <a:spLocks noGrp="1"/>
          </p:cNvSpPr>
          <p:nvPr>
            <p:ph type="title"/>
          </p:nvPr>
        </p:nvSpPr>
        <p:spPr/>
        <p:txBody>
          <a:bodyPr/>
          <a:lstStyle/>
          <a:p>
            <a:r>
              <a:t>Reactivity Caveats</a:t>
            </a:r>
          </a:p>
        </p:txBody>
      </p:sp>
      <p:sp>
        <p:nvSpPr>
          <p:cNvPr id="3" name="Text Placeholder 2">
            <a:extLst>
              <a:ext uri="{FF2B5EF4-FFF2-40B4-BE49-F238E27FC236}">
                <a16:creationId xmlns:a16="http://schemas.microsoft.com/office/drawing/2014/main" id="{3BECE621-FDD9-E241-9765-DBE659A3BF58}"/>
              </a:ext>
            </a:extLst>
          </p:cNvPr>
          <p:cNvSpPr>
            <a:spLocks noGrp="1"/>
          </p:cNvSpPr>
          <p:nvPr>
            <p:ph type="body" idx="1"/>
          </p:nvPr>
        </p:nvSpPr>
        <p:spPr/>
        <p:txBody>
          <a:bodyPr/>
          <a:lstStyle/>
          <a:p>
            <a:r>
              <a:t>Proxy-based reactivity is deep and covers add and delete, but a few things still break tracking:</a:t>
            </a:r>
          </a:p>
          <a:p>
            <a:r>
              <a:t>Destructuring a reactive() object copies the values out</a:t>
            </a:r>
          </a:p>
          <a:p>
            <a:pPr lvl="1"/>
            <a:r>
              <a:t>Use toRefs() — or a ref — instead</a:t>
            </a:r>
          </a:p>
          <a:p>
            <a:r>
              <a:t>Replacing a reactive() object wholesale drops the old proxy</a:t>
            </a:r>
          </a:p>
          <a:p>
            <a:r>
              <a:t>Reassigning a ref without .value inside &lt;script setup&gt;</a:t>
            </a:r>
          </a:p>
          <a:p>
            <a:r>
              <a:t>Map, Set, Date and class instances are supported, but a plain object is usually the simpler choice.</a:t>
            </a:r>
          </a:p>
        </p:txBody>
      </p:sp>
    </p:spTree>
    <p:extLst>
      <p:ext uri="{BB962C8B-B14F-4D97-AF65-F5344CB8AC3E}">
        <p14:creationId xmlns:p14="http://schemas.microsoft.com/office/powerpoint/2010/main" val="159419040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94E-A7E8-0947-A452-CEE153FCD0BE}"/>
              </a:ext>
            </a:extLst>
          </p:cNvPr>
          <p:cNvSpPr>
            <a:spLocks noGrp="1"/>
          </p:cNvSpPr>
          <p:nvPr>
            <p:ph type="title"/>
          </p:nvPr>
        </p:nvSpPr>
        <p:spPr/>
        <p:txBody>
          <a:bodyPr/>
          <a:lstStyle/>
          <a:p>
            <a:r>
              <a:t>Destructuring and Reactivity</a:t>
            </a:r>
          </a:p>
        </p:txBody>
      </p:sp>
      <p:sp>
        <p:nvSpPr>
          <p:cNvPr id="3" name="Text Placeholder 2">
            <a:extLst>
              <a:ext uri="{FF2B5EF4-FFF2-40B4-BE49-F238E27FC236}">
                <a16:creationId xmlns:a16="http://schemas.microsoft.com/office/drawing/2014/main" id="{555D8A1A-AEF6-A84C-BA86-EE3EF1FC20D5}"/>
              </a:ext>
            </a:extLst>
          </p:cNvPr>
          <p:cNvSpPr>
            <a:spLocks noGrp="1"/>
          </p:cNvSpPr>
          <p:nvPr>
            <p:ph type="body" idx="1"/>
          </p:nvPr>
        </p:nvSpPr>
        <p:spPr/>
        <p:txBody>
          <a:bodyPr>
            <a:normAutofit/>
          </a:bodyPr>
          <a:lstStyle/>
          <a:p>
            <a:pPr marL="0" indent="0">
              <a:buNone/>
            </a:pPr>
            <a:r>
              <a:rPr sz="1800" dirty="0">
                <a:latin typeface="Courier New" panose="02070309020205020404" pitchFamily="49" charset="0"/>
                <a:cs typeface="Courier New" panose="02070309020205020404" pitchFamily="49" charset="0"/>
              </a:rPr>
              <a:t>const state = reactive({ count: 0 })</a:t>
            </a:r>
          </a:p>
          <a:p>
            <a:pPr marL="0" indent="0">
              <a:buNone/>
            </a:pPr>
            <a:r>
              <a:rPr sz="1800" dirty="0">
                <a:latin typeface="Courier New" panose="02070309020205020404" pitchFamily="49" charset="0"/>
                <a:cs typeface="Courier New" panose="02070309020205020404" pitchFamily="49" charset="0"/>
              </a:rPr>
              <a:t>const { count } = state       // count is now a plain 0</a:t>
            </a:r>
          </a:p>
          <a:p>
            <a:pPr marL="0" indent="0">
              <a:buNone/>
            </a:pPr>
            <a:endParaRPr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const { count } = </a:t>
            </a:r>
            <a:r>
              <a:rPr sz="1800" dirty="0" err="1">
                <a:latin typeface="Courier New" panose="02070309020205020404" pitchFamily="49" charset="0"/>
                <a:cs typeface="Courier New" panose="02070309020205020404" pitchFamily="49" charset="0"/>
              </a:rPr>
              <a:t>toRefs</a:t>
            </a:r>
            <a:r>
              <a:rPr sz="1800" dirty="0">
                <a:latin typeface="Courier New" panose="02070309020205020404" pitchFamily="49" charset="0"/>
                <a:cs typeface="Courier New" panose="02070309020205020404" pitchFamily="49" charset="0"/>
              </a:rPr>
              <a:t>(state)  // count is a ref — still live</a:t>
            </a:r>
          </a:p>
          <a:p>
            <a:pPr marL="0" indent="0">
              <a:buNone/>
            </a:pPr>
            <a:endParaRPr sz="1800" dirty="0">
              <a:latin typeface="Courier New" panose="02070309020205020404" pitchFamily="49" charset="0"/>
              <a:cs typeface="Courier New" panose="02070309020205020404" pitchFamily="49" charset="0"/>
            </a:endParaRPr>
          </a:p>
          <a:p>
            <a:pPr marL="0" indent="0">
              <a:buNone/>
            </a:pPr>
            <a:r>
              <a:rPr sz="1800" dirty="0">
                <a:latin typeface="Courier New" panose="02070309020205020404" pitchFamily="49" charset="0"/>
                <a:cs typeface="Courier New" panose="02070309020205020404" pitchFamily="49" charset="0"/>
              </a:rPr>
              <a:t>// The same rule applies to </a:t>
            </a:r>
            <a:r>
              <a:rPr sz="1800" dirty="0" err="1">
                <a:latin typeface="Courier New" panose="02070309020205020404" pitchFamily="49" charset="0"/>
                <a:cs typeface="Courier New" panose="02070309020205020404" pitchFamily="49" charset="0"/>
              </a:rPr>
              <a:t>Pinia</a:t>
            </a:r>
            <a:r>
              <a:rPr sz="1800" dirty="0">
                <a:latin typeface="Courier New" panose="02070309020205020404" pitchFamily="49" charset="0"/>
                <a:cs typeface="Courier New" panose="02070309020205020404" pitchFamily="49" charset="0"/>
              </a:rPr>
              <a:t> stores, which is why you</a:t>
            </a:r>
          </a:p>
          <a:p>
            <a:pPr marL="0" indent="0">
              <a:buNone/>
            </a:pPr>
            <a:r>
              <a:rPr sz="1800" dirty="0">
                <a:latin typeface="Courier New" panose="02070309020205020404" pitchFamily="49" charset="0"/>
                <a:cs typeface="Courier New" panose="02070309020205020404" pitchFamily="49" charset="0"/>
              </a:rPr>
              <a:t>// </a:t>
            </a:r>
            <a:r>
              <a:rPr sz="1800" dirty="0" err="1">
                <a:latin typeface="Courier New" panose="02070309020205020404" pitchFamily="49" charset="0"/>
                <a:cs typeface="Courier New" panose="02070309020205020404" pitchFamily="49" charset="0"/>
              </a:rPr>
              <a:t>destructure</a:t>
            </a:r>
            <a:r>
              <a:rPr sz="1800" dirty="0">
                <a:latin typeface="Courier New" panose="02070309020205020404" pitchFamily="49" charset="0"/>
                <a:cs typeface="Courier New" panose="02070309020205020404" pitchFamily="49" charset="0"/>
              </a:rPr>
              <a:t> them through </a:t>
            </a:r>
            <a:r>
              <a:rPr sz="1800" dirty="0" err="1">
                <a:latin typeface="Courier New" panose="02070309020205020404" pitchFamily="49" charset="0"/>
                <a:cs typeface="Courier New" panose="02070309020205020404" pitchFamily="49" charset="0"/>
              </a:rPr>
              <a:t>storeToRefs</a:t>
            </a:r>
            <a:r>
              <a:rPr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0969156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F03699-A40A-AE40-9D2D-4FD2F808784B}"/>
              </a:ext>
            </a:extLst>
          </p:cNvPr>
          <p:cNvSpPr>
            <a:spLocks noGrp="1"/>
          </p:cNvSpPr>
          <p:nvPr>
            <p:ph type="body" sz="quarter" idx="10"/>
          </p:nvPr>
        </p:nvSpPr>
        <p:spPr/>
        <p:txBody>
          <a:bodyPr>
            <a:normAutofit/>
          </a:bodyPr>
          <a:lstStyle/>
          <a:p>
            <a:pPr marL="0" indent="0">
              <a:buNone/>
            </a:pPr>
            <a:r>
              <a:rPr lang="en-US" sz="2400">
                <a:solidFill>
                  <a:schemeClr val="tx1"/>
                </a:solidFill>
                <a:latin typeface="Courier New" pitchFamily="49" charset="0"/>
              </a:rPr>
              <a:t>&lt;!-- full syntax --&gt; </a:t>
            </a:r>
          </a:p>
          <a:p>
            <a:pPr marL="0" indent="0">
              <a:buNone/>
            </a:pPr>
            <a:r>
              <a:rPr lang="en-US" sz="2400">
                <a:solidFill>
                  <a:schemeClr val="tx1"/>
                </a:solidFill>
                <a:latin typeface="Courier New" pitchFamily="49" charset="0"/>
              </a:rPr>
              <a:t>&lt;a v-bind:href="url"&gt;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--&gt; </a:t>
            </a:r>
          </a:p>
          <a:p>
            <a:pPr marL="0" indent="0">
              <a:buNone/>
            </a:pPr>
            <a:r>
              <a:rPr lang="en-US" sz="2400">
                <a:solidFill>
                  <a:schemeClr val="tx1"/>
                </a:solidFill>
                <a:latin typeface="Courier New" pitchFamily="49" charset="0"/>
              </a:rPr>
              <a:t>&lt;a :href="url"&gt;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with dynamic argument (2.6.0+) --&gt; </a:t>
            </a:r>
          </a:p>
          <a:p>
            <a:pPr marL="0" indent="0">
              <a:buNone/>
            </a:pPr>
            <a:r>
              <a:rPr lang="en-US" sz="2400">
                <a:solidFill>
                  <a:schemeClr val="tx1"/>
                </a:solidFill>
                <a:latin typeface="Courier New" pitchFamily="49" charset="0"/>
              </a:rPr>
              <a:t>&lt;a :[key]="url"&gt; ... &lt;/a&gt;</a:t>
            </a:r>
          </a:p>
        </p:txBody>
      </p:sp>
      <p:sp>
        <p:nvSpPr>
          <p:cNvPr id="2" name="Title 1">
            <a:extLst>
              <a:ext uri="{FF2B5EF4-FFF2-40B4-BE49-F238E27FC236}">
                <a16:creationId xmlns:a16="http://schemas.microsoft.com/office/drawing/2014/main" id="{35DCBDCE-7235-5F4E-981F-6B26B24FD20C}"/>
              </a:ext>
            </a:extLst>
          </p:cNvPr>
          <p:cNvSpPr>
            <a:spLocks noGrp="1"/>
          </p:cNvSpPr>
          <p:nvPr>
            <p:ph type="title"/>
          </p:nvPr>
        </p:nvSpPr>
        <p:spPr/>
        <p:txBody>
          <a:bodyPr/>
          <a:lstStyle/>
          <a:p>
            <a:r>
              <a:rPr lang="en-US" dirty="0"/>
              <a:t>v-bind shorthand</a:t>
            </a:r>
          </a:p>
        </p:txBody>
      </p:sp>
    </p:spTree>
    <p:extLst>
      <p:ext uri="{BB962C8B-B14F-4D97-AF65-F5344CB8AC3E}">
        <p14:creationId xmlns:p14="http://schemas.microsoft.com/office/powerpoint/2010/main" val="349311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0FDC77-66C0-6A41-A1E8-DEE20F4AF1B7}"/>
              </a:ext>
            </a:extLst>
          </p:cNvPr>
          <p:cNvSpPr>
            <a:spLocks noGrp="1"/>
          </p:cNvSpPr>
          <p:nvPr>
            <p:ph type="title"/>
          </p:nvPr>
        </p:nvSpPr>
        <p:spPr/>
        <p:txBody>
          <a:bodyPr/>
          <a:lstStyle/>
          <a:p>
            <a:r>
              <a:rPr lang="en-US" dirty="0"/>
              <a:t>Lab 14: Methods and State</a:t>
            </a:r>
          </a:p>
        </p:txBody>
      </p:sp>
      <p:sp>
        <p:nvSpPr>
          <p:cNvPr id="2" name="Slide Number Placeholder 1">
            <a:extLst>
              <a:ext uri="{FF2B5EF4-FFF2-40B4-BE49-F238E27FC236}">
                <a16:creationId xmlns:a16="http://schemas.microsoft.com/office/drawing/2014/main" id="{12AD2D4F-0A82-1047-890E-255427A1F5E7}"/>
              </a:ext>
            </a:extLst>
          </p:cNvPr>
          <p:cNvSpPr>
            <a:spLocks noGrp="1"/>
          </p:cNvSpPr>
          <p:nvPr>
            <p:ph type="sldNum" sz="quarter" idx="12"/>
          </p:nvPr>
        </p:nvSpPr>
        <p:spPr/>
        <p:txBody>
          <a:bodyPr/>
          <a:lstStyle/>
          <a:p>
            <a:fld id="{7F5CE407-6216-4202-80E4-A30DC2F709B2}" type="slidenum">
              <a:rPr lang="en-US" smtClean="0"/>
              <a:pPr/>
              <a:t>133</a:t>
            </a:fld>
            <a:endParaRPr lang="en-US" dirty="0"/>
          </a:p>
        </p:txBody>
      </p:sp>
      <p:sp>
        <p:nvSpPr>
          <p:cNvPr id="6" name="Content Placeholder 5">
            <a:extLst>
              <a:ext uri="{FF2B5EF4-FFF2-40B4-BE49-F238E27FC236}">
                <a16:creationId xmlns:a16="http://schemas.microsoft.com/office/drawing/2014/main" id="{2EC5DD3A-3A18-A49A-A472-35CCA0CC422B}"/>
              </a:ext>
            </a:extLst>
          </p:cNvPr>
          <p:cNvSpPr>
            <a:spLocks noGrp="1"/>
          </p:cNvSpPr>
          <p:nvPr>
            <p:ph idx="1"/>
          </p:nvPr>
        </p:nvSpPr>
        <p:spPr/>
        <p:txBody>
          <a:bodyPr/>
          <a:lstStyle/>
          <a:p>
            <a:endParaRPr lang="en-US"/>
          </a:p>
        </p:txBody>
      </p:sp>
      <p:pic>
        <p:nvPicPr>
          <p:cNvPr id="7" name="Content Placeholder 3">
            <a:extLst>
              <a:ext uri="{FF2B5EF4-FFF2-40B4-BE49-F238E27FC236}">
                <a16:creationId xmlns:a16="http://schemas.microsoft.com/office/drawing/2014/main" id="{9759B8E1-C84A-F81A-52C5-9E36ABB418C0}"/>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328700972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09C1-476C-214D-AEDA-3802C78DE6D5}"/>
              </a:ext>
            </a:extLst>
          </p:cNvPr>
          <p:cNvSpPr>
            <a:spLocks noGrp="1"/>
          </p:cNvSpPr>
          <p:nvPr>
            <p:ph type="title"/>
          </p:nvPr>
        </p:nvSpPr>
        <p:spPr/>
        <p:txBody>
          <a:bodyPr/>
          <a:lstStyle/>
          <a:p>
            <a:r>
              <a:rPr lang="en-US" dirty="0"/>
              <a:t>Event Handling</a:t>
            </a:r>
          </a:p>
        </p:txBody>
      </p:sp>
      <p:sp>
        <p:nvSpPr>
          <p:cNvPr id="3" name="Text Placeholder 2">
            <a:extLst>
              <a:ext uri="{FF2B5EF4-FFF2-40B4-BE49-F238E27FC236}">
                <a16:creationId xmlns:a16="http://schemas.microsoft.com/office/drawing/2014/main" id="{39323D1D-A801-3542-B59E-B802B7ED58BE}"/>
              </a:ext>
            </a:extLst>
          </p:cNvPr>
          <p:cNvSpPr>
            <a:spLocks noGrp="1"/>
          </p:cNvSpPr>
          <p:nvPr>
            <p:ph type="body" idx="1"/>
          </p:nvPr>
        </p:nvSpPr>
        <p:spPr/>
        <p:txBody>
          <a:bodyPr>
            <a:normAutofit/>
          </a:bodyPr>
          <a:lstStyle/>
          <a:p>
            <a:r>
              <a:rPr dirty="0"/>
              <a:t>The v-on directive (shorthand @) creates an event listener.</a:t>
            </a:r>
          </a:p>
          <a:p>
            <a:pPr marL="0" indent="0">
              <a:buNone/>
            </a:pPr>
            <a:r>
              <a:rPr dirty="0">
                <a:latin typeface="Courier New" panose="02070309020205020404" pitchFamily="49" charset="0"/>
                <a:cs typeface="Courier New" panose="02070309020205020404" pitchFamily="49" charset="0"/>
              </a:rPr>
              <a:t>&lt;button @click="counter += 1"&gt;Add 1&lt;/button&gt;</a:t>
            </a:r>
          </a:p>
          <a:p>
            <a:pPr marL="0" indent="0">
              <a:buNone/>
            </a:pPr>
            <a:r>
              <a:rPr dirty="0">
                <a:latin typeface="Courier New" panose="02070309020205020404" pitchFamily="49" charset="0"/>
                <a:cs typeface="Courier New" panose="02070309020205020404" pitchFamily="49" charset="0"/>
              </a:rPr>
              <a:t>&lt;p&gt;The button has been clicked {{ counter }} times.&lt;/p&gt;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import { ref } from '</a:t>
            </a:r>
            <a:r>
              <a:rPr dirty="0" err="1">
                <a:latin typeface="Courier New" panose="02070309020205020404" pitchFamily="49" charset="0"/>
                <a:cs typeface="Courier New" panose="02070309020205020404" pitchFamily="49" charset="0"/>
              </a:rPr>
              <a:t>vue</a:t>
            </a: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const counter = ref(0)</a:t>
            </a:r>
          </a:p>
        </p:txBody>
      </p:sp>
    </p:spTree>
    <p:extLst>
      <p:ext uri="{BB962C8B-B14F-4D97-AF65-F5344CB8AC3E}">
        <p14:creationId xmlns:p14="http://schemas.microsoft.com/office/powerpoint/2010/main" val="19573675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B328-B254-7A44-8A5D-A9E1DF730867}"/>
              </a:ext>
            </a:extLst>
          </p:cNvPr>
          <p:cNvSpPr>
            <a:spLocks noGrp="1"/>
          </p:cNvSpPr>
          <p:nvPr>
            <p:ph type="title"/>
          </p:nvPr>
        </p:nvSpPr>
        <p:spPr/>
        <p:txBody>
          <a:bodyPr/>
          <a:lstStyle/>
          <a:p>
            <a:r>
              <a:rPr lang="en-US" dirty="0"/>
              <a:t>Inline Event Handling</a:t>
            </a:r>
          </a:p>
        </p:txBody>
      </p:sp>
      <p:sp>
        <p:nvSpPr>
          <p:cNvPr id="3" name="Text Placeholder 2">
            <a:extLst>
              <a:ext uri="{FF2B5EF4-FFF2-40B4-BE49-F238E27FC236}">
                <a16:creationId xmlns:a16="http://schemas.microsoft.com/office/drawing/2014/main" id="{9341B7E3-BF6C-CD4C-BD3E-82532494443C}"/>
              </a:ext>
            </a:extLst>
          </p:cNvPr>
          <p:cNvSpPr>
            <a:spLocks noGrp="1"/>
          </p:cNvSpPr>
          <p:nvPr>
            <p:ph type="body" idx="1"/>
          </p:nvPr>
        </p:nvSpPr>
        <p:spPr/>
        <p:txBody>
          <a:bodyPr/>
          <a:lstStyle/>
          <a:p>
            <a:r>
              <a:rPr lang="en-US" dirty="0"/>
              <a:t>Use small bits of JavaScript directly in the value of the v-on directive.</a:t>
            </a:r>
          </a:p>
          <a:p>
            <a:endParaRPr lang="en-US" dirty="0"/>
          </a:p>
        </p:txBody>
      </p:sp>
    </p:spTree>
    <p:extLst>
      <p:ext uri="{BB962C8B-B14F-4D97-AF65-F5344CB8AC3E}">
        <p14:creationId xmlns:p14="http://schemas.microsoft.com/office/powerpoint/2010/main" val="17178047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8435-A15B-AD41-8BFD-80A860F947C3}"/>
              </a:ext>
            </a:extLst>
          </p:cNvPr>
          <p:cNvSpPr>
            <a:spLocks noGrp="1"/>
          </p:cNvSpPr>
          <p:nvPr>
            <p:ph type="title"/>
          </p:nvPr>
        </p:nvSpPr>
        <p:spPr/>
        <p:txBody>
          <a:bodyPr/>
          <a:lstStyle/>
          <a:p>
            <a:r>
              <a:t>Event Handling with Methods</a:t>
            </a:r>
          </a:p>
        </p:txBody>
      </p:sp>
      <p:sp>
        <p:nvSpPr>
          <p:cNvPr id="3" name="Text Placeholder 2">
            <a:extLst>
              <a:ext uri="{FF2B5EF4-FFF2-40B4-BE49-F238E27FC236}">
                <a16:creationId xmlns:a16="http://schemas.microsoft.com/office/drawing/2014/main" id="{58AF7BF7-028E-3144-90D5-3DA6DB87D2A6}"/>
              </a:ext>
            </a:extLst>
          </p:cNvPr>
          <p:cNvSpPr>
            <a:spLocks noGrp="1"/>
          </p:cNvSpPr>
          <p:nvPr>
            <p:ph type="body" idx="1"/>
          </p:nvPr>
        </p:nvSpPr>
        <p:spPr/>
        <p:txBody>
          <a:bodyPr>
            <a:normAutofit/>
          </a:bodyPr>
          <a:lstStyle/>
          <a:p>
            <a:r>
              <a:rPr dirty="0"/>
              <a:t>Declare a function in &lt;script setup&gt; and call it from v-on.</a:t>
            </a:r>
          </a:p>
          <a:p>
            <a:endParaRPr dirty="0"/>
          </a:p>
          <a:p>
            <a:pPr marL="0" indent="0">
              <a:buNone/>
            </a:pPr>
            <a:r>
              <a:rPr dirty="0">
                <a:latin typeface="Courier New" panose="02070309020205020404" pitchFamily="49" charset="0"/>
                <a:cs typeface="Courier New" panose="02070309020205020404" pitchFamily="49" charset="0"/>
              </a:rPr>
              <a:t>const name = ref('</a:t>
            </a:r>
            <a:r>
              <a:rPr dirty="0" err="1">
                <a:latin typeface="Courier New" panose="02070309020205020404" pitchFamily="49" charset="0"/>
                <a:cs typeface="Courier New" panose="02070309020205020404" pitchFamily="49" charset="0"/>
              </a:rPr>
              <a:t>Vue.js</a:t>
            </a: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function greet(event) {</a:t>
            </a:r>
          </a:p>
          <a:p>
            <a:pPr marL="0" indent="0">
              <a:buNone/>
            </a:pPr>
            <a:r>
              <a:rPr dirty="0">
                <a:latin typeface="Courier New" panose="02070309020205020404" pitchFamily="49" charset="0"/>
                <a:cs typeface="Courier New" panose="02070309020205020404" pitchFamily="49" charset="0"/>
              </a:rPr>
              <a:t>  alert(`Hello ${</a:t>
            </a:r>
            <a:r>
              <a:rPr dirty="0" err="1">
                <a:latin typeface="Courier New" panose="02070309020205020404" pitchFamily="49" charset="0"/>
                <a:cs typeface="Courier New" panose="02070309020205020404" pitchFamily="49" charset="0"/>
              </a:rPr>
              <a:t>name.value</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  if (event) alert(</a:t>
            </a:r>
            <a:r>
              <a:rPr dirty="0" err="1">
                <a:latin typeface="Courier New" panose="02070309020205020404" pitchFamily="49" charset="0"/>
                <a:cs typeface="Courier New" panose="02070309020205020404" pitchFamily="49" charset="0"/>
              </a:rPr>
              <a:t>event.target.tagName</a:t>
            </a:r>
            <a:r>
              <a:rPr dirty="0">
                <a:latin typeface="Courier New" panose="02070309020205020404" pitchFamily="49" charset="0"/>
                <a:cs typeface="Courier New" panose="02070309020205020404" pitchFamily="49" charset="0"/>
              </a:rPr>
              <a:t>)</a:t>
            </a:r>
          </a:p>
          <a:p>
            <a:pPr marL="0" indent="0">
              <a:buNone/>
            </a:pPr>
            <a:r>
              <a:rPr dirty="0">
                <a:latin typeface="Courier New" panose="02070309020205020404" pitchFamily="49" charset="0"/>
                <a:cs typeface="Courier New" panose="02070309020205020404" pitchFamily="49" charset="0"/>
              </a:rPr>
              <a:t>}</a:t>
            </a:r>
          </a:p>
          <a:p>
            <a:pPr marL="0" indent="0">
              <a:buNone/>
            </a:pPr>
            <a:endParaRPr dirty="0">
              <a:latin typeface="Courier New" panose="02070309020205020404" pitchFamily="49" charset="0"/>
              <a:cs typeface="Courier New" panose="02070309020205020404" pitchFamily="49" charset="0"/>
            </a:endParaRPr>
          </a:p>
          <a:p>
            <a:pPr marL="0" indent="0">
              <a:buNone/>
            </a:pPr>
            <a:r>
              <a:rPr dirty="0">
                <a:latin typeface="Courier New" panose="02070309020205020404" pitchFamily="49" charset="0"/>
                <a:cs typeface="Courier New" panose="02070309020205020404" pitchFamily="49" charset="0"/>
              </a:rPr>
              <a:t>&lt;button @click="greet"&gt;Greet&lt;/button&gt;</a:t>
            </a:r>
          </a:p>
        </p:txBody>
      </p:sp>
    </p:spTree>
    <p:extLst>
      <p:ext uri="{BB962C8B-B14F-4D97-AF65-F5344CB8AC3E}">
        <p14:creationId xmlns:p14="http://schemas.microsoft.com/office/powerpoint/2010/main" val="65484785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5030-6672-DA4B-99F2-0500E96EC308}"/>
              </a:ext>
            </a:extLst>
          </p:cNvPr>
          <p:cNvSpPr>
            <a:spLocks noGrp="1"/>
          </p:cNvSpPr>
          <p:nvPr>
            <p:ph type="title"/>
          </p:nvPr>
        </p:nvSpPr>
        <p:spPr/>
        <p:txBody>
          <a:bodyPr/>
          <a:lstStyle/>
          <a:p>
            <a:r>
              <a:rPr lang="en-US" dirty="0"/>
              <a:t>Event Modifiers </a:t>
            </a:r>
          </a:p>
        </p:txBody>
      </p:sp>
      <p:sp>
        <p:nvSpPr>
          <p:cNvPr id="3" name="Text Placeholder 2">
            <a:extLst>
              <a:ext uri="{FF2B5EF4-FFF2-40B4-BE49-F238E27FC236}">
                <a16:creationId xmlns:a16="http://schemas.microsoft.com/office/drawing/2014/main" id="{CF75A054-5390-6546-BB26-3CF21E6B512D}"/>
              </a:ext>
            </a:extLst>
          </p:cNvPr>
          <p:cNvSpPr>
            <a:spLocks noGrp="1"/>
          </p:cNvSpPr>
          <p:nvPr>
            <p:ph type="body" idx="1"/>
          </p:nvPr>
        </p:nvSpPr>
        <p:spPr/>
        <p:txBody>
          <a:bodyPr/>
          <a:lstStyle/>
          <a:p>
            <a:r>
              <a:rPr lang="en-US" dirty="0"/>
              <a:t>v-on has several modifiers that can be called to handle the details of DOM events.</a:t>
            </a:r>
          </a:p>
          <a:p>
            <a:pPr marL="0" indent="0">
              <a:buNone/>
            </a:pPr>
            <a:r>
              <a:rPr lang="en-US">
                <a:latin typeface="Courier New" pitchFamily="2" charset="0"/>
              </a:rPr>
              <a:t>.stop</a:t>
            </a:r>
          </a:p>
          <a:p>
            <a:pPr marL="0" indent="0">
              <a:buNone/>
            </a:pPr>
            <a:r>
              <a:rPr lang="en-US">
                <a:latin typeface="Courier New" pitchFamily="2" charset="0"/>
              </a:rPr>
              <a:t>.prevent</a:t>
            </a:r>
          </a:p>
          <a:p>
            <a:pPr marL="0" indent="0">
              <a:buNone/>
            </a:pPr>
            <a:r>
              <a:rPr lang="en-US">
                <a:latin typeface="Courier New" pitchFamily="2" charset="0"/>
              </a:rPr>
              <a:t>.capture</a:t>
            </a:r>
          </a:p>
          <a:p>
            <a:pPr marL="0" indent="0">
              <a:buNone/>
            </a:pPr>
            <a:r>
              <a:rPr lang="en-US">
                <a:latin typeface="Courier New" pitchFamily="2" charset="0"/>
              </a:rPr>
              <a:t>.self</a:t>
            </a:r>
          </a:p>
          <a:p>
            <a:pPr marL="0" indent="0">
              <a:buNone/>
            </a:pPr>
            <a:r>
              <a:rPr lang="en-US">
                <a:latin typeface="Courier New" pitchFamily="2" charset="0"/>
              </a:rPr>
              <a:t>.once</a:t>
            </a:r>
          </a:p>
          <a:p>
            <a:pPr marL="0" indent="0">
              <a:buNone/>
            </a:pPr>
            <a:r>
              <a:rPr lang="en-US">
                <a:latin typeface="Courier New" pitchFamily="2" charset="0"/>
              </a:rPr>
              <a:t>.passive</a:t>
            </a:r>
          </a:p>
          <a:p>
            <a:endParaRPr lang="en-US" dirty="0"/>
          </a:p>
        </p:txBody>
      </p:sp>
    </p:spTree>
    <p:extLst>
      <p:ext uri="{BB962C8B-B14F-4D97-AF65-F5344CB8AC3E}">
        <p14:creationId xmlns:p14="http://schemas.microsoft.com/office/powerpoint/2010/main" val="93899683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0F03699-A40A-AE40-9D2D-4FD2F808784B}"/>
              </a:ext>
            </a:extLst>
          </p:cNvPr>
          <p:cNvSpPr>
            <a:spLocks noGrp="1"/>
          </p:cNvSpPr>
          <p:nvPr>
            <p:ph type="body" sz="quarter" idx="10"/>
          </p:nvPr>
        </p:nvSpPr>
        <p:spPr/>
        <p:txBody>
          <a:bodyPr>
            <a:normAutofit/>
          </a:bodyPr>
          <a:lstStyle/>
          <a:p>
            <a:pPr marL="0" indent="0">
              <a:buNone/>
            </a:pPr>
            <a:r>
              <a:rPr lang="en-US" sz="2400">
                <a:solidFill>
                  <a:schemeClr val="tx1"/>
                </a:solidFill>
                <a:latin typeface="Courier New" pitchFamily="49" charset="0"/>
              </a:rPr>
              <a:t>&lt;!-- full syntax --&gt; </a:t>
            </a:r>
          </a:p>
          <a:p>
            <a:pPr marL="0" indent="0">
              <a:buNone/>
            </a:pPr>
            <a:r>
              <a:rPr lang="en-US" sz="2400">
                <a:solidFill>
                  <a:schemeClr val="tx1"/>
                </a:solidFill>
                <a:latin typeface="Courier New" pitchFamily="49" charset="0"/>
              </a:rPr>
              <a:t>&lt;a v-on:click="doSomething"&gt;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--&gt; </a:t>
            </a:r>
          </a:p>
          <a:p>
            <a:pPr marL="0" indent="0">
              <a:buNone/>
            </a:pPr>
            <a:r>
              <a:rPr lang="en-US" sz="2400">
                <a:solidFill>
                  <a:schemeClr val="tx1"/>
                </a:solidFill>
                <a:latin typeface="Courier New" pitchFamily="49" charset="0"/>
              </a:rPr>
              <a:t>&lt;a @click="doSomething"&gt; ... &lt;/a&gt; </a:t>
            </a:r>
          </a:p>
          <a:p>
            <a:endParaRPr lang="en-US" sz="2400" dirty="0">
              <a:solidFill>
                <a:schemeClr val="tx1"/>
              </a:solidFill>
            </a:endParaRPr>
          </a:p>
          <a:p>
            <a:pPr marL="0" indent="0">
              <a:buNone/>
            </a:pPr>
            <a:r>
              <a:rPr lang="en-US" sz="2400">
                <a:solidFill>
                  <a:schemeClr val="tx1"/>
                </a:solidFill>
                <a:latin typeface="Courier New" pitchFamily="49" charset="0"/>
              </a:rPr>
              <a:t>&lt;!-- shorthand with dynamic argument (2.6.0+) --&gt; </a:t>
            </a:r>
          </a:p>
          <a:p>
            <a:pPr marL="0" indent="0">
              <a:buNone/>
            </a:pPr>
            <a:r>
              <a:rPr lang="en-US" sz="2400">
                <a:solidFill>
                  <a:schemeClr val="tx1"/>
                </a:solidFill>
                <a:latin typeface="Courier New" pitchFamily="49" charset="0"/>
              </a:rPr>
              <a:t>&lt;a @[event]="doSomething"&gt; ... &lt;/a&gt;</a:t>
            </a:r>
            <a:endParaRPr lang="en-US" sz="3200">
              <a:solidFill>
                <a:schemeClr val="tx1"/>
              </a:solidFill>
            </a:endParaRPr>
          </a:p>
        </p:txBody>
      </p:sp>
      <p:sp>
        <p:nvSpPr>
          <p:cNvPr id="2" name="Title 1">
            <a:extLst>
              <a:ext uri="{FF2B5EF4-FFF2-40B4-BE49-F238E27FC236}">
                <a16:creationId xmlns:a16="http://schemas.microsoft.com/office/drawing/2014/main" id="{35DCBDCE-7235-5F4E-981F-6B26B24FD20C}"/>
              </a:ext>
            </a:extLst>
          </p:cNvPr>
          <p:cNvSpPr>
            <a:spLocks noGrp="1"/>
          </p:cNvSpPr>
          <p:nvPr>
            <p:ph type="title"/>
          </p:nvPr>
        </p:nvSpPr>
        <p:spPr/>
        <p:txBody>
          <a:bodyPr/>
          <a:lstStyle/>
          <a:p>
            <a:r>
              <a:rPr lang="en-US" dirty="0"/>
              <a:t>v-on shorthand</a:t>
            </a:r>
          </a:p>
        </p:txBody>
      </p:sp>
    </p:spTree>
    <p:extLst>
      <p:ext uri="{BB962C8B-B14F-4D97-AF65-F5344CB8AC3E}">
        <p14:creationId xmlns:p14="http://schemas.microsoft.com/office/powerpoint/2010/main" val="39912663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1A911-0245-3D41-BCBA-E04619FA5AFB}"/>
              </a:ext>
            </a:extLst>
          </p:cNvPr>
          <p:cNvSpPr>
            <a:spLocks noGrp="1"/>
          </p:cNvSpPr>
          <p:nvPr>
            <p:ph type="title"/>
          </p:nvPr>
        </p:nvSpPr>
        <p:spPr/>
        <p:txBody>
          <a:bodyPr/>
          <a:lstStyle/>
          <a:p>
            <a:r>
              <a:rPr lang="en-US" dirty="0"/>
              <a:t>Listening to Child Component Events</a:t>
            </a:r>
          </a:p>
        </p:txBody>
      </p:sp>
      <p:sp>
        <p:nvSpPr>
          <p:cNvPr id="3" name="Text Placeholder 2">
            <a:extLst>
              <a:ext uri="{FF2B5EF4-FFF2-40B4-BE49-F238E27FC236}">
                <a16:creationId xmlns:a16="http://schemas.microsoft.com/office/drawing/2014/main" id="{373FD2A5-0816-F949-A007-48D6DA4C6147}"/>
              </a:ext>
            </a:extLst>
          </p:cNvPr>
          <p:cNvSpPr>
            <a:spLocks noGrp="1"/>
          </p:cNvSpPr>
          <p:nvPr>
            <p:ph type="body" idx="1"/>
          </p:nvPr>
        </p:nvSpPr>
        <p:spPr/>
        <p:txBody>
          <a:bodyPr>
            <a:normAutofit fontScale="92500" lnSpcReduction="20000"/>
          </a:bodyPr>
          <a:lstStyle/>
          <a:p>
            <a:r>
              <a:t>Child components declare and emit events</a:t>
            </a:r>
          </a:p>
          <a:p>
            <a:pPr marL="0" indent="0">
              <a:buNone/>
            </a:pPr>
            <a:r>
              <a:rPr lang="en-US">
                <a:latin typeface="Courier New" pitchFamily="49" charset="0"/>
              </a:rPr>
              <a:t>const emit = defineEmits(['enlarge-text'])</a:t>
            </a:r>
          </a:p>
          <a:p>
            <a:pPr marL="0" indent="0">
              <a:buNone/>
            </a:pPr>
            <a:r>
              <a:rPr lang="en-US">
                <a:latin typeface="Courier New" pitchFamily="49" charset="0"/>
              </a:rPr>
              <a:t>&lt;button @click="emit('enlarge-text')"&gt;Enlarge text&lt;/button&gt;</a:t>
            </a:r>
          </a:p>
          <a:p>
            <a:endParaRPr/>
          </a:p>
          <a:p>
            <a:r>
              <a:t>Parent components listen for them</a:t>
            </a:r>
          </a:p>
          <a:p>
            <a:pPr marL="0" indent="0">
              <a:buNone/>
            </a:pPr>
            <a:r>
              <a:rPr lang="en-US">
                <a:latin typeface="Courier New" pitchFamily="49" charset="0"/>
              </a:rPr>
              <a:t>&lt;BlogPost @enlarge-text="postFontSize += 0.1" /&gt;</a:t>
            </a:r>
          </a:p>
          <a:p>
            <a:endParaRPr/>
          </a:p>
          <a:p>
            <a:pPr marL="0" indent="0">
              <a:buNone/>
            </a:pPr>
            <a:r>
              <a:rPr lang="en-US">
                <a:latin typeface="Courier New" pitchFamily="49" charset="0"/>
              </a:rPr>
              <a:t>// An undeclared listener falls through to the root element as a</a:t>
            </a:r>
          </a:p>
          <a:p>
            <a:pPr marL="0" indent="0">
              <a:buNone/>
            </a:pPr>
            <a:r>
              <a:rPr lang="en-US">
                <a:latin typeface="Courier New" pitchFamily="49" charset="0"/>
              </a:rPr>
              <a:t>// native attribute, so always declare your events.</a:t>
            </a:r>
          </a:p>
        </p:txBody>
      </p:sp>
    </p:spTree>
    <p:extLst>
      <p:ext uri="{BB962C8B-B14F-4D97-AF65-F5344CB8AC3E}">
        <p14:creationId xmlns:p14="http://schemas.microsoft.com/office/powerpoint/2010/main" val="39255399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555E-6B81-5240-8BD8-DF876E37553F}"/>
              </a:ext>
            </a:extLst>
          </p:cNvPr>
          <p:cNvSpPr>
            <a:spLocks noGrp="1"/>
          </p:cNvSpPr>
          <p:nvPr>
            <p:ph type="title"/>
          </p:nvPr>
        </p:nvSpPr>
        <p:spPr/>
        <p:txBody>
          <a:bodyPr/>
          <a:lstStyle/>
          <a:p>
            <a:r>
              <a:rPr lang="en-US" dirty="0"/>
              <a:t>Emitting a Value With an Event</a:t>
            </a:r>
          </a:p>
        </p:txBody>
      </p:sp>
      <p:sp>
        <p:nvSpPr>
          <p:cNvPr id="3" name="Content Placeholder 2">
            <a:extLst>
              <a:ext uri="{FF2B5EF4-FFF2-40B4-BE49-F238E27FC236}">
                <a16:creationId xmlns:a16="http://schemas.microsoft.com/office/drawing/2014/main" id="{72041C04-C2CF-E140-A936-132E4DE44E24}"/>
              </a:ext>
            </a:extLst>
          </p:cNvPr>
          <p:cNvSpPr>
            <a:spLocks noGrp="1"/>
          </p:cNvSpPr>
          <p:nvPr>
            <p:ph idx="1"/>
          </p:nvPr>
        </p:nvSpPr>
        <p:spPr/>
        <p:txBody>
          <a:bodyPr>
            <a:normAutofit fontScale="85000" lnSpcReduction="10000"/>
          </a:bodyPr>
          <a:lstStyle/>
          <a:p>
            <a:r>
              <a:t>emit can take further arguments</a:t>
            </a:r>
          </a:p>
          <a:p>
            <a:pPr marL="0" indent="0">
              <a:buNone/>
            </a:pPr>
            <a:r>
              <a:rPr lang="en-US">
                <a:latin typeface="Courier New" pitchFamily="49" charset="0"/>
              </a:rPr>
              <a:t>const emit = defineEmits(['enlarge-text'])</a:t>
            </a:r>
          </a:p>
          <a:p>
            <a:pPr marL="0" indent="0">
              <a:buNone/>
            </a:pPr>
            <a:r>
              <a:rPr lang="en-US">
                <a:latin typeface="Courier New" pitchFamily="49" charset="0"/>
              </a:rPr>
              <a:t>&lt;button @click="emit('enlarge-text', 0.1)"&gt;Enlarge text&lt;/button&gt;</a:t>
            </a:r>
          </a:p>
          <a:p>
            <a:endParaRPr/>
          </a:p>
          <a:p>
            <a:r>
              <a:t>The parent receives them as handler arguments</a:t>
            </a:r>
          </a:p>
          <a:p>
            <a:pPr marL="0" indent="0">
              <a:buNone/>
            </a:pPr>
            <a:r>
              <a:rPr lang="en-US">
                <a:latin typeface="Courier New" pitchFamily="49" charset="0"/>
              </a:rPr>
              <a:t>&lt;BlogPost @enlarge-text="postFontSize += $event" /&gt;</a:t>
            </a:r>
          </a:p>
          <a:p>
            <a:pPr marL="0" indent="0">
              <a:buNone/>
            </a:pPr>
            <a:r>
              <a:rPr lang="en-US">
                <a:latin typeface="Courier New" pitchFamily="49" charset="0"/>
              </a:rPr>
              <a:t>&lt;BlogPost @enlarge-text="(n) =&gt; postFontSize += n" /&gt;</a:t>
            </a:r>
          </a:p>
          <a:p>
            <a:endParaRPr/>
          </a:p>
          <a:p>
            <a:pPr marL="0" indent="0">
              <a:buNone/>
            </a:pPr>
            <a:r>
              <a:rPr lang="en-US">
                <a:latin typeface="Courier New" pitchFamily="49" charset="0"/>
              </a:rPr>
              <a:t>// Vue 2 also offered $on / $off / $once for an "event bus".</a:t>
            </a:r>
          </a:p>
          <a:p>
            <a:pPr marL="0" indent="0">
              <a:buNone/>
            </a:pPr>
            <a:r>
              <a:rPr lang="en-US">
                <a:latin typeface="Courier New" pitchFamily="49" charset="0"/>
              </a:rPr>
              <a:t>// Those were removed in Vue 3 — use a store or provide/inject.</a:t>
            </a:r>
          </a:p>
        </p:txBody>
      </p:sp>
      <p:sp>
        <p:nvSpPr>
          <p:cNvPr id="4" name="Slide Number Placeholder 3">
            <a:extLst>
              <a:ext uri="{FF2B5EF4-FFF2-40B4-BE49-F238E27FC236}">
                <a16:creationId xmlns:a16="http://schemas.microsoft.com/office/drawing/2014/main" id="{B9969FD6-FBDD-2E45-9902-CB70FABC27F0}"/>
              </a:ext>
            </a:extLst>
          </p:cNvPr>
          <p:cNvSpPr>
            <a:spLocks noGrp="1"/>
          </p:cNvSpPr>
          <p:nvPr>
            <p:ph type="sldNum" sz="quarter" idx="12"/>
          </p:nvPr>
        </p:nvSpPr>
        <p:spPr/>
        <p:txBody>
          <a:bodyPr/>
          <a:lstStyle/>
          <a:p>
            <a:fld id="{6FFFF67E-EC6A-B940-8DC7-BF9A5925C934}" type="slidenum">
              <a:rPr lang="en-US" smtClean="0"/>
              <a:t>140</a:t>
            </a:fld>
            <a:endParaRPr lang="en-US" dirty="0"/>
          </a:p>
        </p:txBody>
      </p:sp>
    </p:spTree>
    <p:extLst>
      <p:ext uri="{BB962C8B-B14F-4D97-AF65-F5344CB8AC3E}">
        <p14:creationId xmlns:p14="http://schemas.microsoft.com/office/powerpoint/2010/main" val="352494055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3D06-F774-A04C-ACB6-89317FDEAE6C}"/>
              </a:ext>
            </a:extLst>
          </p:cNvPr>
          <p:cNvSpPr>
            <a:spLocks noGrp="1"/>
          </p:cNvSpPr>
          <p:nvPr>
            <p:ph type="title"/>
          </p:nvPr>
        </p:nvSpPr>
        <p:spPr/>
        <p:txBody>
          <a:bodyPr/>
          <a:lstStyle/>
          <a:p>
            <a:r>
              <a:rPr lang="en-US" dirty="0"/>
              <a:t>Lab 15: Events</a:t>
            </a:r>
          </a:p>
        </p:txBody>
      </p:sp>
      <p:sp>
        <p:nvSpPr>
          <p:cNvPr id="4" name="Slide Number Placeholder 3">
            <a:extLst>
              <a:ext uri="{FF2B5EF4-FFF2-40B4-BE49-F238E27FC236}">
                <a16:creationId xmlns:a16="http://schemas.microsoft.com/office/drawing/2014/main" id="{3DEFC798-8C39-2B47-AE11-4DBC13181025}"/>
              </a:ext>
            </a:extLst>
          </p:cNvPr>
          <p:cNvSpPr>
            <a:spLocks noGrp="1"/>
          </p:cNvSpPr>
          <p:nvPr>
            <p:ph type="sldNum" sz="quarter" idx="12"/>
          </p:nvPr>
        </p:nvSpPr>
        <p:spPr/>
        <p:txBody>
          <a:bodyPr/>
          <a:lstStyle/>
          <a:p>
            <a:fld id="{6FFFF67E-EC6A-B940-8DC7-BF9A5925C934}" type="slidenum">
              <a:rPr lang="en-US" smtClean="0"/>
              <a:t>141</a:t>
            </a:fld>
            <a:endParaRPr lang="en-US" dirty="0"/>
          </a:p>
        </p:txBody>
      </p:sp>
      <p:sp>
        <p:nvSpPr>
          <p:cNvPr id="5" name="Content Placeholder 4">
            <a:extLst>
              <a:ext uri="{FF2B5EF4-FFF2-40B4-BE49-F238E27FC236}">
                <a16:creationId xmlns:a16="http://schemas.microsoft.com/office/drawing/2014/main" id="{37D05B3C-79B2-6D84-D332-7C4A52B89994}"/>
              </a:ext>
            </a:extLst>
          </p:cNvPr>
          <p:cNvSpPr>
            <a:spLocks noGrp="1"/>
          </p:cNvSpPr>
          <p:nvPr>
            <p:ph idx="1"/>
          </p:nvPr>
        </p:nvSpPr>
        <p:spPr/>
        <p:txBody>
          <a:bodyPr/>
          <a:lstStyle/>
          <a:p>
            <a:endParaRPr lang="en-US"/>
          </a:p>
        </p:txBody>
      </p:sp>
      <p:pic>
        <p:nvPicPr>
          <p:cNvPr id="7" name="Content Placeholder 5">
            <a:extLst>
              <a:ext uri="{FF2B5EF4-FFF2-40B4-BE49-F238E27FC236}">
                <a16:creationId xmlns:a16="http://schemas.microsoft.com/office/drawing/2014/main" id="{0A0FDD9F-41B7-DA23-AF29-3D69FC782069}"/>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124532721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ED8E92-2D60-5B45-BA18-1F20F9FD69B3}"/>
              </a:ext>
            </a:extLst>
          </p:cNvPr>
          <p:cNvSpPr>
            <a:spLocks noGrp="1"/>
          </p:cNvSpPr>
          <p:nvPr>
            <p:ph sz="quarter" idx="12"/>
          </p:nvPr>
        </p:nvSpPr>
        <p:spPr/>
        <p:txBody>
          <a:bodyPr>
            <a:normAutofit/>
          </a:bodyPr>
          <a:lstStyle/>
          <a:p>
            <a:r>
              <a:t>A general way to react to state changes.</a:t>
            </a:r>
          </a:p>
          <a:p>
            <a:r>
              <a:t>Most useful for asynchronous or expensive work in response to changing data.</a:t>
            </a:r>
          </a:p>
          <a:p>
            <a:endParaRPr/>
          </a:p>
          <a:p>
            <a:pPr marL="0" indent="0">
              <a:buNone/>
            </a:pPr>
            <a:r>
              <a:rPr lang="en-US">
                <a:latin typeface="Courier New" pitchFamily="49" charset="0"/>
              </a:rPr>
              <a:t>const question = ref('')</a:t>
            </a:r>
          </a:p>
          <a:p>
            <a:pPr marL="0" indent="0">
              <a:buNone/>
            </a:pPr>
            <a:r>
              <a:rPr lang="en-US">
                <a:latin typeface="Courier New" pitchFamily="49" charset="0"/>
              </a:rPr>
              <a:t>const answer = ref('Ask me a question!')</a:t>
            </a:r>
          </a:p>
          <a:p>
            <a:endParaRPr/>
          </a:p>
          <a:p>
            <a:pPr marL="0" indent="0">
              <a:buNone/>
            </a:pPr>
            <a:r>
              <a:rPr lang="en-US">
                <a:latin typeface="Courier New" pitchFamily="49" charset="0"/>
              </a:rPr>
              <a:t>watch(question, async (newQuestion, oldQuestion) =&gt; {</a:t>
            </a:r>
          </a:p>
          <a:p>
            <a:pPr marL="0" indent="0">
              <a:buNone/>
            </a:pPr>
            <a:r>
              <a:rPr lang="en-US">
                <a:latin typeface="Courier New" pitchFamily="49" charset="0"/>
              </a:rPr>
              <a:t>  answer.value = 'Thinking...'</a:t>
            </a:r>
          </a:p>
          <a:p>
            <a:pPr marL="0" indent="0">
              <a:buNone/>
            </a:pPr>
            <a:r>
              <a:rPr lang="en-US">
                <a:latin typeface="Courier New" pitchFamily="49" charset="0"/>
              </a:rPr>
              <a:t>  answer.value = await getAnswer(newQuestion)</a:t>
            </a:r>
          </a:p>
          <a:p>
            <a:pPr marL="0" indent="0">
              <a:buNone/>
            </a:pPr>
            <a:r>
              <a:rPr lang="en-US">
                <a:latin typeface="Courier New" pitchFamily="49" charset="0"/>
              </a:rPr>
              <a:t>})</a:t>
            </a:r>
          </a:p>
        </p:txBody>
      </p:sp>
      <p:sp>
        <p:nvSpPr>
          <p:cNvPr id="3" name="Title 2">
            <a:extLst>
              <a:ext uri="{FF2B5EF4-FFF2-40B4-BE49-F238E27FC236}">
                <a16:creationId xmlns:a16="http://schemas.microsoft.com/office/drawing/2014/main" id="{93C4C545-108A-ED45-9147-6F97A547EF99}"/>
              </a:ext>
            </a:extLst>
          </p:cNvPr>
          <p:cNvSpPr>
            <a:spLocks noGrp="1"/>
          </p:cNvSpPr>
          <p:nvPr>
            <p:ph type="title"/>
          </p:nvPr>
        </p:nvSpPr>
        <p:spPr/>
        <p:txBody>
          <a:bodyPr/>
          <a:lstStyle/>
          <a:p>
            <a:r>
              <a:t>Watchers</a:t>
            </a:r>
          </a:p>
        </p:txBody>
      </p:sp>
    </p:spTree>
    <p:extLst>
      <p:ext uri="{BB962C8B-B14F-4D97-AF65-F5344CB8AC3E}">
        <p14:creationId xmlns:p14="http://schemas.microsoft.com/office/powerpoint/2010/main" val="32311471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19BF-F6F4-7048-BFE1-BF358E2CAFDB}"/>
              </a:ext>
            </a:extLst>
          </p:cNvPr>
          <p:cNvSpPr>
            <a:spLocks noGrp="1"/>
          </p:cNvSpPr>
          <p:nvPr>
            <p:ph type="title"/>
          </p:nvPr>
        </p:nvSpPr>
        <p:spPr/>
        <p:txBody>
          <a:bodyPr/>
          <a:lstStyle/>
          <a:p>
            <a:r>
              <a:t>watch and watchEffect</a:t>
            </a:r>
          </a:p>
        </p:txBody>
      </p:sp>
      <p:sp>
        <p:nvSpPr>
          <p:cNvPr id="3" name="Text Placeholder 2">
            <a:extLst>
              <a:ext uri="{FF2B5EF4-FFF2-40B4-BE49-F238E27FC236}">
                <a16:creationId xmlns:a16="http://schemas.microsoft.com/office/drawing/2014/main" id="{B2AAE93E-7C01-7948-89DB-AB74DCC8A73A}"/>
              </a:ext>
            </a:extLst>
          </p:cNvPr>
          <p:cNvSpPr>
            <a:spLocks noGrp="1"/>
          </p:cNvSpPr>
          <p:nvPr>
            <p:ph type="body" idx="1"/>
          </p:nvPr>
        </p:nvSpPr>
        <p:spPr/>
        <p:txBody>
          <a:bodyPr/>
          <a:lstStyle/>
          <a:p>
            <a:pPr marL="0" indent="0">
              <a:buNone/>
            </a:pPr>
            <a:r>
              <a:rPr lang="en-US">
                <a:latin typeface="Courier New" pitchFamily="49" charset="0"/>
              </a:rPr>
              <a:t>watch(source, callback)</a:t>
            </a:r>
          </a:p>
          <a:p>
            <a:pPr marL="385763" lvl="1" indent="-385763">
              <a:buFont typeface="+mj-lt"/>
              <a:buAutoNum type="arabicPeriod"/>
            </a:pPr>
            <a:r>
              <a:t>Explicit about what it tracks; gives you the old value</a:t>
            </a:r>
          </a:p>
          <a:p>
            <a:pPr marL="385763" lvl="1" indent="-385763">
              <a:buFont typeface="+mj-lt"/>
              <a:buAutoNum type="arabicPeriod"/>
            </a:pPr>
            <a:r>
              <a:t>Lazy — the callback does not run until the source changes</a:t>
            </a:r>
          </a:p>
          <a:p>
            <a:pPr marL="0" indent="0">
              <a:buNone/>
            </a:pPr>
            <a:r>
              <a:rPr lang="en-US">
                <a:latin typeface="Courier New" pitchFamily="49" charset="0"/>
              </a:rPr>
              <a:t>watchEffect(callback)</a:t>
            </a:r>
          </a:p>
          <a:p>
            <a:pPr marL="385763" lvl="1" indent="-385763">
              <a:buFont typeface="+mj-lt"/>
              <a:buAutoNum type="arabicPeriod"/>
            </a:pPr>
            <a:r>
              <a:t>Tracks whatever the callback reads, automatically</a:t>
            </a:r>
          </a:p>
          <a:p>
            <a:pPr marL="385763" lvl="1" indent="-385763">
              <a:buFont typeface="+mj-lt"/>
              <a:buAutoNum type="arabicPeriod"/>
            </a:pPr>
            <a:r>
              <a:t>Runs once immediately</a:t>
            </a:r>
          </a:p>
          <a:p>
            <a:pPr marL="385763" indent="-385763">
              <a:buFont typeface="+mj-lt"/>
              <a:buAutoNum type="arabicPeriod"/>
            </a:pPr>
            <a:r>
              <a:t>Both return a stop function, and both stop automatically when the component unmounts.</a:t>
            </a:r>
          </a:p>
          <a:p>
            <a:pPr marL="385763" indent="-385763">
              <a:buFont typeface="+mj-lt"/>
              <a:buAutoNum type="arabicPeriod"/>
            </a:pPr>
            <a:r>
              <a:t>Reach for computed() first — a watcher is for side effects.</a:t>
            </a:r>
          </a:p>
        </p:txBody>
      </p:sp>
    </p:spTree>
    <p:extLst>
      <p:ext uri="{BB962C8B-B14F-4D97-AF65-F5344CB8AC3E}">
        <p14:creationId xmlns:p14="http://schemas.microsoft.com/office/powerpoint/2010/main" val="25674277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DFB4C6-BD46-874D-9A9C-55CCDDD97B9A}"/>
              </a:ext>
            </a:extLst>
          </p:cNvPr>
          <p:cNvSpPr>
            <a:spLocks noGrp="1"/>
          </p:cNvSpPr>
          <p:nvPr>
            <p:ph type="title"/>
          </p:nvPr>
        </p:nvSpPr>
        <p:spPr>
          <a:xfrm>
            <a:off x="628651" y="1131094"/>
            <a:ext cx="4879181" cy="994172"/>
          </a:xfrm>
        </p:spPr>
        <p:txBody>
          <a:bodyPr>
            <a:normAutofit/>
          </a:bodyPr>
          <a:lstStyle/>
          <a:p>
            <a:r>
              <a:t>Component Lifecycle</a:t>
            </a:r>
          </a:p>
        </p:txBody>
      </p:sp>
      <p:sp>
        <p:nvSpPr>
          <p:cNvPr id="21" name="Content Placeholder 11">
            <a:extLst>
              <a:ext uri="{FF2B5EF4-FFF2-40B4-BE49-F238E27FC236}">
                <a16:creationId xmlns:a16="http://schemas.microsoft.com/office/drawing/2014/main" id="{B61CCBB1-5340-4A9B-B332-460F0155E684}"/>
              </a:ext>
            </a:extLst>
          </p:cNvPr>
          <p:cNvSpPr>
            <a:spLocks noGrp="1"/>
          </p:cNvSpPr>
          <p:nvPr>
            <p:ph idx="1"/>
          </p:nvPr>
        </p:nvSpPr>
        <p:spPr>
          <a:xfrm>
            <a:off x="628651" y="2226469"/>
            <a:ext cx="4879181" cy="3263504"/>
          </a:xfrm>
        </p:spPr>
        <p:txBody>
          <a:bodyPr>
            <a:normAutofit fontScale="92500" lnSpcReduction="20000"/>
          </a:bodyPr>
          <a:lstStyle/>
          <a:p>
            <a:r>
              <a:t>Functions imported from vue and called inside &lt;script setup&gt;</a:t>
            </a:r>
          </a:p>
          <a:p>
            <a:pPr lvl="1"/>
            <a:r>
              <a:t>onBeforeMount / onMounted</a:t>
            </a:r>
          </a:p>
          <a:p>
            <a:pPr lvl="1"/>
            <a:r>
              <a:t>onBeforeUpdate / onUpdated</a:t>
            </a:r>
          </a:p>
          <a:p>
            <a:pPr lvl="1"/>
            <a:r>
              <a:t>onBeforeUnmount / onUnmounted</a:t>
            </a:r>
          </a:p>
          <a:p>
            <a:pPr lvl="1"/>
            <a:r>
              <a:t>onErrorCaptured, onActivated, onDeactivated</a:t>
            </a:r>
          </a:p>
          <a:p>
            <a:r>
              <a:t>There is no onCreated — the body of &lt;script setup&gt; is that hook.</a:t>
            </a:r>
          </a:p>
          <a:p>
            <a:r>
              <a:t>Vue 2 named the last pair beforeDestroy and destroyed.</a:t>
            </a:r>
          </a:p>
        </p:txBody>
      </p:sp>
      <p:pic>
        <p:nvPicPr>
          <p:cNvPr id="2" name="Content Placeholder 6">
            <a:extLst>
              <a:ext uri="{FF2B5EF4-FFF2-40B4-BE49-F238E27FC236}">
                <a16:creationId xmlns:a16="http://schemas.microsoft.com/office/drawing/2014/main" id="{2136A776-8887-41FB-8AEB-9605C665157D}"/>
              </a:ext>
            </a:extLst>
          </p:cNvPr>
          <p:cNvPicPr>
            <a:picLocks noChangeAspect="1"/>
          </p:cNvPicPr>
          <p:nvPr/>
        </p:nvPicPr>
        <p:blipFill rotWithShape="1">
          <a:blip r:embed="rId2"/>
          <a:srcRect t="6759" r="-1" b="17044"/>
          <a:stretch/>
        </p:blipFill>
        <p:spPr>
          <a:xfrm>
            <a:off x="5955627" y="1009650"/>
            <a:ext cx="2666404" cy="5143501"/>
          </a:xfrm>
          <a:prstGeom prst="rect">
            <a:avLst/>
          </a:prstGeom>
        </p:spPr>
      </p:pic>
    </p:spTree>
    <p:extLst>
      <p:ext uri="{BB962C8B-B14F-4D97-AF65-F5344CB8AC3E}">
        <p14:creationId xmlns:p14="http://schemas.microsoft.com/office/powerpoint/2010/main" val="373483049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1F8D-8428-4B43-9DCE-5D63D29567EA}"/>
              </a:ext>
            </a:extLst>
          </p:cNvPr>
          <p:cNvSpPr>
            <a:spLocks noGrp="1"/>
          </p:cNvSpPr>
          <p:nvPr>
            <p:ph type="title"/>
          </p:nvPr>
        </p:nvSpPr>
        <p:spPr/>
        <p:txBody>
          <a:bodyPr/>
          <a:lstStyle/>
          <a:p>
            <a:r>
              <a:t>Setup (replacing beforeCreate / created)</a:t>
            </a:r>
          </a:p>
        </p:txBody>
      </p:sp>
      <p:sp>
        <p:nvSpPr>
          <p:cNvPr id="3" name="Content Placeholder 2">
            <a:extLst>
              <a:ext uri="{FF2B5EF4-FFF2-40B4-BE49-F238E27FC236}">
                <a16:creationId xmlns:a16="http://schemas.microsoft.com/office/drawing/2014/main" id="{54CD211B-423A-BE40-B8B0-65E452708E0F}"/>
              </a:ext>
            </a:extLst>
          </p:cNvPr>
          <p:cNvSpPr>
            <a:spLocks noGrp="1"/>
          </p:cNvSpPr>
          <p:nvPr>
            <p:ph idx="1"/>
          </p:nvPr>
        </p:nvSpPr>
        <p:spPr/>
        <p:txBody>
          <a:bodyPr/>
          <a:lstStyle/>
          <a:p>
            <a:r>
              <a:t>The body of &lt;script setup&gt; runs before the component is mounted.</a:t>
            </a:r>
          </a:p>
          <a:p>
            <a:r>
              <a:t>State and props exist; there is no DOM yet.</a:t>
            </a:r>
          </a:p>
          <a:p>
            <a:r>
              <a:t>This is where you declare refs, computed values and functions, and start any request whose result the first render does not need.</a:t>
            </a:r>
          </a:p>
        </p:txBody>
      </p:sp>
      <p:sp>
        <p:nvSpPr>
          <p:cNvPr id="4" name="Slide Number Placeholder 3">
            <a:extLst>
              <a:ext uri="{FF2B5EF4-FFF2-40B4-BE49-F238E27FC236}">
                <a16:creationId xmlns:a16="http://schemas.microsoft.com/office/drawing/2014/main" id="{E2BF0ADF-E676-0C43-973C-6F36B8330CF9}"/>
              </a:ext>
            </a:extLst>
          </p:cNvPr>
          <p:cNvSpPr>
            <a:spLocks noGrp="1"/>
          </p:cNvSpPr>
          <p:nvPr>
            <p:ph type="sldNum" sz="quarter" idx="12"/>
          </p:nvPr>
        </p:nvSpPr>
        <p:spPr/>
        <p:txBody>
          <a:bodyPr/>
          <a:lstStyle/>
          <a:p>
            <a:fld id="{6FFFF67E-EC6A-B940-8DC7-BF9A5925C934}" type="slidenum">
              <a:rPr lang="en-US" smtClean="0"/>
              <a:t>145</a:t>
            </a:fld>
            <a:endParaRPr lang="en-US" dirty="0"/>
          </a:p>
        </p:txBody>
      </p:sp>
    </p:spTree>
    <p:extLst>
      <p:ext uri="{BB962C8B-B14F-4D97-AF65-F5344CB8AC3E}">
        <p14:creationId xmlns:p14="http://schemas.microsoft.com/office/powerpoint/2010/main" val="72219441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683E-08CA-9C40-9493-7941B9E7B252}"/>
              </a:ext>
            </a:extLst>
          </p:cNvPr>
          <p:cNvSpPr>
            <a:spLocks noGrp="1"/>
          </p:cNvSpPr>
          <p:nvPr>
            <p:ph type="title"/>
          </p:nvPr>
        </p:nvSpPr>
        <p:spPr/>
        <p:txBody>
          <a:bodyPr/>
          <a:lstStyle/>
          <a:p>
            <a:r>
              <a:t>onBeforeMount</a:t>
            </a:r>
            <a:endParaRPr lang="en-US" b="0" i="0" u="none" strike="noStrike" baseline="0" dirty="0">
              <a:solidFill>
                <a:srgbClr val="000000"/>
              </a:solidFill>
              <a:latin typeface="Calibri Light" panose="020F0302020204030204" pitchFamily="34" charset="0"/>
            </a:endParaRPr>
          </a:p>
        </p:txBody>
      </p:sp>
      <p:sp>
        <p:nvSpPr>
          <p:cNvPr id="3" name="Text Placeholder 2">
            <a:extLst>
              <a:ext uri="{FF2B5EF4-FFF2-40B4-BE49-F238E27FC236}">
                <a16:creationId xmlns:a16="http://schemas.microsoft.com/office/drawing/2014/main" id="{D12558E4-6CC1-784A-BD2D-81247610C628}"/>
              </a:ext>
            </a:extLst>
          </p:cNvPr>
          <p:cNvSpPr>
            <a:spLocks noGrp="1"/>
          </p:cNvSpPr>
          <p:nvPr>
            <p:ph type="body" idx="1"/>
          </p:nvPr>
        </p:nvSpPr>
        <p:spPr/>
        <p:txBody>
          <a:bodyPr>
            <a:normAutofit/>
          </a:bodyPr>
          <a:lstStyle/>
          <a:p>
            <a:r>
              <a:t>Runs after the template has been compiled but before the first render.</a:t>
            </a:r>
          </a:p>
          <a:p>
            <a:endParaRPr/>
          </a:p>
          <a:p>
            <a:pPr marL="0" indent="0">
              <a:buNone/>
            </a:pPr>
            <a:r>
              <a:rPr lang="en-US">
                <a:latin typeface="Courier New" pitchFamily="49" charset="0"/>
              </a:rPr>
              <a:t>onBeforeMount(() =&gt; {</a:t>
            </a:r>
          </a:p>
          <a:p>
            <a:pPr marL="0" indent="0">
              <a:buNone/>
            </a:pPr>
            <a:r>
              <a:rPr lang="en-US">
                <a:latin typeface="Courier New" pitchFamily="49" charset="0"/>
              </a:rPr>
              <a:t>  console.log('about to render')</a:t>
            </a:r>
          </a:p>
          <a:p>
            <a:pPr marL="0" indent="0">
              <a:buNone/>
            </a:pPr>
            <a:r>
              <a:rPr lang="en-US">
                <a:latin typeface="Courier New" pitchFamily="49" charset="0"/>
              </a:rPr>
              <a:t>})</a:t>
            </a:r>
          </a:p>
          <a:p>
            <a:endParaRPr/>
          </a:p>
          <a:p>
            <a:r>
              <a:t>Rarely needed.</a:t>
            </a:r>
          </a:p>
        </p:txBody>
      </p:sp>
    </p:spTree>
    <p:extLst>
      <p:ext uri="{BB962C8B-B14F-4D97-AF65-F5344CB8AC3E}">
        <p14:creationId xmlns:p14="http://schemas.microsoft.com/office/powerpoint/2010/main" val="289112889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777C-0114-B34D-898E-F130F01A73B8}"/>
              </a:ext>
            </a:extLst>
          </p:cNvPr>
          <p:cNvSpPr>
            <a:spLocks noGrp="1"/>
          </p:cNvSpPr>
          <p:nvPr>
            <p:ph type="title"/>
          </p:nvPr>
        </p:nvSpPr>
        <p:spPr/>
        <p:txBody>
          <a:bodyPr/>
          <a:lstStyle/>
          <a:p>
            <a:r>
              <a:t>onMounted</a:t>
            </a:r>
          </a:p>
        </p:txBody>
      </p:sp>
      <p:sp>
        <p:nvSpPr>
          <p:cNvPr id="3" name="Content Placeholder 2">
            <a:extLst>
              <a:ext uri="{FF2B5EF4-FFF2-40B4-BE49-F238E27FC236}">
                <a16:creationId xmlns:a16="http://schemas.microsoft.com/office/drawing/2014/main" id="{96D9DE99-8F96-F041-B7D4-5BED50D0FB9E}"/>
              </a:ext>
            </a:extLst>
          </p:cNvPr>
          <p:cNvSpPr>
            <a:spLocks noGrp="1"/>
          </p:cNvSpPr>
          <p:nvPr>
            <p:ph idx="1"/>
          </p:nvPr>
        </p:nvSpPr>
        <p:spPr/>
        <p:txBody>
          <a:bodyPr/>
          <a:lstStyle/>
          <a:p>
            <a:r>
              <a:t>Full access to the rendered DOM through template refs.</a:t>
            </a:r>
          </a:p>
          <a:p>
            <a:r>
              <a:t>Use for measuring elements and integrating non-Vue libraries.</a:t>
            </a:r>
          </a:p>
          <a:p>
            <a:endParaRPr/>
          </a:p>
          <a:p>
            <a:pPr marL="0" indent="0">
              <a:buNone/>
            </a:pPr>
            <a:r>
              <a:rPr lang="en-US">
                <a:latin typeface="Courier New" pitchFamily="49" charset="0"/>
              </a:rPr>
              <a:t>onMounted(async () =&gt; {</a:t>
            </a:r>
          </a:p>
          <a:p>
            <a:pPr marL="0" indent="0">
              <a:buNone/>
            </a:pPr>
            <a:r>
              <a:rPr lang="en-US">
                <a:latin typeface="Courier New" pitchFamily="49" charset="0"/>
              </a:rPr>
              <a:t>  articles.value = await fetchArticles()</a:t>
            </a:r>
          </a:p>
          <a:p>
            <a:pPr marL="0" indent="0">
              <a:buNone/>
            </a:pPr>
            <a:r>
              <a:rPr lang="en-US">
                <a:latin typeface="Courier New" pitchFamily="49" charset="0"/>
              </a:rPr>
              <a:t>})</a:t>
            </a:r>
          </a:p>
          <a:p>
            <a:endParaRPr/>
          </a:p>
          <a:p>
            <a:r>
              <a:t>A child is mounted before its parent.</a:t>
            </a:r>
          </a:p>
        </p:txBody>
      </p:sp>
      <p:sp>
        <p:nvSpPr>
          <p:cNvPr id="4" name="Slide Number Placeholder 3">
            <a:extLst>
              <a:ext uri="{FF2B5EF4-FFF2-40B4-BE49-F238E27FC236}">
                <a16:creationId xmlns:a16="http://schemas.microsoft.com/office/drawing/2014/main" id="{6992AF0C-5E48-ED47-A29B-4595CFD27D12}"/>
              </a:ext>
            </a:extLst>
          </p:cNvPr>
          <p:cNvSpPr>
            <a:spLocks noGrp="1"/>
          </p:cNvSpPr>
          <p:nvPr>
            <p:ph type="sldNum" sz="quarter" idx="12"/>
          </p:nvPr>
        </p:nvSpPr>
        <p:spPr/>
        <p:txBody>
          <a:bodyPr/>
          <a:lstStyle/>
          <a:p>
            <a:fld id="{6FFFF67E-EC6A-B940-8DC7-BF9A5925C934}" type="slidenum">
              <a:rPr lang="en-US" smtClean="0"/>
              <a:t>147</a:t>
            </a:fld>
            <a:endParaRPr lang="en-US" dirty="0"/>
          </a:p>
        </p:txBody>
      </p:sp>
    </p:spTree>
    <p:extLst>
      <p:ext uri="{BB962C8B-B14F-4D97-AF65-F5344CB8AC3E}">
        <p14:creationId xmlns:p14="http://schemas.microsoft.com/office/powerpoint/2010/main" val="372042019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28DA-2D54-1C42-B200-13DE93EDB134}"/>
              </a:ext>
            </a:extLst>
          </p:cNvPr>
          <p:cNvSpPr>
            <a:spLocks noGrp="1"/>
          </p:cNvSpPr>
          <p:nvPr>
            <p:ph type="title"/>
          </p:nvPr>
        </p:nvSpPr>
        <p:spPr/>
        <p:txBody>
          <a:bodyPr/>
          <a:lstStyle/>
          <a:p>
            <a:r>
              <a:t>onBeforeUpdate</a:t>
            </a:r>
          </a:p>
        </p:txBody>
      </p:sp>
      <p:sp>
        <p:nvSpPr>
          <p:cNvPr id="3" name="Text Placeholder 2">
            <a:extLst>
              <a:ext uri="{FF2B5EF4-FFF2-40B4-BE49-F238E27FC236}">
                <a16:creationId xmlns:a16="http://schemas.microsoft.com/office/drawing/2014/main" id="{2578F848-31DC-A044-B0E5-235463350013}"/>
              </a:ext>
            </a:extLst>
          </p:cNvPr>
          <p:cNvSpPr>
            <a:spLocks noGrp="1"/>
          </p:cNvSpPr>
          <p:nvPr>
            <p:ph type="body" idx="1"/>
          </p:nvPr>
        </p:nvSpPr>
        <p:spPr/>
        <p:txBody>
          <a:bodyPr/>
          <a:lstStyle/>
          <a:p>
            <a:r>
              <a:t>Runs after state changes, before the DOM is patched.</a:t>
            </a:r>
          </a:p>
          <a:p>
            <a:r>
              <a:t>Use it to read the DOM as it was before the update — for example to record a scroll position.</a:t>
            </a:r>
          </a:p>
        </p:txBody>
      </p:sp>
    </p:spTree>
    <p:extLst>
      <p:ext uri="{BB962C8B-B14F-4D97-AF65-F5344CB8AC3E}">
        <p14:creationId xmlns:p14="http://schemas.microsoft.com/office/powerpoint/2010/main" val="178188341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E616-A87C-1446-A254-F157FB183F03}"/>
              </a:ext>
            </a:extLst>
          </p:cNvPr>
          <p:cNvSpPr>
            <a:spLocks noGrp="1"/>
          </p:cNvSpPr>
          <p:nvPr>
            <p:ph type="title"/>
          </p:nvPr>
        </p:nvSpPr>
        <p:spPr/>
        <p:txBody>
          <a:bodyPr/>
          <a:lstStyle/>
          <a:p>
            <a:r>
              <a:t>onUpdated</a:t>
            </a:r>
          </a:p>
        </p:txBody>
      </p:sp>
      <p:sp>
        <p:nvSpPr>
          <p:cNvPr id="3" name="Content Placeholder 2">
            <a:extLst>
              <a:ext uri="{FF2B5EF4-FFF2-40B4-BE49-F238E27FC236}">
                <a16:creationId xmlns:a16="http://schemas.microsoft.com/office/drawing/2014/main" id="{EDE1E5F2-08B6-3A43-B91B-FB754B754609}"/>
              </a:ext>
            </a:extLst>
          </p:cNvPr>
          <p:cNvSpPr>
            <a:spLocks noGrp="1"/>
          </p:cNvSpPr>
          <p:nvPr>
            <p:ph idx="1"/>
          </p:nvPr>
        </p:nvSpPr>
        <p:spPr/>
        <p:txBody>
          <a:bodyPr/>
          <a:lstStyle/>
          <a:p>
            <a:r>
              <a:t>Runs after state changes and the DOM has re-rendered.</a:t>
            </a:r>
          </a:p>
          <a:p>
            <a:r>
              <a:t>Do not change state here without a guard — you will loop.</a:t>
            </a:r>
          </a:p>
          <a:p>
            <a:r>
              <a:t>To react to one specific value, prefer watch().</a:t>
            </a:r>
          </a:p>
        </p:txBody>
      </p:sp>
      <p:sp>
        <p:nvSpPr>
          <p:cNvPr id="4" name="Slide Number Placeholder 3">
            <a:extLst>
              <a:ext uri="{FF2B5EF4-FFF2-40B4-BE49-F238E27FC236}">
                <a16:creationId xmlns:a16="http://schemas.microsoft.com/office/drawing/2014/main" id="{ADDFE303-A8E2-9F44-B635-9FB20DFFDB24}"/>
              </a:ext>
            </a:extLst>
          </p:cNvPr>
          <p:cNvSpPr>
            <a:spLocks noGrp="1"/>
          </p:cNvSpPr>
          <p:nvPr>
            <p:ph type="sldNum" sz="quarter" idx="12"/>
          </p:nvPr>
        </p:nvSpPr>
        <p:spPr/>
        <p:txBody>
          <a:bodyPr/>
          <a:lstStyle/>
          <a:p>
            <a:fld id="{6FFFF67E-EC6A-B940-8DC7-BF9A5925C934}" type="slidenum">
              <a:rPr lang="en-US" smtClean="0"/>
              <a:t>149</a:t>
            </a:fld>
            <a:endParaRPr lang="en-US" dirty="0"/>
          </a:p>
        </p:txBody>
      </p:sp>
    </p:spTree>
    <p:extLst>
      <p:ext uri="{BB962C8B-B14F-4D97-AF65-F5344CB8AC3E}">
        <p14:creationId xmlns:p14="http://schemas.microsoft.com/office/powerpoint/2010/main" val="3805779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ABD1-5991-5A46-9B5F-B1EE386AAFBD}"/>
              </a:ext>
            </a:extLst>
          </p:cNvPr>
          <p:cNvSpPr>
            <a:spLocks noGrp="1"/>
          </p:cNvSpPr>
          <p:nvPr>
            <p:ph type="title"/>
          </p:nvPr>
        </p:nvSpPr>
        <p:spPr/>
        <p:txBody>
          <a:bodyPr/>
          <a:lstStyle/>
          <a:p>
            <a:r>
              <a:t>onBeforeUnmount</a:t>
            </a:r>
          </a:p>
        </p:txBody>
      </p:sp>
      <p:sp>
        <p:nvSpPr>
          <p:cNvPr id="3" name="Content Placeholder 2">
            <a:extLst>
              <a:ext uri="{FF2B5EF4-FFF2-40B4-BE49-F238E27FC236}">
                <a16:creationId xmlns:a16="http://schemas.microsoft.com/office/drawing/2014/main" id="{0821A968-BC43-0742-B412-9C3CDC9D8966}"/>
              </a:ext>
            </a:extLst>
          </p:cNvPr>
          <p:cNvSpPr>
            <a:spLocks noGrp="1"/>
          </p:cNvSpPr>
          <p:nvPr>
            <p:ph idx="1"/>
          </p:nvPr>
        </p:nvSpPr>
        <p:spPr/>
        <p:txBody>
          <a:bodyPr/>
          <a:lstStyle/>
          <a:p>
            <a:r>
              <a:t>Fires right before teardown, while the component is still fully functional.</a:t>
            </a:r>
          </a:p>
          <a:p>
            <a:r>
              <a:t>Use it to clean up timers, subscriptions and listeners you created yourself.</a:t>
            </a:r>
          </a:p>
        </p:txBody>
      </p:sp>
      <p:sp>
        <p:nvSpPr>
          <p:cNvPr id="4" name="Slide Number Placeholder 3">
            <a:extLst>
              <a:ext uri="{FF2B5EF4-FFF2-40B4-BE49-F238E27FC236}">
                <a16:creationId xmlns:a16="http://schemas.microsoft.com/office/drawing/2014/main" id="{13859015-3FBA-814F-BA51-97BF54AAD5BB}"/>
              </a:ext>
            </a:extLst>
          </p:cNvPr>
          <p:cNvSpPr>
            <a:spLocks noGrp="1"/>
          </p:cNvSpPr>
          <p:nvPr>
            <p:ph type="sldNum" sz="quarter" idx="12"/>
          </p:nvPr>
        </p:nvSpPr>
        <p:spPr/>
        <p:txBody>
          <a:bodyPr/>
          <a:lstStyle/>
          <a:p>
            <a:fld id="{6FFFF67E-EC6A-B940-8DC7-BF9A5925C934}" type="slidenum">
              <a:rPr lang="en-US" smtClean="0"/>
              <a:t>150</a:t>
            </a:fld>
            <a:endParaRPr lang="en-US" dirty="0"/>
          </a:p>
        </p:txBody>
      </p:sp>
    </p:spTree>
    <p:extLst>
      <p:ext uri="{BB962C8B-B14F-4D97-AF65-F5344CB8AC3E}">
        <p14:creationId xmlns:p14="http://schemas.microsoft.com/office/powerpoint/2010/main" val="33428836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A449-5536-5B40-B0FF-E28E7609380D}"/>
              </a:ext>
            </a:extLst>
          </p:cNvPr>
          <p:cNvSpPr>
            <a:spLocks noGrp="1"/>
          </p:cNvSpPr>
          <p:nvPr>
            <p:ph type="title"/>
          </p:nvPr>
        </p:nvSpPr>
        <p:spPr/>
        <p:txBody>
          <a:bodyPr/>
          <a:lstStyle/>
          <a:p>
            <a:r>
              <a:t>onUnmounted</a:t>
            </a:r>
          </a:p>
        </p:txBody>
      </p:sp>
      <p:sp>
        <p:nvSpPr>
          <p:cNvPr id="3" name="Content Placeholder 2">
            <a:extLst>
              <a:ext uri="{FF2B5EF4-FFF2-40B4-BE49-F238E27FC236}">
                <a16:creationId xmlns:a16="http://schemas.microsoft.com/office/drawing/2014/main" id="{1659E7D7-084D-244F-9874-44BD0DFA3967}"/>
              </a:ext>
            </a:extLst>
          </p:cNvPr>
          <p:cNvSpPr>
            <a:spLocks noGrp="1"/>
          </p:cNvSpPr>
          <p:nvPr>
            <p:ph idx="1"/>
          </p:nvPr>
        </p:nvSpPr>
        <p:spPr/>
        <p:txBody>
          <a:bodyPr/>
          <a:lstStyle/>
          <a:p>
            <a:r>
              <a:t>Everything attached to the component has been torn down and removed from the DOM.</a:t>
            </a:r>
          </a:p>
          <a:p>
            <a:r>
              <a:t>Watchers and lifecycle hooks are stopped for you; anything you set up by hand is not.</a:t>
            </a:r>
          </a:p>
        </p:txBody>
      </p:sp>
      <p:sp>
        <p:nvSpPr>
          <p:cNvPr id="4" name="Slide Number Placeholder 3">
            <a:extLst>
              <a:ext uri="{FF2B5EF4-FFF2-40B4-BE49-F238E27FC236}">
                <a16:creationId xmlns:a16="http://schemas.microsoft.com/office/drawing/2014/main" id="{F44E6D31-3E14-8F41-BAA3-286C6C5C380B}"/>
              </a:ext>
            </a:extLst>
          </p:cNvPr>
          <p:cNvSpPr>
            <a:spLocks noGrp="1"/>
          </p:cNvSpPr>
          <p:nvPr>
            <p:ph type="sldNum" sz="quarter" idx="12"/>
          </p:nvPr>
        </p:nvSpPr>
        <p:spPr/>
        <p:txBody>
          <a:bodyPr/>
          <a:lstStyle/>
          <a:p>
            <a:fld id="{6FFFF67E-EC6A-B940-8DC7-BF9A5925C934}" type="slidenum">
              <a:rPr lang="en-US" smtClean="0"/>
              <a:t>151</a:t>
            </a:fld>
            <a:endParaRPr lang="en-US" dirty="0"/>
          </a:p>
        </p:txBody>
      </p:sp>
    </p:spTree>
    <p:extLst>
      <p:ext uri="{BB962C8B-B14F-4D97-AF65-F5344CB8AC3E}">
        <p14:creationId xmlns:p14="http://schemas.microsoft.com/office/powerpoint/2010/main" val="17302211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5D59-3A41-FB4C-9BD8-43B3711FB394}"/>
              </a:ext>
            </a:extLst>
          </p:cNvPr>
          <p:cNvSpPr>
            <a:spLocks noGrp="1"/>
          </p:cNvSpPr>
          <p:nvPr>
            <p:ph type="title"/>
          </p:nvPr>
        </p:nvSpPr>
        <p:spPr/>
        <p:txBody>
          <a:bodyPr/>
          <a:lstStyle/>
          <a:p>
            <a:r>
              <a:t>Lifecycle Hooks in Practice</a:t>
            </a:r>
          </a:p>
        </p:txBody>
      </p:sp>
      <p:sp>
        <p:nvSpPr>
          <p:cNvPr id="3" name="Text Placeholder 2">
            <a:extLst>
              <a:ext uri="{FF2B5EF4-FFF2-40B4-BE49-F238E27FC236}">
                <a16:creationId xmlns:a16="http://schemas.microsoft.com/office/drawing/2014/main" id="{79B1D72D-9BDA-8B4D-A1A7-1279BDD1E680}"/>
              </a:ext>
            </a:extLst>
          </p:cNvPr>
          <p:cNvSpPr>
            <a:spLocks noGrp="1"/>
          </p:cNvSpPr>
          <p:nvPr>
            <p:ph type="body" idx="1"/>
          </p:nvPr>
        </p:nvSpPr>
        <p:spPr/>
        <p:txBody>
          <a:bodyPr>
            <a:normAutofit fontScale="85000" lnSpcReduction="10000"/>
          </a:bodyPr>
          <a:lstStyle/>
          <a:p>
            <a:pPr marL="0" indent="0">
              <a:buNone/>
            </a:pPr>
            <a:r>
              <a:rPr lang="en-US">
                <a:latin typeface="Courier New" pitchFamily="49" charset="0"/>
              </a:rPr>
              <a:t>&lt;script setup&gt;</a:t>
            </a:r>
          </a:p>
          <a:p>
            <a:pPr marL="0" indent="0">
              <a:buNone/>
            </a:pPr>
            <a:r>
              <a:rPr lang="en-US">
                <a:latin typeface="Courier New" pitchFamily="49" charset="0"/>
              </a:rPr>
              <a:t>import { onMounted, onUnmounted, ref } from 'vue'</a:t>
            </a:r>
          </a:p>
          <a:p>
            <a:endParaRPr/>
          </a:p>
          <a:p>
            <a:pPr marL="0" indent="0">
              <a:buNone/>
            </a:pPr>
            <a:r>
              <a:rPr lang="en-US">
                <a:latin typeface="Courier New" pitchFamily="49" charset="0"/>
              </a:rPr>
              <a:t>const seconds = ref(0)</a:t>
            </a:r>
          </a:p>
          <a:p>
            <a:r>
              <a:t>let timer</a:t>
            </a:r>
          </a:p>
          <a:p>
            <a:endParaRPr/>
          </a:p>
          <a:p>
            <a:pPr marL="0" indent="0">
              <a:buNone/>
            </a:pPr>
            <a:r>
              <a:rPr lang="en-US">
                <a:latin typeface="Courier New" pitchFamily="49" charset="0"/>
              </a:rPr>
              <a:t>onMounted(() =&gt; {</a:t>
            </a:r>
          </a:p>
          <a:p>
            <a:pPr marL="0" indent="0">
              <a:buNone/>
            </a:pPr>
            <a:r>
              <a:rPr lang="en-US">
                <a:latin typeface="Courier New" pitchFamily="49" charset="0"/>
              </a:rPr>
              <a:t>  timer = setInterval(() =&gt; seconds.value++, 1000)</a:t>
            </a:r>
          </a:p>
          <a:p>
            <a:pPr marL="0" indent="0">
              <a:buNone/>
            </a:pPr>
            <a:r>
              <a:rPr lang="en-US">
                <a:latin typeface="Courier New" pitchFamily="49" charset="0"/>
              </a:rPr>
              <a:t>})</a:t>
            </a:r>
          </a:p>
          <a:p>
            <a:endParaRPr/>
          </a:p>
          <a:p>
            <a:pPr marL="0" indent="0">
              <a:buNone/>
            </a:pPr>
            <a:r>
              <a:rPr lang="en-US">
                <a:latin typeface="Courier New" pitchFamily="49" charset="0"/>
              </a:rPr>
              <a:t>onUnmounted(() =&gt; clearInterval(timer))</a:t>
            </a:r>
          </a:p>
          <a:p>
            <a:pPr marL="0" indent="0">
              <a:buNone/>
            </a:pPr>
            <a:r>
              <a:rPr lang="en-US">
                <a:latin typeface="Courier New" pitchFamily="49" charset="0"/>
              </a:rPr>
              <a:t>&lt;/script&gt;</a:t>
            </a:r>
          </a:p>
        </p:txBody>
      </p:sp>
    </p:spTree>
    <p:extLst>
      <p:ext uri="{BB962C8B-B14F-4D97-AF65-F5344CB8AC3E}">
        <p14:creationId xmlns:p14="http://schemas.microsoft.com/office/powerpoint/2010/main" val="19565861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37E9BB-DA99-A442-A629-5F45AA5B3AE4}"/>
              </a:ext>
            </a:extLst>
          </p:cNvPr>
          <p:cNvSpPr>
            <a:spLocks noGrp="1"/>
          </p:cNvSpPr>
          <p:nvPr>
            <p:ph type="body" sz="quarter" idx="13"/>
          </p:nvPr>
        </p:nvSpPr>
        <p:spPr/>
        <p:txBody>
          <a:bodyPr>
            <a:normAutofit/>
          </a:bodyPr>
          <a:lstStyle/>
          <a:p>
            <a:r>
              <a:t>Hooks must be called synchronously in the body of &lt;script setup&gt;</a:t>
            </a:r>
          </a:p>
          <a:p>
            <a:pPr lvl="1"/>
            <a:r>
              <a:t>Not inside a callback, a promise handler, or a condition</a:t>
            </a:r>
          </a:p>
          <a:p>
            <a:r>
              <a:t>That is how Vue knows which component instance to attach them to</a:t>
            </a:r>
          </a:p>
          <a:p>
            <a:r>
              <a:t>They can be called from a composable, because a composable is itself called synchronously from setup</a:t>
            </a:r>
          </a:p>
        </p:txBody>
      </p:sp>
      <p:sp>
        <p:nvSpPr>
          <p:cNvPr id="2" name="Title 1">
            <a:extLst>
              <a:ext uri="{FF2B5EF4-FFF2-40B4-BE49-F238E27FC236}">
                <a16:creationId xmlns:a16="http://schemas.microsoft.com/office/drawing/2014/main" id="{B3942C35-AC03-594C-A743-A92278474CE5}"/>
              </a:ext>
            </a:extLst>
          </p:cNvPr>
          <p:cNvSpPr>
            <a:spLocks noGrp="1"/>
          </p:cNvSpPr>
          <p:nvPr>
            <p:ph type="title"/>
          </p:nvPr>
        </p:nvSpPr>
        <p:spPr/>
        <p:txBody>
          <a:bodyPr/>
          <a:lstStyle/>
          <a:p>
            <a:r>
              <a:t>Using Lifecycle Hooks</a:t>
            </a:r>
          </a:p>
        </p:txBody>
      </p:sp>
    </p:spTree>
    <p:extLst>
      <p:ext uri="{BB962C8B-B14F-4D97-AF65-F5344CB8AC3E}">
        <p14:creationId xmlns:p14="http://schemas.microsoft.com/office/powerpoint/2010/main" val="118726026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2D0D-880E-3940-969F-52BF8135BB28}"/>
              </a:ext>
            </a:extLst>
          </p:cNvPr>
          <p:cNvSpPr>
            <a:spLocks noGrp="1"/>
          </p:cNvSpPr>
          <p:nvPr>
            <p:ph type="title"/>
          </p:nvPr>
        </p:nvSpPr>
        <p:spPr/>
        <p:txBody>
          <a:bodyPr/>
          <a:lstStyle/>
          <a:p>
            <a:r>
              <a:rPr lang="en-US" dirty="0"/>
              <a:t>Lab 16: Component Lifecycle</a:t>
            </a:r>
          </a:p>
        </p:txBody>
      </p:sp>
      <p:sp>
        <p:nvSpPr>
          <p:cNvPr id="4" name="Slide Number Placeholder 3">
            <a:extLst>
              <a:ext uri="{FF2B5EF4-FFF2-40B4-BE49-F238E27FC236}">
                <a16:creationId xmlns:a16="http://schemas.microsoft.com/office/drawing/2014/main" id="{73CA1C70-6EA5-A745-9947-E10902531388}"/>
              </a:ext>
            </a:extLst>
          </p:cNvPr>
          <p:cNvSpPr>
            <a:spLocks noGrp="1"/>
          </p:cNvSpPr>
          <p:nvPr>
            <p:ph type="sldNum" sz="quarter" idx="12"/>
          </p:nvPr>
        </p:nvSpPr>
        <p:spPr/>
        <p:txBody>
          <a:bodyPr/>
          <a:lstStyle/>
          <a:p>
            <a:fld id="{6FFFF67E-EC6A-B940-8DC7-BF9A5925C934}" type="slidenum">
              <a:rPr lang="en-US" smtClean="0"/>
              <a:t>154</a:t>
            </a:fld>
            <a:endParaRPr lang="en-US" dirty="0"/>
          </a:p>
        </p:txBody>
      </p:sp>
      <p:sp>
        <p:nvSpPr>
          <p:cNvPr id="5" name="Content Placeholder 4">
            <a:extLst>
              <a:ext uri="{FF2B5EF4-FFF2-40B4-BE49-F238E27FC236}">
                <a16:creationId xmlns:a16="http://schemas.microsoft.com/office/drawing/2014/main" id="{D9803DC3-9C5E-B0A2-4811-6B7EF8C4E36C}"/>
              </a:ext>
            </a:extLst>
          </p:cNvPr>
          <p:cNvSpPr>
            <a:spLocks noGrp="1"/>
          </p:cNvSpPr>
          <p:nvPr>
            <p:ph idx="1"/>
          </p:nvPr>
        </p:nvSpPr>
        <p:spPr/>
        <p:txBody>
          <a:bodyPr/>
          <a:lstStyle/>
          <a:p>
            <a:endParaRPr lang="en-US"/>
          </a:p>
        </p:txBody>
      </p:sp>
      <p:pic>
        <p:nvPicPr>
          <p:cNvPr id="7" name="Content Placeholder 5">
            <a:extLst>
              <a:ext uri="{FF2B5EF4-FFF2-40B4-BE49-F238E27FC236}">
                <a16:creationId xmlns:a16="http://schemas.microsoft.com/office/drawing/2014/main" id="{5BA68A5C-8321-EE29-303E-94007CCEA1A7}"/>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237564144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C0B2-2A56-594A-AC58-C35BF261EE44}"/>
              </a:ext>
            </a:extLst>
          </p:cNvPr>
          <p:cNvSpPr>
            <a:spLocks noGrp="1"/>
          </p:cNvSpPr>
          <p:nvPr>
            <p:ph type="title"/>
          </p:nvPr>
        </p:nvSpPr>
        <p:spPr/>
        <p:txBody>
          <a:bodyPr/>
          <a:lstStyle/>
          <a:p>
            <a:r>
              <a:rPr lang="en-US" dirty="0"/>
              <a:t>Vue and Forms</a:t>
            </a:r>
          </a:p>
        </p:txBody>
      </p:sp>
      <p:sp>
        <p:nvSpPr>
          <p:cNvPr id="4" name="Text Placeholder 3">
            <a:extLst>
              <a:ext uri="{FF2B5EF4-FFF2-40B4-BE49-F238E27FC236}">
                <a16:creationId xmlns:a16="http://schemas.microsoft.com/office/drawing/2014/main" id="{08F7F7C3-9AA0-3841-8C74-0A07549E41E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19983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1706-0A26-6E47-98BC-DAB14F9C35FF}"/>
              </a:ext>
            </a:extLst>
          </p:cNvPr>
          <p:cNvSpPr>
            <a:spLocks noGrp="1"/>
          </p:cNvSpPr>
          <p:nvPr>
            <p:ph type="title"/>
          </p:nvPr>
        </p:nvSpPr>
        <p:spPr/>
        <p:txBody>
          <a:bodyPr/>
          <a:lstStyle/>
          <a:p>
            <a:r>
              <a:rPr lang="en-US" dirty="0"/>
              <a:t>Input Bindings</a:t>
            </a:r>
          </a:p>
        </p:txBody>
      </p:sp>
      <p:sp>
        <p:nvSpPr>
          <p:cNvPr id="4" name="Text Placeholder 3">
            <a:extLst>
              <a:ext uri="{FF2B5EF4-FFF2-40B4-BE49-F238E27FC236}">
                <a16:creationId xmlns:a16="http://schemas.microsoft.com/office/drawing/2014/main" id="{D9EEDCA5-7324-3E45-BE41-6D4A4AC529F6}"/>
              </a:ext>
            </a:extLst>
          </p:cNvPr>
          <p:cNvSpPr>
            <a:spLocks noGrp="1"/>
          </p:cNvSpPr>
          <p:nvPr>
            <p:ph idx="1"/>
          </p:nvPr>
        </p:nvSpPr>
        <p:spPr/>
        <p:txBody>
          <a:bodyPr>
            <a:normAutofit/>
          </a:bodyPr>
          <a:lstStyle/>
          <a:p>
            <a:pPr marL="0" indent="0">
              <a:buNone/>
            </a:pPr>
            <a:r>
              <a:rPr lang="en-US">
                <a:latin typeface="Courier New" pitchFamily="2" charset="0"/>
              </a:rPr>
              <a:t>&lt;input v-model="yourAnswer"&gt;</a:t>
            </a:r>
          </a:p>
          <a:p>
            <a:pPr marL="0" indent="0">
              <a:buNone/>
            </a:pPr>
            <a:r>
              <a:rPr lang="en-US">
                <a:latin typeface="Courier New" pitchFamily="2" charset="0"/>
              </a:rPr>
              <a:t>&lt;textarea v-model="yourAnswer"&gt;&lt;/textarea&gt;</a:t>
            </a:r>
          </a:p>
          <a:p>
            <a:pPr marL="0" indent="0">
              <a:buNone/>
            </a:pPr>
            <a:r>
              <a:rPr lang="en-US">
                <a:latin typeface="Courier New" pitchFamily="2" charset="0"/>
              </a:rPr>
              <a:t>&lt;input type="checkbox" id="yourAnswer" v-model="checked"&gt;</a:t>
            </a:r>
          </a:p>
          <a:p>
            <a:pPr marL="0" indent="0">
              <a:buNone/>
            </a:pPr>
            <a:r>
              <a:rPr lang="en-US">
                <a:latin typeface="Courier New" pitchFamily="2" charset="0"/>
              </a:rPr>
              <a:t>&lt;input type="radio" id="first" value="First" v-model="picked"&gt;</a:t>
            </a:r>
          </a:p>
          <a:p>
            <a:pPr marL="0" indent="0">
              <a:buNone/>
            </a:pPr>
            <a:r>
              <a:rPr lang="en-US">
                <a:latin typeface="Courier New" pitchFamily="2" charset="0"/>
              </a:rPr>
              <a:t>&lt;select v-model="selected"&gt;</a:t>
            </a:r>
          </a:p>
          <a:p>
            <a:pPr marL="0" lvl="1" indent="0">
              <a:buNone/>
            </a:pPr>
            <a:r>
              <a:rPr lang="en-US">
                <a:latin typeface="Courier New" pitchFamily="2" charset="0"/>
              </a:rPr>
              <a:t>&lt;option&gt;A&lt;/option&gt;</a:t>
            </a:r>
          </a:p>
          <a:p>
            <a:pPr marL="0" lvl="1" indent="0">
              <a:buNone/>
            </a:pPr>
            <a:r>
              <a:rPr lang="en-US">
                <a:latin typeface="Courier New" pitchFamily="2" charset="0"/>
              </a:rPr>
              <a:t>&lt;option&gt;B&lt;/option&gt;</a:t>
            </a:r>
          </a:p>
          <a:p>
            <a:pPr marL="0" lvl="1" indent="0">
              <a:buNone/>
            </a:pPr>
            <a:r>
              <a:rPr lang="en-US">
                <a:latin typeface="Courier New" pitchFamily="2" charset="0"/>
              </a:rPr>
              <a:t>&lt;option&gt;C&lt;/option&gt;</a:t>
            </a:r>
          </a:p>
          <a:p>
            <a:pPr marL="0" indent="0">
              <a:buNone/>
            </a:pPr>
            <a:r>
              <a:rPr lang="en-US">
                <a:latin typeface="Courier New" pitchFamily="2" charset="0"/>
              </a:rPr>
              <a:t>&lt;/select&gt;</a:t>
            </a:r>
          </a:p>
        </p:txBody>
      </p:sp>
    </p:spTree>
    <p:extLst>
      <p:ext uri="{BB962C8B-B14F-4D97-AF65-F5344CB8AC3E}">
        <p14:creationId xmlns:p14="http://schemas.microsoft.com/office/powerpoint/2010/main" val="275896435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84A8-6EDC-E142-AC48-258F85ED68A0}"/>
              </a:ext>
            </a:extLst>
          </p:cNvPr>
          <p:cNvSpPr>
            <a:spLocks noGrp="1"/>
          </p:cNvSpPr>
          <p:nvPr>
            <p:ph type="title"/>
          </p:nvPr>
        </p:nvSpPr>
        <p:spPr/>
        <p:txBody>
          <a:bodyPr/>
          <a:lstStyle/>
          <a:p>
            <a:r>
              <a:rPr lang="en-US" dirty="0"/>
              <a:t>2-way Binding Pros and Cons</a:t>
            </a:r>
          </a:p>
        </p:txBody>
      </p:sp>
      <p:sp>
        <p:nvSpPr>
          <p:cNvPr id="3" name="Content Placeholder 2">
            <a:extLst>
              <a:ext uri="{FF2B5EF4-FFF2-40B4-BE49-F238E27FC236}">
                <a16:creationId xmlns:a16="http://schemas.microsoft.com/office/drawing/2014/main" id="{9B7FD934-F28A-604F-A260-DF79679D7D9F}"/>
              </a:ext>
            </a:extLst>
          </p:cNvPr>
          <p:cNvSpPr>
            <a:spLocks noGrp="1"/>
          </p:cNvSpPr>
          <p:nvPr>
            <p:ph idx="1"/>
          </p:nvPr>
        </p:nvSpPr>
        <p:spPr/>
        <p:txBody>
          <a:bodyPr>
            <a:normAutofit fontScale="92500"/>
          </a:bodyPr>
          <a:lstStyle/>
          <a:p>
            <a:r>
              <a:t>2-way binding makes development easier</a:t>
            </a:r>
          </a:p>
          <a:p>
            <a:r>
              <a:t>2-way binding makes testing more difficult</a:t>
            </a:r>
          </a:p>
          <a:p>
            <a:r>
              <a:t>v-model is sort of magic (which could be a pro or con)</a:t>
            </a:r>
          </a:p>
          <a:p>
            <a:endParaRPr/>
          </a:p>
          <a:p>
            <a:pPr marL="0" indent="0">
              <a:buNone/>
            </a:pPr>
            <a:r>
              <a:rPr lang="en-US">
                <a:latin typeface="Courier New" pitchFamily="49" charset="0"/>
              </a:rPr>
              <a:t>&lt;input v-model="searchText"&gt;</a:t>
            </a:r>
          </a:p>
          <a:p>
            <a:endParaRPr/>
          </a:p>
          <a:p>
            <a:r>
              <a:t>does the same thing as:</a:t>
            </a:r>
          </a:p>
          <a:p>
            <a:endParaRPr/>
          </a:p>
          <a:p>
            <a:r>
              <a:t>&lt;input</a:t>
            </a:r>
          </a:p>
          <a:p>
            <a:pPr marL="0" indent="0">
              <a:buNone/>
            </a:pPr>
            <a:r>
              <a:rPr lang="en-US">
                <a:latin typeface="Courier New" pitchFamily="49" charset="0"/>
              </a:rPr>
              <a:t>  :value="searchText"</a:t>
            </a:r>
          </a:p>
          <a:p>
            <a:pPr marL="0" indent="0">
              <a:buNone/>
            </a:pPr>
            <a:r>
              <a:rPr lang="en-US">
                <a:latin typeface="Courier New" pitchFamily="49" charset="0"/>
              </a:rPr>
              <a:t>  @input="searchText = $event.target.value" &gt;</a:t>
            </a:r>
          </a:p>
        </p:txBody>
      </p:sp>
      <p:sp>
        <p:nvSpPr>
          <p:cNvPr id="4" name="Slide Number Placeholder 3">
            <a:extLst>
              <a:ext uri="{FF2B5EF4-FFF2-40B4-BE49-F238E27FC236}">
                <a16:creationId xmlns:a16="http://schemas.microsoft.com/office/drawing/2014/main" id="{3475813C-A248-5C49-B457-1DAC1059619A}"/>
              </a:ext>
            </a:extLst>
          </p:cNvPr>
          <p:cNvSpPr>
            <a:spLocks noGrp="1"/>
          </p:cNvSpPr>
          <p:nvPr>
            <p:ph type="sldNum" sz="quarter" idx="12"/>
          </p:nvPr>
        </p:nvSpPr>
        <p:spPr/>
        <p:txBody>
          <a:bodyPr/>
          <a:lstStyle/>
          <a:p>
            <a:fld id="{6FFFF67E-EC6A-B940-8DC7-BF9A5925C934}" type="slidenum">
              <a:rPr lang="en-US" smtClean="0"/>
              <a:t>157</a:t>
            </a:fld>
            <a:endParaRPr lang="en-US" dirty="0"/>
          </a:p>
        </p:txBody>
      </p:sp>
    </p:spTree>
    <p:extLst>
      <p:ext uri="{BB962C8B-B14F-4D97-AF65-F5344CB8AC3E}">
        <p14:creationId xmlns:p14="http://schemas.microsoft.com/office/powerpoint/2010/main" val="275036792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3C325-C97C-684F-BB43-258EB4EEC4C0}"/>
              </a:ext>
            </a:extLst>
          </p:cNvPr>
          <p:cNvSpPr>
            <a:spLocks noGrp="1"/>
          </p:cNvSpPr>
          <p:nvPr>
            <p:ph type="title"/>
          </p:nvPr>
        </p:nvSpPr>
        <p:spPr/>
        <p:txBody>
          <a:bodyPr/>
          <a:lstStyle/>
          <a:p>
            <a:r>
              <a:rPr lang="en-US" dirty="0"/>
              <a:t>Creating a Form with Checkboxes </a:t>
            </a:r>
          </a:p>
        </p:txBody>
      </p:sp>
      <p:sp>
        <p:nvSpPr>
          <p:cNvPr id="4" name="Text Placeholder 3">
            <a:extLst>
              <a:ext uri="{FF2B5EF4-FFF2-40B4-BE49-F238E27FC236}">
                <a16:creationId xmlns:a16="http://schemas.microsoft.com/office/drawing/2014/main" id="{B25D76FD-CF47-324A-91D7-A1591BFC5E81}"/>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392570643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EA72-6A02-B249-94F7-0779CCF2EE68}"/>
              </a:ext>
            </a:extLst>
          </p:cNvPr>
          <p:cNvSpPr>
            <a:spLocks noGrp="1"/>
          </p:cNvSpPr>
          <p:nvPr>
            <p:ph type="title"/>
          </p:nvPr>
        </p:nvSpPr>
        <p:spPr/>
        <p:txBody>
          <a:bodyPr/>
          <a:lstStyle/>
          <a:p>
            <a:r>
              <a:rPr lang="en-US" dirty="0"/>
              <a:t>Creating a Form with Radio Buttons </a:t>
            </a:r>
          </a:p>
        </p:txBody>
      </p:sp>
      <p:sp>
        <p:nvSpPr>
          <p:cNvPr id="4" name="Text Placeholder 3">
            <a:extLst>
              <a:ext uri="{FF2B5EF4-FFF2-40B4-BE49-F238E27FC236}">
                <a16:creationId xmlns:a16="http://schemas.microsoft.com/office/drawing/2014/main" id="{E05E9306-4EE4-4C48-80C5-8DAEAF1671EB}"/>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34803305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B3D4-F5C1-D546-803D-8E9110635698}"/>
              </a:ext>
            </a:extLst>
          </p:cNvPr>
          <p:cNvSpPr>
            <a:spLocks noGrp="1"/>
          </p:cNvSpPr>
          <p:nvPr>
            <p:ph type="title"/>
          </p:nvPr>
        </p:nvSpPr>
        <p:spPr/>
        <p:txBody>
          <a:bodyPr/>
          <a:lstStyle/>
          <a:p>
            <a:r>
              <a:rPr lang="en-US" dirty="0"/>
              <a:t>Creating a Form with a Select Element </a:t>
            </a:r>
          </a:p>
        </p:txBody>
      </p:sp>
      <p:sp>
        <p:nvSpPr>
          <p:cNvPr id="4" name="Text Placeholder 3">
            <a:extLst>
              <a:ext uri="{FF2B5EF4-FFF2-40B4-BE49-F238E27FC236}">
                <a16:creationId xmlns:a16="http://schemas.microsoft.com/office/drawing/2014/main" id="{0592DA0D-514A-9B42-8C4B-8A389DED1629}"/>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312820782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D418-28D1-624B-B115-C16E44FE7362}"/>
              </a:ext>
            </a:extLst>
          </p:cNvPr>
          <p:cNvSpPr>
            <a:spLocks noGrp="1"/>
          </p:cNvSpPr>
          <p:nvPr>
            <p:ph type="title"/>
          </p:nvPr>
        </p:nvSpPr>
        <p:spPr/>
        <p:txBody>
          <a:bodyPr/>
          <a:lstStyle/>
          <a:p>
            <a:r>
              <a:rPr lang="en-US" dirty="0"/>
              <a:t>Input Modifiers</a:t>
            </a:r>
          </a:p>
        </p:txBody>
      </p:sp>
      <p:sp>
        <p:nvSpPr>
          <p:cNvPr id="4" name="Text Placeholder 3">
            <a:extLst>
              <a:ext uri="{FF2B5EF4-FFF2-40B4-BE49-F238E27FC236}">
                <a16:creationId xmlns:a16="http://schemas.microsoft.com/office/drawing/2014/main" id="{1706A281-E793-3640-BAC3-C2B2F6EC84E4}"/>
              </a:ext>
            </a:extLst>
          </p:cNvPr>
          <p:cNvSpPr>
            <a:spLocks noGrp="1"/>
          </p:cNvSpPr>
          <p:nvPr>
            <p:ph type="body" idx="1"/>
          </p:nvPr>
        </p:nvSpPr>
        <p:spPr/>
        <p:txBody>
          <a:bodyPr/>
          <a:lstStyle/>
          <a:p>
            <a:r>
              <a:rPr lang="en-US" dirty="0"/>
              <a:t>DEMO</a:t>
            </a:r>
          </a:p>
        </p:txBody>
      </p:sp>
    </p:spTree>
    <p:extLst>
      <p:ext uri="{BB962C8B-B14F-4D97-AF65-F5344CB8AC3E}">
        <p14:creationId xmlns:p14="http://schemas.microsoft.com/office/powerpoint/2010/main" val="230186936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11CD6-97C7-6745-B88F-0A1226631F53}"/>
              </a:ext>
            </a:extLst>
          </p:cNvPr>
          <p:cNvSpPr>
            <a:spLocks noGrp="1"/>
          </p:cNvSpPr>
          <p:nvPr>
            <p:ph type="title"/>
          </p:nvPr>
        </p:nvSpPr>
        <p:spPr/>
        <p:txBody>
          <a:bodyPr/>
          <a:lstStyle/>
          <a:p>
            <a:r>
              <a:rPr lang="en-US" dirty="0"/>
              <a:t>Lab 17: Forms</a:t>
            </a:r>
          </a:p>
        </p:txBody>
      </p:sp>
      <p:sp>
        <p:nvSpPr>
          <p:cNvPr id="4" name="Slide Number Placeholder 3">
            <a:extLst>
              <a:ext uri="{FF2B5EF4-FFF2-40B4-BE49-F238E27FC236}">
                <a16:creationId xmlns:a16="http://schemas.microsoft.com/office/drawing/2014/main" id="{B4BF2FAB-A47F-6143-8B6C-04EA4328C67D}"/>
              </a:ext>
            </a:extLst>
          </p:cNvPr>
          <p:cNvSpPr>
            <a:spLocks noGrp="1"/>
          </p:cNvSpPr>
          <p:nvPr>
            <p:ph type="sldNum" sz="quarter" idx="12"/>
          </p:nvPr>
        </p:nvSpPr>
        <p:spPr/>
        <p:txBody>
          <a:bodyPr/>
          <a:lstStyle/>
          <a:p>
            <a:fld id="{6FFFF67E-EC6A-B940-8DC7-BF9A5925C934}" type="slidenum">
              <a:rPr lang="en-US" smtClean="0"/>
              <a:t>162</a:t>
            </a:fld>
            <a:endParaRPr lang="en-US" dirty="0"/>
          </a:p>
        </p:txBody>
      </p:sp>
      <p:sp>
        <p:nvSpPr>
          <p:cNvPr id="5" name="Content Placeholder 4">
            <a:extLst>
              <a:ext uri="{FF2B5EF4-FFF2-40B4-BE49-F238E27FC236}">
                <a16:creationId xmlns:a16="http://schemas.microsoft.com/office/drawing/2014/main" id="{2BEC38C7-52C0-0015-2B73-97D040E7DDAF}"/>
              </a:ext>
            </a:extLst>
          </p:cNvPr>
          <p:cNvSpPr>
            <a:spLocks noGrp="1"/>
          </p:cNvSpPr>
          <p:nvPr>
            <p:ph idx="1"/>
          </p:nvPr>
        </p:nvSpPr>
        <p:spPr/>
        <p:txBody>
          <a:bodyPr/>
          <a:lstStyle/>
          <a:p>
            <a:endParaRPr lang="en-US"/>
          </a:p>
        </p:txBody>
      </p:sp>
      <p:pic>
        <p:nvPicPr>
          <p:cNvPr id="7" name="Content Placeholder 5">
            <a:extLst>
              <a:ext uri="{FF2B5EF4-FFF2-40B4-BE49-F238E27FC236}">
                <a16:creationId xmlns:a16="http://schemas.microsoft.com/office/drawing/2014/main" id="{0CED2E69-4EFE-E64B-B02C-48795629521B}"/>
              </a:ext>
            </a:extLst>
          </p:cNvPr>
          <p:cNvPicPr>
            <a:picLocks noChangeAspect="1"/>
          </p:cNvPicPr>
          <p:nvPr/>
        </p:nvPicPr>
        <p:blipFill>
          <a:blip r:embed="rId2"/>
          <a:stretch>
            <a:fillRect/>
          </a:stretch>
        </p:blipFill>
        <p:spPr>
          <a:xfrm>
            <a:off x="1179011" y="1600200"/>
            <a:ext cx="6785978" cy="4525963"/>
          </a:xfrm>
          <a:prstGeom prst="rect">
            <a:avLst/>
          </a:prstGeom>
        </p:spPr>
      </p:pic>
    </p:spTree>
    <p:extLst>
      <p:ext uri="{BB962C8B-B14F-4D97-AF65-F5344CB8AC3E}">
        <p14:creationId xmlns:p14="http://schemas.microsoft.com/office/powerpoint/2010/main" val="300929196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16602-9D2A-C045-8130-479D87D216C1}"/>
              </a:ext>
            </a:extLst>
          </p:cNvPr>
          <p:cNvSpPr>
            <a:spLocks noGrp="1"/>
          </p:cNvSpPr>
          <p:nvPr>
            <p:ph type="title"/>
          </p:nvPr>
        </p:nvSpPr>
        <p:spPr/>
        <p:txBody>
          <a:bodyPr/>
          <a:lstStyle/>
          <a:p>
            <a:r>
              <a:rPr lang="en-US" dirty="0"/>
              <a:t>Vue Components </a:t>
            </a:r>
          </a:p>
        </p:txBody>
      </p:sp>
      <p:sp>
        <p:nvSpPr>
          <p:cNvPr id="4" name="Text Placeholder 3">
            <a:extLst>
              <a:ext uri="{FF2B5EF4-FFF2-40B4-BE49-F238E27FC236}">
                <a16:creationId xmlns:a16="http://schemas.microsoft.com/office/drawing/2014/main" id="{06C29AFF-AA16-1E48-9AA7-D31AC3AE182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72287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B191-34D3-B348-BB4E-D5F38029DA96}"/>
              </a:ext>
            </a:extLst>
          </p:cNvPr>
          <p:cNvSpPr>
            <a:spLocks noGrp="1"/>
          </p:cNvSpPr>
          <p:nvPr>
            <p:ph type="title"/>
          </p:nvPr>
        </p:nvSpPr>
        <p:spPr/>
        <p:txBody>
          <a:bodyPr/>
          <a:lstStyle/>
          <a:p>
            <a:r>
              <a:t>What are Vue Components?</a:t>
            </a:r>
          </a:p>
        </p:txBody>
      </p:sp>
      <p:sp>
        <p:nvSpPr>
          <p:cNvPr id="3" name="Content Placeholder 2">
            <a:extLst>
              <a:ext uri="{FF2B5EF4-FFF2-40B4-BE49-F238E27FC236}">
                <a16:creationId xmlns:a16="http://schemas.microsoft.com/office/drawing/2014/main" id="{76D97BDE-02E6-9247-A604-78BE28148704}"/>
              </a:ext>
            </a:extLst>
          </p:cNvPr>
          <p:cNvSpPr>
            <a:spLocks noGrp="1"/>
          </p:cNvSpPr>
          <p:nvPr>
            <p:ph idx="1"/>
          </p:nvPr>
        </p:nvSpPr>
        <p:spPr/>
        <p:txBody>
          <a:bodyPr/>
          <a:lstStyle/>
          <a:p>
            <a:r>
              <a:t>A reusable piece of UI with its own state, template and styles.</a:t>
            </a:r>
          </a:p>
          <a:p>
            <a:r>
              <a:t>Written as a single-file component: .vue with &lt;script setup&gt;, &lt;template&gt; and &lt;style&gt;.</a:t>
            </a:r>
          </a:p>
          <a:p>
            <a:r>
              <a:t>State is declared with ref() and reactive(), so each instance automatically gets its own copy — this is what the data() function guaranteed in the Options API.</a:t>
            </a:r>
          </a:p>
          <a:p>
            <a:r>
              <a:t>A component may have more than one root element (a Fragment).</a:t>
            </a:r>
          </a:p>
        </p:txBody>
      </p:sp>
      <p:sp>
        <p:nvSpPr>
          <p:cNvPr id="4" name="Slide Number Placeholder 3">
            <a:extLst>
              <a:ext uri="{FF2B5EF4-FFF2-40B4-BE49-F238E27FC236}">
                <a16:creationId xmlns:a16="http://schemas.microsoft.com/office/drawing/2014/main" id="{BD9D7BDA-FB49-6948-94E1-BCE1E2E73AF6}"/>
              </a:ext>
            </a:extLst>
          </p:cNvPr>
          <p:cNvSpPr>
            <a:spLocks noGrp="1"/>
          </p:cNvSpPr>
          <p:nvPr>
            <p:ph type="sldNum" sz="quarter" idx="12"/>
          </p:nvPr>
        </p:nvSpPr>
        <p:spPr/>
        <p:txBody>
          <a:bodyPr/>
          <a:lstStyle/>
          <a:p>
            <a:fld id="{6FFFF67E-EC6A-B940-8DC7-BF9A5925C934}" type="slidenum">
              <a:rPr lang="en-US" smtClean="0"/>
              <a:t>164</a:t>
            </a:fld>
            <a:endParaRPr lang="en-US" dirty="0"/>
          </a:p>
        </p:txBody>
      </p:sp>
    </p:spTree>
    <p:extLst>
      <p:ext uri="{BB962C8B-B14F-4D97-AF65-F5344CB8AC3E}">
        <p14:creationId xmlns:p14="http://schemas.microsoft.com/office/powerpoint/2010/main" val="269185608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1AB039-D9CF-664F-88F7-E6543D610F39}"/>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&lt;script setup&gt;</a:t>
            </a:r>
          </a:p>
          <a:p>
            <a:pPr marL="0" indent="0">
              <a:buNone/>
            </a:pPr>
            <a:r>
              <a:t>defineProps({</a:t>
            </a:r>
          </a:p>
          <a:p>
            <a:pPr marL="0" indent="0">
              <a:buNone/>
            </a:pPr>
            <a:r>
              <a:rPr lang="en-US">
                <a:latin typeface="Courier New" pitchFamily="49" charset="0"/>
              </a:rPr>
              <a:t>  todo: { type: Object, required: true }</a:t>
            </a:r>
          </a:p>
          <a:p>
            <a:pPr marL="0" indent="0">
              <a:buNone/>
            </a:pPr>
            <a:r>
              <a:rPr lang="en-US">
                <a:latin typeface="Courier New" pitchFamily="49" charset="0"/>
              </a:rPr>
              <a:t>})</a:t>
            </a:r>
          </a:p>
          <a:p>
            <a:pPr marL="0" indent="0">
              <a:buNone/>
            </a:pPr>
            <a:r>
              <a:rPr lang="en-US">
                <a:latin typeface="Courier New" pitchFamily="49" charset="0"/>
              </a:rPr>
              <a:t>&lt;/script&gt;</a:t>
            </a:r>
          </a:p>
          <a:p>
            <a:pPr marL="0" indent="0">
              <a:buNone/>
            </a:pPr>
            <a:endParaRPr/>
          </a:p>
          <a:p>
            <a:pPr marL="0" indent="0">
              <a:buNone/>
            </a:pPr>
            <a:r>
              <a:rPr lang="en-US">
                <a:latin typeface="Courier New" pitchFamily="49" charset="0"/>
              </a:rPr>
              <a:t>&lt;template&gt;</a:t>
            </a:r>
          </a:p>
          <a:p>
            <a:pPr marL="0" indent="0">
              <a:buNone/>
            </a:pPr>
            <a:r>
              <a:rPr lang="en-US">
                <a:latin typeface="Courier New" pitchFamily="49" charset="0"/>
              </a:rPr>
              <a:t>  &lt;li&gt;{{ todo.text }}&lt;/li&gt;</a:t>
            </a:r>
          </a:p>
          <a:p>
            <a:pPr marL="0" indent="0">
              <a:buNone/>
            </a:pPr>
            <a:r>
              <a:rPr lang="en-US">
                <a:latin typeface="Courier New" pitchFamily="49" charset="0"/>
              </a:rPr>
              <a:t>&lt;/template&gt;</a:t>
            </a:r>
          </a:p>
          <a:p>
            <a:pPr marL="0" indent="0">
              <a:buNone/>
            </a:pPr>
            <a:endParaRPr/>
          </a:p>
          <a:p>
            <a:pPr marL="0" indent="0">
              <a:buNone/>
            </a:pPr>
            <a:r>
              <a:rPr lang="en-US">
                <a:latin typeface="Courier New" pitchFamily="49" charset="0"/>
              </a:rPr>
              <a:t>// The file name is the component name: TodoItem.vue is used as</a:t>
            </a:r>
          </a:p>
          <a:p>
            <a:pPr marL="0" indent="0">
              <a:buNone/>
            </a:pPr>
            <a:r>
              <a:rPr lang="en-US">
                <a:latin typeface="Courier New" pitchFamily="49" charset="0"/>
              </a:rPr>
              <a:t>// &lt;TodoItem /&gt;. Vue 2 wrote Vue.component("todo-item", { ... }).</a:t>
            </a:r>
          </a:p>
        </p:txBody>
      </p:sp>
      <p:sp>
        <p:nvSpPr>
          <p:cNvPr id="2" name="Title 1">
            <a:extLst>
              <a:ext uri="{FF2B5EF4-FFF2-40B4-BE49-F238E27FC236}">
                <a16:creationId xmlns:a16="http://schemas.microsoft.com/office/drawing/2014/main" id="{83657D83-365D-9C44-B6E6-8FB8BDBFBF44}"/>
              </a:ext>
            </a:extLst>
          </p:cNvPr>
          <p:cNvSpPr>
            <a:spLocks noGrp="1"/>
          </p:cNvSpPr>
          <p:nvPr>
            <p:ph type="title"/>
          </p:nvPr>
        </p:nvSpPr>
        <p:spPr/>
        <p:txBody>
          <a:bodyPr/>
          <a:lstStyle/>
          <a:p>
            <a:r>
              <a:t>Creating a Component</a:t>
            </a:r>
          </a:p>
        </p:txBody>
      </p:sp>
    </p:spTree>
    <p:extLst>
      <p:ext uri="{BB962C8B-B14F-4D97-AF65-F5344CB8AC3E}">
        <p14:creationId xmlns:p14="http://schemas.microsoft.com/office/powerpoint/2010/main" val="100855966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55765-2262-1E4E-9F60-F438358ED31E}"/>
              </a:ext>
            </a:extLst>
          </p:cNvPr>
          <p:cNvSpPr>
            <a:spLocks noGrp="1"/>
          </p:cNvSpPr>
          <p:nvPr>
            <p:ph type="title"/>
          </p:nvPr>
        </p:nvSpPr>
        <p:spPr/>
        <p:txBody>
          <a:bodyPr/>
          <a:lstStyle/>
          <a:p>
            <a:r>
              <a:rPr lang="en-US" dirty="0"/>
              <a:t>Organizing and Reusing Components</a:t>
            </a:r>
          </a:p>
        </p:txBody>
      </p:sp>
      <p:sp>
        <p:nvSpPr>
          <p:cNvPr id="3" name="Text Placeholder 2">
            <a:extLst>
              <a:ext uri="{FF2B5EF4-FFF2-40B4-BE49-F238E27FC236}">
                <a16:creationId xmlns:a16="http://schemas.microsoft.com/office/drawing/2014/main" id="{9F972390-A84F-9942-8354-C60AB8E278D3}"/>
              </a:ext>
            </a:extLst>
          </p:cNvPr>
          <p:cNvSpPr>
            <a:spLocks noGrp="1"/>
          </p:cNvSpPr>
          <p:nvPr>
            <p:ph type="body" idx="1"/>
          </p:nvPr>
        </p:nvSpPr>
        <p:spPr/>
        <p:txBody>
          <a:bodyPr/>
          <a:lstStyle/>
          <a:p>
            <a:r>
              <a:rPr lang="en-US" dirty="0"/>
              <a:t>Apps are usually organized as a tree of nested components.</a:t>
            </a:r>
          </a:p>
        </p:txBody>
      </p:sp>
      <p:pic>
        <p:nvPicPr>
          <p:cNvPr id="5" name="Picture 4">
            <a:extLst>
              <a:ext uri="{FF2B5EF4-FFF2-40B4-BE49-F238E27FC236}">
                <a16:creationId xmlns:a16="http://schemas.microsoft.com/office/drawing/2014/main" id="{26AAFFFE-7FA0-40C1-F824-2B888B0A9EB0}"/>
              </a:ext>
            </a:extLst>
          </p:cNvPr>
          <p:cNvPicPr>
            <a:picLocks noChangeAspect="1"/>
          </p:cNvPicPr>
          <p:nvPr/>
        </p:nvPicPr>
        <p:blipFill>
          <a:blip r:embed="rId3"/>
          <a:stretch>
            <a:fillRect/>
          </a:stretch>
        </p:blipFill>
        <p:spPr>
          <a:xfrm>
            <a:off x="0" y="2588228"/>
            <a:ext cx="9144000" cy="3537935"/>
          </a:xfrm>
          <a:prstGeom prst="rect">
            <a:avLst/>
          </a:prstGeom>
        </p:spPr>
      </p:pic>
    </p:spTree>
    <p:extLst>
      <p:ext uri="{BB962C8B-B14F-4D97-AF65-F5344CB8AC3E}">
        <p14:creationId xmlns:p14="http://schemas.microsoft.com/office/powerpoint/2010/main" val="35711669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33D8-1294-9940-8EE5-251BFBEB7752}"/>
              </a:ext>
            </a:extLst>
          </p:cNvPr>
          <p:cNvSpPr>
            <a:spLocks noGrp="1"/>
          </p:cNvSpPr>
          <p:nvPr>
            <p:ph type="title"/>
          </p:nvPr>
        </p:nvSpPr>
        <p:spPr/>
        <p:txBody>
          <a:bodyPr/>
          <a:lstStyle/>
          <a:p>
            <a:r>
              <a:rPr lang="en-US" dirty="0"/>
              <a:t>Naming Components</a:t>
            </a:r>
          </a:p>
        </p:txBody>
      </p:sp>
      <p:sp>
        <p:nvSpPr>
          <p:cNvPr id="3" name="Content Placeholder 2">
            <a:extLst>
              <a:ext uri="{FF2B5EF4-FFF2-40B4-BE49-F238E27FC236}">
                <a16:creationId xmlns:a16="http://schemas.microsoft.com/office/drawing/2014/main" id="{78CED7D8-6DF0-AE43-ABC1-03C1BFFC2081}"/>
              </a:ext>
            </a:extLst>
          </p:cNvPr>
          <p:cNvSpPr>
            <a:spLocks noGrp="1"/>
          </p:cNvSpPr>
          <p:nvPr>
            <p:ph idx="1"/>
          </p:nvPr>
        </p:nvSpPr>
        <p:spPr/>
        <p:txBody>
          <a:bodyPr/>
          <a:lstStyle/>
          <a:p>
            <a:r>
              <a:t>Two options</a:t>
            </a:r>
          </a:p>
          <a:p>
            <a:pPr lvl="1"/>
            <a:r>
              <a:t>PascalCase — the recommended default</a:t>
            </a:r>
          </a:p>
          <a:p>
            <a:pPr lvl="2"/>
            <a:r>
              <a:t>Matches the file name, and the editor can resolve it</a:t>
            </a:r>
          </a:p>
          <a:p>
            <a:pPr lvl="2"/>
            <a:r>
              <a:t>Distinguishes your components from native HTML elements</a:t>
            </a:r>
          </a:p>
          <a:p>
            <a:pPr lvl="1"/>
            <a:r>
              <a:t>kebab-case</a:t>
            </a:r>
          </a:p>
          <a:p>
            <a:pPr lvl="2"/>
            <a:r>
              <a:t>Required when writing templates directly in the DOM, because HTML tag names are case-insensitive</a:t>
            </a:r>
          </a:p>
          <a:p>
            <a:r>
              <a:t>A component imported in &lt;script setup&gt; can be used under the name you imported it as.</a:t>
            </a:r>
          </a:p>
        </p:txBody>
      </p:sp>
      <p:sp>
        <p:nvSpPr>
          <p:cNvPr id="4" name="Slide Number Placeholder 3">
            <a:extLst>
              <a:ext uri="{FF2B5EF4-FFF2-40B4-BE49-F238E27FC236}">
                <a16:creationId xmlns:a16="http://schemas.microsoft.com/office/drawing/2014/main" id="{57C25B14-A38C-AF44-8DAA-B5D0B9132DEB}"/>
              </a:ext>
            </a:extLst>
          </p:cNvPr>
          <p:cNvSpPr>
            <a:spLocks noGrp="1"/>
          </p:cNvSpPr>
          <p:nvPr>
            <p:ph type="sldNum" sz="quarter" idx="12"/>
          </p:nvPr>
        </p:nvSpPr>
        <p:spPr/>
        <p:txBody>
          <a:bodyPr/>
          <a:lstStyle/>
          <a:p>
            <a:fld id="{6FFFF67E-EC6A-B940-8DC7-BF9A5925C934}" type="slidenum">
              <a:rPr lang="en-US" smtClean="0"/>
              <a:t>167</a:t>
            </a:fld>
            <a:endParaRPr lang="en-US" dirty="0"/>
          </a:p>
        </p:txBody>
      </p:sp>
    </p:spTree>
    <p:extLst>
      <p:ext uri="{BB962C8B-B14F-4D97-AF65-F5344CB8AC3E}">
        <p14:creationId xmlns:p14="http://schemas.microsoft.com/office/powerpoint/2010/main" val="206551060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6867-894F-1A40-9527-278D962CDD33}"/>
              </a:ext>
            </a:extLst>
          </p:cNvPr>
          <p:cNvSpPr>
            <a:spLocks noGrp="1"/>
          </p:cNvSpPr>
          <p:nvPr>
            <p:ph type="title"/>
          </p:nvPr>
        </p:nvSpPr>
        <p:spPr/>
        <p:txBody>
          <a:bodyPr/>
          <a:lstStyle/>
          <a:p>
            <a:r>
              <a:t>Local Components</a:t>
            </a:r>
          </a:p>
        </p:txBody>
      </p:sp>
      <p:sp>
        <p:nvSpPr>
          <p:cNvPr id="3" name="Content Placeholder 2">
            <a:extLst>
              <a:ext uri="{FF2B5EF4-FFF2-40B4-BE49-F238E27FC236}">
                <a16:creationId xmlns:a16="http://schemas.microsoft.com/office/drawing/2014/main" id="{4217878F-BCD0-BE42-9601-B5BC5FC95AF4}"/>
              </a:ext>
            </a:extLst>
          </p:cNvPr>
          <p:cNvSpPr>
            <a:spLocks noGrp="1"/>
          </p:cNvSpPr>
          <p:nvPr>
            <p:ph idx="1"/>
          </p:nvPr>
        </p:nvSpPr>
        <p:spPr/>
        <p:txBody>
          <a:bodyPr>
            <a:normAutofit fontScale="92500" lnSpcReduction="10000"/>
          </a:bodyPr>
          <a:lstStyle/>
          <a:p>
            <a:r>
              <a:t>The usual case: import the component where you use it.</a:t>
            </a:r>
          </a:p>
          <a:p>
            <a:endParaRPr/>
          </a:p>
          <a:p>
            <a:pPr marL="0" indent="0">
              <a:buNone/>
            </a:pPr>
            <a:r>
              <a:rPr lang="en-US">
                <a:latin typeface="Courier New" pitchFamily="49" charset="0"/>
              </a:rPr>
              <a:t>&lt;script setup&gt;</a:t>
            </a:r>
          </a:p>
          <a:p>
            <a:r>
              <a:t>import PopupWindow from './components/PopupWindow.vue'</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&lt;PopupWindow /&gt;</a:t>
            </a:r>
          </a:p>
          <a:p>
            <a:pPr marL="0" indent="0">
              <a:buNone/>
            </a:pPr>
            <a:r>
              <a:rPr lang="en-US">
                <a:latin typeface="Courier New" pitchFamily="49" charset="0"/>
              </a:rPr>
              <a:t>&lt;/template&gt;</a:t>
            </a:r>
          </a:p>
          <a:p>
            <a:endParaRPr/>
          </a:p>
          <a:p>
            <a:pPr marL="0" indent="0">
              <a:buNone/>
            </a:pPr>
            <a:r>
              <a:rPr lang="en-US">
                <a:latin typeface="Courier New" pitchFamily="49" charset="0"/>
              </a:rPr>
              <a:t>// The import is the registration. There is no components option.</a:t>
            </a:r>
          </a:p>
        </p:txBody>
      </p:sp>
      <p:sp>
        <p:nvSpPr>
          <p:cNvPr id="4" name="Slide Number Placeholder 3">
            <a:extLst>
              <a:ext uri="{FF2B5EF4-FFF2-40B4-BE49-F238E27FC236}">
                <a16:creationId xmlns:a16="http://schemas.microsoft.com/office/drawing/2014/main" id="{B509D710-63FD-E04E-8921-0FDA0780CA5A}"/>
              </a:ext>
            </a:extLst>
          </p:cNvPr>
          <p:cNvSpPr>
            <a:spLocks noGrp="1"/>
          </p:cNvSpPr>
          <p:nvPr>
            <p:ph type="sldNum" sz="quarter" idx="12"/>
          </p:nvPr>
        </p:nvSpPr>
        <p:spPr/>
        <p:txBody>
          <a:bodyPr/>
          <a:lstStyle/>
          <a:p>
            <a:fld id="{6FFFF67E-EC6A-B940-8DC7-BF9A5925C934}" type="slidenum">
              <a:rPr lang="en-US" smtClean="0"/>
              <a:t>168</a:t>
            </a:fld>
            <a:endParaRPr lang="en-US" dirty="0"/>
          </a:p>
        </p:txBody>
      </p:sp>
    </p:spTree>
    <p:extLst>
      <p:ext uri="{BB962C8B-B14F-4D97-AF65-F5344CB8AC3E}">
        <p14:creationId xmlns:p14="http://schemas.microsoft.com/office/powerpoint/2010/main" val="68418354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D03A-2717-4242-8AF0-54B081D6E2C8}"/>
              </a:ext>
            </a:extLst>
          </p:cNvPr>
          <p:cNvSpPr>
            <a:spLocks noGrp="1"/>
          </p:cNvSpPr>
          <p:nvPr>
            <p:ph type="title"/>
          </p:nvPr>
        </p:nvSpPr>
        <p:spPr/>
        <p:txBody>
          <a:bodyPr/>
          <a:lstStyle/>
          <a:p>
            <a:r>
              <a:t>Global Components</a:t>
            </a:r>
          </a:p>
        </p:txBody>
      </p:sp>
      <p:sp>
        <p:nvSpPr>
          <p:cNvPr id="3" name="Content Placeholder 2">
            <a:extLst>
              <a:ext uri="{FF2B5EF4-FFF2-40B4-BE49-F238E27FC236}">
                <a16:creationId xmlns:a16="http://schemas.microsoft.com/office/drawing/2014/main" id="{36F21EE2-919C-2C48-96D5-8D501818750D}"/>
              </a:ext>
            </a:extLst>
          </p:cNvPr>
          <p:cNvSpPr>
            <a:spLocks noGrp="1"/>
          </p:cNvSpPr>
          <p:nvPr>
            <p:ph idx="1"/>
          </p:nvPr>
        </p:nvSpPr>
        <p:spPr/>
        <p:txBody>
          <a:bodyPr>
            <a:normAutofit fontScale="92500" lnSpcReduction="20000"/>
          </a:bodyPr>
          <a:lstStyle/>
          <a:p>
            <a:pPr marL="0" indent="0">
              <a:buNone/>
            </a:pPr>
            <a:r>
              <a:rPr lang="en-US">
                <a:latin typeface="Courier New" pitchFamily="49" charset="0"/>
              </a:rPr>
              <a:t>import { createApp } from 'vue'</a:t>
            </a:r>
          </a:p>
          <a:p>
            <a:r>
              <a:t>import PopupWindow from './components/PopupWindow.vue'</a:t>
            </a:r>
          </a:p>
          <a:p>
            <a:r>
              <a:t>import App from './App.vue'</a:t>
            </a:r>
          </a:p>
          <a:p>
            <a:endParaRPr/>
          </a:p>
          <a:p>
            <a:pPr marL="0" indent="0">
              <a:buNone/>
            </a:pPr>
            <a:r>
              <a:rPr lang="en-US">
                <a:latin typeface="Courier New" pitchFamily="49" charset="0"/>
              </a:rPr>
              <a:t>const app = createApp(App)</a:t>
            </a:r>
          </a:p>
          <a:p>
            <a:endParaRPr/>
          </a:p>
          <a:p>
            <a:pPr marL="0" indent="0">
              <a:buNone/>
            </a:pPr>
            <a:r>
              <a:rPr lang="en-US">
                <a:latin typeface="Courier New" pitchFamily="49" charset="0"/>
              </a:rPr>
              <a:t>app.component('PopupWindow', PopupWindow)</a:t>
            </a:r>
          </a:p>
          <a:p>
            <a:endParaRPr/>
          </a:p>
          <a:p>
            <a:pPr marL="0" indent="0">
              <a:buNone/>
            </a:pPr>
            <a:r>
              <a:rPr lang="en-US">
                <a:latin typeface="Courier New" pitchFamily="49" charset="0"/>
              </a:rPr>
              <a:t>app.mount('#app')</a:t>
            </a:r>
          </a:p>
          <a:p>
            <a:endParaRPr/>
          </a:p>
          <a:p>
            <a:pPr marL="0" indent="0">
              <a:buNone/>
            </a:pPr>
            <a:r>
              <a:rPr lang="en-US">
                <a:latin typeface="Courier New" pitchFamily="49" charset="0"/>
              </a:rPr>
              <a:t>// Registered on the app, not on a global Vue, so a second app</a:t>
            </a:r>
          </a:p>
          <a:p>
            <a:pPr marL="0" indent="0">
              <a:buNone/>
            </a:pPr>
            <a:r>
              <a:rPr lang="en-US">
                <a:latin typeface="Courier New" pitchFamily="49" charset="0"/>
              </a:rPr>
              <a:t>// on the page does not see it.</a:t>
            </a:r>
          </a:p>
        </p:txBody>
      </p:sp>
      <p:sp>
        <p:nvSpPr>
          <p:cNvPr id="4" name="Slide Number Placeholder 3">
            <a:extLst>
              <a:ext uri="{FF2B5EF4-FFF2-40B4-BE49-F238E27FC236}">
                <a16:creationId xmlns:a16="http://schemas.microsoft.com/office/drawing/2014/main" id="{8FA8C8C3-728E-5E43-9742-0B3C780793B5}"/>
              </a:ext>
            </a:extLst>
          </p:cNvPr>
          <p:cNvSpPr>
            <a:spLocks noGrp="1"/>
          </p:cNvSpPr>
          <p:nvPr>
            <p:ph type="sldNum" sz="quarter" idx="12"/>
          </p:nvPr>
        </p:nvSpPr>
        <p:spPr/>
        <p:txBody>
          <a:bodyPr/>
          <a:lstStyle/>
          <a:p>
            <a:fld id="{6FFFF67E-EC6A-B940-8DC7-BF9A5925C934}" type="slidenum">
              <a:rPr lang="en-US" smtClean="0"/>
              <a:t>169</a:t>
            </a:fld>
            <a:endParaRPr lang="en-US"/>
          </a:p>
        </p:txBody>
      </p:sp>
    </p:spTree>
    <p:extLst>
      <p:ext uri="{BB962C8B-B14F-4D97-AF65-F5344CB8AC3E}">
        <p14:creationId xmlns:p14="http://schemas.microsoft.com/office/powerpoint/2010/main" val="131351425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7C27-8448-1143-B218-97C06BED20CA}"/>
              </a:ext>
            </a:extLst>
          </p:cNvPr>
          <p:cNvSpPr>
            <a:spLocks noGrp="1"/>
          </p:cNvSpPr>
          <p:nvPr>
            <p:ph type="title"/>
          </p:nvPr>
        </p:nvSpPr>
        <p:spPr/>
        <p:txBody>
          <a:bodyPr/>
          <a:lstStyle/>
          <a:p>
            <a:r>
              <a:t>Global vs. Local</a:t>
            </a:r>
          </a:p>
        </p:txBody>
      </p:sp>
      <p:sp>
        <p:nvSpPr>
          <p:cNvPr id="3" name="Content Placeholder 2">
            <a:extLst>
              <a:ext uri="{FF2B5EF4-FFF2-40B4-BE49-F238E27FC236}">
                <a16:creationId xmlns:a16="http://schemas.microsoft.com/office/drawing/2014/main" id="{848E4E0D-24A9-9041-A11D-4463E7FC9F97}"/>
              </a:ext>
            </a:extLst>
          </p:cNvPr>
          <p:cNvSpPr>
            <a:spLocks noGrp="1"/>
          </p:cNvSpPr>
          <p:nvPr>
            <p:ph idx="1"/>
          </p:nvPr>
        </p:nvSpPr>
        <p:spPr/>
        <p:txBody>
          <a:bodyPr>
            <a:normAutofit/>
          </a:bodyPr>
          <a:lstStyle/>
          <a:p>
            <a:r>
              <a:t>Prefer local registration.</a:t>
            </a:r>
          </a:p>
          <a:p>
            <a:pPr lvl="1"/>
            <a:r>
              <a:t>A reader can see where every component comes from</a:t>
            </a:r>
          </a:p>
          <a:p>
            <a:pPr lvl="1"/>
            <a:r>
              <a:t>Unused components can be tree-shaken out of the bundle</a:t>
            </a:r>
          </a:p>
          <a:p>
            <a:pPr lvl="1"/>
            <a:r>
              <a:t>The editor can jump to the definition</a:t>
            </a:r>
          </a:p>
          <a:p>
            <a:r>
              <a:t>Register globally only for components used on nearly every screen — an icon or a button primitive.</a:t>
            </a:r>
          </a:p>
        </p:txBody>
      </p:sp>
      <p:sp>
        <p:nvSpPr>
          <p:cNvPr id="4" name="Slide Number Placeholder 3">
            <a:extLst>
              <a:ext uri="{FF2B5EF4-FFF2-40B4-BE49-F238E27FC236}">
                <a16:creationId xmlns:a16="http://schemas.microsoft.com/office/drawing/2014/main" id="{BE08718C-14E6-A943-8E07-5A851D8148D1}"/>
              </a:ext>
            </a:extLst>
          </p:cNvPr>
          <p:cNvSpPr>
            <a:spLocks noGrp="1"/>
          </p:cNvSpPr>
          <p:nvPr>
            <p:ph type="sldNum" sz="quarter" idx="12"/>
          </p:nvPr>
        </p:nvSpPr>
        <p:spPr/>
        <p:txBody>
          <a:bodyPr/>
          <a:lstStyle/>
          <a:p>
            <a:fld id="{6FFFF67E-EC6A-B940-8DC7-BF9A5925C934}" type="slidenum">
              <a:rPr lang="en-US" smtClean="0"/>
              <a:t>170</a:t>
            </a:fld>
            <a:endParaRPr lang="en-US" dirty="0"/>
          </a:p>
        </p:txBody>
      </p:sp>
    </p:spTree>
    <p:extLst>
      <p:ext uri="{BB962C8B-B14F-4D97-AF65-F5344CB8AC3E}">
        <p14:creationId xmlns:p14="http://schemas.microsoft.com/office/powerpoint/2010/main" val="188436734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1BFC2-748D-DB48-961A-BAA24CB09B1B}"/>
              </a:ext>
            </a:extLst>
          </p:cNvPr>
          <p:cNvSpPr>
            <a:spLocks noGrp="1"/>
          </p:cNvSpPr>
          <p:nvPr>
            <p:ph type="title"/>
          </p:nvPr>
        </p:nvSpPr>
        <p:spPr/>
        <p:txBody>
          <a:bodyPr/>
          <a:lstStyle/>
          <a:p>
            <a:r>
              <a:t>Props</a:t>
            </a:r>
          </a:p>
        </p:txBody>
      </p:sp>
      <p:sp>
        <p:nvSpPr>
          <p:cNvPr id="3" name="Content Placeholder 2">
            <a:extLst>
              <a:ext uri="{FF2B5EF4-FFF2-40B4-BE49-F238E27FC236}">
                <a16:creationId xmlns:a16="http://schemas.microsoft.com/office/drawing/2014/main" id="{9F21C03A-D580-9444-B36A-34FBD3652103}"/>
              </a:ext>
            </a:extLst>
          </p:cNvPr>
          <p:cNvSpPr>
            <a:spLocks noGrp="1"/>
          </p:cNvSpPr>
          <p:nvPr>
            <p:ph idx="1"/>
          </p:nvPr>
        </p:nvSpPr>
        <p:spPr/>
        <p:txBody>
          <a:bodyPr>
            <a:normAutofit lnSpcReduction="10000"/>
          </a:bodyPr>
          <a:lstStyle/>
          <a:p>
            <a:r>
              <a:t>Declare props with the defineProps compiler macro.</a:t>
            </a:r>
          </a:p>
          <a:p>
            <a:endParaRPr/>
          </a:p>
          <a:p>
            <a:pPr marL="0" indent="0">
              <a:buNone/>
            </a:pPr>
            <a:r>
              <a:rPr lang="en-US">
                <a:latin typeface="Courier New" pitchFamily="49" charset="0"/>
              </a:rPr>
              <a:t>const props = defineProps({</a:t>
            </a:r>
          </a:p>
          <a:p>
            <a:pPr marL="0" indent="0">
              <a:buNone/>
            </a:pPr>
            <a:r>
              <a:rPr lang="en-US">
                <a:latin typeface="Courier New" pitchFamily="49" charset="0"/>
              </a:rPr>
              <a:t>  todo: { type: Object, required: true },</a:t>
            </a:r>
          </a:p>
          <a:p>
            <a:pPr marL="0" indent="0">
              <a:buNone/>
            </a:pPr>
            <a:r>
              <a:rPr lang="en-US">
                <a:latin typeface="Courier New" pitchFamily="49" charset="0"/>
              </a:rPr>
              <a:t>  size: { type: String, default: 'medium' }</a:t>
            </a:r>
          </a:p>
          <a:p>
            <a:pPr marL="0" indent="0">
              <a:buNone/>
            </a:pPr>
            <a:r>
              <a:rPr lang="en-US">
                <a:latin typeface="Courier New" pitchFamily="49" charset="0"/>
              </a:rPr>
              <a:t>})</a:t>
            </a:r>
          </a:p>
          <a:p>
            <a:endParaRPr/>
          </a:p>
          <a:p>
            <a:pPr marL="0" indent="0">
              <a:buNone/>
            </a:pPr>
            <a:r>
              <a:rPr lang="en-US">
                <a:latin typeface="Courier New" pitchFamily="49" charset="0"/>
              </a:rPr>
              <a:t>// In the template write todo directly;</a:t>
            </a:r>
          </a:p>
          <a:p>
            <a:pPr marL="0" indent="0">
              <a:buNone/>
            </a:pPr>
            <a:r>
              <a:rPr lang="en-US">
                <a:latin typeface="Courier New" pitchFamily="49" charset="0"/>
              </a:rPr>
              <a:t>// in script go through props.todo.</a:t>
            </a:r>
          </a:p>
          <a:p>
            <a:pPr marL="0" indent="0">
              <a:buNone/>
            </a:pPr>
            <a:r>
              <a:rPr lang="en-US">
                <a:latin typeface="Courier New" pitchFamily="49" charset="0"/>
              </a:rPr>
              <a:t>// Props are read-only — emit an event to ask for a change.</a:t>
            </a:r>
          </a:p>
        </p:txBody>
      </p:sp>
      <p:sp>
        <p:nvSpPr>
          <p:cNvPr id="4" name="Slide Number Placeholder 3">
            <a:extLst>
              <a:ext uri="{FF2B5EF4-FFF2-40B4-BE49-F238E27FC236}">
                <a16:creationId xmlns:a16="http://schemas.microsoft.com/office/drawing/2014/main" id="{56D20DA5-09A4-644C-97D3-B504AD5C74B5}"/>
              </a:ext>
            </a:extLst>
          </p:cNvPr>
          <p:cNvSpPr>
            <a:spLocks noGrp="1"/>
          </p:cNvSpPr>
          <p:nvPr>
            <p:ph type="sldNum" sz="quarter" idx="12"/>
          </p:nvPr>
        </p:nvSpPr>
        <p:spPr/>
        <p:txBody>
          <a:bodyPr/>
          <a:lstStyle/>
          <a:p>
            <a:fld id="{6FFFF67E-EC6A-B940-8DC7-BF9A5925C934}" type="slidenum">
              <a:rPr lang="en-US" smtClean="0"/>
              <a:t>171</a:t>
            </a:fld>
            <a:endParaRPr lang="en-US" dirty="0"/>
          </a:p>
        </p:txBody>
      </p:sp>
    </p:spTree>
    <p:extLst>
      <p:ext uri="{BB962C8B-B14F-4D97-AF65-F5344CB8AC3E}">
        <p14:creationId xmlns:p14="http://schemas.microsoft.com/office/powerpoint/2010/main" val="105435217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9E21-4780-3848-9D31-D3B2FEE48B95}"/>
              </a:ext>
            </a:extLst>
          </p:cNvPr>
          <p:cNvSpPr>
            <a:spLocks noGrp="1"/>
          </p:cNvSpPr>
          <p:nvPr>
            <p:ph type="title"/>
          </p:nvPr>
        </p:nvSpPr>
        <p:spPr/>
        <p:txBody>
          <a:bodyPr/>
          <a:lstStyle/>
          <a:p>
            <a:r>
              <a:rPr lang="en-US" dirty="0"/>
              <a:t>Passing Data</a:t>
            </a:r>
          </a:p>
        </p:txBody>
      </p:sp>
      <p:sp>
        <p:nvSpPr>
          <p:cNvPr id="3" name="Text Placeholder 2">
            <a:extLst>
              <a:ext uri="{FF2B5EF4-FFF2-40B4-BE49-F238E27FC236}">
                <a16:creationId xmlns:a16="http://schemas.microsoft.com/office/drawing/2014/main" id="{5D48A488-5AF4-7D41-A35A-B6211CBA222B}"/>
              </a:ext>
            </a:extLst>
          </p:cNvPr>
          <p:cNvSpPr>
            <a:spLocks noGrp="1"/>
          </p:cNvSpPr>
          <p:nvPr>
            <p:ph type="body" idx="1"/>
          </p:nvPr>
        </p:nvSpPr>
        <p:spPr/>
        <p:txBody>
          <a:bodyPr/>
          <a:lstStyle/>
          <a:p>
            <a:r>
              <a:rPr lang="en-US" dirty="0"/>
              <a:t>Pass data from parent to child components using props.</a:t>
            </a:r>
          </a:p>
          <a:p>
            <a:r>
              <a:rPr lang="en-US" dirty="0"/>
              <a:t>Pass data to props using element attributes.</a:t>
            </a:r>
          </a:p>
          <a:p>
            <a:pPr marL="0" indent="0">
              <a:buNone/>
            </a:pPr>
            <a:endParaRPr lang="en-US">
              <a:latin typeface="Courier New" pitchFamily="2" charset="0"/>
            </a:endParaRPr>
          </a:p>
          <a:p>
            <a:pPr marL="0" indent="0">
              <a:buNone/>
            </a:pPr>
            <a:r>
              <a:rPr lang="en-US">
                <a:latin typeface="Courier New" pitchFamily="2" charset="0"/>
              </a:rPr>
              <a:t>&lt;todo-item todo = "wash the car" /&gt;</a:t>
            </a:r>
          </a:p>
          <a:p>
            <a:pPr marL="0" indent="0">
              <a:buNone/>
            </a:pPr>
            <a:endParaRPr lang="en-US">
              <a:latin typeface="Courier New" pitchFamily="2" charset="0"/>
            </a:endParaRPr>
          </a:p>
          <a:p>
            <a:r>
              <a:rPr lang="en-US" dirty="0"/>
              <a:t>A component can have as many props as you need</a:t>
            </a:r>
          </a:p>
          <a:p>
            <a:r>
              <a:rPr lang="en-US" dirty="0"/>
              <a:t>Any value can be passed to any prop</a:t>
            </a:r>
          </a:p>
        </p:txBody>
      </p:sp>
    </p:spTree>
    <p:extLst>
      <p:ext uri="{BB962C8B-B14F-4D97-AF65-F5344CB8AC3E}">
        <p14:creationId xmlns:p14="http://schemas.microsoft.com/office/powerpoint/2010/main" val="29362289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F658FB0-9954-604A-BF27-FECA7003F073}"/>
              </a:ext>
            </a:extLst>
          </p:cNvPr>
          <p:cNvSpPr>
            <a:spLocks noGrp="1"/>
          </p:cNvSpPr>
          <p:nvPr>
            <p:ph type="body" sz="quarter" idx="10"/>
          </p:nvPr>
        </p:nvSpPr>
        <p:spPr/>
        <p:txBody>
          <a:bodyPr/>
          <a:lstStyle/>
          <a:p>
            <a:pPr marL="0" indent="0">
              <a:buNone/>
            </a:pPr>
            <a:r>
              <a:rPr lang="en-US">
                <a:latin typeface="Courier New" pitchFamily="49" charset="0"/>
              </a:rPr>
              <a:t>&lt;!-- parent --&gt;</a:t>
            </a:r>
          </a:p>
          <a:p>
            <a:pPr marL="0" indent="0">
              <a:buNone/>
            </a:pPr>
            <a:r>
              <a:rPr lang="en-US">
                <a:latin typeface="Courier New" pitchFamily="49" charset="0"/>
              </a:rPr>
              <a:t>&lt;TodoItem :todo="item" size="large" /&gt;</a:t>
            </a:r>
          </a:p>
          <a:p>
            <a:endParaRPr/>
          </a:p>
          <a:p>
            <a:pPr marL="0" indent="0">
              <a:buNone/>
            </a:pPr>
            <a:r>
              <a:rPr lang="en-US">
                <a:latin typeface="Courier New" pitchFamily="49" charset="0"/>
              </a:rPr>
              <a:t>&lt;!-- TodoItem.vue --&gt;</a:t>
            </a:r>
          </a:p>
          <a:p>
            <a:pPr marL="0" indent="0">
              <a:buNone/>
            </a:pPr>
            <a:r>
              <a:rPr lang="en-US">
                <a:latin typeface="Courier New" pitchFamily="49" charset="0"/>
              </a:rPr>
              <a:t>&lt;script setup&gt;</a:t>
            </a:r>
          </a:p>
          <a:p>
            <a:pPr marL="0" indent="0">
              <a:buNone/>
            </a:pPr>
            <a:r>
              <a:rPr lang="en-US">
                <a:latin typeface="Courier New" pitchFamily="49" charset="0"/>
              </a:rPr>
              <a:t>defineProps(['todo', 'size'])</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&lt;li&gt;{{ todo.text }}&lt;/li&gt;</a:t>
            </a:r>
          </a:p>
          <a:p>
            <a:pPr marL="0" indent="0">
              <a:buNone/>
            </a:pPr>
            <a:r>
              <a:rPr lang="en-US">
                <a:latin typeface="Courier New" pitchFamily="49" charset="0"/>
              </a:rPr>
              <a:t>&lt;/template&gt;</a:t>
            </a:r>
          </a:p>
        </p:txBody>
      </p:sp>
      <p:sp>
        <p:nvSpPr>
          <p:cNvPr id="2" name="Title 1">
            <a:extLst>
              <a:ext uri="{FF2B5EF4-FFF2-40B4-BE49-F238E27FC236}">
                <a16:creationId xmlns:a16="http://schemas.microsoft.com/office/drawing/2014/main" id="{8C34A110-15A4-5F43-B99F-C7CC7D650124}"/>
              </a:ext>
            </a:extLst>
          </p:cNvPr>
          <p:cNvSpPr>
            <a:spLocks noGrp="1"/>
          </p:cNvSpPr>
          <p:nvPr>
            <p:ph type="title"/>
          </p:nvPr>
        </p:nvSpPr>
        <p:spPr/>
        <p:txBody>
          <a:bodyPr/>
          <a:lstStyle/>
          <a:p>
            <a:r>
              <a:t>Using Props</a:t>
            </a:r>
          </a:p>
        </p:txBody>
      </p:sp>
    </p:spTree>
    <p:extLst>
      <p:ext uri="{BB962C8B-B14F-4D97-AF65-F5344CB8AC3E}">
        <p14:creationId xmlns:p14="http://schemas.microsoft.com/office/powerpoint/2010/main" val="315145211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0FEF-2555-C046-8513-8405B849E1EE}"/>
              </a:ext>
            </a:extLst>
          </p:cNvPr>
          <p:cNvSpPr>
            <a:spLocks noGrp="1"/>
          </p:cNvSpPr>
          <p:nvPr>
            <p:ph type="title"/>
          </p:nvPr>
        </p:nvSpPr>
        <p:spPr/>
        <p:txBody>
          <a:bodyPr/>
          <a:lstStyle/>
          <a:p>
            <a:r>
              <a:t>Fragments: Multiple Root Elements</a:t>
            </a:r>
          </a:p>
        </p:txBody>
      </p:sp>
      <p:sp>
        <p:nvSpPr>
          <p:cNvPr id="3" name="Content Placeholder 2">
            <a:extLst>
              <a:ext uri="{FF2B5EF4-FFF2-40B4-BE49-F238E27FC236}">
                <a16:creationId xmlns:a16="http://schemas.microsoft.com/office/drawing/2014/main" id="{4895BA64-2DD8-D24B-9B05-30B3A9CC9D8A}"/>
              </a:ext>
            </a:extLst>
          </p:cNvPr>
          <p:cNvSpPr>
            <a:spLocks noGrp="1"/>
          </p:cNvSpPr>
          <p:nvPr>
            <p:ph idx="1"/>
          </p:nvPr>
        </p:nvSpPr>
        <p:spPr/>
        <p:txBody>
          <a:bodyPr/>
          <a:lstStyle/>
          <a:p>
            <a:r>
              <a:t>Vue 2 required a single root element. Vue 3 does not.</a:t>
            </a:r>
          </a:p>
          <a:p>
            <a:endParaRPr/>
          </a:p>
          <a:p>
            <a:pPr marL="0" indent="0">
              <a:buNone/>
            </a:pPr>
            <a:r>
              <a:rPr lang="en-US">
                <a:latin typeface="Courier New" pitchFamily="49" charset="0"/>
              </a:rPr>
              <a:t>&lt;template&gt;</a:t>
            </a:r>
          </a:p>
          <a:p>
            <a:pPr marL="0" indent="0">
              <a:buNone/>
            </a:pPr>
            <a:r>
              <a:rPr lang="en-US">
                <a:latin typeface="Courier New" pitchFamily="49" charset="0"/>
              </a:rPr>
              <a:t>  &lt;h1&gt;{{ title }}&lt;/h1&gt;</a:t>
            </a:r>
          </a:p>
          <a:p>
            <a:pPr marL="0" indent="0">
              <a:buNone/>
            </a:pPr>
            <a:r>
              <a:rPr lang="en-US">
                <a:latin typeface="Courier New" pitchFamily="49" charset="0"/>
              </a:rPr>
              <a:t>  &lt;div v-html="content"&gt;&lt;/div&gt;</a:t>
            </a:r>
          </a:p>
          <a:p>
            <a:pPr marL="0" indent="0">
              <a:buNone/>
            </a:pPr>
            <a:r>
              <a:rPr lang="en-US">
                <a:latin typeface="Courier New" pitchFamily="49" charset="0"/>
              </a:rPr>
              <a:t>&lt;/template&gt;</a:t>
            </a:r>
          </a:p>
          <a:p>
            <a:endParaRPr/>
          </a:p>
          <a:p>
            <a:r>
              <a:t>One caveat: with more than one root, Vue cannot decide where to put inherited attributes, so bind $attrs explicitly if the parent passes class or style.</a:t>
            </a:r>
          </a:p>
        </p:txBody>
      </p:sp>
      <p:sp>
        <p:nvSpPr>
          <p:cNvPr id="4" name="Slide Number Placeholder 3">
            <a:extLst>
              <a:ext uri="{FF2B5EF4-FFF2-40B4-BE49-F238E27FC236}">
                <a16:creationId xmlns:a16="http://schemas.microsoft.com/office/drawing/2014/main" id="{ABE30A32-3645-5546-8598-90DDB254D896}"/>
              </a:ext>
            </a:extLst>
          </p:cNvPr>
          <p:cNvSpPr>
            <a:spLocks noGrp="1"/>
          </p:cNvSpPr>
          <p:nvPr>
            <p:ph type="sldNum" sz="quarter" idx="12"/>
          </p:nvPr>
        </p:nvSpPr>
        <p:spPr/>
        <p:txBody>
          <a:bodyPr/>
          <a:lstStyle/>
          <a:p>
            <a:fld id="{6FFFF67E-EC6A-B940-8DC7-BF9A5925C934}" type="slidenum">
              <a:rPr lang="en-US" smtClean="0"/>
              <a:t>174</a:t>
            </a:fld>
            <a:endParaRPr lang="en-US" dirty="0"/>
          </a:p>
        </p:txBody>
      </p:sp>
    </p:spTree>
    <p:extLst>
      <p:ext uri="{BB962C8B-B14F-4D97-AF65-F5344CB8AC3E}">
        <p14:creationId xmlns:p14="http://schemas.microsoft.com/office/powerpoint/2010/main" val="196074556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E9E3-2836-614C-8ECB-1A32E50474DC}"/>
              </a:ext>
            </a:extLst>
          </p:cNvPr>
          <p:cNvSpPr>
            <a:spLocks noGrp="1"/>
          </p:cNvSpPr>
          <p:nvPr>
            <p:ph type="title"/>
          </p:nvPr>
        </p:nvSpPr>
        <p:spPr/>
        <p:txBody>
          <a:bodyPr/>
          <a:lstStyle/>
          <a:p>
            <a:r>
              <a:t>Using v-model on Components</a:t>
            </a:r>
          </a:p>
        </p:txBody>
      </p:sp>
      <p:sp>
        <p:nvSpPr>
          <p:cNvPr id="3" name="Text Placeholder 2">
            <a:extLst>
              <a:ext uri="{FF2B5EF4-FFF2-40B4-BE49-F238E27FC236}">
                <a16:creationId xmlns:a16="http://schemas.microsoft.com/office/drawing/2014/main" id="{B00E4761-B307-544A-BAD1-3F2743BCE814}"/>
              </a:ext>
            </a:extLst>
          </p:cNvPr>
          <p:cNvSpPr>
            <a:spLocks noGrp="1"/>
          </p:cNvSpPr>
          <p:nvPr>
            <p:ph type="body" idx="1"/>
          </p:nvPr>
        </p:nvSpPr>
        <p:spPr/>
        <p:txBody>
          <a:bodyPr>
            <a:normAutofit fontScale="70000" lnSpcReduction="20000"/>
          </a:bodyPr>
          <a:lstStyle/>
          <a:p>
            <a:r>
              <a:t>v-model works on components as it does on inputs</a:t>
            </a:r>
          </a:p>
          <a:p>
            <a:endParaRPr/>
          </a:p>
          <a:p>
            <a:pPr marL="0" indent="0">
              <a:buNone/>
            </a:pPr>
            <a:r>
              <a:rPr lang="en-US">
                <a:latin typeface="Courier New" pitchFamily="49" charset="0"/>
              </a:rPr>
              <a:t>&lt;CustomInput v-model="searchText" /&gt;</a:t>
            </a:r>
          </a:p>
          <a:p>
            <a:endParaRPr/>
          </a:p>
          <a:p>
            <a:r>
              <a:t>does the same thing as</a:t>
            </a:r>
          </a:p>
          <a:p>
            <a:endParaRPr/>
          </a:p>
          <a:p>
            <a:r>
              <a:t>&lt;CustomInput</a:t>
            </a:r>
          </a:p>
          <a:p>
            <a:pPr marL="0" indent="0">
              <a:buNone/>
            </a:pPr>
            <a:r>
              <a:rPr lang="en-US">
                <a:latin typeface="Courier New" pitchFamily="49" charset="0"/>
              </a:rPr>
              <a:t>  :model-value="searchText"</a:t>
            </a:r>
          </a:p>
          <a:p>
            <a:pPr marL="0" indent="0">
              <a:buNone/>
            </a:pPr>
            <a:r>
              <a:rPr lang="en-US">
                <a:latin typeface="Courier New" pitchFamily="49" charset="0"/>
              </a:rPr>
              <a:t>  @update:model-value="searchText = $event" /&gt;</a:t>
            </a:r>
          </a:p>
          <a:p>
            <a:endParaRPr/>
          </a:p>
          <a:p>
            <a:pPr marL="0" indent="0">
              <a:buNone/>
            </a:pPr>
            <a:r>
              <a:rPr lang="en-US">
                <a:latin typeface="Courier New" pitchFamily="49" charset="0"/>
              </a:rPr>
              <a:t>// Vue 2 used the value prop and the input event. Vue 3 renamed</a:t>
            </a:r>
          </a:p>
          <a:p>
            <a:pPr marL="0" indent="0">
              <a:buNone/>
            </a:pPr>
            <a:r>
              <a:rPr lang="en-US">
                <a:latin typeface="Courier New" pitchFamily="49" charset="0"/>
              </a:rPr>
              <a:t>// them to modelValue and update:modelValue, which frees up</a:t>
            </a:r>
          </a:p>
          <a:p>
            <a:pPr marL="0" indent="0">
              <a:buNone/>
            </a:pPr>
            <a:r>
              <a:rPr lang="en-US">
                <a:latin typeface="Courier New" pitchFamily="49" charset="0"/>
              </a:rPr>
              <a:t>// value for ordinary use and allows several v-models per</a:t>
            </a:r>
          </a:p>
          <a:p>
            <a:pPr marL="0" indent="0">
              <a:buNone/>
            </a:pPr>
            <a:r>
              <a:rPr lang="en-US">
                <a:latin typeface="Courier New" pitchFamily="49" charset="0"/>
              </a:rPr>
              <a:t>// component: v-model:title, v-model:body.</a:t>
            </a:r>
          </a:p>
        </p:txBody>
      </p:sp>
    </p:spTree>
    <p:extLst>
      <p:ext uri="{BB962C8B-B14F-4D97-AF65-F5344CB8AC3E}">
        <p14:creationId xmlns:p14="http://schemas.microsoft.com/office/powerpoint/2010/main" val="395360135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C27E-999C-D844-BD6A-90D7AECCF26D}"/>
              </a:ext>
            </a:extLst>
          </p:cNvPr>
          <p:cNvSpPr>
            <a:spLocks noGrp="1"/>
          </p:cNvSpPr>
          <p:nvPr>
            <p:ph type="title"/>
          </p:nvPr>
        </p:nvSpPr>
        <p:spPr/>
        <p:txBody>
          <a:bodyPr/>
          <a:lstStyle/>
          <a:p>
            <a:r>
              <a:t>defineModel</a:t>
            </a:r>
          </a:p>
        </p:txBody>
      </p:sp>
      <p:sp>
        <p:nvSpPr>
          <p:cNvPr id="3" name="Content Placeholder 2">
            <a:extLst>
              <a:ext uri="{FF2B5EF4-FFF2-40B4-BE49-F238E27FC236}">
                <a16:creationId xmlns:a16="http://schemas.microsoft.com/office/drawing/2014/main" id="{09FC65B2-386D-2348-84EF-61C5065532A3}"/>
              </a:ext>
            </a:extLst>
          </p:cNvPr>
          <p:cNvSpPr>
            <a:spLocks noGrp="1"/>
          </p:cNvSpPr>
          <p:nvPr>
            <p:ph idx="1"/>
          </p:nvPr>
        </p:nvSpPr>
        <p:spPr/>
        <p:txBody>
          <a:bodyPr>
            <a:normAutofit fontScale="92500" lnSpcReduction="20000"/>
          </a:bodyPr>
          <a:lstStyle/>
          <a:p>
            <a:r>
              <a:t>Since Vue 3.4 the whole prop-and-event pair has a shorthand.</a:t>
            </a:r>
          </a:p>
          <a:p>
            <a:endParaRPr/>
          </a:p>
          <a:p>
            <a:pPr marL="0" indent="0">
              <a:buNone/>
            </a:pPr>
            <a:r>
              <a:rPr lang="en-US">
                <a:latin typeface="Courier New" pitchFamily="49" charset="0"/>
              </a:rPr>
              <a:t>&lt;script setup&gt;</a:t>
            </a:r>
          </a:p>
          <a:p>
            <a:pPr marL="0" indent="0">
              <a:buNone/>
            </a:pPr>
            <a:r>
              <a:rPr lang="en-US">
                <a:latin typeface="Courier New" pitchFamily="49" charset="0"/>
              </a:rPr>
              <a:t>const model = defineModel()</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&lt;input v-model="model"&gt;</a:t>
            </a:r>
          </a:p>
          <a:p>
            <a:pPr marL="0" indent="0">
              <a:buNone/>
            </a:pPr>
            <a:r>
              <a:rPr lang="en-US">
                <a:latin typeface="Courier New" pitchFamily="49" charset="0"/>
              </a:rPr>
              <a:t>&lt;/template&gt;</a:t>
            </a:r>
          </a:p>
          <a:p>
            <a:endParaRPr/>
          </a:p>
          <a:p>
            <a:pPr marL="0" indent="0">
              <a:buNone/>
            </a:pPr>
            <a:r>
              <a:rPr lang="en-US">
                <a:latin typeface="Courier New" pitchFamily="49" charset="0"/>
              </a:rPr>
              <a:t>// model is a writable ref. Writing to it emits the update event</a:t>
            </a:r>
          </a:p>
          <a:p>
            <a:pPr marL="0" indent="0">
              <a:buNone/>
            </a:pPr>
            <a:r>
              <a:rPr lang="en-US">
                <a:latin typeface="Courier New" pitchFamily="49" charset="0"/>
              </a:rPr>
              <a:t>// for you.</a:t>
            </a:r>
          </a:p>
        </p:txBody>
      </p:sp>
      <p:sp>
        <p:nvSpPr>
          <p:cNvPr id="4" name="Slide Number Placeholder 3">
            <a:extLst>
              <a:ext uri="{FF2B5EF4-FFF2-40B4-BE49-F238E27FC236}">
                <a16:creationId xmlns:a16="http://schemas.microsoft.com/office/drawing/2014/main" id="{FB8E7A4C-33FD-064C-9D28-3348A7A61940}"/>
              </a:ext>
            </a:extLst>
          </p:cNvPr>
          <p:cNvSpPr>
            <a:spLocks noGrp="1"/>
          </p:cNvSpPr>
          <p:nvPr>
            <p:ph type="sldNum" sz="quarter" idx="12"/>
          </p:nvPr>
        </p:nvSpPr>
        <p:spPr/>
        <p:txBody>
          <a:bodyPr/>
          <a:lstStyle/>
          <a:p>
            <a:fld id="{6FFFF67E-EC6A-B940-8DC7-BF9A5925C934}" type="slidenum">
              <a:rPr lang="en-US" smtClean="0"/>
              <a:t>176</a:t>
            </a:fld>
            <a:endParaRPr lang="en-US" dirty="0"/>
          </a:p>
        </p:txBody>
      </p:sp>
    </p:spTree>
    <p:extLst>
      <p:ext uri="{BB962C8B-B14F-4D97-AF65-F5344CB8AC3E}">
        <p14:creationId xmlns:p14="http://schemas.microsoft.com/office/powerpoint/2010/main" val="228711561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96E7-9EB9-944D-8371-0A49B5ACDF98}"/>
              </a:ext>
            </a:extLst>
          </p:cNvPr>
          <p:cNvSpPr>
            <a:spLocks noGrp="1"/>
          </p:cNvSpPr>
          <p:nvPr>
            <p:ph type="title"/>
          </p:nvPr>
        </p:nvSpPr>
        <p:spPr/>
        <p:txBody>
          <a:bodyPr/>
          <a:lstStyle/>
          <a:p>
            <a:r>
              <a:rPr lang="en-US" dirty="0"/>
              <a:t>Content Distribution with Slots </a:t>
            </a:r>
          </a:p>
        </p:txBody>
      </p:sp>
      <p:sp>
        <p:nvSpPr>
          <p:cNvPr id="3" name="Text Placeholder 2">
            <a:extLst>
              <a:ext uri="{FF2B5EF4-FFF2-40B4-BE49-F238E27FC236}">
                <a16:creationId xmlns:a16="http://schemas.microsoft.com/office/drawing/2014/main" id="{A5AC4B1B-DAA0-C242-B67F-D61186E8F214}"/>
              </a:ext>
            </a:extLst>
          </p:cNvPr>
          <p:cNvSpPr>
            <a:spLocks noGrp="1"/>
          </p:cNvSpPr>
          <p:nvPr>
            <p:ph type="body" idx="1"/>
          </p:nvPr>
        </p:nvSpPr>
        <p:spPr/>
        <p:txBody>
          <a:bodyPr/>
          <a:lstStyle/>
          <a:p>
            <a:r>
              <a:rPr lang="en-US" dirty="0"/>
              <a:t>Slots allow you to pass the content of an element into a component.</a:t>
            </a:r>
          </a:p>
          <a:p>
            <a:pPr marL="0" indent="0">
              <a:buNone/>
            </a:pPr>
            <a:r>
              <a:rPr lang="en-US">
                <a:latin typeface="Courier New" pitchFamily="2" charset="0"/>
              </a:rPr>
              <a:t>&lt;navigation-link url="/profile"&gt;</a:t>
            </a:r>
          </a:p>
          <a:p>
            <a:pPr marL="0" indent="0">
              <a:buNone/>
            </a:pPr>
            <a:r>
              <a:rPr lang="en-US">
                <a:latin typeface="Courier New" pitchFamily="2" charset="0"/>
              </a:rPr>
              <a:t>  Your Profile</a:t>
            </a:r>
          </a:p>
          <a:p>
            <a:pPr marL="0" indent="0">
              <a:buNone/>
            </a:pPr>
            <a:r>
              <a:rPr lang="en-US">
                <a:latin typeface="Courier New" pitchFamily="2" charset="0"/>
              </a:rPr>
              <a:t>&lt;/navigation-link&gt;</a:t>
            </a:r>
          </a:p>
          <a:p>
            <a:pPr marL="0" indent="0">
              <a:buNone/>
            </a:pPr>
            <a:endParaRPr lang="en-US" dirty="0"/>
          </a:p>
          <a:p>
            <a:r>
              <a:rPr lang="en-US" dirty="0"/>
              <a:t>and then access that content inside the component</a:t>
            </a:r>
          </a:p>
          <a:p>
            <a:pPr marL="0" indent="0">
              <a:buNone/>
            </a:pPr>
            <a:r>
              <a:rPr lang="en-US">
                <a:latin typeface="Courier New" pitchFamily="2" charset="0"/>
              </a:rPr>
              <a:t>&lt;a v-bind:href="url"&gt;</a:t>
            </a:r>
          </a:p>
          <a:p>
            <a:pPr marL="0" indent="0">
              <a:buNone/>
            </a:pPr>
            <a:r>
              <a:rPr lang="en-US">
                <a:latin typeface="Courier New" pitchFamily="2" charset="0"/>
              </a:rPr>
              <a:t>  &lt;slot&gt;&lt;/slot&gt;</a:t>
            </a:r>
          </a:p>
          <a:p>
            <a:pPr marL="0" indent="0">
              <a:buNone/>
            </a:pPr>
            <a:r>
              <a:rPr lang="en-US">
                <a:latin typeface="Courier New" pitchFamily="2" charset="0"/>
              </a:rPr>
              <a:t>&lt;/a&gt;</a:t>
            </a:r>
          </a:p>
        </p:txBody>
      </p:sp>
    </p:spTree>
    <p:extLst>
      <p:ext uri="{BB962C8B-B14F-4D97-AF65-F5344CB8AC3E}">
        <p14:creationId xmlns:p14="http://schemas.microsoft.com/office/powerpoint/2010/main" val="315029074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5E3B-5111-9441-80C3-0E3CDB77B9EF}"/>
              </a:ext>
            </a:extLst>
          </p:cNvPr>
          <p:cNvSpPr>
            <a:spLocks noGrp="1"/>
          </p:cNvSpPr>
          <p:nvPr>
            <p:ph type="title"/>
          </p:nvPr>
        </p:nvSpPr>
        <p:spPr/>
        <p:txBody>
          <a:bodyPr/>
          <a:lstStyle/>
          <a:p>
            <a:r>
              <a:rPr lang="en-US" dirty="0"/>
              <a:t>Cool Things You Do With Slots</a:t>
            </a:r>
          </a:p>
        </p:txBody>
      </p:sp>
      <p:sp>
        <p:nvSpPr>
          <p:cNvPr id="3" name="Content Placeholder 2">
            <a:extLst>
              <a:ext uri="{FF2B5EF4-FFF2-40B4-BE49-F238E27FC236}">
                <a16:creationId xmlns:a16="http://schemas.microsoft.com/office/drawing/2014/main" id="{3AA5C5EF-F864-7445-AE37-A3F2ED131E10}"/>
              </a:ext>
            </a:extLst>
          </p:cNvPr>
          <p:cNvSpPr>
            <a:spLocks noGrp="1"/>
          </p:cNvSpPr>
          <p:nvPr>
            <p:ph idx="1"/>
          </p:nvPr>
        </p:nvSpPr>
        <p:spPr/>
        <p:txBody>
          <a:bodyPr/>
          <a:lstStyle/>
          <a:p>
            <a:r>
              <a:rPr lang="en-US" dirty="0"/>
              <a:t>Slots can contain any template code, including HTML and components.</a:t>
            </a:r>
          </a:p>
          <a:p>
            <a:r>
              <a:rPr lang="en-US" dirty="0"/>
              <a:t>Slots can access the same scope as the rest of the template.</a:t>
            </a:r>
          </a:p>
          <a:p>
            <a:r>
              <a:rPr lang="en-US" dirty="0"/>
              <a:t>Default slot content can be provided.</a:t>
            </a:r>
          </a:p>
          <a:p>
            <a:pPr marL="0" indent="0">
              <a:buNone/>
            </a:pPr>
            <a:r>
              <a:rPr lang="en-US">
                <a:latin typeface="Courier New" pitchFamily="49" charset="0"/>
              </a:rPr>
              <a:t>&lt;slot&gt;default content&lt;/slot&gt;</a:t>
            </a:r>
          </a:p>
          <a:p>
            <a:r>
              <a:rPr lang="en-US" dirty="0"/>
              <a:t>You can create named slots if you need to have multiple slots.</a:t>
            </a:r>
          </a:p>
          <a:p>
            <a:endParaRPr lang="en-US" dirty="0"/>
          </a:p>
        </p:txBody>
      </p:sp>
      <p:sp>
        <p:nvSpPr>
          <p:cNvPr id="4" name="Slide Number Placeholder 3">
            <a:extLst>
              <a:ext uri="{FF2B5EF4-FFF2-40B4-BE49-F238E27FC236}">
                <a16:creationId xmlns:a16="http://schemas.microsoft.com/office/drawing/2014/main" id="{BD039F61-DC6B-CD4C-A240-EFD79AD44BFE}"/>
              </a:ext>
            </a:extLst>
          </p:cNvPr>
          <p:cNvSpPr>
            <a:spLocks noGrp="1"/>
          </p:cNvSpPr>
          <p:nvPr>
            <p:ph type="sldNum" sz="quarter" idx="12"/>
          </p:nvPr>
        </p:nvSpPr>
        <p:spPr/>
        <p:txBody>
          <a:bodyPr/>
          <a:lstStyle/>
          <a:p>
            <a:fld id="{6FFFF67E-EC6A-B940-8DC7-BF9A5925C934}" type="slidenum">
              <a:rPr lang="en-US" smtClean="0"/>
              <a:t>178</a:t>
            </a:fld>
            <a:endParaRPr lang="en-US" dirty="0"/>
          </a:p>
        </p:txBody>
      </p:sp>
    </p:spTree>
    <p:extLst>
      <p:ext uri="{BB962C8B-B14F-4D97-AF65-F5344CB8AC3E}">
        <p14:creationId xmlns:p14="http://schemas.microsoft.com/office/powerpoint/2010/main" val="150536697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50A5-F44B-F645-BB17-12CA8C5ED678}"/>
              </a:ext>
            </a:extLst>
          </p:cNvPr>
          <p:cNvSpPr>
            <a:spLocks noGrp="1"/>
          </p:cNvSpPr>
          <p:nvPr>
            <p:ph type="title"/>
          </p:nvPr>
        </p:nvSpPr>
        <p:spPr/>
        <p:txBody>
          <a:bodyPr/>
          <a:lstStyle/>
          <a:p>
            <a:r>
              <a:rPr lang="en-US" dirty="0"/>
              <a:t>Naming Slots</a:t>
            </a:r>
          </a:p>
        </p:txBody>
      </p:sp>
      <p:sp>
        <p:nvSpPr>
          <p:cNvPr id="3" name="Content Placeholder 2">
            <a:extLst>
              <a:ext uri="{FF2B5EF4-FFF2-40B4-BE49-F238E27FC236}">
                <a16:creationId xmlns:a16="http://schemas.microsoft.com/office/drawing/2014/main" id="{3993A670-52E8-E141-9FE9-A2ED5ED433A0}"/>
              </a:ext>
            </a:extLst>
          </p:cNvPr>
          <p:cNvSpPr>
            <a:spLocks noGrp="1"/>
          </p:cNvSpPr>
          <p:nvPr>
            <p:ph idx="1"/>
          </p:nvPr>
        </p:nvSpPr>
        <p:spPr/>
        <p:txBody>
          <a:bodyPr/>
          <a:lstStyle/>
          <a:p>
            <a:r>
              <a:rPr lang="en-US" dirty="0"/>
              <a:t>Parent component:</a:t>
            </a:r>
          </a:p>
          <a:p>
            <a:pPr marL="0" indent="0">
              <a:buNone/>
            </a:pPr>
            <a:r>
              <a:rPr lang="en-US">
                <a:latin typeface="Courier New" pitchFamily="2" charset="0"/>
              </a:rPr>
              <a:t>&lt;base-layout&gt;</a:t>
            </a:r>
          </a:p>
          <a:p>
            <a:pPr marL="0" indent="0">
              <a:buNone/>
            </a:pPr>
            <a:r>
              <a:rPr lang="en-US">
                <a:latin typeface="Courier New" pitchFamily="2" charset="0"/>
              </a:rPr>
              <a:t>  &lt;template v-slot:header&gt;</a:t>
            </a:r>
          </a:p>
          <a:p>
            <a:pPr marL="0" indent="0">
              <a:buNone/>
            </a:pPr>
            <a:r>
              <a:rPr lang="en-US">
                <a:latin typeface="Courier New" pitchFamily="2" charset="0"/>
              </a:rPr>
              <a:t>    Header content</a:t>
            </a:r>
          </a:p>
          <a:p>
            <a:pPr marL="0" indent="0">
              <a:buNone/>
            </a:pPr>
            <a:r>
              <a:rPr lang="en-US">
                <a:latin typeface="Courier New" pitchFamily="2" charset="0"/>
              </a:rPr>
              <a:t>  &lt;/template&gt;</a:t>
            </a:r>
          </a:p>
          <a:p>
            <a:pPr marL="0" indent="0">
              <a:buNone/>
            </a:pPr>
            <a:r>
              <a:rPr lang="en-US">
                <a:latin typeface="Courier New" pitchFamily="2" charset="0"/>
              </a:rPr>
              <a:t>  &lt;p&gt;Main Content&lt;/p&gt;</a:t>
            </a:r>
          </a:p>
          <a:p>
            <a:pPr marL="0" indent="0">
              <a:buNone/>
            </a:pPr>
            <a:r>
              <a:rPr lang="en-US">
                <a:latin typeface="Courier New" pitchFamily="2" charset="0"/>
              </a:rPr>
              <a:t>  &lt;template v-slot:footer&gt;</a:t>
            </a:r>
          </a:p>
          <a:p>
            <a:pPr marL="0" indent="0">
              <a:buNone/>
            </a:pPr>
            <a:r>
              <a:rPr lang="en-US">
                <a:latin typeface="Courier New" pitchFamily="2" charset="0"/>
              </a:rPr>
              <a:t>    Footer content</a:t>
            </a:r>
          </a:p>
          <a:p>
            <a:pPr marL="0" indent="0">
              <a:buNone/>
            </a:pPr>
            <a:r>
              <a:rPr lang="en-US">
                <a:latin typeface="Courier New" pitchFamily="2" charset="0"/>
              </a:rPr>
              <a:t>  &lt;/template&gt;</a:t>
            </a:r>
          </a:p>
          <a:p>
            <a:pPr marL="0" indent="0">
              <a:buNone/>
            </a:pPr>
            <a:r>
              <a:rPr lang="en-US">
                <a:latin typeface="Courier New" pitchFamily="2" charset="0"/>
              </a:rPr>
              <a:t>&lt;/base-layout&gt;</a:t>
            </a:r>
          </a:p>
        </p:txBody>
      </p:sp>
      <p:sp>
        <p:nvSpPr>
          <p:cNvPr id="4" name="Slide Number Placeholder 3">
            <a:extLst>
              <a:ext uri="{FF2B5EF4-FFF2-40B4-BE49-F238E27FC236}">
                <a16:creationId xmlns:a16="http://schemas.microsoft.com/office/drawing/2014/main" id="{A9DAA542-86C4-844E-972A-3D71F2018EC5}"/>
              </a:ext>
            </a:extLst>
          </p:cNvPr>
          <p:cNvSpPr>
            <a:spLocks noGrp="1"/>
          </p:cNvSpPr>
          <p:nvPr>
            <p:ph type="sldNum" sz="quarter" idx="12"/>
          </p:nvPr>
        </p:nvSpPr>
        <p:spPr/>
        <p:txBody>
          <a:bodyPr/>
          <a:lstStyle/>
          <a:p>
            <a:fld id="{6FFFF67E-EC6A-B940-8DC7-BF9A5925C934}" type="slidenum">
              <a:rPr lang="en-US" smtClean="0"/>
              <a:t>179</a:t>
            </a:fld>
            <a:endParaRPr lang="en-US" dirty="0"/>
          </a:p>
        </p:txBody>
      </p:sp>
    </p:spTree>
    <p:extLst>
      <p:ext uri="{BB962C8B-B14F-4D97-AF65-F5344CB8AC3E}">
        <p14:creationId xmlns:p14="http://schemas.microsoft.com/office/powerpoint/2010/main" val="276216909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B592-9985-DD44-BDBC-34858A656D95}"/>
              </a:ext>
            </a:extLst>
          </p:cNvPr>
          <p:cNvSpPr>
            <a:spLocks noGrp="1"/>
          </p:cNvSpPr>
          <p:nvPr>
            <p:ph type="title"/>
          </p:nvPr>
        </p:nvSpPr>
        <p:spPr/>
        <p:txBody>
          <a:bodyPr/>
          <a:lstStyle/>
          <a:p>
            <a:r>
              <a:rPr lang="en-US" dirty="0"/>
              <a:t>Using Named Slots</a:t>
            </a:r>
          </a:p>
        </p:txBody>
      </p:sp>
      <p:sp>
        <p:nvSpPr>
          <p:cNvPr id="3" name="Content Placeholder 2">
            <a:extLst>
              <a:ext uri="{FF2B5EF4-FFF2-40B4-BE49-F238E27FC236}">
                <a16:creationId xmlns:a16="http://schemas.microsoft.com/office/drawing/2014/main" id="{C09E459A-CD98-8242-88D7-AF1594367F41}"/>
              </a:ext>
            </a:extLst>
          </p:cNvPr>
          <p:cNvSpPr>
            <a:spLocks noGrp="1"/>
          </p:cNvSpPr>
          <p:nvPr>
            <p:ph idx="1"/>
          </p:nvPr>
        </p:nvSpPr>
        <p:spPr/>
        <p:txBody>
          <a:bodyPr/>
          <a:lstStyle/>
          <a:p>
            <a:pPr marL="0" indent="0">
              <a:buNone/>
            </a:pPr>
            <a:r>
              <a:rPr lang="en-US">
                <a:latin typeface="Courier New" pitchFamily="2" charset="0"/>
              </a:rPr>
              <a:t>&lt;div class="container"&gt;</a:t>
            </a:r>
          </a:p>
          <a:p>
            <a:pPr marL="0" indent="0">
              <a:buNone/>
            </a:pPr>
            <a:r>
              <a:rPr lang="en-US">
                <a:latin typeface="Courier New" pitchFamily="2" charset="0"/>
              </a:rPr>
              <a:t>  &lt;header&gt;</a:t>
            </a:r>
          </a:p>
          <a:p>
            <a:pPr marL="0" indent="0">
              <a:buNone/>
            </a:pPr>
            <a:r>
              <a:rPr lang="en-US">
                <a:latin typeface="Courier New" pitchFamily="2" charset="0"/>
              </a:rPr>
              <a:t>    &lt;slot name="header"&gt;&lt;/slot&gt;</a:t>
            </a:r>
          </a:p>
          <a:p>
            <a:pPr marL="0" indent="0">
              <a:buNone/>
            </a:pPr>
            <a:r>
              <a:rPr lang="en-US">
                <a:latin typeface="Courier New" pitchFamily="2" charset="0"/>
              </a:rPr>
              <a:t>  &lt;/header&gt;</a:t>
            </a:r>
          </a:p>
          <a:p>
            <a:pPr marL="0" indent="0">
              <a:buNone/>
            </a:pPr>
            <a:r>
              <a:rPr lang="en-US">
                <a:latin typeface="Courier New" pitchFamily="2" charset="0"/>
              </a:rPr>
              <a:t>  &lt;slot&gt;&lt;/slot&gt;</a:t>
            </a:r>
          </a:p>
          <a:p>
            <a:pPr marL="0" indent="0">
              <a:buNone/>
            </a:pPr>
            <a:r>
              <a:rPr lang="en-US">
                <a:latin typeface="Courier New" pitchFamily="2" charset="0"/>
              </a:rPr>
              <a:t>  &lt;footer&gt;</a:t>
            </a:r>
          </a:p>
          <a:p>
            <a:pPr marL="0" indent="0">
              <a:buNone/>
            </a:pPr>
            <a:r>
              <a:rPr lang="en-US">
                <a:latin typeface="Courier New" pitchFamily="2" charset="0"/>
              </a:rPr>
              <a:t>    &lt;slot name="footer"&gt;&lt;/slot&gt;</a:t>
            </a:r>
          </a:p>
          <a:p>
            <a:pPr marL="0" indent="0">
              <a:buNone/>
            </a:pPr>
            <a:r>
              <a:rPr lang="en-US">
                <a:latin typeface="Courier New" pitchFamily="2" charset="0"/>
              </a:rPr>
              <a:t>  &lt;/footer&gt;</a:t>
            </a:r>
          </a:p>
          <a:p>
            <a:pPr marL="0" indent="0">
              <a:buNone/>
            </a:pPr>
            <a:r>
              <a:rPr lang="en-US">
                <a:latin typeface="Courier New" pitchFamily="2" charset="0"/>
              </a:rPr>
              <a:t>&lt;/div&gt;</a:t>
            </a:r>
          </a:p>
        </p:txBody>
      </p:sp>
      <p:sp>
        <p:nvSpPr>
          <p:cNvPr id="4" name="Slide Number Placeholder 3">
            <a:extLst>
              <a:ext uri="{FF2B5EF4-FFF2-40B4-BE49-F238E27FC236}">
                <a16:creationId xmlns:a16="http://schemas.microsoft.com/office/drawing/2014/main" id="{F65EB806-3B29-F946-ACB3-463CBDC107F7}"/>
              </a:ext>
            </a:extLst>
          </p:cNvPr>
          <p:cNvSpPr>
            <a:spLocks noGrp="1"/>
          </p:cNvSpPr>
          <p:nvPr>
            <p:ph type="sldNum" sz="quarter" idx="12"/>
          </p:nvPr>
        </p:nvSpPr>
        <p:spPr/>
        <p:txBody>
          <a:bodyPr/>
          <a:lstStyle/>
          <a:p>
            <a:fld id="{6FFFF67E-EC6A-B940-8DC7-BF9A5925C934}" type="slidenum">
              <a:rPr lang="en-US" smtClean="0"/>
              <a:t>180</a:t>
            </a:fld>
            <a:endParaRPr lang="en-US" dirty="0"/>
          </a:p>
        </p:txBody>
      </p:sp>
    </p:spTree>
    <p:extLst>
      <p:ext uri="{BB962C8B-B14F-4D97-AF65-F5344CB8AC3E}">
        <p14:creationId xmlns:p14="http://schemas.microsoft.com/office/powerpoint/2010/main" val="234724872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E80C-B8C3-DD4C-A227-A3641939FD25}"/>
              </a:ext>
            </a:extLst>
          </p:cNvPr>
          <p:cNvSpPr>
            <a:spLocks noGrp="1"/>
          </p:cNvSpPr>
          <p:nvPr>
            <p:ph type="title"/>
          </p:nvPr>
        </p:nvSpPr>
        <p:spPr/>
        <p:txBody>
          <a:bodyPr/>
          <a:lstStyle/>
          <a:p>
            <a:r>
              <a:rPr lang="en-US" dirty="0"/>
              <a:t>using slots</a:t>
            </a:r>
          </a:p>
        </p:txBody>
      </p:sp>
      <p:sp>
        <p:nvSpPr>
          <p:cNvPr id="3" name="Text Placeholder 2">
            <a:extLst>
              <a:ext uri="{FF2B5EF4-FFF2-40B4-BE49-F238E27FC236}">
                <a16:creationId xmlns:a16="http://schemas.microsoft.com/office/drawing/2014/main" id="{20076987-881F-AF4A-BEFF-062F5EBEB725}"/>
              </a:ext>
            </a:extLst>
          </p:cNvPr>
          <p:cNvSpPr>
            <a:spLocks noGrp="1"/>
          </p:cNvSpPr>
          <p:nvPr>
            <p:ph type="body" idx="1"/>
          </p:nvPr>
        </p:nvSpPr>
        <p:spPr/>
        <p:txBody>
          <a:bodyPr/>
          <a:lstStyle/>
          <a:p>
            <a:r>
              <a:rPr lang="en-US" dirty="0"/>
              <a:t>DEMO</a:t>
            </a:r>
          </a:p>
        </p:txBody>
      </p:sp>
      <p:sp>
        <p:nvSpPr>
          <p:cNvPr id="4" name="Slide Number Placeholder 3">
            <a:extLst>
              <a:ext uri="{FF2B5EF4-FFF2-40B4-BE49-F238E27FC236}">
                <a16:creationId xmlns:a16="http://schemas.microsoft.com/office/drawing/2014/main" id="{81233CBB-55FB-8B42-8C91-6A120EB5E941}"/>
              </a:ext>
            </a:extLst>
          </p:cNvPr>
          <p:cNvSpPr>
            <a:spLocks noGrp="1"/>
          </p:cNvSpPr>
          <p:nvPr>
            <p:ph type="sldNum" sz="quarter" idx="12"/>
          </p:nvPr>
        </p:nvSpPr>
        <p:spPr/>
        <p:txBody>
          <a:bodyPr/>
          <a:lstStyle/>
          <a:p>
            <a:fld id="{6FFFF67E-EC6A-B940-8DC7-BF9A5925C934}" type="slidenum">
              <a:rPr lang="en-US" smtClean="0"/>
              <a:t>181</a:t>
            </a:fld>
            <a:endParaRPr lang="en-US" dirty="0"/>
          </a:p>
        </p:txBody>
      </p:sp>
    </p:spTree>
    <p:extLst>
      <p:ext uri="{BB962C8B-B14F-4D97-AF65-F5344CB8AC3E}">
        <p14:creationId xmlns:p14="http://schemas.microsoft.com/office/powerpoint/2010/main" val="134624218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3ACB-4E93-9748-8A61-C5EB0C666D5E}"/>
              </a:ext>
            </a:extLst>
          </p:cNvPr>
          <p:cNvSpPr>
            <a:spLocks noGrp="1"/>
          </p:cNvSpPr>
          <p:nvPr>
            <p:ph type="title"/>
          </p:nvPr>
        </p:nvSpPr>
        <p:spPr/>
        <p:txBody>
          <a:bodyPr/>
          <a:lstStyle/>
          <a:p>
            <a:r>
              <a:rPr lang="en-US" dirty="0"/>
              <a:t>More fun with slots</a:t>
            </a:r>
          </a:p>
        </p:txBody>
      </p:sp>
      <p:sp>
        <p:nvSpPr>
          <p:cNvPr id="3" name="Content Placeholder 2">
            <a:extLst>
              <a:ext uri="{FF2B5EF4-FFF2-40B4-BE49-F238E27FC236}">
                <a16:creationId xmlns:a16="http://schemas.microsoft.com/office/drawing/2014/main" id="{B0848BB8-BB39-6147-86B7-8C1E6D4495DD}"/>
              </a:ext>
            </a:extLst>
          </p:cNvPr>
          <p:cNvSpPr>
            <a:spLocks noGrp="1"/>
          </p:cNvSpPr>
          <p:nvPr>
            <p:ph idx="1"/>
          </p:nvPr>
        </p:nvSpPr>
        <p:spPr/>
        <p:txBody>
          <a:bodyPr/>
          <a:lstStyle/>
          <a:p>
            <a:r>
              <a:rPr lang="en-US" dirty="0"/>
              <a:t>Scoped Slots</a:t>
            </a:r>
          </a:p>
          <a:p>
            <a:r>
              <a:rPr lang="en-US" dirty="0"/>
              <a:t>Abbreviated Syntax for Default Slots</a:t>
            </a:r>
          </a:p>
          <a:p>
            <a:r>
              <a:rPr lang="en-US" dirty="0"/>
              <a:t>Destructuring Slot Props</a:t>
            </a:r>
          </a:p>
          <a:p>
            <a:r>
              <a:rPr lang="en-US" dirty="0"/>
              <a:t>Dynamic Slot Names</a:t>
            </a:r>
          </a:p>
          <a:p>
            <a:r>
              <a:rPr lang="en-US" dirty="0"/>
              <a:t>Named Slots Shorthand</a:t>
            </a:r>
          </a:p>
          <a:p>
            <a:pPr lvl="1"/>
            <a:r>
              <a:rPr lang="en-US" dirty="0"/>
              <a:t>v-slot:header can be re-written as #header</a:t>
            </a:r>
          </a:p>
          <a:p>
            <a:pPr marL="0" indent="0">
              <a:buNone/>
            </a:pPr>
            <a:r>
              <a:rPr lang="en-US">
                <a:latin typeface="Courier New" pitchFamily="2" charset="0"/>
              </a:rPr>
              <a:t>&lt;template #header&gt;</a:t>
            </a:r>
          </a:p>
          <a:p>
            <a:pPr marL="0" indent="0">
              <a:buNone/>
            </a:pPr>
            <a:r>
              <a:rPr lang="en-US">
                <a:latin typeface="Courier New" pitchFamily="2" charset="0"/>
              </a:rPr>
              <a:t>  &lt;p&gt;template content here&lt;/p&gt;</a:t>
            </a:r>
          </a:p>
          <a:p>
            <a:pPr marL="0" indent="0">
              <a:buNone/>
            </a:pPr>
            <a:r>
              <a:rPr lang="en-US">
                <a:latin typeface="Courier New" pitchFamily="2" charset="0"/>
              </a:rPr>
              <a:t>&lt;/template&gt;</a:t>
            </a:r>
          </a:p>
          <a:p>
            <a:endParaRPr lang="en-US" dirty="0"/>
          </a:p>
        </p:txBody>
      </p:sp>
      <p:sp>
        <p:nvSpPr>
          <p:cNvPr id="4" name="Slide Number Placeholder 3">
            <a:extLst>
              <a:ext uri="{FF2B5EF4-FFF2-40B4-BE49-F238E27FC236}">
                <a16:creationId xmlns:a16="http://schemas.microsoft.com/office/drawing/2014/main" id="{AA81B857-5DAD-6549-8CC0-FB4C0CFCAC02}"/>
              </a:ext>
            </a:extLst>
          </p:cNvPr>
          <p:cNvSpPr>
            <a:spLocks noGrp="1"/>
          </p:cNvSpPr>
          <p:nvPr>
            <p:ph type="sldNum" sz="quarter" idx="12"/>
          </p:nvPr>
        </p:nvSpPr>
        <p:spPr/>
        <p:txBody>
          <a:bodyPr/>
          <a:lstStyle/>
          <a:p>
            <a:fld id="{6FFFF67E-EC6A-B940-8DC7-BF9A5925C934}" type="slidenum">
              <a:rPr lang="en-US" smtClean="0"/>
              <a:t>182</a:t>
            </a:fld>
            <a:endParaRPr lang="en-US" dirty="0"/>
          </a:p>
        </p:txBody>
      </p:sp>
    </p:spTree>
    <p:extLst>
      <p:ext uri="{BB962C8B-B14F-4D97-AF65-F5344CB8AC3E}">
        <p14:creationId xmlns:p14="http://schemas.microsoft.com/office/powerpoint/2010/main" val="195920741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1DF2-1F81-AA41-B253-41DE66D55A6F}"/>
              </a:ext>
            </a:extLst>
          </p:cNvPr>
          <p:cNvSpPr>
            <a:spLocks noGrp="1"/>
          </p:cNvSpPr>
          <p:nvPr>
            <p:ph type="title"/>
          </p:nvPr>
        </p:nvSpPr>
        <p:spPr/>
        <p:txBody>
          <a:bodyPr/>
          <a:lstStyle/>
          <a:p>
            <a:r>
              <a:rPr lang="en-US" dirty="0"/>
              <a:t>Lab 18: Slots</a:t>
            </a:r>
          </a:p>
        </p:txBody>
      </p:sp>
      <p:sp>
        <p:nvSpPr>
          <p:cNvPr id="3" name="Content Placeholder 2">
            <a:extLst>
              <a:ext uri="{FF2B5EF4-FFF2-40B4-BE49-F238E27FC236}">
                <a16:creationId xmlns:a16="http://schemas.microsoft.com/office/drawing/2014/main" id="{796B5FCD-2430-FB4C-B9FD-6A123AA201CE}"/>
              </a:ext>
            </a:extLst>
          </p:cNvPr>
          <p:cNvSpPr>
            <a:spLocks noGrp="1"/>
          </p:cNvSpPr>
          <p:nvPr>
            <p:ph idx="1"/>
          </p:nvPr>
        </p:nvSpPr>
        <p:spPr/>
        <p:txBody>
          <a:bodyPr/>
          <a:lstStyle/>
          <a:p>
            <a:pPr lvl="0"/>
            <a:r>
              <a:rPr lang="en-US" dirty="0"/>
              <a:t>Populate the list of tags in the 2nd column dynamically from the feed at /tags (using the same Base URL as the articles feed). Use Slots.</a:t>
            </a:r>
          </a:p>
          <a:p>
            <a:pPr lvl="0"/>
            <a:r>
              <a:rPr lang="en-US" dirty="0"/>
              <a:t>List each article's tags underneath the article. Again, use slots.</a:t>
            </a:r>
          </a:p>
          <a:p>
            <a:r>
              <a:rPr lang="en-US" dirty="0"/>
              <a:t>Make clicking on the tags in the tag box filter the list of articles. </a:t>
            </a:r>
          </a:p>
        </p:txBody>
      </p:sp>
      <p:sp>
        <p:nvSpPr>
          <p:cNvPr id="4" name="Slide Number Placeholder 3">
            <a:extLst>
              <a:ext uri="{FF2B5EF4-FFF2-40B4-BE49-F238E27FC236}">
                <a16:creationId xmlns:a16="http://schemas.microsoft.com/office/drawing/2014/main" id="{6930EAB4-A3B2-AD45-8D57-49132943E387}"/>
              </a:ext>
            </a:extLst>
          </p:cNvPr>
          <p:cNvSpPr>
            <a:spLocks noGrp="1"/>
          </p:cNvSpPr>
          <p:nvPr>
            <p:ph type="sldNum" sz="quarter" idx="12"/>
          </p:nvPr>
        </p:nvSpPr>
        <p:spPr/>
        <p:txBody>
          <a:bodyPr/>
          <a:lstStyle/>
          <a:p>
            <a:fld id="{6FFFF67E-EC6A-B940-8DC7-BF9A5925C934}" type="slidenum">
              <a:rPr lang="en-US" smtClean="0"/>
              <a:t>183</a:t>
            </a:fld>
            <a:endParaRPr lang="en-US" dirty="0"/>
          </a:p>
        </p:txBody>
      </p:sp>
    </p:spTree>
    <p:extLst>
      <p:ext uri="{BB962C8B-B14F-4D97-AF65-F5344CB8AC3E}">
        <p14:creationId xmlns:p14="http://schemas.microsoft.com/office/powerpoint/2010/main" val="407561249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8FF1-AC32-D744-BF31-E155CCC01E0D}"/>
              </a:ext>
            </a:extLst>
          </p:cNvPr>
          <p:cNvSpPr>
            <a:spLocks noGrp="1"/>
          </p:cNvSpPr>
          <p:nvPr>
            <p:ph type="title"/>
          </p:nvPr>
        </p:nvSpPr>
        <p:spPr/>
        <p:txBody>
          <a:bodyPr/>
          <a:lstStyle/>
          <a:p>
            <a:r>
              <a:t>Loading Components Asynchronously</a:t>
            </a:r>
          </a:p>
        </p:txBody>
      </p:sp>
      <p:sp>
        <p:nvSpPr>
          <p:cNvPr id="3" name="Text Placeholder 2">
            <a:extLst>
              <a:ext uri="{FF2B5EF4-FFF2-40B4-BE49-F238E27FC236}">
                <a16:creationId xmlns:a16="http://schemas.microsoft.com/office/drawing/2014/main" id="{5E7BB307-0BF4-1246-8BEA-161FE184B8FB}"/>
              </a:ext>
            </a:extLst>
          </p:cNvPr>
          <p:cNvSpPr>
            <a:spLocks noGrp="1"/>
          </p:cNvSpPr>
          <p:nvPr>
            <p:ph type="body" idx="1"/>
          </p:nvPr>
        </p:nvSpPr>
        <p:spPr/>
        <p:txBody>
          <a:bodyPr>
            <a:normAutofit fontScale="92500"/>
          </a:bodyPr>
          <a:lstStyle/>
          <a:p>
            <a:r>
              <a:t>Wrap a dynamic import with defineAsyncComponent.</a:t>
            </a:r>
          </a:p>
          <a:p>
            <a:endParaRPr/>
          </a:p>
          <a:p>
            <a:pPr marL="0" indent="0">
              <a:buNone/>
            </a:pPr>
            <a:r>
              <a:rPr lang="en-US">
                <a:latin typeface="Courier New" pitchFamily="49" charset="0"/>
              </a:rPr>
              <a:t>import { defineAsyncComponent } from 'vue'</a:t>
            </a:r>
          </a:p>
          <a:p>
            <a:endParaRPr/>
          </a:p>
          <a:p>
            <a:pPr marL="0" indent="0">
              <a:buNone/>
            </a:pPr>
            <a:r>
              <a:rPr lang="en-US">
                <a:latin typeface="Courier New" pitchFamily="49" charset="0"/>
              </a:rPr>
              <a:t>const AsyncModal = defineAsyncComponent(() =&gt;</a:t>
            </a:r>
          </a:p>
          <a:p>
            <a:pPr marL="0" indent="0">
              <a:buNone/>
            </a:pPr>
            <a:r>
              <a:rPr lang="en-US">
                <a:latin typeface="Courier New" pitchFamily="49" charset="0"/>
              </a:rPr>
              <a:t>  import('./components/Modal.vue')</a:t>
            </a:r>
          </a:p>
          <a:p>
            <a:pPr marL="0" indent="0">
              <a:buNone/>
            </a:pPr>
            <a:r>
              <a:rPr lang="en-US">
                <a:latin typeface="Courier New" pitchFamily="49" charset="0"/>
              </a:rPr>
              <a:t>)</a:t>
            </a:r>
          </a:p>
          <a:p>
            <a:endParaRPr/>
          </a:p>
          <a:p>
            <a:r>
              <a:t>Vite gives the component its own chunk, downloaded on first use.</a:t>
            </a:r>
          </a:p>
          <a:p>
            <a:r>
              <a:t>Routes get this for free from a lazy route component.</a:t>
            </a:r>
          </a:p>
          <a:p>
            <a:r>
              <a:t>Pair it with &lt;Suspense&gt; to show a fallback while it loads.</a:t>
            </a:r>
          </a:p>
        </p:txBody>
      </p:sp>
    </p:spTree>
    <p:extLst>
      <p:ext uri="{BB962C8B-B14F-4D97-AF65-F5344CB8AC3E}">
        <p14:creationId xmlns:p14="http://schemas.microsoft.com/office/powerpoint/2010/main" val="80577713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68452-C44B-384F-B14A-EEDA8054B320}"/>
              </a:ext>
            </a:extLst>
          </p:cNvPr>
          <p:cNvSpPr>
            <a:spLocks noGrp="1"/>
          </p:cNvSpPr>
          <p:nvPr>
            <p:ph type="title"/>
          </p:nvPr>
        </p:nvSpPr>
        <p:spPr/>
        <p:txBody>
          <a:bodyPr/>
          <a:lstStyle/>
          <a:p>
            <a:r>
              <a:t>Composables</a:t>
            </a:r>
          </a:p>
        </p:txBody>
      </p:sp>
      <p:sp>
        <p:nvSpPr>
          <p:cNvPr id="3" name="Text Placeholder 2">
            <a:extLst>
              <a:ext uri="{FF2B5EF4-FFF2-40B4-BE49-F238E27FC236}">
                <a16:creationId xmlns:a16="http://schemas.microsoft.com/office/drawing/2014/main" id="{AF4BB73E-EBED-424C-B240-A2C19F8563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FD85B9-C57C-764D-9B01-A52231D17A91}"/>
              </a:ext>
            </a:extLst>
          </p:cNvPr>
          <p:cNvSpPr>
            <a:spLocks noGrp="1"/>
          </p:cNvSpPr>
          <p:nvPr>
            <p:ph type="sldNum" sz="quarter" idx="12"/>
          </p:nvPr>
        </p:nvSpPr>
        <p:spPr/>
        <p:txBody>
          <a:bodyPr/>
          <a:lstStyle/>
          <a:p>
            <a:fld id="{6FFFF67E-EC6A-B940-8DC7-BF9A5925C934}" type="slidenum">
              <a:rPr lang="en-US" smtClean="0"/>
              <a:t>185</a:t>
            </a:fld>
            <a:endParaRPr lang="en-US" dirty="0"/>
          </a:p>
        </p:txBody>
      </p:sp>
    </p:spTree>
    <p:extLst>
      <p:ext uri="{BB962C8B-B14F-4D97-AF65-F5344CB8AC3E}">
        <p14:creationId xmlns:p14="http://schemas.microsoft.com/office/powerpoint/2010/main" val="402151281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2FF-5ED2-8343-AA96-690584C81E27}"/>
              </a:ext>
            </a:extLst>
          </p:cNvPr>
          <p:cNvSpPr>
            <a:spLocks noGrp="1"/>
          </p:cNvSpPr>
          <p:nvPr>
            <p:ph type="title"/>
          </p:nvPr>
        </p:nvSpPr>
        <p:spPr/>
        <p:txBody>
          <a:bodyPr/>
          <a:lstStyle/>
          <a:p>
            <a:r>
              <a:t>Composable Basics</a:t>
            </a:r>
          </a:p>
        </p:txBody>
      </p:sp>
      <p:sp>
        <p:nvSpPr>
          <p:cNvPr id="3" name="Content Placeholder 2">
            <a:extLst>
              <a:ext uri="{FF2B5EF4-FFF2-40B4-BE49-F238E27FC236}">
                <a16:creationId xmlns:a16="http://schemas.microsoft.com/office/drawing/2014/main" id="{5B9367C3-173E-634B-9920-CFABA0611C31}"/>
              </a:ext>
            </a:extLst>
          </p:cNvPr>
          <p:cNvSpPr>
            <a:spLocks noGrp="1"/>
          </p:cNvSpPr>
          <p:nvPr>
            <p:ph idx="1"/>
          </p:nvPr>
        </p:nvSpPr>
        <p:spPr/>
        <p:txBody>
          <a:bodyPr/>
          <a:lstStyle/>
          <a:p>
            <a:r>
              <a:t>A composable is a function that uses the Composition API to encapsulate and reuse stateful logic.</a:t>
            </a:r>
          </a:p>
          <a:p>
            <a:r>
              <a:t>By convention it is named use* and lives in src/composables.</a:t>
            </a:r>
          </a:p>
          <a:p>
            <a:r>
              <a:t>It is called synchronously from &lt;script setup&gt;, so it can use lifecycle hooks and watchers on the caller's behalf.</a:t>
            </a:r>
          </a:p>
        </p:txBody>
      </p:sp>
      <p:sp>
        <p:nvSpPr>
          <p:cNvPr id="4" name="Slide Number Placeholder 3">
            <a:extLst>
              <a:ext uri="{FF2B5EF4-FFF2-40B4-BE49-F238E27FC236}">
                <a16:creationId xmlns:a16="http://schemas.microsoft.com/office/drawing/2014/main" id="{C72ECAAC-4EDE-3E4B-A6AC-7CB04E9681BE}"/>
              </a:ext>
            </a:extLst>
          </p:cNvPr>
          <p:cNvSpPr>
            <a:spLocks noGrp="1"/>
          </p:cNvSpPr>
          <p:nvPr>
            <p:ph type="sldNum" sz="quarter" idx="12"/>
          </p:nvPr>
        </p:nvSpPr>
        <p:spPr/>
        <p:txBody>
          <a:bodyPr/>
          <a:lstStyle/>
          <a:p>
            <a:fld id="{6FFFF67E-EC6A-B940-8DC7-BF9A5925C934}" type="slidenum">
              <a:rPr lang="en-US" smtClean="0"/>
              <a:t>186</a:t>
            </a:fld>
            <a:endParaRPr lang="en-US" dirty="0"/>
          </a:p>
        </p:txBody>
      </p:sp>
    </p:spTree>
    <p:extLst>
      <p:ext uri="{BB962C8B-B14F-4D97-AF65-F5344CB8AC3E}">
        <p14:creationId xmlns:p14="http://schemas.microsoft.com/office/powerpoint/2010/main" val="166901067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5EA2C-A502-F548-86A2-89AC96A3521B}"/>
              </a:ext>
            </a:extLst>
          </p:cNvPr>
          <p:cNvSpPr>
            <a:spLocks noGrp="1"/>
          </p:cNvSpPr>
          <p:nvPr>
            <p:ph type="title"/>
          </p:nvPr>
        </p:nvSpPr>
        <p:spPr/>
        <p:txBody>
          <a:bodyPr/>
          <a:lstStyle/>
          <a:p>
            <a:r>
              <a:t>Why Composables Replace Mixins</a:t>
            </a:r>
          </a:p>
        </p:txBody>
      </p:sp>
      <p:sp>
        <p:nvSpPr>
          <p:cNvPr id="3" name="Content Placeholder 2">
            <a:extLst>
              <a:ext uri="{FF2B5EF4-FFF2-40B4-BE49-F238E27FC236}">
                <a16:creationId xmlns:a16="http://schemas.microsoft.com/office/drawing/2014/main" id="{A43964E2-286E-D24A-8996-E47C6DA08E90}"/>
              </a:ext>
            </a:extLst>
          </p:cNvPr>
          <p:cNvSpPr>
            <a:spLocks noGrp="1"/>
          </p:cNvSpPr>
          <p:nvPr>
            <p:ph idx="1"/>
          </p:nvPr>
        </p:nvSpPr>
        <p:spPr/>
        <p:txBody>
          <a:bodyPr/>
          <a:lstStyle/>
          <a:p>
            <a:r>
              <a:t>A mixin merged its options into the component silently:</a:t>
            </a:r>
          </a:p>
          <a:p>
            <a:pPr lvl="1"/>
            <a:r>
              <a:t>You could not tell where an inherited property came from</a:t>
            </a:r>
          </a:p>
          <a:p>
            <a:pPr lvl="1"/>
            <a:r>
              <a:t>Two mixins declaring the same name collided, and the winner was decided by a merge strategy</a:t>
            </a:r>
          </a:p>
          <a:p>
            <a:pPr lvl="1"/>
            <a:r>
              <a:t>A mixin could not take arguments</a:t>
            </a:r>
          </a:p>
          <a:p>
            <a:r>
              <a:t>A composable takes its inputs as parameters and returns its outputs, so both ends are visible at the call site.</a:t>
            </a:r>
          </a:p>
          <a:p>
            <a:r>
              <a:t>Mixins still work in Vue 3, but are documented as legacy.</a:t>
            </a:r>
          </a:p>
        </p:txBody>
      </p:sp>
      <p:sp>
        <p:nvSpPr>
          <p:cNvPr id="4" name="Slide Number Placeholder 3">
            <a:extLst>
              <a:ext uri="{FF2B5EF4-FFF2-40B4-BE49-F238E27FC236}">
                <a16:creationId xmlns:a16="http://schemas.microsoft.com/office/drawing/2014/main" id="{EEE3066E-3503-8645-9F98-1C61439298EA}"/>
              </a:ext>
            </a:extLst>
          </p:cNvPr>
          <p:cNvSpPr>
            <a:spLocks noGrp="1"/>
          </p:cNvSpPr>
          <p:nvPr>
            <p:ph type="sldNum" sz="quarter" idx="12"/>
          </p:nvPr>
        </p:nvSpPr>
        <p:spPr/>
        <p:txBody>
          <a:bodyPr/>
          <a:lstStyle/>
          <a:p>
            <a:fld id="{6FFFF67E-EC6A-B940-8DC7-BF9A5925C934}" type="slidenum">
              <a:rPr lang="en-US" smtClean="0"/>
              <a:t>187</a:t>
            </a:fld>
            <a:endParaRPr lang="en-US" dirty="0"/>
          </a:p>
        </p:txBody>
      </p:sp>
    </p:spTree>
    <p:extLst>
      <p:ext uri="{BB962C8B-B14F-4D97-AF65-F5344CB8AC3E}">
        <p14:creationId xmlns:p14="http://schemas.microsoft.com/office/powerpoint/2010/main" val="398927892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F37B-6F8D-754C-9F73-BA4F3A6F2555}"/>
              </a:ext>
            </a:extLst>
          </p:cNvPr>
          <p:cNvSpPr>
            <a:spLocks noGrp="1"/>
          </p:cNvSpPr>
          <p:nvPr>
            <p:ph type="title"/>
          </p:nvPr>
        </p:nvSpPr>
        <p:spPr/>
        <p:txBody>
          <a:bodyPr/>
          <a:lstStyle/>
          <a:p>
            <a:r>
              <a:t>Writing a Composable</a:t>
            </a:r>
          </a:p>
        </p:txBody>
      </p:sp>
      <p:sp>
        <p:nvSpPr>
          <p:cNvPr id="3" name="Content Placeholder 2">
            <a:extLst>
              <a:ext uri="{FF2B5EF4-FFF2-40B4-BE49-F238E27FC236}">
                <a16:creationId xmlns:a16="http://schemas.microsoft.com/office/drawing/2014/main" id="{8FA2AD9D-EA6E-1641-B670-C74DCD9DA1C2}"/>
              </a:ext>
            </a:extLst>
          </p:cNvPr>
          <p:cNvSpPr>
            <a:spLocks noGrp="1"/>
          </p:cNvSpPr>
          <p:nvPr>
            <p:ph idx="1"/>
          </p:nvPr>
        </p:nvSpPr>
        <p:spPr/>
        <p:txBody>
          <a:bodyPr>
            <a:normAutofit fontScale="92500" lnSpcReduction="20000"/>
          </a:bodyPr>
          <a:lstStyle/>
          <a:p>
            <a:pPr marL="0" indent="0">
              <a:buNone/>
            </a:pPr>
            <a:r>
              <a:rPr lang="en-US">
                <a:latin typeface="Courier New" pitchFamily="49" charset="0"/>
              </a:rPr>
              <a:t>import { computed, ref } from 'vue'</a:t>
            </a:r>
          </a:p>
          <a:p>
            <a:endParaRPr/>
          </a:p>
          <a:p>
            <a:pPr marL="0" indent="0">
              <a:buNone/>
            </a:pPr>
            <a:r>
              <a:rPr lang="en-US">
                <a:latin typeface="Courier New" pitchFamily="49" charset="0"/>
              </a:rPr>
              <a:t>export function useArticleFilter(articles) {</a:t>
            </a:r>
          </a:p>
          <a:p>
            <a:pPr marL="0" indent="0">
              <a:buNone/>
            </a:pPr>
            <a:r>
              <a:rPr lang="en-US">
                <a:latin typeface="Courier New" pitchFamily="49" charset="0"/>
              </a:rPr>
              <a:t>  const searchDetails = ref('')</a:t>
            </a:r>
          </a:p>
          <a:p>
            <a:endParaRPr/>
          </a:p>
          <a:p>
            <a:pPr marL="0" indent="0">
              <a:buNone/>
            </a:pPr>
            <a:r>
              <a:rPr lang="en-US">
                <a:latin typeface="Courier New" pitchFamily="49" charset="0"/>
              </a:rPr>
              <a:t>  const filterIt = computed(() =&gt;</a:t>
            </a:r>
          </a:p>
          <a:p>
            <a:pPr marL="0" indent="0">
              <a:buNone/>
            </a:pPr>
            <a:r>
              <a:rPr lang="en-US">
                <a:latin typeface="Courier New" pitchFamily="49" charset="0"/>
              </a:rPr>
              <a:t>    articles.value.filter((a) =&gt;</a:t>
            </a:r>
          </a:p>
          <a:p>
            <a:pPr marL="0" indent="0">
              <a:buNone/>
            </a:pPr>
            <a:r>
              <a:rPr lang="en-US">
                <a:latin typeface="Courier New" pitchFamily="49" charset="0"/>
              </a:rPr>
              <a:t>      a.title.includes(searchDetails.value)</a:t>
            </a:r>
          </a:p>
          <a:p>
            <a:pPr marL="0" indent="0">
              <a:buNone/>
            </a:pPr>
            <a:r>
              <a:rPr lang="en-US">
                <a:latin typeface="Courier New" pitchFamily="49" charset="0"/>
              </a:rPr>
              <a:t>    )</a:t>
            </a:r>
          </a:p>
          <a:p>
            <a:pPr marL="0" indent="0">
              <a:buNone/>
            </a:pPr>
            <a:r>
              <a:rPr lang="en-US">
                <a:latin typeface="Courier New" pitchFamily="49" charset="0"/>
              </a:rPr>
              <a:t>  )</a:t>
            </a:r>
          </a:p>
          <a:p>
            <a:endParaRPr/>
          </a:p>
          <a:p>
            <a:pPr marL="0" indent="0">
              <a:buNone/>
            </a:pPr>
            <a:r>
              <a:rPr lang="en-US">
                <a:latin typeface="Courier New" pitchFamily="49" charset="0"/>
              </a:rPr>
              <a:t>  return { searchDetails, filterIt }</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46B3724F-27B3-4045-B1A2-A82A7E8AEE91}"/>
              </a:ext>
            </a:extLst>
          </p:cNvPr>
          <p:cNvSpPr>
            <a:spLocks noGrp="1"/>
          </p:cNvSpPr>
          <p:nvPr>
            <p:ph type="sldNum" sz="quarter" idx="12"/>
          </p:nvPr>
        </p:nvSpPr>
        <p:spPr/>
        <p:txBody>
          <a:bodyPr/>
          <a:lstStyle/>
          <a:p>
            <a:fld id="{6FFFF67E-EC6A-B940-8DC7-BF9A5925C934}" type="slidenum">
              <a:rPr lang="en-US" smtClean="0"/>
              <a:t>188</a:t>
            </a:fld>
            <a:endParaRPr lang="en-US" dirty="0"/>
          </a:p>
        </p:txBody>
      </p:sp>
    </p:spTree>
    <p:extLst>
      <p:ext uri="{BB962C8B-B14F-4D97-AF65-F5344CB8AC3E}">
        <p14:creationId xmlns:p14="http://schemas.microsoft.com/office/powerpoint/2010/main" val="300408693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36787D-8013-0949-BE3C-5570EB3854E8}"/>
              </a:ext>
            </a:extLst>
          </p:cNvPr>
          <p:cNvSpPr>
            <a:spLocks noGrp="1"/>
          </p:cNvSpPr>
          <p:nvPr>
            <p:ph type="sldNum" sz="quarter" idx="12"/>
          </p:nvPr>
        </p:nvSpPr>
        <p:spPr/>
        <p:txBody>
          <a:bodyPr/>
          <a:lstStyle/>
          <a:p>
            <a:fld id="{6FFFF67E-EC6A-B940-8DC7-BF9A5925C934}" type="slidenum">
              <a:rPr lang="en-US" smtClean="0"/>
              <a:t>189</a:t>
            </a:fld>
            <a:endParaRPr lang="en-US" dirty="0"/>
          </a:p>
        </p:txBody>
      </p:sp>
      <p:sp>
        <p:nvSpPr>
          <p:cNvPr id="3" name="Text Placeholder 2">
            <a:extLst>
              <a:ext uri="{FF2B5EF4-FFF2-40B4-BE49-F238E27FC236}">
                <a16:creationId xmlns:a16="http://schemas.microsoft.com/office/drawing/2014/main" id="{8C2C6E57-11D5-FA47-AB01-21BF24B2C02C}"/>
              </a:ext>
            </a:extLst>
          </p:cNvPr>
          <p:cNvSpPr>
            <a:spLocks noGrp="1"/>
          </p:cNvSpPr>
          <p:nvPr>
            <p:ph type="body" sz="quarter" idx="13"/>
          </p:nvPr>
        </p:nvSpPr>
        <p:spPr/>
        <p:txBody>
          <a:bodyPr>
            <a:normAutofit fontScale="92500" lnSpcReduction="10000"/>
          </a:bodyPr>
          <a:lstStyle/>
          <a:p>
            <a:pPr marL="0" indent="0">
              <a:buNone/>
            </a:pPr>
            <a:r>
              <a:rPr lang="en-US">
                <a:latin typeface="Courier New" pitchFamily="49" charset="0"/>
              </a:rPr>
              <a:t>&lt;script setup&gt;</a:t>
            </a:r>
          </a:p>
          <a:p>
            <a:pPr marL="0" indent="0">
              <a:buNone/>
            </a:pPr>
            <a:r>
              <a:rPr lang="en-US">
                <a:latin typeface="Courier New" pitchFamily="49" charset="0"/>
              </a:rPr>
              <a:t>import { ref } from 'vue'</a:t>
            </a:r>
          </a:p>
          <a:p>
            <a:pPr marL="0" indent="0">
              <a:buNone/>
            </a:pPr>
            <a:r>
              <a:rPr lang="en-US">
                <a:latin typeface="Courier New" pitchFamily="49" charset="0"/>
              </a:rPr>
              <a:t>import { useArticleFilter } from '@/composables/useArticleFilter'</a:t>
            </a:r>
          </a:p>
          <a:p>
            <a:endParaRPr/>
          </a:p>
          <a:p>
            <a:pPr marL="0" indent="0">
              <a:buNone/>
            </a:pPr>
            <a:r>
              <a:rPr lang="en-US">
                <a:latin typeface="Courier New" pitchFamily="49" charset="0"/>
              </a:rPr>
              <a:t>const articles = ref([])</a:t>
            </a:r>
          </a:p>
          <a:p>
            <a:endParaRPr/>
          </a:p>
          <a:p>
            <a:pPr marL="0" indent="0">
              <a:buNone/>
            </a:pPr>
            <a:r>
              <a:rPr lang="en-US">
                <a:latin typeface="Courier New" pitchFamily="49" charset="0"/>
              </a:rPr>
              <a:t>const { searchDetails, filterIt } = useArticleFilter(articles)</a:t>
            </a:r>
          </a:p>
          <a:p>
            <a:pPr marL="0" indent="0">
              <a:buNone/>
            </a:pPr>
            <a:r>
              <a:rPr lang="en-US">
                <a:latin typeface="Courier New" pitchFamily="49" charset="0"/>
              </a:rPr>
              <a:t>&lt;/script&gt;</a:t>
            </a:r>
          </a:p>
          <a:p>
            <a:endParaRPr/>
          </a:p>
          <a:p>
            <a:pPr marL="0" indent="0">
              <a:buNone/>
            </a:pPr>
            <a:r>
              <a:rPr lang="en-US">
                <a:latin typeface="Courier New" pitchFamily="49" charset="0"/>
              </a:rPr>
              <a:t>// Called twice, you get two independent filters — something a</a:t>
            </a:r>
          </a:p>
          <a:p>
            <a:pPr marL="0" indent="0">
              <a:buNone/>
            </a:pPr>
            <a:r>
              <a:rPr lang="en-US">
                <a:latin typeface="Courier New" pitchFamily="49" charset="0"/>
              </a:rPr>
              <a:t>// mixin could never do.</a:t>
            </a:r>
          </a:p>
        </p:txBody>
      </p:sp>
      <p:sp>
        <p:nvSpPr>
          <p:cNvPr id="4" name="Title 3">
            <a:extLst>
              <a:ext uri="{FF2B5EF4-FFF2-40B4-BE49-F238E27FC236}">
                <a16:creationId xmlns:a16="http://schemas.microsoft.com/office/drawing/2014/main" id="{FDF264DD-8F60-524C-B19A-EEAC9B833148}"/>
              </a:ext>
            </a:extLst>
          </p:cNvPr>
          <p:cNvSpPr>
            <a:spLocks noGrp="1"/>
          </p:cNvSpPr>
          <p:nvPr>
            <p:ph type="title"/>
          </p:nvPr>
        </p:nvSpPr>
        <p:spPr/>
        <p:txBody>
          <a:bodyPr/>
          <a:lstStyle/>
          <a:p>
            <a:r>
              <a:t>Using a Composable</a:t>
            </a:r>
          </a:p>
        </p:txBody>
      </p:sp>
    </p:spTree>
    <p:extLst>
      <p:ext uri="{BB962C8B-B14F-4D97-AF65-F5344CB8AC3E}">
        <p14:creationId xmlns:p14="http://schemas.microsoft.com/office/powerpoint/2010/main" val="1110491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30291F-899E-2D4E-B3DD-C3F0EB6A7973}"/>
              </a:ext>
            </a:extLst>
          </p:cNvPr>
          <p:cNvSpPr>
            <a:spLocks noGrp="1"/>
          </p:cNvSpPr>
          <p:nvPr>
            <p:ph type="sldNum" sz="quarter" idx="12"/>
          </p:nvPr>
        </p:nvSpPr>
        <p:spPr/>
        <p:txBody>
          <a:bodyPr/>
          <a:lstStyle/>
          <a:p>
            <a:fld id="{6FFFF67E-EC6A-B940-8DC7-BF9A5925C934}" type="slidenum">
              <a:rPr lang="en-US" smtClean="0"/>
              <a:t>190</a:t>
            </a:fld>
            <a:endParaRPr lang="en-US" dirty="0"/>
          </a:p>
        </p:txBody>
      </p:sp>
      <p:sp>
        <p:nvSpPr>
          <p:cNvPr id="3" name="Text Placeholder 2">
            <a:extLst>
              <a:ext uri="{FF2B5EF4-FFF2-40B4-BE49-F238E27FC236}">
                <a16:creationId xmlns:a16="http://schemas.microsoft.com/office/drawing/2014/main" id="{A1FB5D42-F008-5041-BE64-AEAA5B5DCEA3}"/>
              </a:ext>
            </a:extLst>
          </p:cNvPr>
          <p:cNvSpPr>
            <a:spLocks noGrp="1"/>
          </p:cNvSpPr>
          <p:nvPr>
            <p:ph type="body" sz="quarter" idx="13"/>
          </p:nvPr>
        </p:nvSpPr>
        <p:spPr/>
        <p:txBody>
          <a:bodyPr/>
          <a:lstStyle/>
          <a:p>
            <a:r>
              <a:t>Name it use* so readers know it may register hooks</a:t>
            </a:r>
          </a:p>
          <a:p>
            <a:r>
              <a:t>Call it synchronously from setup, never in a callback</a:t>
            </a:r>
          </a:p>
          <a:p>
            <a:r>
              <a:t>Accept refs or getters as arguments so callers can pass live state; toValue() normalises them</a:t>
            </a:r>
          </a:p>
          <a:p>
            <a:r>
              <a:t>Return plain refs, so the caller can destructure freely</a:t>
            </a:r>
          </a:p>
          <a:p>
            <a:r>
              <a:t>Clean up after yourself in onUnmounted</a:t>
            </a:r>
          </a:p>
        </p:txBody>
      </p:sp>
      <p:sp>
        <p:nvSpPr>
          <p:cNvPr id="4" name="Title 3">
            <a:extLst>
              <a:ext uri="{FF2B5EF4-FFF2-40B4-BE49-F238E27FC236}">
                <a16:creationId xmlns:a16="http://schemas.microsoft.com/office/drawing/2014/main" id="{DA99EC5C-C53F-494D-AAD3-409AC041B876}"/>
              </a:ext>
            </a:extLst>
          </p:cNvPr>
          <p:cNvSpPr>
            <a:spLocks noGrp="1"/>
          </p:cNvSpPr>
          <p:nvPr>
            <p:ph type="title"/>
          </p:nvPr>
        </p:nvSpPr>
        <p:spPr/>
        <p:txBody>
          <a:bodyPr/>
          <a:lstStyle/>
          <a:p>
            <a:r>
              <a:t>Composable Conventions</a:t>
            </a:r>
          </a:p>
        </p:txBody>
      </p:sp>
    </p:spTree>
    <p:extLst>
      <p:ext uri="{BB962C8B-B14F-4D97-AF65-F5344CB8AC3E}">
        <p14:creationId xmlns:p14="http://schemas.microsoft.com/office/powerpoint/2010/main" val="296307777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B5F9-1178-A04C-90B9-518AAD9BC8A4}"/>
              </a:ext>
            </a:extLst>
          </p:cNvPr>
          <p:cNvSpPr>
            <a:spLocks noGrp="1"/>
          </p:cNvSpPr>
          <p:nvPr>
            <p:ph type="title"/>
          </p:nvPr>
        </p:nvSpPr>
        <p:spPr/>
        <p:txBody>
          <a:bodyPr/>
          <a:lstStyle/>
          <a:p>
            <a:r>
              <a:t>Community Composables</a:t>
            </a:r>
          </a:p>
        </p:txBody>
      </p:sp>
      <p:sp>
        <p:nvSpPr>
          <p:cNvPr id="5" name="Content Placeholder 4">
            <a:extLst>
              <a:ext uri="{FF2B5EF4-FFF2-40B4-BE49-F238E27FC236}">
                <a16:creationId xmlns:a16="http://schemas.microsoft.com/office/drawing/2014/main" id="{B83A318F-88B4-F04C-B92B-52A1435F9F25}"/>
              </a:ext>
            </a:extLst>
          </p:cNvPr>
          <p:cNvSpPr>
            <a:spLocks noGrp="1"/>
          </p:cNvSpPr>
          <p:nvPr>
            <p:ph idx="1"/>
          </p:nvPr>
        </p:nvSpPr>
        <p:spPr/>
        <p:txBody>
          <a:bodyPr/>
          <a:lstStyle/>
          <a:p>
            <a:r>
              <a:t>VueUse — a large collection of ready-made composables</a:t>
            </a:r>
          </a:p>
          <a:p>
            <a:pPr lvl="1"/>
            <a:r>
              <a:t>useLocalStorage, useFetch, useMediaQuery, useDebounce, ...</a:t>
            </a:r>
          </a:p>
          <a:p>
            <a:r>
              <a:t>Worth checking before writing your own</a:t>
            </a:r>
          </a:p>
          <a:p>
            <a:r>
              <a:t>vueuse.org</a:t>
            </a:r>
          </a:p>
        </p:txBody>
      </p:sp>
      <p:sp>
        <p:nvSpPr>
          <p:cNvPr id="4" name="Slide Number Placeholder 3">
            <a:extLst>
              <a:ext uri="{FF2B5EF4-FFF2-40B4-BE49-F238E27FC236}">
                <a16:creationId xmlns:a16="http://schemas.microsoft.com/office/drawing/2014/main" id="{F5C86702-FBDF-6E41-A9A5-D529FA412B70}"/>
              </a:ext>
            </a:extLst>
          </p:cNvPr>
          <p:cNvSpPr>
            <a:spLocks noGrp="1"/>
          </p:cNvSpPr>
          <p:nvPr>
            <p:ph type="sldNum" sz="quarter" idx="12"/>
          </p:nvPr>
        </p:nvSpPr>
        <p:spPr/>
        <p:txBody>
          <a:bodyPr/>
          <a:lstStyle/>
          <a:p>
            <a:fld id="{6FFFF67E-EC6A-B940-8DC7-BF9A5925C934}" type="slidenum">
              <a:rPr lang="en-US" smtClean="0"/>
              <a:t>191</a:t>
            </a:fld>
            <a:endParaRPr lang="en-US" dirty="0"/>
          </a:p>
        </p:txBody>
      </p:sp>
    </p:spTree>
    <p:extLst>
      <p:ext uri="{BB962C8B-B14F-4D97-AF65-F5344CB8AC3E}">
        <p14:creationId xmlns:p14="http://schemas.microsoft.com/office/powerpoint/2010/main" val="103042743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39FB3-B91B-494F-AC50-AC4B7BA817BB}"/>
              </a:ext>
            </a:extLst>
          </p:cNvPr>
          <p:cNvSpPr>
            <a:spLocks noGrp="1"/>
          </p:cNvSpPr>
          <p:nvPr>
            <p:ph type="title"/>
          </p:nvPr>
        </p:nvSpPr>
        <p:spPr/>
        <p:txBody>
          <a:bodyPr/>
          <a:lstStyle/>
          <a:p>
            <a:r>
              <a:t>Lab 19: Composables</a:t>
            </a:r>
          </a:p>
        </p:txBody>
      </p:sp>
      <p:sp>
        <p:nvSpPr>
          <p:cNvPr id="3" name="Content Placeholder 2">
            <a:extLst>
              <a:ext uri="{FF2B5EF4-FFF2-40B4-BE49-F238E27FC236}">
                <a16:creationId xmlns:a16="http://schemas.microsoft.com/office/drawing/2014/main" id="{E7686CA6-9FB5-9149-B605-5DB25F46EA2B}"/>
              </a:ext>
            </a:extLst>
          </p:cNvPr>
          <p:cNvSpPr>
            <a:spLocks noGrp="1"/>
          </p:cNvSpPr>
          <p:nvPr>
            <p:ph idx="1"/>
          </p:nvPr>
        </p:nvSpPr>
        <p:spPr/>
        <p:txBody>
          <a:bodyPr/>
          <a:lstStyle/>
          <a:p>
            <a:r>
              <a:t>Extract the filterIt computed property into a composable and use it from ArticleList.vue.</a:t>
            </a:r>
            <a:endParaRPr lang="en-US" dirty="0"/>
          </a:p>
        </p:txBody>
      </p:sp>
      <p:sp>
        <p:nvSpPr>
          <p:cNvPr id="4" name="Slide Number Placeholder 3">
            <a:extLst>
              <a:ext uri="{FF2B5EF4-FFF2-40B4-BE49-F238E27FC236}">
                <a16:creationId xmlns:a16="http://schemas.microsoft.com/office/drawing/2014/main" id="{042561E7-06E2-8B42-9D57-99F515B65FAA}"/>
              </a:ext>
            </a:extLst>
          </p:cNvPr>
          <p:cNvSpPr>
            <a:spLocks noGrp="1"/>
          </p:cNvSpPr>
          <p:nvPr>
            <p:ph type="sldNum" sz="quarter" idx="12"/>
          </p:nvPr>
        </p:nvSpPr>
        <p:spPr/>
        <p:txBody>
          <a:bodyPr/>
          <a:lstStyle/>
          <a:p>
            <a:fld id="{6FFFF67E-EC6A-B940-8DC7-BF9A5925C934}" type="slidenum">
              <a:rPr lang="en-US" smtClean="0"/>
              <a:t>192</a:t>
            </a:fld>
            <a:endParaRPr lang="en-US" dirty="0"/>
          </a:p>
        </p:txBody>
      </p:sp>
    </p:spTree>
    <p:extLst>
      <p:ext uri="{BB962C8B-B14F-4D97-AF65-F5344CB8AC3E}">
        <p14:creationId xmlns:p14="http://schemas.microsoft.com/office/powerpoint/2010/main" val="145066704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16F1-AA70-A643-AAB3-D0ACCBE15C84}"/>
              </a:ext>
            </a:extLst>
          </p:cNvPr>
          <p:cNvSpPr>
            <a:spLocks noGrp="1"/>
          </p:cNvSpPr>
          <p:nvPr>
            <p:ph type="title"/>
          </p:nvPr>
        </p:nvSpPr>
        <p:spPr/>
        <p:txBody>
          <a:bodyPr/>
          <a:lstStyle/>
          <a:p>
            <a:r>
              <a:t>Using Pinia</a:t>
            </a:r>
          </a:p>
        </p:txBody>
      </p:sp>
      <p:sp>
        <p:nvSpPr>
          <p:cNvPr id="4" name="Text Placeholder 3">
            <a:extLst>
              <a:ext uri="{FF2B5EF4-FFF2-40B4-BE49-F238E27FC236}">
                <a16:creationId xmlns:a16="http://schemas.microsoft.com/office/drawing/2014/main" id="{9ECC5EB0-4FF8-D54B-AC03-F1F6179C9F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769742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40DD-1CBA-9A4B-A3CA-1351A3E89304}"/>
              </a:ext>
            </a:extLst>
          </p:cNvPr>
          <p:cNvSpPr>
            <a:spLocks noGrp="1"/>
          </p:cNvSpPr>
          <p:nvPr>
            <p:ph type="title"/>
          </p:nvPr>
        </p:nvSpPr>
        <p:spPr/>
        <p:txBody>
          <a:bodyPr/>
          <a:lstStyle/>
          <a:p>
            <a:r>
              <a:t>Why a Store?</a:t>
            </a:r>
          </a:p>
        </p:txBody>
      </p:sp>
      <p:sp>
        <p:nvSpPr>
          <p:cNvPr id="4" name="Text Placeholder 3">
            <a:extLst>
              <a:ext uri="{FF2B5EF4-FFF2-40B4-BE49-F238E27FC236}">
                <a16:creationId xmlns:a16="http://schemas.microsoft.com/office/drawing/2014/main" id="{5756F322-D423-E148-8FFF-2A9079849FB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294942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Text Placeholder 2"/>
          <p:cNvSpPr>
            <a:spLocks noGrp="1"/>
          </p:cNvSpPr>
          <p:nvPr>
            <p:ph type="body" idx="1"/>
          </p:nvPr>
        </p:nvSpPr>
        <p:spPr/>
        <p:txBody>
          <a:bodyPr/>
          <a:lstStyle/>
          <a:p>
            <a:r>
              <a:t>Props flow down; events flow up.</a:t>
            </a:r>
          </a:p>
          <a:p>
            <a:r>
              <a:t>That works until two distant components need the same state.</a:t>
            </a:r>
          </a:p>
          <a:p>
            <a:pPr lvl="1"/>
            <a:r>
              <a:t>Passing it through every intermediate component ("prop drilling")</a:t>
            </a:r>
          </a:p>
          <a:p>
            <a:pPr lvl="1"/>
            <a:r>
              <a:t>Two copies that drift out of sync</a:t>
            </a:r>
          </a:p>
          <a:p>
            <a:r>
              <a:t>A store gives that state one owner, outside the component tree.</a:t>
            </a:r>
          </a:p>
        </p:txBody>
      </p:sp>
      <p:sp>
        <p:nvSpPr>
          <p:cNvPr id="4" name="Slide Number Placeholder 3"/>
          <p:cNvSpPr>
            <a:spLocks noGrp="1"/>
          </p:cNvSpPr>
          <p:nvPr>
            <p:ph type="sldNum" sz="quarter" idx="12"/>
          </p:nvPr>
        </p:nvSpPr>
        <p:spPr/>
        <p:txBody>
          <a:bodyPr/>
          <a:lstStyle/>
          <a:p>
            <a:fld id="{A839F4A7-500C-EC42-AE23-BEE4487EA55E}" type="slidenum">
              <a:rPr lang="en-US" smtClean="0"/>
              <a:t>195</a:t>
            </a:fld>
            <a:endParaRPr lang="en-US" dirty="0"/>
          </a:p>
        </p:txBody>
      </p:sp>
    </p:spTree>
    <p:extLst>
      <p:ext uri="{BB962C8B-B14F-4D97-AF65-F5344CB8AC3E}">
        <p14:creationId xmlns:p14="http://schemas.microsoft.com/office/powerpoint/2010/main" val="352773282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Pinia</a:t>
            </a:r>
          </a:p>
        </p:txBody>
      </p:sp>
      <p:sp>
        <p:nvSpPr>
          <p:cNvPr id="3" name="Text Placeholder 2"/>
          <p:cNvSpPr>
            <a:spLocks noGrp="1"/>
          </p:cNvSpPr>
          <p:nvPr>
            <p:ph type="body" idx="1"/>
          </p:nvPr>
        </p:nvSpPr>
        <p:spPr/>
        <p:txBody>
          <a:bodyPr/>
          <a:lstStyle/>
          <a:p>
            <a:pPr marL="457200" indent="-457200">
              <a:buFont typeface="+mj-lt"/>
              <a:buAutoNum type="arabicPeriod"/>
            </a:pPr>
            <a:r>
              <a:t>Vue's official state management library.</a:t>
            </a:r>
          </a:p>
          <a:p>
            <a:pPr marL="457200" indent="-457200">
              <a:buFont typeface="+mj-lt"/>
              <a:buAutoNum type="arabicPeriod"/>
            </a:pPr>
            <a:r>
              <a:t>A store is a composable: you call useSomeStore() to get it.</a:t>
            </a:r>
          </a:p>
          <a:p>
            <a:pPr marL="457200" indent="-457200">
              <a:buFont typeface="+mj-lt"/>
              <a:buAutoNum type="arabicPeriod"/>
            </a:pPr>
            <a:r>
              <a:t>state, getters and actions — no mutations, no dispatch, no commit.</a:t>
            </a:r>
          </a:p>
          <a:p>
            <a:pPr marL="457200" indent="-457200">
              <a:buFont typeface="+mj-lt"/>
              <a:buAutoNum type="arabicPeriod"/>
            </a:pPr>
            <a:r>
              <a:t>Type-safe, and each store is its own module by construction.</a:t>
            </a:r>
          </a:p>
          <a:p>
            <a:pPr marL="457200" indent="-457200">
              <a:buFont typeface="+mj-lt"/>
              <a:buAutoNum type="arabicPeriod"/>
            </a:pPr>
            <a:r>
              <a:t>Replaced Vuex, which is now in maintenance mode.</a:t>
            </a:r>
          </a:p>
        </p:txBody>
      </p:sp>
      <p:sp>
        <p:nvSpPr>
          <p:cNvPr id="4" name="Slide Number Placeholder 3"/>
          <p:cNvSpPr>
            <a:spLocks noGrp="1"/>
          </p:cNvSpPr>
          <p:nvPr>
            <p:ph type="sldNum" sz="quarter" idx="12"/>
          </p:nvPr>
        </p:nvSpPr>
        <p:spPr/>
        <p:txBody>
          <a:bodyPr/>
          <a:lstStyle/>
          <a:p>
            <a:fld id="{A839F4A7-500C-EC42-AE23-BEE4487EA55E}" type="slidenum">
              <a:rPr lang="en-US" smtClean="0"/>
              <a:t>196</a:t>
            </a:fld>
            <a:endParaRPr lang="en-US" dirty="0"/>
          </a:p>
        </p:txBody>
      </p:sp>
    </p:spTree>
    <p:extLst>
      <p:ext uri="{BB962C8B-B14F-4D97-AF65-F5344CB8AC3E}">
        <p14:creationId xmlns:p14="http://schemas.microsoft.com/office/powerpoint/2010/main" val="380834384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Pinia vs. Vuex</a:t>
            </a:r>
          </a:p>
        </p:txBody>
      </p:sp>
      <p:sp>
        <p:nvSpPr>
          <p:cNvPr id="3" name="Text Placeholder 2"/>
          <p:cNvSpPr>
            <a:spLocks noGrp="1"/>
          </p:cNvSpPr>
          <p:nvPr>
            <p:ph type="body" idx="1"/>
          </p:nvPr>
        </p:nvSpPr>
        <p:spPr/>
        <p:txBody>
          <a:bodyPr/>
          <a:lstStyle/>
          <a:p>
            <a:r>
              <a:t>Vuex                          Pinia</a:t>
            </a:r>
          </a:p>
          <a:p>
            <a:r>
              <a:t>state                         state</a:t>
            </a:r>
          </a:p>
          <a:p>
            <a:r>
              <a:t>getters                       getters</a:t>
            </a:r>
          </a:p>
          <a:p>
            <a:r>
              <a:t>mutations                     — (actions assign directly)</a:t>
            </a:r>
          </a:p>
          <a:p>
            <a:r>
              <a:t>actions + dispatch('name')    actions, called as functions</a:t>
            </a:r>
          </a:p>
          <a:p>
            <a:r>
              <a:t>commit('NAME', payload)       this.value = payload</a:t>
            </a:r>
          </a:p>
          <a:p>
            <a:r>
              <a:t>modules                       one file per store</a:t>
            </a:r>
          </a:p>
          <a:p>
            <a:r>
              <a:t>mapState / mapGetters         storeToRefs</a:t>
            </a:r>
          </a:p>
        </p:txBody>
      </p:sp>
      <p:sp>
        <p:nvSpPr>
          <p:cNvPr id="4" name="Slide Number Placeholder 3"/>
          <p:cNvSpPr>
            <a:spLocks noGrp="1"/>
          </p:cNvSpPr>
          <p:nvPr>
            <p:ph type="sldNum" sz="quarter" idx="12"/>
          </p:nvPr>
        </p:nvSpPr>
        <p:spPr/>
        <p:txBody>
          <a:bodyPr/>
          <a:lstStyle/>
          <a:p>
            <a:fld id="{A839F4A7-500C-EC42-AE23-BEE4487EA55E}" type="slidenum">
              <a:rPr lang="en-US" smtClean="0"/>
              <a:t>197</a:t>
            </a:fld>
            <a:endParaRPr lang="en-US" dirty="0"/>
          </a:p>
        </p:txBody>
      </p:sp>
    </p:spTree>
    <p:extLst>
      <p:ext uri="{BB962C8B-B14F-4D97-AF65-F5344CB8AC3E}">
        <p14:creationId xmlns:p14="http://schemas.microsoft.com/office/powerpoint/2010/main" val="395141791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Installing Pinia</a:t>
            </a:r>
          </a:p>
        </p:txBody>
      </p:sp>
      <p:sp>
        <p:nvSpPr>
          <p:cNvPr id="3" name="Text Placeholder 2"/>
          <p:cNvSpPr>
            <a:spLocks noGrp="1"/>
          </p:cNvSpPr>
          <p:nvPr>
            <p:ph type="body" idx="1"/>
          </p:nvPr>
        </p:nvSpPr>
        <p:spPr/>
        <p:txBody>
          <a:bodyPr>
            <a:normAutofit lnSpcReduction="10000"/>
          </a:bodyPr>
          <a:lstStyle/>
          <a:p>
            <a:r>
              <a:t>npm install pinia</a:t>
            </a:r>
          </a:p>
          <a:p>
            <a:endParaRPr/>
          </a:p>
          <a:p>
            <a:pPr marL="0" indent="0">
              <a:buNone/>
            </a:pPr>
            <a:r>
              <a:rPr lang="en-US">
                <a:latin typeface="Courier New" pitchFamily="49" charset="0"/>
              </a:rPr>
              <a:t>import { createPinia } from 'pinia'</a:t>
            </a:r>
          </a:p>
          <a:p>
            <a:endParaRPr/>
          </a:p>
          <a:p>
            <a:pPr marL="0" indent="0">
              <a:buNone/>
            </a:pPr>
            <a:r>
              <a:rPr lang="en-US">
                <a:latin typeface="Courier New" pitchFamily="49" charset="0"/>
              </a:rPr>
              <a:t>const app = createApp(App)</a:t>
            </a:r>
          </a:p>
          <a:p>
            <a:pPr marL="0" indent="0">
              <a:buNone/>
            </a:pPr>
            <a:r>
              <a:rPr lang="en-US">
                <a:latin typeface="Courier New" pitchFamily="49" charset="0"/>
              </a:rPr>
              <a:t>app.use(createPinia())</a:t>
            </a:r>
          </a:p>
          <a:p>
            <a:pPr marL="0" indent="0">
              <a:buNone/>
            </a:pPr>
            <a:r>
              <a:rPr lang="en-US">
                <a:latin typeface="Courier New" pitchFamily="49" charset="0"/>
              </a:rPr>
              <a:t>app.mount('#app')</a:t>
            </a:r>
          </a:p>
          <a:p>
            <a:endParaRPr/>
          </a:p>
          <a:p>
            <a:pPr marL="0" indent="0">
              <a:buNone/>
            </a:pPr>
            <a:r>
              <a:rPr lang="en-US">
                <a:latin typeface="Courier New" pitchFamily="49" charset="0"/>
              </a:rPr>
              <a:t>// Install Pinia before the router, so navigation guards can</a:t>
            </a:r>
          </a:p>
          <a:p>
            <a:pPr marL="0" indent="0">
              <a:buNone/>
            </a:pPr>
            <a:r>
              <a:rPr lang="en-US">
                <a:latin typeface="Courier New" pitchFamily="49" charset="0"/>
              </a:rPr>
              <a:t>// reach the stores.</a:t>
            </a:r>
          </a:p>
        </p:txBody>
      </p:sp>
      <p:sp>
        <p:nvSpPr>
          <p:cNvPr id="4" name="Slide Number Placeholder 3"/>
          <p:cNvSpPr>
            <a:spLocks noGrp="1"/>
          </p:cNvSpPr>
          <p:nvPr>
            <p:ph type="sldNum" sz="quarter" idx="12"/>
          </p:nvPr>
        </p:nvSpPr>
        <p:spPr/>
        <p:txBody>
          <a:bodyPr/>
          <a:lstStyle/>
          <a:p>
            <a:fld id="{A839F4A7-500C-EC42-AE23-BEE4487EA55E}" type="slidenum">
              <a:rPr lang="en-US" smtClean="0"/>
              <a:t>198</a:t>
            </a:fld>
            <a:endParaRPr lang="en-US" dirty="0"/>
          </a:p>
        </p:txBody>
      </p:sp>
    </p:spTree>
    <p:extLst>
      <p:ext uri="{BB962C8B-B14F-4D97-AF65-F5344CB8AC3E}">
        <p14:creationId xmlns:p14="http://schemas.microsoft.com/office/powerpoint/2010/main" val="50637089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Defining a Store</a:t>
            </a:r>
          </a:p>
        </p:txBody>
      </p:sp>
      <p:sp>
        <p:nvSpPr>
          <p:cNvPr id="3" name="Text Placeholder 2"/>
          <p:cNvSpPr>
            <a:spLocks noGrp="1"/>
          </p:cNvSpPr>
          <p:nvPr>
            <p:ph type="body" idx="1"/>
          </p:nvPr>
        </p:nvSpPr>
        <p:spPr/>
        <p:txBody>
          <a:bodyPr>
            <a:normAutofit fontScale="77500" lnSpcReduction="20000"/>
          </a:bodyPr>
          <a:lstStyle/>
          <a:p>
            <a:pPr marL="0" indent="0">
              <a:buNone/>
            </a:pPr>
            <a:r>
              <a:rPr lang="en-US">
                <a:latin typeface="Courier New" pitchFamily="49" charset="0"/>
              </a:rPr>
              <a:t>import { defineStore } from 'pinia'</a:t>
            </a:r>
          </a:p>
          <a:p>
            <a:endParaRPr/>
          </a:p>
          <a:p>
            <a:pPr marL="0" indent="0">
              <a:buNone/>
            </a:pPr>
            <a:r>
              <a:rPr lang="en-US">
                <a:latin typeface="Courier New" pitchFamily="49" charset="0"/>
              </a:rPr>
              <a:t>export const useCounterStore = defineStore('counter', {</a:t>
            </a:r>
          </a:p>
          <a:p>
            <a:pPr marL="0" indent="0">
              <a:buNone/>
            </a:pPr>
            <a:r>
              <a:rPr lang="en-US">
                <a:latin typeface="Courier New" pitchFamily="49" charset="0"/>
              </a:rPr>
              <a:t>  state: () =&gt; ({ count: 0 }),</a:t>
            </a:r>
          </a:p>
          <a:p>
            <a:endParaRPr/>
          </a:p>
          <a:p>
            <a:pPr marL="0" indent="0">
              <a:buNone/>
            </a:pPr>
            <a:r>
              <a:rPr lang="en-US">
                <a:latin typeface="Courier New" pitchFamily="49" charset="0"/>
              </a:rPr>
              <a:t>  getters: {</a:t>
            </a:r>
          </a:p>
          <a:p>
            <a:pPr marL="0" indent="0">
              <a:buNone/>
            </a:pPr>
            <a:r>
              <a:rPr lang="en-US">
                <a:latin typeface="Courier New" pitchFamily="49" charset="0"/>
              </a:rPr>
              <a:t>    double: (state) =&gt; state.count * 2</a:t>
            </a:r>
          </a:p>
          <a:p>
            <a:pPr marL="0" indent="0">
              <a:buNone/>
            </a:pPr>
            <a:r>
              <a:rPr lang="en-US">
                <a:latin typeface="Courier New" pitchFamily="49" charset="0"/>
              </a:rPr>
              <a:t>  },</a:t>
            </a:r>
          </a:p>
          <a:p>
            <a:endParaRPr/>
          </a:p>
          <a:p>
            <a:pPr marL="0" indent="0">
              <a:buNone/>
            </a:pPr>
            <a:r>
              <a:rPr lang="en-US">
                <a:latin typeface="Courier New" pitchFamily="49" charset="0"/>
              </a:rPr>
              <a:t>  actions: {</a:t>
            </a:r>
          </a:p>
          <a:p>
            <a:pPr marL="0" indent="0">
              <a:buNone/>
            </a:pPr>
            <a:r>
              <a:rPr lang="en-US">
                <a:latin typeface="Courier New" pitchFamily="49" charset="0"/>
              </a:rPr>
              <a:t>    increment() { this.count++ }</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'counter' is the store id, used by the DevTools.</a:t>
            </a:r>
          </a:p>
        </p:txBody>
      </p:sp>
      <p:sp>
        <p:nvSpPr>
          <p:cNvPr id="4" name="Slide Number Placeholder 3"/>
          <p:cNvSpPr>
            <a:spLocks noGrp="1"/>
          </p:cNvSpPr>
          <p:nvPr>
            <p:ph type="sldNum" sz="quarter" idx="12"/>
          </p:nvPr>
        </p:nvSpPr>
        <p:spPr/>
        <p:txBody>
          <a:bodyPr/>
          <a:lstStyle/>
          <a:p>
            <a:fld id="{A839F4A7-500C-EC42-AE23-BEE4487EA55E}" type="slidenum">
              <a:rPr lang="en-US" smtClean="0"/>
              <a:t>199</a:t>
            </a:fld>
            <a:endParaRPr lang="en-US" dirty="0"/>
          </a:p>
        </p:txBody>
      </p:sp>
    </p:spTree>
    <p:extLst>
      <p:ext uri="{BB962C8B-B14F-4D97-AF65-F5344CB8AC3E}">
        <p14:creationId xmlns:p14="http://schemas.microsoft.com/office/powerpoint/2010/main" val="321606846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DA30-55E6-9D44-B411-6FDDCD799B84}"/>
              </a:ext>
            </a:extLst>
          </p:cNvPr>
          <p:cNvSpPr>
            <a:spLocks noGrp="1"/>
          </p:cNvSpPr>
          <p:nvPr>
            <p:ph type="title"/>
          </p:nvPr>
        </p:nvSpPr>
        <p:spPr/>
        <p:txBody>
          <a:bodyPr/>
          <a:lstStyle/>
          <a:p>
            <a:r>
              <a:t>Setup Stores</a:t>
            </a:r>
          </a:p>
        </p:txBody>
      </p:sp>
      <p:sp>
        <p:nvSpPr>
          <p:cNvPr id="3" name="Text Placeholder 2">
            <a:extLst>
              <a:ext uri="{FF2B5EF4-FFF2-40B4-BE49-F238E27FC236}">
                <a16:creationId xmlns:a16="http://schemas.microsoft.com/office/drawing/2014/main" id="{251C9A7D-EE50-1B47-B705-9072F21CA5ED}"/>
              </a:ext>
            </a:extLst>
          </p:cNvPr>
          <p:cNvSpPr>
            <a:spLocks noGrp="1"/>
          </p:cNvSpPr>
          <p:nvPr>
            <p:ph type="body" idx="1"/>
          </p:nvPr>
        </p:nvSpPr>
        <p:spPr/>
        <p:txBody>
          <a:bodyPr>
            <a:normAutofit fontScale="70000" lnSpcReduction="20000"/>
          </a:bodyPr>
          <a:lstStyle/>
          <a:p>
            <a:pPr marL="0" indent="0">
              <a:buNone/>
            </a:pPr>
            <a:r>
              <a:t>A store can also be written like &lt;script setup&gt;.</a:t>
            </a:r>
          </a:p>
          <a:p>
            <a:pPr marL="0" indent="0">
              <a:buNone/>
            </a:pPr>
            <a:endParaRPr/>
          </a:p>
          <a:p>
            <a:pPr marL="0" indent="0">
              <a:buNone/>
            </a:pPr>
            <a:r>
              <a:rPr lang="en-US">
                <a:latin typeface="Courier New" pitchFamily="49" charset="0"/>
              </a:rPr>
              <a:t>export const useCounterStore = defineStore('counter', () =&gt; {</a:t>
            </a:r>
          </a:p>
          <a:p>
            <a:pPr marL="0" indent="0">
              <a:buNone/>
            </a:pPr>
            <a:r>
              <a:rPr lang="en-US">
                <a:latin typeface="Courier New" pitchFamily="49" charset="0"/>
              </a:rPr>
              <a:t>  const count = ref(0)                       // state</a:t>
            </a:r>
          </a:p>
          <a:p>
            <a:pPr marL="0" indent="0">
              <a:buNone/>
            </a:pPr>
            <a:r>
              <a:rPr lang="en-US">
                <a:latin typeface="Courier New" pitchFamily="49" charset="0"/>
              </a:rPr>
              <a:t>  const double = computed(() =&gt; count.value * 2)  // getter</a:t>
            </a:r>
          </a:p>
          <a:p>
            <a:pPr marL="0" indent="0">
              <a:buNone/>
            </a:pPr>
            <a:endParaRPr/>
          </a:p>
          <a:p>
            <a:pPr marL="0" indent="0">
              <a:buNone/>
            </a:pPr>
            <a:r>
              <a:rPr lang="en-US">
                <a:latin typeface="Courier New" pitchFamily="49" charset="0"/>
              </a:rPr>
              <a:t>  function increment() { count.value++ }     // action</a:t>
            </a:r>
          </a:p>
          <a:p>
            <a:pPr marL="0" indent="0">
              <a:buNone/>
            </a:pPr>
            <a:endParaRPr/>
          </a:p>
          <a:p>
            <a:pPr marL="0" indent="0">
              <a:buNone/>
            </a:pPr>
            <a:r>
              <a:rPr lang="en-US">
                <a:latin typeface="Courier New" pitchFamily="49" charset="0"/>
              </a:rPr>
              <a:t>  return { count, double, increment }</a:t>
            </a:r>
          </a:p>
          <a:p>
            <a:pPr marL="0" indent="0">
              <a:buNone/>
            </a:pPr>
            <a:r>
              <a:rPr lang="en-US">
                <a:latin typeface="Courier New" pitchFamily="49" charset="0"/>
              </a:rPr>
              <a:t>})</a:t>
            </a:r>
          </a:p>
          <a:p>
            <a:pPr marL="0" indent="0">
              <a:buNone/>
            </a:pPr>
            <a:endParaRPr/>
          </a:p>
          <a:p>
            <a:pPr marL="0" indent="0">
              <a:buNone/>
            </a:pPr>
            <a:r>
              <a:rPr lang="en-US">
                <a:latin typeface="Courier New" pitchFamily="49" charset="0"/>
              </a:rPr>
              <a:t>// Same store, different syntax. Use whichever reads better;</a:t>
            </a:r>
          </a:p>
          <a:p>
            <a:pPr marL="0" indent="0">
              <a:buNone/>
            </a:pPr>
            <a:r>
              <a:rPr lang="en-US">
                <a:latin typeface="Courier New" pitchFamily="49" charset="0"/>
              </a:rPr>
              <a:t>// setup stores compose more easily, option stores map more</a:t>
            </a:r>
          </a:p>
          <a:p>
            <a:pPr marL="0" indent="0">
              <a:buNone/>
            </a:pPr>
            <a:r>
              <a:rPr lang="en-US">
                <a:latin typeface="Courier New" pitchFamily="49" charset="0"/>
              </a:rPr>
              <a:t>// directly onto a Vuex module you are porting.</a:t>
            </a:r>
          </a:p>
        </p:txBody>
      </p:sp>
    </p:spTree>
    <p:extLst>
      <p:ext uri="{BB962C8B-B14F-4D97-AF65-F5344CB8AC3E}">
        <p14:creationId xmlns:p14="http://schemas.microsoft.com/office/powerpoint/2010/main" val="406903142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1A4FA-DDA9-E14F-A52A-2AFDBC190A84}"/>
              </a:ext>
            </a:extLst>
          </p:cNvPr>
          <p:cNvSpPr>
            <a:spLocks noGrp="1"/>
          </p:cNvSpPr>
          <p:nvPr>
            <p:ph type="title"/>
          </p:nvPr>
        </p:nvSpPr>
        <p:spPr/>
        <p:txBody>
          <a:bodyPr/>
          <a:lstStyle/>
          <a:p>
            <a:r>
              <a:t>State</a:t>
            </a:r>
          </a:p>
        </p:txBody>
      </p:sp>
      <p:sp>
        <p:nvSpPr>
          <p:cNvPr id="3" name="Text Placeholder 2">
            <a:extLst>
              <a:ext uri="{FF2B5EF4-FFF2-40B4-BE49-F238E27FC236}">
                <a16:creationId xmlns:a16="http://schemas.microsoft.com/office/drawing/2014/main" id="{CC17C05C-276A-124B-9467-E5B02B9EC3D2}"/>
              </a:ext>
            </a:extLst>
          </p:cNvPr>
          <p:cNvSpPr>
            <a:spLocks noGrp="1"/>
          </p:cNvSpPr>
          <p:nvPr>
            <p:ph type="body" idx="1"/>
          </p:nvPr>
        </p:nvSpPr>
        <p:spPr/>
        <p:txBody>
          <a:bodyPr/>
          <a:lstStyle/>
          <a:p>
            <a:r>
              <a:t>state is a function that returns a fresh object.</a:t>
            </a:r>
          </a:p>
          <a:p>
            <a:r>
              <a:t>Read and write it directly on the store:</a:t>
            </a:r>
          </a:p>
          <a:p>
            <a:endParaRPr/>
          </a:p>
          <a:p>
            <a:pPr marL="0" indent="0">
              <a:buNone/>
            </a:pPr>
            <a:r>
              <a:rPr lang="en-US">
                <a:latin typeface="Courier New" pitchFamily="49" charset="0"/>
              </a:rPr>
              <a:t>const counter = useCounterStore()</a:t>
            </a:r>
          </a:p>
          <a:p>
            <a:endParaRPr/>
          </a:p>
          <a:p>
            <a:r>
              <a:t>counter.count++</a:t>
            </a:r>
          </a:p>
          <a:p>
            <a:r>
              <a:t>counter.$patch({ count: 10 })   // several changes at once</a:t>
            </a:r>
          </a:p>
          <a:p>
            <a:r>
              <a:t>counter.$reset()                // back to the initial state</a:t>
            </a:r>
          </a:p>
        </p:txBody>
      </p:sp>
    </p:spTree>
    <p:extLst>
      <p:ext uri="{BB962C8B-B14F-4D97-AF65-F5344CB8AC3E}">
        <p14:creationId xmlns:p14="http://schemas.microsoft.com/office/powerpoint/2010/main" val="17799270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0B40-4222-F64E-ACC6-3047F2695FC6}"/>
              </a:ext>
            </a:extLst>
          </p:cNvPr>
          <p:cNvSpPr>
            <a:spLocks noGrp="1"/>
          </p:cNvSpPr>
          <p:nvPr>
            <p:ph type="title"/>
          </p:nvPr>
        </p:nvSpPr>
        <p:spPr/>
        <p:txBody>
          <a:bodyPr/>
          <a:lstStyle/>
          <a:p>
            <a:r>
              <a:t>Getters</a:t>
            </a:r>
          </a:p>
        </p:txBody>
      </p:sp>
      <p:sp>
        <p:nvSpPr>
          <p:cNvPr id="3" name="Text Placeholder 2">
            <a:extLst>
              <a:ext uri="{FF2B5EF4-FFF2-40B4-BE49-F238E27FC236}">
                <a16:creationId xmlns:a16="http://schemas.microsoft.com/office/drawing/2014/main" id="{DEBA7420-FE25-464A-AA2A-5D38742D02E4}"/>
              </a:ext>
            </a:extLst>
          </p:cNvPr>
          <p:cNvSpPr>
            <a:spLocks noGrp="1"/>
          </p:cNvSpPr>
          <p:nvPr>
            <p:ph type="body" idx="1"/>
          </p:nvPr>
        </p:nvSpPr>
        <p:spPr/>
        <p:txBody>
          <a:bodyPr>
            <a:normAutofit fontScale="92500" lnSpcReduction="10000"/>
          </a:bodyPr>
          <a:lstStyle/>
          <a:p>
            <a:r>
              <a:t>Computed properties for a store.</a:t>
            </a:r>
          </a:p>
          <a:p>
            <a:r>
              <a:t>Receive state as their first argument.</a:t>
            </a:r>
          </a:p>
          <a:p>
            <a:r>
              <a:t>Cached, like any computed property.</a:t>
            </a:r>
          </a:p>
          <a:p>
            <a:endParaRPr/>
          </a:p>
          <a:p>
            <a:r>
              <a:t>getters: {</a:t>
            </a:r>
          </a:p>
          <a:p>
            <a:pPr marL="0" indent="0">
              <a:buNone/>
            </a:pPr>
            <a:r>
              <a:rPr lang="en-US">
                <a:latin typeface="Courier New" pitchFamily="49" charset="0"/>
              </a:rPr>
              <a:t>  doneTodos: (state) =&gt; state.todos.filter((t) =&gt; t.done),</a:t>
            </a:r>
          </a:p>
          <a:p>
            <a:pPr marL="0" indent="0">
              <a:buNone/>
            </a:pPr>
            <a:r>
              <a:rPr lang="en-US">
                <a:latin typeface="Courier New" pitchFamily="49" charset="0"/>
              </a:rPr>
              <a:t>  doneCount() { return this.doneTodos.length }</a:t>
            </a:r>
          </a:p>
          <a:p>
            <a:pPr marL="0" indent="0">
              <a:buNone/>
            </a:pPr>
            <a:r>
              <a:rPr lang="en-US">
                <a:latin typeface="Courier New" pitchFamily="49" charset="0"/>
              </a:rPr>
              <a:t>}</a:t>
            </a:r>
          </a:p>
          <a:p>
            <a:endParaRPr/>
          </a:p>
          <a:p>
            <a:pPr marL="0" indent="0">
              <a:buNone/>
            </a:pPr>
            <a:r>
              <a:rPr lang="en-US">
                <a:latin typeface="Courier New" pitchFamily="49" charset="0"/>
              </a:rPr>
              <a:t>// Use `this` (and a normal function) to reach other getters.</a:t>
            </a:r>
          </a:p>
        </p:txBody>
      </p:sp>
    </p:spTree>
    <p:extLst>
      <p:ext uri="{BB962C8B-B14F-4D97-AF65-F5344CB8AC3E}">
        <p14:creationId xmlns:p14="http://schemas.microsoft.com/office/powerpoint/2010/main" val="274682631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4B4A-969C-E845-8C1B-DDD1118AF639}"/>
              </a:ext>
            </a:extLst>
          </p:cNvPr>
          <p:cNvSpPr>
            <a:spLocks noGrp="1"/>
          </p:cNvSpPr>
          <p:nvPr>
            <p:ph type="title"/>
          </p:nvPr>
        </p:nvSpPr>
        <p:spPr/>
        <p:txBody>
          <a:bodyPr/>
          <a:lstStyle/>
          <a:p>
            <a:r>
              <a:t>Using a Store in a Component</a:t>
            </a:r>
          </a:p>
        </p:txBody>
      </p:sp>
      <p:sp>
        <p:nvSpPr>
          <p:cNvPr id="3" name="Text Placeholder 2">
            <a:extLst>
              <a:ext uri="{FF2B5EF4-FFF2-40B4-BE49-F238E27FC236}">
                <a16:creationId xmlns:a16="http://schemas.microsoft.com/office/drawing/2014/main" id="{0B5167ED-4DDD-4E44-A823-093CA255CC6D}"/>
              </a:ext>
            </a:extLst>
          </p:cNvPr>
          <p:cNvSpPr>
            <a:spLocks noGrp="1"/>
          </p:cNvSpPr>
          <p:nvPr>
            <p:ph type="body" idx="1"/>
          </p:nvPr>
        </p:nvSpPr>
        <p:spPr/>
        <p:txBody>
          <a:bodyPr>
            <a:normAutofit fontScale="92500" lnSpcReduction="20000"/>
          </a:bodyPr>
          <a:lstStyle/>
          <a:p>
            <a:pPr marL="0" indent="0">
              <a:buNone/>
            </a:pPr>
            <a:r>
              <a:rPr lang="en-US">
                <a:latin typeface="Courier New" pitchFamily="49" charset="0"/>
              </a:rPr>
              <a:t>&lt;script setup&gt;</a:t>
            </a:r>
          </a:p>
          <a:p>
            <a:pPr marL="0" indent="0">
              <a:buNone/>
            </a:pPr>
            <a:r>
              <a:rPr lang="en-US">
                <a:latin typeface="Courier New" pitchFamily="49" charset="0"/>
              </a:rPr>
              <a:t>import { useCounterStore } from '@/stores/counter'</a:t>
            </a:r>
          </a:p>
          <a:p>
            <a:endParaRPr/>
          </a:p>
          <a:p>
            <a:pPr marL="0" indent="0">
              <a:buNone/>
            </a:pPr>
            <a:r>
              <a:rPr lang="en-US">
                <a:latin typeface="Courier New" pitchFamily="49" charset="0"/>
              </a:rPr>
              <a:t>const counter = useCounterStore()</a:t>
            </a:r>
          </a:p>
          <a:p>
            <a:pPr marL="0" indent="0">
              <a:buNone/>
            </a:pPr>
            <a:r>
              <a:rPr lang="en-US">
                <a:latin typeface="Courier New" pitchFamily="49" charset="0"/>
              </a:rPr>
              <a:t>&lt;/script&gt;</a:t>
            </a:r>
          </a:p>
          <a:p>
            <a:endParaRPr/>
          </a:p>
          <a:p>
            <a:pPr marL="0" indent="0">
              <a:buNone/>
            </a:pPr>
            <a:r>
              <a:rPr lang="en-US">
                <a:latin typeface="Courier New" pitchFamily="49" charset="0"/>
              </a:rPr>
              <a:t>&lt;template&gt;</a:t>
            </a:r>
          </a:p>
          <a:p>
            <a:pPr marL="0" indent="0">
              <a:buNone/>
            </a:pPr>
            <a:r>
              <a:rPr lang="en-US">
                <a:latin typeface="Courier New" pitchFamily="49" charset="0"/>
              </a:rPr>
              <a:t>  &lt;p&gt;{{ counter.count }} / {{ counter.double }}&lt;/p&gt;</a:t>
            </a:r>
          </a:p>
          <a:p>
            <a:pPr marL="0" indent="0">
              <a:buNone/>
            </a:pPr>
            <a:r>
              <a:rPr lang="en-US">
                <a:latin typeface="Courier New" pitchFamily="49" charset="0"/>
              </a:rPr>
              <a:t>  &lt;button @click="counter.increment()"&gt;+1&lt;/button&gt;</a:t>
            </a:r>
          </a:p>
          <a:p>
            <a:pPr marL="0" indent="0">
              <a:buNone/>
            </a:pPr>
            <a:r>
              <a:rPr lang="en-US">
                <a:latin typeface="Courier New" pitchFamily="49" charset="0"/>
              </a:rPr>
              <a:t>&lt;/template&gt;</a:t>
            </a:r>
          </a:p>
        </p:txBody>
      </p:sp>
    </p:spTree>
    <p:extLst>
      <p:ext uri="{BB962C8B-B14F-4D97-AF65-F5344CB8AC3E}">
        <p14:creationId xmlns:p14="http://schemas.microsoft.com/office/powerpoint/2010/main" val="382779606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5B0A-EAAC-AF40-A05D-65BC515A6F6A}"/>
              </a:ext>
            </a:extLst>
          </p:cNvPr>
          <p:cNvSpPr>
            <a:spLocks noGrp="1"/>
          </p:cNvSpPr>
          <p:nvPr>
            <p:ph type="title"/>
          </p:nvPr>
        </p:nvSpPr>
        <p:spPr/>
        <p:txBody>
          <a:bodyPr/>
          <a:lstStyle/>
          <a:p>
            <a:r>
              <a:t>storeToRefs</a:t>
            </a:r>
          </a:p>
        </p:txBody>
      </p:sp>
      <p:sp>
        <p:nvSpPr>
          <p:cNvPr id="3" name="Content Placeholder 2">
            <a:extLst>
              <a:ext uri="{FF2B5EF4-FFF2-40B4-BE49-F238E27FC236}">
                <a16:creationId xmlns:a16="http://schemas.microsoft.com/office/drawing/2014/main" id="{DCE3807F-5E54-7344-979C-D900CD076CDE}"/>
              </a:ext>
            </a:extLst>
          </p:cNvPr>
          <p:cNvSpPr>
            <a:spLocks noGrp="1"/>
          </p:cNvSpPr>
          <p:nvPr>
            <p:ph idx="1"/>
          </p:nvPr>
        </p:nvSpPr>
        <p:spPr/>
        <p:txBody>
          <a:bodyPr>
            <a:normAutofit fontScale="77500" lnSpcReduction="20000"/>
          </a:bodyPr>
          <a:lstStyle/>
          <a:p>
            <a:r>
              <a:t>A store is reactive, so destructuring it copies values out and breaks reactivity.</a:t>
            </a:r>
          </a:p>
          <a:p>
            <a:endParaRPr/>
          </a:p>
          <a:p>
            <a:pPr marL="0" indent="0">
              <a:buNone/>
            </a:pPr>
            <a:r>
              <a:rPr lang="en-US">
                <a:latin typeface="Courier New" pitchFamily="49" charset="0"/>
              </a:rPr>
              <a:t>const { count, double } = counter        // WRONG — not reactive</a:t>
            </a:r>
          </a:p>
          <a:p>
            <a:endParaRPr/>
          </a:p>
          <a:p>
            <a:pPr marL="0" indent="0">
              <a:buNone/>
            </a:pPr>
            <a:r>
              <a:rPr lang="en-US">
                <a:latin typeface="Courier New" pitchFamily="49" charset="0"/>
              </a:rPr>
              <a:t>import { storeToRefs } from 'pinia'</a:t>
            </a:r>
          </a:p>
          <a:p>
            <a:endParaRPr/>
          </a:p>
          <a:p>
            <a:pPr marL="0" indent="0">
              <a:buNone/>
            </a:pPr>
            <a:r>
              <a:rPr lang="en-US">
                <a:latin typeface="Courier New" pitchFamily="49" charset="0"/>
              </a:rPr>
              <a:t>const { count, double } = storeToRefs(counter)   // refs</a:t>
            </a:r>
          </a:p>
          <a:p>
            <a:pPr marL="0" indent="0">
              <a:buNone/>
            </a:pPr>
            <a:r>
              <a:rPr lang="en-US">
                <a:latin typeface="Courier New" pitchFamily="49" charset="0"/>
              </a:rPr>
              <a:t>const { increment } = counter                    // actions are</a:t>
            </a:r>
          </a:p>
          <a:p>
            <a:pPr marL="0" indent="0">
              <a:buNone/>
            </a:pPr>
            <a:r>
              <a:rPr lang="en-US">
                <a:latin typeface="Courier New" pitchFamily="49" charset="0"/>
              </a:rPr>
              <a:t>                                                 // plain functions</a:t>
            </a:r>
          </a:p>
          <a:p>
            <a:endParaRPr/>
          </a:p>
          <a:p>
            <a:pPr marL="0" indent="0">
              <a:buNone/>
            </a:pPr>
            <a:r>
              <a:rPr lang="en-US">
                <a:latin typeface="Courier New" pitchFamily="49" charset="0"/>
              </a:rPr>
              <a:t>// storeToRefs is the replacement for mapState and mapGetters.</a:t>
            </a:r>
          </a:p>
        </p:txBody>
      </p:sp>
      <p:sp>
        <p:nvSpPr>
          <p:cNvPr id="4" name="Slide Number Placeholder 3">
            <a:extLst>
              <a:ext uri="{FF2B5EF4-FFF2-40B4-BE49-F238E27FC236}">
                <a16:creationId xmlns:a16="http://schemas.microsoft.com/office/drawing/2014/main" id="{B43A1DE8-2AAF-C24A-B476-90F990682303}"/>
              </a:ext>
            </a:extLst>
          </p:cNvPr>
          <p:cNvSpPr>
            <a:spLocks noGrp="1"/>
          </p:cNvSpPr>
          <p:nvPr>
            <p:ph type="sldNum" sz="quarter" idx="12"/>
          </p:nvPr>
        </p:nvSpPr>
        <p:spPr/>
        <p:txBody>
          <a:bodyPr/>
          <a:lstStyle/>
          <a:p>
            <a:fld id="{6FFFF67E-EC6A-B940-8DC7-BF9A5925C934}" type="slidenum">
              <a:rPr lang="en-US" smtClean="0"/>
              <a:t>204</a:t>
            </a:fld>
            <a:endParaRPr lang="en-US" dirty="0"/>
          </a:p>
        </p:txBody>
      </p:sp>
    </p:spTree>
    <p:extLst>
      <p:ext uri="{BB962C8B-B14F-4D97-AF65-F5344CB8AC3E}">
        <p14:creationId xmlns:p14="http://schemas.microsoft.com/office/powerpoint/2010/main" val="98480873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3502E-223A-1247-9E9B-48C68319A75D}"/>
              </a:ext>
            </a:extLst>
          </p:cNvPr>
          <p:cNvSpPr>
            <a:spLocks noGrp="1"/>
          </p:cNvSpPr>
          <p:nvPr>
            <p:ph type="title"/>
          </p:nvPr>
        </p:nvSpPr>
        <p:spPr/>
        <p:txBody>
          <a:bodyPr/>
          <a:lstStyle/>
          <a:p>
            <a:r>
              <a:t>Actions</a:t>
            </a:r>
          </a:p>
        </p:txBody>
      </p:sp>
      <p:sp>
        <p:nvSpPr>
          <p:cNvPr id="3" name="Text Placeholder 2">
            <a:extLst>
              <a:ext uri="{FF2B5EF4-FFF2-40B4-BE49-F238E27FC236}">
                <a16:creationId xmlns:a16="http://schemas.microsoft.com/office/drawing/2014/main" id="{51BB764A-DFB8-964E-A9F6-E885E8AD7DF7}"/>
              </a:ext>
            </a:extLst>
          </p:cNvPr>
          <p:cNvSpPr>
            <a:spLocks noGrp="1"/>
          </p:cNvSpPr>
          <p:nvPr>
            <p:ph type="body" idx="1"/>
          </p:nvPr>
        </p:nvSpPr>
        <p:spPr/>
        <p:txBody>
          <a:bodyPr>
            <a:normAutofit fontScale="77500" lnSpcReduction="20000"/>
          </a:bodyPr>
          <a:lstStyle/>
          <a:p>
            <a:r>
              <a:t>An action is just a method on the store.</a:t>
            </a:r>
          </a:p>
          <a:p>
            <a:r>
              <a:t>It may be async, and it assigns to state through this.</a:t>
            </a:r>
          </a:p>
          <a:p>
            <a:endParaRPr/>
          </a:p>
          <a:p>
            <a:r>
              <a:t>actions: {</a:t>
            </a:r>
          </a:p>
          <a:p>
            <a:pPr marL="0" indent="0">
              <a:buNone/>
            </a:pPr>
            <a:r>
              <a:rPr lang="en-US">
                <a:latin typeface="Courier New" pitchFamily="49" charset="0"/>
              </a:rPr>
              <a:t>  async fetchArticles(params) {</a:t>
            </a:r>
          </a:p>
          <a:p>
            <a:pPr marL="0" indent="0">
              <a:buNone/>
            </a:pPr>
            <a:r>
              <a:rPr lang="en-US">
                <a:latin typeface="Courier New" pitchFamily="49" charset="0"/>
              </a:rPr>
              <a:t>    this.isLoading = true</a:t>
            </a:r>
          </a:p>
          <a:p>
            <a:pPr marL="0" indent="0">
              <a:buNone/>
            </a:pPr>
            <a:r>
              <a:rPr lang="en-US">
                <a:latin typeface="Courier New" pitchFamily="49" charset="0"/>
              </a:rPr>
              <a:t>    try {</a:t>
            </a:r>
          </a:p>
          <a:p>
            <a:pPr marL="0" indent="0">
              <a:buNone/>
            </a:pPr>
            <a:r>
              <a:rPr lang="en-US">
                <a:latin typeface="Courier New" pitchFamily="49" charset="0"/>
              </a:rPr>
              <a:t>      const { data } = await ArticlesService.query(params.type)</a:t>
            </a:r>
          </a:p>
          <a:p>
            <a:pPr marL="0" indent="0">
              <a:buNone/>
            </a:pPr>
            <a:r>
              <a:rPr lang="en-US">
                <a:latin typeface="Courier New" pitchFamily="49" charset="0"/>
              </a:rPr>
              <a:t>      this.articles = data.articles</a:t>
            </a:r>
          </a:p>
          <a:p>
            <a:pPr marL="0" indent="0">
              <a:buNone/>
            </a:pPr>
            <a:r>
              <a:rPr lang="en-US">
                <a:latin typeface="Courier New" pitchFamily="49" charset="0"/>
              </a:rPr>
              <a:t>    } finally {</a:t>
            </a:r>
          </a:p>
          <a:p>
            <a:pPr marL="0" indent="0">
              <a:buNone/>
            </a:pPr>
            <a:r>
              <a:rPr lang="en-US">
                <a:latin typeface="Courier New" pitchFamily="49" charset="0"/>
              </a:rPr>
              <a:t>      this.isLoading = false</a:t>
            </a:r>
          </a:p>
          <a:p>
            <a:pPr marL="0" indent="0">
              <a:buNone/>
            </a:pPr>
            <a:r>
              <a:rPr lang="en-US">
                <a:latin typeface="Courier New" pitchFamily="49" charset="0"/>
              </a:rPr>
              <a:t>    }</a:t>
            </a:r>
          </a:p>
          <a:p>
            <a:pPr marL="0" indent="0">
              <a:buNone/>
            </a:pPr>
            <a:r>
              <a:rPr lang="en-US">
                <a:latin typeface="Courier New" pitchFamily="49" charset="0"/>
              </a:rPr>
              <a:t>  }</a:t>
            </a:r>
          </a:p>
          <a:p>
            <a:pPr marL="0" indent="0">
              <a:buNone/>
            </a:pPr>
            <a:r>
              <a:rPr lang="en-US">
                <a:latin typeface="Courier New" pitchFamily="49" charset="0"/>
              </a:rPr>
              <a:t>}</a:t>
            </a:r>
          </a:p>
        </p:txBody>
      </p:sp>
    </p:spTree>
    <p:extLst>
      <p:ext uri="{BB962C8B-B14F-4D97-AF65-F5344CB8AC3E}">
        <p14:creationId xmlns:p14="http://schemas.microsoft.com/office/powerpoint/2010/main" val="152522118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E401-D7CB-DE4D-9481-AF084409AED3}"/>
              </a:ext>
            </a:extLst>
          </p:cNvPr>
          <p:cNvSpPr>
            <a:spLocks noGrp="1"/>
          </p:cNvSpPr>
          <p:nvPr>
            <p:ph type="title"/>
          </p:nvPr>
        </p:nvSpPr>
        <p:spPr/>
        <p:txBody>
          <a:bodyPr/>
          <a:lstStyle/>
          <a:p>
            <a:r>
              <a:t>No Mutations</a:t>
            </a:r>
          </a:p>
        </p:txBody>
      </p:sp>
      <p:sp>
        <p:nvSpPr>
          <p:cNvPr id="3" name="Text Placeholder 2">
            <a:extLst>
              <a:ext uri="{FF2B5EF4-FFF2-40B4-BE49-F238E27FC236}">
                <a16:creationId xmlns:a16="http://schemas.microsoft.com/office/drawing/2014/main" id="{48988512-5A5A-A04E-A7CE-A27CC4AC3D4F}"/>
              </a:ext>
            </a:extLst>
          </p:cNvPr>
          <p:cNvSpPr>
            <a:spLocks noGrp="1"/>
          </p:cNvSpPr>
          <p:nvPr>
            <p:ph type="body" idx="1"/>
          </p:nvPr>
        </p:nvSpPr>
        <p:spPr/>
        <p:txBody>
          <a:bodyPr/>
          <a:lstStyle/>
          <a:p>
            <a:r>
              <a:t>Vuex separated synchronous mutations from asynchronous actions so the devtools could record every state change.</a:t>
            </a:r>
          </a:p>
          <a:p>
            <a:r>
              <a:t>Pinia tracks changes through the reactivity system instead, so the separation is unnecessary.</a:t>
            </a:r>
          </a:p>
          <a:p>
            <a:r>
              <a:t>The result: no mutation types, no commit, no string constants — one less indirection between the component and the state.</a:t>
            </a:r>
          </a:p>
          <a:p>
            <a:r>
              <a:t>$subscribe and $onAction are still there if you need to observe changes, for logging or persistence.</a:t>
            </a:r>
          </a:p>
        </p:txBody>
      </p:sp>
    </p:spTree>
    <p:extLst>
      <p:ext uri="{BB962C8B-B14F-4D97-AF65-F5344CB8AC3E}">
        <p14:creationId xmlns:p14="http://schemas.microsoft.com/office/powerpoint/2010/main" val="225032329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65308A-7437-E643-909F-511CE9731C2E}"/>
              </a:ext>
            </a:extLst>
          </p:cNvPr>
          <p:cNvSpPr>
            <a:spLocks noGrp="1"/>
          </p:cNvSpPr>
          <p:nvPr>
            <p:ph type="body" sz="quarter" idx="10"/>
          </p:nvPr>
        </p:nvSpPr>
        <p:spPr/>
        <p:txBody>
          <a:bodyPr>
            <a:normAutofit/>
          </a:bodyPr>
          <a:lstStyle/>
          <a:p>
            <a:r>
              <a:t>Every store is a separate module by construction.</a:t>
            </a:r>
          </a:p>
          <a:p>
            <a:endParaRPr/>
          </a:p>
          <a:p>
            <a:r>
              <a:t>src/stores/</a:t>
            </a:r>
          </a:p>
          <a:p>
            <a:pPr marL="0" indent="0">
              <a:buNone/>
            </a:pPr>
            <a:r>
              <a:rPr lang="en-US">
                <a:latin typeface="Courier New" pitchFamily="49" charset="0"/>
              </a:rPr>
              <a:t>  auth.js    -&gt; useAuthStore</a:t>
            </a:r>
          </a:p>
          <a:p>
            <a:pPr marL="0" indent="0">
              <a:buNone/>
            </a:pPr>
            <a:r>
              <a:rPr lang="en-US">
                <a:latin typeface="Courier New" pitchFamily="49" charset="0"/>
              </a:rPr>
              <a:t>  home.js    -&gt; useHomeStore</a:t>
            </a:r>
          </a:p>
          <a:p>
            <a:endParaRPr/>
          </a:p>
          <a:p>
            <a:r>
              <a:t>A store can use another store — just call its use-function.</a:t>
            </a:r>
          </a:p>
          <a:p>
            <a:endParaRPr/>
          </a:p>
          <a:p>
            <a:pPr marL="0" indent="0">
              <a:buNone/>
            </a:pPr>
            <a:r>
              <a:rPr lang="en-US">
                <a:latin typeface="Courier New" pitchFamily="49" charset="0"/>
              </a:rPr>
              <a:t>// Vuex needed modules, namespacing, and 'module/action' strings.</a:t>
            </a:r>
          </a:p>
        </p:txBody>
      </p:sp>
      <p:sp>
        <p:nvSpPr>
          <p:cNvPr id="2" name="Title 1">
            <a:extLst>
              <a:ext uri="{FF2B5EF4-FFF2-40B4-BE49-F238E27FC236}">
                <a16:creationId xmlns:a16="http://schemas.microsoft.com/office/drawing/2014/main" id="{200538D1-89E9-D94A-A1E0-08DB643B67B7}"/>
              </a:ext>
            </a:extLst>
          </p:cNvPr>
          <p:cNvSpPr>
            <a:spLocks noGrp="1"/>
          </p:cNvSpPr>
          <p:nvPr>
            <p:ph type="title"/>
          </p:nvPr>
        </p:nvSpPr>
        <p:spPr/>
        <p:txBody>
          <a:bodyPr/>
          <a:lstStyle/>
          <a:p>
            <a:r>
              <a:t>Multiple Stores</a:t>
            </a:r>
          </a:p>
        </p:txBody>
      </p:sp>
    </p:spTree>
    <p:extLst>
      <p:ext uri="{BB962C8B-B14F-4D97-AF65-F5344CB8AC3E}">
        <p14:creationId xmlns:p14="http://schemas.microsoft.com/office/powerpoint/2010/main" val="315472729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F25C-59A9-564A-BBE1-7204B622B657}"/>
              </a:ext>
            </a:extLst>
          </p:cNvPr>
          <p:cNvSpPr>
            <a:spLocks noGrp="1"/>
          </p:cNvSpPr>
          <p:nvPr>
            <p:ph type="title"/>
          </p:nvPr>
        </p:nvSpPr>
        <p:spPr/>
        <p:txBody>
          <a:bodyPr/>
          <a:lstStyle/>
          <a:p>
            <a:r>
              <a:t>Pinia and the DevTools</a:t>
            </a:r>
          </a:p>
        </p:txBody>
      </p:sp>
      <p:sp>
        <p:nvSpPr>
          <p:cNvPr id="3" name="Content Placeholder 2">
            <a:extLst>
              <a:ext uri="{FF2B5EF4-FFF2-40B4-BE49-F238E27FC236}">
                <a16:creationId xmlns:a16="http://schemas.microsoft.com/office/drawing/2014/main" id="{CDD40BEE-C581-EF4B-AAA4-5E925EC01542}"/>
              </a:ext>
            </a:extLst>
          </p:cNvPr>
          <p:cNvSpPr>
            <a:spLocks noGrp="1"/>
          </p:cNvSpPr>
          <p:nvPr>
            <p:ph idx="1"/>
          </p:nvPr>
        </p:nvSpPr>
        <p:spPr/>
        <p:txBody>
          <a:bodyPr>
            <a:normAutofit/>
          </a:bodyPr>
          <a:lstStyle/>
          <a:p>
            <a:r>
              <a:t>Vue DevTools shows every registered store</a:t>
            </a:r>
          </a:p>
          <a:p>
            <a:pPr lvl="1"/>
            <a:r>
              <a:t>Inspect and edit state live</a:t>
            </a:r>
          </a:p>
          <a:p>
            <a:pPr lvl="1"/>
            <a:r>
              <a:t>A timeline of actions, with arguments and results</a:t>
            </a:r>
          </a:p>
          <a:p>
            <a:pPr lvl="1"/>
            <a:r>
              <a:t>Time-travel debugging</a:t>
            </a:r>
          </a:p>
          <a:p>
            <a:r>
              <a:t>Stores appear as soon as they are first used.</a:t>
            </a:r>
          </a:p>
        </p:txBody>
      </p:sp>
      <p:sp>
        <p:nvSpPr>
          <p:cNvPr id="4" name="Slide Number Placeholder 3">
            <a:extLst>
              <a:ext uri="{FF2B5EF4-FFF2-40B4-BE49-F238E27FC236}">
                <a16:creationId xmlns:a16="http://schemas.microsoft.com/office/drawing/2014/main" id="{2F030343-C1E7-EE4E-BADF-591F8980E36A}"/>
              </a:ext>
            </a:extLst>
          </p:cNvPr>
          <p:cNvSpPr>
            <a:spLocks noGrp="1"/>
          </p:cNvSpPr>
          <p:nvPr>
            <p:ph type="sldNum" sz="quarter" idx="12"/>
          </p:nvPr>
        </p:nvSpPr>
        <p:spPr/>
        <p:txBody>
          <a:bodyPr/>
          <a:lstStyle/>
          <a:p>
            <a:fld id="{6FFFF67E-EC6A-B940-8DC7-BF9A5925C934}" type="slidenum">
              <a:rPr lang="en-US" smtClean="0"/>
              <a:t>208</a:t>
            </a:fld>
            <a:endParaRPr lang="en-US" dirty="0"/>
          </a:p>
        </p:txBody>
      </p:sp>
    </p:spTree>
    <p:extLst>
      <p:ext uri="{BB962C8B-B14F-4D97-AF65-F5344CB8AC3E}">
        <p14:creationId xmlns:p14="http://schemas.microsoft.com/office/powerpoint/2010/main" val="262816593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47817-138A-5E4F-8938-CF23E1A570DE}"/>
              </a:ext>
            </a:extLst>
          </p:cNvPr>
          <p:cNvSpPr>
            <a:spLocks noGrp="1"/>
          </p:cNvSpPr>
          <p:nvPr>
            <p:ph type="title"/>
          </p:nvPr>
        </p:nvSpPr>
        <p:spPr/>
        <p:txBody>
          <a:bodyPr/>
          <a:lstStyle/>
          <a:p>
            <a:r>
              <a:t>Persisting Store State</a:t>
            </a:r>
          </a:p>
        </p:txBody>
      </p:sp>
      <p:sp>
        <p:nvSpPr>
          <p:cNvPr id="3" name="Text Placeholder 2">
            <a:extLst>
              <a:ext uri="{FF2B5EF4-FFF2-40B4-BE49-F238E27FC236}">
                <a16:creationId xmlns:a16="http://schemas.microsoft.com/office/drawing/2014/main" id="{90465905-FAF5-0F4C-AC0C-B27F62AB7F34}"/>
              </a:ext>
            </a:extLst>
          </p:cNvPr>
          <p:cNvSpPr>
            <a:spLocks noGrp="1"/>
          </p:cNvSpPr>
          <p:nvPr>
            <p:ph type="body" idx="1"/>
          </p:nvPr>
        </p:nvSpPr>
        <p:spPr/>
        <p:txBody>
          <a:bodyPr>
            <a:normAutofit lnSpcReduction="10000"/>
          </a:bodyPr>
          <a:lstStyle/>
          <a:p>
            <a:r>
              <a:t>Pinia is extended with plugins.</a:t>
            </a:r>
          </a:p>
          <a:p>
            <a:endParaRPr/>
          </a:p>
          <a:p>
            <a:pPr marL="0" indent="0">
              <a:buNone/>
            </a:pPr>
            <a:r>
              <a:rPr lang="en-US">
                <a:latin typeface="Courier New" pitchFamily="49" charset="0"/>
              </a:rPr>
              <a:t>pinia.use(({ store }) =&gt; {</a:t>
            </a:r>
          </a:p>
          <a:p>
            <a:pPr marL="0" indent="0">
              <a:buNone/>
            </a:pPr>
            <a:r>
              <a:rPr lang="en-US">
                <a:latin typeface="Courier New" pitchFamily="49" charset="0"/>
              </a:rPr>
              <a:t>  store.$subscribe((_mutation, state) =&gt; {</a:t>
            </a:r>
          </a:p>
          <a:p>
            <a:pPr marL="0" indent="0">
              <a:buNone/>
            </a:pPr>
            <a:r>
              <a:rPr lang="en-US">
                <a:latin typeface="Courier New" pitchFamily="49" charset="0"/>
              </a:rPr>
              <a:t>    localStorage.setItem(store.$id, JSON.stringify(state))</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pinia-plugin-persistedstate packages this up.</a:t>
            </a:r>
          </a:p>
        </p:txBody>
      </p:sp>
    </p:spTree>
    <p:extLst>
      <p:ext uri="{BB962C8B-B14F-4D97-AF65-F5344CB8AC3E}">
        <p14:creationId xmlns:p14="http://schemas.microsoft.com/office/powerpoint/2010/main" val="36565725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D7349-32FB-714E-B61E-A1F3AA98F789}"/>
              </a:ext>
            </a:extLst>
          </p:cNvPr>
          <p:cNvSpPr>
            <a:spLocks noGrp="1"/>
          </p:cNvSpPr>
          <p:nvPr>
            <p:ph type="title"/>
          </p:nvPr>
        </p:nvSpPr>
        <p:spPr/>
        <p:txBody>
          <a:bodyPr/>
          <a:lstStyle/>
          <a:p>
            <a:r>
              <a:t>Testing a Store</a:t>
            </a:r>
          </a:p>
        </p:txBody>
      </p:sp>
      <p:sp>
        <p:nvSpPr>
          <p:cNvPr id="3" name="Text Placeholder 2">
            <a:extLst>
              <a:ext uri="{FF2B5EF4-FFF2-40B4-BE49-F238E27FC236}">
                <a16:creationId xmlns:a16="http://schemas.microsoft.com/office/drawing/2014/main" id="{AFF72E86-1E70-3B4F-8881-2829019276EA}"/>
              </a:ext>
            </a:extLst>
          </p:cNvPr>
          <p:cNvSpPr>
            <a:spLocks noGrp="1"/>
          </p:cNvSpPr>
          <p:nvPr>
            <p:ph type="body" idx="1"/>
          </p:nvPr>
        </p:nvSpPr>
        <p:spPr/>
        <p:txBody>
          <a:bodyPr>
            <a:normAutofit fontScale="85000" lnSpcReduction="20000"/>
          </a:bodyPr>
          <a:lstStyle/>
          <a:p>
            <a:r>
              <a:t>A store is a plain function — no component needed.</a:t>
            </a:r>
          </a:p>
          <a:p>
            <a:endParaRPr/>
          </a:p>
          <a:p>
            <a:pPr marL="0" indent="0">
              <a:buNone/>
            </a:pPr>
            <a:r>
              <a:rPr lang="en-US">
                <a:latin typeface="Courier New" pitchFamily="49" charset="0"/>
              </a:rPr>
              <a:t>beforeEach(() =&gt; setActivePinia(createPinia()))</a:t>
            </a:r>
          </a:p>
          <a:p>
            <a:endParaRPr/>
          </a:p>
          <a:p>
            <a:pPr marL="0" indent="0">
              <a:buNone/>
            </a:pPr>
            <a:r>
              <a:rPr lang="en-US">
                <a:latin typeface="Courier New" pitchFamily="49" charset="0"/>
              </a:rPr>
              <a:t>it('increments', () =&gt; {</a:t>
            </a:r>
          </a:p>
          <a:p>
            <a:pPr marL="0" indent="0">
              <a:buNone/>
            </a:pPr>
            <a:r>
              <a:rPr lang="en-US">
                <a:latin typeface="Courier New" pitchFamily="49" charset="0"/>
              </a:rPr>
              <a:t>  const counter = useCounterStore()</a:t>
            </a:r>
          </a:p>
          <a:p>
            <a:endParaRPr/>
          </a:p>
          <a:p>
            <a:pPr marL="0" indent="0">
              <a:buNone/>
            </a:pPr>
            <a:r>
              <a:rPr lang="en-US">
                <a:latin typeface="Courier New" pitchFamily="49" charset="0"/>
              </a:rPr>
              <a:t>  counter.increment()</a:t>
            </a:r>
          </a:p>
          <a:p>
            <a:endParaRPr/>
          </a:p>
          <a:p>
            <a:pPr marL="0" indent="0">
              <a:buNone/>
            </a:pPr>
            <a:r>
              <a:rPr lang="en-US">
                <a:latin typeface="Courier New" pitchFamily="49" charset="0"/>
              </a:rPr>
              <a:t>  expect(counter.count).toBe(1)</a:t>
            </a:r>
          </a:p>
          <a:p>
            <a:pPr marL="0" indent="0">
              <a:buNone/>
            </a:pPr>
            <a:r>
              <a:rPr lang="en-US">
                <a:latin typeface="Courier New" pitchFamily="49" charset="0"/>
              </a:rPr>
              <a:t>})</a:t>
            </a:r>
          </a:p>
          <a:p>
            <a:endParaRPr/>
          </a:p>
          <a:p>
            <a:pPr marL="0" indent="0">
              <a:buNone/>
            </a:pPr>
            <a:r>
              <a:rPr lang="en-US">
                <a:latin typeface="Courier New" pitchFamily="49" charset="0"/>
              </a:rPr>
              <a:t>// @pinia/testing adds createTestingPinia(), which stubs actions.</a:t>
            </a:r>
          </a:p>
        </p:txBody>
      </p:sp>
    </p:spTree>
    <p:extLst>
      <p:ext uri="{BB962C8B-B14F-4D97-AF65-F5344CB8AC3E}">
        <p14:creationId xmlns:p14="http://schemas.microsoft.com/office/powerpoint/2010/main" val="96861355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CBCE-77F1-7244-8A93-5ABF355A7625}"/>
              </a:ext>
            </a:extLst>
          </p:cNvPr>
          <p:cNvSpPr>
            <a:spLocks noGrp="1"/>
          </p:cNvSpPr>
          <p:nvPr>
            <p:ph type="title"/>
          </p:nvPr>
        </p:nvSpPr>
        <p:spPr/>
        <p:txBody>
          <a:bodyPr/>
          <a:lstStyle/>
          <a:p>
            <a:r>
              <a:t>Lab 20: Implementing Pinia</a:t>
            </a:r>
          </a:p>
        </p:txBody>
      </p:sp>
      <p:sp>
        <p:nvSpPr>
          <p:cNvPr id="4" name="Slide Number Placeholder 3">
            <a:extLst>
              <a:ext uri="{FF2B5EF4-FFF2-40B4-BE49-F238E27FC236}">
                <a16:creationId xmlns:a16="http://schemas.microsoft.com/office/drawing/2014/main" id="{6AFB4870-8B5C-EB44-9C5B-5110038E5778}"/>
              </a:ext>
            </a:extLst>
          </p:cNvPr>
          <p:cNvSpPr>
            <a:spLocks noGrp="1"/>
          </p:cNvSpPr>
          <p:nvPr>
            <p:ph type="sldNum" sz="quarter" idx="12"/>
          </p:nvPr>
        </p:nvSpPr>
        <p:spPr/>
        <p:txBody>
          <a:bodyPr/>
          <a:lstStyle/>
          <a:p>
            <a:fld id="{6FFFF67E-EC6A-B940-8DC7-BF9A5925C934}" type="slidenum">
              <a:rPr lang="en-US" smtClean="0"/>
              <a:t>211</a:t>
            </a:fld>
            <a:endParaRPr lang="en-US" dirty="0"/>
          </a:p>
        </p:txBody>
      </p:sp>
      <p:sp>
        <p:nvSpPr>
          <p:cNvPr id="5" name="Content Placeholder 4">
            <a:extLst>
              <a:ext uri="{FF2B5EF4-FFF2-40B4-BE49-F238E27FC236}">
                <a16:creationId xmlns:a16="http://schemas.microsoft.com/office/drawing/2014/main" id="{2C96665F-56F8-6E5E-9B96-BB7F70B9119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6162561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BC028-06CC-5946-AAD0-68DA20D94D18}"/>
              </a:ext>
            </a:extLst>
          </p:cNvPr>
          <p:cNvSpPr>
            <a:spLocks noGrp="1"/>
          </p:cNvSpPr>
          <p:nvPr>
            <p:ph type="title"/>
          </p:nvPr>
        </p:nvSpPr>
        <p:spPr/>
        <p:txBody>
          <a:bodyPr/>
          <a:lstStyle/>
          <a:p>
            <a:r>
              <a:rPr lang="en-US" dirty="0"/>
              <a:t>Single-Page Applications </a:t>
            </a:r>
          </a:p>
        </p:txBody>
      </p:sp>
      <p:sp>
        <p:nvSpPr>
          <p:cNvPr id="4" name="Text Placeholder 3">
            <a:extLst>
              <a:ext uri="{FF2B5EF4-FFF2-40B4-BE49-F238E27FC236}">
                <a16:creationId xmlns:a16="http://schemas.microsoft.com/office/drawing/2014/main" id="{711658D8-AD3A-2C42-B333-98A2839BC46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569078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AA49-BE25-6846-B9EB-0FF9C59D37BF}"/>
              </a:ext>
            </a:extLst>
          </p:cNvPr>
          <p:cNvSpPr>
            <a:spLocks noGrp="1"/>
          </p:cNvSpPr>
          <p:nvPr>
            <p:ph type="title"/>
          </p:nvPr>
        </p:nvSpPr>
        <p:spPr/>
        <p:txBody>
          <a:bodyPr/>
          <a:lstStyle/>
          <a:p>
            <a:r>
              <a:t>Creating an SPA with Vue Router</a:t>
            </a:r>
          </a:p>
        </p:txBody>
      </p:sp>
      <p:sp>
        <p:nvSpPr>
          <p:cNvPr id="3" name="Text Placeholder 2">
            <a:extLst>
              <a:ext uri="{FF2B5EF4-FFF2-40B4-BE49-F238E27FC236}">
                <a16:creationId xmlns:a16="http://schemas.microsoft.com/office/drawing/2014/main" id="{41FFFF8A-56B8-5E44-BFE8-9C49DDDD10BB}"/>
              </a:ext>
            </a:extLst>
          </p:cNvPr>
          <p:cNvSpPr>
            <a:spLocks noGrp="1"/>
          </p:cNvSpPr>
          <p:nvPr>
            <p:ph type="body" idx="1"/>
          </p:nvPr>
        </p:nvSpPr>
        <p:spPr/>
        <p:txBody>
          <a:bodyPr/>
          <a:lstStyle/>
          <a:p>
            <a:r>
              <a:t>With Vue Router you map components to routes and tell Vue Router where to render them.</a:t>
            </a:r>
          </a:p>
          <a:p>
            <a:r>
              <a:t>A route component is loaded lazily, so it gets its own bundle.</a:t>
            </a:r>
          </a:p>
        </p:txBody>
      </p:sp>
    </p:spTree>
    <p:extLst>
      <p:ext uri="{BB962C8B-B14F-4D97-AF65-F5344CB8AC3E}">
        <p14:creationId xmlns:p14="http://schemas.microsoft.com/office/powerpoint/2010/main" val="241101378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67A45-DE51-1B41-8B04-806502C1801C}"/>
              </a:ext>
            </a:extLst>
          </p:cNvPr>
          <p:cNvSpPr>
            <a:spLocks noGrp="1"/>
          </p:cNvSpPr>
          <p:nvPr>
            <p:ph type="title"/>
          </p:nvPr>
        </p:nvSpPr>
        <p:spPr/>
        <p:txBody>
          <a:bodyPr/>
          <a:lstStyle/>
          <a:p>
            <a:r>
              <a:t>Vue Router: the Template</a:t>
            </a:r>
          </a:p>
        </p:txBody>
      </p:sp>
      <p:sp>
        <p:nvSpPr>
          <p:cNvPr id="4" name="Slide Number Placeholder 3">
            <a:extLst>
              <a:ext uri="{FF2B5EF4-FFF2-40B4-BE49-F238E27FC236}">
                <a16:creationId xmlns:a16="http://schemas.microsoft.com/office/drawing/2014/main" id="{C79D6311-0851-4148-8A38-77AC27E75F2B}"/>
              </a:ext>
            </a:extLst>
          </p:cNvPr>
          <p:cNvSpPr>
            <a:spLocks noGrp="1"/>
          </p:cNvSpPr>
          <p:nvPr>
            <p:ph type="sldNum" sz="quarter" idx="12"/>
          </p:nvPr>
        </p:nvSpPr>
        <p:spPr/>
        <p:txBody>
          <a:bodyPr/>
          <a:lstStyle/>
          <a:p>
            <a:fld id="{6FFFF67E-EC6A-B940-8DC7-BF9A5925C934}" type="slidenum">
              <a:rPr lang="en-US" smtClean="0"/>
              <a:t>214</a:t>
            </a:fld>
            <a:endParaRPr lang="en-US" dirty="0"/>
          </a:p>
        </p:txBody>
      </p:sp>
      <p:sp>
        <p:nvSpPr>
          <p:cNvPr id="5" name="TextBox 4"/>
          <p:cNvSpPr txBox="1"/>
          <p:nvPr/>
        </p:nvSpPr>
        <p:spPr>
          <a:xfrm>
            <a:off x="813314" y="1600200"/>
            <a:ext cx="7517372" cy="3970318"/>
          </a:xfrm>
          <a:prstGeom prst="rect">
            <a:avLst/>
          </a:prstGeom>
          <a:noFill/>
        </p:spPr>
        <p:txBody>
          <a:bodyPr wrap="square">
            <a:spAutoFit/>
          </a:bodyPr>
          <a:lstStyle/>
          <a:p>
            <a:pPr marL="0" indent="0">
              <a:buNone/>
            </a:pPr>
            <a:r>
              <a:rPr lang="en-US" sz="1800">
                <a:latin typeface="Courier New" pitchFamily="49" charset="0"/>
              </a:rPr>
              <a:t>&lt;script setup&gt;</a:t>
            </a:r>
          </a:p>
          <a:p>
            <a:pPr marL="0" indent="0">
              <a:buNone/>
            </a:pPr>
            <a:r>
              <a:rPr lang="en-US" sz="1800">
                <a:latin typeface="Courier New" pitchFamily="49" charset="0"/>
              </a:rPr>
              <a:t>import { RouterLink, RouterView } from 'vue-router'</a:t>
            </a:r>
          </a:p>
          <a:p>
            <a:pPr marL="0" indent="0">
              <a:buNone/>
            </a:pPr>
            <a:r>
              <a:rPr lang="en-US" sz="1800">
                <a:latin typeface="Courier New" pitchFamily="49" charset="0"/>
              </a:rPr>
              <a:t>&lt;/script&gt;</a:t>
            </a:r>
          </a:p>
          <a:p>
            <a:endParaRPr sz="1800"/>
          </a:p>
          <a:p>
            <a:pPr marL="0" indent="0">
              <a:buNone/>
            </a:pPr>
            <a:r>
              <a:rPr lang="en-US" sz="1800">
                <a:latin typeface="Courier New" pitchFamily="49" charset="0"/>
              </a:rPr>
              <a:t>&lt;template&gt;</a:t>
            </a:r>
          </a:p>
          <a:p>
            <a:pPr marL="0" indent="0">
              <a:buNone/>
            </a:pPr>
            <a:r>
              <a:rPr lang="en-US" sz="1800">
                <a:latin typeface="Courier New" pitchFamily="49" charset="0"/>
              </a:rPr>
              <a:t>  &lt;nav&gt;</a:t>
            </a:r>
          </a:p>
          <a:p>
            <a:pPr marL="0" indent="0">
              <a:buNone/>
            </a:pPr>
            <a:r>
              <a:rPr lang="en-US" sz="1800">
                <a:latin typeface="Courier New" pitchFamily="49" charset="0"/>
              </a:rPr>
              <a:t>    &lt;RouterLink :to="{ name: 'home' }"&gt;Home&lt;/RouterLink&gt;</a:t>
            </a:r>
          </a:p>
          <a:p>
            <a:pPr marL="0" indent="0">
              <a:buNone/>
            </a:pPr>
            <a:r>
              <a:rPr lang="en-US" sz="1800">
                <a:latin typeface="Courier New" pitchFamily="49" charset="0"/>
              </a:rPr>
              <a:t>    &lt;RouterLink :to="{ name: 'login' }"&gt;Sign in&lt;/RouterLink&gt;</a:t>
            </a:r>
          </a:p>
          <a:p>
            <a:pPr marL="0" indent="0">
              <a:buNone/>
            </a:pPr>
            <a:r>
              <a:rPr lang="en-US" sz="1800">
                <a:latin typeface="Courier New" pitchFamily="49" charset="0"/>
              </a:rPr>
              <a:t>  &lt;/nav&gt;</a:t>
            </a:r>
          </a:p>
          <a:p>
            <a:endParaRPr sz="1800"/>
          </a:p>
          <a:p>
            <a:pPr marL="0" indent="0">
              <a:buNone/>
            </a:pPr>
            <a:r>
              <a:rPr lang="en-US" sz="1800">
                <a:latin typeface="Courier New" pitchFamily="49" charset="0"/>
              </a:rPr>
              <a:t>  &lt;RouterView /&gt;</a:t>
            </a:r>
          </a:p>
          <a:p>
            <a:pPr marL="0" indent="0">
              <a:buNone/>
            </a:pPr>
            <a:r>
              <a:rPr lang="en-US" sz="1800">
                <a:latin typeface="Courier New" pitchFamily="49" charset="0"/>
              </a:rPr>
              <a:t>&lt;/template&gt;</a:t>
            </a:r>
          </a:p>
        </p:txBody>
      </p:sp>
    </p:spTree>
    <p:extLst>
      <p:ext uri="{BB962C8B-B14F-4D97-AF65-F5344CB8AC3E}">
        <p14:creationId xmlns:p14="http://schemas.microsoft.com/office/powerpoint/2010/main" val="181042605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1E45-4356-6D4D-B31A-49A5E914A03B}"/>
              </a:ext>
            </a:extLst>
          </p:cNvPr>
          <p:cNvSpPr>
            <a:spLocks noGrp="1"/>
          </p:cNvSpPr>
          <p:nvPr>
            <p:ph type="title"/>
          </p:nvPr>
        </p:nvSpPr>
        <p:spPr/>
        <p:txBody>
          <a:bodyPr>
            <a:normAutofit/>
          </a:bodyPr>
          <a:lstStyle/>
          <a:p>
            <a:r>
              <a:t>Vue Router: the JavaScript</a:t>
            </a:r>
          </a:p>
        </p:txBody>
      </p:sp>
      <p:sp>
        <p:nvSpPr>
          <p:cNvPr id="4" name="Slide Number Placeholder 3">
            <a:extLst>
              <a:ext uri="{FF2B5EF4-FFF2-40B4-BE49-F238E27FC236}">
                <a16:creationId xmlns:a16="http://schemas.microsoft.com/office/drawing/2014/main" id="{90305E72-9B57-494F-A2A0-069C5C8C8C14}"/>
              </a:ext>
            </a:extLst>
          </p:cNvPr>
          <p:cNvSpPr>
            <a:spLocks noGrp="1"/>
          </p:cNvSpPr>
          <p:nvPr>
            <p:ph type="sldNum" sz="quarter" idx="12"/>
          </p:nvPr>
        </p:nvSpPr>
        <p:spPr/>
        <p:txBody>
          <a:bodyPr/>
          <a:lstStyle/>
          <a:p>
            <a:fld id="{6FFFF67E-EC6A-B940-8DC7-BF9A5925C934}" type="slidenum">
              <a:rPr lang="en-US" smtClean="0"/>
              <a:t>215</a:t>
            </a:fld>
            <a:endParaRPr lang="en-US" dirty="0"/>
          </a:p>
        </p:txBody>
      </p:sp>
      <p:sp>
        <p:nvSpPr>
          <p:cNvPr id="5" name="TextBox 4"/>
          <p:cNvSpPr txBox="1"/>
          <p:nvPr/>
        </p:nvSpPr>
        <p:spPr>
          <a:xfrm>
            <a:off x="2498057" y="1600200"/>
            <a:ext cx="4147886" cy="7017306"/>
          </a:xfrm>
          <a:prstGeom prst="rect">
            <a:avLst/>
          </a:prstGeom>
          <a:noFill/>
        </p:spPr>
        <p:txBody>
          <a:bodyPr wrap="square">
            <a:spAutoFit/>
          </a:bodyPr>
          <a:lstStyle/>
          <a:p>
            <a:pPr marL="0" indent="0">
              <a:buNone/>
            </a:pPr>
            <a:r>
              <a:rPr lang="en-US" sz="1800">
                <a:latin typeface="Courier New" pitchFamily="49" charset="0"/>
              </a:rPr>
              <a:t>import { createRouter, createWebHistory } from 'vue-router'</a:t>
            </a:r>
          </a:p>
          <a:p>
            <a:endParaRPr sz="1800"/>
          </a:p>
          <a:p>
            <a:pPr marL="0" indent="0">
              <a:buNone/>
            </a:pPr>
            <a:r>
              <a:rPr lang="en-US" sz="1800">
                <a:latin typeface="Courier New" pitchFamily="49" charset="0"/>
              </a:rPr>
              <a:t>export default createRouter({</a:t>
            </a:r>
          </a:p>
          <a:p>
            <a:pPr marL="0" indent="0">
              <a:buNone/>
            </a:pPr>
            <a:r>
              <a:rPr lang="en-US" sz="1800">
                <a:latin typeface="Courier New" pitchFamily="49" charset="0"/>
              </a:rPr>
              <a:t>  history: createWebHistory(import.meta.env.BASE_URL),</a:t>
            </a:r>
          </a:p>
          <a:p>
            <a:r>
              <a:rPr sz="1800"/>
              <a:t>  routes: [</a:t>
            </a:r>
          </a:p>
          <a:p>
            <a:pPr marL="0" indent="0">
              <a:buNone/>
            </a:pPr>
            <a:r>
              <a:rPr lang="en-US" sz="1800">
                <a:latin typeface="Courier New" pitchFamily="49" charset="0"/>
              </a:rPr>
              <a:t>    { name: 'home', path: '/',</a:t>
            </a:r>
          </a:p>
          <a:p>
            <a:pPr marL="0" indent="0">
              <a:buNone/>
            </a:pPr>
            <a:r>
              <a:rPr lang="en-US" sz="1800">
                <a:latin typeface="Courier New" pitchFamily="49" charset="0"/>
              </a:rPr>
              <a:t>      component: () =&gt; import('@/components/Home.vue') },</a:t>
            </a:r>
          </a:p>
          <a:p>
            <a:pPr marL="0" indent="0">
              <a:buNone/>
            </a:pPr>
            <a:r>
              <a:rPr lang="en-US" sz="1800">
                <a:latin typeface="Courier New" pitchFamily="49" charset="0"/>
              </a:rPr>
              <a:t>    { name: 'login', path: '/login',</a:t>
            </a:r>
          </a:p>
          <a:p>
            <a:pPr marL="0" indent="0">
              <a:buNone/>
            </a:pPr>
            <a:r>
              <a:rPr lang="en-US" sz="1800">
                <a:latin typeface="Courier New" pitchFamily="49" charset="0"/>
              </a:rPr>
              <a:t>      component: () =&gt; import('@/components/Login.vue') }</a:t>
            </a:r>
          </a:p>
          <a:p>
            <a:pPr marL="0" indent="0">
              <a:buNone/>
            </a:pPr>
            <a:r>
              <a:rPr lang="en-US" sz="1800">
                <a:latin typeface="Courier New" pitchFamily="49" charset="0"/>
              </a:rPr>
              <a:t>  ]</a:t>
            </a:r>
          </a:p>
          <a:p>
            <a:pPr marL="0" indent="0">
              <a:buNone/>
            </a:pPr>
            <a:r>
              <a:rPr lang="en-US" sz="1800">
                <a:latin typeface="Courier New" pitchFamily="49" charset="0"/>
              </a:rPr>
              <a:t>})</a:t>
            </a:r>
          </a:p>
          <a:p>
            <a:endParaRPr sz="1800"/>
          </a:p>
          <a:p>
            <a:pPr marL="0" indent="0">
              <a:buNone/>
            </a:pPr>
            <a:r>
              <a:rPr lang="en-US" sz="1800">
                <a:latin typeface="Courier New" pitchFamily="49" charset="0"/>
              </a:rPr>
              <a:t>// Vue Router 3 wrote new Router({ mode: "history", routes }).</a:t>
            </a:r>
          </a:p>
        </p:txBody>
      </p:sp>
    </p:spTree>
    <p:extLst>
      <p:ext uri="{BB962C8B-B14F-4D97-AF65-F5344CB8AC3E}">
        <p14:creationId xmlns:p14="http://schemas.microsoft.com/office/powerpoint/2010/main" val="61625818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61C5-2204-524B-A6E6-C19B724A69AF}"/>
              </a:ext>
            </a:extLst>
          </p:cNvPr>
          <p:cNvSpPr>
            <a:spLocks noGrp="1"/>
          </p:cNvSpPr>
          <p:nvPr>
            <p:ph type="title"/>
          </p:nvPr>
        </p:nvSpPr>
        <p:spPr/>
        <p:txBody>
          <a:bodyPr/>
          <a:lstStyle/>
          <a:p>
            <a:r>
              <a:rPr lang="en-US" dirty="0"/>
              <a:t>Lab 21: Routing</a:t>
            </a:r>
          </a:p>
        </p:txBody>
      </p:sp>
      <p:sp>
        <p:nvSpPr>
          <p:cNvPr id="4" name="Slide Number Placeholder 3">
            <a:extLst>
              <a:ext uri="{FF2B5EF4-FFF2-40B4-BE49-F238E27FC236}">
                <a16:creationId xmlns:a16="http://schemas.microsoft.com/office/drawing/2014/main" id="{26C64119-DE18-6847-83DC-63EF653EDE60}"/>
              </a:ext>
            </a:extLst>
          </p:cNvPr>
          <p:cNvSpPr>
            <a:spLocks noGrp="1"/>
          </p:cNvSpPr>
          <p:nvPr>
            <p:ph type="sldNum" sz="quarter" idx="12"/>
          </p:nvPr>
        </p:nvSpPr>
        <p:spPr/>
        <p:txBody>
          <a:bodyPr/>
          <a:lstStyle/>
          <a:p>
            <a:fld id="{6FFFF67E-EC6A-B940-8DC7-BF9A5925C934}" type="slidenum">
              <a:rPr lang="en-US" smtClean="0"/>
              <a:t>216</a:t>
            </a:fld>
            <a:endParaRPr lang="en-US" dirty="0"/>
          </a:p>
        </p:txBody>
      </p:sp>
      <p:sp>
        <p:nvSpPr>
          <p:cNvPr id="5" name="Content Placeholder 4">
            <a:extLst>
              <a:ext uri="{FF2B5EF4-FFF2-40B4-BE49-F238E27FC236}">
                <a16:creationId xmlns:a16="http://schemas.microsoft.com/office/drawing/2014/main" id="{5DF62BC8-28BA-D359-957B-AE87045A704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5703541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F480-4650-A344-A020-C9151AD73AF9}"/>
              </a:ext>
            </a:extLst>
          </p:cNvPr>
          <p:cNvSpPr>
            <a:spLocks noGrp="1"/>
          </p:cNvSpPr>
          <p:nvPr>
            <p:ph type="title"/>
          </p:nvPr>
        </p:nvSpPr>
        <p:spPr/>
        <p:txBody>
          <a:bodyPr/>
          <a:lstStyle/>
          <a:p>
            <a:r>
              <a:t>Lab 22: AJAX with Pinia</a:t>
            </a:r>
          </a:p>
        </p:txBody>
      </p:sp>
      <p:sp>
        <p:nvSpPr>
          <p:cNvPr id="4" name="Slide Number Placeholder 3">
            <a:extLst>
              <a:ext uri="{FF2B5EF4-FFF2-40B4-BE49-F238E27FC236}">
                <a16:creationId xmlns:a16="http://schemas.microsoft.com/office/drawing/2014/main" id="{39CB974D-FC8B-AF42-B9D1-CEF4BDC130E2}"/>
              </a:ext>
            </a:extLst>
          </p:cNvPr>
          <p:cNvSpPr>
            <a:spLocks noGrp="1"/>
          </p:cNvSpPr>
          <p:nvPr>
            <p:ph type="sldNum" sz="quarter" idx="12"/>
          </p:nvPr>
        </p:nvSpPr>
        <p:spPr/>
        <p:txBody>
          <a:bodyPr/>
          <a:lstStyle/>
          <a:p>
            <a:fld id="{6FFFF67E-EC6A-B940-8DC7-BF9A5925C934}" type="slidenum">
              <a:rPr lang="en-US" smtClean="0"/>
              <a:t>217</a:t>
            </a:fld>
            <a:endParaRPr lang="en-US" dirty="0"/>
          </a:p>
        </p:txBody>
      </p:sp>
      <p:sp>
        <p:nvSpPr>
          <p:cNvPr id="5" name="Content Placeholder 4">
            <a:extLst>
              <a:ext uri="{FF2B5EF4-FFF2-40B4-BE49-F238E27FC236}">
                <a16:creationId xmlns:a16="http://schemas.microsoft.com/office/drawing/2014/main" id="{79F494EF-6513-7152-E0B6-1D319F38A62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0842145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3512-8DD6-A244-B08E-9232216DC235}"/>
              </a:ext>
            </a:extLst>
          </p:cNvPr>
          <p:cNvSpPr>
            <a:spLocks noGrp="1"/>
          </p:cNvSpPr>
          <p:nvPr>
            <p:ph type="title"/>
          </p:nvPr>
        </p:nvSpPr>
        <p:spPr/>
        <p:txBody>
          <a:bodyPr/>
          <a:lstStyle/>
          <a:p>
            <a:r>
              <a:rPr lang="en-US" dirty="0"/>
              <a:t>Testing </a:t>
            </a:r>
          </a:p>
        </p:txBody>
      </p:sp>
      <p:sp>
        <p:nvSpPr>
          <p:cNvPr id="4" name="Text Placeholder 3">
            <a:extLst>
              <a:ext uri="{FF2B5EF4-FFF2-40B4-BE49-F238E27FC236}">
                <a16:creationId xmlns:a16="http://schemas.microsoft.com/office/drawing/2014/main" id="{C389EDAC-16B0-E94B-BF3B-364C900BFFD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512772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dirty="0"/>
            </a:br>
            <a:r>
              <a:t>Test-Driven Development</a:t>
            </a:r>
          </a:p>
        </p:txBody>
      </p:sp>
      <p:sp>
        <p:nvSpPr>
          <p:cNvPr id="4" name="Subtitle 3"/>
          <p:cNvSpPr>
            <a:spLocks noGrp="1"/>
          </p:cNvSpPr>
          <p:nvPr>
            <p:ph type="subTitle" idx="1"/>
          </p:nvPr>
        </p:nvSpPr>
        <p:spPr/>
        <p:txBody>
          <a:bodyPr>
            <a:normAutofit fontScale="92500" lnSpcReduction="10000"/>
          </a:bodyPr>
          <a:lstStyle/>
          <a:p>
            <a:pPr algn="l"/>
            <a:r>
              <a:t>Objectives</a:t>
            </a:r>
          </a:p>
          <a:p>
            <a:pPr lvl="1" algn="l"/>
            <a:r>
              <a:t>Learn the TDD steps</a:t>
            </a:r>
          </a:p>
          <a:p>
            <a:pPr lvl="1" algn="l"/>
            <a:r>
              <a:t>Write assertions</a:t>
            </a:r>
          </a:p>
          <a:p>
            <a:pPr lvl="1" algn="l"/>
            <a:r>
              <a:t>Create tests with Vitest</a:t>
            </a:r>
          </a:p>
          <a:p>
            <a:pPr lvl="1" algn="l"/>
            <a:r>
              <a:t>Test components with Vue Test Utils</a:t>
            </a:r>
          </a:p>
        </p:txBody>
      </p:sp>
    </p:spTree>
    <p:extLst>
      <p:ext uri="{BB962C8B-B14F-4D97-AF65-F5344CB8AC3E}">
        <p14:creationId xmlns:p14="http://schemas.microsoft.com/office/powerpoint/2010/main" val="332602547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 of TDD</a:t>
            </a:r>
          </a:p>
        </p:txBody>
      </p:sp>
      <p:sp>
        <p:nvSpPr>
          <p:cNvPr id="3" name="Content Placeholder 2"/>
          <p:cNvSpPr>
            <a:spLocks noGrp="1"/>
          </p:cNvSpPr>
          <p:nvPr>
            <p:ph type="body" idx="1"/>
          </p:nvPr>
        </p:nvSpPr>
        <p:spPr/>
        <p:txBody>
          <a:bodyPr>
            <a:normAutofit/>
          </a:bodyPr>
          <a:lstStyle/>
          <a:p>
            <a:r>
              <a:rPr lang="en-US" sz="3600" dirty="0"/>
              <a:t>Clean code that works.</a:t>
            </a:r>
          </a:p>
        </p:txBody>
      </p:sp>
      <p:sp>
        <p:nvSpPr>
          <p:cNvPr id="4" name="Slide Number Placeholder 3"/>
          <p:cNvSpPr>
            <a:spLocks noGrp="1"/>
          </p:cNvSpPr>
          <p:nvPr>
            <p:ph type="sldNum" sz="quarter" idx="12"/>
          </p:nvPr>
        </p:nvSpPr>
        <p:spPr/>
        <p:txBody>
          <a:bodyPr/>
          <a:lstStyle/>
          <a:p>
            <a:fld id="{6FFFF67E-EC6A-B940-8DC7-BF9A5925C934}" type="slidenum">
              <a:rPr lang="en-US" smtClean="0"/>
              <a:t>220</a:t>
            </a:fld>
            <a:endParaRPr lang="en-US" dirty="0"/>
          </a:p>
        </p:txBody>
      </p:sp>
    </p:spTree>
    <p:extLst>
      <p:ext uri="{BB962C8B-B14F-4D97-AF65-F5344CB8AC3E}">
        <p14:creationId xmlns:p14="http://schemas.microsoft.com/office/powerpoint/2010/main" val="153750197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TDD Cycle</a:t>
            </a:r>
          </a:p>
        </p:txBody>
      </p:sp>
      <p:sp>
        <p:nvSpPr>
          <p:cNvPr id="3" name="Text Placeholder 2"/>
          <p:cNvSpPr>
            <a:spLocks noGrp="1"/>
          </p:cNvSpPr>
          <p:nvPr>
            <p:ph type="body" idx="1"/>
          </p:nvPr>
        </p:nvSpPr>
        <p:spPr/>
        <p:txBody>
          <a:bodyPr/>
          <a:lstStyle/>
          <a:p>
            <a:r>
              <a:rPr lang="en-US" dirty="0"/>
              <a:t>Red</a:t>
            </a:r>
          </a:p>
          <a:p>
            <a:pPr lvl="1"/>
            <a:r>
              <a:rPr lang="en-US" dirty="0"/>
              <a:t>write a little test that doesn't work.</a:t>
            </a:r>
          </a:p>
          <a:p>
            <a:r>
              <a:rPr lang="en-US" dirty="0"/>
              <a:t>Green</a:t>
            </a:r>
          </a:p>
          <a:p>
            <a:pPr lvl="1"/>
            <a:r>
              <a:rPr lang="en-US" dirty="0"/>
              <a:t>make the test work, as quickly as possible.</a:t>
            </a:r>
          </a:p>
          <a:p>
            <a:pPr lvl="1"/>
            <a:r>
              <a:rPr lang="en-US" dirty="0"/>
              <a:t>don't worry about doing it right.</a:t>
            </a:r>
          </a:p>
          <a:p>
            <a:r>
              <a:rPr lang="en-US" dirty="0"/>
              <a:t>Refactor</a:t>
            </a:r>
          </a:p>
          <a:p>
            <a:pPr lvl="1"/>
            <a:r>
              <a:rPr lang="en-US" dirty="0"/>
              <a:t>eliminate duplication created in making the test work.</a:t>
            </a:r>
          </a:p>
        </p:txBody>
      </p:sp>
      <p:sp>
        <p:nvSpPr>
          <p:cNvPr id="4" name="Slide Number Placeholder 3"/>
          <p:cNvSpPr>
            <a:spLocks noGrp="1"/>
          </p:cNvSpPr>
          <p:nvPr>
            <p:ph type="sldNum" sz="quarter" idx="12"/>
          </p:nvPr>
        </p:nvSpPr>
        <p:spPr/>
        <p:txBody>
          <a:bodyPr/>
          <a:lstStyle/>
          <a:p>
            <a:fld id="{A839F4A7-500C-EC42-AE23-BEE4487EA55E}" type="slidenum">
              <a:rPr lang="en-US" smtClean="0"/>
              <a:t>221</a:t>
            </a:fld>
            <a:endParaRPr lang="en-US" dirty="0"/>
          </a:p>
        </p:txBody>
      </p:sp>
    </p:spTree>
    <p:extLst>
      <p:ext uri="{BB962C8B-B14F-4D97-AF65-F5344CB8AC3E}">
        <p14:creationId xmlns:p14="http://schemas.microsoft.com/office/powerpoint/2010/main" val="176879739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99705" y="274638"/>
            <a:ext cx="4987094" cy="1143000"/>
          </a:xfrm>
        </p:spPr>
        <p:txBody>
          <a:bodyPr/>
          <a:lstStyle/>
          <a:p>
            <a:r>
              <a:rPr lang="en-US" dirty="0"/>
              <a:t>TDD Steps</a:t>
            </a:r>
          </a:p>
        </p:txBody>
      </p:sp>
      <p:sp>
        <p:nvSpPr>
          <p:cNvPr id="3" name="Text Placeholder 2"/>
          <p:cNvSpPr>
            <a:spLocks noGrp="1"/>
          </p:cNvSpPr>
          <p:nvPr>
            <p:ph sz="half" idx="1"/>
          </p:nvPr>
        </p:nvSpPr>
        <p:spPr>
          <a:xfrm>
            <a:off x="457200" y="2590799"/>
            <a:ext cx="3877733" cy="3535363"/>
          </a:xfrm>
        </p:spPr>
        <p:txBody>
          <a:bodyPr/>
          <a:lstStyle/>
          <a:p>
            <a:r>
              <a:rPr lang="en-US" dirty="0"/>
              <a:t>Write a test</a:t>
            </a:r>
          </a:p>
          <a:p>
            <a:r>
              <a:rPr lang="en-US" dirty="0"/>
              <a:t>Check that test fails</a:t>
            </a:r>
          </a:p>
          <a:p>
            <a:r>
              <a:rPr lang="en-US" dirty="0"/>
              <a:t>Write code</a:t>
            </a:r>
          </a:p>
          <a:p>
            <a:r>
              <a:rPr lang="en-US" dirty="0"/>
              <a:t>Run test - passes!</a:t>
            </a:r>
          </a:p>
          <a:p>
            <a:r>
              <a:rPr lang="en-US" dirty="0"/>
              <a:t>Refactor</a:t>
            </a:r>
          </a:p>
          <a:p>
            <a:r>
              <a:rPr lang="en-US" dirty="0"/>
              <a:t>Repeat</a:t>
            </a:r>
          </a:p>
        </p:txBody>
      </p:sp>
      <p:sp>
        <p:nvSpPr>
          <p:cNvPr id="4" name="Slide Number Placeholder 3"/>
          <p:cNvSpPr>
            <a:spLocks noGrp="1"/>
          </p:cNvSpPr>
          <p:nvPr>
            <p:ph type="sldNum" sz="quarter" idx="12"/>
          </p:nvPr>
        </p:nvSpPr>
        <p:spPr/>
        <p:txBody>
          <a:bodyPr/>
          <a:lstStyle/>
          <a:p>
            <a:fld id="{A839F4A7-500C-EC42-AE23-BEE4487EA55E}" type="slidenum">
              <a:rPr lang="en-US" smtClean="0"/>
              <a:t>222</a:t>
            </a:fld>
            <a:endParaRPr lang="en-US" dirty="0"/>
          </a:p>
        </p:txBody>
      </p:sp>
      <p:sp>
        <p:nvSpPr>
          <p:cNvPr id="7" name="Content Placeholder 6">
            <a:extLst>
              <a:ext uri="{FF2B5EF4-FFF2-40B4-BE49-F238E27FC236}">
                <a16:creationId xmlns:a16="http://schemas.microsoft.com/office/drawing/2014/main" id="{DD811AB9-F257-6AD3-A3EB-1F5CC45F433D}"/>
              </a:ext>
            </a:extLst>
          </p:cNvPr>
          <p:cNvSpPr>
            <a:spLocks noGrp="1"/>
          </p:cNvSpPr>
          <p:nvPr>
            <p:ph sz="half" idx="2"/>
          </p:nvPr>
        </p:nvSpPr>
        <p:spPr/>
        <p:txBody>
          <a:bodyPr/>
          <a:lstStyle/>
          <a:p>
            <a:endParaRPr lang="en-US"/>
          </a:p>
        </p:txBody>
      </p:sp>
      <p:pic>
        <p:nvPicPr>
          <p:cNvPr id="8" name="Content Placeholder 5" descr="Test-driven_development.png">
            <a:extLst>
              <a:ext uri="{FF2B5EF4-FFF2-40B4-BE49-F238E27FC236}">
                <a16:creationId xmlns:a16="http://schemas.microsoft.com/office/drawing/2014/main" id="{383363F4-1AA4-B5CC-F1B6-025848E54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5754" y="1068793"/>
            <a:ext cx="6464216" cy="4637578"/>
          </a:xfrm>
          <a:prstGeom prst="rect">
            <a:avLst/>
          </a:prstGeom>
        </p:spPr>
      </p:pic>
    </p:spTree>
    <p:extLst>
      <p:ext uri="{BB962C8B-B14F-4D97-AF65-F5344CB8AC3E}">
        <p14:creationId xmlns:p14="http://schemas.microsoft.com/office/powerpoint/2010/main" val="205941489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a:t>
            </a:r>
          </a:p>
        </p:txBody>
      </p:sp>
      <p:sp>
        <p:nvSpPr>
          <p:cNvPr id="6" name="Text Placeholder 5"/>
          <p:cNvSpPr>
            <a:spLocks noGrp="1"/>
          </p:cNvSpPr>
          <p:nvPr>
            <p:ph type="body" idx="1"/>
          </p:nvPr>
        </p:nvSpPr>
        <p:spPr/>
        <p:txBody>
          <a:bodyPr/>
          <a:lstStyle/>
          <a:p>
            <a:r>
              <a:rPr lang="en-US" dirty="0"/>
              <a:t>Write the story.</a:t>
            </a:r>
          </a:p>
          <a:p>
            <a:r>
              <a:rPr lang="en-US" dirty="0"/>
              <a:t>Invent the interface you wish you had.</a:t>
            </a:r>
          </a:p>
          <a:p>
            <a:r>
              <a:rPr lang="en-US" dirty="0"/>
              <a:t>Characteristics of a good tests:</a:t>
            </a:r>
          </a:p>
          <a:p>
            <a:pPr lvl="1"/>
            <a:r>
              <a:rPr lang="en-US" dirty="0"/>
              <a:t>Each test should be independent of the others.</a:t>
            </a:r>
          </a:p>
          <a:p>
            <a:pPr lvl="1"/>
            <a:r>
              <a:rPr lang="en-US" dirty="0"/>
              <a:t>Any behavior should be specified in only one test.</a:t>
            </a:r>
          </a:p>
          <a:p>
            <a:pPr lvl="1"/>
            <a:r>
              <a:rPr lang="en-US" dirty="0"/>
              <a:t>No unnecessary assertions</a:t>
            </a:r>
          </a:p>
          <a:p>
            <a:pPr lvl="1"/>
            <a:r>
              <a:rPr lang="en-US" dirty="0"/>
              <a:t>Test only one code unit at a time</a:t>
            </a:r>
          </a:p>
          <a:p>
            <a:pPr lvl="1"/>
            <a:r>
              <a:rPr lang="en-US" dirty="0"/>
              <a:t>Avoid unnecessary preconditions</a:t>
            </a:r>
          </a:p>
          <a:p>
            <a:pPr marL="0" indent="0">
              <a:buNone/>
            </a:pPr>
            <a:endParaRPr lang="en-US" dirty="0"/>
          </a:p>
        </p:txBody>
      </p:sp>
      <p:sp>
        <p:nvSpPr>
          <p:cNvPr id="5" name="Slide Number Placeholder 4"/>
          <p:cNvSpPr>
            <a:spLocks noGrp="1"/>
          </p:cNvSpPr>
          <p:nvPr>
            <p:ph type="sldNum" sz="quarter" idx="12"/>
          </p:nvPr>
        </p:nvSpPr>
        <p:spPr/>
        <p:txBody>
          <a:bodyPr/>
          <a:lstStyle/>
          <a:p>
            <a:fld id="{6FFFF67E-EC6A-B940-8DC7-BF9A5925C934}" type="slidenum">
              <a:rPr lang="en-US" smtClean="0"/>
              <a:t>223</a:t>
            </a:fld>
            <a:endParaRPr lang="en-US" dirty="0"/>
          </a:p>
        </p:txBody>
      </p:sp>
    </p:spTree>
    <p:extLst>
      <p:ext uri="{BB962C8B-B14F-4D97-AF65-F5344CB8AC3E}">
        <p14:creationId xmlns:p14="http://schemas.microsoft.com/office/powerpoint/2010/main" val="371127731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a:t>
            </a:r>
          </a:p>
        </p:txBody>
      </p:sp>
      <p:sp>
        <p:nvSpPr>
          <p:cNvPr id="3" name="Text Placeholder 2"/>
          <p:cNvSpPr>
            <a:spLocks noGrp="1"/>
          </p:cNvSpPr>
          <p:nvPr>
            <p:ph type="body" idx="1"/>
          </p:nvPr>
        </p:nvSpPr>
        <p:spPr/>
        <p:txBody>
          <a:bodyPr/>
          <a:lstStyle/>
          <a:p>
            <a:r>
              <a:rPr lang="en-US" dirty="0"/>
              <a:t>Get the test to pass as quickly as possible.</a:t>
            </a:r>
          </a:p>
          <a:p>
            <a:r>
              <a:rPr lang="en-US" dirty="0"/>
              <a:t>Three strategies:</a:t>
            </a:r>
          </a:p>
          <a:p>
            <a:pPr lvl="1"/>
            <a:r>
              <a:rPr lang="en-US" dirty="0"/>
              <a:t>Fake it</a:t>
            </a:r>
          </a:p>
          <a:p>
            <a:pPr lvl="2"/>
            <a:r>
              <a:rPr lang="en-US" dirty="0"/>
              <a:t>Do something, no matter how bad, to get the test to pass.</a:t>
            </a:r>
          </a:p>
          <a:p>
            <a:pPr lvl="1"/>
            <a:r>
              <a:rPr lang="en-US" dirty="0"/>
              <a:t>Use an obvious clean solution.</a:t>
            </a:r>
          </a:p>
          <a:p>
            <a:pPr lvl="2"/>
            <a:r>
              <a:rPr lang="en-US" dirty="0"/>
              <a:t>But don't try too hard!</a:t>
            </a:r>
          </a:p>
          <a:p>
            <a:pPr lvl="1"/>
            <a:r>
              <a:rPr lang="en-US" dirty="0"/>
              <a:t>Triangulation</a:t>
            </a:r>
          </a:p>
          <a:p>
            <a:pPr lvl="2"/>
            <a:r>
              <a:rPr lang="en-US" dirty="0"/>
              <a:t>only generalize code when you have two examples or more.</a:t>
            </a:r>
          </a:p>
          <a:p>
            <a:pPr lvl="2"/>
            <a:r>
              <a:rPr lang="en-US" dirty="0"/>
              <a:t>When the 2</a:t>
            </a:r>
            <a:r>
              <a:rPr lang="en-US" baseline="30000" dirty="0"/>
              <a:t>nd</a:t>
            </a:r>
            <a:r>
              <a:rPr lang="en-US" dirty="0"/>
              <a:t> example demands a more general solution, then and only then do you generalize.</a:t>
            </a:r>
          </a:p>
        </p:txBody>
      </p:sp>
      <p:sp>
        <p:nvSpPr>
          <p:cNvPr id="4" name="Slide Number Placeholder 3"/>
          <p:cNvSpPr>
            <a:spLocks noGrp="1"/>
          </p:cNvSpPr>
          <p:nvPr>
            <p:ph type="sldNum" sz="quarter" idx="12"/>
          </p:nvPr>
        </p:nvSpPr>
        <p:spPr/>
        <p:txBody>
          <a:bodyPr/>
          <a:lstStyle/>
          <a:p>
            <a:fld id="{A839F4A7-500C-EC42-AE23-BEE4487EA55E}" type="slidenum">
              <a:rPr lang="en-US" smtClean="0"/>
              <a:t>224</a:t>
            </a:fld>
            <a:endParaRPr lang="en-US" dirty="0"/>
          </a:p>
        </p:txBody>
      </p:sp>
    </p:spTree>
    <p:extLst>
      <p:ext uri="{BB962C8B-B14F-4D97-AF65-F5344CB8AC3E}">
        <p14:creationId xmlns:p14="http://schemas.microsoft.com/office/powerpoint/2010/main" val="389141193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Refactor</a:t>
            </a:r>
          </a:p>
        </p:txBody>
      </p:sp>
      <p:sp>
        <p:nvSpPr>
          <p:cNvPr id="3" name="Text Placeholder 2"/>
          <p:cNvSpPr>
            <a:spLocks noGrp="1"/>
          </p:cNvSpPr>
          <p:nvPr>
            <p:ph type="body" idx="1"/>
          </p:nvPr>
        </p:nvSpPr>
        <p:spPr/>
        <p:txBody>
          <a:bodyPr/>
          <a:lstStyle/>
          <a:p>
            <a:r>
              <a:rPr lang="en-US" dirty="0"/>
              <a:t>Make it right.</a:t>
            </a:r>
          </a:p>
          <a:p>
            <a:r>
              <a:rPr lang="en-US" dirty="0"/>
              <a:t>Remove duplication.</a:t>
            </a:r>
          </a:p>
          <a:p>
            <a:r>
              <a:rPr lang="en-US" dirty="0"/>
              <a:t>Improve the test.</a:t>
            </a:r>
          </a:p>
          <a:p>
            <a:r>
              <a:rPr lang="en-US" dirty="0"/>
              <a:t>Repeat.</a:t>
            </a:r>
          </a:p>
          <a:p>
            <a:r>
              <a:rPr lang="en-US" dirty="0"/>
              <a:t>Add ideas or things that aren't immediately needed to a todo list.</a:t>
            </a:r>
          </a:p>
          <a:p>
            <a:endParaRPr lang="en-US" dirty="0"/>
          </a:p>
          <a:p>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225</a:t>
            </a:fld>
            <a:endParaRPr lang="en-US" dirty="0"/>
          </a:p>
        </p:txBody>
      </p:sp>
    </p:spTree>
    <p:extLst>
      <p:ext uri="{BB962C8B-B14F-4D97-AF65-F5344CB8AC3E}">
        <p14:creationId xmlns:p14="http://schemas.microsoft.com/office/powerpoint/2010/main" val="258319746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dirty="0"/>
              <a:t>Assertions</a:t>
            </a:r>
          </a:p>
        </p:txBody>
      </p:sp>
      <p:sp>
        <p:nvSpPr>
          <p:cNvPr id="3" name="Text Placeholder 2"/>
          <p:cNvSpPr>
            <a:spLocks noGrp="1"/>
          </p:cNvSpPr>
          <p:nvPr>
            <p:ph type="body" idx="1"/>
          </p:nvPr>
        </p:nvSpPr>
        <p:spPr/>
        <p:txBody>
          <a:bodyPr/>
          <a:lstStyle/>
          <a:p>
            <a:r>
              <a:t>An expression that encapsulates testable logic</a:t>
            </a:r>
          </a:p>
          <a:p>
            <a:r>
              <a:t>Assertion styles</a:t>
            </a:r>
          </a:p>
          <a:p>
            <a:pPr marL="0" lvl="1" indent="0">
              <a:buNone/>
            </a:pPr>
            <a:r>
              <a:rPr lang="en-US">
                <a:latin typeface="Courier New" pitchFamily="49" charset="0"/>
              </a:rPr>
              <a:t>expect(buttonText).toBe('Go!');        // Vitest / Jest</a:t>
            </a:r>
          </a:p>
          <a:p>
            <a:pPr marL="0" lvl="1" indent="0">
              <a:buNone/>
            </a:pPr>
            <a:r>
              <a:rPr lang="en-US">
                <a:latin typeface="Courier New" pitchFamily="49" charset="0"/>
              </a:rPr>
              <a:t>expect(body).to.be.an('array');        // Chai</a:t>
            </a:r>
          </a:p>
          <a:p>
            <a:pPr marL="0" lvl="1" indent="0">
              <a:buNone/>
            </a:pPr>
            <a:r>
              <a:rPr lang="en-US">
                <a:latin typeface="Courier New" pitchFamily="49" charset="0"/>
              </a:rPr>
              <a:t>assert.deepEqual(obj1, obj2);          // node:assert</a:t>
            </a:r>
          </a:p>
          <a:p>
            <a:r>
              <a:t>Vitest's expect is Chai's, with a Jest-compatible surface.</a:t>
            </a:r>
          </a:p>
        </p:txBody>
      </p:sp>
      <p:sp>
        <p:nvSpPr>
          <p:cNvPr id="4" name="Slide Number Placeholder 3"/>
          <p:cNvSpPr>
            <a:spLocks noGrp="1"/>
          </p:cNvSpPr>
          <p:nvPr>
            <p:ph type="sldNum" sz="quarter" idx="12"/>
          </p:nvPr>
        </p:nvSpPr>
        <p:spPr/>
        <p:txBody>
          <a:bodyPr/>
          <a:lstStyle/>
          <a:p>
            <a:fld id="{A839F4A7-500C-EC42-AE23-BEE4487EA55E}" type="slidenum">
              <a:rPr lang="en-US" smtClean="0"/>
              <a:t>226</a:t>
            </a:fld>
            <a:endParaRPr lang="en-US"/>
          </a:p>
        </p:txBody>
      </p:sp>
    </p:spTree>
    <p:extLst>
      <p:ext uri="{BB962C8B-B14F-4D97-AF65-F5344CB8AC3E}">
        <p14:creationId xmlns:p14="http://schemas.microsoft.com/office/powerpoint/2010/main" val="182261039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JavaScript Testing Frameworks</a:t>
            </a:r>
          </a:p>
        </p:txBody>
      </p:sp>
      <p:sp>
        <p:nvSpPr>
          <p:cNvPr id="5" name="Text Placeholder 4"/>
          <p:cNvSpPr>
            <a:spLocks noGrp="1"/>
          </p:cNvSpPr>
          <p:nvPr>
            <p:ph type="body" idx="1"/>
          </p:nvPr>
        </p:nvSpPr>
        <p:spPr/>
        <p:txBody>
          <a:bodyPr/>
          <a:lstStyle/>
          <a:p>
            <a:r>
              <a:t>Vitest</a:t>
            </a:r>
          </a:p>
          <a:p>
            <a:pPr lvl="1"/>
            <a:r>
              <a:t>Vite-native; shares your Vite config and transforms</a:t>
            </a:r>
          </a:p>
          <a:p>
            <a:r>
              <a:t>Jest</a:t>
            </a:r>
          </a:p>
          <a:p>
            <a:pPr lvl="1"/>
            <a:r>
              <a:t>Long the default; needs its own transform setup for Vite projects</a:t>
            </a:r>
          </a:p>
          <a:p>
            <a:r>
              <a:t>Mocha + Chai</a:t>
            </a:r>
          </a:p>
          <a:p>
            <a:pPr lvl="1"/>
            <a:r>
              <a:t>Runner and assertion library, chosen separately</a:t>
            </a:r>
          </a:p>
          <a:p>
            <a:r>
              <a:t>node:test</a:t>
            </a:r>
          </a:p>
          <a:p>
            <a:pPr lvl="1"/>
            <a:r>
              <a:t>Built into Node.js since 18</a:t>
            </a:r>
          </a:p>
          <a:p>
            <a:r>
              <a:t>Playwright / Cypress</a:t>
            </a:r>
          </a:p>
          <a:p>
            <a:pPr lvl="1"/>
            <a:r>
              <a:t>End-to-end, in a real browser</a:t>
            </a:r>
          </a:p>
        </p:txBody>
      </p:sp>
      <p:sp>
        <p:nvSpPr>
          <p:cNvPr id="2" name="Slide Number Placeholder 1"/>
          <p:cNvSpPr>
            <a:spLocks noGrp="1"/>
          </p:cNvSpPr>
          <p:nvPr>
            <p:ph type="sldNum" sz="quarter" idx="12"/>
          </p:nvPr>
        </p:nvSpPr>
        <p:spPr/>
        <p:txBody>
          <a:bodyPr/>
          <a:lstStyle/>
          <a:p>
            <a:fld id="{6FFFF67E-EC6A-B940-8DC7-BF9A5925C934}" type="slidenum">
              <a:rPr lang="en-US" smtClean="0"/>
              <a:t>227</a:t>
            </a:fld>
            <a:endParaRPr lang="en-US"/>
          </a:p>
        </p:txBody>
      </p:sp>
    </p:spTree>
    <p:extLst>
      <p:ext uri="{BB962C8B-B14F-4D97-AF65-F5344CB8AC3E}">
        <p14:creationId xmlns:p14="http://schemas.microsoft.com/office/powerpoint/2010/main" val="1365843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FFFF67E-EC6A-B940-8DC7-BF9A5925C934}" type="slidenum">
              <a:rPr lang="en-US" smtClean="0"/>
              <a:t>228</a:t>
            </a:fld>
            <a:endParaRPr lang="en-US"/>
          </a:p>
        </p:txBody>
      </p:sp>
      <p:sp>
        <p:nvSpPr>
          <p:cNvPr id="3" name="Text Placeholder 2"/>
          <p:cNvSpPr>
            <a:spLocks noGrp="1"/>
          </p:cNvSpPr>
          <p:nvPr>
            <p:ph type="body" sz="quarter" idx="13"/>
          </p:nvPr>
        </p:nvSpPr>
        <p:spPr/>
        <p:txBody>
          <a:bodyPr/>
          <a:lstStyle/>
          <a:p>
            <a:pPr marL="0" lvl="0" indent="0" rtl="0">
              <a:buNone/>
            </a:pPr>
            <a:r>
              <a:rPr lang="en-US">
                <a:latin typeface="Courier New" pitchFamily="49" charset="0"/>
              </a:rPr>
              <a:t>function hello(name) {</a:t>
            </a:r>
          </a:p>
          <a:p>
            <a:pPr marL="0" lvl="0" indent="0" rtl="0">
              <a:buNone/>
            </a:pPr>
            <a:r>
              <a:rPr lang="en-US">
                <a:latin typeface="Courier New" pitchFamily="49" charset="0"/>
              </a:rPr>
              <a:t>	return "Hello, " + name;</a:t>
            </a:r>
          </a:p>
          <a:p>
            <a:pPr marL="0" lvl="0" indent="0" rtl="0">
              <a:buNone/>
            </a:pPr>
            <a:r>
              <a:rPr lang="en-US">
                <a:latin typeface="Courier New" pitchFamily="49" charset="0"/>
              </a:rPr>
              <a:t>}</a:t>
            </a:r>
          </a:p>
          <a:p>
            <a:pPr marL="0" lvl="0" indent="0" rtl="0">
              <a:buNone/>
            </a:pPr>
            <a:r>
              <a:rPr lang="en-US">
                <a:latin typeface="Courier New" pitchFamily="49" charset="0"/>
              </a:rPr>
              <a:t>let result = hello("World");</a:t>
            </a:r>
          </a:p>
          <a:p>
            <a:pPr marL="0" lvl="0" indent="0" rtl="0">
              <a:buNone/>
            </a:pPr>
            <a:r>
              <a:rPr lang="en-US">
                <a:latin typeface="Courier New" pitchFamily="49" charset="0"/>
              </a:rPr>
              <a:t>let expected = "Hello, World!";</a:t>
            </a:r>
          </a:p>
          <a:p>
            <a:pPr lvl="0" rtl="0"/>
            <a:r>
              <a:rPr lang="en-US" b="1"/>
              <a:t>try</a:t>
            </a:r>
            <a:r>
              <a:rPr lang="en-US"/>
              <a:t> {</a:t>
            </a:r>
          </a:p>
          <a:p>
            <a:pPr marL="0" lvl="0" indent="0" rtl="0">
              <a:buNone/>
            </a:pPr>
            <a:r>
              <a:rPr lang="en-US">
                <a:latin typeface="Courier New" pitchFamily="49" charset="0"/>
              </a:rPr>
              <a:t>	if (result !== expected) </a:t>
            </a:r>
            <a:r>
              <a:rPr lang="en-US" b="1">
                <a:latin typeface="Courier New" pitchFamily="49" charset="0"/>
              </a:rPr>
              <a:t>throw</a:t>
            </a:r>
            <a:r>
              <a:rPr lang="en-US">
                <a:latin typeface="Courier New" pitchFamily="49" charset="0"/>
              </a:rPr>
              <a:t> new Error </a:t>
            </a:r>
          </a:p>
          <a:p>
            <a:pPr marL="0" lvl="0" indent="0" rtl="0">
              <a:buNone/>
            </a:pPr>
            <a:r>
              <a:rPr lang="en-US">
                <a:latin typeface="Courier New" pitchFamily="49" charset="0"/>
              </a:rPr>
              <a:t>		("Expected " + expected + " but got " + </a:t>
            </a:r>
          </a:p>
          <a:p>
            <a:pPr marL="0" lvl="0" indent="0" rtl="0">
              <a:buNone/>
            </a:pPr>
            <a:r>
              <a:rPr lang="en-US">
                <a:latin typeface="Courier New" pitchFamily="49" charset="0"/>
              </a:rPr>
              <a:t>		result);</a:t>
            </a:r>
          </a:p>
          <a:p>
            <a:pPr lvl="0" rtl="0"/>
            <a:r>
              <a:rPr lang="en-US"/>
              <a:t>} </a:t>
            </a:r>
            <a:r>
              <a:rPr lang="en-US" b="1"/>
              <a:t>catch</a:t>
            </a:r>
            <a:r>
              <a:rPr lang="en-US"/>
              <a:t> (err) {</a:t>
            </a:r>
          </a:p>
          <a:p>
            <a:pPr marL="0" lvl="0" indent="0" rtl="0">
              <a:buNone/>
            </a:pPr>
            <a:r>
              <a:rPr lang="en-US">
                <a:latin typeface="Courier New" pitchFamily="49" charset="0"/>
              </a:rPr>
              <a:t>	console.log(err);</a:t>
            </a:r>
          </a:p>
          <a:p>
            <a:pPr marL="0" lvl="0" indent="0" rtl="0">
              <a:buNone/>
            </a:pPr>
            <a:r>
              <a:rPr lang="en-US">
                <a:latin typeface="Courier New" pitchFamily="49" charset="0"/>
              </a:rPr>
              <a:t>}</a:t>
            </a:r>
          </a:p>
        </p:txBody>
      </p:sp>
      <p:sp>
        <p:nvSpPr>
          <p:cNvPr id="2" name="Title 1"/>
          <p:cNvSpPr>
            <a:spLocks noGrp="1"/>
          </p:cNvSpPr>
          <p:nvPr>
            <p:ph type="title"/>
          </p:nvPr>
        </p:nvSpPr>
        <p:spPr/>
        <p:txBody>
          <a:bodyPr/>
          <a:lstStyle/>
          <a:p>
            <a:pPr lvl="0" rtl="0"/>
            <a:r>
              <a:rPr lang="en-US" dirty="0"/>
              <a:t>JS Exception Handling</a:t>
            </a:r>
          </a:p>
        </p:txBody>
      </p:sp>
    </p:spTree>
    <p:extLst>
      <p:ext uri="{BB962C8B-B14F-4D97-AF65-F5344CB8AC3E}">
        <p14:creationId xmlns:p14="http://schemas.microsoft.com/office/powerpoint/2010/main" val="378614708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r>
              <a:t>Vitest Overview</a:t>
            </a:r>
          </a:p>
        </p:txBody>
      </p:sp>
      <p:sp>
        <p:nvSpPr>
          <p:cNvPr id="5" name="Subtitle 4"/>
          <p:cNvSpPr>
            <a:spLocks noGrp="1"/>
          </p:cNvSpPr>
          <p:nvPr>
            <p:ph type="subTitle" idx="1"/>
          </p:nvPr>
        </p:nvSpPr>
        <p:spPr/>
        <p:txBody>
          <a:bodyPr>
            <a:normAutofit/>
          </a:bodyPr>
          <a:lstStyle/>
          <a:p>
            <a:pPr algn="l"/>
            <a:r>
              <a:t>Objectives</a:t>
            </a:r>
          </a:p>
          <a:p>
            <a:pPr lvl="1" algn="l"/>
            <a:r>
              <a:t>Learn about the different rendering modes</a:t>
            </a:r>
          </a:p>
          <a:p>
            <a:pPr lvl="1" algn="l"/>
            <a:r>
              <a:t>Learn about Vitest</a:t>
            </a:r>
          </a:p>
          <a:p>
            <a:pPr lvl="1" algn="l"/>
            <a:r>
              <a:t>Write unit tests with Vitest</a:t>
            </a:r>
          </a:p>
        </p:txBody>
      </p:sp>
      <p:sp>
        <p:nvSpPr>
          <p:cNvPr id="4" name="Slide Number Placeholder 3"/>
          <p:cNvSpPr>
            <a:spLocks noGrp="1"/>
          </p:cNvSpPr>
          <p:nvPr>
            <p:ph type="sldNum" sz="quarter" idx="12"/>
          </p:nvPr>
        </p:nvSpPr>
        <p:spPr/>
        <p:txBody>
          <a:bodyPr/>
          <a:lstStyle/>
          <a:p>
            <a:fld id="{6FFFF67E-EC6A-B940-8DC7-BF9A5925C934}" type="slidenum">
              <a:rPr lang="en-US" smtClean="0"/>
              <a:t>229</a:t>
            </a:fld>
            <a:endParaRPr lang="en-US"/>
          </a:p>
        </p:txBody>
      </p:sp>
    </p:spTree>
    <p:extLst>
      <p:ext uri="{BB962C8B-B14F-4D97-AF65-F5344CB8AC3E}">
        <p14:creationId xmlns:p14="http://schemas.microsoft.com/office/powerpoint/2010/main" val="158386845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Vitest</a:t>
            </a:r>
          </a:p>
        </p:txBody>
      </p:sp>
      <p:sp>
        <p:nvSpPr>
          <p:cNvPr id="3" name="Text Placeholder 2"/>
          <p:cNvSpPr>
            <a:spLocks noGrp="1"/>
          </p:cNvSpPr>
          <p:nvPr>
            <p:ph type="body" idx="1"/>
          </p:nvPr>
        </p:nvSpPr>
        <p:spPr/>
        <p:txBody>
          <a:bodyPr/>
          <a:lstStyle/>
          <a:p>
            <a:r>
              <a:t>The test runner built for Vite</a:t>
            </a:r>
          </a:p>
          <a:p>
            <a:r>
              <a:t>Reuses your vite.config.js — aliases, plugins and .vue handling all work in tests without extra configuration</a:t>
            </a:r>
          </a:p>
          <a:p>
            <a:r>
              <a:t>Runs files named *.spec.js or *.test.js</a:t>
            </a:r>
          </a:p>
          <a:p>
            <a:r>
              <a:t>Simulates a browser environment with jsdom or happy-dom</a:t>
            </a:r>
          </a:p>
          <a:p>
            <a:r>
              <a:t>Jest-compatible API: describe, it, expect, vi.fn()</a:t>
            </a:r>
          </a:p>
          <a:p>
            <a:r>
              <a:t>Watch mode re-runs only the tests affected by your last save</a:t>
            </a:r>
          </a:p>
        </p:txBody>
      </p:sp>
    </p:spTree>
    <p:extLst>
      <p:ext uri="{BB962C8B-B14F-4D97-AF65-F5344CB8AC3E}">
        <p14:creationId xmlns:p14="http://schemas.microsoft.com/office/powerpoint/2010/main" val="6643709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Vitest Works</a:t>
            </a:r>
          </a:p>
        </p:txBody>
      </p:sp>
      <p:sp>
        <p:nvSpPr>
          <p:cNvPr id="3" name="Text Placeholder 2"/>
          <p:cNvSpPr>
            <a:spLocks noGrp="1"/>
          </p:cNvSpPr>
          <p:nvPr>
            <p:ph type="body" idx="1"/>
          </p:nvPr>
        </p:nvSpPr>
        <p:spPr/>
        <p:txBody>
          <a:bodyPr>
            <a:normAutofit fontScale="92500" lnSpcReduction="20000"/>
          </a:bodyPr>
          <a:lstStyle/>
          <a:p>
            <a:r>
              <a:t>Suites describe your tests</a:t>
            </a:r>
          </a:p>
          <a:p>
            <a:r>
              <a:t>Specs contain expectations</a:t>
            </a:r>
          </a:p>
          <a:p>
            <a:endParaRPr/>
          </a:p>
          <a:p>
            <a:pPr marL="0" indent="0">
              <a:buNone/>
            </a:pPr>
            <a:r>
              <a:rPr lang="en-US">
                <a:latin typeface="Courier New" pitchFamily="49" charset="0"/>
              </a:rPr>
              <a:t>import { describe, expect, it } from 'vitest'</a:t>
            </a:r>
          </a:p>
          <a:p>
            <a:endParaRPr/>
          </a:p>
          <a:p>
            <a:pPr marL="0" indent="0">
              <a:buNone/>
            </a:pPr>
            <a:r>
              <a:rPr lang="en-US">
                <a:latin typeface="Courier New" pitchFamily="49" charset="0"/>
              </a:rPr>
              <a:t>describe('A suite is just a function', () =&gt; {</a:t>
            </a:r>
          </a:p>
          <a:p>
            <a:pPr marL="0" indent="0">
              <a:buNone/>
            </a:pPr>
            <a:r>
              <a:rPr lang="en-US">
                <a:latin typeface="Courier New" pitchFamily="49" charset="0"/>
              </a:rPr>
              <a:t>  it('and so is a spec', () =&gt; {</a:t>
            </a:r>
          </a:p>
          <a:p>
            <a:pPr marL="0" indent="0">
              <a:buNone/>
            </a:pPr>
            <a:r>
              <a:rPr lang="en-US">
                <a:latin typeface="Courier New" pitchFamily="49" charset="0"/>
              </a:rPr>
              <a:t>    expect(true).toBe(true)</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Set globals: true in the config to skip the import.</a:t>
            </a:r>
          </a:p>
        </p:txBody>
      </p:sp>
      <p:sp>
        <p:nvSpPr>
          <p:cNvPr id="4" name="Slide Number Placeholder 3"/>
          <p:cNvSpPr>
            <a:spLocks noGrp="1"/>
          </p:cNvSpPr>
          <p:nvPr>
            <p:ph type="sldNum" sz="quarter" idx="12"/>
          </p:nvPr>
        </p:nvSpPr>
        <p:spPr/>
        <p:txBody>
          <a:bodyPr/>
          <a:lstStyle/>
          <a:p>
            <a:fld id="{A839F4A7-500C-EC42-AE23-BEE4487EA55E}" type="slidenum">
              <a:rPr lang="en-US" smtClean="0"/>
              <a:t>231</a:t>
            </a:fld>
            <a:endParaRPr lang="en-US"/>
          </a:p>
        </p:txBody>
      </p:sp>
    </p:spTree>
    <p:extLst>
      <p:ext uri="{BB962C8B-B14F-4D97-AF65-F5344CB8AC3E}">
        <p14:creationId xmlns:p14="http://schemas.microsoft.com/office/powerpoint/2010/main" val="274330121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 Suites</a:t>
            </a:r>
          </a:p>
        </p:txBody>
      </p:sp>
      <p:sp>
        <p:nvSpPr>
          <p:cNvPr id="3" name="Text Placeholder 2"/>
          <p:cNvSpPr>
            <a:spLocks noGrp="1"/>
          </p:cNvSpPr>
          <p:nvPr>
            <p:ph type="body" idx="1"/>
          </p:nvPr>
        </p:nvSpPr>
        <p:spPr/>
        <p:txBody>
          <a:bodyPr/>
          <a:lstStyle/>
          <a:p>
            <a:r>
              <a:t>Created using the describe function</a:t>
            </a:r>
          </a:p>
          <a:p>
            <a:r>
              <a:t>Contain one or more specs</a:t>
            </a:r>
          </a:p>
          <a:p>
            <a:r>
              <a:t>2 params</a:t>
            </a:r>
          </a:p>
          <a:p>
            <a:pPr lvl="1"/>
            <a:r>
              <a:t>Text description</a:t>
            </a:r>
          </a:p>
          <a:p>
            <a:pPr lvl="1"/>
            <a:r>
              <a:t>Function</a:t>
            </a:r>
          </a:p>
          <a:p>
            <a:endParaRPr/>
          </a:p>
          <a:p>
            <a:pPr marL="0" indent="0">
              <a:buNone/>
            </a:pPr>
            <a:r>
              <a:rPr lang="en-US">
                <a:latin typeface="Courier New" pitchFamily="49" charset="0"/>
              </a:rPr>
              <a:t>describe('Hello', () =&gt; {</a:t>
            </a:r>
          </a:p>
          <a:p>
            <a:pPr marL="0" indent="0">
              <a:buNone/>
            </a:pPr>
            <a:r>
              <a:rPr lang="en-US">
                <a:latin typeface="Courier New" pitchFamily="49" charset="0"/>
              </a:rPr>
              <a:t>  // ...</a:t>
            </a:r>
          </a:p>
          <a:p>
            <a:pPr marL="0" indent="0">
              <a:buNone/>
            </a:pPr>
            <a:r>
              <a:rPr lang="en-US">
                <a:latin typeface="Courier New" pitchFamily="49" charset="0"/>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232</a:t>
            </a:fld>
            <a:endParaRPr lang="en-US"/>
          </a:p>
        </p:txBody>
      </p:sp>
    </p:spTree>
    <p:extLst>
      <p:ext uri="{BB962C8B-B14F-4D97-AF65-F5344CB8AC3E}">
        <p14:creationId xmlns:p14="http://schemas.microsoft.com/office/powerpoint/2010/main" val="61977867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Specs</a:t>
            </a:r>
          </a:p>
        </p:txBody>
      </p:sp>
      <p:sp>
        <p:nvSpPr>
          <p:cNvPr id="3" name="Text Placeholder 2"/>
          <p:cNvSpPr>
            <a:spLocks noGrp="1"/>
          </p:cNvSpPr>
          <p:nvPr>
            <p:ph type="body" idx="1"/>
          </p:nvPr>
        </p:nvSpPr>
        <p:spPr/>
        <p:txBody>
          <a:bodyPr>
            <a:normAutofit lnSpcReduction="10000"/>
          </a:bodyPr>
          <a:lstStyle/>
          <a:p>
            <a:r>
              <a:t>Created using the it or test function</a:t>
            </a:r>
          </a:p>
          <a:p>
            <a:pPr lvl="1"/>
            <a:r>
              <a:t>they're the same thing</a:t>
            </a:r>
          </a:p>
          <a:p>
            <a:r>
              <a:t>Contains one or more expectations</a:t>
            </a:r>
          </a:p>
          <a:p>
            <a:pPr lvl="1"/>
            <a:r>
              <a:t>expectations === assertions</a:t>
            </a:r>
          </a:p>
          <a:p>
            <a:endParaRPr/>
          </a:p>
          <a:p>
            <a:pPr marL="0" indent="0">
              <a:buNone/>
            </a:pPr>
            <a:r>
              <a:rPr lang="en-US">
                <a:latin typeface="Courier New" pitchFamily="49" charset="0"/>
              </a:rPr>
              <a:t>describe('hello', () =&gt; {</a:t>
            </a:r>
          </a:p>
          <a:p>
            <a:pPr marL="0" indent="0">
              <a:buNone/>
            </a:pPr>
            <a:r>
              <a:rPr lang="en-US">
                <a:latin typeface="Courier New" pitchFamily="49" charset="0"/>
              </a:rPr>
              <a:t>  it('concats Hello and a name', () =&gt; {</a:t>
            </a:r>
          </a:p>
          <a:p>
            <a:pPr marL="0" indent="0">
              <a:buNone/>
            </a:pPr>
            <a:r>
              <a:rPr lang="en-US">
                <a:latin typeface="Courier New" pitchFamily="49" charset="0"/>
              </a:rPr>
              <a:t>    expect(hello('World')).toBe('Hello, World!')</a:t>
            </a:r>
          </a:p>
          <a:p>
            <a:pPr marL="0" indent="0">
              <a:buNone/>
            </a:pPr>
            <a:r>
              <a:rPr lang="en-US">
                <a:latin typeface="Courier New" pitchFamily="49" charset="0"/>
              </a:rPr>
              <a:t>  })</a:t>
            </a:r>
          </a:p>
          <a:p>
            <a:pPr marL="0" indent="0">
              <a:buNone/>
            </a:pPr>
            <a:r>
              <a:rPr lang="en-US">
                <a:latin typeface="Courier New" pitchFamily="49" charset="0"/>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233</a:t>
            </a:fld>
            <a:endParaRPr lang="en-US"/>
          </a:p>
        </p:txBody>
      </p:sp>
    </p:spTree>
    <p:extLst>
      <p:ext uri="{BB962C8B-B14F-4D97-AF65-F5344CB8AC3E}">
        <p14:creationId xmlns:p14="http://schemas.microsoft.com/office/powerpoint/2010/main" val="253757261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Expectations</a:t>
            </a:r>
          </a:p>
        </p:txBody>
      </p:sp>
      <p:sp>
        <p:nvSpPr>
          <p:cNvPr id="3" name="Text Placeholder 2"/>
          <p:cNvSpPr>
            <a:spLocks noGrp="1"/>
          </p:cNvSpPr>
          <p:nvPr>
            <p:ph type="body" idx="1"/>
          </p:nvPr>
        </p:nvSpPr>
        <p:spPr/>
        <p:txBody>
          <a:bodyPr/>
          <a:lstStyle/>
          <a:p>
            <a:r>
              <a:rPr lang="en-US" dirty="0"/>
              <a:t>AKA assertions</a:t>
            </a:r>
          </a:p>
          <a:p>
            <a:r>
              <a:rPr lang="en-US" dirty="0"/>
              <a:t>Made using</a:t>
            </a:r>
            <a:r>
              <a:rPr lang="en-US" dirty="0">
                <a:latin typeface="Courier New"/>
                <a:cs typeface="Courier New"/>
              </a:rPr>
              <a:t> expect </a:t>
            </a:r>
            <a:r>
              <a:rPr lang="en-US" dirty="0"/>
              <a:t>function,</a:t>
            </a:r>
          </a:p>
          <a:p>
            <a:pPr lvl="1"/>
            <a:r>
              <a:rPr lang="en-US" dirty="0"/>
              <a:t>Takes a value</a:t>
            </a:r>
          </a:p>
          <a:p>
            <a:r>
              <a:rPr lang="en-US" dirty="0"/>
              <a:t>Chained to a Matcher</a:t>
            </a:r>
          </a:p>
          <a:p>
            <a:pPr lvl="1"/>
            <a:r>
              <a:rPr lang="en-US" dirty="0"/>
              <a:t>Takes the expected value</a:t>
            </a:r>
          </a:p>
          <a:p>
            <a:pPr marL="457200" lvl="1" indent="0">
              <a:buNone/>
            </a:pPr>
            <a:endParaRPr lang="en-US" dirty="0">
              <a:latin typeface="Courier New"/>
              <a:cs typeface="Courier New"/>
            </a:endParaRPr>
          </a:p>
          <a:p>
            <a:pPr marL="0" lvl="1" indent="0">
              <a:buNone/>
            </a:pPr>
            <a:r>
              <a:rPr lang="en-US" dirty="0">
                <a:latin typeface="Courier New"/>
                <a:cs typeface="Courier New"/>
              </a:rPr>
              <a:t>expect(actual).toEqual(expected);</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234</a:t>
            </a:fld>
            <a:endParaRPr lang="en-US"/>
          </a:p>
        </p:txBody>
      </p:sp>
    </p:spTree>
    <p:extLst>
      <p:ext uri="{BB962C8B-B14F-4D97-AF65-F5344CB8AC3E}">
        <p14:creationId xmlns:p14="http://schemas.microsoft.com/office/powerpoint/2010/main" val="34311229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Matchers</a:t>
            </a:r>
          </a:p>
        </p:txBody>
      </p:sp>
      <p:sp>
        <p:nvSpPr>
          <p:cNvPr id="3" name="Text Placeholder 2"/>
          <p:cNvSpPr>
            <a:spLocks noGrp="1"/>
          </p:cNvSpPr>
          <p:nvPr>
            <p:ph type="body" idx="1"/>
          </p:nvPr>
        </p:nvSpPr>
        <p:spPr/>
        <p:txBody>
          <a:bodyPr>
            <a:normAutofit fontScale="87000"/>
          </a:bodyPr>
          <a:lstStyle/>
          <a:p>
            <a:pPr marL="0" indent="0">
              <a:buNone/>
            </a:pPr>
            <a:r>
              <a:rPr lang="en-US">
                <a:latin typeface="Courier New" pitchFamily="49" charset="0"/>
              </a:rPr>
              <a:t>expect(fn).toThrow(e);</a:t>
            </a:r>
          </a:p>
          <a:p>
            <a:pPr marL="0" indent="0">
              <a:buNone/>
            </a:pPr>
            <a:r>
              <a:rPr lang="en-US">
                <a:latin typeface="Courier New" pitchFamily="49" charset="0"/>
              </a:rPr>
              <a:t>expect(value).toBe(other);          // Object.is</a:t>
            </a:r>
          </a:p>
          <a:p>
            <a:pPr marL="0" indent="0">
              <a:buNone/>
            </a:pPr>
            <a:r>
              <a:rPr lang="en-US">
                <a:latin typeface="Courier New" pitchFamily="49" charset="0"/>
              </a:rPr>
              <a:t>expect(value).toEqual(other);       // deep equality</a:t>
            </a:r>
          </a:p>
          <a:p>
            <a:pPr marL="0" indent="0">
              <a:buNone/>
            </a:pPr>
            <a:r>
              <a:rPr lang="en-US">
                <a:latin typeface="Courier New" pitchFamily="49" charset="0"/>
              </a:rPr>
              <a:t>expect(value).toBeDefined();</a:t>
            </a:r>
          </a:p>
          <a:p>
            <a:pPr marL="0" indent="0">
              <a:buNone/>
            </a:pPr>
            <a:r>
              <a:rPr lang="en-US">
                <a:latin typeface="Courier New" pitchFamily="49" charset="0"/>
              </a:rPr>
              <a:t>expect(value).toBeTruthy() / .toBeFalsy();</a:t>
            </a:r>
          </a:p>
          <a:p>
            <a:pPr marL="0" indent="0">
              <a:buNone/>
            </a:pPr>
            <a:r>
              <a:rPr lang="en-US">
                <a:latin typeface="Courier New" pitchFamily="49" charset="0"/>
              </a:rPr>
              <a:t>expect(number).toBeGreaterThan(n) / .toBeLessThan(n);</a:t>
            </a:r>
          </a:p>
          <a:p>
            <a:pPr marL="0" indent="0">
              <a:buNone/>
            </a:pPr>
            <a:r>
              <a:rPr lang="en-US">
                <a:latin typeface="Courier New" pitchFamily="49" charset="0"/>
              </a:rPr>
              <a:t>expect(value).toBeNull() / .toBeUndefined();</a:t>
            </a:r>
          </a:p>
          <a:p>
            <a:pPr marL="0" indent="0">
              <a:buNone/>
            </a:pPr>
            <a:r>
              <a:rPr lang="en-US">
                <a:latin typeface="Courier New" pitchFamily="49" charset="0"/>
              </a:rPr>
              <a:t>expect(array).toContain(member);</a:t>
            </a:r>
          </a:p>
          <a:p>
            <a:pPr marL="0" indent="0">
              <a:buNone/>
            </a:pPr>
            <a:r>
              <a:rPr lang="en-US">
                <a:latin typeface="Courier New" pitchFamily="49" charset="0"/>
              </a:rPr>
              <a:t>expect(string).toMatch(pattern);</a:t>
            </a:r>
          </a:p>
          <a:p>
            <a:pPr marL="0" indent="0">
              <a:buNone/>
            </a:pPr>
            <a:r>
              <a:rPr lang="en-US">
                <a:latin typeface="Courier New" pitchFamily="49" charset="0"/>
              </a:rPr>
              <a:t>await expect(promise).resolves.toBe(value);</a:t>
            </a:r>
          </a:p>
        </p:txBody>
      </p:sp>
      <p:sp>
        <p:nvSpPr>
          <p:cNvPr id="4" name="Slide Number Placeholder 3"/>
          <p:cNvSpPr>
            <a:spLocks noGrp="1"/>
          </p:cNvSpPr>
          <p:nvPr>
            <p:ph type="sldNum" sz="quarter" idx="12"/>
          </p:nvPr>
        </p:nvSpPr>
        <p:spPr/>
        <p:txBody>
          <a:bodyPr/>
          <a:lstStyle/>
          <a:p>
            <a:fld id="{A839F4A7-500C-EC42-AE23-BEE4487EA55E}" type="slidenum">
              <a:rPr lang="en-US" smtClean="0"/>
              <a:t>235</a:t>
            </a:fld>
            <a:endParaRPr lang="en-US"/>
          </a:p>
        </p:txBody>
      </p:sp>
    </p:spTree>
    <p:extLst>
      <p:ext uri="{BB962C8B-B14F-4D97-AF65-F5344CB8AC3E}">
        <p14:creationId xmlns:p14="http://schemas.microsoft.com/office/powerpoint/2010/main" val="21156904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TDD vs. BDD</a:t>
            </a:r>
          </a:p>
        </p:txBody>
      </p:sp>
      <p:sp>
        <p:nvSpPr>
          <p:cNvPr id="3" name="Text Placeholder 2"/>
          <p:cNvSpPr>
            <a:spLocks noGrp="1"/>
          </p:cNvSpPr>
          <p:nvPr>
            <p:ph type="body" idx="1"/>
          </p:nvPr>
        </p:nvSpPr>
        <p:spPr/>
        <p:txBody>
          <a:bodyPr/>
          <a:lstStyle/>
          <a:p>
            <a:pPr marL="0" lvl="0" indent="0" rtl="0">
              <a:buNone/>
            </a:pPr>
            <a:r>
              <a:rPr lang="en-US"/>
              <a:t>Test-Driven Development</a:t>
            </a:r>
          </a:p>
        </p:txBody>
      </p:sp>
      <p:sp>
        <p:nvSpPr>
          <p:cNvPr id="5" name="Content Placeholder 4"/>
          <p:cNvSpPr>
            <a:spLocks noGrp="1"/>
          </p:cNvSpPr>
          <p:nvPr>
            <p:ph sz="half" idx="2"/>
          </p:nvPr>
        </p:nvSpPr>
        <p:spPr/>
        <p:txBody>
          <a:bodyPr/>
          <a:lstStyle/>
          <a:p>
            <a:r>
              <a:rPr lang="en-US"/>
              <a:t>Focused on being useful for programmers</a:t>
            </a:r>
          </a:p>
          <a:p>
            <a:endParaRPr lang="en-US"/>
          </a:p>
          <a:p>
            <a:endParaRPr lang="en-US"/>
          </a:p>
        </p:txBody>
      </p:sp>
      <p:sp>
        <p:nvSpPr>
          <p:cNvPr id="6" name="Text Placeholder 5"/>
          <p:cNvSpPr>
            <a:spLocks noGrp="1"/>
          </p:cNvSpPr>
          <p:nvPr>
            <p:ph type="body" sz="quarter" idx="3"/>
          </p:nvPr>
        </p:nvSpPr>
        <p:spPr/>
        <p:txBody>
          <a:bodyPr/>
          <a:lstStyle/>
          <a:p>
            <a:r>
              <a:rPr lang="en-US"/>
              <a:t>Behavior-Driven Development</a:t>
            </a:r>
          </a:p>
        </p:txBody>
      </p:sp>
      <p:sp>
        <p:nvSpPr>
          <p:cNvPr id="7" name="Content Placeholder 6"/>
          <p:cNvSpPr>
            <a:spLocks noGrp="1"/>
          </p:cNvSpPr>
          <p:nvPr>
            <p:ph sz="quarter" idx="4"/>
          </p:nvPr>
        </p:nvSpPr>
        <p:spPr/>
        <p:txBody>
          <a:bodyPr/>
          <a:lstStyle/>
          <a:p>
            <a:r>
              <a:rPr lang="en-US"/>
              <a:t>Focused on documentation for non-programmers</a:t>
            </a:r>
          </a:p>
          <a:p>
            <a:pPr lvl="1"/>
            <a:r>
              <a:rPr lang="en-US"/>
              <a:t>Features, not results</a:t>
            </a:r>
          </a:p>
          <a:p>
            <a:pPr lvl="1"/>
            <a:r>
              <a:rPr lang="en-US"/>
              <a:t>More verbose</a:t>
            </a:r>
          </a:p>
          <a:p>
            <a:pPr lvl="1"/>
            <a:endParaRPr lang="en-US"/>
          </a:p>
        </p:txBody>
      </p:sp>
      <p:sp>
        <p:nvSpPr>
          <p:cNvPr id="4" name="Slide Number Placeholder 3"/>
          <p:cNvSpPr>
            <a:spLocks noGrp="1"/>
          </p:cNvSpPr>
          <p:nvPr>
            <p:ph type="sldNum" sz="quarter" idx="12"/>
          </p:nvPr>
        </p:nvSpPr>
        <p:spPr/>
        <p:txBody>
          <a:bodyPr/>
          <a:lstStyle/>
          <a:p>
            <a:fld id="{A839F4A7-500C-EC42-AE23-BEE4487EA55E}" type="slidenum">
              <a:rPr lang="en-US" smtClean="0"/>
              <a:t>236</a:t>
            </a:fld>
            <a:endParaRPr lang="en-US"/>
          </a:p>
        </p:txBody>
      </p:sp>
    </p:spTree>
    <p:extLst>
      <p:ext uri="{BB962C8B-B14F-4D97-AF65-F5344CB8AC3E}">
        <p14:creationId xmlns:p14="http://schemas.microsoft.com/office/powerpoint/2010/main" val="150401920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6FFFF67E-EC6A-B940-8DC7-BF9A5925C934}" type="slidenum">
              <a:rPr lang="en-US" smtClean="0"/>
              <a:t>237</a:t>
            </a:fld>
            <a:endParaRPr lang="en-US"/>
          </a:p>
        </p:txBody>
      </p:sp>
      <p:sp>
        <p:nvSpPr>
          <p:cNvPr id="8" name="Text Placeholder 7"/>
          <p:cNvSpPr>
            <a:spLocks noGrp="1"/>
          </p:cNvSpPr>
          <p:nvPr>
            <p:ph type="body" sz="quarter" idx="13"/>
          </p:nvPr>
        </p:nvSpPr>
        <p:spPr/>
        <p:txBody>
          <a:bodyPr>
            <a:normAutofit/>
          </a:bodyPr>
          <a:lstStyle/>
          <a:p>
            <a:pPr marL="0" indent="0">
              <a:buNone/>
            </a:pPr>
            <a:r>
              <a:rPr lang="en-US">
                <a:latin typeface="Courier New" pitchFamily="49" charset="0"/>
              </a:rPr>
              <a:t>describe('Counter', () =&gt; {</a:t>
            </a:r>
          </a:p>
          <a:p>
            <a:pPr marL="0" indent="0">
              <a:buNone/>
            </a:pPr>
            <a:r>
              <a:rPr lang="en-US">
                <a:latin typeface="Courier New" pitchFamily="49" charset="0"/>
              </a:rPr>
              <a:t>  test('tick increases count to 1', () =&gt; {</a:t>
            </a:r>
          </a:p>
          <a:p>
            <a:pPr marL="0" indent="0">
              <a:buNone/>
            </a:pPr>
            <a:r>
              <a:rPr lang="en-US">
                <a:latin typeface="Courier New" pitchFamily="49" charset="0"/>
              </a:rPr>
              <a:t>    const counter = new Counter()</a:t>
            </a:r>
          </a:p>
          <a:p>
            <a:pPr marL="57150"/>
            <a:endParaRPr/>
          </a:p>
          <a:p>
            <a:pPr marL="0" indent="0">
              <a:buNone/>
            </a:pPr>
            <a:r>
              <a:rPr lang="en-US">
                <a:latin typeface="Courier New" pitchFamily="49" charset="0"/>
              </a:rPr>
              <a:t>    counter.tick()</a:t>
            </a:r>
          </a:p>
          <a:p>
            <a:pPr marL="57150"/>
            <a:endParaRPr/>
          </a:p>
          <a:p>
            <a:pPr marL="0" indent="0">
              <a:buNone/>
            </a:pPr>
            <a:r>
              <a:rPr lang="en-US">
                <a:latin typeface="Courier New" pitchFamily="49" charset="0"/>
              </a:rPr>
              <a:t>    expect(counter.count).toBe(1)</a:t>
            </a:r>
          </a:p>
          <a:p>
            <a:pPr marL="0" indent="0">
              <a:buNone/>
            </a:pPr>
            <a:r>
              <a:rPr lang="en-US">
                <a:latin typeface="Courier New" pitchFamily="49" charset="0"/>
              </a:rPr>
              <a:t>  })</a:t>
            </a:r>
          </a:p>
          <a:p>
            <a:pPr marL="0" indent="0">
              <a:buNone/>
            </a:pPr>
            <a:r>
              <a:rPr lang="en-US">
                <a:latin typeface="Courier New" pitchFamily="49" charset="0"/>
              </a:rPr>
              <a:t>})</a:t>
            </a:r>
          </a:p>
        </p:txBody>
      </p:sp>
      <p:sp>
        <p:nvSpPr>
          <p:cNvPr id="2" name="Title 1"/>
          <p:cNvSpPr>
            <a:spLocks noGrp="1"/>
          </p:cNvSpPr>
          <p:nvPr>
            <p:ph type="title"/>
          </p:nvPr>
        </p:nvSpPr>
        <p:spPr/>
        <p:txBody>
          <a:bodyPr/>
          <a:lstStyle/>
          <a:p>
            <a:r>
              <a:t>TDD Example</a:t>
            </a:r>
          </a:p>
        </p:txBody>
      </p:sp>
    </p:spTree>
    <p:extLst>
      <p:ext uri="{BB962C8B-B14F-4D97-AF65-F5344CB8AC3E}">
        <p14:creationId xmlns:p14="http://schemas.microsoft.com/office/powerpoint/2010/main" val="66462867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238</a:t>
            </a:fld>
            <a:endParaRPr lang="en-US"/>
          </a:p>
        </p:txBody>
      </p:sp>
      <p:sp>
        <p:nvSpPr>
          <p:cNvPr id="3" name="Text Placeholder 2"/>
          <p:cNvSpPr>
            <a:spLocks noGrp="1"/>
          </p:cNvSpPr>
          <p:nvPr>
            <p:ph type="body" sz="quarter" idx="13"/>
          </p:nvPr>
        </p:nvSpPr>
        <p:spPr/>
        <p:txBody>
          <a:bodyPr/>
          <a:lstStyle/>
          <a:p>
            <a:pPr marL="0" indent="0">
              <a:buNone/>
            </a:pPr>
            <a:r>
              <a:rPr lang="en-US">
                <a:latin typeface="Courier New" pitchFamily="49" charset="0"/>
              </a:rPr>
              <a:t>describe('Counter', () =&gt; {</a:t>
            </a:r>
          </a:p>
          <a:p>
            <a:pPr marL="0" indent="0">
              <a:buNone/>
            </a:pPr>
            <a:r>
              <a:rPr lang="en-US">
                <a:latin typeface="Courier New" pitchFamily="49" charset="0"/>
              </a:rPr>
              <a:t>  it('should increase count by 1 after calling tick', () =&gt; {</a:t>
            </a:r>
          </a:p>
          <a:p>
            <a:pPr marL="0" indent="0">
              <a:buNone/>
            </a:pPr>
            <a:r>
              <a:rPr lang="en-US">
                <a:latin typeface="Courier New" pitchFamily="49" charset="0"/>
              </a:rPr>
              <a:t>    const counter = new Counter()</a:t>
            </a:r>
          </a:p>
          <a:p>
            <a:pPr marL="0" indent="0">
              <a:buNone/>
            </a:pPr>
            <a:r>
              <a:rPr lang="en-US">
                <a:latin typeface="Courier New" pitchFamily="49" charset="0"/>
              </a:rPr>
              <a:t>    const expected = counter.count + 1</a:t>
            </a:r>
          </a:p>
          <a:p>
            <a:endParaRPr/>
          </a:p>
          <a:p>
            <a:pPr marL="0" indent="0">
              <a:buNone/>
            </a:pPr>
            <a:r>
              <a:rPr lang="en-US">
                <a:latin typeface="Courier New" pitchFamily="49" charset="0"/>
              </a:rPr>
              <a:t>    counter.tick()</a:t>
            </a:r>
          </a:p>
          <a:p>
            <a:endParaRPr/>
          </a:p>
          <a:p>
            <a:pPr marL="0" indent="0">
              <a:buNone/>
            </a:pPr>
            <a:r>
              <a:rPr lang="en-US">
                <a:latin typeface="Courier New" pitchFamily="49" charset="0"/>
              </a:rPr>
              <a:t>    expect(counter.count).toBe(expected)</a:t>
            </a:r>
          </a:p>
          <a:p>
            <a:pPr marL="0" indent="0">
              <a:buNone/>
            </a:pPr>
            <a:r>
              <a:rPr lang="en-US">
                <a:latin typeface="Courier New" pitchFamily="49" charset="0"/>
              </a:rPr>
              <a:t>  })</a:t>
            </a:r>
          </a:p>
          <a:p>
            <a:pPr marL="0" indent="0">
              <a:buNone/>
            </a:pPr>
            <a:r>
              <a:rPr lang="en-US">
                <a:latin typeface="Courier New" pitchFamily="49" charset="0"/>
              </a:rPr>
              <a:t>})</a:t>
            </a:r>
          </a:p>
        </p:txBody>
      </p:sp>
      <p:sp>
        <p:nvSpPr>
          <p:cNvPr id="4" name="Title 3"/>
          <p:cNvSpPr>
            <a:spLocks noGrp="1"/>
          </p:cNvSpPr>
          <p:nvPr>
            <p:ph type="title"/>
          </p:nvPr>
        </p:nvSpPr>
        <p:spPr/>
        <p:txBody>
          <a:bodyPr/>
          <a:lstStyle/>
          <a:p>
            <a:r>
              <a:t>BDD Example</a:t>
            </a:r>
          </a:p>
        </p:txBody>
      </p:sp>
    </p:spTree>
    <p:extLst>
      <p:ext uri="{BB962C8B-B14F-4D97-AF65-F5344CB8AC3E}">
        <p14:creationId xmlns:p14="http://schemas.microsoft.com/office/powerpoint/2010/main" val="203058554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Mocking</a:t>
            </a:r>
          </a:p>
        </p:txBody>
      </p:sp>
      <p:sp>
        <p:nvSpPr>
          <p:cNvPr id="3" name="Text Placeholder 2"/>
          <p:cNvSpPr>
            <a:spLocks noGrp="1"/>
          </p:cNvSpPr>
          <p:nvPr>
            <p:ph type="body" idx="1"/>
          </p:nvPr>
        </p:nvSpPr>
        <p:spPr/>
        <p:txBody>
          <a:bodyPr/>
          <a:lstStyle/>
          <a:p>
            <a:r>
              <a:t>vi.fn() — a mock function that records how it was called</a:t>
            </a:r>
          </a:p>
          <a:p>
            <a:r>
              <a:t>vi.mock() — replace a whole module</a:t>
            </a:r>
          </a:p>
          <a:p>
            <a:r>
              <a:t>vi.spyOn() — wrap an existing method, keeping the original</a:t>
            </a:r>
          </a:p>
          <a:p>
            <a:r>
              <a:t>vi.useFakeTimers() — control setTimeout and setInterval</a:t>
            </a:r>
          </a:p>
          <a:p>
            <a:r>
              <a:t>vi.stubGlobal() — replace a global such as fetch</a:t>
            </a:r>
          </a:p>
        </p:txBody>
      </p:sp>
    </p:spTree>
    <p:extLst>
      <p:ext uri="{BB962C8B-B14F-4D97-AF65-F5344CB8AC3E}">
        <p14:creationId xmlns:p14="http://schemas.microsoft.com/office/powerpoint/2010/main" val="335064632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rmAutofit/>
          </a:bodyPr>
          <a:lstStyle/>
          <a:p>
            <a:pPr marL="0" indent="0">
              <a:buNone/>
            </a:pPr>
            <a:r>
              <a:rPr lang="en-US">
                <a:latin typeface="Courier New" pitchFamily="49" charset="0"/>
              </a:rPr>
              <a:t>import { expect, it, vi } from 'vitest'</a:t>
            </a:r>
          </a:p>
          <a:p>
            <a:endParaRPr/>
          </a:p>
          <a:p>
            <a:pPr marL="0" indent="0">
              <a:buNone/>
            </a:pPr>
            <a:r>
              <a:rPr lang="en-US">
                <a:latin typeface="Courier New" pitchFamily="49" charset="0"/>
              </a:rPr>
              <a:t>const mockCallback = vi.fn()</a:t>
            </a:r>
          </a:p>
          <a:p>
            <a:endParaRPr/>
          </a:p>
          <a:p>
            <a:r>
              <a:t>[0, 1].forEach(mockCallback)</a:t>
            </a:r>
          </a:p>
          <a:p>
            <a:endParaRPr/>
          </a:p>
          <a:p>
            <a:pPr marL="0" indent="0">
              <a:buNone/>
            </a:pPr>
            <a:r>
              <a:rPr lang="en-US">
                <a:latin typeface="Courier New" pitchFamily="49" charset="0"/>
              </a:rPr>
              <a:t>// The mock function is called twice</a:t>
            </a:r>
          </a:p>
          <a:p>
            <a:pPr marL="0" indent="0">
              <a:buNone/>
            </a:pPr>
            <a:r>
              <a:rPr lang="en-US">
                <a:latin typeface="Courier New" pitchFamily="49" charset="0"/>
              </a:rPr>
              <a:t>expect(mockCallback).toHaveBeenCalledTimes(2)</a:t>
            </a:r>
          </a:p>
          <a:p>
            <a:endParaRPr/>
          </a:p>
          <a:p>
            <a:pPr marL="0" indent="0">
              <a:buNone/>
            </a:pPr>
            <a:r>
              <a:rPr lang="en-US">
                <a:latin typeface="Courier New" pitchFamily="49" charset="0"/>
              </a:rPr>
              <a:t>// It was called with 0, and then with 1</a:t>
            </a:r>
          </a:p>
          <a:p>
            <a:pPr marL="0" indent="0">
              <a:buNone/>
            </a:pPr>
            <a:r>
              <a:rPr lang="en-US">
                <a:latin typeface="Courier New" pitchFamily="49" charset="0"/>
              </a:rPr>
              <a:t>expect(mockCallback).toHaveBeenNthCalledWith(1, 0, 0, [0, 1])</a:t>
            </a:r>
          </a:p>
        </p:txBody>
      </p:sp>
      <p:sp>
        <p:nvSpPr>
          <p:cNvPr id="2" name="Title 1"/>
          <p:cNvSpPr>
            <a:spLocks noGrp="1"/>
          </p:cNvSpPr>
          <p:nvPr>
            <p:ph type="title"/>
          </p:nvPr>
        </p:nvSpPr>
        <p:spPr/>
        <p:txBody>
          <a:bodyPr/>
          <a:lstStyle/>
          <a:p>
            <a:r>
              <a:t>Mock Function</a:t>
            </a:r>
          </a:p>
        </p:txBody>
      </p:sp>
    </p:spTree>
    <p:extLst>
      <p:ext uri="{BB962C8B-B14F-4D97-AF65-F5344CB8AC3E}">
        <p14:creationId xmlns:p14="http://schemas.microsoft.com/office/powerpoint/2010/main" val="568753192"/>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Mocking a Module</a:t>
            </a:r>
          </a:p>
        </p:txBody>
      </p:sp>
      <p:sp>
        <p:nvSpPr>
          <p:cNvPr id="6" name="Content Placeholder 5"/>
          <p:cNvSpPr>
            <a:spLocks noGrp="1"/>
          </p:cNvSpPr>
          <p:nvPr>
            <p:ph idx="1"/>
          </p:nvPr>
        </p:nvSpPr>
        <p:spPr/>
        <p:txBody>
          <a:bodyPr>
            <a:normAutofit fontScale="92500" lnSpcReduction="20000"/>
          </a:bodyPr>
          <a:lstStyle/>
          <a:p>
            <a:r>
              <a:t>Replace a module your component imports, so the test never hits the network.</a:t>
            </a:r>
          </a:p>
          <a:p>
            <a:endParaRPr/>
          </a:p>
          <a:p>
            <a:pPr marL="0" indent="0">
              <a:buNone/>
            </a:pPr>
            <a:r>
              <a:rPr lang="en-US">
                <a:latin typeface="Courier New" pitchFamily="49" charset="0"/>
              </a:rPr>
              <a:t>vi.mock('@/common/api.service', () =&gt; ({</a:t>
            </a:r>
          </a:p>
          <a:p>
            <a:pPr marL="0" indent="0">
              <a:buNone/>
            </a:pPr>
            <a:r>
              <a:rPr lang="en-US">
                <a:latin typeface="Courier New" pitchFamily="49" charset="0"/>
              </a:rPr>
              <a:t>  default: {</a:t>
            </a:r>
          </a:p>
          <a:p>
            <a:pPr marL="0" indent="0">
              <a:buNone/>
            </a:pPr>
            <a:r>
              <a:rPr lang="en-US">
                <a:latin typeface="Courier New" pitchFamily="49" charset="0"/>
              </a:rPr>
              <a:t>    query: vi.fn().mockResolvedValue({ data: { articles: [] } })</a:t>
            </a:r>
          </a:p>
          <a:p>
            <a:pPr marL="0" indent="0">
              <a:buNone/>
            </a:pPr>
            <a:r>
              <a:rPr lang="en-US">
                <a:latin typeface="Courier New" pitchFamily="49" charset="0"/>
              </a:rPr>
              <a:t>  }</a:t>
            </a:r>
          </a:p>
          <a:p>
            <a:pPr marL="0" indent="0">
              <a:buNone/>
            </a:pPr>
            <a:r>
              <a:rPr lang="en-US">
                <a:latin typeface="Courier New" pitchFamily="49" charset="0"/>
              </a:rPr>
              <a:t>}))</a:t>
            </a:r>
          </a:p>
          <a:p>
            <a:endParaRPr/>
          </a:p>
          <a:p>
            <a:pPr marL="0" indent="0">
              <a:buNone/>
            </a:pPr>
            <a:r>
              <a:rPr lang="en-US">
                <a:latin typeface="Courier New" pitchFamily="49" charset="0"/>
              </a:rPr>
              <a:t>// vi.mock is hoisted above the imports, so it applies even</a:t>
            </a:r>
          </a:p>
          <a:p>
            <a:pPr marL="0" indent="0">
              <a:buNone/>
            </a:pPr>
            <a:r>
              <a:rPr lang="en-US">
                <a:latin typeface="Courier New" pitchFamily="49" charset="0"/>
              </a:rPr>
              <a:t>// though it is written after them.</a:t>
            </a:r>
          </a:p>
        </p:txBody>
      </p:sp>
    </p:spTree>
    <p:extLst>
      <p:ext uri="{BB962C8B-B14F-4D97-AF65-F5344CB8AC3E}">
        <p14:creationId xmlns:p14="http://schemas.microsoft.com/office/powerpoint/2010/main" val="326664031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Resetting Mocks</a:t>
            </a:r>
          </a:p>
        </p:txBody>
      </p:sp>
      <p:sp>
        <p:nvSpPr>
          <p:cNvPr id="3" name="Content Placeholder 2"/>
          <p:cNvSpPr>
            <a:spLocks noGrp="1"/>
          </p:cNvSpPr>
          <p:nvPr>
            <p:ph idx="1"/>
          </p:nvPr>
        </p:nvSpPr>
        <p:spPr/>
        <p:txBody>
          <a:bodyPr/>
          <a:lstStyle/>
          <a:p>
            <a:r>
              <a:t>Mocks remember every call, so state leaks between tests.</a:t>
            </a:r>
          </a:p>
          <a:p>
            <a:endParaRPr/>
          </a:p>
          <a:p>
            <a:pPr marL="0" indent="0">
              <a:buNone/>
            </a:pPr>
            <a:r>
              <a:rPr lang="en-US">
                <a:latin typeface="Courier New" pitchFamily="49" charset="0"/>
              </a:rPr>
              <a:t>vi.clearAllMocks()    // forget recorded calls</a:t>
            </a:r>
          </a:p>
          <a:p>
            <a:pPr marL="0" indent="0">
              <a:buNone/>
            </a:pPr>
            <a:r>
              <a:rPr lang="en-US">
                <a:latin typeface="Courier New" pitchFamily="49" charset="0"/>
              </a:rPr>
              <a:t>vi.resetAllMocks()    // also drop the implementation</a:t>
            </a:r>
          </a:p>
          <a:p>
            <a:pPr marL="0" indent="0">
              <a:buNone/>
            </a:pPr>
            <a:r>
              <a:rPr lang="en-US">
                <a:latin typeface="Courier New" pitchFamily="49" charset="0"/>
              </a:rPr>
              <a:t>vi.restoreAllMocks()  // undo every spyOn</a:t>
            </a:r>
          </a:p>
          <a:p>
            <a:endParaRPr/>
          </a:p>
          <a:p>
            <a:pPr marL="0" indent="0">
              <a:buNone/>
            </a:pPr>
            <a:r>
              <a:rPr lang="en-US">
                <a:latin typeface="Courier New" pitchFamily="49" charset="0"/>
              </a:rPr>
              <a:t>// Or set restoreMocks: true in the Vitest config.</a:t>
            </a:r>
          </a:p>
        </p:txBody>
      </p:sp>
    </p:spTree>
    <p:extLst>
      <p:ext uri="{BB962C8B-B14F-4D97-AF65-F5344CB8AC3E}">
        <p14:creationId xmlns:p14="http://schemas.microsoft.com/office/powerpoint/2010/main" val="152731277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Fake Timers</a:t>
            </a:r>
          </a:p>
        </p:txBody>
      </p:sp>
      <p:sp>
        <p:nvSpPr>
          <p:cNvPr id="6" name="Content Placeholder 5"/>
          <p:cNvSpPr>
            <a:spLocks noGrp="1"/>
          </p:cNvSpPr>
          <p:nvPr>
            <p:ph idx="1"/>
          </p:nvPr>
        </p:nvSpPr>
        <p:spPr/>
        <p:txBody>
          <a:bodyPr/>
          <a:lstStyle/>
          <a:p>
            <a:pPr marL="0" indent="0">
              <a:buNone/>
            </a:pPr>
            <a:r>
              <a:rPr lang="en-US">
                <a:latin typeface="Courier New" pitchFamily="49" charset="0"/>
              </a:rPr>
              <a:t>vi.useFakeTimers()</a:t>
            </a:r>
          </a:p>
          <a:p>
            <a:endParaRPr/>
          </a:p>
          <a:p>
            <a:pPr marL="0" indent="0">
              <a:buNone/>
            </a:pPr>
            <a:r>
              <a:rPr lang="en-US">
                <a:latin typeface="Courier New" pitchFamily="49" charset="0"/>
              </a:rPr>
              <a:t>const spy = vi.fn()</a:t>
            </a:r>
          </a:p>
          <a:p>
            <a:pPr marL="0" indent="0">
              <a:buNone/>
            </a:pPr>
            <a:r>
              <a:rPr lang="en-US">
                <a:latin typeface="Courier New" pitchFamily="49" charset="0"/>
              </a:rPr>
              <a:t>setTimeout(spy, 5000)</a:t>
            </a:r>
          </a:p>
          <a:p>
            <a:endParaRPr/>
          </a:p>
          <a:p>
            <a:pPr marL="0" indent="0">
              <a:buNone/>
            </a:pPr>
            <a:r>
              <a:rPr lang="en-US">
                <a:latin typeface="Courier New" pitchFamily="49" charset="0"/>
              </a:rPr>
              <a:t>vi.advanceTimersByTime(5000)</a:t>
            </a:r>
          </a:p>
          <a:p>
            <a:endParaRPr/>
          </a:p>
          <a:p>
            <a:pPr marL="0" indent="0">
              <a:buNone/>
            </a:pPr>
            <a:r>
              <a:rPr lang="en-US">
                <a:latin typeface="Courier New" pitchFamily="49" charset="0"/>
              </a:rPr>
              <a:t>expect(spy).toHaveBeenCalled()</a:t>
            </a:r>
          </a:p>
          <a:p>
            <a:endParaRPr/>
          </a:p>
          <a:p>
            <a:pPr marL="0" indent="0">
              <a:buNone/>
            </a:pPr>
            <a:r>
              <a:rPr lang="en-US">
                <a:latin typeface="Courier New" pitchFamily="49" charset="0"/>
              </a:rPr>
              <a:t>vi.useRealTimers()</a:t>
            </a:r>
          </a:p>
        </p:txBody>
      </p:sp>
    </p:spTree>
    <p:extLst>
      <p:ext uri="{BB962C8B-B14F-4D97-AF65-F5344CB8AC3E}">
        <p14:creationId xmlns:p14="http://schemas.microsoft.com/office/powerpoint/2010/main" val="290438103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Snapshot Testing</a:t>
            </a:r>
          </a:p>
        </p:txBody>
      </p:sp>
      <p:sp>
        <p:nvSpPr>
          <p:cNvPr id="3" name="Content Placeholder 2"/>
          <p:cNvSpPr>
            <a:spLocks noGrp="1"/>
          </p:cNvSpPr>
          <p:nvPr>
            <p:ph idx="1"/>
          </p:nvPr>
        </p:nvSpPr>
        <p:spPr/>
        <p:txBody>
          <a:bodyPr/>
          <a:lstStyle/>
          <a:p>
            <a:pPr marL="457200" indent="-457200">
              <a:buFont typeface="+mj-lt"/>
              <a:buAutoNum type="arabicPeriod"/>
            </a:pPr>
            <a:r>
              <a:t>Renders a component</a:t>
            </a:r>
          </a:p>
          <a:p>
            <a:pPr marL="457200" indent="-457200">
              <a:buFont typeface="+mj-lt"/>
              <a:buAutoNum type="arabicPeriod"/>
            </a:pPr>
            <a:r>
              <a:t>Writes a snapshot file on the first run</a:t>
            </a:r>
          </a:p>
          <a:p>
            <a:pPr marL="457200" indent="-457200">
              <a:buFont typeface="+mj-lt"/>
              <a:buAutoNum type="arabicPeriod"/>
            </a:pPr>
            <a:r>
              <a:t>Compares later runs against it, and fails if the output differs</a:t>
            </a:r>
          </a:p>
          <a:p>
            <a:pPr marL="457200" indent="-457200">
              <a:buFont typeface="+mj-lt"/>
              <a:buAutoNum type="arabicPeriod"/>
            </a:pPr>
            <a:r>
              <a:t>Update deliberately with vitest -u, and review the diff</a:t>
            </a:r>
          </a:p>
          <a:p>
            <a:pPr marL="457200" indent="-457200">
              <a:buFont typeface="+mj-lt"/>
              <a:buAutoNum type="arabicPeriod"/>
            </a:pPr>
            <a:r>
              <a:t>Best for output that should rarely change; a poor substitute for an assertion about behaviour</a:t>
            </a:r>
          </a:p>
        </p:txBody>
      </p:sp>
    </p:spTree>
    <p:extLst>
      <p:ext uri="{BB962C8B-B14F-4D97-AF65-F5344CB8AC3E}">
        <p14:creationId xmlns:p14="http://schemas.microsoft.com/office/powerpoint/2010/main" val="327511362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pPr marL="0" indent="0">
              <a:buNone/>
            </a:pPr>
            <a:r>
              <a:rPr lang="en-US">
                <a:latin typeface="Courier New" pitchFamily="49" charset="0"/>
              </a:rPr>
              <a:t>it('should render content correctly', () =&gt; {</a:t>
            </a:r>
          </a:p>
          <a:p>
            <a:pPr marL="0" indent="0">
              <a:buNone/>
            </a:pPr>
            <a:r>
              <a:rPr lang="en-US">
                <a:latin typeface="Courier New" pitchFamily="49" charset="0"/>
              </a:rPr>
              <a:t>  const wrapper = mount(Component, {</a:t>
            </a:r>
          </a:p>
          <a:p>
            <a:pPr marL="0" indent="0">
              <a:buNone/>
            </a:pPr>
            <a:r>
              <a:rPr lang="en-US">
                <a:latin typeface="Courier New" pitchFamily="49" charset="0"/>
              </a:rPr>
              <a:t>    global: { plugins: [pinia, router] }</a:t>
            </a:r>
          </a:p>
          <a:p>
            <a:pPr marL="0" indent="0">
              <a:buNone/>
            </a:pPr>
            <a:r>
              <a:rPr lang="en-US">
                <a:latin typeface="Courier New" pitchFamily="49" charset="0"/>
              </a:rPr>
              <a:t>  })</a:t>
            </a:r>
          </a:p>
          <a:p>
            <a:endParaRPr/>
          </a:p>
          <a:p>
            <a:pPr marL="0" indent="0">
              <a:buNone/>
            </a:pPr>
            <a:r>
              <a:rPr lang="en-US">
                <a:latin typeface="Courier New" pitchFamily="49" charset="0"/>
              </a:rPr>
              <a:t>  expect(wrapper.html()).toMatchSnapshot()</a:t>
            </a:r>
          </a:p>
          <a:p>
            <a:pPr marL="0" indent="0">
              <a:buNone/>
            </a:pPr>
            <a:r>
              <a:rPr lang="en-US">
                <a:latin typeface="Courier New" pitchFamily="49" charset="0"/>
              </a:rPr>
              <a:t>})</a:t>
            </a:r>
          </a:p>
        </p:txBody>
      </p:sp>
      <p:sp>
        <p:nvSpPr>
          <p:cNvPr id="2" name="Title 1"/>
          <p:cNvSpPr>
            <a:spLocks noGrp="1"/>
          </p:cNvSpPr>
          <p:nvPr>
            <p:ph type="title"/>
          </p:nvPr>
        </p:nvSpPr>
        <p:spPr/>
        <p:txBody>
          <a:bodyPr/>
          <a:lstStyle/>
          <a:p>
            <a:r>
              <a:t>Sample Snapshot Test</a:t>
            </a:r>
          </a:p>
        </p:txBody>
      </p:sp>
    </p:spTree>
    <p:extLst>
      <p:ext uri="{BB962C8B-B14F-4D97-AF65-F5344CB8AC3E}">
        <p14:creationId xmlns:p14="http://schemas.microsoft.com/office/powerpoint/2010/main" val="348709165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rmAutofit/>
          </a:bodyPr>
          <a:lstStyle/>
          <a:p>
            <a:pPr marL="342900" indent="-342900">
              <a:buFont typeface="Arial" panose="020B0604020202020204" pitchFamily="34" charset="0"/>
              <a:buChar char="•"/>
            </a:pPr>
            <a:r>
              <a:t>The official unit-testing utility library for Vue.</a:t>
            </a:r>
          </a:p>
          <a:p>
            <a:pPr marL="342900" indent="-342900">
              <a:buFont typeface="Arial" panose="020B0604020202020204" pitchFamily="34" charset="0"/>
              <a:buChar char="•"/>
            </a:pPr>
            <a:r>
              <a:t>Version 2 is the one built for Vue 3.</a:t>
            </a:r>
          </a:p>
          <a:p>
            <a:pPr marL="342900" indent="-342900">
              <a:buFont typeface="Arial" panose="020B0604020202020204" pitchFamily="34" charset="0"/>
              <a:buChar char="•"/>
            </a:pPr>
            <a:r>
              <a:t>Changes from version 1:</a:t>
            </a:r>
          </a:p>
          <a:p>
            <a:pPr marL="342900" lvl="1" indent="-342900">
              <a:buFont typeface="Arial" panose="020B0604020202020204" pitchFamily="34" charset="0"/>
              <a:buChar char="•"/>
            </a:pPr>
            <a:r>
              <a:t>propsData is now props</a:t>
            </a:r>
          </a:p>
          <a:p>
            <a:pPr marL="342900" lvl="1" indent="-342900">
              <a:buFont typeface="Arial" panose="020B0604020202020204" pitchFamily="34" charset="0"/>
              <a:buChar char="•"/>
            </a:pPr>
            <a:r>
              <a:t>createLocalVue is gone — use global.plugins</a:t>
            </a:r>
          </a:p>
          <a:p>
            <a:pPr marL="342900" lvl="1" indent="-342900">
              <a:buFont typeface="Arial" panose="020B0604020202020204" pitchFamily="34" charset="0"/>
              <a:buChar char="•"/>
            </a:pPr>
            <a:r>
              <a:t>stubs, mocks and provide moved under global</a:t>
            </a:r>
          </a:p>
          <a:p>
            <a:pPr marL="342900" lvl="1" indent="-342900">
              <a:buFont typeface="Arial" panose="020B0604020202020204" pitchFamily="34" charset="0"/>
              <a:buChar char="•"/>
            </a:pPr>
            <a:r>
              <a:t>setValue and trigger return a promise; await them</a:t>
            </a:r>
          </a:p>
        </p:txBody>
      </p:sp>
      <p:sp>
        <p:nvSpPr>
          <p:cNvPr id="2" name="Title 1"/>
          <p:cNvSpPr>
            <a:spLocks noGrp="1"/>
          </p:cNvSpPr>
          <p:nvPr>
            <p:ph type="title"/>
          </p:nvPr>
        </p:nvSpPr>
        <p:spPr/>
        <p:txBody>
          <a:bodyPr/>
          <a:lstStyle/>
          <a:p>
            <a:r>
              <a:t>Vue Test Utils</a:t>
            </a:r>
            <a:endParaRPr lang="en-US" dirty="0"/>
          </a:p>
        </p:txBody>
      </p:sp>
    </p:spTree>
    <p:extLst>
      <p:ext uri="{BB962C8B-B14F-4D97-AF65-F5344CB8AC3E}">
        <p14:creationId xmlns:p14="http://schemas.microsoft.com/office/powerpoint/2010/main" val="314034722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mount</a:t>
            </a:r>
          </a:p>
        </p:txBody>
      </p:sp>
      <p:sp>
        <p:nvSpPr>
          <p:cNvPr id="3" name="Content Placeholder 2"/>
          <p:cNvSpPr>
            <a:spLocks noGrp="1"/>
          </p:cNvSpPr>
          <p:nvPr>
            <p:ph idx="1"/>
          </p:nvPr>
        </p:nvSpPr>
        <p:spPr/>
        <p:txBody>
          <a:bodyPr/>
          <a:lstStyle/>
          <a:p>
            <a:r>
              <a:t>Creates a wrapper containing the mounted and rendered component, including all of its children.</a:t>
            </a:r>
          </a:p>
          <a:p>
            <a:endParaRPr/>
          </a:p>
          <a:p>
            <a:pPr marL="0" indent="0">
              <a:buNone/>
            </a:pPr>
            <a:r>
              <a:rPr lang="en-US">
                <a:latin typeface="Courier New" pitchFamily="49" charset="0"/>
              </a:rPr>
              <a:t>const wrapper = mount(Header, {</a:t>
            </a:r>
          </a:p>
          <a:p>
            <a:pPr marL="0" indent="0">
              <a:buNone/>
            </a:pPr>
            <a:r>
              <a:rPr lang="en-US">
                <a:latin typeface="Courier New" pitchFamily="49" charset="0"/>
              </a:rPr>
              <a:t>  props: { title: 'Conduit' },</a:t>
            </a:r>
          </a:p>
          <a:p>
            <a:pPr marL="0" indent="0">
              <a:buNone/>
            </a:pPr>
            <a:r>
              <a:rPr lang="en-US">
                <a:latin typeface="Courier New" pitchFamily="49" charset="0"/>
              </a:rPr>
              <a:t>  global: { plugins: [router] }</a:t>
            </a:r>
          </a:p>
          <a:p>
            <a:pPr marL="0" indent="0">
              <a:buNone/>
            </a:pPr>
            <a:r>
              <a:rPr lang="en-US">
                <a:latin typeface="Courier New" pitchFamily="49" charset="0"/>
              </a:rPr>
              <a:t>})</a:t>
            </a:r>
          </a:p>
        </p:txBody>
      </p:sp>
    </p:spTree>
    <p:extLst>
      <p:ext uri="{BB962C8B-B14F-4D97-AF65-F5344CB8AC3E}">
        <p14:creationId xmlns:p14="http://schemas.microsoft.com/office/powerpoint/2010/main" val="109322752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shallowMount</a:t>
            </a:r>
          </a:p>
        </p:txBody>
      </p:sp>
      <p:sp>
        <p:nvSpPr>
          <p:cNvPr id="3" name="Content Placeholder 2"/>
          <p:cNvSpPr>
            <a:spLocks noGrp="1"/>
          </p:cNvSpPr>
          <p:nvPr>
            <p:ph idx="1"/>
          </p:nvPr>
        </p:nvSpPr>
        <p:spPr/>
        <p:txBody>
          <a:bodyPr/>
          <a:lstStyle/>
          <a:p>
            <a:r>
              <a:t>Creates a wrapper containing the mounted and rendered component, with its child components stubbed out.</a:t>
            </a:r>
          </a:p>
          <a:p>
            <a:r>
              <a:t>Useful when a child would fetch data or need its own plugins.</a:t>
            </a:r>
          </a:p>
          <a:p>
            <a:endParaRPr/>
          </a:p>
          <a:p>
            <a:pPr marL="0" indent="0">
              <a:buNone/>
            </a:pPr>
            <a:r>
              <a:rPr lang="en-US">
                <a:latin typeface="Courier New" pitchFamily="49" charset="0"/>
              </a:rPr>
              <a:t>const wrapper = shallowMount(Home, {</a:t>
            </a:r>
          </a:p>
          <a:p>
            <a:pPr marL="0" indent="0">
              <a:buNone/>
            </a:pPr>
            <a:r>
              <a:rPr lang="en-US">
                <a:latin typeface="Courier New" pitchFamily="49" charset="0"/>
              </a:rPr>
              <a:t>  global: { plugins: [pinia, router] }</a:t>
            </a:r>
          </a:p>
          <a:p>
            <a:pPr marL="0" indent="0">
              <a:buNone/>
            </a:pPr>
            <a:r>
              <a:rPr lang="en-US">
                <a:latin typeface="Courier New" pitchFamily="49" charset="0"/>
              </a:rPr>
              <a:t>})</a:t>
            </a:r>
          </a:p>
        </p:txBody>
      </p:sp>
    </p:spTree>
    <p:extLst>
      <p:ext uri="{BB962C8B-B14F-4D97-AF65-F5344CB8AC3E}">
        <p14:creationId xmlns:p14="http://schemas.microsoft.com/office/powerpoint/2010/main" val="190487116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23: Testing with Vitest</a:t>
            </a:r>
          </a:p>
        </p:txBody>
      </p:sp>
      <p:sp>
        <p:nvSpPr>
          <p:cNvPr id="4" name="Content Placeholder 3">
            <a:extLst>
              <a:ext uri="{FF2B5EF4-FFF2-40B4-BE49-F238E27FC236}">
                <a16:creationId xmlns:a16="http://schemas.microsoft.com/office/drawing/2014/main" id="{8ABC6D08-318E-47F3-0E7E-509E6E7D4A6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2094713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6259-BE6A-8244-A4D2-7931FE4193E9}"/>
              </a:ext>
            </a:extLst>
          </p:cNvPr>
          <p:cNvSpPr>
            <a:spLocks noGrp="1"/>
          </p:cNvSpPr>
          <p:nvPr>
            <p:ph type="title"/>
          </p:nvPr>
        </p:nvSpPr>
        <p:spPr/>
        <p:txBody>
          <a:bodyPr/>
          <a:lstStyle/>
          <a:p>
            <a:r>
              <a:t>Testing in a Real Browser</a:t>
            </a:r>
          </a:p>
        </p:txBody>
      </p:sp>
      <p:sp>
        <p:nvSpPr>
          <p:cNvPr id="4" name="Text Placeholder 3">
            <a:extLst>
              <a:ext uri="{FF2B5EF4-FFF2-40B4-BE49-F238E27FC236}">
                <a16:creationId xmlns:a16="http://schemas.microsoft.com/office/drawing/2014/main" id="{65857A89-2775-024D-8C05-A1E7949AE5D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4621530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Browser and End-to-End Testing</a:t>
            </a:r>
          </a:p>
        </p:txBody>
      </p:sp>
      <p:sp>
        <p:nvSpPr>
          <p:cNvPr id="3" name="Text Placeholder 2"/>
          <p:cNvSpPr>
            <a:spLocks noGrp="1"/>
          </p:cNvSpPr>
          <p:nvPr>
            <p:ph type="body" idx="1"/>
          </p:nvPr>
        </p:nvSpPr>
        <p:spPr/>
        <p:txBody>
          <a:bodyPr/>
          <a:lstStyle/>
          <a:p>
            <a:r>
              <a:t>jsdom is a fast approximation of a browser, not a browser.</a:t>
            </a:r>
          </a:p>
          <a:p>
            <a:r>
              <a:t>Vitest browser mode runs the same tests in a real one, driven by Playwright or WebdriverIO.</a:t>
            </a:r>
          </a:p>
          <a:p>
            <a:r>
              <a:t>Playwright and Cypress drive the whole application end to end.</a:t>
            </a:r>
          </a:p>
          <a:p>
            <a:r>
              <a:t>Karma, which earlier versions of this course covered, was deprecated in 2023.</a:t>
            </a:r>
          </a:p>
        </p:txBody>
      </p:sp>
      <p:sp>
        <p:nvSpPr>
          <p:cNvPr id="4" name="Slide Number Placeholder 3"/>
          <p:cNvSpPr>
            <a:spLocks noGrp="1"/>
          </p:cNvSpPr>
          <p:nvPr>
            <p:ph type="sldNum" sz="quarter" idx="12"/>
          </p:nvPr>
        </p:nvSpPr>
        <p:spPr/>
        <p:txBody>
          <a:bodyPr/>
          <a:lstStyle/>
          <a:p>
            <a:fld id="{A839F4A7-500C-EC42-AE23-BEE4487EA55E}" type="slidenum">
              <a:rPr lang="en-US" smtClean="0"/>
              <a:t>251</a:t>
            </a:fld>
            <a:endParaRPr lang="en-US"/>
          </a:p>
        </p:txBody>
      </p:sp>
    </p:spTree>
    <p:extLst>
      <p:ext uri="{BB962C8B-B14F-4D97-AF65-F5344CB8AC3E}">
        <p14:creationId xmlns:p14="http://schemas.microsoft.com/office/powerpoint/2010/main" val="307065214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0B5C1-668D-A947-9416-5F0D01F82802}"/>
              </a:ext>
            </a:extLst>
          </p:cNvPr>
          <p:cNvSpPr>
            <a:spLocks noGrp="1"/>
          </p:cNvSpPr>
          <p:nvPr>
            <p:ph type="title"/>
          </p:nvPr>
        </p:nvSpPr>
        <p:spPr/>
        <p:txBody>
          <a:bodyPr/>
          <a:lstStyle/>
          <a:p>
            <a:r>
              <a:rPr lang="en-US"/>
              <a:t>Transitions and Animations</a:t>
            </a:r>
          </a:p>
        </p:txBody>
      </p:sp>
      <p:sp>
        <p:nvSpPr>
          <p:cNvPr id="4" name="Text Placeholder 3">
            <a:extLst>
              <a:ext uri="{FF2B5EF4-FFF2-40B4-BE49-F238E27FC236}">
                <a16:creationId xmlns:a16="http://schemas.microsoft.com/office/drawing/2014/main" id="{1722F3FE-C157-974E-A069-5A097450774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7159632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F4A82F-FC8E-F547-867E-CF7FA06C7BEB}"/>
              </a:ext>
            </a:extLst>
          </p:cNvPr>
          <p:cNvSpPr>
            <a:spLocks noGrp="1"/>
          </p:cNvSpPr>
          <p:nvPr>
            <p:ph type="title"/>
          </p:nvPr>
        </p:nvSpPr>
        <p:spPr/>
        <p:txBody>
          <a:bodyPr/>
          <a:lstStyle/>
          <a:p>
            <a:pPr marL="0" indent="0">
              <a:buNone/>
            </a:pPr>
            <a:r>
              <a:rPr lang="en-US">
                <a:latin typeface="Courier New" pitchFamily="49" charset="0"/>
              </a:rPr>
              <a:t>&lt;Transition&gt;</a:t>
            </a:r>
          </a:p>
        </p:txBody>
      </p:sp>
      <p:sp>
        <p:nvSpPr>
          <p:cNvPr id="6" name="Content Placeholder 5">
            <a:extLst>
              <a:ext uri="{FF2B5EF4-FFF2-40B4-BE49-F238E27FC236}">
                <a16:creationId xmlns:a16="http://schemas.microsoft.com/office/drawing/2014/main" id="{19105FFE-DCC1-3B4C-B5FA-263F9267DF29}"/>
              </a:ext>
            </a:extLst>
          </p:cNvPr>
          <p:cNvSpPr>
            <a:spLocks noGrp="1"/>
          </p:cNvSpPr>
          <p:nvPr>
            <p:ph idx="1"/>
          </p:nvPr>
        </p:nvSpPr>
        <p:spPr/>
        <p:txBody>
          <a:bodyPr/>
          <a:lstStyle/>
          <a:p>
            <a:r>
              <a:t>A built-in wrapper component</a:t>
            </a:r>
          </a:p>
          <a:p>
            <a:r>
              <a:t>Creates enter/leave transitions for the element inside it</a:t>
            </a:r>
          </a:p>
          <a:p>
            <a:r>
              <a:t>Can be used with:</a:t>
            </a:r>
          </a:p>
          <a:p>
            <a:pPr lvl="1"/>
            <a:r>
              <a:t>conditional rendering (v-if)</a:t>
            </a:r>
          </a:p>
          <a:p>
            <a:pPr lvl="1"/>
            <a:r>
              <a:t>conditional display (v-show)</a:t>
            </a:r>
          </a:p>
          <a:p>
            <a:pPr lvl="1"/>
            <a:r>
              <a:t>dynamic components</a:t>
            </a:r>
          </a:p>
          <a:p>
            <a:pPr lvl="1"/>
            <a:r>
              <a:t>a component root node</a:t>
            </a:r>
          </a:p>
          <a:p>
            <a:r>
              <a:t>&lt;TransitionGroup&gt; does the same for a list rendered with v-for</a:t>
            </a:r>
          </a:p>
        </p:txBody>
      </p:sp>
      <p:sp>
        <p:nvSpPr>
          <p:cNvPr id="4" name="Slide Number Placeholder 3">
            <a:extLst>
              <a:ext uri="{FF2B5EF4-FFF2-40B4-BE49-F238E27FC236}">
                <a16:creationId xmlns:a16="http://schemas.microsoft.com/office/drawing/2014/main" id="{EF44FC81-C38E-964A-A74A-CF8E6306650E}"/>
              </a:ext>
            </a:extLst>
          </p:cNvPr>
          <p:cNvSpPr>
            <a:spLocks noGrp="1"/>
          </p:cNvSpPr>
          <p:nvPr>
            <p:ph type="sldNum" sz="quarter" idx="12"/>
          </p:nvPr>
        </p:nvSpPr>
        <p:spPr/>
        <p:txBody>
          <a:bodyPr/>
          <a:lstStyle/>
          <a:p>
            <a:fld id="{6FFFF67E-EC6A-B940-8DC7-BF9A5925C934}" type="slidenum">
              <a:rPr lang="en-US" smtClean="0"/>
              <a:t>253</a:t>
            </a:fld>
            <a:endParaRPr lang="en-US"/>
          </a:p>
        </p:txBody>
      </p:sp>
    </p:spTree>
    <p:extLst>
      <p:ext uri="{BB962C8B-B14F-4D97-AF65-F5344CB8AC3E}">
        <p14:creationId xmlns:p14="http://schemas.microsoft.com/office/powerpoint/2010/main" val="359033272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4C91-9C93-2248-A15C-06A3884DA9B5}"/>
              </a:ext>
            </a:extLst>
          </p:cNvPr>
          <p:cNvSpPr>
            <a:spLocks noGrp="1"/>
          </p:cNvSpPr>
          <p:nvPr>
            <p:ph type="title"/>
          </p:nvPr>
        </p:nvSpPr>
        <p:spPr/>
        <p:txBody>
          <a:bodyPr/>
          <a:lstStyle/>
          <a:p>
            <a:r>
              <a:t>How &lt;Transition&gt; works</a:t>
            </a:r>
          </a:p>
        </p:txBody>
      </p:sp>
      <p:sp>
        <p:nvSpPr>
          <p:cNvPr id="3" name="Content Placeholder 2">
            <a:extLst>
              <a:ext uri="{FF2B5EF4-FFF2-40B4-BE49-F238E27FC236}">
                <a16:creationId xmlns:a16="http://schemas.microsoft.com/office/drawing/2014/main" id="{3DE88E2F-E040-1A4B-A18C-D14D7B6A8D02}"/>
              </a:ext>
            </a:extLst>
          </p:cNvPr>
          <p:cNvSpPr>
            <a:spLocks noGrp="1"/>
          </p:cNvSpPr>
          <p:nvPr>
            <p:ph idx="1"/>
          </p:nvPr>
        </p:nvSpPr>
        <p:spPr/>
        <p:txBody>
          <a:bodyPr/>
          <a:lstStyle/>
          <a:p>
            <a:r>
              <a:t>When the wrapped element is inserted or removed...</a:t>
            </a:r>
          </a:p>
          <a:p>
            <a:endParaRPr/>
          </a:p>
          <a:p>
            <a:pPr marL="0" indent="0">
              <a:buNone/>
            </a:pPr>
            <a:r>
              <a:rPr lang="en-US">
                <a:latin typeface="Courier New" pitchFamily="49" charset="0"/>
              </a:rPr>
              <a:t>&lt;button @click="show = !show"&gt;Toggle&lt;/button&gt;</a:t>
            </a:r>
          </a:p>
          <a:p>
            <a:endParaRPr/>
          </a:p>
          <a:p>
            <a:pPr marL="0" indent="0">
              <a:buNone/>
            </a:pPr>
            <a:r>
              <a:rPr lang="en-US">
                <a:latin typeface="Courier New" pitchFamily="49" charset="0"/>
              </a:rPr>
              <a:t>&lt;Transition name="fade"&gt;</a:t>
            </a:r>
          </a:p>
          <a:p>
            <a:pPr marL="0" indent="0">
              <a:buNone/>
            </a:pPr>
            <a:r>
              <a:rPr lang="en-US">
                <a:latin typeface="Courier New" pitchFamily="49" charset="0"/>
              </a:rPr>
              <a:t>  &lt;p v-if="show"&gt;hello&lt;/p&gt;</a:t>
            </a:r>
          </a:p>
          <a:p>
            <a:pPr marL="0" indent="0">
              <a:buNone/>
            </a:pPr>
            <a:r>
              <a:rPr lang="en-US">
                <a:latin typeface="Courier New" pitchFamily="49" charset="0"/>
              </a:rPr>
              <a:t>&lt;/Transition&gt;</a:t>
            </a:r>
          </a:p>
        </p:txBody>
      </p:sp>
      <p:sp>
        <p:nvSpPr>
          <p:cNvPr id="4" name="Slide Number Placeholder 3">
            <a:extLst>
              <a:ext uri="{FF2B5EF4-FFF2-40B4-BE49-F238E27FC236}">
                <a16:creationId xmlns:a16="http://schemas.microsoft.com/office/drawing/2014/main" id="{6FB702F1-686A-B647-BF15-CCCAAEB520DF}"/>
              </a:ext>
            </a:extLst>
          </p:cNvPr>
          <p:cNvSpPr>
            <a:spLocks noGrp="1"/>
          </p:cNvSpPr>
          <p:nvPr>
            <p:ph type="sldNum" sz="quarter" idx="12"/>
          </p:nvPr>
        </p:nvSpPr>
        <p:spPr/>
        <p:txBody>
          <a:bodyPr/>
          <a:lstStyle/>
          <a:p>
            <a:fld id="{6FFFF67E-EC6A-B940-8DC7-BF9A5925C934}" type="slidenum">
              <a:rPr lang="en-US" smtClean="0"/>
              <a:t>254</a:t>
            </a:fld>
            <a:endParaRPr lang="en-US"/>
          </a:p>
        </p:txBody>
      </p:sp>
    </p:spTree>
    <p:extLst>
      <p:ext uri="{BB962C8B-B14F-4D97-AF65-F5344CB8AC3E}">
        <p14:creationId xmlns:p14="http://schemas.microsoft.com/office/powerpoint/2010/main" val="187552918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94C91-9C93-2248-A15C-06A3884DA9B5}"/>
              </a:ext>
            </a:extLst>
          </p:cNvPr>
          <p:cNvSpPr>
            <a:spLocks noGrp="1"/>
          </p:cNvSpPr>
          <p:nvPr>
            <p:ph type="title"/>
          </p:nvPr>
        </p:nvSpPr>
        <p:spPr/>
        <p:txBody>
          <a:bodyPr/>
          <a:lstStyle/>
          <a:p>
            <a:r>
              <a:t>The transition classes</a:t>
            </a:r>
          </a:p>
        </p:txBody>
      </p:sp>
      <p:sp>
        <p:nvSpPr>
          <p:cNvPr id="3" name="Content Placeholder 2">
            <a:extLst>
              <a:ext uri="{FF2B5EF4-FFF2-40B4-BE49-F238E27FC236}">
                <a16:creationId xmlns:a16="http://schemas.microsoft.com/office/drawing/2014/main" id="{3DE88E2F-E040-1A4B-A18C-D14D7B6A8D02}"/>
              </a:ext>
            </a:extLst>
          </p:cNvPr>
          <p:cNvSpPr>
            <a:spLocks noGrp="1"/>
          </p:cNvSpPr>
          <p:nvPr>
            <p:ph idx="1"/>
          </p:nvPr>
        </p:nvSpPr>
        <p:spPr/>
        <p:txBody>
          <a:bodyPr/>
          <a:lstStyle/>
          <a:p>
            <a:r>
              <a:t>Vue looks for CSS transitions or animations named after the transition's name attribute, and applies these classes in order:</a:t>
            </a:r>
          </a:p>
          <a:p>
            <a:pPr lvl="1"/>
            <a:r>
              <a:t>v-enter-from — the starting state, applied before insertion</a:t>
            </a:r>
          </a:p>
          <a:p>
            <a:pPr lvl="1"/>
            <a:r>
              <a:t>v-enter-active — applied for the whole entering phase</a:t>
            </a:r>
          </a:p>
          <a:p>
            <a:pPr lvl="1"/>
            <a:r>
              <a:t>v-enter-to — the end state of the enter transition</a:t>
            </a:r>
          </a:p>
          <a:p>
            <a:pPr lvl="1"/>
            <a:r>
              <a:t>v-leave-from — the starting state of the leave transition</a:t>
            </a:r>
          </a:p>
          <a:p>
            <a:pPr lvl="1"/>
            <a:r>
              <a:t>v-leave-active — applied for the whole leaving phase</a:t>
            </a:r>
          </a:p>
          <a:p>
            <a:pPr lvl="1"/>
            <a:r>
              <a:t>v-leave-to — the end state, applied until the animation finishes</a:t>
            </a:r>
          </a:p>
          <a:p>
            <a:r>
              <a:t>Vue 2 called the first and fourth v-enter and v-leave. Renaming them is the most common reason an old example stops animating.</a:t>
            </a:r>
          </a:p>
        </p:txBody>
      </p:sp>
      <p:sp>
        <p:nvSpPr>
          <p:cNvPr id="4" name="Slide Number Placeholder 3">
            <a:extLst>
              <a:ext uri="{FF2B5EF4-FFF2-40B4-BE49-F238E27FC236}">
                <a16:creationId xmlns:a16="http://schemas.microsoft.com/office/drawing/2014/main" id="{6FB702F1-686A-B647-BF15-CCCAAEB520DF}"/>
              </a:ext>
            </a:extLst>
          </p:cNvPr>
          <p:cNvSpPr>
            <a:spLocks noGrp="1"/>
          </p:cNvSpPr>
          <p:nvPr>
            <p:ph type="sldNum" sz="quarter" idx="12"/>
          </p:nvPr>
        </p:nvSpPr>
        <p:spPr/>
        <p:txBody>
          <a:bodyPr/>
          <a:lstStyle/>
          <a:p>
            <a:fld id="{6FFFF67E-EC6A-B940-8DC7-BF9A5925C934}" type="slidenum">
              <a:rPr lang="en-US" smtClean="0"/>
              <a:t>255</a:t>
            </a:fld>
            <a:endParaRPr lang="en-US"/>
          </a:p>
        </p:txBody>
      </p:sp>
    </p:spTree>
    <p:extLst>
      <p:ext uri="{BB962C8B-B14F-4D97-AF65-F5344CB8AC3E}">
        <p14:creationId xmlns:p14="http://schemas.microsoft.com/office/powerpoint/2010/main" val="54506626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p:txBody>
          <a:bodyPr/>
          <a:lstStyle/>
          <a:p>
            <a:r>
              <a:t>Defining the CSS</a:t>
            </a:r>
          </a:p>
        </p:txBody>
      </p:sp>
      <p:sp>
        <p:nvSpPr>
          <p:cNvPr id="3" name="Content Placeholder 2">
            <a:extLst>
              <a:ext uri="{FF2B5EF4-FFF2-40B4-BE49-F238E27FC236}">
                <a16:creationId xmlns:a16="http://schemas.microsoft.com/office/drawing/2014/main" id="{8E3D38EA-3032-074B-9733-2E8D532F9863}"/>
              </a:ext>
            </a:extLst>
          </p:cNvPr>
          <p:cNvSpPr>
            <a:spLocks noGrp="1"/>
          </p:cNvSpPr>
          <p:nvPr>
            <p:ph idx="1"/>
          </p:nvPr>
        </p:nvSpPr>
        <p:spPr/>
        <p:txBody>
          <a:bodyPr/>
          <a:lstStyle/>
          <a:p>
            <a:r>
              <a:t>.fade-enter-active,</a:t>
            </a:r>
          </a:p>
          <a:p>
            <a:r>
              <a:t>.fade-leave-active {</a:t>
            </a:r>
          </a:p>
          <a:p>
            <a:pPr marL="0" indent="0">
              <a:buNone/>
            </a:pPr>
            <a:r>
              <a:rPr lang="en-US">
                <a:latin typeface="Courier New" pitchFamily="49" charset="0"/>
              </a:rPr>
              <a:t>  transition: all 0.3s ease;</a:t>
            </a:r>
          </a:p>
          <a:p>
            <a:pPr marL="0" indent="0">
              <a:buNone/>
            </a:pPr>
            <a:r>
              <a:rPr lang="en-US">
                <a:latin typeface="Courier New" pitchFamily="49" charset="0"/>
              </a:rPr>
              <a:t>}</a:t>
            </a:r>
          </a:p>
          <a:p>
            <a:endParaRPr/>
          </a:p>
          <a:p>
            <a:r>
              <a:t>.fade-enter-from,</a:t>
            </a:r>
          </a:p>
          <a:p>
            <a:r>
              <a:t>.fade-leave-to {</a:t>
            </a:r>
          </a:p>
          <a:p>
            <a:pPr marL="0" indent="0">
              <a:buNone/>
            </a:pPr>
            <a:r>
              <a:rPr lang="en-US">
                <a:latin typeface="Courier New" pitchFamily="49" charset="0"/>
              </a:rPr>
              <a:t>  transform: translateX(10px);</a:t>
            </a:r>
          </a:p>
          <a:p>
            <a:pPr marL="0" indent="0">
              <a:buNone/>
            </a:pPr>
            <a:r>
              <a:rPr lang="en-US">
                <a:latin typeface="Courier New" pitchFamily="49" charset="0"/>
              </a:rPr>
              <a:t>  opacity: 0;</a:t>
            </a:r>
          </a:p>
          <a:p>
            <a:pPr marL="0" indent="0">
              <a:buNone/>
            </a:pPr>
            <a:r>
              <a:rPr lang="en-US">
                <a:latin typeface="Courier New" pitchFamily="49" charset="0"/>
              </a:rPr>
              <a:t>}</a:t>
            </a:r>
          </a:p>
        </p:txBody>
      </p:sp>
      <p:sp>
        <p:nvSpPr>
          <p:cNvPr id="4" name="Slide Number Placeholder 3">
            <a:extLst>
              <a:ext uri="{FF2B5EF4-FFF2-40B4-BE49-F238E27FC236}">
                <a16:creationId xmlns:a16="http://schemas.microsoft.com/office/drawing/2014/main" id="{F27B1296-F5B7-BF46-B85B-06030A91C119}"/>
              </a:ext>
            </a:extLst>
          </p:cNvPr>
          <p:cNvSpPr>
            <a:spLocks noGrp="1"/>
          </p:cNvSpPr>
          <p:nvPr>
            <p:ph type="sldNum" sz="quarter" idx="12"/>
          </p:nvPr>
        </p:nvSpPr>
        <p:spPr/>
        <p:txBody>
          <a:bodyPr/>
          <a:lstStyle/>
          <a:p>
            <a:fld id="{6FFFF67E-EC6A-B940-8DC7-BF9A5925C934}" type="slidenum">
              <a:rPr lang="en-US" smtClean="0"/>
              <a:t>256</a:t>
            </a:fld>
            <a:endParaRPr lang="en-US"/>
          </a:p>
        </p:txBody>
      </p:sp>
    </p:spTree>
    <p:extLst>
      <p:ext uri="{BB962C8B-B14F-4D97-AF65-F5344CB8AC3E}">
        <p14:creationId xmlns:p14="http://schemas.microsoft.com/office/powerpoint/2010/main" val="32754848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p:txBody>
          <a:bodyPr/>
          <a:lstStyle/>
          <a:p>
            <a:r>
              <a:t>JavaScript hooks</a:t>
            </a:r>
          </a:p>
        </p:txBody>
      </p:sp>
      <p:sp>
        <p:nvSpPr>
          <p:cNvPr id="3" name="Content Placeholder 2">
            <a:extLst>
              <a:ext uri="{FF2B5EF4-FFF2-40B4-BE49-F238E27FC236}">
                <a16:creationId xmlns:a16="http://schemas.microsoft.com/office/drawing/2014/main" id="{8E3D38EA-3032-074B-9733-2E8D532F9863}"/>
              </a:ext>
            </a:extLst>
          </p:cNvPr>
          <p:cNvSpPr>
            <a:spLocks noGrp="1"/>
          </p:cNvSpPr>
          <p:nvPr>
            <p:ph idx="1"/>
          </p:nvPr>
        </p:nvSpPr>
        <p:spPr/>
        <p:txBody>
          <a:bodyPr>
            <a:normAutofit fontScale="92500" lnSpcReduction="20000"/>
          </a:bodyPr>
          <a:lstStyle/>
          <a:p>
            <a:r>
              <a:t>&lt;Transition</a:t>
            </a:r>
          </a:p>
          <a:p>
            <a:pPr marL="0" indent="0">
              <a:buNone/>
            </a:pPr>
            <a:r>
              <a:rPr lang="en-US">
                <a:latin typeface="Courier New" pitchFamily="49" charset="0"/>
              </a:rPr>
              <a:t>  @before-enter="beforeEnter"</a:t>
            </a:r>
          </a:p>
          <a:p>
            <a:pPr marL="0" indent="0">
              <a:buNone/>
            </a:pPr>
            <a:r>
              <a:rPr lang="en-US">
                <a:latin typeface="Courier New" pitchFamily="49" charset="0"/>
              </a:rPr>
              <a:t>  @enter="enter"</a:t>
            </a:r>
          </a:p>
          <a:p>
            <a:pPr marL="0" indent="0">
              <a:buNone/>
            </a:pPr>
            <a:r>
              <a:rPr lang="en-US">
                <a:latin typeface="Courier New" pitchFamily="49" charset="0"/>
              </a:rPr>
              <a:t>  @after-enter="afterEnter"</a:t>
            </a:r>
          </a:p>
          <a:p>
            <a:pPr marL="0" indent="0">
              <a:buNone/>
            </a:pPr>
            <a:r>
              <a:rPr lang="en-US">
                <a:latin typeface="Courier New" pitchFamily="49" charset="0"/>
              </a:rPr>
              <a:t>  @enter-cancelled="enterCancelled"</a:t>
            </a:r>
          </a:p>
          <a:p>
            <a:pPr marL="0" indent="0">
              <a:buNone/>
            </a:pPr>
            <a:r>
              <a:rPr lang="en-US">
                <a:latin typeface="Courier New" pitchFamily="49" charset="0"/>
              </a:rPr>
              <a:t>  @before-leave="beforeLeave"</a:t>
            </a:r>
          </a:p>
          <a:p>
            <a:pPr marL="0" indent="0">
              <a:buNone/>
            </a:pPr>
            <a:r>
              <a:rPr lang="en-US">
                <a:latin typeface="Courier New" pitchFamily="49" charset="0"/>
              </a:rPr>
              <a:t>  @leave="leave"</a:t>
            </a:r>
          </a:p>
          <a:p>
            <a:pPr marL="0" indent="0">
              <a:buNone/>
            </a:pPr>
            <a:r>
              <a:rPr lang="en-US">
                <a:latin typeface="Courier New" pitchFamily="49" charset="0"/>
              </a:rPr>
              <a:t>  @after-leave="afterLeave"</a:t>
            </a:r>
          </a:p>
          <a:p>
            <a:pPr marL="0" indent="0">
              <a:buNone/>
            </a:pPr>
            <a:r>
              <a:rPr lang="en-US">
                <a:latin typeface="Courier New" pitchFamily="49" charset="0"/>
              </a:rPr>
              <a:t>  @leave-cancelled="leaveCancelled"</a:t>
            </a:r>
          </a:p>
          <a:p>
            <a:pPr marL="0" indent="0">
              <a:buNone/>
            </a:pPr>
            <a:r>
              <a:rPr lang="en-US">
                <a:latin typeface="Courier New" pitchFamily="49" charset="0"/>
              </a:rPr>
              <a:t>  :css="false"</a:t>
            </a:r>
          </a:p>
          <a:p>
            <a:r>
              <a:t>&gt;</a:t>
            </a:r>
          </a:p>
          <a:p>
            <a:pPr marL="0" indent="0">
              <a:buNone/>
            </a:pPr>
            <a:r>
              <a:rPr lang="en-US">
                <a:latin typeface="Courier New" pitchFamily="49" charset="0"/>
              </a:rPr>
              <a:t>  &lt;p v-if="show"&gt;hello&lt;/p&gt;</a:t>
            </a:r>
          </a:p>
          <a:p>
            <a:pPr marL="0" indent="0">
              <a:buNone/>
            </a:pPr>
            <a:r>
              <a:rPr lang="en-US">
                <a:latin typeface="Courier New" pitchFamily="49" charset="0"/>
              </a:rPr>
              <a:t>&lt;/Transition&gt;</a:t>
            </a:r>
          </a:p>
        </p:txBody>
      </p:sp>
      <p:sp>
        <p:nvSpPr>
          <p:cNvPr id="4" name="Slide Number Placeholder 3">
            <a:extLst>
              <a:ext uri="{FF2B5EF4-FFF2-40B4-BE49-F238E27FC236}">
                <a16:creationId xmlns:a16="http://schemas.microsoft.com/office/drawing/2014/main" id="{F27B1296-F5B7-BF46-B85B-06030A91C119}"/>
              </a:ext>
            </a:extLst>
          </p:cNvPr>
          <p:cNvSpPr>
            <a:spLocks noGrp="1"/>
          </p:cNvSpPr>
          <p:nvPr>
            <p:ph type="sldNum" sz="quarter" idx="12"/>
          </p:nvPr>
        </p:nvSpPr>
        <p:spPr/>
        <p:txBody>
          <a:bodyPr/>
          <a:lstStyle/>
          <a:p>
            <a:fld id="{6FFFF67E-EC6A-B940-8DC7-BF9A5925C934}" type="slidenum">
              <a:rPr lang="en-US" smtClean="0"/>
              <a:t>257</a:t>
            </a:fld>
            <a:endParaRPr lang="en-US"/>
          </a:p>
        </p:txBody>
      </p:sp>
    </p:spTree>
    <p:extLst>
      <p:ext uri="{BB962C8B-B14F-4D97-AF65-F5344CB8AC3E}">
        <p14:creationId xmlns:p14="http://schemas.microsoft.com/office/powerpoint/2010/main" val="396932115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7781-8094-5D4A-A9C6-AF327CCBB146}"/>
              </a:ext>
            </a:extLst>
          </p:cNvPr>
          <p:cNvSpPr>
            <a:spLocks noGrp="1"/>
          </p:cNvSpPr>
          <p:nvPr>
            <p:ph type="title"/>
          </p:nvPr>
        </p:nvSpPr>
        <p:spPr/>
        <p:txBody>
          <a:bodyPr/>
          <a:lstStyle/>
          <a:p>
            <a:r>
              <a:t>Using the JavaScript hooks</a:t>
            </a:r>
          </a:p>
        </p:txBody>
      </p:sp>
      <p:sp>
        <p:nvSpPr>
          <p:cNvPr id="3" name="Content Placeholder 2">
            <a:extLst>
              <a:ext uri="{FF2B5EF4-FFF2-40B4-BE49-F238E27FC236}">
                <a16:creationId xmlns:a16="http://schemas.microsoft.com/office/drawing/2014/main" id="{8E3D38EA-3032-074B-9733-2E8D532F9863}"/>
              </a:ext>
            </a:extLst>
          </p:cNvPr>
          <p:cNvSpPr>
            <a:spLocks noGrp="1"/>
          </p:cNvSpPr>
          <p:nvPr>
            <p:ph idx="1"/>
          </p:nvPr>
        </p:nvSpPr>
        <p:spPr/>
        <p:txBody>
          <a:bodyPr>
            <a:normAutofit fontScale="92500" lnSpcReduction="20000"/>
          </a:bodyPr>
          <a:lstStyle/>
          <a:p>
            <a:r>
              <a:t>Declare the handlers in &lt;script setup&gt;.</a:t>
            </a:r>
          </a:p>
          <a:p>
            <a:endParaRPr/>
          </a:p>
          <a:p>
            <a:pPr marL="0" indent="0">
              <a:buNone/>
            </a:pPr>
            <a:r>
              <a:rPr lang="en-US">
                <a:latin typeface="Courier New" pitchFamily="49" charset="0"/>
              </a:rPr>
              <a:t>function beforeEnter(el) {</a:t>
            </a:r>
          </a:p>
          <a:p>
            <a:pPr marL="0" indent="0">
              <a:buNone/>
            </a:pPr>
            <a:r>
              <a:rPr lang="en-US">
                <a:latin typeface="Courier New" pitchFamily="49" charset="0"/>
              </a:rPr>
              <a:t>  el.style.opacity = 0</a:t>
            </a:r>
          </a:p>
          <a:p>
            <a:pPr marL="0" indent="0">
              <a:buNone/>
            </a:pPr>
            <a:r>
              <a:rPr lang="en-US">
                <a:latin typeface="Courier New" pitchFamily="49" charset="0"/>
              </a:rPr>
              <a:t>}</a:t>
            </a:r>
          </a:p>
          <a:p>
            <a:endParaRPr/>
          </a:p>
          <a:p>
            <a:pPr marL="0" indent="0">
              <a:buNone/>
            </a:pPr>
            <a:r>
              <a:rPr lang="en-US">
                <a:latin typeface="Courier New" pitchFamily="49" charset="0"/>
              </a:rPr>
              <a:t>function enter(el, done) {</a:t>
            </a:r>
          </a:p>
          <a:p>
            <a:pPr marL="0" indent="0">
              <a:buNone/>
            </a:pPr>
            <a:r>
              <a:rPr lang="en-US">
                <a:latin typeface="Courier New" pitchFamily="49" charset="0"/>
              </a:rPr>
              <a:t>  // call done() when the animation finishes</a:t>
            </a:r>
          </a:p>
          <a:p>
            <a:pPr marL="0" indent="0">
              <a:buNone/>
            </a:pPr>
            <a:r>
              <a:rPr lang="en-US">
                <a:latin typeface="Courier New" pitchFamily="49" charset="0"/>
              </a:rPr>
              <a:t>  done()</a:t>
            </a:r>
          </a:p>
          <a:p>
            <a:pPr marL="0" indent="0">
              <a:buNone/>
            </a:pPr>
            <a:r>
              <a:rPr lang="en-US">
                <a:latin typeface="Courier New" pitchFamily="49" charset="0"/>
              </a:rPr>
              <a:t>}</a:t>
            </a:r>
          </a:p>
          <a:p>
            <a:endParaRPr/>
          </a:p>
          <a:p>
            <a:pPr marL="0" indent="0">
              <a:buNone/>
            </a:pPr>
            <a:r>
              <a:rPr lang="en-US">
                <a:latin typeface="Courier New" pitchFamily="49" charset="0"/>
              </a:rPr>
              <a:t>// Set :css="false" so Vue does not also wait for CSS.</a:t>
            </a:r>
          </a:p>
        </p:txBody>
      </p:sp>
      <p:sp>
        <p:nvSpPr>
          <p:cNvPr id="4" name="Slide Number Placeholder 3">
            <a:extLst>
              <a:ext uri="{FF2B5EF4-FFF2-40B4-BE49-F238E27FC236}">
                <a16:creationId xmlns:a16="http://schemas.microsoft.com/office/drawing/2014/main" id="{F27B1296-F5B7-BF46-B85B-06030A91C119}"/>
              </a:ext>
            </a:extLst>
          </p:cNvPr>
          <p:cNvSpPr>
            <a:spLocks noGrp="1"/>
          </p:cNvSpPr>
          <p:nvPr>
            <p:ph type="sldNum" sz="quarter" idx="12"/>
          </p:nvPr>
        </p:nvSpPr>
        <p:spPr/>
        <p:txBody>
          <a:bodyPr/>
          <a:lstStyle/>
          <a:p>
            <a:fld id="{6FFFF67E-EC6A-B940-8DC7-BF9A5925C934}" type="slidenum">
              <a:rPr lang="en-US" smtClean="0"/>
              <a:t>258</a:t>
            </a:fld>
            <a:endParaRPr lang="en-US"/>
          </a:p>
        </p:txBody>
      </p:sp>
    </p:spTree>
    <p:extLst>
      <p:ext uri="{BB962C8B-B14F-4D97-AF65-F5344CB8AC3E}">
        <p14:creationId xmlns:p14="http://schemas.microsoft.com/office/powerpoint/2010/main" val="375663894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33F8-6C78-EC4E-B9E3-646041C9ACF5}"/>
              </a:ext>
            </a:extLst>
          </p:cNvPr>
          <p:cNvSpPr>
            <a:spLocks noGrp="1"/>
          </p:cNvSpPr>
          <p:nvPr>
            <p:ph type="title"/>
          </p:nvPr>
        </p:nvSpPr>
        <p:spPr/>
        <p:txBody>
          <a:bodyPr/>
          <a:lstStyle/>
          <a:p>
            <a:r>
              <a:t>Custom Transition Classes</a:t>
            </a:r>
          </a:p>
        </p:txBody>
      </p:sp>
      <p:sp>
        <p:nvSpPr>
          <p:cNvPr id="3" name="Text Placeholder 2">
            <a:extLst>
              <a:ext uri="{FF2B5EF4-FFF2-40B4-BE49-F238E27FC236}">
                <a16:creationId xmlns:a16="http://schemas.microsoft.com/office/drawing/2014/main" id="{F0791A5B-7D27-194E-9269-2EEC2F2DD0DE}"/>
              </a:ext>
            </a:extLst>
          </p:cNvPr>
          <p:cNvSpPr>
            <a:spLocks noGrp="1"/>
          </p:cNvSpPr>
          <p:nvPr>
            <p:ph type="body" idx="1"/>
          </p:nvPr>
        </p:nvSpPr>
        <p:spPr/>
        <p:txBody>
          <a:bodyPr/>
          <a:lstStyle/>
          <a:p>
            <a:r>
              <a:t>Override the generated class names to plug in a CSS animation library:</a:t>
            </a:r>
          </a:p>
          <a:p>
            <a:pPr lvl="1"/>
            <a:r>
              <a:t>enter-from-class</a:t>
            </a:r>
          </a:p>
          <a:p>
            <a:pPr lvl="1"/>
            <a:r>
              <a:t>enter-active-class</a:t>
            </a:r>
          </a:p>
          <a:p>
            <a:pPr lvl="1"/>
            <a:r>
              <a:t>enter-to-class</a:t>
            </a:r>
          </a:p>
          <a:p>
            <a:pPr lvl="1"/>
            <a:r>
              <a:t>leave-from-class</a:t>
            </a:r>
          </a:p>
          <a:p>
            <a:pPr lvl="1"/>
            <a:r>
              <a:t>leave-active-class</a:t>
            </a:r>
          </a:p>
          <a:p>
            <a:pPr lvl="1"/>
            <a:r>
              <a:t>leave-to-class</a:t>
            </a:r>
          </a:p>
          <a:p>
            <a:r>
              <a:t>Vue 2 named the first and fourth enter-class and leave-class.</a:t>
            </a:r>
          </a:p>
        </p:txBody>
      </p:sp>
    </p:spTree>
    <p:extLst>
      <p:ext uri="{BB962C8B-B14F-4D97-AF65-F5344CB8AC3E}">
        <p14:creationId xmlns:p14="http://schemas.microsoft.com/office/powerpoint/2010/main" val="2034054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33F8-6C78-EC4E-B9E3-646041C9ACF5}"/>
              </a:ext>
            </a:extLst>
          </p:cNvPr>
          <p:cNvSpPr>
            <a:spLocks noGrp="1"/>
          </p:cNvSpPr>
          <p:nvPr>
            <p:ph type="title"/>
          </p:nvPr>
        </p:nvSpPr>
        <p:spPr/>
        <p:txBody>
          <a:bodyPr/>
          <a:lstStyle/>
          <a:p>
            <a:r>
              <a:t>Custom Transition Classes Example</a:t>
            </a:r>
          </a:p>
        </p:txBody>
      </p:sp>
      <p:sp>
        <p:nvSpPr>
          <p:cNvPr id="3" name="Text Placeholder 2">
            <a:extLst>
              <a:ext uri="{FF2B5EF4-FFF2-40B4-BE49-F238E27FC236}">
                <a16:creationId xmlns:a16="http://schemas.microsoft.com/office/drawing/2014/main" id="{F0791A5B-7D27-194E-9269-2EEC2F2DD0DE}"/>
              </a:ext>
            </a:extLst>
          </p:cNvPr>
          <p:cNvSpPr>
            <a:spLocks noGrp="1"/>
          </p:cNvSpPr>
          <p:nvPr>
            <p:ph type="body" idx="1"/>
          </p:nvPr>
        </p:nvSpPr>
        <p:spPr/>
        <p:txBody>
          <a:bodyPr>
            <a:normAutofit fontScale="92500" lnSpcReduction="20000"/>
          </a:bodyPr>
          <a:lstStyle/>
          <a:p>
            <a:pPr marL="0" indent="0">
              <a:buNone/>
            </a:pPr>
            <a:r>
              <a:t>&lt;link</a:t>
            </a:r>
          </a:p>
          <a:p>
            <a:pPr marL="0" indent="0">
              <a:buNone/>
            </a:pPr>
            <a:r>
              <a:rPr lang="en-US">
                <a:latin typeface="Courier New" pitchFamily="49" charset="0"/>
              </a:rPr>
              <a:t>  href="https://cdn.jsdelivr.net/npm/animate.css@4.1.1"</a:t>
            </a:r>
          </a:p>
          <a:p>
            <a:pPr marL="0" indent="0">
              <a:buNone/>
            </a:pPr>
            <a:r>
              <a:rPr lang="en-US">
                <a:latin typeface="Courier New" pitchFamily="49" charset="0"/>
              </a:rPr>
              <a:t>  rel="stylesheet"&gt;</a:t>
            </a:r>
          </a:p>
          <a:p>
            <a:pPr marL="0" indent="0">
              <a:buNone/>
            </a:pPr>
            <a:endParaRPr/>
          </a:p>
          <a:p>
            <a:pPr marL="0" indent="0">
              <a:buNone/>
            </a:pPr>
            <a:r>
              <a:t>&lt;Transition</a:t>
            </a:r>
          </a:p>
          <a:p>
            <a:pPr marL="0" indent="0">
              <a:buNone/>
            </a:pPr>
            <a:r>
              <a:rPr lang="en-US">
                <a:latin typeface="Courier New" pitchFamily="49" charset="0"/>
              </a:rPr>
              <a:t>  enter-active-class="animate__animated animate__tada"</a:t>
            </a:r>
          </a:p>
          <a:p>
            <a:pPr marL="0" indent="0">
              <a:buNone/>
            </a:pPr>
            <a:r>
              <a:rPr lang="en-US">
                <a:latin typeface="Courier New" pitchFamily="49" charset="0"/>
              </a:rPr>
              <a:t>  leave-active-class="animate__animated animate__bounceOutRight"</a:t>
            </a:r>
          </a:p>
          <a:p>
            <a:pPr marL="0" indent="0">
              <a:buNone/>
            </a:pPr>
            <a:r>
              <a:t>&gt;</a:t>
            </a:r>
          </a:p>
          <a:p>
            <a:pPr marL="0" indent="0">
              <a:buNone/>
            </a:pPr>
            <a:r>
              <a:rPr lang="en-US">
                <a:latin typeface="Courier New" pitchFamily="49" charset="0"/>
              </a:rPr>
              <a:t>  &lt;p v-if="show"&gt;hello&lt;/p&gt;</a:t>
            </a:r>
          </a:p>
          <a:p>
            <a:pPr marL="0" indent="0">
              <a:buNone/>
            </a:pPr>
            <a:r>
              <a:rPr lang="en-US">
                <a:latin typeface="Courier New" pitchFamily="49" charset="0"/>
              </a:rPr>
              <a:t>&lt;/Transition&gt;</a:t>
            </a:r>
          </a:p>
        </p:txBody>
      </p:sp>
    </p:spTree>
    <p:extLst>
      <p:ext uri="{BB962C8B-B14F-4D97-AF65-F5344CB8AC3E}">
        <p14:creationId xmlns:p14="http://schemas.microsoft.com/office/powerpoint/2010/main" val="321236971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1171-8594-8940-B186-F2350DF2B870}"/>
              </a:ext>
            </a:extLst>
          </p:cNvPr>
          <p:cNvSpPr>
            <a:spLocks noGrp="1"/>
          </p:cNvSpPr>
          <p:nvPr>
            <p:ph type="title"/>
          </p:nvPr>
        </p:nvSpPr>
        <p:spPr/>
        <p:txBody>
          <a:bodyPr>
            <a:normAutofit/>
          </a:bodyPr>
          <a:lstStyle/>
          <a:p>
            <a:r>
              <a:rPr lang="en-US"/>
              <a:t>Lab 24: Transitions and Animation</a:t>
            </a:r>
          </a:p>
        </p:txBody>
      </p:sp>
      <p:sp>
        <p:nvSpPr>
          <p:cNvPr id="3" name="Content Placeholder 2">
            <a:extLst>
              <a:ext uri="{FF2B5EF4-FFF2-40B4-BE49-F238E27FC236}">
                <a16:creationId xmlns:a16="http://schemas.microsoft.com/office/drawing/2014/main" id="{6E1C854D-C7FA-1C4D-B2BA-281014CC1066}"/>
              </a:ext>
            </a:extLst>
          </p:cNvPr>
          <p:cNvSpPr>
            <a:spLocks noGrp="1"/>
          </p:cNvSpPr>
          <p:nvPr>
            <p:ph idx="1"/>
          </p:nvPr>
        </p:nvSpPr>
        <p:spPr/>
        <p:txBody>
          <a:bodyPr/>
          <a:lstStyle/>
          <a:p>
            <a:r>
              <a:rPr lang="en-US" dirty="0"/>
              <a:t>Add a Remove From Feed icon (maybe a trash can) to each article.</a:t>
            </a:r>
          </a:p>
          <a:p>
            <a:r>
              <a:rPr lang="en-US" dirty="0"/>
              <a:t>When clicked, it should remove the article from the feed.</a:t>
            </a:r>
          </a:p>
          <a:p>
            <a:r>
              <a:rPr lang="en-US" dirty="0"/>
              <a:t>Animate the transition of the article from showing to hiding</a:t>
            </a:r>
          </a:p>
        </p:txBody>
      </p:sp>
      <p:sp>
        <p:nvSpPr>
          <p:cNvPr id="4" name="Slide Number Placeholder 3">
            <a:extLst>
              <a:ext uri="{FF2B5EF4-FFF2-40B4-BE49-F238E27FC236}">
                <a16:creationId xmlns:a16="http://schemas.microsoft.com/office/drawing/2014/main" id="{7C41B965-4951-F043-A057-A48DA2422DB3}"/>
              </a:ext>
            </a:extLst>
          </p:cNvPr>
          <p:cNvSpPr>
            <a:spLocks noGrp="1"/>
          </p:cNvSpPr>
          <p:nvPr>
            <p:ph type="sldNum" sz="quarter" idx="12"/>
          </p:nvPr>
        </p:nvSpPr>
        <p:spPr/>
        <p:txBody>
          <a:bodyPr/>
          <a:lstStyle/>
          <a:p>
            <a:fld id="{6FFFF67E-EC6A-B940-8DC7-BF9A5925C934}" type="slidenum">
              <a:rPr lang="en-US" smtClean="0"/>
              <a:t>261</a:t>
            </a:fld>
            <a:endParaRPr lang="en-US"/>
          </a:p>
        </p:txBody>
      </p:sp>
    </p:spTree>
    <p:extLst>
      <p:ext uri="{BB962C8B-B14F-4D97-AF65-F5344CB8AC3E}">
        <p14:creationId xmlns:p14="http://schemas.microsoft.com/office/powerpoint/2010/main" val="304249267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rtl="0"/>
            <a:br>
              <a:rPr lang="en-US"/>
            </a:br>
            <a:r>
              <a:t>ES2015 (ES6) and Beyond</a:t>
            </a:r>
          </a:p>
        </p:txBody>
      </p:sp>
      <p:sp>
        <p:nvSpPr>
          <p:cNvPr id="5" name="Subtitle 4"/>
          <p:cNvSpPr>
            <a:spLocks noGrp="1"/>
          </p:cNvSpPr>
          <p:nvPr>
            <p:ph type="subTitle" idx="1"/>
          </p:nvPr>
        </p:nvSpPr>
        <p:spPr/>
        <p:txBody>
          <a:bodyPr>
            <a:normAutofit fontScale="92500" lnSpcReduction="20000"/>
          </a:bodyPr>
          <a:lstStyle/>
          <a:p>
            <a:pPr algn="l"/>
            <a:r>
              <a:rPr lang="en-US"/>
              <a:t>Objectives</a:t>
            </a:r>
          </a:p>
          <a:p>
            <a:pPr marL="342900" indent="-342900" algn="l">
              <a:buFont typeface="Arial"/>
              <a:buChar char="•"/>
            </a:pPr>
            <a:r>
              <a:rPr lang="en-US" sz="1800"/>
              <a:t>Learn what's new</a:t>
            </a:r>
          </a:p>
          <a:p>
            <a:pPr marL="342900" indent="-342900" algn="l">
              <a:buFont typeface="Arial"/>
              <a:buChar char="•"/>
            </a:pPr>
            <a:r>
              <a:rPr lang="en-US" sz="1800"/>
              <a:t>Use arrow functions and block-scoped variables</a:t>
            </a:r>
          </a:p>
          <a:p>
            <a:pPr marL="342900" indent="-342900" algn="l">
              <a:buFont typeface="Arial"/>
              <a:buChar char="•"/>
            </a:pPr>
            <a:r>
              <a:rPr lang="en-US" sz="1800"/>
              <a:t>Create generator functions</a:t>
            </a:r>
          </a:p>
          <a:p>
            <a:pPr marL="342900" indent="-342900" algn="l">
              <a:buFont typeface="Arial"/>
              <a:buChar char="•"/>
            </a:pPr>
            <a:r>
              <a:rPr lang="en-US" sz="1800"/>
              <a:t>Use classes and modules</a:t>
            </a:r>
          </a:p>
          <a:p>
            <a:pPr marL="342900" indent="-342900" algn="l">
              <a:buFont typeface="Arial"/>
              <a:buChar char="•"/>
            </a:pPr>
            <a:r>
              <a:rPr lang="en-US" sz="1800" err="1"/>
              <a:t>Transpile</a:t>
            </a:r>
            <a:r>
              <a:rPr lang="en-US" sz="1800"/>
              <a:t> ES6 code to ES5 with Babel</a:t>
            </a:r>
          </a:p>
        </p:txBody>
      </p:sp>
    </p:spTree>
    <p:extLst>
      <p:ext uri="{BB962C8B-B14F-4D97-AF65-F5344CB8AC3E}">
        <p14:creationId xmlns:p14="http://schemas.microsoft.com/office/powerpoint/2010/main" val="309219986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dirty="0"/>
              <a:t>Variable Scoping with </a:t>
            </a:r>
            <a:r>
              <a:rPr lang="en-US" dirty="0">
                <a:latin typeface="Courier New"/>
                <a:cs typeface="Courier New"/>
              </a:rPr>
              <a:t>const</a:t>
            </a:r>
            <a:r>
              <a:rPr lang="en-US" dirty="0"/>
              <a:t> and </a:t>
            </a:r>
            <a:r>
              <a:rPr lang="en-US" dirty="0">
                <a:latin typeface="Courier New"/>
                <a:cs typeface="Courier New"/>
              </a:rPr>
              <a:t>let</a:t>
            </a:r>
          </a:p>
        </p:txBody>
      </p:sp>
      <p:sp>
        <p:nvSpPr>
          <p:cNvPr id="5" name="Text Placeholder 4"/>
          <p:cNvSpPr>
            <a:spLocks noGrp="1"/>
          </p:cNvSpPr>
          <p:nvPr>
            <p:ph type="body" idx="1"/>
          </p:nvPr>
        </p:nvSpPr>
        <p:spPr/>
        <p:txBody>
          <a:bodyPr/>
          <a:lstStyle/>
          <a:p>
            <a:r>
              <a:rPr lang="en-US" dirty="0">
                <a:latin typeface="Courier New"/>
                <a:cs typeface="Courier New"/>
              </a:rPr>
              <a:t>const</a:t>
            </a:r>
            <a:r>
              <a:rPr lang="en-US" dirty="0"/>
              <a:t> creates constants</a:t>
            </a:r>
          </a:p>
          <a:p>
            <a:pPr lvl="1"/>
            <a:r>
              <a:rPr lang="en-US" dirty="0"/>
              <a:t>"immutable variables”</a:t>
            </a:r>
          </a:p>
          <a:p>
            <a:pPr lvl="1"/>
            <a:r>
              <a:rPr lang="en-US" dirty="0"/>
              <a:t>Cannot be reassigned new content</a:t>
            </a:r>
          </a:p>
          <a:p>
            <a:pPr lvl="1"/>
            <a:r>
              <a:rPr lang="en-US" dirty="0"/>
              <a:t>The assigned content isn't immutable, however,</a:t>
            </a:r>
          </a:p>
          <a:p>
            <a:pPr lvl="2"/>
            <a:r>
              <a:rPr lang="en-US" dirty="0"/>
              <a:t>If you assign an object to a constant, the object can still be changed.</a:t>
            </a:r>
          </a:p>
          <a:p>
            <a:r>
              <a:rPr lang="en-US" dirty="0">
                <a:latin typeface="Courier New"/>
                <a:cs typeface="Courier New"/>
              </a:rPr>
              <a:t>let</a:t>
            </a:r>
            <a:r>
              <a:rPr lang="en-US" dirty="0"/>
              <a:t> creates block-scoped variables</a:t>
            </a:r>
          </a:p>
          <a:p>
            <a:pPr lvl="1"/>
            <a:r>
              <a:rPr lang="en-US" dirty="0"/>
              <a:t>Main difference between</a:t>
            </a:r>
            <a:r>
              <a:rPr lang="en-US" dirty="0">
                <a:cs typeface="Courier New"/>
              </a:rPr>
              <a:t> </a:t>
            </a:r>
            <a:r>
              <a:rPr lang="en-US" dirty="0">
                <a:latin typeface="Courier New"/>
                <a:cs typeface="Courier New"/>
              </a:rPr>
              <a:t>let</a:t>
            </a:r>
            <a:r>
              <a:rPr lang="en-US" dirty="0">
                <a:cs typeface="Courier New"/>
              </a:rPr>
              <a:t> </a:t>
            </a:r>
            <a:r>
              <a:rPr lang="en-US" dirty="0"/>
              <a:t>and</a:t>
            </a:r>
            <a:r>
              <a:rPr lang="en-US" dirty="0">
                <a:cs typeface="Courier New"/>
              </a:rPr>
              <a:t> </a:t>
            </a:r>
            <a:r>
              <a:rPr lang="en-US" dirty="0">
                <a:latin typeface="Courier New"/>
                <a:cs typeface="Courier New"/>
              </a:rPr>
              <a:t>var</a:t>
            </a:r>
            <a:r>
              <a:rPr lang="en-US" dirty="0">
                <a:cs typeface="Courier New"/>
              </a:rPr>
              <a:t> </a:t>
            </a:r>
            <a:r>
              <a:rPr lang="en-US" dirty="0"/>
              <a:t>is that the scope of </a:t>
            </a:r>
            <a:r>
              <a:rPr lang="en-US" dirty="0">
                <a:latin typeface="Courier New"/>
                <a:cs typeface="Courier New"/>
              </a:rPr>
              <a:t>var</a:t>
            </a:r>
            <a:r>
              <a:rPr lang="en-US" dirty="0"/>
              <a:t> is the entire enclosing function.</a:t>
            </a:r>
          </a:p>
          <a:p>
            <a:pPr lvl="1"/>
            <a:r>
              <a:rPr lang="en-US" dirty="0"/>
              <a:t>Redeclaring a variable with </a:t>
            </a:r>
            <a:r>
              <a:rPr lang="en-US" dirty="0">
                <a:latin typeface="Courier New"/>
                <a:cs typeface="Courier New"/>
              </a:rPr>
              <a:t>let</a:t>
            </a:r>
            <a:r>
              <a:rPr lang="en-US" dirty="0"/>
              <a:t> raises a syntax error</a:t>
            </a:r>
          </a:p>
          <a:p>
            <a:pPr lvl="1"/>
            <a:r>
              <a:rPr lang="en-US" dirty="0"/>
              <a:t>No hoisting</a:t>
            </a:r>
          </a:p>
          <a:p>
            <a:pPr lvl="2"/>
            <a:r>
              <a:rPr lang="en-US" dirty="0"/>
              <a:t>Referencing a variable in the block before the declaration results in a </a:t>
            </a:r>
            <a:r>
              <a:rPr lang="en-US" dirty="0" err="1"/>
              <a:t>ReferenceError</a:t>
            </a:r>
            <a:r>
              <a:rPr lang="en-US" dirty="0"/>
              <a:t>.</a:t>
            </a:r>
          </a:p>
        </p:txBody>
      </p:sp>
      <p:sp>
        <p:nvSpPr>
          <p:cNvPr id="3" name="Slide Number Placeholder 2"/>
          <p:cNvSpPr>
            <a:spLocks noGrp="1"/>
          </p:cNvSpPr>
          <p:nvPr>
            <p:ph type="sldNum" sz="quarter" idx="12"/>
          </p:nvPr>
        </p:nvSpPr>
        <p:spPr/>
        <p:txBody>
          <a:bodyPr/>
          <a:lstStyle/>
          <a:p>
            <a:fld id="{6FFFF67E-EC6A-B940-8DC7-BF9A5925C934}" type="slidenum">
              <a:rPr lang="en-US" smtClean="0"/>
              <a:t>263</a:t>
            </a:fld>
            <a:endParaRPr lang="en-US"/>
          </a:p>
        </p:txBody>
      </p:sp>
    </p:spTree>
    <p:extLst>
      <p:ext uri="{BB962C8B-B14F-4D97-AF65-F5344CB8AC3E}">
        <p14:creationId xmlns:p14="http://schemas.microsoft.com/office/powerpoint/2010/main" val="3424125168"/>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New"/>
                <a:cs typeface="Courier New"/>
              </a:rPr>
              <a:t>let</a:t>
            </a:r>
            <a:r>
              <a:rPr lang="en-US" dirty="0"/>
              <a:t> vs. </a:t>
            </a:r>
            <a:r>
              <a:rPr lang="en-US" dirty="0">
                <a:latin typeface="Courier New"/>
                <a:cs typeface="Courier New"/>
              </a:rPr>
              <a:t>var</a:t>
            </a:r>
          </a:p>
        </p:txBody>
      </p:sp>
      <p:sp>
        <p:nvSpPr>
          <p:cNvPr id="5" name="Text Placeholder 4"/>
          <p:cNvSpPr>
            <a:spLocks noGrp="1"/>
          </p:cNvSpPr>
          <p:nvPr>
            <p:ph type="body" idx="1"/>
          </p:nvPr>
        </p:nvSpPr>
        <p:spPr/>
        <p:txBody>
          <a:bodyPr/>
          <a:lstStyle/>
          <a:p>
            <a:pPr marL="0" indent="0">
              <a:buNone/>
            </a:pPr>
            <a:r>
              <a:rPr lang="en-US" dirty="0">
                <a:latin typeface="Courier New"/>
                <a:cs typeface="Courier New"/>
              </a:rPr>
              <a:t>var</a:t>
            </a:r>
            <a:endParaRPr lang="en-US">
              <a:latin typeface="Courier New"/>
              <a:cs typeface="Courier New"/>
            </a:endParaRPr>
          </a:p>
        </p:txBody>
      </p:sp>
      <p:sp>
        <p:nvSpPr>
          <p:cNvPr id="6" name="Content Placeholder 5"/>
          <p:cNvSpPr>
            <a:spLocks noGrp="1"/>
          </p:cNvSpPr>
          <p:nvPr>
            <p:ph sz="half" idx="2"/>
          </p:nvPr>
        </p:nvSpPr>
        <p:spPr/>
        <p:txBody>
          <a:bodyPr>
            <a:normAutofit lnSpcReduction="10000"/>
          </a:bodyPr>
          <a:lstStyle/>
          <a:p>
            <a:pPr marL="0" indent="0">
              <a:buNone/>
            </a:pPr>
            <a:r>
              <a:rPr lang="en-US" dirty="0">
                <a:latin typeface="Courier New"/>
                <a:cs typeface="Courier New"/>
              </a:rPr>
              <a:t>var a = 5;</a:t>
            </a:r>
          </a:p>
          <a:p>
            <a:pPr marL="0" indent="0">
              <a:buNone/>
            </a:pPr>
            <a:r>
              <a:rPr lang="en-US" dirty="0">
                <a:latin typeface="Courier New"/>
                <a:cs typeface="Courier New"/>
              </a:rPr>
              <a:t>var b = 10;</a:t>
            </a:r>
          </a:p>
          <a:p>
            <a:pPr marL="0" indent="0">
              <a:buNone/>
            </a:pPr>
            <a:endParaRPr lang="en-US" dirty="0">
              <a:latin typeface="Courier New"/>
              <a:cs typeface="Courier New"/>
            </a:endParaRPr>
          </a:p>
          <a:p>
            <a:pPr marL="0" indent="0">
              <a:buNone/>
            </a:pPr>
            <a:r>
              <a:rPr lang="en-US" dirty="0">
                <a:latin typeface="Courier New"/>
                <a:cs typeface="Courier New"/>
              </a:rPr>
              <a:t>if (a===5) {</a:t>
            </a:r>
          </a:p>
          <a:p>
            <a:pPr marL="0" indent="0">
              <a:buNone/>
            </a:pPr>
            <a:r>
              <a:rPr lang="en-US" dirty="0">
                <a:latin typeface="Courier New"/>
                <a:cs typeface="Courier New"/>
              </a:rPr>
              <a:t>  var a = 4;</a:t>
            </a:r>
          </a:p>
          <a:p>
            <a:pPr marL="0" indent="0">
              <a:buNone/>
            </a:pPr>
            <a:r>
              <a:rPr lang="en-US" dirty="0">
                <a:latin typeface="Courier New"/>
                <a:cs typeface="Courier New"/>
              </a:rPr>
              <a:t>  var b = 1;</a:t>
            </a:r>
          </a:p>
          <a:p>
            <a:pPr marL="0" indent="0">
              <a:buNone/>
            </a:pPr>
            <a:r>
              <a:rPr lang="en-US" dirty="0">
                <a:latin typeface="Courier New"/>
                <a:cs typeface="Courier New"/>
              </a:rPr>
              <a:t>}</a:t>
            </a:r>
          </a:p>
          <a:p>
            <a:pPr marL="0" indent="0">
              <a:buNone/>
            </a:pPr>
            <a:r>
              <a:rPr lang="en-US" dirty="0">
                <a:latin typeface="Courier New"/>
                <a:cs typeface="Courier New"/>
              </a:rPr>
              <a:t>console.log(a); // 4</a:t>
            </a:r>
          </a:p>
          <a:p>
            <a:pPr marL="0" indent="0">
              <a:buNone/>
            </a:pPr>
            <a:r>
              <a:rPr lang="en-US" dirty="0">
                <a:latin typeface="Courier New"/>
                <a:cs typeface="Courier New"/>
              </a:rPr>
              <a:t>console.log(b); // 1</a:t>
            </a:r>
          </a:p>
        </p:txBody>
      </p:sp>
      <p:sp>
        <p:nvSpPr>
          <p:cNvPr id="7" name="Text Placeholder 6"/>
          <p:cNvSpPr>
            <a:spLocks noGrp="1"/>
          </p:cNvSpPr>
          <p:nvPr>
            <p:ph type="body" sz="quarter" idx="3"/>
          </p:nvPr>
        </p:nvSpPr>
        <p:spPr/>
        <p:txBody>
          <a:bodyPr/>
          <a:lstStyle/>
          <a:p>
            <a:pPr marL="0" indent="0">
              <a:buNone/>
            </a:pPr>
            <a:r>
              <a:rPr lang="en-US">
                <a:latin typeface="Courier New"/>
                <a:cs typeface="Courier New"/>
              </a:rPr>
              <a:t>let</a:t>
            </a:r>
          </a:p>
        </p:txBody>
      </p:sp>
      <p:sp>
        <p:nvSpPr>
          <p:cNvPr id="8" name="Content Placeholder 7"/>
          <p:cNvSpPr>
            <a:spLocks noGrp="1"/>
          </p:cNvSpPr>
          <p:nvPr>
            <p:ph sz="quarter" idx="4"/>
          </p:nvPr>
        </p:nvSpPr>
        <p:spPr/>
        <p:txBody>
          <a:bodyPr>
            <a:normAutofit lnSpcReduction="10000"/>
          </a:bodyPr>
          <a:lstStyle/>
          <a:p>
            <a:pPr marL="0" indent="0">
              <a:buNone/>
            </a:pPr>
            <a:r>
              <a:rPr lang="en-US">
                <a:latin typeface="Courier New"/>
                <a:cs typeface="Courier New"/>
              </a:rPr>
              <a:t>let a = 5;</a:t>
            </a:r>
          </a:p>
          <a:p>
            <a:pPr marL="0" indent="0">
              <a:buNone/>
            </a:pPr>
            <a:r>
              <a:rPr lang="en-US">
                <a:latin typeface="Courier New"/>
                <a:cs typeface="Courier New"/>
              </a:rPr>
              <a:t>let b = 10;</a:t>
            </a:r>
          </a:p>
          <a:p>
            <a:pPr marL="0" indent="0">
              <a:buNone/>
            </a:pPr>
            <a:endParaRPr lang="en-US">
              <a:latin typeface="Courier New"/>
              <a:cs typeface="Courier New"/>
            </a:endParaRPr>
          </a:p>
          <a:p>
            <a:pPr marL="0" indent="0">
              <a:buNone/>
            </a:pPr>
            <a:r>
              <a:rPr lang="en-US">
                <a:latin typeface="Courier New"/>
                <a:cs typeface="Courier New"/>
              </a:rPr>
              <a:t>if (a===5) {</a:t>
            </a:r>
          </a:p>
          <a:p>
            <a:pPr marL="0" indent="0">
              <a:buNone/>
            </a:pPr>
            <a:r>
              <a:rPr lang="en-US">
                <a:latin typeface="Courier New"/>
                <a:cs typeface="Courier New"/>
              </a:rPr>
              <a:t>  let a = 4;</a:t>
            </a:r>
          </a:p>
          <a:p>
            <a:pPr marL="0" indent="0">
              <a:buNone/>
            </a:pPr>
            <a:r>
              <a:rPr lang="en-US">
                <a:latin typeface="Courier New"/>
                <a:cs typeface="Courier New"/>
              </a:rPr>
              <a:t>  let b = 1;</a:t>
            </a:r>
          </a:p>
          <a:p>
            <a:pPr marL="0" indent="0">
              <a:buNone/>
            </a:pPr>
            <a:r>
              <a:rPr lang="en-US">
                <a:latin typeface="Courier New"/>
                <a:cs typeface="Courier New"/>
              </a:rPr>
              <a:t>}</a:t>
            </a:r>
          </a:p>
          <a:p>
            <a:pPr marL="0" indent="0">
              <a:buNone/>
            </a:pPr>
            <a:r>
              <a:rPr lang="en-US" err="1">
                <a:latin typeface="Courier New"/>
                <a:cs typeface="Courier New"/>
              </a:rPr>
              <a:t>console.log</a:t>
            </a:r>
            <a:r>
              <a:rPr lang="en-US">
                <a:latin typeface="Courier New"/>
                <a:cs typeface="Courier New"/>
              </a:rPr>
              <a:t>(a); // 5</a:t>
            </a:r>
          </a:p>
          <a:p>
            <a:pPr marL="0" indent="0">
              <a:buNone/>
            </a:pPr>
            <a:r>
              <a:rPr lang="en-US" err="1">
                <a:latin typeface="Courier New"/>
                <a:cs typeface="Courier New"/>
              </a:rPr>
              <a:t>console.log</a:t>
            </a:r>
            <a:r>
              <a:rPr lang="en-US">
                <a:latin typeface="Courier New"/>
                <a:cs typeface="Courier New"/>
              </a:rPr>
              <a:t>(b); // 10</a:t>
            </a:r>
          </a:p>
        </p:txBody>
      </p:sp>
      <p:sp>
        <p:nvSpPr>
          <p:cNvPr id="4" name="Slide Number Placeholder 3"/>
          <p:cNvSpPr>
            <a:spLocks noGrp="1"/>
          </p:cNvSpPr>
          <p:nvPr>
            <p:ph type="sldNum" sz="quarter" idx="12"/>
          </p:nvPr>
        </p:nvSpPr>
        <p:spPr/>
        <p:txBody>
          <a:bodyPr/>
          <a:lstStyle/>
          <a:p>
            <a:fld id="{A839F4A7-500C-EC42-AE23-BEE4487EA55E}" type="slidenum">
              <a:rPr lang="en-US" smtClean="0"/>
              <a:t>264</a:t>
            </a:fld>
            <a:endParaRPr lang="en-US"/>
          </a:p>
        </p:txBody>
      </p:sp>
    </p:spTree>
    <p:extLst>
      <p:ext uri="{BB962C8B-B14F-4D97-AF65-F5344CB8AC3E}">
        <p14:creationId xmlns:p14="http://schemas.microsoft.com/office/powerpoint/2010/main" val="95943824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Block-scoped Functions</a:t>
            </a:r>
          </a:p>
        </p:txBody>
      </p:sp>
      <p:sp>
        <p:nvSpPr>
          <p:cNvPr id="5" name="Text Placeholder 4"/>
          <p:cNvSpPr>
            <a:spLocks noGrp="1"/>
          </p:cNvSpPr>
          <p:nvPr>
            <p:ph type="body" idx="1"/>
          </p:nvPr>
        </p:nvSpPr>
        <p:spPr/>
        <p:txBody>
          <a:bodyPr/>
          <a:lstStyle/>
          <a:p>
            <a:r>
              <a:rPr lang="en-US"/>
              <a:t>ES5</a:t>
            </a:r>
          </a:p>
        </p:txBody>
      </p:sp>
      <p:sp>
        <p:nvSpPr>
          <p:cNvPr id="6" name="Content Placeholder 5"/>
          <p:cNvSpPr>
            <a:spLocks noGrp="1"/>
          </p:cNvSpPr>
          <p:nvPr>
            <p:ph sz="half" idx="2"/>
          </p:nvPr>
        </p:nvSpPr>
        <p:spPr/>
        <p:txBody>
          <a:bodyPr>
            <a:normAutofit/>
          </a:bodyPr>
          <a:lstStyle/>
          <a:p>
            <a:pPr marL="0" indent="0">
              <a:buNone/>
            </a:pPr>
            <a:r>
              <a:rPr lang="en-US" sz="1400" dirty="0">
                <a:latin typeface="Courier New"/>
                <a:cs typeface="Courier New"/>
              </a:rPr>
              <a:t>(function () {</a:t>
            </a:r>
          </a:p>
          <a:p>
            <a:pPr marL="0" indent="0">
              <a:buNone/>
            </a:pPr>
            <a:r>
              <a:rPr lang="en-US" sz="1400" dirty="0">
                <a:latin typeface="Courier New"/>
                <a:cs typeface="Courier New"/>
              </a:rPr>
              <a:t>  var foo = function () { </a:t>
            </a:r>
          </a:p>
          <a:p>
            <a:pPr marL="0" indent="0">
              <a:buNone/>
            </a:pPr>
            <a:r>
              <a:rPr lang="en-US" sz="1400" dirty="0">
                <a:latin typeface="Courier New"/>
                <a:cs typeface="Courier New"/>
              </a:rPr>
              <a:t>  return 1; </a:t>
            </a:r>
          </a:p>
          <a:p>
            <a:pPr marL="0" indent="0">
              <a:buNone/>
            </a:pPr>
            <a:r>
              <a:rPr lang="en-US" sz="1400" dirty="0">
                <a:latin typeface="Courier New"/>
                <a:cs typeface="Courier New"/>
              </a:rPr>
              <a:t>  }</a:t>
            </a:r>
          </a:p>
          <a:p>
            <a:pPr marL="0" indent="0">
              <a:buNone/>
            </a:pPr>
            <a:r>
              <a:rPr lang="en-US" sz="1400" dirty="0">
                <a:latin typeface="Courier New"/>
                <a:cs typeface="Courier New"/>
              </a:rPr>
              <a:t>  console.log(foo()); // 1</a:t>
            </a:r>
          </a:p>
          <a:p>
            <a:pPr marL="0" indent="0">
              <a:buNone/>
            </a:pPr>
            <a:endParaRPr lang="en-US" sz="1400" dirty="0">
              <a:latin typeface="Courier New"/>
              <a:cs typeface="Courier New"/>
            </a:endParaRPr>
          </a:p>
          <a:p>
            <a:pPr marL="0" indent="0">
              <a:buNone/>
            </a:pPr>
            <a:r>
              <a:rPr lang="en-US" sz="1400" dirty="0">
                <a:latin typeface="Courier New"/>
                <a:cs typeface="Courier New"/>
              </a:rPr>
              <a:t>  (function () {</a:t>
            </a:r>
          </a:p>
          <a:p>
            <a:pPr marL="0" indent="0">
              <a:buNone/>
            </a:pPr>
            <a:r>
              <a:rPr lang="en-US" sz="1400" dirty="0">
                <a:latin typeface="Courier New"/>
                <a:cs typeface="Courier New"/>
              </a:rPr>
              <a:t>    var foo = function() { </a:t>
            </a:r>
          </a:p>
          <a:p>
            <a:pPr marL="0" indent="0">
              <a:buNone/>
            </a:pPr>
            <a:r>
              <a:rPr lang="en-US" sz="1400" dirty="0">
                <a:latin typeface="Courier New"/>
                <a:cs typeface="Courier New"/>
              </a:rPr>
              <a:t>    return 2; </a:t>
            </a:r>
          </a:p>
          <a:p>
            <a:pPr marL="0" indent="0">
              <a:buNone/>
            </a:pPr>
            <a:r>
              <a:rPr lang="en-US" sz="1400" dirty="0">
                <a:latin typeface="Courier New"/>
                <a:cs typeface="Courier New"/>
              </a:rPr>
              <a:t>    }</a:t>
            </a:r>
          </a:p>
          <a:p>
            <a:pPr marL="0" indent="0">
              <a:buNone/>
            </a:pPr>
            <a:r>
              <a:rPr lang="en-US" sz="1400" dirty="0">
                <a:latin typeface="Courier New"/>
                <a:cs typeface="Courier New"/>
              </a:rPr>
              <a:t>    console.log(foo()); // 2</a:t>
            </a:r>
          </a:p>
          <a:p>
            <a:pPr marL="0" indent="0">
              <a:buNone/>
            </a:pPr>
            <a:r>
              <a:rPr lang="en-US" sz="1400" dirty="0">
                <a:latin typeface="Courier New"/>
                <a:cs typeface="Courier New"/>
              </a:rPr>
              <a:t>    })();</a:t>
            </a:r>
          </a:p>
          <a:p>
            <a:pPr marL="0" indent="0">
              <a:buNone/>
            </a:pPr>
            <a:r>
              <a:rPr lang="en-US" sz="1400" dirty="0">
                <a:latin typeface="Courier New"/>
                <a:cs typeface="Courier New"/>
              </a:rPr>
              <a:t>  </a:t>
            </a:r>
          </a:p>
          <a:p>
            <a:pPr marL="0" indent="0">
              <a:buNone/>
            </a:pPr>
            <a:r>
              <a:rPr lang="en-US" sz="1400" dirty="0">
                <a:latin typeface="Courier New"/>
                <a:cs typeface="Courier New"/>
              </a:rPr>
              <a:t>  console.log(foo()); // 1</a:t>
            </a:r>
          </a:p>
          <a:p>
            <a:pPr marL="0" indent="0">
              <a:buNone/>
            </a:pPr>
            <a:r>
              <a:rPr lang="en-US" sz="1400" dirty="0">
                <a:latin typeface="Courier New"/>
                <a:cs typeface="Courier New"/>
              </a:rPr>
              <a:t>})();</a:t>
            </a:r>
          </a:p>
        </p:txBody>
      </p:sp>
      <p:sp>
        <p:nvSpPr>
          <p:cNvPr id="7" name="Text Placeholder 6"/>
          <p:cNvSpPr>
            <a:spLocks noGrp="1"/>
          </p:cNvSpPr>
          <p:nvPr>
            <p:ph type="body" sz="quarter" idx="3"/>
          </p:nvPr>
        </p:nvSpPr>
        <p:spPr/>
        <p:txBody>
          <a:bodyPr/>
          <a:lstStyle/>
          <a:p>
            <a:r>
              <a:rPr lang="en-US"/>
              <a:t>ES6</a:t>
            </a:r>
          </a:p>
        </p:txBody>
      </p:sp>
      <p:sp>
        <p:nvSpPr>
          <p:cNvPr id="8" name="Content Placeholder 7"/>
          <p:cNvSpPr>
            <a:spLocks noGrp="1"/>
          </p:cNvSpPr>
          <p:nvPr>
            <p:ph sz="quarter" idx="4"/>
          </p:nvPr>
        </p:nvSpPr>
        <p:spPr/>
        <p:txBody>
          <a:bodyPr>
            <a:normAutofit/>
          </a:bodyPr>
          <a:lstStyle/>
          <a:p>
            <a:pPr marL="0" indent="0">
              <a:buNone/>
            </a:pPr>
            <a:r>
              <a:rPr lang="en-US" sz="1600">
                <a:latin typeface="Courier New"/>
                <a:cs typeface="Courier New"/>
              </a:rPr>
              <a:t>{</a:t>
            </a:r>
          </a:p>
          <a:p>
            <a:pPr marL="0" indent="0">
              <a:buNone/>
            </a:pPr>
            <a:r>
              <a:rPr lang="en-US" sz="1600">
                <a:latin typeface="Courier New"/>
                <a:cs typeface="Courier New"/>
              </a:rPr>
              <a:t>  function foo () { return 1; }</a:t>
            </a:r>
          </a:p>
          <a:p>
            <a:pPr marL="0" indent="0">
              <a:buNone/>
            </a:pPr>
            <a:r>
              <a:rPr lang="en-US" sz="1600">
                <a:latin typeface="Courier New"/>
                <a:cs typeface="Courier New"/>
              </a:rPr>
              <a:t>  </a:t>
            </a:r>
            <a:r>
              <a:rPr lang="en-US" sz="1600" err="1">
                <a:latin typeface="Courier New"/>
                <a:cs typeface="Courier New"/>
              </a:rPr>
              <a:t>console.log</a:t>
            </a:r>
            <a:r>
              <a:rPr lang="en-US" sz="1600">
                <a:latin typeface="Courier New"/>
                <a:cs typeface="Courier New"/>
              </a:rPr>
              <a:t>(foo()); // 1</a:t>
            </a:r>
          </a:p>
          <a:p>
            <a:pPr marL="0" indent="0">
              <a:buNone/>
            </a:pPr>
            <a:r>
              <a:rPr lang="en-US" sz="1600">
                <a:latin typeface="Courier New"/>
                <a:cs typeface="Courier New"/>
              </a:rPr>
              <a:t>  {</a:t>
            </a:r>
          </a:p>
          <a:p>
            <a:pPr marL="0" indent="0">
              <a:buNone/>
            </a:pPr>
            <a:r>
              <a:rPr lang="en-US" sz="1600">
                <a:latin typeface="Courier New"/>
                <a:cs typeface="Courier New"/>
              </a:rPr>
              <a:t>    function foo () { </a:t>
            </a:r>
          </a:p>
          <a:p>
            <a:pPr marL="0" indent="0">
              <a:buNone/>
            </a:pPr>
            <a:r>
              <a:rPr lang="en-US" sz="1600">
                <a:latin typeface="Courier New"/>
                <a:cs typeface="Courier New"/>
              </a:rPr>
              <a:t>    return 2; </a:t>
            </a:r>
          </a:p>
          <a:p>
            <a:pPr marL="0" indent="0">
              <a:buNone/>
            </a:pPr>
            <a:r>
              <a:rPr lang="en-US" sz="1600">
                <a:latin typeface="Courier New"/>
                <a:cs typeface="Courier New"/>
              </a:rPr>
              <a:t>    }</a:t>
            </a:r>
          </a:p>
          <a:p>
            <a:pPr marL="0" indent="0">
              <a:buNone/>
            </a:pPr>
            <a:r>
              <a:rPr lang="en-US" sz="1600">
                <a:latin typeface="Courier New"/>
                <a:cs typeface="Courier New"/>
              </a:rPr>
              <a:t>    </a:t>
            </a:r>
            <a:r>
              <a:rPr lang="en-US" sz="1600" err="1">
                <a:latin typeface="Courier New"/>
                <a:cs typeface="Courier New"/>
              </a:rPr>
              <a:t>console.log</a:t>
            </a:r>
            <a:r>
              <a:rPr lang="en-US" sz="1600">
                <a:latin typeface="Courier New"/>
                <a:cs typeface="Courier New"/>
              </a:rPr>
              <a:t>(foo()); // 2</a:t>
            </a:r>
          </a:p>
          <a:p>
            <a:pPr marL="0" indent="0">
              <a:buNone/>
            </a:pPr>
            <a:endParaRPr lang="en-US" sz="1600">
              <a:latin typeface="Courier New"/>
              <a:cs typeface="Courier New"/>
            </a:endParaRPr>
          </a:p>
          <a:p>
            <a:pPr marL="0" indent="0">
              <a:buNone/>
            </a:pPr>
            <a:r>
              <a:rPr lang="en-US" sz="1600">
                <a:latin typeface="Courier New"/>
                <a:cs typeface="Courier New"/>
              </a:rPr>
              <a:t>  }</a:t>
            </a:r>
          </a:p>
          <a:p>
            <a:pPr marL="0" indent="0">
              <a:buNone/>
            </a:pPr>
            <a:r>
              <a:rPr lang="en-US" sz="1600">
                <a:latin typeface="Courier New"/>
                <a:cs typeface="Courier New"/>
              </a:rPr>
              <a:t>    </a:t>
            </a:r>
            <a:r>
              <a:rPr lang="en-US" sz="1600" err="1">
                <a:latin typeface="Courier New"/>
                <a:cs typeface="Courier New"/>
              </a:rPr>
              <a:t>console.log</a:t>
            </a:r>
            <a:r>
              <a:rPr lang="en-US" sz="1600">
                <a:latin typeface="Courier New"/>
                <a:cs typeface="Courier New"/>
              </a:rPr>
              <a:t>(foo()); // 1</a:t>
            </a:r>
          </a:p>
          <a:p>
            <a:pPr marL="0" indent="0">
              <a:buNone/>
            </a:pPr>
            <a:r>
              <a:rPr lang="en-US" sz="160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265</a:t>
            </a:fld>
            <a:endParaRPr lang="en-US"/>
          </a:p>
        </p:txBody>
      </p:sp>
    </p:spTree>
    <p:extLst>
      <p:ext uri="{BB962C8B-B14F-4D97-AF65-F5344CB8AC3E}">
        <p14:creationId xmlns:p14="http://schemas.microsoft.com/office/powerpoint/2010/main" val="71452936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rtl="0"/>
            <a:r>
              <a:rPr lang="en-US"/>
              <a:t>Arrow Functions</a:t>
            </a:r>
          </a:p>
        </p:txBody>
      </p:sp>
      <p:sp>
        <p:nvSpPr>
          <p:cNvPr id="5" name="Text Placeholder 4"/>
          <p:cNvSpPr>
            <a:spLocks noGrp="1"/>
          </p:cNvSpPr>
          <p:nvPr>
            <p:ph type="body" idx="1"/>
          </p:nvPr>
        </p:nvSpPr>
        <p:spPr/>
        <p:txBody>
          <a:bodyPr/>
          <a:lstStyle/>
          <a:p>
            <a:r>
              <a:rPr lang="en-US" sz="2800"/>
              <a:t>aka "fat arrow" functions</a:t>
            </a:r>
          </a:p>
          <a:p>
            <a:r>
              <a:rPr lang="en-US" sz="2800"/>
              <a:t>A more concise syntax for writing functions</a:t>
            </a:r>
          </a:p>
          <a:p>
            <a:pPr lvl="1"/>
            <a:r>
              <a:rPr lang="en-US" sz="2800"/>
              <a:t>ES5 (old way)</a:t>
            </a:r>
          </a:p>
          <a:p>
            <a:pPr marL="0" lvl="2" indent="0">
              <a:buNone/>
            </a:pPr>
            <a:r>
              <a:rPr lang="en-US" sz="2400">
                <a:latin typeface="Courier New"/>
                <a:cs typeface="Courier New"/>
              </a:rPr>
              <a:t>function increment(v){</a:t>
            </a:r>
          </a:p>
          <a:p>
            <a:pPr marL="0" lvl="3" indent="0">
              <a:buNone/>
            </a:pPr>
            <a:r>
              <a:rPr lang="en-US" sz="2000">
                <a:latin typeface="Courier New"/>
                <a:cs typeface="Courier New"/>
              </a:rPr>
              <a:t> return v+1;</a:t>
            </a:r>
          </a:p>
          <a:p>
            <a:pPr marL="0" lvl="2" indent="0">
              <a:buNone/>
            </a:pPr>
            <a:r>
              <a:rPr lang="en-US" sz="2400">
                <a:latin typeface="Courier New"/>
                <a:cs typeface="Courier New"/>
              </a:rPr>
              <a:t>}</a:t>
            </a:r>
          </a:p>
          <a:p>
            <a:pPr lvl="1"/>
            <a:r>
              <a:rPr lang="en-US" sz="2800"/>
              <a:t>Arrow function</a:t>
            </a:r>
          </a:p>
          <a:p>
            <a:pPr marL="0" lvl="2" indent="0">
              <a:buNone/>
            </a:pPr>
            <a:r>
              <a:rPr lang="en-US" sz="2400">
                <a:latin typeface="Courier New"/>
                <a:cs typeface="Courier New"/>
              </a:rPr>
              <a:t>increment = (v) =&gt;{v+1};</a:t>
            </a:r>
            <a:endParaRPr lang="en-US">
              <a:latin typeface="Courier New"/>
              <a:cs typeface="Courier New"/>
            </a:endParaRPr>
          </a:p>
          <a:p>
            <a:pPr marL="0" indent="0">
              <a:buNone/>
            </a:pPr>
            <a:endParaRPr lang="en-US" sz="1800">
              <a:latin typeface="Courier New"/>
              <a:cs typeface="Courier New"/>
            </a:endParaRPr>
          </a:p>
        </p:txBody>
      </p:sp>
      <p:sp>
        <p:nvSpPr>
          <p:cNvPr id="3" name="Slide Number Placeholder 2"/>
          <p:cNvSpPr>
            <a:spLocks noGrp="1"/>
          </p:cNvSpPr>
          <p:nvPr>
            <p:ph type="sldNum" sz="quarter" idx="12"/>
          </p:nvPr>
        </p:nvSpPr>
        <p:spPr/>
        <p:txBody>
          <a:bodyPr/>
          <a:lstStyle/>
          <a:p>
            <a:fld id="{6FFFF67E-EC6A-B940-8DC7-BF9A5925C934}" type="slidenum">
              <a:rPr lang="en-US" smtClean="0"/>
              <a:t>266</a:t>
            </a:fld>
            <a:endParaRPr lang="en-US"/>
          </a:p>
        </p:txBody>
      </p:sp>
    </p:spTree>
    <p:extLst>
      <p:ext uri="{BB962C8B-B14F-4D97-AF65-F5344CB8AC3E}">
        <p14:creationId xmlns:p14="http://schemas.microsoft.com/office/powerpoint/2010/main" val="237113217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Arrow Function Parameters</a:t>
            </a:r>
          </a:p>
        </p:txBody>
      </p:sp>
      <p:sp>
        <p:nvSpPr>
          <p:cNvPr id="3" name="Text Placeholder 2"/>
          <p:cNvSpPr>
            <a:spLocks noGrp="1"/>
          </p:cNvSpPr>
          <p:nvPr>
            <p:ph type="body" idx="1"/>
          </p:nvPr>
        </p:nvSpPr>
        <p:spPr/>
        <p:txBody>
          <a:bodyPr/>
          <a:lstStyle/>
          <a:p>
            <a:r>
              <a:rPr lang="en-US"/>
              <a:t>Surround parameter names with parentheses</a:t>
            </a:r>
          </a:p>
          <a:p>
            <a:pPr marL="0" lvl="1" indent="0">
              <a:buNone/>
            </a:pPr>
            <a:r>
              <a:rPr lang="en-US">
                <a:latin typeface="Courier New"/>
                <a:cs typeface="Courier New"/>
              </a:rPr>
              <a:t>(param1,param2,param3) =&gt; { statements }</a:t>
            </a:r>
          </a:p>
          <a:p>
            <a:r>
              <a:rPr lang="en-US"/>
              <a:t>Parentheses are optional when there's only one parameter name</a:t>
            </a:r>
          </a:p>
          <a:p>
            <a:pPr marL="0" lvl="1" indent="0">
              <a:buNone/>
            </a:pPr>
            <a:r>
              <a:rPr lang="en-US" err="1">
                <a:latin typeface="Courier New"/>
                <a:cs typeface="Courier New"/>
              </a:rPr>
              <a:t>singleParam</a:t>
            </a:r>
            <a:r>
              <a:rPr lang="en-US">
                <a:latin typeface="Courier New"/>
                <a:cs typeface="Courier New"/>
              </a:rPr>
              <a:t> =&gt; { statements }</a:t>
            </a:r>
          </a:p>
        </p:txBody>
      </p:sp>
      <p:sp>
        <p:nvSpPr>
          <p:cNvPr id="4" name="Slide Number Placeholder 3"/>
          <p:cNvSpPr>
            <a:spLocks noGrp="1"/>
          </p:cNvSpPr>
          <p:nvPr>
            <p:ph type="sldNum" sz="quarter" idx="12"/>
          </p:nvPr>
        </p:nvSpPr>
        <p:spPr/>
        <p:txBody>
          <a:bodyPr/>
          <a:lstStyle/>
          <a:p>
            <a:fld id="{1D21158B-3A13-A246-958D-D43CDD4D1464}" type="slidenum">
              <a:rPr lang="en-US" smtClean="0"/>
              <a:t>267</a:t>
            </a:fld>
            <a:endParaRPr lang="en-US"/>
          </a:p>
        </p:txBody>
      </p:sp>
    </p:spTree>
    <p:extLst>
      <p:ext uri="{BB962C8B-B14F-4D97-AF65-F5344CB8AC3E}">
        <p14:creationId xmlns:p14="http://schemas.microsoft.com/office/powerpoint/2010/main" val="214536205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Arrow Functions (cont.)</a:t>
            </a:r>
          </a:p>
        </p:txBody>
      </p:sp>
      <p:sp>
        <p:nvSpPr>
          <p:cNvPr id="3" name="Text Placeholder 2"/>
          <p:cNvSpPr>
            <a:spLocks noGrp="1"/>
          </p:cNvSpPr>
          <p:nvPr>
            <p:ph type="body" idx="1"/>
          </p:nvPr>
        </p:nvSpPr>
        <p:spPr/>
        <p:txBody>
          <a:bodyPr/>
          <a:lstStyle/>
          <a:p>
            <a:r>
              <a:rPr lang="en-US" dirty="0">
                <a:cs typeface="Courier New"/>
              </a:rPr>
              <a:t>More intuitive handling of current object context.</a:t>
            </a:r>
          </a:p>
          <a:p>
            <a:pPr lvl="1"/>
            <a:r>
              <a:rPr lang="en-US" dirty="0">
                <a:cs typeface="Courier New"/>
              </a:rPr>
              <a:t>ES6</a:t>
            </a:r>
          </a:p>
          <a:p>
            <a:pPr marL="0" lvl="2" indent="0">
              <a:buNone/>
            </a:pPr>
            <a:r>
              <a:rPr lang="en-US" dirty="0" err="1">
                <a:latin typeface="Courier New"/>
                <a:cs typeface="Courier New"/>
              </a:rPr>
              <a:t>this.nums.forEach</a:t>
            </a:r>
            <a:r>
              <a:rPr lang="en-US" dirty="0">
                <a:latin typeface="Courier New"/>
                <a:cs typeface="Courier New"/>
              </a:rPr>
              <a:t>((v) =&gt; {</a:t>
            </a:r>
            <a:endParaRPr lang="en-US">
              <a:latin typeface="Courier New"/>
              <a:cs typeface="Courier New"/>
            </a:endParaRPr>
          </a:p>
          <a:p>
            <a:pPr marL="0" lvl="2" indent="0">
              <a:buNone/>
            </a:pPr>
            <a:r>
              <a:rPr lang="en-US" dirty="0">
                <a:latin typeface="Courier New"/>
                <a:cs typeface="Courier New"/>
              </a:rPr>
              <a:t>  if (v % 5 === 0)</a:t>
            </a:r>
            <a:endParaRPr lang="en-US">
              <a:latin typeface="Courier New"/>
              <a:cs typeface="Courier New"/>
            </a:endParaRPr>
          </a:p>
          <a:p>
            <a:pPr marL="0" lvl="2" indent="0">
              <a:buNone/>
            </a:pPr>
            <a:r>
              <a:rPr lang="en-US" dirty="0">
                <a:latin typeface="Courier New"/>
                <a:cs typeface="Courier New"/>
              </a:rPr>
              <a:t>    </a:t>
            </a:r>
            <a:r>
              <a:rPr lang="en-US" dirty="0" err="1">
                <a:latin typeface="Courier New"/>
                <a:cs typeface="Courier New"/>
              </a:rPr>
              <a:t>this.fives.push</a:t>
            </a:r>
            <a:r>
              <a:rPr lang="en-US" dirty="0">
                <a:latin typeface="Courier New"/>
                <a:cs typeface="Courier New"/>
              </a:rPr>
              <a:t>(v);</a:t>
            </a:r>
            <a:endParaRPr lang="en-US">
              <a:latin typeface="Courier New"/>
              <a:cs typeface="Courier New"/>
            </a:endParaRPr>
          </a:p>
          <a:p>
            <a:pPr marL="0" lvl="2" indent="0">
              <a:buNone/>
            </a:pPr>
            <a:r>
              <a:rPr lang="en-US" dirty="0">
                <a:latin typeface="Courier New"/>
                <a:cs typeface="Courier New"/>
              </a:rPr>
              <a:t>});</a:t>
            </a:r>
            <a:endParaRPr lang="en-US">
              <a:latin typeface="Courier New"/>
              <a:cs typeface="Courier New"/>
            </a:endParaRPr>
          </a:p>
          <a:p>
            <a:pPr marL="857250" lvl="1"/>
            <a:r>
              <a:rPr lang="en-US" dirty="0">
                <a:cs typeface="Courier New"/>
              </a:rPr>
              <a:t>ES5</a:t>
            </a:r>
          </a:p>
          <a:p>
            <a:pPr marL="0" lvl="1" indent="0">
              <a:buNone/>
            </a:pPr>
            <a:r>
              <a:rPr lang="en-US" sz="1800" dirty="0">
                <a:latin typeface="Courier New"/>
                <a:cs typeface="Courier New"/>
              </a:rPr>
              <a:t>	var self = this;</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this.nums.forEach</a:t>
            </a:r>
            <a:r>
              <a:rPr lang="en-US" sz="1800" dirty="0">
                <a:latin typeface="Courier New"/>
                <a:cs typeface="Courier New"/>
              </a:rPr>
              <a:t>(function (v) {</a:t>
            </a:r>
            <a:endParaRPr lang="en-US" sz="1800">
              <a:latin typeface="Courier New"/>
              <a:cs typeface="Courier New"/>
            </a:endParaRPr>
          </a:p>
          <a:p>
            <a:pPr marL="0" lvl="1" indent="0">
              <a:buNone/>
            </a:pPr>
            <a:r>
              <a:rPr lang="en-US" sz="1800" dirty="0">
                <a:latin typeface="Courier New"/>
                <a:cs typeface="Courier New"/>
              </a:rPr>
              <a:t>  	  if (v % 5 === 0)</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self.fives.push</a:t>
            </a:r>
            <a:r>
              <a:rPr lang="en-US" sz="1800" dirty="0">
                <a:latin typeface="Courier New"/>
                <a:cs typeface="Courier New"/>
              </a:rPr>
              <a:t>(v);</a:t>
            </a:r>
            <a:endParaRPr lang="en-US" sz="1800">
              <a:latin typeface="Courier New"/>
              <a:cs typeface="Courier New"/>
            </a:endParaRPr>
          </a:p>
          <a:p>
            <a:pPr marL="0" lvl="1" indent="0">
              <a:buNone/>
            </a:pPr>
            <a:r>
              <a:rPr lang="en-US" sz="1800" dirty="0">
                <a:latin typeface="Courier New"/>
                <a:cs typeface="Courier New"/>
              </a:rPr>
              <a:t>	});</a:t>
            </a:r>
            <a:endParaRPr lang="en-US"/>
          </a:p>
        </p:txBody>
      </p:sp>
      <p:sp>
        <p:nvSpPr>
          <p:cNvPr id="4" name="Slide Number Placeholder 3"/>
          <p:cNvSpPr>
            <a:spLocks noGrp="1"/>
          </p:cNvSpPr>
          <p:nvPr>
            <p:ph type="sldNum" sz="quarter" idx="12"/>
          </p:nvPr>
        </p:nvSpPr>
        <p:spPr/>
        <p:txBody>
          <a:bodyPr/>
          <a:lstStyle/>
          <a:p>
            <a:fld id="{A839F4A7-500C-EC42-AE23-BEE4487EA55E}" type="slidenum">
              <a:rPr lang="en-US" smtClean="0"/>
              <a:t>268</a:t>
            </a:fld>
            <a:endParaRPr lang="en-US"/>
          </a:p>
        </p:txBody>
      </p:sp>
    </p:spTree>
    <p:extLst>
      <p:ext uri="{BB962C8B-B14F-4D97-AF65-F5344CB8AC3E}">
        <p14:creationId xmlns:p14="http://schemas.microsoft.com/office/powerpoint/2010/main" val="272091721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Default Parameter Handling</a:t>
            </a:r>
          </a:p>
        </p:txBody>
      </p:sp>
      <p:sp>
        <p:nvSpPr>
          <p:cNvPr id="3" name="Text Placeholder 2"/>
          <p:cNvSpPr>
            <a:spLocks noGrp="1"/>
          </p:cNvSpPr>
          <p:nvPr>
            <p:ph type="body" idx="1"/>
          </p:nvPr>
        </p:nvSpPr>
        <p:spPr/>
        <p:txBody>
          <a:bodyPr/>
          <a:lstStyle/>
          <a:p>
            <a:r>
              <a:rPr lang="en-US" dirty="0">
                <a:cs typeface="Courier New"/>
              </a:rPr>
              <a:t>ES6</a:t>
            </a:r>
          </a:p>
          <a:p>
            <a:pPr marL="0" indent="0">
              <a:buNone/>
            </a:pPr>
            <a:r>
              <a:rPr lang="en-US" sz="1800" dirty="0">
                <a:latin typeface="Courier New"/>
                <a:cs typeface="Courier New"/>
              </a:rPr>
              <a:t>function myFunc (x, y = 0, z = 13) {</a:t>
            </a:r>
          </a:p>
          <a:p>
            <a:pPr marL="0" indent="0">
              <a:buNone/>
            </a:pPr>
            <a:r>
              <a:rPr lang="en-US" sz="1800" dirty="0">
                <a:latin typeface="Courier New"/>
                <a:cs typeface="Courier New"/>
              </a:rPr>
              <a:t>  return x + y + z;</a:t>
            </a:r>
          </a:p>
          <a:p>
            <a:pPr marL="0" indent="0">
              <a:buNone/>
            </a:pPr>
            <a:r>
              <a:rPr lang="en-US" sz="1800" dirty="0">
                <a:latin typeface="Courier New"/>
                <a:cs typeface="Courier New"/>
              </a:rPr>
              <a:t>}</a:t>
            </a:r>
          </a:p>
          <a:p>
            <a:pPr marL="0" indent="0">
              <a:buNone/>
            </a:pPr>
            <a:endParaRPr lang="en-US" sz="1800" dirty="0">
              <a:latin typeface="Courier New"/>
              <a:cs typeface="Courier New"/>
            </a:endParaRPr>
          </a:p>
          <a:p>
            <a:r>
              <a:rPr lang="en-US" dirty="0">
                <a:cs typeface="Courier New"/>
              </a:rPr>
              <a:t>ES5</a:t>
            </a:r>
          </a:p>
          <a:p>
            <a:pPr marL="0" indent="0">
              <a:buNone/>
            </a:pPr>
            <a:r>
              <a:rPr lang="en-US" sz="1800" dirty="0">
                <a:latin typeface="Courier New"/>
                <a:cs typeface="Courier New"/>
              </a:rPr>
              <a:t>function f (x, y, z) {</a:t>
            </a:r>
          </a:p>
          <a:p>
            <a:pPr marL="0" indent="0">
              <a:buNone/>
            </a:pPr>
            <a:r>
              <a:rPr lang="en-US" sz="1800" dirty="0">
                <a:latin typeface="Courier New"/>
                <a:cs typeface="Courier New"/>
              </a:rPr>
              <a:t>    if (y === undefined)</a:t>
            </a:r>
          </a:p>
          <a:p>
            <a:pPr marL="0" indent="0">
              <a:buNone/>
            </a:pPr>
            <a:r>
              <a:rPr lang="en-US" sz="1800" dirty="0">
                <a:latin typeface="Courier New"/>
                <a:cs typeface="Courier New"/>
              </a:rPr>
              <a:t>        y = 0;</a:t>
            </a:r>
          </a:p>
          <a:p>
            <a:pPr marL="0" indent="0">
              <a:buNone/>
            </a:pPr>
            <a:r>
              <a:rPr lang="en-US" sz="1800" dirty="0">
                <a:latin typeface="Courier New"/>
                <a:cs typeface="Courier New"/>
              </a:rPr>
              <a:t>    if (z === undefined)</a:t>
            </a:r>
          </a:p>
          <a:p>
            <a:pPr marL="0" indent="0">
              <a:buNone/>
            </a:pPr>
            <a:r>
              <a:rPr lang="en-US" sz="1800" dirty="0">
                <a:latin typeface="Courier New"/>
                <a:cs typeface="Courier New"/>
              </a:rPr>
              <a:t>        z = 13;</a:t>
            </a:r>
          </a:p>
          <a:p>
            <a:pPr marL="0" indent="0">
              <a:buNone/>
            </a:pPr>
            <a:r>
              <a:rPr lang="en-US" sz="1800" dirty="0">
                <a:latin typeface="Courier New"/>
                <a:cs typeface="Courier New"/>
              </a:rPr>
              <a:t>    return x + y + z;</a:t>
            </a:r>
          </a:p>
          <a:p>
            <a:pPr marL="0" indent="0">
              <a:buNone/>
            </a:pPr>
            <a:r>
              <a:rPr lang="en-US" sz="1800" dirty="0">
                <a:latin typeface="Courier New"/>
                <a:cs typeface="Courier New"/>
              </a:rPr>
              <a: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269</a:t>
            </a:fld>
            <a:endParaRPr lang="en-US"/>
          </a:p>
        </p:txBody>
      </p:sp>
    </p:spTree>
    <p:extLst>
      <p:ext uri="{BB962C8B-B14F-4D97-AF65-F5344CB8AC3E}">
        <p14:creationId xmlns:p14="http://schemas.microsoft.com/office/powerpoint/2010/main" val="183704811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Rest Parameter</a:t>
            </a:r>
          </a:p>
        </p:txBody>
      </p:sp>
      <p:sp>
        <p:nvSpPr>
          <p:cNvPr id="3" name="Text Placeholder 2"/>
          <p:cNvSpPr>
            <a:spLocks noGrp="1"/>
          </p:cNvSpPr>
          <p:nvPr>
            <p:ph type="body" idx="1"/>
          </p:nvPr>
        </p:nvSpPr>
        <p:spPr/>
        <p:txBody>
          <a:bodyPr/>
          <a:lstStyle/>
          <a:p>
            <a:r>
              <a:rPr lang="en-US" dirty="0"/>
              <a:t>Aggregation of remaining arguments into single parameter of variadic functions.</a:t>
            </a:r>
          </a:p>
          <a:p>
            <a:pPr marL="0" indent="0">
              <a:buNone/>
            </a:pPr>
            <a:endParaRPr lang="en-US" dirty="0"/>
          </a:p>
          <a:p>
            <a:pPr marL="0" indent="0">
              <a:buNone/>
            </a:pPr>
            <a:r>
              <a:rPr lang="en-US" dirty="0">
                <a:latin typeface="Courier New"/>
                <a:cs typeface="Courier New"/>
              </a:rPr>
              <a:t>function myFunc (x, y, ...a) {</a:t>
            </a:r>
          </a:p>
          <a:p>
            <a:pPr marL="0" indent="0">
              <a:buNone/>
            </a:pPr>
            <a:r>
              <a:rPr lang="en-US" dirty="0">
                <a:latin typeface="Courier New"/>
                <a:cs typeface="Courier New"/>
              </a:rPr>
              <a:t>    return (x + y) * </a:t>
            </a:r>
            <a:r>
              <a:rPr lang="en-US" dirty="0" err="1">
                <a:latin typeface="Courier New"/>
                <a:cs typeface="Courier New"/>
              </a:rPr>
              <a:t>a.length</a:t>
            </a:r>
            <a:r>
              <a:rPr lang="en-US" dirty="0">
                <a:latin typeface="Courier New"/>
                <a:cs typeface="Courier New"/>
              </a:rPr>
              <a:t>;</a:t>
            </a:r>
          </a:p>
          <a:p>
            <a:pPr marL="0" indent="0">
              <a:buNone/>
            </a:pPr>
            <a:r>
              <a:rPr lang="en-US" dirty="0">
                <a:latin typeface="Courier New"/>
                <a:cs typeface="Courier New"/>
              </a:rPr>
              <a:t>}</a:t>
            </a:r>
          </a:p>
          <a:p>
            <a:pPr marL="0" indent="0">
              <a:buNone/>
            </a:pPr>
            <a:r>
              <a:rPr lang="en-US" dirty="0">
                <a:latin typeface="Courier New"/>
                <a:cs typeface="Courier New"/>
              </a:rPr>
              <a:t>console.log(myFunc(1, 2, "hello", true, 7));</a:t>
            </a:r>
          </a:p>
          <a:p>
            <a:pPr marL="0" indent="0">
              <a:buNone/>
            </a:pPr>
            <a:endParaRPr lang="en-US" dirty="0">
              <a:latin typeface="Courier New"/>
              <a:cs typeface="Courier New"/>
            </a:endParaRPr>
          </a:p>
          <a:p>
            <a:pPr marL="0" indent="0">
              <a:buNone/>
            </a:pPr>
            <a:endParaRPr lang="en-US" dirty="0">
              <a:latin typeface="Courier New"/>
              <a:cs typeface="Courier New"/>
            </a:endParaRPr>
          </a:p>
          <a:p>
            <a:pPr marL="0" indent="0">
              <a:buNone/>
            </a:pPr>
            <a:r>
              <a:rPr lang="en-US" sz="1800" dirty="0">
                <a:latin typeface="Courier New"/>
                <a:cs typeface="Courier New"/>
                <a:hlinkClick r:id="rId3"/>
              </a:rPr>
              <a:t>http://jsbin.com/pisupa/edit?js,console</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270</a:t>
            </a:fld>
            <a:endParaRPr lang="en-US"/>
          </a:p>
        </p:txBody>
      </p:sp>
    </p:spTree>
    <p:extLst>
      <p:ext uri="{BB962C8B-B14F-4D97-AF65-F5344CB8AC3E}">
        <p14:creationId xmlns:p14="http://schemas.microsoft.com/office/powerpoint/2010/main" val="46108879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Spread Operator</a:t>
            </a:r>
          </a:p>
        </p:txBody>
      </p:sp>
      <p:sp>
        <p:nvSpPr>
          <p:cNvPr id="5" name="Text Placeholder 4"/>
          <p:cNvSpPr>
            <a:spLocks noGrp="1"/>
          </p:cNvSpPr>
          <p:nvPr>
            <p:ph type="body" idx="1"/>
          </p:nvPr>
        </p:nvSpPr>
        <p:spPr/>
        <p:txBody>
          <a:bodyPr>
            <a:normAutofit lnSpcReduction="10000"/>
          </a:bodyPr>
          <a:lstStyle/>
          <a:p>
            <a:r>
              <a:rPr lang="en-US" dirty="0">
                <a:cs typeface="Courier New"/>
              </a:rPr>
              <a:t>Spreading of elements of an iterable collection (like an array or a string) into both literal elements and individual function parameters.</a:t>
            </a:r>
          </a:p>
          <a:p>
            <a:pPr marL="0" indent="0">
              <a:buNone/>
            </a:pPr>
            <a:r>
              <a:rPr lang="en-US" sz="2000" dirty="0">
                <a:latin typeface="Courier New"/>
                <a:cs typeface="Courier New"/>
              </a:rPr>
              <a:t>var </a:t>
            </a:r>
            <a:r>
              <a:rPr lang="en-US" sz="2000" dirty="0" err="1">
                <a:latin typeface="Courier New"/>
                <a:cs typeface="Courier New"/>
              </a:rPr>
              <a:t>params</a:t>
            </a:r>
            <a:r>
              <a:rPr lang="en-US" sz="2000" dirty="0">
                <a:latin typeface="Courier New"/>
                <a:cs typeface="Courier New"/>
              </a:rPr>
              <a:t> = [ "hello", true, 7 ];</a:t>
            </a:r>
          </a:p>
          <a:p>
            <a:pPr marL="0" indent="0">
              <a:buNone/>
            </a:pPr>
            <a:r>
              <a:rPr lang="en-US" sz="2000" dirty="0">
                <a:latin typeface="Courier New"/>
                <a:cs typeface="Courier New"/>
              </a:rPr>
              <a:t>var other = [ 1, 2, ...</a:t>
            </a:r>
            <a:r>
              <a:rPr lang="en-US" sz="2000" dirty="0" err="1">
                <a:latin typeface="Courier New"/>
                <a:cs typeface="Courier New"/>
              </a:rPr>
              <a:t>params</a:t>
            </a:r>
            <a:r>
              <a:rPr lang="en-US" sz="2000" dirty="0">
                <a:latin typeface="Courier New"/>
                <a:cs typeface="Courier New"/>
              </a:rPr>
              <a:t> ];</a:t>
            </a:r>
          </a:p>
          <a:p>
            <a:pPr marL="0" indent="0">
              <a:buNone/>
            </a:pPr>
            <a:r>
              <a:rPr lang="en-US" sz="2000" dirty="0">
                <a:latin typeface="Courier New"/>
                <a:cs typeface="Courier New"/>
              </a:rPr>
              <a:t>console.log(other); // </a:t>
            </a:r>
            <a:r>
              <a:rPr lang="it-IT" sz="2000" dirty="0">
                <a:latin typeface="Courier New"/>
                <a:cs typeface="Courier New"/>
              </a:rPr>
              <a:t>[1, 2, "hello", </a:t>
            </a:r>
            <a:r>
              <a:rPr lang="it-IT" sz="2000" dirty="0" err="1">
                <a:latin typeface="Courier New"/>
                <a:cs typeface="Courier New"/>
              </a:rPr>
              <a:t>true</a:t>
            </a:r>
            <a:r>
              <a:rPr lang="it-IT" sz="2000" dirty="0">
                <a:latin typeface="Courier New"/>
                <a:cs typeface="Courier New"/>
              </a:rPr>
              <a:t>, 7]</a:t>
            </a:r>
            <a:endParaRPr lang="en-US" sz="2000" dirty="0">
              <a:latin typeface="Courier New"/>
              <a:cs typeface="Courier New"/>
            </a:endParaRPr>
          </a:p>
          <a:p>
            <a:pPr marL="0" indent="0">
              <a:buNone/>
            </a:pPr>
            <a:endParaRPr lang="pt-BR" dirty="0">
              <a:latin typeface="Courier New"/>
              <a:cs typeface="Courier New"/>
            </a:endParaRPr>
          </a:p>
          <a:p>
            <a:pPr marL="0" indent="0">
              <a:buNone/>
            </a:pPr>
            <a:r>
              <a:rPr lang="pt-BR" sz="1800" dirty="0">
                <a:latin typeface="Courier New"/>
                <a:cs typeface="Courier New"/>
              </a:rPr>
              <a:t>console.log(</a:t>
            </a:r>
            <a:r>
              <a:rPr lang="pt-BR" sz="1800" dirty="0" err="1">
                <a:latin typeface="Courier New"/>
                <a:cs typeface="Courier New"/>
              </a:rPr>
              <a:t>MyFunc</a:t>
            </a:r>
            <a:r>
              <a:rPr lang="pt-BR" sz="1800" dirty="0">
                <a:latin typeface="Courier New"/>
                <a:cs typeface="Courier New"/>
              </a:rPr>
              <a:t>(1, 2, ...</a:t>
            </a:r>
            <a:r>
              <a:rPr lang="pt-BR" sz="1800" dirty="0" err="1">
                <a:latin typeface="Courier New"/>
                <a:cs typeface="Courier New"/>
              </a:rPr>
              <a:t>params</a:t>
            </a:r>
            <a:r>
              <a:rPr lang="pt-BR" sz="1800" dirty="0">
                <a:latin typeface="Courier New"/>
                <a:cs typeface="Courier New"/>
              </a:rPr>
              <a:t>));</a:t>
            </a:r>
            <a:endParaRPr lang="en-US" sz="1800" dirty="0">
              <a:latin typeface="Courier New"/>
              <a:cs typeface="Courier New"/>
            </a:endParaRPr>
          </a:p>
          <a:p>
            <a:pPr marL="0" indent="0">
              <a:buNone/>
            </a:pPr>
            <a:endParaRPr lang="en-US" dirty="0">
              <a:latin typeface="Courier New"/>
              <a:cs typeface="Courier New"/>
            </a:endParaRPr>
          </a:p>
          <a:p>
            <a:pPr marL="0" indent="0">
              <a:buNone/>
            </a:pPr>
            <a:r>
              <a:rPr lang="en-US" sz="2000" dirty="0">
                <a:latin typeface="Courier New"/>
                <a:cs typeface="Courier New"/>
              </a:rPr>
              <a:t>var </a:t>
            </a:r>
            <a:r>
              <a:rPr lang="en-US" sz="2000" dirty="0" err="1">
                <a:latin typeface="Courier New"/>
                <a:cs typeface="Courier New"/>
              </a:rPr>
              <a:t>str</a:t>
            </a:r>
            <a:r>
              <a:rPr lang="en-US" sz="2000" dirty="0">
                <a:latin typeface="Courier New"/>
                <a:cs typeface="Courier New"/>
              </a:rPr>
              <a:t> = "foo";</a:t>
            </a:r>
          </a:p>
          <a:p>
            <a:pPr marL="0" indent="0">
              <a:buNone/>
            </a:pPr>
            <a:r>
              <a:rPr lang="en-US" sz="2000" dirty="0">
                <a:latin typeface="Courier New"/>
                <a:cs typeface="Courier New"/>
              </a:rPr>
              <a:t>var chars = [ ...</a:t>
            </a:r>
            <a:r>
              <a:rPr lang="en-US" sz="2000" dirty="0" err="1">
                <a:latin typeface="Courier New"/>
                <a:cs typeface="Courier New"/>
              </a:rPr>
              <a:t>str</a:t>
            </a:r>
            <a:r>
              <a:rPr lang="en-US" sz="2000" dirty="0">
                <a:latin typeface="Courier New"/>
                <a:cs typeface="Courier New"/>
              </a:rPr>
              <a:t> ]; // [ "f", "o", "o" ]</a:t>
            </a:r>
          </a:p>
          <a:p>
            <a:pPr marL="0" indent="0">
              <a:buNone/>
            </a:pPr>
            <a:endParaRPr lang="en-US" sz="2000" dirty="0">
              <a:latin typeface="Courier New"/>
              <a:cs typeface="Courier New"/>
            </a:endParaRPr>
          </a:p>
          <a:p>
            <a:pPr marL="0" indent="0">
              <a:buNone/>
            </a:pPr>
            <a:r>
              <a:rPr lang="en-US" sz="1600" dirty="0">
                <a:latin typeface="Courier New"/>
                <a:cs typeface="Courier New"/>
                <a:hlinkClick r:id="rId3"/>
              </a:rPr>
              <a:t>http://jsbin.com/guxika/edit?js,console</a:t>
            </a:r>
            <a:endParaRPr lang="en-US" sz="1600">
              <a:latin typeface="Courier New"/>
              <a:cs typeface="Courier New"/>
            </a:endParaRPr>
          </a:p>
        </p:txBody>
      </p:sp>
      <p:sp>
        <p:nvSpPr>
          <p:cNvPr id="3" name="Slide Number Placeholder 2"/>
          <p:cNvSpPr>
            <a:spLocks noGrp="1"/>
          </p:cNvSpPr>
          <p:nvPr>
            <p:ph type="sldNum" sz="quarter" idx="12"/>
          </p:nvPr>
        </p:nvSpPr>
        <p:spPr/>
        <p:txBody>
          <a:bodyPr/>
          <a:lstStyle/>
          <a:p>
            <a:fld id="{6FFFF67E-EC6A-B940-8DC7-BF9A5925C934}" type="slidenum">
              <a:rPr lang="en-US" smtClean="0"/>
              <a:t>271</a:t>
            </a:fld>
            <a:endParaRPr lang="en-US"/>
          </a:p>
        </p:txBody>
      </p:sp>
    </p:spTree>
    <p:extLst>
      <p:ext uri="{BB962C8B-B14F-4D97-AF65-F5344CB8AC3E}">
        <p14:creationId xmlns:p14="http://schemas.microsoft.com/office/powerpoint/2010/main" val="199299881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Template Literals</a:t>
            </a:r>
          </a:p>
        </p:txBody>
      </p:sp>
      <p:sp>
        <p:nvSpPr>
          <p:cNvPr id="3" name="Text Placeholder 2"/>
          <p:cNvSpPr>
            <a:spLocks noGrp="1"/>
          </p:cNvSpPr>
          <p:nvPr>
            <p:ph type="body" idx="1"/>
          </p:nvPr>
        </p:nvSpPr>
        <p:spPr/>
        <p:txBody>
          <a:bodyPr/>
          <a:lstStyle/>
          <a:p>
            <a:r>
              <a:rPr lang="en-US" dirty="0"/>
              <a:t>String Interpolation</a:t>
            </a:r>
          </a:p>
          <a:p>
            <a:endParaRPr lang="en-US" dirty="0"/>
          </a:p>
          <a:p>
            <a:pPr marL="0" indent="0">
              <a:buNone/>
            </a:pPr>
            <a:r>
              <a:rPr lang="en-US" sz="1800" dirty="0">
                <a:latin typeface="Courier New"/>
                <a:cs typeface="Courier New"/>
              </a:rPr>
              <a:t>var customer = { name: "Penny" }</a:t>
            </a:r>
          </a:p>
          <a:p>
            <a:pPr marL="0" indent="0">
              <a:buNone/>
            </a:pPr>
            <a:r>
              <a:rPr lang="en-US" sz="1800" dirty="0">
                <a:latin typeface="Courier New"/>
                <a:cs typeface="Courier New"/>
              </a:rPr>
              <a:t>var order = { price: 4, product: "parts", quantity: 6 }</a:t>
            </a:r>
          </a:p>
          <a:p>
            <a:pPr marL="0" indent="0">
              <a:buNone/>
            </a:pPr>
            <a:r>
              <a:rPr lang="en-US" sz="1800" dirty="0">
                <a:latin typeface="Courier New"/>
                <a:cs typeface="Courier New"/>
              </a:rPr>
              <a:t>message = `Hi, ${</a:t>
            </a:r>
            <a:r>
              <a:rPr lang="en-US" sz="1800" dirty="0" err="1">
                <a:latin typeface="Courier New"/>
                <a:cs typeface="Courier New"/>
              </a:rPr>
              <a:t>customer.name</a:t>
            </a:r>
            <a:r>
              <a:rPr lang="en-US" sz="1800" dirty="0">
                <a:latin typeface="Courier New"/>
                <a:cs typeface="Courier New"/>
              </a:rPr>
              <a:t>}. Thank you for your order of ${</a:t>
            </a:r>
            <a:r>
              <a:rPr lang="en-US" sz="1800" dirty="0" err="1">
                <a:latin typeface="Courier New"/>
                <a:cs typeface="Courier New"/>
              </a:rPr>
              <a:t>order.quantity</a:t>
            </a:r>
            <a:r>
              <a:rPr lang="en-US" sz="1800" dirty="0">
                <a:latin typeface="Courier New"/>
                <a:cs typeface="Courier New"/>
              </a:rPr>
              <a:t>} ${</a:t>
            </a:r>
            <a:r>
              <a:rPr lang="en-US" sz="1800" dirty="0" err="1">
                <a:latin typeface="Courier New"/>
                <a:cs typeface="Courier New"/>
              </a:rPr>
              <a:t>order.product</a:t>
            </a:r>
            <a:r>
              <a:rPr lang="en-US" sz="1800" dirty="0">
                <a:latin typeface="Courier New"/>
                <a:cs typeface="Courier New"/>
              </a:rPr>
              <a:t>} at ${</a:t>
            </a:r>
            <a:r>
              <a:rPr lang="en-US" sz="1800" dirty="0" err="1">
                <a:latin typeface="Courier New"/>
                <a:cs typeface="Courier New"/>
              </a:rPr>
              <a:t>order.price</a:t>
            </a:r>
            <a:r>
              <a:rPr lang="en-US" sz="1800" dirty="0">
                <a:latin typeface="Courier New"/>
                <a:cs typeface="Courier New"/>
              </a:rPr>
              <a:t>}.`;</a:t>
            </a: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endParaRPr lang="en-US" sz="1800" dirty="0">
              <a:latin typeface="Courier New"/>
              <a:cs typeface="Courier New"/>
            </a:endParaRPr>
          </a:p>
          <a:p>
            <a:pPr marL="0" indent="0">
              <a:buNone/>
            </a:pPr>
            <a:r>
              <a:rPr lang="en-US" sz="1400" dirty="0">
                <a:latin typeface="Courier New"/>
                <a:cs typeface="Courier New"/>
                <a:hlinkClick r:id="rId3"/>
              </a:rPr>
              <a:t>http://jsbin.com/pusako/edit?js,console</a:t>
            </a:r>
            <a:endParaRPr lang="en-US" sz="14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272</a:t>
            </a:fld>
            <a:endParaRPr lang="en-US"/>
          </a:p>
        </p:txBody>
      </p:sp>
    </p:spTree>
    <p:extLst>
      <p:ext uri="{BB962C8B-B14F-4D97-AF65-F5344CB8AC3E}">
        <p14:creationId xmlns:p14="http://schemas.microsoft.com/office/powerpoint/2010/main" val="292852590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Template Literals (</a:t>
            </a:r>
            <a:r>
              <a:rPr lang="en-US" err="1"/>
              <a:t>cont</a:t>
            </a:r>
            <a:r>
              <a:rPr lang="en-US"/>
              <a:t>)</a:t>
            </a:r>
          </a:p>
        </p:txBody>
      </p:sp>
      <p:sp>
        <p:nvSpPr>
          <p:cNvPr id="3" name="Text Placeholder 2"/>
          <p:cNvSpPr>
            <a:spLocks noGrp="1"/>
          </p:cNvSpPr>
          <p:nvPr>
            <p:ph type="body" idx="1"/>
          </p:nvPr>
        </p:nvSpPr>
        <p:spPr/>
        <p:txBody>
          <a:bodyPr/>
          <a:lstStyle/>
          <a:p>
            <a:r>
              <a:rPr lang="en-US" dirty="0"/>
              <a:t>Raw String Access</a:t>
            </a:r>
          </a:p>
          <a:p>
            <a:pPr marL="0" indent="0">
              <a:buNone/>
            </a:pPr>
            <a:r>
              <a:rPr lang="en-US" dirty="0"/>
              <a:t>Allows you to access the raw template string content (without interpreting backslashes)</a:t>
            </a:r>
            <a:r>
              <a:rPr lang="en-US" dirty="0">
                <a:latin typeface="Courier New"/>
                <a:cs typeface="Courier New"/>
              </a:rPr>
              <a:t> </a:t>
            </a:r>
          </a:p>
          <a:p>
            <a:pPr marL="0" indent="0">
              <a:buNone/>
            </a:pPr>
            <a:endParaRPr lang="en-US" dirty="0">
              <a:latin typeface="Courier New"/>
              <a:cs typeface="Courier New"/>
            </a:endParaRPr>
          </a:p>
          <a:p>
            <a:pPr marL="0" indent="0">
              <a:buNone/>
            </a:pPr>
            <a:r>
              <a:rPr lang="en-US" dirty="0">
                <a:latin typeface="Courier New"/>
                <a:cs typeface="Courier New"/>
              </a:rPr>
              <a:t>function </a:t>
            </a:r>
            <a:r>
              <a:rPr lang="en-US" sz="2000" dirty="0">
                <a:latin typeface="Courier New"/>
                <a:cs typeface="Courier New"/>
              </a:rPr>
              <a:t>tag(strings, ...values) {</a:t>
            </a:r>
          </a:p>
          <a:p>
            <a:pPr marL="0" indent="0">
              <a:buNone/>
            </a:pPr>
            <a:r>
              <a:rPr lang="en-US" sz="2000" dirty="0">
                <a:latin typeface="Courier New"/>
                <a:cs typeface="Courier New"/>
              </a:rPr>
              <a:t>  console.log(</a:t>
            </a:r>
            <a:r>
              <a:rPr lang="en-US" sz="2000" dirty="0" err="1">
                <a:latin typeface="Courier New"/>
                <a:cs typeface="Courier New"/>
              </a:rPr>
              <a:t>strings.raw</a:t>
            </a:r>
            <a:r>
              <a:rPr lang="en-US" sz="2000" dirty="0">
                <a:latin typeface="Courier New"/>
                <a:cs typeface="Courier New"/>
              </a:rPr>
              <a:t>[0]); </a:t>
            </a:r>
          </a:p>
          <a:p>
            <a:pPr marL="0" indent="0">
              <a:buNone/>
            </a:pPr>
            <a:r>
              <a:rPr lang="en-US" sz="2000" dirty="0">
                <a:latin typeface="Courier New"/>
                <a:cs typeface="Courier New"/>
              </a:rPr>
              <a:t>  // "string text line 1 \\n string text line 2"</a:t>
            </a:r>
          </a:p>
          <a:p>
            <a:pPr marL="0" indent="0">
              <a:buNone/>
            </a:pPr>
            <a:r>
              <a:rPr lang="en-US" sz="2000" dirty="0">
                <a:latin typeface="Courier New"/>
                <a:cs typeface="Courier New"/>
              </a:rPr>
              <a:t>}</a:t>
            </a:r>
          </a:p>
          <a:p>
            <a:pPr marL="0" indent="0">
              <a:buNone/>
            </a:pPr>
            <a:r>
              <a:rPr lang="en-US" sz="2000" dirty="0" err="1">
                <a:latin typeface="Courier New"/>
                <a:cs typeface="Courier New"/>
              </a:rPr>
              <a:t>tag`string</a:t>
            </a:r>
            <a:r>
              <a:rPr lang="en-US" sz="2000" dirty="0">
                <a:latin typeface="Courier New"/>
                <a:cs typeface="Courier New"/>
              </a:rPr>
              <a:t> text line 1 \n string text line 2`;</a:t>
            </a:r>
          </a:p>
          <a:p>
            <a:pPr marL="0" indent="0">
              <a:buNone/>
            </a:pPr>
            <a:endParaRPr lang="en-US" sz="2000" dirty="0">
              <a:latin typeface="Courier New"/>
              <a:cs typeface="Courier New"/>
            </a:endParaRPr>
          </a:p>
          <a:p>
            <a:r>
              <a:rPr lang="en-US" sz="1800" dirty="0">
                <a:hlinkClick r:id="rId3"/>
              </a:rPr>
              <a:t>http://jsbin.com/donibif/edit?js,console</a:t>
            </a:r>
            <a:endParaRPr lang="en-US" sz="1800" dirty="0"/>
          </a:p>
        </p:txBody>
      </p:sp>
      <p:sp>
        <p:nvSpPr>
          <p:cNvPr id="4" name="Slide Number Placeholder 3"/>
          <p:cNvSpPr>
            <a:spLocks noGrp="1"/>
          </p:cNvSpPr>
          <p:nvPr>
            <p:ph type="sldNum" sz="quarter" idx="12"/>
          </p:nvPr>
        </p:nvSpPr>
        <p:spPr/>
        <p:txBody>
          <a:bodyPr/>
          <a:lstStyle/>
          <a:p>
            <a:fld id="{A839F4A7-500C-EC42-AE23-BEE4487EA55E}" type="slidenum">
              <a:rPr lang="en-US" smtClean="0"/>
              <a:t>273</a:t>
            </a:fld>
            <a:endParaRPr lang="en-US"/>
          </a:p>
        </p:txBody>
      </p:sp>
    </p:spTree>
    <p:extLst>
      <p:ext uri="{BB962C8B-B14F-4D97-AF65-F5344CB8AC3E}">
        <p14:creationId xmlns:p14="http://schemas.microsoft.com/office/powerpoint/2010/main" val="3656019156"/>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Enhanced Object Properties</a:t>
            </a:r>
          </a:p>
        </p:txBody>
      </p:sp>
      <p:sp>
        <p:nvSpPr>
          <p:cNvPr id="3" name="Text Placeholder 2"/>
          <p:cNvSpPr>
            <a:spLocks noGrp="1"/>
          </p:cNvSpPr>
          <p:nvPr>
            <p:ph type="body" idx="1"/>
          </p:nvPr>
        </p:nvSpPr>
        <p:spPr/>
        <p:txBody>
          <a:bodyPr/>
          <a:lstStyle/>
          <a:p>
            <a:r>
              <a:rPr lang="en-US"/>
              <a:t>Property Shorthand</a:t>
            </a:r>
          </a:p>
          <a:p>
            <a:pPr lvl="1"/>
            <a:r>
              <a:rPr lang="en-US"/>
              <a:t>Shorter syntax for properties with the same name and value</a:t>
            </a:r>
          </a:p>
          <a:p>
            <a:r>
              <a:rPr lang="en-US"/>
              <a:t>ES5</a:t>
            </a:r>
          </a:p>
          <a:p>
            <a:pPr marL="0" lvl="1" indent="0">
              <a:buNone/>
            </a:pPr>
            <a:r>
              <a:rPr lang="en-US" err="1">
                <a:latin typeface="Courier New"/>
                <a:cs typeface="Courier New"/>
              </a:rPr>
              <a:t>obj</a:t>
            </a:r>
            <a:r>
              <a:rPr lang="en-US">
                <a:latin typeface="Courier New"/>
                <a:cs typeface="Courier New"/>
              </a:rPr>
              <a:t> = { x: x, y: y};</a:t>
            </a:r>
          </a:p>
          <a:p>
            <a:r>
              <a:rPr lang="en-US"/>
              <a:t>ES6</a:t>
            </a:r>
          </a:p>
          <a:p>
            <a:pPr marL="0" lvl="1" indent="0">
              <a:buNone/>
            </a:pPr>
            <a:r>
              <a:rPr lang="en-US" err="1">
                <a:latin typeface="Courier New"/>
                <a:cs typeface="Courier New"/>
              </a:rPr>
              <a:t>obj</a:t>
            </a:r>
            <a:r>
              <a:rPr lang="en-US">
                <a:latin typeface="Courier New"/>
                <a:cs typeface="Courier New"/>
              </a:rPr>
              <a:t> = { </a:t>
            </a:r>
            <a:r>
              <a:rPr lang="en-US" err="1">
                <a:latin typeface="Courier New"/>
                <a:cs typeface="Courier New"/>
              </a:rPr>
              <a:t>x,y</a:t>
            </a:r>
            <a:r>
              <a:rPr lang="en-US">
                <a:latin typeface="Courier New"/>
                <a:cs typeface="Courier New"/>
              </a:rPr>
              <a:t> };</a:t>
            </a:r>
          </a:p>
        </p:txBody>
      </p:sp>
      <p:sp>
        <p:nvSpPr>
          <p:cNvPr id="4" name="Slide Number Placeholder 3"/>
          <p:cNvSpPr>
            <a:spLocks noGrp="1"/>
          </p:cNvSpPr>
          <p:nvPr>
            <p:ph type="sldNum" sz="quarter" idx="12"/>
          </p:nvPr>
        </p:nvSpPr>
        <p:spPr/>
        <p:txBody>
          <a:bodyPr/>
          <a:lstStyle/>
          <a:p>
            <a:fld id="{A839F4A7-500C-EC42-AE23-BEE4487EA55E}" type="slidenum">
              <a:rPr lang="en-US" smtClean="0"/>
              <a:t>274</a:t>
            </a:fld>
            <a:endParaRPr lang="en-US"/>
          </a:p>
        </p:txBody>
      </p:sp>
    </p:spTree>
    <p:extLst>
      <p:ext uri="{BB962C8B-B14F-4D97-AF65-F5344CB8AC3E}">
        <p14:creationId xmlns:p14="http://schemas.microsoft.com/office/powerpoint/2010/main" val="599586642"/>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Enhanced Object Properties</a:t>
            </a:r>
          </a:p>
        </p:txBody>
      </p:sp>
      <p:sp>
        <p:nvSpPr>
          <p:cNvPr id="3" name="Text Placeholder 2"/>
          <p:cNvSpPr>
            <a:spLocks noGrp="1"/>
          </p:cNvSpPr>
          <p:nvPr>
            <p:ph type="body" idx="1"/>
          </p:nvPr>
        </p:nvSpPr>
        <p:spPr/>
        <p:txBody>
          <a:bodyPr/>
          <a:lstStyle/>
          <a:p>
            <a:r>
              <a:rPr lang="en-US" dirty="0">
                <a:cs typeface="Courier New"/>
              </a:rPr>
              <a:t>Computed names in object property definitions</a:t>
            </a:r>
          </a:p>
          <a:p>
            <a:pPr marL="0" indent="0">
              <a:buNone/>
            </a:pPr>
            <a:endParaRPr lang="en-US" dirty="0">
              <a:cs typeface="Courier New"/>
            </a:endParaRPr>
          </a:p>
          <a:p>
            <a:pPr marL="0" indent="0">
              <a:buNone/>
            </a:pPr>
            <a:r>
              <a:rPr lang="en-US" dirty="0">
                <a:latin typeface="Courier New"/>
                <a:cs typeface="Courier New"/>
              </a:rPr>
              <a:t>let </a:t>
            </a:r>
            <a:r>
              <a:rPr lang="en-US" dirty="0" err="1">
                <a:latin typeface="Courier New"/>
                <a:cs typeface="Courier New"/>
              </a:rPr>
              <a:t>obj</a:t>
            </a:r>
            <a:r>
              <a:rPr lang="en-US" dirty="0">
                <a:latin typeface="Courier New"/>
                <a:cs typeface="Courier New"/>
              </a:rPr>
              <a:t> = {</a:t>
            </a:r>
          </a:p>
          <a:p>
            <a:pPr marL="0" indent="0">
              <a:buNone/>
            </a:pPr>
            <a:r>
              <a:rPr lang="en-US" dirty="0">
                <a:latin typeface="Courier New"/>
                <a:cs typeface="Courier New"/>
              </a:rPr>
              <a:t>  customer: "Nigel",</a:t>
            </a:r>
          </a:p>
          <a:p>
            <a:pPr marL="0" indent="0">
              <a:buNone/>
            </a:pPr>
            <a:r>
              <a:rPr lang="en-US" dirty="0">
                <a:latin typeface="Courier New"/>
                <a:cs typeface="Courier New"/>
              </a:rPr>
              <a:t>  [ "order" + </a:t>
            </a:r>
            <a:r>
              <a:rPr lang="en-US" dirty="0" err="1">
                <a:latin typeface="Courier New"/>
                <a:cs typeface="Courier New"/>
              </a:rPr>
              <a:t>getOrderNum</a:t>
            </a:r>
            <a:r>
              <a:rPr lang="en-US" dirty="0">
                <a:latin typeface="Courier New"/>
                <a:cs typeface="Courier New"/>
              </a:rPr>
              <a:t>() ]: 10</a:t>
            </a:r>
          </a:p>
          <a:p>
            <a:pPr marL="0" indent="0">
              <a:buNone/>
            </a:pPr>
            <a:r>
              <a:rPr lang="en-US" dirty="0">
                <a:latin typeface="Courier New"/>
                <a:cs typeface="Courier New"/>
              </a:rPr>
              <a:t>};</a:t>
            </a:r>
          </a:p>
          <a:p>
            <a:pPr marL="0" indent="0">
              <a:buNone/>
            </a:pPr>
            <a:endParaRPr lang="en-US" dirty="0">
              <a:latin typeface="Courier New"/>
              <a:cs typeface="Courier New"/>
            </a:endParaRPr>
          </a:p>
          <a:p>
            <a:pPr marL="0" indent="0">
              <a:buNone/>
            </a:pPr>
            <a:endParaRPr lang="en-US" dirty="0">
              <a:latin typeface="Courier New"/>
              <a:cs typeface="Courier New"/>
            </a:endParaRPr>
          </a:p>
          <a:p>
            <a:pPr marL="0" indent="0">
              <a:buNone/>
            </a:pPr>
            <a:endParaRPr lang="en-US" dirty="0">
              <a:latin typeface="Courier New"/>
              <a:cs typeface="Courier New"/>
            </a:endParaRPr>
          </a:p>
          <a:p>
            <a:pPr marL="0" indent="0">
              <a:buNone/>
            </a:pPr>
            <a:r>
              <a:rPr lang="en-US" sz="1800" dirty="0">
                <a:latin typeface="Courier New"/>
                <a:cs typeface="Courier New"/>
                <a:hlinkClick r:id="rId3"/>
              </a:rPr>
              <a:t>http://jsbin.com/wejuqe/edit?js,console</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275</a:t>
            </a:fld>
            <a:endParaRPr lang="en-US"/>
          </a:p>
        </p:txBody>
      </p:sp>
    </p:spTree>
    <p:extLst>
      <p:ext uri="{BB962C8B-B14F-4D97-AF65-F5344CB8AC3E}">
        <p14:creationId xmlns:p14="http://schemas.microsoft.com/office/powerpoint/2010/main" val="356933512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a:t>Method notation in </a:t>
            </a:r>
            <a:br>
              <a:rPr lang="en-US" sz="2800"/>
            </a:br>
            <a:r>
              <a:rPr lang="en-US" sz="2800"/>
              <a:t>object property definitions</a:t>
            </a:r>
          </a:p>
        </p:txBody>
      </p:sp>
      <p:sp>
        <p:nvSpPr>
          <p:cNvPr id="3" name="Text Placeholder 2"/>
          <p:cNvSpPr>
            <a:spLocks noGrp="1"/>
          </p:cNvSpPr>
          <p:nvPr>
            <p:ph type="body" idx="1"/>
          </p:nvPr>
        </p:nvSpPr>
        <p:spPr/>
        <p:txBody>
          <a:bodyPr/>
          <a:lstStyle/>
          <a:p>
            <a:r>
              <a:rPr lang="en-US"/>
              <a:t>ES6</a:t>
            </a:r>
          </a:p>
        </p:txBody>
      </p:sp>
      <p:sp>
        <p:nvSpPr>
          <p:cNvPr id="5" name="Content Placeholder 4"/>
          <p:cNvSpPr>
            <a:spLocks noGrp="1"/>
          </p:cNvSpPr>
          <p:nvPr>
            <p:ph sz="half" idx="2"/>
          </p:nvPr>
        </p:nvSpPr>
        <p:spPr/>
        <p:txBody>
          <a:bodyPr>
            <a:normAutofit/>
          </a:bodyPr>
          <a:lstStyle/>
          <a:p>
            <a:pPr marL="0" indent="0">
              <a:buNone/>
            </a:pPr>
            <a:r>
              <a:rPr lang="en-US" sz="2800" err="1">
                <a:latin typeface="Courier New"/>
                <a:cs typeface="Courier New"/>
              </a:rPr>
              <a:t>obj</a:t>
            </a:r>
            <a:r>
              <a:rPr lang="en-US" sz="2800">
                <a:latin typeface="Courier New"/>
                <a:cs typeface="Courier New"/>
              </a:rPr>
              <a:t> = {</a:t>
            </a:r>
          </a:p>
          <a:p>
            <a:pPr marL="0" indent="0">
              <a:buNone/>
            </a:pPr>
            <a:r>
              <a:rPr lang="en-US" sz="2800">
                <a:latin typeface="Courier New"/>
                <a:cs typeface="Courier New"/>
              </a:rPr>
              <a:t>    foo (</a:t>
            </a:r>
            <a:r>
              <a:rPr lang="en-US" sz="2800" err="1">
                <a:latin typeface="Courier New"/>
                <a:cs typeface="Courier New"/>
              </a:rPr>
              <a:t>a,b</a:t>
            </a:r>
            <a:r>
              <a:rPr lang="en-US" sz="2800">
                <a:latin typeface="Courier New"/>
                <a:cs typeface="Courier New"/>
              </a:rPr>
              <a:t>) {</a:t>
            </a:r>
          </a:p>
          <a:p>
            <a:pPr marL="0" indent="0">
              <a:buNone/>
            </a:pPr>
            <a:r>
              <a:rPr lang="en-US" sz="2800">
                <a:latin typeface="Courier New"/>
                <a:cs typeface="Courier New"/>
              </a:rPr>
              <a:t>    },</a:t>
            </a:r>
          </a:p>
          <a:p>
            <a:pPr marL="0" indent="0">
              <a:buNone/>
            </a:pPr>
            <a:r>
              <a:rPr lang="en-US" sz="2800">
                <a:latin typeface="Courier New"/>
                <a:cs typeface="Courier New"/>
              </a:rPr>
              <a:t>    bar (</a:t>
            </a:r>
            <a:r>
              <a:rPr lang="en-US" sz="2800" err="1">
                <a:latin typeface="Courier New"/>
                <a:cs typeface="Courier New"/>
              </a:rPr>
              <a:t>x,y</a:t>
            </a:r>
            <a:r>
              <a:rPr lang="en-US" sz="2800">
                <a:latin typeface="Courier New"/>
                <a:cs typeface="Courier New"/>
              </a:rPr>
              <a:t>) {</a:t>
            </a:r>
          </a:p>
          <a:p>
            <a:pPr marL="0" indent="0">
              <a:buNone/>
            </a:pPr>
            <a:r>
              <a:rPr lang="en-US" sz="2800">
                <a:latin typeface="Courier New"/>
                <a:cs typeface="Courier New"/>
              </a:rPr>
              <a:t>    }</a:t>
            </a:r>
          </a:p>
          <a:p>
            <a:pPr marL="0" indent="0">
              <a:buNone/>
            </a:pPr>
            <a:r>
              <a:rPr lang="en-US" sz="2800">
                <a:latin typeface="Courier New"/>
                <a:cs typeface="Courier New"/>
              </a:rPr>
              <a:t>};</a:t>
            </a:r>
          </a:p>
        </p:txBody>
      </p:sp>
      <p:sp>
        <p:nvSpPr>
          <p:cNvPr id="6" name="Text Placeholder 5"/>
          <p:cNvSpPr>
            <a:spLocks noGrp="1"/>
          </p:cNvSpPr>
          <p:nvPr>
            <p:ph type="body" sz="quarter" idx="3"/>
          </p:nvPr>
        </p:nvSpPr>
        <p:spPr/>
        <p:txBody>
          <a:bodyPr/>
          <a:lstStyle/>
          <a:p>
            <a:r>
              <a:rPr lang="en-US"/>
              <a:t>ES5</a:t>
            </a:r>
          </a:p>
        </p:txBody>
      </p:sp>
      <p:sp>
        <p:nvSpPr>
          <p:cNvPr id="7" name="Content Placeholder 6"/>
          <p:cNvSpPr>
            <a:spLocks noGrp="1"/>
          </p:cNvSpPr>
          <p:nvPr>
            <p:ph sz="quarter" idx="4"/>
          </p:nvPr>
        </p:nvSpPr>
        <p:spPr/>
        <p:txBody>
          <a:bodyPr>
            <a:noAutofit/>
          </a:bodyPr>
          <a:lstStyle/>
          <a:p>
            <a:pPr marL="0" indent="0">
              <a:buNone/>
            </a:pPr>
            <a:r>
              <a:rPr lang="en-US" sz="2000" err="1">
                <a:latin typeface="Courier New"/>
                <a:cs typeface="Courier New"/>
              </a:rPr>
              <a:t>obj</a:t>
            </a:r>
            <a:r>
              <a:rPr lang="en-US" sz="2000">
                <a:latin typeface="Courier New"/>
                <a:cs typeface="Courier New"/>
              </a:rPr>
              <a:t> = {</a:t>
            </a:r>
          </a:p>
          <a:p>
            <a:pPr marL="0" indent="0">
              <a:buNone/>
            </a:pPr>
            <a:r>
              <a:rPr lang="en-US" sz="2000">
                <a:latin typeface="Courier New"/>
                <a:cs typeface="Courier New"/>
              </a:rPr>
              <a:t>    foo: function(a, b) {</a:t>
            </a:r>
          </a:p>
          <a:p>
            <a:pPr marL="0" indent="0">
              <a:buNone/>
            </a:pPr>
            <a:r>
              <a:rPr lang="en-US" sz="2000">
                <a:latin typeface="Courier New"/>
                <a:cs typeface="Courier New"/>
              </a:rPr>
              <a:t>    },</a:t>
            </a:r>
          </a:p>
          <a:p>
            <a:pPr marL="0" indent="0">
              <a:buNone/>
            </a:pPr>
            <a:r>
              <a:rPr lang="en-US" sz="2000">
                <a:latin typeface="Courier New"/>
                <a:cs typeface="Courier New"/>
              </a:rPr>
              <a:t>    bar: function(x, y) {</a:t>
            </a:r>
          </a:p>
          <a:p>
            <a:pPr marL="0" indent="0">
              <a:buNone/>
            </a:pPr>
            <a:r>
              <a:rPr lang="en-US" sz="2000">
                <a:latin typeface="Courier New"/>
                <a:cs typeface="Courier New"/>
              </a:rPr>
              <a:t>    }</a:t>
            </a:r>
          </a:p>
          <a:p>
            <a:pPr marL="0" indent="0">
              <a:buNone/>
            </a:pPr>
            <a:r>
              <a:rPr lang="en-US" sz="200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276</a:t>
            </a:fld>
            <a:endParaRPr lang="en-US"/>
          </a:p>
        </p:txBody>
      </p:sp>
    </p:spTree>
    <p:extLst>
      <p:ext uri="{BB962C8B-B14F-4D97-AF65-F5344CB8AC3E}">
        <p14:creationId xmlns:p14="http://schemas.microsoft.com/office/powerpoint/2010/main" val="93240435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Array Matching</a:t>
            </a:r>
          </a:p>
        </p:txBody>
      </p:sp>
      <p:sp>
        <p:nvSpPr>
          <p:cNvPr id="3" name="Text Placeholder 2"/>
          <p:cNvSpPr>
            <a:spLocks noGrp="1"/>
          </p:cNvSpPr>
          <p:nvPr>
            <p:ph type="body" idx="1"/>
          </p:nvPr>
        </p:nvSpPr>
        <p:spPr/>
        <p:txBody>
          <a:bodyPr/>
          <a:lstStyle/>
          <a:p>
            <a:r>
              <a:rPr lang="is-IS" dirty="0">
                <a:cs typeface="Courier New"/>
              </a:rPr>
              <a:t>Intuitive and flexible destructuring of Arrays into individual variables during assignment</a:t>
            </a:r>
          </a:p>
          <a:p>
            <a:pPr marL="0" indent="0">
              <a:buNone/>
            </a:pPr>
            <a:endParaRPr lang="is-IS" dirty="0">
              <a:cs typeface="Courier New"/>
            </a:endParaRPr>
          </a:p>
          <a:p>
            <a:pPr marL="0" indent="0">
              <a:buNone/>
            </a:pPr>
            <a:r>
              <a:rPr lang="is-IS" dirty="0">
                <a:latin typeface="Courier New"/>
                <a:cs typeface="Courier New"/>
              </a:rPr>
              <a:t>var list = [ 1, 2, 3 ];</a:t>
            </a:r>
          </a:p>
          <a:p>
            <a:pPr marL="0" indent="0">
              <a:buNone/>
            </a:pPr>
            <a:r>
              <a:rPr lang="is-IS" dirty="0">
                <a:latin typeface="Courier New"/>
                <a:cs typeface="Courier New"/>
              </a:rPr>
              <a:t>var [ a, , b ] = list; // a = 1 , b = 3</a:t>
            </a:r>
          </a:p>
          <a:p>
            <a:pPr marL="0" indent="0">
              <a:buNone/>
            </a:pPr>
            <a:r>
              <a:rPr lang="is-IS" dirty="0">
                <a:latin typeface="Courier New"/>
                <a:cs typeface="Courier New"/>
              </a:rPr>
              <a:t>[ b, a ] = [ a, b ];</a:t>
            </a:r>
          </a:p>
          <a:p>
            <a:pPr marL="0" indent="0">
              <a:buNone/>
            </a:pPr>
            <a:endParaRPr lang="is-IS" dirty="0">
              <a:latin typeface="Courier New"/>
              <a:cs typeface="Courier New"/>
            </a:endParaRPr>
          </a:p>
          <a:p>
            <a:pPr marL="0" indent="0">
              <a:buNone/>
            </a:pPr>
            <a:endParaRPr lang="is-IS" dirty="0">
              <a:latin typeface="Courier New"/>
              <a:cs typeface="Courier New"/>
            </a:endParaRPr>
          </a:p>
          <a:p>
            <a:pPr marL="0" indent="0">
              <a:buNone/>
            </a:pPr>
            <a:r>
              <a:rPr lang="en-US" sz="1800" dirty="0">
                <a:latin typeface="Courier New"/>
                <a:cs typeface="Courier New"/>
                <a:hlinkClick r:id="rId3"/>
              </a:rPr>
              <a:t>http://jsbin.com/yafage/edit?js,console</a:t>
            </a:r>
            <a:endParaRPr lang="is-I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277</a:t>
            </a:fld>
            <a:endParaRPr lang="en-US"/>
          </a:p>
        </p:txBody>
      </p:sp>
    </p:spTree>
    <p:extLst>
      <p:ext uri="{BB962C8B-B14F-4D97-AF65-F5344CB8AC3E}">
        <p14:creationId xmlns:p14="http://schemas.microsoft.com/office/powerpoint/2010/main" val="420560008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 Matching</a:t>
            </a:r>
          </a:p>
        </p:txBody>
      </p:sp>
      <p:sp>
        <p:nvSpPr>
          <p:cNvPr id="3" name="Text Placeholder 2"/>
          <p:cNvSpPr>
            <a:spLocks noGrp="1"/>
          </p:cNvSpPr>
          <p:nvPr>
            <p:ph type="body" idx="1"/>
          </p:nvPr>
        </p:nvSpPr>
        <p:spPr/>
        <p:txBody>
          <a:bodyPr/>
          <a:lstStyle/>
          <a:p>
            <a:r>
              <a:rPr lang="en-US" dirty="0"/>
              <a:t>Flexible destructuring of Objects into individual variables during assignment</a:t>
            </a:r>
          </a:p>
          <a:p>
            <a:endParaRPr lang="en-US" dirty="0"/>
          </a:p>
          <a:p>
            <a:pPr marL="0" indent="0">
              <a:buNone/>
            </a:pPr>
            <a:r>
              <a:rPr lang="en-US" dirty="0">
                <a:latin typeface="Courier New"/>
                <a:cs typeface="Courier New"/>
              </a:rPr>
              <a:t>var { a, b, c} = {a:1, b:2, c:3};</a:t>
            </a:r>
          </a:p>
          <a:p>
            <a:pPr marL="0" indent="0">
              <a:buNone/>
            </a:pPr>
            <a:r>
              <a:rPr lang="en-US" dirty="0">
                <a:latin typeface="Courier New"/>
                <a:cs typeface="Courier New"/>
              </a:rPr>
              <a:t>console.log(a); // 1</a:t>
            </a:r>
          </a:p>
          <a:p>
            <a:pPr marL="0" indent="0">
              <a:buNone/>
            </a:pPr>
            <a:r>
              <a:rPr lang="en-US" dirty="0">
                <a:latin typeface="Courier New"/>
                <a:cs typeface="Courier New"/>
              </a:rPr>
              <a:t>console.log(b); // 2</a:t>
            </a:r>
          </a:p>
          <a:p>
            <a:pPr marL="0" indent="0">
              <a:buNone/>
            </a:pPr>
            <a:r>
              <a:rPr lang="en-US" dirty="0">
                <a:latin typeface="Courier New"/>
                <a:cs typeface="Courier New"/>
              </a:rPr>
              <a:t>console.log(c); // 3</a:t>
            </a:r>
          </a:p>
          <a:p>
            <a:pPr marL="0" indent="0">
              <a:buNone/>
            </a:pPr>
            <a:endParaRPr lang="en-US" dirty="0">
              <a:latin typeface="Courier New"/>
              <a:cs typeface="Courier New"/>
            </a:endParaRPr>
          </a:p>
          <a:p>
            <a:pPr marL="0" indent="0">
              <a:buNone/>
            </a:pPr>
            <a:r>
              <a:rPr lang="en-US" sz="1800" dirty="0">
                <a:latin typeface="Courier New"/>
                <a:cs typeface="Courier New"/>
                <a:hlinkClick r:id="rId3"/>
              </a:rPr>
              <a:t>http://jsbin.com/kuvizu/edit?js,console</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278</a:t>
            </a:fld>
            <a:endParaRPr lang="en-US"/>
          </a:p>
        </p:txBody>
      </p:sp>
    </p:spTree>
    <p:extLst>
      <p:ext uri="{BB962C8B-B14F-4D97-AF65-F5344CB8AC3E}">
        <p14:creationId xmlns:p14="http://schemas.microsoft.com/office/powerpoint/2010/main" val="136823579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Symbol Primitive</a:t>
            </a:r>
          </a:p>
        </p:txBody>
      </p:sp>
      <p:sp>
        <p:nvSpPr>
          <p:cNvPr id="3" name="Text Placeholder 2"/>
          <p:cNvSpPr>
            <a:spLocks noGrp="1"/>
          </p:cNvSpPr>
          <p:nvPr>
            <p:ph type="body" idx="1"/>
          </p:nvPr>
        </p:nvSpPr>
        <p:spPr/>
        <p:txBody>
          <a:bodyPr/>
          <a:lstStyle/>
          <a:p>
            <a:r>
              <a:rPr lang="en-US" dirty="0"/>
              <a:t>A </a:t>
            </a:r>
            <a:r>
              <a:rPr lang="en-US" b="1" dirty="0"/>
              <a:t>unique</a:t>
            </a:r>
            <a:r>
              <a:rPr lang="en-US" dirty="0"/>
              <a:t> and </a:t>
            </a:r>
            <a:r>
              <a:rPr lang="en-US" b="1" dirty="0"/>
              <a:t>immutable </a:t>
            </a:r>
            <a:r>
              <a:rPr lang="en-US" dirty="0"/>
              <a:t>data type.</a:t>
            </a:r>
          </a:p>
          <a:p>
            <a:r>
              <a:rPr lang="en-US" dirty="0"/>
              <a:t>May be used as an identifier for object properties.</a:t>
            </a:r>
          </a:p>
          <a:p>
            <a:r>
              <a:rPr lang="en-US" dirty="0"/>
              <a:t>Examples:</a:t>
            </a:r>
          </a:p>
          <a:p>
            <a:pPr marL="0" lvl="1" indent="0">
              <a:buNone/>
            </a:pPr>
            <a:r>
              <a:rPr lang="en-US">
                <a:latin typeface="Courier New" pitchFamily="49" charset="0"/>
              </a:rPr>
              <a:t>var sym1 = Symbol();</a:t>
            </a:r>
          </a:p>
          <a:p>
            <a:pPr marL="0" lvl="1" indent="0">
              <a:buNone/>
            </a:pPr>
            <a:r>
              <a:rPr lang="en-US">
                <a:latin typeface="Courier New" pitchFamily="49" charset="0"/>
              </a:rPr>
              <a:t>var sym2 = Symbol("foo");</a:t>
            </a:r>
          </a:p>
          <a:p>
            <a:pPr marL="0" lvl="1" indent="0">
              <a:buNone/>
            </a:pPr>
            <a:r>
              <a:rPr lang="en-US">
                <a:latin typeface="Courier New" pitchFamily="49" charset="0"/>
              </a:rPr>
              <a:t>var sym3 = Symbol("foo"); // Symbol("foo") !== Symbol("foo")</a:t>
            </a:r>
          </a:p>
          <a:p>
            <a:r>
              <a:rPr lang="en-US" dirty="0"/>
              <a:t>Well-known Symbols</a:t>
            </a:r>
          </a:p>
          <a:p>
            <a:pPr lvl="1"/>
            <a:r>
              <a:rPr lang="en-US" dirty="0"/>
              <a:t>Built-in symbols, for example </a:t>
            </a:r>
            <a:r>
              <a:rPr lang="en-US" dirty="0" err="1"/>
              <a:t>Symbol.iterator</a:t>
            </a:r>
            <a:r>
              <a:rPr lang="en-US" dirty="0"/>
              <a:t>, which returns the default iterator for an object. </a:t>
            </a:r>
          </a:p>
        </p:txBody>
      </p:sp>
      <p:sp>
        <p:nvSpPr>
          <p:cNvPr id="4" name="Slide Number Placeholder 3"/>
          <p:cNvSpPr>
            <a:spLocks noGrp="1"/>
          </p:cNvSpPr>
          <p:nvPr>
            <p:ph type="sldNum" sz="quarter" idx="12"/>
          </p:nvPr>
        </p:nvSpPr>
        <p:spPr/>
        <p:txBody>
          <a:bodyPr/>
          <a:lstStyle/>
          <a:p>
            <a:fld id="{A839F4A7-500C-EC42-AE23-BEE4487EA55E}" type="slidenum">
              <a:rPr lang="en-US" smtClean="0"/>
              <a:t>279</a:t>
            </a:fld>
            <a:endParaRPr lang="en-US"/>
          </a:p>
        </p:txBody>
      </p:sp>
    </p:spTree>
    <p:extLst>
      <p:ext uri="{BB962C8B-B14F-4D97-AF65-F5344CB8AC3E}">
        <p14:creationId xmlns:p14="http://schemas.microsoft.com/office/powerpoint/2010/main" val="1679491905"/>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39F4A7-500C-EC42-AE23-BEE4487EA55E}" type="slidenum">
              <a:rPr lang="en-US" smtClean="0"/>
              <a:t>280</a:t>
            </a:fld>
            <a:endParaRPr lang="en-US"/>
          </a:p>
        </p:txBody>
      </p:sp>
      <p:sp>
        <p:nvSpPr>
          <p:cNvPr id="3" name="Text Placeholder 2"/>
          <p:cNvSpPr>
            <a:spLocks noGrp="1"/>
          </p:cNvSpPr>
          <p:nvPr>
            <p:ph type="body" sz="quarter" idx="13"/>
          </p:nvPr>
        </p:nvSpPr>
        <p:spPr/>
        <p:txBody>
          <a:bodyPr>
            <a:normAutofit/>
          </a:bodyPr>
          <a:lstStyle/>
          <a:p>
            <a:pPr marL="342900" indent="-342900">
              <a:buFont typeface="Arial"/>
              <a:buChar char="•"/>
            </a:pPr>
            <a:r>
              <a:rPr lang="en-US" dirty="0">
                <a:latin typeface="+mj-lt"/>
              </a:rPr>
              <a:t>Customizable iteration behavior for objects</a:t>
            </a:r>
          </a:p>
          <a:p>
            <a:pPr marL="342900" indent="-342900">
              <a:buFont typeface="Arial"/>
              <a:buChar char="•"/>
            </a:pPr>
            <a:r>
              <a:rPr lang="en-US" dirty="0">
                <a:latin typeface="+mj-lt"/>
              </a:rPr>
              <a:t>In order to be iterable, an object must implement the iterator method -- the object, or one of the objects up its prototype chain) must have a property with a </a:t>
            </a:r>
            <a:r>
              <a:rPr lang="en-US" dirty="0" err="1">
                <a:latin typeface="+mj-lt"/>
              </a:rPr>
              <a:t>Symbol.iterator</a:t>
            </a:r>
            <a:r>
              <a:rPr lang="en-US" dirty="0">
                <a:latin typeface="+mj-lt"/>
              </a:rPr>
              <a:t> key.</a:t>
            </a:r>
          </a:p>
          <a:p>
            <a:endParaRPr lang="en-US" dirty="0"/>
          </a:p>
          <a:p>
            <a:pPr marL="0" indent="0">
              <a:buNone/>
            </a:pPr>
            <a:r>
              <a:rPr lang="en-US">
                <a:latin typeface="Courier New" pitchFamily="49" charset="0"/>
              </a:rPr>
              <a:t>var </a:t>
            </a:r>
            <a:r>
              <a:rPr lang="en-US" err="1">
                <a:latin typeface="Courier New" pitchFamily="49" charset="0"/>
              </a:rPr>
              <a:t>myIterable</a:t>
            </a:r>
            <a:r>
              <a:rPr lang="en-US">
                <a:latin typeface="Courier New" pitchFamily="49" charset="0"/>
              </a:rPr>
              <a:t> = {}</a:t>
            </a:r>
          </a:p>
          <a:p>
            <a:r>
              <a:rPr lang="en-US" dirty="0" err="1"/>
              <a:t>myIterable</a:t>
            </a:r>
            <a:r>
              <a:rPr lang="en-US" dirty="0"/>
              <a:t>[</a:t>
            </a:r>
            <a:r>
              <a:rPr lang="en-US" dirty="0" err="1"/>
              <a:t>Symbol.iterator</a:t>
            </a:r>
            <a:r>
              <a:rPr lang="en-US" dirty="0"/>
              <a:t>] = function* () {</a:t>
            </a:r>
          </a:p>
          <a:p>
            <a:pPr marL="0" indent="0">
              <a:buNone/>
            </a:pPr>
            <a:r>
              <a:rPr lang="en-US">
                <a:latin typeface="Courier New" pitchFamily="49" charset="0"/>
              </a:rPr>
              <a:t>    yield 1;</a:t>
            </a:r>
          </a:p>
          <a:p>
            <a:pPr marL="0" indent="0">
              <a:buNone/>
            </a:pPr>
            <a:r>
              <a:rPr lang="en-US">
                <a:latin typeface="Courier New" pitchFamily="49" charset="0"/>
              </a:rPr>
              <a:t>    yield 2;</a:t>
            </a:r>
          </a:p>
          <a:p>
            <a:pPr marL="0" indent="0">
              <a:buNone/>
            </a:pPr>
            <a:r>
              <a:rPr lang="en-US">
                <a:latin typeface="Courier New" pitchFamily="49" charset="0"/>
              </a:rPr>
              <a:t>    yield 3;</a:t>
            </a:r>
          </a:p>
          <a:p>
            <a:pPr marL="0" indent="0">
              <a:buNone/>
            </a:pPr>
            <a:r>
              <a:rPr lang="en-US">
                <a:latin typeface="Courier New" pitchFamily="49" charset="0"/>
              </a:rPr>
              <a:t>};</a:t>
            </a:r>
          </a:p>
          <a:p>
            <a:r>
              <a:rPr lang="en-US" dirty="0"/>
              <a:t>[...</a:t>
            </a:r>
            <a:r>
              <a:rPr lang="en-US" dirty="0" err="1"/>
              <a:t>myIterable</a:t>
            </a:r>
            <a:r>
              <a:rPr lang="en-US" dirty="0"/>
              <a:t>] // [1, 2, 3]</a:t>
            </a:r>
          </a:p>
        </p:txBody>
      </p:sp>
      <p:sp>
        <p:nvSpPr>
          <p:cNvPr id="2" name="Title 1"/>
          <p:cNvSpPr>
            <a:spLocks noGrp="1"/>
          </p:cNvSpPr>
          <p:nvPr>
            <p:ph type="title"/>
          </p:nvPr>
        </p:nvSpPr>
        <p:spPr/>
        <p:txBody>
          <a:bodyPr/>
          <a:lstStyle/>
          <a:p>
            <a:r>
              <a:rPr lang="en-US"/>
              <a:t>User-defined Iterators</a:t>
            </a:r>
          </a:p>
        </p:txBody>
      </p:sp>
    </p:spTree>
    <p:extLst>
      <p:ext uri="{BB962C8B-B14F-4D97-AF65-F5344CB8AC3E}">
        <p14:creationId xmlns:p14="http://schemas.microsoft.com/office/powerpoint/2010/main" val="136120807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For-Of Operator</a:t>
            </a:r>
          </a:p>
        </p:txBody>
      </p:sp>
      <p:sp>
        <p:nvSpPr>
          <p:cNvPr id="3" name="Text Placeholder 2"/>
          <p:cNvSpPr>
            <a:spLocks noGrp="1"/>
          </p:cNvSpPr>
          <p:nvPr>
            <p:ph type="body" idx="1"/>
          </p:nvPr>
        </p:nvSpPr>
        <p:spPr/>
        <p:txBody>
          <a:bodyPr numCol="1">
            <a:normAutofit lnSpcReduction="10000"/>
          </a:bodyPr>
          <a:lstStyle/>
          <a:p>
            <a:r>
              <a:rPr lang="en-US" dirty="0"/>
              <a:t>Convenient way to iterate over all values of an iterable object</a:t>
            </a:r>
          </a:p>
          <a:p>
            <a:pPr marL="0" indent="0">
              <a:buNone/>
            </a:pPr>
            <a:r>
              <a:rPr lang="en-US" sz="1400" dirty="0">
                <a:latin typeface="Courier New"/>
                <a:cs typeface="Courier New"/>
              </a:rPr>
              <a:t>let </a:t>
            </a:r>
            <a:r>
              <a:rPr lang="en-US" sz="1400" dirty="0" err="1">
                <a:latin typeface="Courier New"/>
                <a:cs typeface="Courier New"/>
              </a:rPr>
              <a:t>fibonacci</a:t>
            </a:r>
            <a:r>
              <a:rPr lang="en-US" sz="1400" dirty="0">
                <a:latin typeface="Courier New"/>
                <a:cs typeface="Courier New"/>
              </a:rPr>
              <a:t> = {</a:t>
            </a:r>
          </a:p>
          <a:p>
            <a:pPr marL="0" indent="0">
              <a:buNone/>
            </a:pPr>
            <a:r>
              <a:rPr lang="en-US" sz="1400" dirty="0">
                <a:latin typeface="Courier New"/>
                <a:cs typeface="Courier New"/>
              </a:rPr>
              <a:t>  [</a:t>
            </a:r>
            <a:r>
              <a:rPr lang="en-US" sz="1400" dirty="0" err="1">
                <a:latin typeface="Courier New"/>
                <a:cs typeface="Courier New"/>
              </a:rPr>
              <a:t>Symbol.iterator</a:t>
            </a:r>
            <a:r>
              <a:rPr lang="en-US" sz="1400" dirty="0">
                <a:latin typeface="Courier New"/>
                <a:cs typeface="Courier New"/>
              </a:rPr>
              <a:t>]() {</a:t>
            </a:r>
          </a:p>
          <a:p>
            <a:pPr marL="0" indent="0">
              <a:buNone/>
            </a:pPr>
            <a:r>
              <a:rPr lang="en-US" sz="1400" dirty="0">
                <a:latin typeface="Courier New"/>
                <a:cs typeface="Courier New"/>
              </a:rPr>
              <a:t>    let pre = 0, cur = 1</a:t>
            </a:r>
          </a:p>
          <a:p>
            <a:pPr marL="0" indent="0">
              <a:buNone/>
            </a:pPr>
            <a:r>
              <a:rPr lang="en-US" sz="1400" dirty="0">
                <a:latin typeface="Courier New"/>
                <a:cs typeface="Courier New"/>
              </a:rPr>
              <a:t>    return {</a:t>
            </a:r>
          </a:p>
          <a:p>
            <a:pPr marL="0" indent="0">
              <a:buNone/>
            </a:pPr>
            <a:r>
              <a:rPr lang="en-US" sz="1400" dirty="0">
                <a:latin typeface="Courier New"/>
                <a:cs typeface="Courier New"/>
              </a:rPr>
              <a:t>      next() {</a:t>
            </a:r>
          </a:p>
          <a:p>
            <a:pPr marL="0" indent="0">
              <a:buNone/>
            </a:pPr>
            <a:r>
              <a:rPr lang="en-US" sz="1400" dirty="0">
                <a:latin typeface="Courier New"/>
                <a:cs typeface="Courier New"/>
              </a:rPr>
              <a:t>        [ pre, cur] = [cur, pre + cur]</a:t>
            </a:r>
          </a:p>
          <a:p>
            <a:pPr marL="0" indent="0">
              <a:buNone/>
            </a:pPr>
            <a:r>
              <a:rPr lang="en-US" sz="1400" dirty="0">
                <a:latin typeface="Courier New"/>
                <a:cs typeface="Courier New"/>
              </a:rPr>
              <a:t>        return { done: false, value: cur }</a:t>
            </a:r>
          </a:p>
          <a:p>
            <a:pPr marL="0" indent="0">
              <a:buNone/>
            </a:pPr>
            <a:r>
              <a:rPr lang="en-US" sz="1400" dirty="0">
                <a:latin typeface="Courier New"/>
                <a:cs typeface="Courier New"/>
              </a:rPr>
              <a:t>        }</a:t>
            </a:r>
          </a:p>
          <a:p>
            <a:pPr marL="0" indent="0">
              <a:buNone/>
            </a:pPr>
            <a:r>
              <a:rPr lang="en-US" sz="1400" dirty="0">
                <a:latin typeface="Courier New"/>
                <a:cs typeface="Courier New"/>
              </a:rPr>
              <a:t>      }</a:t>
            </a:r>
          </a:p>
          <a:p>
            <a:pPr marL="0" indent="0">
              <a:buNone/>
            </a:pPr>
            <a:r>
              <a:rPr lang="en-US" sz="1400" dirty="0">
                <a:latin typeface="Courier New"/>
                <a:cs typeface="Courier New"/>
              </a:rPr>
              <a:t>    }</a:t>
            </a:r>
          </a:p>
          <a:p>
            <a:pPr marL="0" indent="0">
              <a:buNone/>
            </a:pPr>
            <a:r>
              <a:rPr lang="en-US" sz="1400" dirty="0">
                <a:latin typeface="Courier New"/>
                <a:cs typeface="Courier New"/>
              </a:rPr>
              <a:t>}</a:t>
            </a:r>
          </a:p>
          <a:p>
            <a:pPr marL="0" indent="0">
              <a:buNone/>
            </a:pPr>
            <a:r>
              <a:rPr lang="en-US" sz="1400" dirty="0">
                <a:latin typeface="Courier New"/>
                <a:cs typeface="Courier New"/>
              </a:rPr>
              <a:t>for (let n of </a:t>
            </a:r>
            <a:r>
              <a:rPr lang="en-US" sz="1400" dirty="0" err="1">
                <a:latin typeface="Courier New"/>
                <a:cs typeface="Courier New"/>
              </a:rPr>
              <a:t>fibonacci</a:t>
            </a:r>
            <a:r>
              <a:rPr lang="en-US" sz="1400" dirty="0">
                <a:latin typeface="Courier New"/>
                <a:cs typeface="Courier New"/>
              </a:rPr>
              <a:t>) {</a:t>
            </a:r>
          </a:p>
          <a:p>
            <a:pPr marL="0" indent="0">
              <a:buNone/>
            </a:pPr>
            <a:r>
              <a:rPr lang="en-US" sz="1400" dirty="0">
                <a:latin typeface="Courier New"/>
                <a:cs typeface="Courier New"/>
              </a:rPr>
              <a:t>    if (n &gt; 1000)</a:t>
            </a:r>
          </a:p>
          <a:p>
            <a:pPr marL="0" indent="0">
              <a:buNone/>
            </a:pPr>
            <a:r>
              <a:rPr lang="en-US" sz="1400" dirty="0">
                <a:latin typeface="Courier New"/>
                <a:cs typeface="Courier New"/>
              </a:rPr>
              <a:t>      break;</a:t>
            </a:r>
          </a:p>
          <a:p>
            <a:pPr marL="0" indent="0">
              <a:buNone/>
            </a:pPr>
            <a:r>
              <a:rPr lang="en-US" sz="1400" dirty="0">
                <a:latin typeface="Courier New"/>
                <a:cs typeface="Courier New"/>
              </a:rPr>
              <a:t>    console.log(n);</a:t>
            </a:r>
          </a:p>
          <a:p>
            <a:pPr marL="0" indent="0">
              <a:buNone/>
            </a:pPr>
            <a:r>
              <a:rPr lang="en-US" sz="1400" dirty="0">
                <a:latin typeface="Courier New"/>
                <a:cs typeface="Courier New"/>
              </a:rPr>
              <a:t>}</a:t>
            </a:r>
          </a:p>
          <a:p>
            <a:pPr marL="0" indent="0">
              <a:buNone/>
            </a:pPr>
            <a:r>
              <a:rPr lang="en-US" sz="1400" dirty="0">
                <a:latin typeface="Courier New"/>
                <a:cs typeface="Courier New"/>
                <a:hlinkClick r:id="rId3"/>
              </a:rPr>
              <a:t>http://jsbin.com/nururoz/edit?js,console</a:t>
            </a:r>
            <a:endParaRPr lang="en-US" sz="14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281</a:t>
            </a:fld>
            <a:endParaRPr lang="en-US"/>
          </a:p>
        </p:txBody>
      </p:sp>
    </p:spTree>
    <p:extLst>
      <p:ext uri="{BB962C8B-B14F-4D97-AF65-F5344CB8AC3E}">
        <p14:creationId xmlns:p14="http://schemas.microsoft.com/office/powerpoint/2010/main" val="1362849579"/>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rtl="0"/>
            <a:r>
              <a:rPr lang="en-US"/>
              <a:t>Creating and Consuming Generator Functions</a:t>
            </a:r>
          </a:p>
        </p:txBody>
      </p:sp>
      <p:sp>
        <p:nvSpPr>
          <p:cNvPr id="5" name="Text Placeholder 4"/>
          <p:cNvSpPr>
            <a:spLocks noGrp="1"/>
          </p:cNvSpPr>
          <p:nvPr>
            <p:ph type="body" idx="1"/>
          </p:nvPr>
        </p:nvSpPr>
        <p:spPr/>
        <p:txBody>
          <a:bodyPr>
            <a:normAutofit lnSpcReduction="10000"/>
          </a:bodyPr>
          <a:lstStyle/>
          <a:p>
            <a:r>
              <a:rPr lang="en-US" dirty="0"/>
              <a:t>A generator is a special type of function that works as a factory for iterators.</a:t>
            </a:r>
          </a:p>
          <a:p>
            <a:pPr marL="0" indent="0">
              <a:buNone/>
            </a:pPr>
            <a:endParaRPr lang="en-US" dirty="0"/>
          </a:p>
          <a:p>
            <a:pPr marL="0" indent="0">
              <a:buNone/>
            </a:pPr>
            <a:r>
              <a:rPr lang="en-US" sz="2000" dirty="0">
                <a:latin typeface="Courier New"/>
                <a:cs typeface="Courier New"/>
              </a:rPr>
              <a:t>function* </a:t>
            </a:r>
            <a:r>
              <a:rPr lang="en-US" sz="2000" dirty="0" err="1">
                <a:latin typeface="Courier New"/>
                <a:cs typeface="Courier New"/>
              </a:rPr>
              <a:t>idMaker</a:t>
            </a:r>
            <a:r>
              <a:rPr lang="en-US" sz="2000" dirty="0">
                <a:latin typeface="Courier New"/>
                <a:cs typeface="Courier New"/>
              </a:rPr>
              <a:t>(){</a:t>
            </a:r>
          </a:p>
          <a:p>
            <a:pPr marL="0" indent="0">
              <a:buNone/>
            </a:pPr>
            <a:r>
              <a:rPr lang="en-US" sz="2000" dirty="0">
                <a:latin typeface="Courier New"/>
                <a:cs typeface="Courier New"/>
              </a:rPr>
              <a:t>  var index = 0;</a:t>
            </a:r>
          </a:p>
          <a:p>
            <a:pPr marL="0" indent="0">
              <a:buNone/>
            </a:pPr>
            <a:r>
              <a:rPr lang="en-US" sz="2000" dirty="0">
                <a:latin typeface="Courier New"/>
                <a:cs typeface="Courier New"/>
              </a:rPr>
              <a:t>  while(true)</a:t>
            </a:r>
          </a:p>
          <a:p>
            <a:pPr marL="0" indent="0">
              <a:buNone/>
            </a:pPr>
            <a:r>
              <a:rPr lang="en-US" sz="2000" dirty="0">
                <a:latin typeface="Courier New"/>
                <a:cs typeface="Courier New"/>
              </a:rPr>
              <a:t>    yield index++;</a:t>
            </a:r>
          </a:p>
          <a:p>
            <a:pPr marL="0" indent="0">
              <a:buNone/>
            </a:pPr>
            <a:r>
              <a:rPr lang="en-US" sz="2000" dirty="0">
                <a:latin typeface="Courier New"/>
                <a:cs typeface="Courier New"/>
              </a:rPr>
              <a:t>}</a:t>
            </a:r>
          </a:p>
          <a:p>
            <a:pPr marL="0" indent="0">
              <a:buNone/>
            </a:pPr>
            <a:r>
              <a:rPr lang="en-US" sz="2000" dirty="0">
                <a:latin typeface="Courier New"/>
                <a:cs typeface="Courier New"/>
              </a:rPr>
              <a:t>var gen = </a:t>
            </a:r>
            <a:r>
              <a:rPr lang="en-US" sz="2000" dirty="0" err="1">
                <a:latin typeface="Courier New"/>
                <a:cs typeface="Courier New"/>
              </a:rPr>
              <a:t>idMaker</a:t>
            </a:r>
            <a:r>
              <a:rPr lang="en-US" sz="2000" dirty="0">
                <a:latin typeface="Courier New"/>
                <a:cs typeface="Courier New"/>
              </a:rPr>
              <a:t>();</a:t>
            </a:r>
          </a:p>
          <a:p>
            <a:pPr marL="0" indent="0">
              <a:buNone/>
            </a:pPr>
            <a:r>
              <a:rPr lang="en-US" sz="2000" dirty="0">
                <a:latin typeface="Courier New"/>
                <a:cs typeface="Courier New"/>
              </a:rPr>
              <a:t>console.log(</a:t>
            </a:r>
            <a:r>
              <a:rPr lang="en-US" sz="2000" dirty="0" err="1">
                <a:latin typeface="Courier New"/>
                <a:cs typeface="Courier New"/>
              </a:rPr>
              <a:t>gen.next</a:t>
            </a:r>
            <a:r>
              <a:rPr lang="en-US" sz="2000" dirty="0">
                <a:latin typeface="Courier New"/>
                <a:cs typeface="Courier New"/>
              </a:rPr>
              <a:t>().value); // 0</a:t>
            </a:r>
          </a:p>
          <a:p>
            <a:pPr marL="0" indent="0">
              <a:buNone/>
            </a:pPr>
            <a:r>
              <a:rPr lang="en-US" sz="2000" dirty="0">
                <a:latin typeface="Courier New"/>
                <a:cs typeface="Courier New"/>
              </a:rPr>
              <a:t>console.log(</a:t>
            </a:r>
            <a:r>
              <a:rPr lang="en-US" sz="2000" dirty="0" err="1">
                <a:latin typeface="Courier New"/>
                <a:cs typeface="Courier New"/>
              </a:rPr>
              <a:t>gen.next</a:t>
            </a:r>
            <a:r>
              <a:rPr lang="en-US" sz="2000" dirty="0">
                <a:latin typeface="Courier New"/>
                <a:cs typeface="Courier New"/>
              </a:rPr>
              <a:t>().value); // 1</a:t>
            </a:r>
          </a:p>
          <a:p>
            <a:pPr marL="0" indent="0">
              <a:buNone/>
            </a:pPr>
            <a:endParaRPr lang="en-US" sz="2000" dirty="0">
              <a:latin typeface="Courier New"/>
              <a:cs typeface="Courier New"/>
            </a:endParaRPr>
          </a:p>
          <a:p>
            <a:r>
              <a:rPr lang="en-US" sz="2000" dirty="0">
                <a:latin typeface="+mj-lt"/>
                <a:cs typeface="Courier New"/>
                <a:hlinkClick r:id="rId3"/>
              </a:rPr>
              <a:t>http://jsbin.com/pozite/edit?js,console</a:t>
            </a:r>
            <a:endParaRPr lang="en-US" sz="2000" dirty="0">
              <a:latin typeface="+mj-lt"/>
              <a:cs typeface="Courier New"/>
            </a:endParaRPr>
          </a:p>
        </p:txBody>
      </p:sp>
      <p:sp>
        <p:nvSpPr>
          <p:cNvPr id="3" name="Slide Number Placeholder 2"/>
          <p:cNvSpPr>
            <a:spLocks noGrp="1"/>
          </p:cNvSpPr>
          <p:nvPr>
            <p:ph type="sldNum" sz="quarter" idx="12"/>
          </p:nvPr>
        </p:nvSpPr>
        <p:spPr/>
        <p:txBody>
          <a:bodyPr/>
          <a:lstStyle/>
          <a:p>
            <a:fld id="{6FFFF67E-EC6A-B940-8DC7-BF9A5925C934}" type="slidenum">
              <a:rPr lang="en-US" smtClean="0"/>
              <a:t>282</a:t>
            </a:fld>
            <a:endParaRPr lang="en-US"/>
          </a:p>
        </p:txBody>
      </p:sp>
    </p:spTree>
    <p:extLst>
      <p:ext uri="{BB962C8B-B14F-4D97-AF65-F5344CB8AC3E}">
        <p14:creationId xmlns:p14="http://schemas.microsoft.com/office/powerpoint/2010/main" val="376886786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rtl="0"/>
            <a:r>
              <a:rPr lang="en-US"/>
              <a:t>Class Definition</a:t>
            </a:r>
          </a:p>
        </p:txBody>
      </p:sp>
      <p:sp>
        <p:nvSpPr>
          <p:cNvPr id="5" name="Text Placeholder 4"/>
          <p:cNvSpPr>
            <a:spLocks noGrp="1"/>
          </p:cNvSpPr>
          <p:nvPr>
            <p:ph type="body" idx="1"/>
          </p:nvPr>
        </p:nvSpPr>
        <p:spPr/>
        <p:txBody>
          <a:bodyPr/>
          <a:lstStyle/>
          <a:p>
            <a:r>
              <a:rPr lang="en-US"/>
              <a:t>ES6 introduces more OOP-style classes</a:t>
            </a:r>
          </a:p>
          <a:p>
            <a:r>
              <a:rPr lang="en-US"/>
              <a:t>Can be created with Class declaration or Class expression</a:t>
            </a:r>
          </a:p>
          <a:p>
            <a:pPr marL="0" indent="0">
              <a:buNone/>
            </a:pPr>
            <a:endParaRPr lang="en-US"/>
          </a:p>
        </p:txBody>
      </p:sp>
      <p:sp>
        <p:nvSpPr>
          <p:cNvPr id="3" name="Slide Number Placeholder 2"/>
          <p:cNvSpPr>
            <a:spLocks noGrp="1"/>
          </p:cNvSpPr>
          <p:nvPr>
            <p:ph type="sldNum" sz="quarter" idx="12"/>
          </p:nvPr>
        </p:nvSpPr>
        <p:spPr/>
        <p:txBody>
          <a:bodyPr/>
          <a:lstStyle/>
          <a:p>
            <a:fld id="{6FFFF67E-EC6A-B940-8DC7-BF9A5925C934}" type="slidenum">
              <a:rPr lang="en-US" smtClean="0"/>
              <a:t>283</a:t>
            </a:fld>
            <a:endParaRPr lang="en-US"/>
          </a:p>
        </p:txBody>
      </p:sp>
    </p:spTree>
    <p:extLst>
      <p:ext uri="{BB962C8B-B14F-4D97-AF65-F5344CB8AC3E}">
        <p14:creationId xmlns:p14="http://schemas.microsoft.com/office/powerpoint/2010/main" val="3393514683"/>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 Declaration</a:t>
            </a:r>
          </a:p>
        </p:txBody>
      </p:sp>
      <p:sp>
        <p:nvSpPr>
          <p:cNvPr id="3" name="Text Placeholder 2"/>
          <p:cNvSpPr>
            <a:spLocks noGrp="1"/>
          </p:cNvSpPr>
          <p:nvPr>
            <p:ph type="body" idx="1"/>
          </p:nvPr>
        </p:nvSpPr>
        <p:spPr/>
        <p:txBody>
          <a:bodyPr/>
          <a:lstStyle/>
          <a:p>
            <a:pPr marL="457200" lvl="1" indent="0">
              <a:buNone/>
            </a:pPr>
            <a:endParaRPr lang="en-US">
              <a:latin typeface="Courier New"/>
              <a:cs typeface="Courier New"/>
            </a:endParaRPr>
          </a:p>
          <a:p>
            <a:pPr marL="0" lvl="1" indent="0">
              <a:buNone/>
            </a:pPr>
            <a:r>
              <a:rPr lang="en-US">
                <a:latin typeface="Courier New"/>
                <a:cs typeface="Courier New"/>
              </a:rPr>
              <a:t>class Square {</a:t>
            </a:r>
          </a:p>
          <a:p>
            <a:pPr marL="0" lvl="1" indent="0">
              <a:buNone/>
            </a:pPr>
            <a:r>
              <a:rPr lang="en-US">
                <a:latin typeface="Courier New"/>
                <a:cs typeface="Courier New"/>
              </a:rPr>
              <a:t>  constructor (height, width) {</a:t>
            </a:r>
          </a:p>
          <a:p>
            <a:pPr marL="0" lvl="1" indent="0">
              <a:buNone/>
            </a:pPr>
            <a:r>
              <a:rPr lang="en-US">
                <a:latin typeface="Courier New"/>
                <a:cs typeface="Courier New"/>
              </a:rPr>
              <a:t>    </a:t>
            </a:r>
            <a:r>
              <a:rPr lang="en-US" err="1">
                <a:latin typeface="Courier New"/>
                <a:cs typeface="Courier New"/>
              </a:rPr>
              <a:t>this.height</a:t>
            </a:r>
            <a:r>
              <a:rPr lang="en-US">
                <a:latin typeface="Courier New"/>
                <a:cs typeface="Courier New"/>
              </a:rPr>
              <a:t> = height;</a:t>
            </a:r>
          </a:p>
          <a:p>
            <a:pPr marL="0" lvl="1" indent="0">
              <a:buNone/>
            </a:pPr>
            <a:r>
              <a:rPr lang="en-US">
                <a:latin typeface="Courier New"/>
                <a:cs typeface="Courier New"/>
              </a:rPr>
              <a:t>    </a:t>
            </a:r>
            <a:r>
              <a:rPr lang="en-US" err="1">
                <a:latin typeface="Courier New"/>
                <a:cs typeface="Courier New"/>
              </a:rPr>
              <a:t>this.width</a:t>
            </a:r>
            <a:r>
              <a:rPr lang="en-US">
                <a:latin typeface="Courier New"/>
                <a:cs typeface="Courier New"/>
              </a:rPr>
              <a:t> = width;</a:t>
            </a:r>
          </a:p>
          <a:p>
            <a:pPr marL="0" lvl="1" indent="0">
              <a:buNone/>
            </a:pPr>
            <a:r>
              <a:rPr lang="en-US">
                <a:latin typeface="Courier New"/>
                <a:cs typeface="Courier New"/>
              </a:rPr>
              <a:t>    }</a:t>
            </a:r>
          </a:p>
          <a:p>
            <a:pPr marL="0" lvl="1" indent="0">
              <a:buNone/>
            </a:pPr>
            <a:r>
              <a:rPr lang="en-US">
                <a:latin typeface="Courier New"/>
                <a:cs typeface="Courier New"/>
              </a:rPr>
              <a:t>}</a:t>
            </a:r>
          </a:p>
          <a:p>
            <a:pPr marL="0" indent="0">
              <a:buNone/>
            </a:pP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284</a:t>
            </a:fld>
            <a:endParaRPr lang="en-US"/>
          </a:p>
        </p:txBody>
      </p:sp>
    </p:spTree>
    <p:extLst>
      <p:ext uri="{BB962C8B-B14F-4D97-AF65-F5344CB8AC3E}">
        <p14:creationId xmlns:p14="http://schemas.microsoft.com/office/powerpoint/2010/main" val="2449249159"/>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 Expressions</a:t>
            </a:r>
          </a:p>
        </p:txBody>
      </p:sp>
      <p:sp>
        <p:nvSpPr>
          <p:cNvPr id="3" name="Text Placeholder 2"/>
          <p:cNvSpPr>
            <a:spLocks noGrp="1"/>
          </p:cNvSpPr>
          <p:nvPr>
            <p:ph type="body" idx="1"/>
          </p:nvPr>
        </p:nvSpPr>
        <p:spPr/>
        <p:txBody>
          <a:bodyPr>
            <a:normAutofit lnSpcReduction="10000"/>
          </a:bodyPr>
          <a:lstStyle/>
          <a:p>
            <a:r>
              <a:rPr lang="en-US" dirty="0">
                <a:cs typeface="Courier New"/>
              </a:rPr>
              <a:t>Can be unnamed</a:t>
            </a:r>
          </a:p>
          <a:p>
            <a:pPr marL="0" indent="0">
              <a:buNone/>
            </a:pPr>
            <a:r>
              <a:rPr lang="en-US" sz="1800" dirty="0">
                <a:latin typeface="Courier New"/>
                <a:cs typeface="Courier New"/>
              </a:rPr>
              <a:t>	var Square = class {</a:t>
            </a:r>
          </a:p>
          <a:p>
            <a:pPr marL="0" indent="0">
              <a:buNone/>
            </a:pPr>
            <a:r>
              <a:rPr lang="en-US" sz="1800" dirty="0">
                <a:latin typeface="Courier New"/>
                <a:cs typeface="Courier New"/>
              </a:rPr>
              <a:t>	  constructor(</a:t>
            </a:r>
            <a:r>
              <a:rPr lang="en-US" sz="1800" dirty="0" err="1">
                <a:latin typeface="Courier New"/>
                <a:cs typeface="Courier New"/>
              </a:rPr>
              <a:t>height,width</a:t>
            </a:r>
            <a:r>
              <a:rPr lang="en-US" sz="1800" dirty="0">
                <a:latin typeface="Courier New"/>
                <a:cs typeface="Courier New"/>
              </a:rPr>
              <a:t>) {</a:t>
            </a:r>
          </a:p>
          <a:p>
            <a:pPr marL="0" indent="0">
              <a:buNone/>
            </a:pPr>
            <a:r>
              <a:rPr lang="en-US" sz="1800" dirty="0">
                <a:latin typeface="Courier New"/>
                <a:cs typeface="Courier New"/>
              </a:rPr>
              <a:t>	    </a:t>
            </a:r>
            <a:r>
              <a:rPr lang="en-US" sz="1800" dirty="0" err="1">
                <a:latin typeface="Courier New"/>
                <a:cs typeface="Courier New"/>
              </a:rPr>
              <a:t>this.height</a:t>
            </a:r>
            <a:r>
              <a:rPr lang="en-US" sz="1800" dirty="0">
                <a:latin typeface="Courier New"/>
                <a:cs typeface="Courier New"/>
              </a:rPr>
              <a:t> = height;</a:t>
            </a:r>
          </a:p>
          <a:p>
            <a:pPr marL="0" indent="0">
              <a:buNone/>
            </a:pPr>
            <a:r>
              <a:rPr lang="en-US" sz="1800" dirty="0">
                <a:latin typeface="Courier New"/>
                <a:cs typeface="Courier New"/>
              </a:rPr>
              <a:t>	    </a:t>
            </a:r>
            <a:r>
              <a:rPr lang="en-US" sz="1800" dirty="0" err="1">
                <a:latin typeface="Courier New"/>
                <a:cs typeface="Courier New"/>
              </a:rPr>
              <a:t>this.width</a:t>
            </a:r>
            <a:r>
              <a:rPr lang="en-US" sz="1800" dirty="0">
                <a:latin typeface="Courier New"/>
                <a:cs typeface="Courier New"/>
              </a:rPr>
              <a:t> = width;</a:t>
            </a:r>
          </a:p>
          <a:p>
            <a:pPr marL="0" indent="0">
              <a:buNone/>
            </a:pPr>
            <a:r>
              <a:rPr lang="en-US" sz="1800" dirty="0">
                <a:latin typeface="Courier New"/>
                <a:cs typeface="Courier New"/>
              </a:rPr>
              <a:t>	  }</a:t>
            </a:r>
          </a:p>
          <a:p>
            <a:pPr marL="0" indent="0">
              <a:buNone/>
            </a:pPr>
            <a:r>
              <a:rPr lang="en-US" sz="1800" dirty="0">
                <a:latin typeface="Courier New"/>
                <a:cs typeface="Courier New"/>
              </a:rPr>
              <a:t>	};</a:t>
            </a:r>
          </a:p>
          <a:p>
            <a:r>
              <a:rPr lang="en-US" dirty="0">
                <a:cs typeface="Courier New"/>
              </a:rPr>
              <a:t>Or named</a:t>
            </a:r>
          </a:p>
          <a:p>
            <a:pPr marL="0" lvl="1" indent="0">
              <a:buNone/>
            </a:pPr>
            <a:r>
              <a:rPr lang="en-US" sz="1800" dirty="0">
                <a:latin typeface="Courier New"/>
                <a:cs typeface="Courier New"/>
              </a:rPr>
              <a:t>class Square {</a:t>
            </a:r>
            <a:endParaRPr lang="en-US" sz="1800">
              <a:latin typeface="Courier New"/>
              <a:cs typeface="Courier New"/>
            </a:endParaRPr>
          </a:p>
          <a:p>
            <a:pPr marL="0" lvl="1" indent="0">
              <a:buNone/>
            </a:pPr>
            <a:r>
              <a:rPr lang="en-US" sz="1800" dirty="0">
                <a:latin typeface="Courier New"/>
                <a:cs typeface="Courier New"/>
              </a:rPr>
              <a:t>  constructor(height, width) {</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this.height</a:t>
            </a:r>
            <a:r>
              <a:rPr lang="en-US" sz="1800" dirty="0">
                <a:latin typeface="Courier New"/>
                <a:cs typeface="Courier New"/>
              </a:rPr>
              <a:t> = height;</a:t>
            </a:r>
            <a:endParaRPr lang="en-US" sz="1800">
              <a:latin typeface="Courier New"/>
              <a:cs typeface="Courier New"/>
            </a:endParaRPr>
          </a:p>
          <a:p>
            <a:pPr marL="0" lvl="1" indent="0">
              <a:buNone/>
            </a:pPr>
            <a:r>
              <a:rPr lang="en-US" sz="1800" dirty="0">
                <a:latin typeface="Courier New"/>
                <a:cs typeface="Courier New"/>
              </a:rPr>
              <a:t>    </a:t>
            </a:r>
            <a:r>
              <a:rPr lang="en-US" sz="1800" dirty="0" err="1">
                <a:latin typeface="Courier New"/>
                <a:cs typeface="Courier New"/>
              </a:rPr>
              <a:t>this.width</a:t>
            </a:r>
            <a:r>
              <a:rPr lang="en-US" sz="1800" dirty="0">
                <a:latin typeface="Courier New"/>
                <a:cs typeface="Courier New"/>
              </a:rPr>
              <a:t> = width; </a:t>
            </a:r>
            <a:endParaRPr lang="en-US" sz="1800">
              <a:latin typeface="Courier New"/>
              <a:cs typeface="Courier New"/>
            </a:endParaRPr>
          </a:p>
          <a:p>
            <a:pPr marL="0" lvl="1" indent="0">
              <a:buNone/>
            </a:pPr>
            <a:r>
              <a:rPr lang="en-US" sz="1800" dirty="0">
                <a:latin typeface="Courier New"/>
                <a:cs typeface="Courier New"/>
              </a:rPr>
              <a:t>  }</a:t>
            </a:r>
            <a:endParaRPr lang="en-US" sz="1800">
              <a:latin typeface="Courier New"/>
              <a:cs typeface="Courier New"/>
            </a:endParaRPr>
          </a:p>
          <a:p>
            <a:pPr marL="0" lvl="1" indent="0">
              <a:buNone/>
            </a:pPr>
            <a:r>
              <a:rPr lang="en-US" sz="1800" dirty="0">
                <a:latin typeface="Courier New"/>
                <a:cs typeface="Courier New"/>
              </a:rPr>
              <a:t>};</a:t>
            </a:r>
            <a:endParaRPr lang="en-US" sz="18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285</a:t>
            </a:fld>
            <a:endParaRPr lang="en-US"/>
          </a:p>
        </p:txBody>
      </p:sp>
    </p:spTree>
    <p:extLst>
      <p:ext uri="{BB962C8B-B14F-4D97-AF65-F5344CB8AC3E}">
        <p14:creationId xmlns:p14="http://schemas.microsoft.com/office/powerpoint/2010/main" val="15166830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 Inheritance</a:t>
            </a:r>
          </a:p>
        </p:txBody>
      </p:sp>
      <p:sp>
        <p:nvSpPr>
          <p:cNvPr id="3" name="Text Placeholder 2"/>
          <p:cNvSpPr>
            <a:spLocks noGrp="1"/>
          </p:cNvSpPr>
          <p:nvPr>
            <p:ph type="body" idx="1"/>
          </p:nvPr>
        </p:nvSpPr>
        <p:spPr/>
        <p:txBody>
          <a:bodyPr/>
          <a:lstStyle/>
          <a:p>
            <a:pPr marL="0" indent="0">
              <a:buNone/>
            </a:pPr>
            <a:r>
              <a:rPr lang="en-US" sz="1800">
                <a:latin typeface="Courier New"/>
                <a:cs typeface="Courier New"/>
              </a:rPr>
              <a:t>class Rectangle extends Shape {</a:t>
            </a:r>
          </a:p>
          <a:p>
            <a:pPr marL="0" indent="0">
              <a:buNone/>
            </a:pPr>
            <a:r>
              <a:rPr lang="en-US" sz="1800">
                <a:latin typeface="Courier New"/>
                <a:cs typeface="Courier New"/>
              </a:rPr>
              <a:t>	constructor (id, x, y, width, height) {</a:t>
            </a:r>
          </a:p>
          <a:p>
            <a:pPr marL="0" indent="0">
              <a:buNone/>
            </a:pPr>
            <a:r>
              <a:rPr lang="en-US" sz="1800">
                <a:latin typeface="Courier New"/>
                <a:cs typeface="Courier New"/>
              </a:rPr>
              <a:t>   	  super (id, x, y);</a:t>
            </a:r>
          </a:p>
          <a:p>
            <a:pPr marL="0" indent="0">
              <a:buNone/>
            </a:pPr>
            <a:r>
              <a:rPr lang="en-US" sz="1800">
                <a:latin typeface="Courier New"/>
                <a:cs typeface="Courier New"/>
              </a:rPr>
              <a:t>   	  </a:t>
            </a:r>
            <a:r>
              <a:rPr lang="en-US" sz="1800" err="1">
                <a:latin typeface="Courier New"/>
                <a:cs typeface="Courier New"/>
              </a:rPr>
              <a:t>this.width</a:t>
            </a:r>
            <a:r>
              <a:rPr lang="en-US" sz="1800">
                <a:latin typeface="Courier New"/>
                <a:cs typeface="Courier New"/>
              </a:rPr>
              <a:t> = width;</a:t>
            </a:r>
          </a:p>
          <a:p>
            <a:pPr marL="0" indent="0">
              <a:buNone/>
            </a:pPr>
            <a:r>
              <a:rPr lang="en-US" sz="1800">
                <a:latin typeface="Courier New"/>
                <a:cs typeface="Courier New"/>
              </a:rPr>
              <a:t>  	  </a:t>
            </a:r>
            <a:r>
              <a:rPr lang="en-US" sz="1800" err="1">
                <a:latin typeface="Courier New"/>
                <a:cs typeface="Courier New"/>
              </a:rPr>
              <a:t>this.height</a:t>
            </a:r>
            <a:r>
              <a:rPr lang="en-US" sz="1800">
                <a:latin typeface="Courier New"/>
                <a:cs typeface="Courier New"/>
              </a:rPr>
              <a:t> = height;</a:t>
            </a:r>
          </a:p>
          <a:p>
            <a:pPr marL="0" indent="0">
              <a:buNone/>
            </a:pPr>
            <a:r>
              <a:rPr lang="en-US" sz="1800">
                <a:latin typeface="Courier New"/>
                <a:cs typeface="Courier New"/>
              </a:rPr>
              <a:t>  	}</a:t>
            </a:r>
          </a:p>
          <a:p>
            <a:pPr marL="0" indent="0">
              <a:buNone/>
            </a:pPr>
            <a:r>
              <a:rPr lang="en-US" sz="1800">
                <a:latin typeface="Courier New"/>
                <a:cs typeface="Courier New"/>
              </a:rPr>
              <a:t>}</a:t>
            </a:r>
          </a:p>
          <a:p>
            <a:pPr marL="0" indent="0">
              <a:buNone/>
            </a:pPr>
            <a:r>
              <a:rPr lang="en-US" sz="1800">
                <a:latin typeface="Courier New"/>
                <a:cs typeface="Courier New"/>
              </a:rPr>
              <a:t>class Circle extends Shape {</a:t>
            </a:r>
          </a:p>
          <a:p>
            <a:pPr marL="0" indent="0">
              <a:buNone/>
            </a:pPr>
            <a:r>
              <a:rPr lang="en-US" sz="1800">
                <a:latin typeface="Courier New"/>
                <a:cs typeface="Courier New"/>
              </a:rPr>
              <a:t>	constructor (id, x, y, radius) {</a:t>
            </a:r>
          </a:p>
          <a:p>
            <a:pPr marL="0" indent="0">
              <a:buNone/>
            </a:pPr>
            <a:r>
              <a:rPr lang="en-US" sz="1800">
                <a:latin typeface="Courier New"/>
                <a:cs typeface="Courier New"/>
              </a:rPr>
              <a:t>	  super (id, x, y);</a:t>
            </a:r>
          </a:p>
          <a:p>
            <a:pPr marL="0" indent="0">
              <a:buNone/>
            </a:pPr>
            <a:r>
              <a:rPr lang="en-US" sz="1800">
                <a:latin typeface="Courier New"/>
                <a:cs typeface="Courier New"/>
              </a:rPr>
              <a:t>	  </a:t>
            </a:r>
            <a:r>
              <a:rPr lang="en-US" sz="1800" err="1">
                <a:latin typeface="Courier New"/>
                <a:cs typeface="Courier New"/>
              </a:rPr>
              <a:t>this.radius</a:t>
            </a:r>
            <a:r>
              <a:rPr lang="en-US" sz="1800">
                <a:latin typeface="Courier New"/>
                <a:cs typeface="Courier New"/>
              </a:rPr>
              <a:t> = radius;</a:t>
            </a:r>
          </a:p>
          <a:p>
            <a:pPr marL="0" indent="0">
              <a:buNone/>
            </a:pPr>
            <a:r>
              <a:rPr lang="en-US" sz="1800">
                <a:latin typeface="Courier New"/>
                <a:cs typeface="Courier New"/>
              </a:rPr>
              <a:t>	}</a:t>
            </a:r>
          </a:p>
          <a:p>
            <a:pPr marL="0" indent="0">
              <a:buNone/>
            </a:pPr>
            <a:r>
              <a:rPr lang="en-US" sz="1800">
                <a:latin typeface="Courier New"/>
                <a:cs typeface="Courier New"/>
              </a:rPr>
              <a:t>}</a:t>
            </a:r>
            <a:endParaRPr lang="en-US">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286</a:t>
            </a:fld>
            <a:endParaRPr lang="en-US"/>
          </a:p>
        </p:txBody>
      </p:sp>
    </p:spTree>
    <p:extLst>
      <p:ext uri="{BB962C8B-B14F-4D97-AF65-F5344CB8AC3E}">
        <p14:creationId xmlns:p14="http://schemas.microsoft.com/office/powerpoint/2010/main" val="2861827552"/>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Beyond ES2015</a:t>
            </a:r>
          </a:p>
        </p:txBody>
      </p:sp>
      <p:sp>
        <p:nvSpPr>
          <p:cNvPr id="3" name="Content Placeholder 2"/>
          <p:cNvSpPr>
            <a:spLocks noGrp="1"/>
          </p:cNvSpPr>
          <p:nvPr>
            <p:ph idx="1"/>
          </p:nvPr>
        </p:nvSpPr>
        <p:spPr/>
        <p:txBody>
          <a:bodyPr/>
          <a:lstStyle/>
          <a:p>
            <a:r>
              <a:rPr lang="en-US" dirty="0"/>
              <a:t>ES2016</a:t>
            </a:r>
          </a:p>
          <a:p>
            <a:pPr lvl="1"/>
            <a:r>
              <a:rPr lang="en-US" dirty="0"/>
              <a:t>aka ES7</a:t>
            </a:r>
          </a:p>
          <a:p>
            <a:pPr lvl="1"/>
            <a:r>
              <a:rPr lang="en-US" dirty="0"/>
              <a:t>New Features</a:t>
            </a:r>
          </a:p>
          <a:p>
            <a:pPr lvl="2"/>
            <a:r>
              <a:rPr lang="en-US" dirty="0"/>
              <a:t>Exponentiation operator (**)</a:t>
            </a:r>
          </a:p>
          <a:p>
            <a:pPr lvl="2"/>
            <a:r>
              <a:rPr lang="en-US" dirty="0" err="1"/>
              <a:t>Array.prototype.includes</a:t>
            </a:r>
            <a:endParaRPr lang="en-US" dirty="0"/>
          </a:p>
          <a:p>
            <a:r>
              <a:rPr lang="en-US" dirty="0"/>
              <a:t>ES2017</a:t>
            </a:r>
          </a:p>
          <a:p>
            <a:pPr lvl="1"/>
            <a:r>
              <a:rPr lang="en-US" dirty="0"/>
              <a:t>aka ES8</a:t>
            </a:r>
          </a:p>
          <a:p>
            <a:pPr lvl="1"/>
            <a:r>
              <a:rPr lang="en-US" dirty="0"/>
              <a:t>New Features</a:t>
            </a:r>
          </a:p>
          <a:p>
            <a:pPr lvl="2"/>
            <a:r>
              <a:rPr lang="en-US" dirty="0"/>
              <a:t>async/await</a:t>
            </a:r>
          </a:p>
          <a:p>
            <a:r>
              <a:rPr lang="en-US" dirty="0" err="1"/>
              <a:t>ES.Next</a:t>
            </a:r>
            <a:endParaRPr lang="en-US" dirty="0"/>
          </a:p>
          <a:p>
            <a:pPr lvl="1"/>
            <a:r>
              <a:rPr lang="en-US" dirty="0"/>
              <a:t>Dynamic name for upcoming version</a:t>
            </a:r>
          </a:p>
        </p:txBody>
      </p:sp>
      <p:sp>
        <p:nvSpPr>
          <p:cNvPr id="4" name="Slide Number Placeholder 3"/>
          <p:cNvSpPr>
            <a:spLocks noGrp="1"/>
          </p:cNvSpPr>
          <p:nvPr>
            <p:ph type="sldNum" sz="quarter" idx="12"/>
          </p:nvPr>
        </p:nvSpPr>
        <p:spPr/>
        <p:txBody>
          <a:bodyPr/>
          <a:lstStyle/>
          <a:p>
            <a:fld id="{6FFFF67E-EC6A-B940-8DC7-BF9A5925C934}" type="slidenum">
              <a:rPr lang="en-US" smtClean="0"/>
              <a:t>287</a:t>
            </a:fld>
            <a:endParaRPr lang="en-US"/>
          </a:p>
        </p:txBody>
      </p:sp>
    </p:spTree>
    <p:extLst>
      <p:ext uri="{BB962C8B-B14F-4D97-AF65-F5344CB8AC3E}">
        <p14:creationId xmlns:p14="http://schemas.microsoft.com/office/powerpoint/2010/main" val="1759285388"/>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Advanced JavaScript Topics</a:t>
            </a:r>
          </a:p>
        </p:txBody>
      </p:sp>
      <p:sp>
        <p:nvSpPr>
          <p:cNvPr id="3" name="Text Placeholder 2"/>
          <p:cNvSpPr>
            <a:spLocks noGrp="1"/>
          </p:cNvSpPr>
          <p:nvPr>
            <p:ph type="body" idx="1"/>
          </p:nvPr>
        </p:nvSpPr>
        <p:spPr/>
        <p:txBody>
          <a:bodyPr/>
          <a:lstStyle/>
          <a:p>
            <a:r>
              <a:rPr lang="en-US"/>
              <a:t>this, promises, map</a:t>
            </a:r>
          </a:p>
        </p:txBody>
      </p:sp>
      <p:sp>
        <p:nvSpPr>
          <p:cNvPr id="4" name="Slide Number Placeholder 3"/>
          <p:cNvSpPr>
            <a:spLocks noGrp="1"/>
          </p:cNvSpPr>
          <p:nvPr>
            <p:ph type="sldNum" sz="quarter" idx="12"/>
          </p:nvPr>
        </p:nvSpPr>
        <p:spPr/>
        <p:txBody>
          <a:bodyPr/>
          <a:lstStyle/>
          <a:p>
            <a:fld id="{6FFFF67E-EC6A-B940-8DC7-BF9A5925C934}" type="slidenum">
              <a:rPr lang="en-US" smtClean="0"/>
              <a:t>288</a:t>
            </a:fld>
            <a:endParaRPr lang="en-US"/>
          </a:p>
        </p:txBody>
      </p:sp>
    </p:spTree>
    <p:extLst>
      <p:ext uri="{BB962C8B-B14F-4D97-AF65-F5344CB8AC3E}">
        <p14:creationId xmlns:p14="http://schemas.microsoft.com/office/powerpoint/2010/main" val="192068055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rtl="0">
              <a:buNone/>
            </a:pPr>
            <a:r>
              <a:rPr lang="en-US">
                <a:latin typeface="Courier New"/>
                <a:cs typeface="Courier New"/>
              </a:rPr>
              <a:t>"use strict"</a:t>
            </a:r>
          </a:p>
        </p:txBody>
      </p:sp>
      <p:sp>
        <p:nvSpPr>
          <p:cNvPr id="3" name="Text Placeholder 2"/>
          <p:cNvSpPr>
            <a:spLocks noGrp="1"/>
          </p:cNvSpPr>
          <p:nvPr>
            <p:ph type="body" idx="1"/>
          </p:nvPr>
        </p:nvSpPr>
        <p:spPr/>
        <p:txBody>
          <a:bodyPr/>
          <a:lstStyle/>
          <a:p>
            <a:r>
              <a:rPr lang="en-US" sz="2000"/>
              <a:t>Introduced with ES5 </a:t>
            </a:r>
          </a:p>
          <a:p>
            <a:r>
              <a:rPr lang="en-US" sz="2000"/>
              <a:t>Tells browsers to check for common errors and bad practices at run time</a:t>
            </a:r>
          </a:p>
          <a:p>
            <a:r>
              <a:rPr lang="en-US" sz="2000"/>
              <a:t>Opts in to restricted variant of JavaScript</a:t>
            </a:r>
          </a:p>
          <a:p>
            <a:r>
              <a:rPr lang="en-US" sz="2000"/>
              <a:t>To invoke:</a:t>
            </a:r>
          </a:p>
          <a:p>
            <a:pPr lvl="1"/>
            <a:r>
              <a:rPr lang="en-US" sz="1800"/>
              <a:t>put </a:t>
            </a:r>
            <a:r>
              <a:rPr lang="en-US" sz="1800">
                <a:latin typeface="Courier New"/>
                <a:cs typeface="Courier New"/>
              </a:rPr>
              <a:t>"use strict;" </a:t>
            </a:r>
            <a:r>
              <a:rPr lang="en-US" sz="1800"/>
              <a:t>before any other statements</a:t>
            </a:r>
          </a:p>
          <a:p>
            <a:r>
              <a:rPr lang="en-US" sz="2000"/>
              <a:t>Can also be invoked for functions:</a:t>
            </a:r>
          </a:p>
          <a:p>
            <a:pPr marL="0" lvl="2" indent="0">
              <a:buNone/>
            </a:pPr>
            <a:r>
              <a:rPr lang="en-US" sz="1600">
                <a:latin typeface="Courier New"/>
                <a:cs typeface="Courier New"/>
              </a:rPr>
              <a:t>function </a:t>
            </a:r>
            <a:r>
              <a:rPr lang="en-US" sz="1600" err="1">
                <a:latin typeface="Courier New"/>
                <a:cs typeface="Courier New"/>
              </a:rPr>
              <a:t>myStrictFunction</a:t>
            </a:r>
            <a:r>
              <a:rPr lang="en-US" sz="1600">
                <a:latin typeface="Courier New"/>
                <a:cs typeface="Courier New"/>
              </a:rPr>
              <a:t>(){</a:t>
            </a:r>
          </a:p>
          <a:p>
            <a:pPr marL="0" lvl="2" indent="0">
              <a:buNone/>
            </a:pPr>
            <a:r>
              <a:rPr lang="en-US" sz="1600">
                <a:latin typeface="Courier New"/>
                <a:cs typeface="Courier New"/>
              </a:rPr>
              <a:t>    'use strict';</a:t>
            </a:r>
          </a:p>
          <a:p>
            <a:pPr marL="0" lvl="2" indent="0">
              <a:buNone/>
            </a:pPr>
            <a:r>
              <a:rPr lang="en-US" sz="1600">
                <a:latin typeface="Courier New"/>
                <a:cs typeface="Courier New"/>
              </a:rPr>
              <a:t>    …</a:t>
            </a:r>
          </a:p>
          <a:p>
            <a:pPr marL="0" lvl="2" indent="0">
              <a:buNone/>
            </a:pPr>
            <a:r>
              <a:rPr lang="en-US" sz="1600">
                <a:latin typeface="Courier New"/>
                <a:cs typeface="Courier New"/>
              </a:rPr>
              <a:t>}</a:t>
            </a:r>
          </a:p>
          <a:p>
            <a:r>
              <a:rPr lang="en-US" sz="2000">
                <a:cs typeface="Courier New"/>
              </a:rPr>
              <a:t>Is implied in ES6 Modules and Classes</a:t>
            </a:r>
          </a:p>
          <a:p>
            <a:r>
              <a:rPr lang="en-US" sz="2000">
                <a:cs typeface="Courier New"/>
              </a:rPr>
              <a:t>Is redundant in properly written ES6 code.</a:t>
            </a:r>
          </a:p>
        </p:txBody>
      </p:sp>
      <p:sp>
        <p:nvSpPr>
          <p:cNvPr id="4" name="Slide Number Placeholder 3"/>
          <p:cNvSpPr>
            <a:spLocks noGrp="1"/>
          </p:cNvSpPr>
          <p:nvPr>
            <p:ph type="sldNum" sz="quarter" idx="12"/>
          </p:nvPr>
        </p:nvSpPr>
        <p:spPr/>
        <p:txBody>
          <a:bodyPr/>
          <a:lstStyle/>
          <a:p>
            <a:fld id="{A839F4A7-500C-EC42-AE23-BEE4487EA55E}" type="slidenum">
              <a:rPr lang="en-US" smtClean="0"/>
              <a:t>289</a:t>
            </a:fld>
            <a:endParaRPr lang="en-US"/>
          </a:p>
        </p:txBody>
      </p:sp>
    </p:spTree>
    <p:extLst>
      <p:ext uri="{BB962C8B-B14F-4D97-AF65-F5344CB8AC3E}">
        <p14:creationId xmlns:p14="http://schemas.microsoft.com/office/powerpoint/2010/main" val="3282163981"/>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Understanding </a:t>
            </a:r>
            <a:r>
              <a:rPr lang="en-US">
                <a:latin typeface="Courier New"/>
                <a:cs typeface="Courier New"/>
              </a:rPr>
              <a:t>this</a:t>
            </a:r>
          </a:p>
        </p:txBody>
      </p:sp>
      <p:sp>
        <p:nvSpPr>
          <p:cNvPr id="3" name="Text Placeholder 2"/>
          <p:cNvSpPr>
            <a:spLocks noGrp="1"/>
          </p:cNvSpPr>
          <p:nvPr>
            <p:ph type="body" idx="1"/>
          </p:nvPr>
        </p:nvSpPr>
        <p:spPr/>
        <p:txBody>
          <a:bodyPr/>
          <a:lstStyle/>
          <a:p>
            <a:r>
              <a:rPr lang="en-US"/>
              <a:t>Allows functions to be reused with different context.</a:t>
            </a:r>
          </a:p>
          <a:p>
            <a:r>
              <a:rPr lang="en-US"/>
              <a:t>Which object should be focal when invoking a function.</a:t>
            </a:r>
          </a:p>
        </p:txBody>
      </p:sp>
      <p:sp>
        <p:nvSpPr>
          <p:cNvPr id="4" name="Slide Number Placeholder 3"/>
          <p:cNvSpPr>
            <a:spLocks noGrp="1"/>
          </p:cNvSpPr>
          <p:nvPr>
            <p:ph type="sldNum" sz="quarter" idx="12"/>
          </p:nvPr>
        </p:nvSpPr>
        <p:spPr/>
        <p:txBody>
          <a:bodyPr/>
          <a:lstStyle/>
          <a:p>
            <a:fld id="{A839F4A7-500C-EC42-AE23-BEE4487EA55E}" type="slidenum">
              <a:rPr lang="en-US" smtClean="0"/>
              <a:t>290</a:t>
            </a:fld>
            <a:endParaRPr lang="en-US"/>
          </a:p>
        </p:txBody>
      </p:sp>
    </p:spTree>
    <p:extLst>
      <p:ext uri="{BB962C8B-B14F-4D97-AF65-F5344CB8AC3E}">
        <p14:creationId xmlns:p14="http://schemas.microsoft.com/office/powerpoint/2010/main" val="162865113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 Rules of </a:t>
            </a:r>
            <a:r>
              <a:rPr lang="en-US">
                <a:latin typeface="Courier New"/>
                <a:cs typeface="Courier New"/>
              </a:rPr>
              <a:t>this</a:t>
            </a:r>
          </a:p>
        </p:txBody>
      </p:sp>
      <p:sp>
        <p:nvSpPr>
          <p:cNvPr id="3" name="Text Placeholder 2"/>
          <p:cNvSpPr>
            <a:spLocks noGrp="1"/>
          </p:cNvSpPr>
          <p:nvPr>
            <p:ph type="body" idx="1"/>
          </p:nvPr>
        </p:nvSpPr>
        <p:spPr/>
        <p:txBody>
          <a:bodyPr/>
          <a:lstStyle/>
          <a:p>
            <a:r>
              <a:rPr lang="en-US"/>
              <a:t>Implicit Binding</a:t>
            </a:r>
          </a:p>
          <a:p>
            <a:r>
              <a:rPr lang="en-US"/>
              <a:t>Explicit Binding</a:t>
            </a:r>
          </a:p>
          <a:p>
            <a:r>
              <a:rPr lang="en-US"/>
              <a:t>New Binding</a:t>
            </a:r>
          </a:p>
          <a:p>
            <a:r>
              <a:rPr lang="en-US"/>
              <a:t>Window Binding</a:t>
            </a:r>
          </a:p>
        </p:txBody>
      </p:sp>
      <p:sp>
        <p:nvSpPr>
          <p:cNvPr id="4" name="Slide Number Placeholder 3"/>
          <p:cNvSpPr>
            <a:spLocks noGrp="1"/>
          </p:cNvSpPr>
          <p:nvPr>
            <p:ph type="sldNum" sz="quarter" idx="12"/>
          </p:nvPr>
        </p:nvSpPr>
        <p:spPr/>
        <p:txBody>
          <a:bodyPr/>
          <a:lstStyle/>
          <a:p>
            <a:fld id="{A839F4A7-500C-EC42-AE23-BEE4487EA55E}" type="slidenum">
              <a:rPr lang="en-US" smtClean="0"/>
              <a:t>291</a:t>
            </a:fld>
            <a:endParaRPr lang="en-US"/>
          </a:p>
        </p:txBody>
      </p:sp>
    </p:spTree>
    <p:extLst>
      <p:ext uri="{BB962C8B-B14F-4D97-AF65-F5344CB8AC3E}">
        <p14:creationId xmlns:p14="http://schemas.microsoft.com/office/powerpoint/2010/main" val="248752420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t>
            </a:r>
            <a:r>
              <a:rPr lang="en-US">
                <a:latin typeface="Courier New"/>
                <a:cs typeface="Courier New"/>
              </a:rPr>
              <a:t>this</a:t>
            </a:r>
            <a:r>
              <a:rPr lang="en-US"/>
              <a:t>?</a:t>
            </a:r>
          </a:p>
        </p:txBody>
      </p:sp>
      <p:sp>
        <p:nvSpPr>
          <p:cNvPr id="3" name="Text Placeholder 2"/>
          <p:cNvSpPr>
            <a:spLocks noGrp="1"/>
          </p:cNvSpPr>
          <p:nvPr>
            <p:ph type="body" idx="1"/>
          </p:nvPr>
        </p:nvSpPr>
        <p:spPr/>
        <p:txBody>
          <a:bodyPr/>
          <a:lstStyle/>
          <a:p>
            <a:r>
              <a:rPr lang="en-US"/>
              <a:t>When was function invoked?</a:t>
            </a:r>
          </a:p>
          <a:p>
            <a:r>
              <a:rPr lang="en-US"/>
              <a:t>We don't know what </a:t>
            </a:r>
            <a:r>
              <a:rPr lang="en-US">
                <a:latin typeface="Courier New"/>
                <a:cs typeface="Courier New"/>
              </a:rPr>
              <a:t>this</a:t>
            </a:r>
            <a:r>
              <a:rPr lang="en-US"/>
              <a:t> is until the function is invoked.</a:t>
            </a:r>
          </a:p>
          <a:p>
            <a:endParaRPr lang="en-US"/>
          </a:p>
        </p:txBody>
      </p:sp>
      <p:sp>
        <p:nvSpPr>
          <p:cNvPr id="4" name="Slide Number Placeholder 3"/>
          <p:cNvSpPr>
            <a:spLocks noGrp="1"/>
          </p:cNvSpPr>
          <p:nvPr>
            <p:ph type="sldNum" sz="quarter" idx="12"/>
          </p:nvPr>
        </p:nvSpPr>
        <p:spPr/>
        <p:txBody>
          <a:bodyPr/>
          <a:lstStyle/>
          <a:p>
            <a:fld id="{A839F4A7-500C-EC42-AE23-BEE4487EA55E}" type="slidenum">
              <a:rPr lang="en-US" smtClean="0"/>
              <a:t>292</a:t>
            </a:fld>
            <a:endParaRPr lang="en-US"/>
          </a:p>
        </p:txBody>
      </p:sp>
    </p:spTree>
    <p:extLst>
      <p:ext uri="{BB962C8B-B14F-4D97-AF65-F5344CB8AC3E}">
        <p14:creationId xmlns:p14="http://schemas.microsoft.com/office/powerpoint/2010/main" val="3133013374"/>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Implicit Binding</a:t>
            </a:r>
          </a:p>
        </p:txBody>
      </p:sp>
      <p:sp>
        <p:nvSpPr>
          <p:cNvPr id="3" name="Text Placeholder 2"/>
          <p:cNvSpPr>
            <a:spLocks noGrp="1"/>
          </p:cNvSpPr>
          <p:nvPr>
            <p:ph type="body" idx="1"/>
          </p:nvPr>
        </p:nvSpPr>
        <p:spPr/>
        <p:txBody>
          <a:bodyPr/>
          <a:lstStyle/>
          <a:p>
            <a:r>
              <a:rPr lang="en-US" dirty="0">
                <a:latin typeface="Courier New"/>
                <a:cs typeface="Courier New"/>
              </a:rPr>
              <a:t>this</a:t>
            </a:r>
            <a:r>
              <a:rPr lang="en-US" dirty="0"/>
              <a:t> refers to the object to the left of the dot.</a:t>
            </a:r>
          </a:p>
          <a:p>
            <a:pPr marL="0" indent="0">
              <a:buNone/>
            </a:pPr>
            <a:r>
              <a:rPr lang="en-US" dirty="0">
                <a:latin typeface="Courier New"/>
                <a:cs typeface="Courier New"/>
              </a:rPr>
              <a:t>var author = {</a:t>
            </a:r>
          </a:p>
          <a:p>
            <a:pPr marL="0" indent="0">
              <a:buNone/>
            </a:pPr>
            <a:r>
              <a:rPr lang="en-US" dirty="0">
                <a:latin typeface="Courier New"/>
                <a:cs typeface="Courier New"/>
              </a:rPr>
              <a:t>  name: 'Chris',</a:t>
            </a:r>
          </a:p>
          <a:p>
            <a:pPr marL="0" indent="0">
              <a:buNone/>
            </a:pPr>
            <a:r>
              <a:rPr lang="en-US" dirty="0">
                <a:latin typeface="Courier New"/>
                <a:cs typeface="Courier New"/>
              </a:rPr>
              <a:t>  </a:t>
            </a:r>
            <a:r>
              <a:rPr lang="en-US" dirty="0" err="1">
                <a:latin typeface="Courier New"/>
                <a:cs typeface="Courier New"/>
              </a:rPr>
              <a:t>homeTown</a:t>
            </a:r>
            <a:r>
              <a:rPr lang="en-US" dirty="0">
                <a:latin typeface="Courier New"/>
                <a:cs typeface="Courier New"/>
              </a:rPr>
              <a:t>: 'Detroit',</a:t>
            </a:r>
          </a:p>
          <a:p>
            <a:pPr marL="0" indent="0">
              <a:buNone/>
            </a:pPr>
            <a:r>
              <a:rPr lang="en-US" dirty="0">
                <a:latin typeface="Courier New"/>
                <a:cs typeface="Courier New"/>
              </a:rPr>
              <a:t>  </a:t>
            </a:r>
            <a:r>
              <a:rPr lang="en-US" dirty="0" err="1">
                <a:latin typeface="Courier New"/>
                <a:cs typeface="Courier New"/>
              </a:rPr>
              <a:t>logName</a:t>
            </a:r>
            <a:r>
              <a:rPr lang="en-US" dirty="0">
                <a:latin typeface="Courier New"/>
                <a:cs typeface="Courier New"/>
              </a:rPr>
              <a:t>: function() {</a:t>
            </a:r>
          </a:p>
          <a:p>
            <a:pPr marL="0" indent="0">
              <a:buNone/>
            </a:pPr>
            <a:r>
              <a:rPr lang="en-US" dirty="0">
                <a:latin typeface="Courier New"/>
                <a:cs typeface="Courier New"/>
              </a:rPr>
              <a:t>    console.log(</a:t>
            </a:r>
            <a:r>
              <a:rPr lang="en-US" dirty="0" err="1">
                <a:latin typeface="Courier New"/>
                <a:cs typeface="Courier New"/>
              </a:rPr>
              <a:t>this.name</a:t>
            </a:r>
            <a:r>
              <a:rPr lang="en-US" dirty="0">
                <a:latin typeface="Courier New"/>
                <a:cs typeface="Courier New"/>
              </a:rPr>
              <a:t>);</a:t>
            </a:r>
          </a:p>
          <a:p>
            <a:pPr marL="0" indent="0">
              <a:buNone/>
            </a:pPr>
            <a:r>
              <a:rPr lang="en-US" dirty="0">
                <a:latin typeface="Courier New"/>
                <a:cs typeface="Courier New"/>
              </a:rPr>
              <a:t>  }</a:t>
            </a:r>
          </a:p>
          <a:p>
            <a:pPr marL="0" indent="0">
              <a:buNone/>
            </a:pPr>
            <a:r>
              <a:rPr lang="en-US" dirty="0">
                <a:latin typeface="Courier New"/>
                <a:cs typeface="Courier New"/>
              </a:rPr>
              <a:t>});</a:t>
            </a:r>
          </a:p>
          <a:p>
            <a:pPr marL="0" indent="0">
              <a:buNone/>
            </a:pPr>
            <a:endParaRPr lang="en-US" dirty="0">
              <a:latin typeface="Courier New"/>
              <a:cs typeface="Courier New"/>
            </a:endParaRPr>
          </a:p>
          <a:p>
            <a:pPr marL="0" indent="0">
              <a:buNone/>
            </a:pPr>
            <a:r>
              <a:rPr lang="en-US" b="1" dirty="0" err="1">
                <a:latin typeface="Courier New"/>
                <a:cs typeface="Courier New"/>
              </a:rPr>
              <a:t>author</a:t>
            </a:r>
            <a:r>
              <a:rPr lang="en-US" dirty="0" err="1">
                <a:latin typeface="Courier New"/>
                <a:cs typeface="Courier New"/>
              </a:rPr>
              <a:t>.logName</a:t>
            </a:r>
            <a:r>
              <a:rPr lang="en-US" dirty="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293</a:t>
            </a:fld>
            <a:endParaRPr lang="en-US"/>
          </a:p>
        </p:txBody>
      </p:sp>
    </p:spTree>
    <p:extLst>
      <p:ext uri="{BB962C8B-B14F-4D97-AF65-F5344CB8AC3E}">
        <p14:creationId xmlns:p14="http://schemas.microsoft.com/office/powerpoint/2010/main" val="1814734915"/>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a:t>
            </a:r>
          </a:p>
        </p:txBody>
      </p:sp>
      <p:sp>
        <p:nvSpPr>
          <p:cNvPr id="3" name="Text Placeholder 2"/>
          <p:cNvSpPr>
            <a:spLocks noGrp="1"/>
          </p:cNvSpPr>
          <p:nvPr>
            <p:ph type="body" idx="1"/>
          </p:nvPr>
        </p:nvSpPr>
        <p:spPr/>
        <p:txBody>
          <a:bodyPr/>
          <a:lstStyle/>
          <a:p>
            <a:r>
              <a:rPr lang="en-US" sz="3200" dirty="0"/>
              <a:t>.call, .apply, .bind</a:t>
            </a:r>
            <a:endParaRPr lang="en-US" sz="3200" dirty="0">
              <a:cs typeface="Courier New"/>
            </a:endParaRPr>
          </a:p>
          <a:p>
            <a:pPr marL="0" indent="0">
              <a:buNone/>
            </a:pPr>
            <a:endParaRPr lang="en-US" dirty="0">
              <a:latin typeface="Courier New"/>
              <a:cs typeface="Courier New"/>
            </a:endParaRPr>
          </a:p>
          <a:p>
            <a:pPr marL="0" indent="0">
              <a:buNone/>
            </a:pPr>
            <a:r>
              <a:rPr lang="en-US" sz="2000" dirty="0">
                <a:latin typeface="Courier New"/>
                <a:cs typeface="Courier New"/>
              </a:rPr>
              <a:t>var </a:t>
            </a:r>
            <a:r>
              <a:rPr lang="en-US" sz="2000" dirty="0" err="1">
                <a:latin typeface="Courier New"/>
                <a:cs typeface="Courier New"/>
              </a:rPr>
              <a:t>logName</a:t>
            </a:r>
            <a:r>
              <a:rPr lang="en-US" sz="2000" dirty="0">
                <a:latin typeface="Courier New"/>
                <a:cs typeface="Courier New"/>
              </a:rPr>
              <a:t> = function() {</a:t>
            </a:r>
          </a:p>
          <a:p>
            <a:pPr marL="0" indent="0">
              <a:buNone/>
            </a:pPr>
            <a:r>
              <a:rPr lang="en-US" sz="2000" dirty="0">
                <a:latin typeface="Courier New"/>
                <a:cs typeface="Courier New"/>
              </a:rPr>
              <a:t>  console.log(</a:t>
            </a:r>
            <a:r>
              <a:rPr lang="en-US" sz="2000" dirty="0" err="1">
                <a:latin typeface="Courier New"/>
                <a:cs typeface="Courier New"/>
              </a:rPr>
              <a:t>this.name</a:t>
            </a:r>
            <a:r>
              <a:rPr lang="en-US" sz="2000" dirty="0">
                <a:latin typeface="Courier New"/>
                <a:cs typeface="Courier New"/>
              </a:rPr>
              <a:t>);</a:t>
            </a:r>
          </a:p>
          <a:p>
            <a:pPr marL="0" indent="0">
              <a:buNone/>
            </a:pPr>
            <a:r>
              <a:rPr lang="en-US" sz="2000" dirty="0">
                <a:latin typeface="Courier New"/>
                <a:cs typeface="Courier New"/>
              </a:rPr>
              <a:t>}</a:t>
            </a:r>
          </a:p>
          <a:p>
            <a:pPr marL="0" indent="0">
              <a:buNone/>
            </a:pPr>
            <a:endParaRPr lang="en-US" sz="2000" dirty="0">
              <a:latin typeface="Courier New"/>
              <a:cs typeface="Courier New"/>
            </a:endParaRPr>
          </a:p>
          <a:p>
            <a:pPr marL="0" indent="0">
              <a:buNone/>
            </a:pPr>
            <a:r>
              <a:rPr lang="en-US" sz="2000" dirty="0">
                <a:latin typeface="Courier New"/>
                <a:cs typeface="Courier New"/>
              </a:rPr>
              <a:t>var author = {</a:t>
            </a:r>
          </a:p>
          <a:p>
            <a:pPr marL="0" indent="0">
              <a:buNone/>
            </a:pPr>
            <a:r>
              <a:rPr lang="en-US" sz="2000" dirty="0">
                <a:latin typeface="Courier New"/>
                <a:cs typeface="Courier New"/>
              </a:rPr>
              <a:t>  name: 'Chris',</a:t>
            </a:r>
          </a:p>
          <a:p>
            <a:pPr marL="0" indent="0">
              <a:buNone/>
            </a:pPr>
            <a:r>
              <a:rPr lang="en-US" sz="2000" dirty="0">
                <a:latin typeface="Courier New"/>
                <a:cs typeface="Courier New"/>
              </a:rPr>
              <a:t>  </a:t>
            </a:r>
            <a:r>
              <a:rPr lang="en-US" sz="2000" dirty="0" err="1">
                <a:latin typeface="Courier New"/>
                <a:cs typeface="Courier New"/>
              </a:rPr>
              <a:t>homeTown</a:t>
            </a:r>
            <a:r>
              <a:rPr lang="en-US" sz="2000" dirty="0">
                <a:latin typeface="Courier New"/>
                <a:cs typeface="Courier New"/>
              </a:rPr>
              <a:t>: 'Detroit"</a:t>
            </a:r>
          </a:p>
          <a:p>
            <a:pPr marL="0" indent="0">
              <a:buNone/>
            </a:pPr>
            <a:r>
              <a:rPr lang="en-US" sz="2000" dirty="0">
                <a:latin typeface="Courier New"/>
                <a:cs typeface="Courier New"/>
              </a:rPr>
              <a:t>}</a:t>
            </a:r>
          </a:p>
          <a:p>
            <a:pPr marL="0" indent="0">
              <a:buNone/>
            </a:pPr>
            <a:r>
              <a:rPr lang="en-US" sz="2000" dirty="0" err="1">
                <a:latin typeface="Courier New"/>
                <a:cs typeface="Courier New"/>
              </a:rPr>
              <a:t>logName.call</a:t>
            </a:r>
            <a:r>
              <a:rPr lang="en-US" sz="2000" dirty="0">
                <a:latin typeface="Courier New"/>
                <a:cs typeface="Courier New"/>
              </a:rPr>
              <a:t>(author);</a:t>
            </a:r>
          </a:p>
        </p:txBody>
      </p:sp>
      <p:sp>
        <p:nvSpPr>
          <p:cNvPr id="4" name="Slide Number Placeholder 3"/>
          <p:cNvSpPr>
            <a:spLocks noGrp="1"/>
          </p:cNvSpPr>
          <p:nvPr>
            <p:ph type="sldNum" sz="quarter" idx="12"/>
          </p:nvPr>
        </p:nvSpPr>
        <p:spPr/>
        <p:txBody>
          <a:bodyPr/>
          <a:lstStyle/>
          <a:p>
            <a:fld id="{A839F4A7-500C-EC42-AE23-BEE4487EA55E}" type="slidenum">
              <a:rPr lang="en-US" smtClean="0"/>
              <a:t>294</a:t>
            </a:fld>
            <a:endParaRPr lang="en-US"/>
          </a:p>
        </p:txBody>
      </p:sp>
    </p:spTree>
    <p:extLst>
      <p:ext uri="{BB962C8B-B14F-4D97-AF65-F5344CB8AC3E}">
        <p14:creationId xmlns:p14="http://schemas.microsoft.com/office/powerpoint/2010/main" val="148794992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 with .call</a:t>
            </a:r>
          </a:p>
        </p:txBody>
      </p:sp>
      <p:sp>
        <p:nvSpPr>
          <p:cNvPr id="3" name="Text Placeholder 2"/>
          <p:cNvSpPr>
            <a:spLocks noGrp="1"/>
          </p:cNvSpPr>
          <p:nvPr>
            <p:ph type="body" idx="1"/>
          </p:nvPr>
        </p:nvSpPr>
        <p:spPr/>
        <p:txBody>
          <a:bodyPr/>
          <a:lstStyle/>
          <a:p>
            <a:r>
              <a:rPr lang="en-US" dirty="0"/>
              <a:t>Calls a function with a given </a:t>
            </a:r>
            <a:r>
              <a:rPr lang="en-US" dirty="0">
                <a:latin typeface="Courier New"/>
                <a:cs typeface="Courier New"/>
              </a:rPr>
              <a:t>this</a:t>
            </a:r>
            <a:r>
              <a:rPr lang="en-US" dirty="0"/>
              <a:t> value and the arguments given individually.</a:t>
            </a:r>
          </a:p>
          <a:p>
            <a:pPr marL="0" indent="0">
              <a:buNone/>
            </a:pPr>
            <a:r>
              <a:rPr lang="en-US" sz="2000" dirty="0">
                <a:latin typeface="Courier New"/>
                <a:cs typeface="Courier New"/>
              </a:rPr>
              <a:t>var </a:t>
            </a:r>
            <a:r>
              <a:rPr lang="en-US" sz="2000" dirty="0" err="1">
                <a:latin typeface="Courier New"/>
                <a:cs typeface="Courier New"/>
              </a:rPr>
              <a:t>logName</a:t>
            </a:r>
            <a:r>
              <a:rPr lang="en-US" sz="2000" dirty="0">
                <a:latin typeface="Courier New"/>
                <a:cs typeface="Courier New"/>
              </a:rPr>
              <a:t> = function(lang1) {</a:t>
            </a:r>
          </a:p>
          <a:p>
            <a:pPr marL="0" indent="0">
              <a:buNone/>
            </a:pPr>
            <a:r>
              <a:rPr lang="en-US" sz="2000" dirty="0">
                <a:latin typeface="Courier New"/>
                <a:cs typeface="Courier New"/>
              </a:rPr>
              <a:t>  console.log(</a:t>
            </a:r>
            <a:r>
              <a:rPr lang="en-US" sz="2000" dirty="0" err="1">
                <a:latin typeface="Courier New"/>
                <a:cs typeface="Courier New"/>
              </a:rPr>
              <a:t>this.fname</a:t>
            </a:r>
            <a:r>
              <a:rPr lang="en-US" sz="2000" dirty="0">
                <a:latin typeface="Courier New"/>
                <a:cs typeface="Courier New"/>
              </a:rPr>
              <a:t> + </a:t>
            </a:r>
            <a:r>
              <a:rPr lang="en-US" sz="2000" dirty="0" err="1">
                <a:latin typeface="Courier New"/>
                <a:cs typeface="Courier New"/>
              </a:rPr>
              <a:t>this.lname</a:t>
            </a:r>
            <a:r>
              <a:rPr lang="en-US" sz="2000" dirty="0">
                <a:latin typeface="Courier New"/>
                <a:cs typeface="Courier New"/>
              </a:rPr>
              <a:t> + lang1);</a:t>
            </a:r>
          </a:p>
          <a:p>
            <a:pPr marL="0" indent="0">
              <a:buNone/>
            </a:pPr>
            <a:r>
              <a:rPr lang="en-US" sz="2000" dirty="0">
                <a:latin typeface="Courier New"/>
                <a:cs typeface="Courier New"/>
              </a:rPr>
              <a:t>};</a:t>
            </a:r>
          </a:p>
          <a:p>
            <a:pPr marL="0" indent="0">
              <a:buNone/>
            </a:pPr>
            <a:r>
              <a:rPr lang="en-US" sz="2000" dirty="0">
                <a:latin typeface="Courier New"/>
                <a:cs typeface="Courier New"/>
              </a:rPr>
              <a:t>var author = {</a:t>
            </a:r>
          </a:p>
          <a:p>
            <a:pPr marL="0" indent="0">
              <a:buNone/>
            </a:pPr>
            <a:r>
              <a:rPr lang="en-US" sz="2000" dirty="0">
                <a:latin typeface="Courier New"/>
                <a:cs typeface="Courier New"/>
              </a:rPr>
              <a:t>  </a:t>
            </a:r>
            <a:r>
              <a:rPr lang="en-US" sz="2000" dirty="0" err="1">
                <a:latin typeface="Courier New"/>
                <a:cs typeface="Courier New"/>
              </a:rPr>
              <a:t>fname</a:t>
            </a:r>
            <a:r>
              <a:rPr lang="en-US" sz="2000" dirty="0">
                <a:latin typeface="Courier New"/>
                <a:cs typeface="Courier New"/>
              </a:rPr>
              <a:t>: "Chris",</a:t>
            </a:r>
          </a:p>
          <a:p>
            <a:pPr marL="0" indent="0">
              <a:buNone/>
            </a:pPr>
            <a:r>
              <a:rPr lang="en-US" sz="2000" dirty="0">
                <a:latin typeface="Courier New"/>
                <a:cs typeface="Courier New"/>
              </a:rPr>
              <a:t>  </a:t>
            </a:r>
            <a:r>
              <a:rPr lang="en-US" sz="2000" dirty="0" err="1">
                <a:latin typeface="Courier New"/>
                <a:cs typeface="Courier New"/>
              </a:rPr>
              <a:t>lname</a:t>
            </a:r>
            <a:r>
              <a:rPr lang="en-US" sz="2000" dirty="0">
                <a:latin typeface="Courier New"/>
                <a:cs typeface="Courier New"/>
              </a:rPr>
              <a:t>: "Minnick"</a:t>
            </a:r>
          </a:p>
          <a:p>
            <a:pPr marL="0" indent="0">
              <a:buNone/>
            </a:pPr>
            <a:r>
              <a:rPr lang="en-US" sz="2000" dirty="0">
                <a:latin typeface="Courier New"/>
                <a:cs typeface="Courier New"/>
              </a:rPr>
              <a:t>};</a:t>
            </a:r>
          </a:p>
          <a:p>
            <a:pPr marL="0" indent="0">
              <a:buNone/>
            </a:pPr>
            <a:r>
              <a:rPr lang="en-US" sz="2000" dirty="0">
                <a:latin typeface="Courier New"/>
                <a:cs typeface="Courier New"/>
              </a:rPr>
              <a:t>var language = ["</a:t>
            </a:r>
            <a:r>
              <a:rPr lang="en-US" sz="2000" dirty="0" err="1">
                <a:latin typeface="Courier New"/>
                <a:cs typeface="Courier New"/>
              </a:rPr>
              <a:t>JavaScript","HTML","CSS</a:t>
            </a:r>
            <a:r>
              <a:rPr lang="en-US" sz="2000" dirty="0">
                <a:latin typeface="Courier New"/>
                <a:cs typeface="Courier New"/>
              </a:rPr>
              <a:t>"];</a:t>
            </a:r>
          </a:p>
          <a:p>
            <a:pPr marL="0" indent="0">
              <a:buNone/>
            </a:pPr>
            <a:r>
              <a:rPr lang="en-US" sz="2000" dirty="0" err="1">
                <a:latin typeface="Courier New"/>
                <a:cs typeface="Courier New"/>
              </a:rPr>
              <a:t>logName.call</a:t>
            </a:r>
            <a:r>
              <a:rPr lang="en-US" sz="2000" dirty="0">
                <a:latin typeface="Courier New"/>
                <a:cs typeface="Courier New"/>
              </a:rPr>
              <a:t>(</a:t>
            </a:r>
            <a:r>
              <a:rPr lang="en-US" sz="2000" dirty="0" err="1">
                <a:latin typeface="Courier New"/>
                <a:cs typeface="Courier New"/>
              </a:rPr>
              <a:t>author,language</a:t>
            </a:r>
            <a:r>
              <a:rPr lang="en-US" sz="2000" dirty="0">
                <a:latin typeface="Courier New"/>
                <a:cs typeface="Courier New"/>
              </a:rPr>
              <a:t>[0]);</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295</a:t>
            </a:fld>
            <a:endParaRPr lang="en-US"/>
          </a:p>
        </p:txBody>
      </p:sp>
    </p:spTree>
    <p:extLst>
      <p:ext uri="{BB962C8B-B14F-4D97-AF65-F5344CB8AC3E}">
        <p14:creationId xmlns:p14="http://schemas.microsoft.com/office/powerpoint/2010/main" val="3043827785"/>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 with .apply</a:t>
            </a:r>
          </a:p>
        </p:txBody>
      </p:sp>
      <p:sp>
        <p:nvSpPr>
          <p:cNvPr id="3" name="Text Placeholder 2"/>
          <p:cNvSpPr>
            <a:spLocks noGrp="1"/>
          </p:cNvSpPr>
          <p:nvPr>
            <p:ph type="body" idx="1"/>
          </p:nvPr>
        </p:nvSpPr>
        <p:spPr/>
        <p:txBody>
          <a:bodyPr>
            <a:normAutofit fontScale="92500" lnSpcReduction="10000"/>
          </a:bodyPr>
          <a:lstStyle/>
          <a:p>
            <a:r>
              <a:rPr lang="en-US" dirty="0"/>
              <a:t>Calls a function with a given </a:t>
            </a:r>
            <a:r>
              <a:rPr lang="en-US" dirty="0">
                <a:latin typeface="Courier New"/>
                <a:cs typeface="Courier New"/>
              </a:rPr>
              <a:t>this</a:t>
            </a:r>
            <a:r>
              <a:rPr lang="en-US" dirty="0"/>
              <a:t> value and the arguments given as an array</a:t>
            </a:r>
          </a:p>
          <a:p>
            <a:endParaRPr lang="en-US" dirty="0"/>
          </a:p>
          <a:p>
            <a:pPr marL="0" indent="0">
              <a:buNone/>
            </a:pPr>
            <a:r>
              <a:rPr lang="en-US" sz="1600" dirty="0" err="1">
                <a:latin typeface="Courier New"/>
                <a:cs typeface="Courier New"/>
              </a:rPr>
              <a:t>logName</a:t>
            </a:r>
            <a:r>
              <a:rPr lang="en-US" sz="1600" dirty="0">
                <a:latin typeface="Courier New"/>
                <a:cs typeface="Courier New"/>
              </a:rPr>
              <a:t> = function(food1,food2,food3) {</a:t>
            </a:r>
          </a:p>
          <a:p>
            <a:pPr marL="0" indent="0">
              <a:buNone/>
            </a:pPr>
            <a:r>
              <a:rPr lang="en-US" sz="1600" dirty="0">
                <a:latin typeface="Courier New"/>
                <a:cs typeface="Courier New"/>
              </a:rPr>
              <a:t>  console.log(</a:t>
            </a:r>
            <a:r>
              <a:rPr lang="en-US" sz="1600" dirty="0" err="1">
                <a:latin typeface="Courier New"/>
                <a:cs typeface="Courier New"/>
              </a:rPr>
              <a:t>this.fname</a:t>
            </a:r>
            <a:r>
              <a:rPr lang="en-US" sz="1600" dirty="0">
                <a:latin typeface="Courier New"/>
                <a:cs typeface="Courier New"/>
              </a:rPr>
              <a:t> + </a:t>
            </a:r>
            <a:r>
              <a:rPr lang="en-US" sz="1600" dirty="0" err="1">
                <a:latin typeface="Courier New"/>
                <a:cs typeface="Courier New"/>
              </a:rPr>
              <a:t>this.lname</a:t>
            </a:r>
            <a:r>
              <a:rPr lang="en-US" sz="1600" dirty="0">
                <a:latin typeface="Courier New"/>
                <a:cs typeface="Courier New"/>
              </a:rPr>
              <a:t>);</a:t>
            </a:r>
          </a:p>
          <a:p>
            <a:pPr marL="0" indent="0">
              <a:buNone/>
            </a:pPr>
            <a:r>
              <a:rPr lang="en-US" sz="1600" dirty="0">
                <a:latin typeface="Courier New"/>
                <a:cs typeface="Courier New"/>
              </a:rPr>
              <a:t>  console.log(food1, food2,</a:t>
            </a:r>
          </a:p>
          <a:p>
            <a:pPr marL="0" indent="0">
              <a:buNone/>
            </a:pPr>
            <a:r>
              <a:rPr lang="en-US" sz="1600" dirty="0">
                <a:latin typeface="Courier New"/>
                <a:cs typeface="Courier New"/>
              </a:rPr>
              <a:t>    food3);</a:t>
            </a:r>
          </a:p>
          <a:p>
            <a:pPr marL="0" indent="0">
              <a:buNone/>
            </a:pPr>
            <a:r>
              <a:rPr lang="en-US" sz="1600" dirty="0">
                <a:latin typeface="Courier New"/>
                <a:cs typeface="Courier New"/>
              </a:rPr>
              <a:t>};</a:t>
            </a:r>
          </a:p>
          <a:p>
            <a:pPr marL="0" indent="0">
              <a:buNone/>
            </a:pPr>
            <a:r>
              <a:rPr lang="en-US" sz="1600" dirty="0">
                <a:latin typeface="Courier New"/>
                <a:cs typeface="Courier New"/>
              </a:rPr>
              <a:t>var author = {</a:t>
            </a:r>
          </a:p>
          <a:p>
            <a:pPr marL="0" indent="0">
              <a:buNone/>
            </a:pPr>
            <a:r>
              <a:rPr lang="en-US" sz="1600" dirty="0">
                <a:latin typeface="Courier New"/>
                <a:cs typeface="Courier New"/>
              </a:rPr>
              <a:t>  </a:t>
            </a:r>
            <a:r>
              <a:rPr lang="en-US" sz="1600" dirty="0" err="1">
                <a:latin typeface="Courier New"/>
                <a:cs typeface="Courier New"/>
              </a:rPr>
              <a:t>fname</a:t>
            </a:r>
            <a:r>
              <a:rPr lang="en-US" sz="1600" dirty="0">
                <a:latin typeface="Courier New"/>
                <a:cs typeface="Courier New"/>
              </a:rPr>
              <a:t>: "Chris",</a:t>
            </a:r>
          </a:p>
          <a:p>
            <a:pPr marL="0" indent="0">
              <a:buNone/>
            </a:pPr>
            <a:r>
              <a:rPr lang="en-US" sz="1600" dirty="0">
                <a:latin typeface="Courier New"/>
                <a:cs typeface="Courier New"/>
              </a:rPr>
              <a:t>  </a:t>
            </a:r>
            <a:r>
              <a:rPr lang="en-US" sz="1600" dirty="0" err="1">
                <a:latin typeface="Courier New"/>
                <a:cs typeface="Courier New"/>
              </a:rPr>
              <a:t>lname</a:t>
            </a:r>
            <a:r>
              <a:rPr lang="en-US" sz="1600" dirty="0">
                <a:latin typeface="Courier New"/>
                <a:cs typeface="Courier New"/>
              </a:rPr>
              <a:t>: "Minnick"</a:t>
            </a:r>
          </a:p>
          <a:p>
            <a:pPr marL="0" indent="0">
              <a:buNone/>
            </a:pP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a:latin typeface="Courier New"/>
                <a:cs typeface="Courier New"/>
              </a:rPr>
              <a:t>var </a:t>
            </a:r>
            <a:r>
              <a:rPr lang="en-US" sz="1600" dirty="0" err="1">
                <a:latin typeface="Courier New"/>
                <a:cs typeface="Courier New"/>
              </a:rPr>
              <a:t>favoriteFoods</a:t>
            </a:r>
            <a:r>
              <a:rPr lang="en-US" sz="1600" dirty="0">
                <a:latin typeface="Courier New"/>
                <a:cs typeface="Courier New"/>
              </a:rPr>
              <a:t>= ['</a:t>
            </a:r>
            <a:r>
              <a:rPr lang="en-US" sz="1600" dirty="0" err="1">
                <a:latin typeface="Courier New"/>
                <a:cs typeface="Courier New"/>
              </a:rPr>
              <a:t>Tacos','Soup','Sushi</a:t>
            </a: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err="1">
                <a:latin typeface="Courier New"/>
                <a:cs typeface="Courier New"/>
              </a:rPr>
              <a:t>logName.apply</a:t>
            </a:r>
            <a:r>
              <a:rPr lang="en-US" sz="1600" dirty="0">
                <a:latin typeface="Courier New"/>
                <a:cs typeface="Courier New"/>
              </a:rPr>
              <a:t>(author, </a:t>
            </a:r>
            <a:r>
              <a:rPr lang="en-US" sz="1600" dirty="0" err="1">
                <a:latin typeface="Courier New"/>
                <a:cs typeface="Courier New"/>
              </a:rPr>
              <a:t>favoriteFoods</a:t>
            </a:r>
            <a:r>
              <a:rPr lang="en-US" sz="1600" dirty="0">
                <a:latin typeface="Courier New"/>
                <a:cs typeface="Courier New"/>
              </a:rPr>
              <a:t>);</a:t>
            </a: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296</a:t>
            </a:fld>
            <a:endParaRPr lang="en-US"/>
          </a:p>
        </p:txBody>
      </p:sp>
    </p:spTree>
    <p:extLst>
      <p:ext uri="{BB962C8B-B14F-4D97-AF65-F5344CB8AC3E}">
        <p14:creationId xmlns:p14="http://schemas.microsoft.com/office/powerpoint/2010/main" val="2806236282"/>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Explicit Binding with .bind</a:t>
            </a:r>
          </a:p>
        </p:txBody>
      </p:sp>
      <p:sp>
        <p:nvSpPr>
          <p:cNvPr id="3" name="Text Placeholder 2"/>
          <p:cNvSpPr>
            <a:spLocks noGrp="1"/>
          </p:cNvSpPr>
          <p:nvPr>
            <p:ph type="body" idx="1"/>
          </p:nvPr>
        </p:nvSpPr>
        <p:spPr/>
        <p:txBody>
          <a:bodyPr/>
          <a:lstStyle/>
          <a:p>
            <a:r>
              <a:rPr lang="en-US" dirty="0"/>
              <a:t>Works the same as .call, but returns  </a:t>
            </a:r>
            <a:r>
              <a:rPr lang="en-US" dirty="0">
                <a:latin typeface="Courier New"/>
                <a:cs typeface="Courier New"/>
              </a:rPr>
              <a:t>new </a:t>
            </a:r>
            <a:r>
              <a:rPr lang="en-US" dirty="0"/>
              <a:t>function rather than immediately invoking the function</a:t>
            </a:r>
          </a:p>
          <a:p>
            <a:pPr marL="0" indent="0">
              <a:buNone/>
            </a:pPr>
            <a:r>
              <a:rPr lang="en-US" sz="1600" dirty="0" err="1">
                <a:latin typeface="Courier New"/>
                <a:cs typeface="Courier New"/>
              </a:rPr>
              <a:t>logName</a:t>
            </a:r>
            <a:r>
              <a:rPr lang="en-US" sz="1600" dirty="0">
                <a:latin typeface="Courier New"/>
                <a:cs typeface="Courier New"/>
              </a:rPr>
              <a:t> = function(food) {</a:t>
            </a:r>
          </a:p>
          <a:p>
            <a:pPr marL="0" indent="0">
              <a:buNone/>
            </a:pPr>
            <a:r>
              <a:rPr lang="en-US" sz="1600" dirty="0">
                <a:latin typeface="Courier New"/>
                <a:cs typeface="Courier New"/>
              </a:rPr>
              <a:t>  console.log(</a:t>
            </a:r>
            <a:r>
              <a:rPr lang="en-US" sz="1600" dirty="0" err="1">
                <a:latin typeface="Courier New"/>
                <a:cs typeface="Courier New"/>
              </a:rPr>
              <a:t>this.fname</a:t>
            </a:r>
            <a:r>
              <a:rPr lang="en-US" sz="1600" dirty="0">
                <a:latin typeface="Courier New"/>
                <a:cs typeface="Courier New"/>
              </a:rPr>
              <a:t> +" " + </a:t>
            </a:r>
            <a:r>
              <a:rPr lang="en-US" sz="1600" dirty="0" err="1">
                <a:latin typeface="Courier New"/>
                <a:cs typeface="Courier New"/>
              </a:rPr>
              <a:t>this.lname</a:t>
            </a:r>
            <a:r>
              <a:rPr lang="en-US" sz="1600" dirty="0">
                <a:latin typeface="Courier New"/>
                <a:cs typeface="Courier New"/>
              </a:rPr>
              <a:t> + </a:t>
            </a:r>
          </a:p>
          <a:p>
            <a:pPr marL="0" indent="0">
              <a:buNone/>
            </a:pPr>
            <a:r>
              <a:rPr lang="en-US" sz="1600" dirty="0">
                <a:latin typeface="Courier New"/>
                <a:cs typeface="Courier New"/>
              </a:rPr>
              <a:t>		"\'s Favorite Food was " + food);</a:t>
            </a:r>
          </a:p>
          <a:p>
            <a:pPr marL="0" indent="0">
              <a:buNone/>
            </a:pPr>
            <a:r>
              <a:rPr lang="en-US" sz="1600" dirty="0">
                <a:latin typeface="Courier New"/>
                <a:cs typeface="Courier New"/>
              </a:rPr>
              <a:t>};</a:t>
            </a:r>
          </a:p>
          <a:p>
            <a:pPr marL="0" indent="0">
              <a:buNone/>
            </a:pPr>
            <a:r>
              <a:rPr lang="en-US" sz="1600" dirty="0">
                <a:latin typeface="Courier New"/>
                <a:cs typeface="Courier New"/>
              </a:rPr>
              <a:t>var person = {</a:t>
            </a:r>
          </a:p>
          <a:p>
            <a:pPr marL="0" indent="0">
              <a:buNone/>
            </a:pPr>
            <a:r>
              <a:rPr lang="en-US" sz="1600" dirty="0">
                <a:latin typeface="Courier New"/>
                <a:cs typeface="Courier New"/>
              </a:rPr>
              <a:t>  </a:t>
            </a:r>
            <a:r>
              <a:rPr lang="en-US" sz="1600" dirty="0" err="1">
                <a:latin typeface="Courier New"/>
                <a:cs typeface="Courier New"/>
              </a:rPr>
              <a:t>fname</a:t>
            </a:r>
            <a:r>
              <a:rPr lang="en-US" sz="1600" dirty="0">
                <a:latin typeface="Courier New"/>
                <a:cs typeface="Courier New"/>
              </a:rPr>
              <a:t>: "George",</a:t>
            </a:r>
          </a:p>
          <a:p>
            <a:pPr marL="0" indent="0">
              <a:buNone/>
            </a:pPr>
            <a:r>
              <a:rPr lang="en-US" sz="1600" dirty="0">
                <a:latin typeface="Courier New"/>
                <a:cs typeface="Courier New"/>
              </a:rPr>
              <a:t>  </a:t>
            </a:r>
            <a:r>
              <a:rPr lang="en-US" sz="1600" dirty="0" err="1">
                <a:latin typeface="Courier New"/>
                <a:cs typeface="Courier New"/>
              </a:rPr>
              <a:t>lname</a:t>
            </a:r>
            <a:r>
              <a:rPr lang="en-US" sz="1600" dirty="0">
                <a:latin typeface="Courier New"/>
                <a:cs typeface="Courier New"/>
              </a:rPr>
              <a:t>: "Washington"</a:t>
            </a:r>
          </a:p>
          <a:p>
            <a:pPr marL="0" indent="0">
              <a:buNone/>
            </a:pPr>
            <a:r>
              <a:rPr lang="en-US" sz="1600" dirty="0">
                <a:latin typeface="Courier New"/>
                <a:cs typeface="Courier New"/>
              </a:rPr>
              <a:t>};</a:t>
            </a:r>
          </a:p>
          <a:p>
            <a:pPr marL="0" indent="0">
              <a:buNone/>
            </a:pPr>
            <a:r>
              <a:rPr lang="en-US" sz="1600" dirty="0">
                <a:latin typeface="Courier New"/>
                <a:cs typeface="Courier New"/>
              </a:rPr>
              <a:t>var </a:t>
            </a:r>
            <a:r>
              <a:rPr lang="en-US" sz="1600" dirty="0" err="1">
                <a:latin typeface="Courier New"/>
                <a:cs typeface="Courier New"/>
              </a:rPr>
              <a:t>logMe</a:t>
            </a:r>
            <a:r>
              <a:rPr lang="en-US" sz="1600" dirty="0">
                <a:latin typeface="Courier New"/>
                <a:cs typeface="Courier New"/>
              </a:rPr>
              <a:t> = </a:t>
            </a:r>
            <a:r>
              <a:rPr lang="en-US" sz="1600" dirty="0" err="1">
                <a:latin typeface="Courier New"/>
                <a:cs typeface="Courier New"/>
              </a:rPr>
              <a:t>logName.bind</a:t>
            </a:r>
            <a:r>
              <a:rPr lang="en-US" sz="1600" dirty="0">
                <a:latin typeface="Courier New"/>
                <a:cs typeface="Courier New"/>
              </a:rPr>
              <a:t>(</a:t>
            </a:r>
            <a:r>
              <a:rPr lang="en-US" sz="1600" dirty="0" err="1">
                <a:latin typeface="Courier New"/>
                <a:cs typeface="Courier New"/>
              </a:rPr>
              <a:t>person,"Tacos</a:t>
            </a: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err="1">
                <a:latin typeface="Courier New"/>
                <a:cs typeface="Courier New"/>
              </a:rPr>
              <a:t>logMe</a:t>
            </a:r>
            <a:r>
              <a:rPr lang="en-US" sz="1600" dirty="0">
                <a:latin typeface="Courier New"/>
                <a:cs typeface="Courier New"/>
              </a:rPr>
              <a:t>();</a:t>
            </a:r>
          </a:p>
          <a:p>
            <a:pPr marL="0" indent="0">
              <a:buNone/>
            </a:pPr>
            <a:r>
              <a:rPr lang="en-US" sz="1600" dirty="0">
                <a:latin typeface="Courier New"/>
                <a:cs typeface="Courier New"/>
                <a:hlinkClick r:id="rId3"/>
              </a:rPr>
              <a:t>http://jsbin.com/xikuzog/edit?js,console</a:t>
            </a:r>
            <a:endParaRPr lang="en-US" sz="160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297</a:t>
            </a:fld>
            <a:endParaRPr lang="en-US"/>
          </a:p>
        </p:txBody>
      </p:sp>
    </p:spTree>
    <p:extLst>
      <p:ext uri="{BB962C8B-B14F-4D97-AF65-F5344CB8AC3E}">
        <p14:creationId xmlns:p14="http://schemas.microsoft.com/office/powerpoint/2010/main" val="164442048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ourier New"/>
                <a:cs typeface="Courier New"/>
              </a:rPr>
              <a:t>new</a:t>
            </a:r>
            <a:r>
              <a:rPr lang="en-US"/>
              <a:t> Binding</a:t>
            </a:r>
          </a:p>
        </p:txBody>
      </p:sp>
      <p:sp>
        <p:nvSpPr>
          <p:cNvPr id="3" name="Text Placeholder 2"/>
          <p:cNvSpPr>
            <a:spLocks noGrp="1"/>
          </p:cNvSpPr>
          <p:nvPr>
            <p:ph type="body" idx="1"/>
          </p:nvPr>
        </p:nvSpPr>
        <p:spPr/>
        <p:txBody>
          <a:bodyPr/>
          <a:lstStyle/>
          <a:p>
            <a:r>
              <a:rPr lang="en-US" sz="2800" dirty="0"/>
              <a:t>When a function is invoked with the </a:t>
            </a:r>
            <a:r>
              <a:rPr lang="en-US" sz="2800" dirty="0">
                <a:latin typeface="Courier New"/>
                <a:cs typeface="Courier New"/>
              </a:rPr>
              <a:t>new</a:t>
            </a:r>
            <a:r>
              <a:rPr lang="en-US" sz="2800" dirty="0"/>
              <a:t> keyword, then this keyword inside the object is bound to the  new object.</a:t>
            </a:r>
          </a:p>
          <a:p>
            <a:pPr marL="0" indent="0">
              <a:buNone/>
            </a:pPr>
            <a:r>
              <a:rPr lang="en-US" sz="2000" dirty="0">
                <a:latin typeface="Courier New"/>
                <a:cs typeface="Courier New"/>
              </a:rPr>
              <a:t>var City = function (</a:t>
            </a:r>
            <a:r>
              <a:rPr lang="en-US" sz="2000" dirty="0" err="1">
                <a:latin typeface="Courier New"/>
                <a:cs typeface="Courier New"/>
              </a:rPr>
              <a:t>lat,long,state,pop</a:t>
            </a:r>
            <a:r>
              <a:rPr lang="en-US" sz="2000" dirty="0">
                <a:latin typeface="Courier New"/>
                <a:cs typeface="Courier New"/>
              </a:rPr>
              <a:t>) {</a:t>
            </a:r>
          </a:p>
          <a:p>
            <a:pPr marL="0" indent="0">
              <a:buNone/>
            </a:pPr>
            <a:r>
              <a:rPr lang="en-US" sz="2000" dirty="0">
                <a:latin typeface="Courier New"/>
                <a:cs typeface="Courier New"/>
              </a:rPr>
              <a:t>  </a:t>
            </a:r>
            <a:r>
              <a:rPr lang="en-US" sz="2000" dirty="0" err="1">
                <a:latin typeface="Courier New"/>
                <a:cs typeface="Courier New"/>
              </a:rPr>
              <a:t>this.lat</a:t>
            </a:r>
            <a:r>
              <a:rPr lang="en-US" sz="2000" dirty="0">
                <a:latin typeface="Courier New"/>
                <a:cs typeface="Courier New"/>
              </a:rPr>
              <a:t> = </a:t>
            </a:r>
            <a:r>
              <a:rPr lang="en-US" sz="2000" dirty="0" err="1">
                <a:latin typeface="Courier New"/>
                <a:cs typeface="Courier New"/>
              </a:rPr>
              <a:t>lat</a:t>
            </a:r>
            <a:r>
              <a:rPr lang="en-US" sz="2000" dirty="0">
                <a:latin typeface="Courier New"/>
                <a:cs typeface="Courier New"/>
              </a:rPr>
              <a:t>;</a:t>
            </a:r>
          </a:p>
          <a:p>
            <a:pPr marL="0" indent="0">
              <a:buNone/>
            </a:pPr>
            <a:r>
              <a:rPr lang="en-US" sz="2000" dirty="0">
                <a:latin typeface="Courier New"/>
                <a:cs typeface="Courier New"/>
              </a:rPr>
              <a:t>  </a:t>
            </a:r>
            <a:r>
              <a:rPr lang="en-US" sz="2000" dirty="0" err="1">
                <a:latin typeface="Courier New"/>
                <a:cs typeface="Courier New"/>
              </a:rPr>
              <a:t>this.long</a:t>
            </a:r>
            <a:r>
              <a:rPr lang="en-US" sz="2000" dirty="0">
                <a:latin typeface="Courier New"/>
                <a:cs typeface="Courier New"/>
              </a:rPr>
              <a:t> = long;</a:t>
            </a:r>
          </a:p>
          <a:p>
            <a:pPr marL="0" indent="0">
              <a:buNone/>
            </a:pPr>
            <a:r>
              <a:rPr lang="en-US" sz="2000" dirty="0">
                <a:latin typeface="Courier New"/>
                <a:cs typeface="Courier New"/>
              </a:rPr>
              <a:t>  </a:t>
            </a:r>
            <a:r>
              <a:rPr lang="en-US" sz="2000" dirty="0" err="1">
                <a:latin typeface="Courier New"/>
                <a:cs typeface="Courier New"/>
              </a:rPr>
              <a:t>this.state</a:t>
            </a:r>
            <a:r>
              <a:rPr lang="en-US" sz="2000" dirty="0">
                <a:latin typeface="Courier New"/>
                <a:cs typeface="Courier New"/>
              </a:rPr>
              <a:t> = state;</a:t>
            </a:r>
          </a:p>
          <a:p>
            <a:pPr marL="0" indent="0">
              <a:buNone/>
            </a:pPr>
            <a:r>
              <a:rPr lang="en-US" sz="2000" dirty="0">
                <a:latin typeface="Courier New"/>
                <a:cs typeface="Courier New"/>
              </a:rPr>
              <a:t>  </a:t>
            </a:r>
            <a:r>
              <a:rPr lang="en-US" sz="2000" dirty="0" err="1">
                <a:latin typeface="Courier New"/>
                <a:cs typeface="Courier New"/>
              </a:rPr>
              <a:t>this.pop</a:t>
            </a:r>
            <a:r>
              <a:rPr lang="en-US" sz="2000" dirty="0">
                <a:latin typeface="Courier New"/>
                <a:cs typeface="Courier New"/>
              </a:rPr>
              <a:t> = pop;</a:t>
            </a:r>
          </a:p>
          <a:p>
            <a:pPr marL="0" indent="0">
              <a:buNone/>
            </a:pPr>
            <a:r>
              <a:rPr lang="en-US" sz="2000" dirty="0">
                <a:latin typeface="Courier New"/>
                <a:cs typeface="Courier New"/>
              </a:rPr>
              <a:t>};</a:t>
            </a:r>
          </a:p>
          <a:p>
            <a:pPr marL="0" indent="0">
              <a:buNone/>
            </a:pPr>
            <a:r>
              <a:rPr lang="en-US" sz="2000" dirty="0">
                <a:latin typeface="Courier New"/>
                <a:cs typeface="Courier New"/>
              </a:rPr>
              <a:t>var </a:t>
            </a:r>
            <a:r>
              <a:rPr lang="en-US" sz="2000" dirty="0" err="1">
                <a:latin typeface="Courier New"/>
                <a:cs typeface="Courier New"/>
              </a:rPr>
              <a:t>sacramento</a:t>
            </a:r>
            <a:r>
              <a:rPr lang="en-US" sz="2000" dirty="0">
                <a:latin typeface="Courier New"/>
                <a:cs typeface="Courier New"/>
              </a:rPr>
              <a:t> = new City(38.58,121.49,"CA",480000);</a:t>
            </a:r>
          </a:p>
          <a:p>
            <a:pPr marL="0" indent="0">
              <a:buNone/>
            </a:pPr>
            <a:r>
              <a:rPr lang="en-US" sz="2000" dirty="0">
                <a:latin typeface="Courier New"/>
                <a:cs typeface="Courier New"/>
              </a:rPr>
              <a:t>console.log (</a:t>
            </a:r>
            <a:r>
              <a:rPr lang="en-US" sz="2000" dirty="0" err="1">
                <a:latin typeface="Courier New"/>
                <a:cs typeface="Courier New"/>
              </a:rPr>
              <a:t>sacramento.state</a:t>
            </a:r>
            <a:r>
              <a:rPr lang="en-US" sz="2000" dirty="0">
                <a:latin typeface="Courier New"/>
                <a:cs typeface="Courier New"/>
              </a:rPr>
              <a:t>);</a:t>
            </a:r>
          </a:p>
        </p:txBody>
      </p:sp>
      <p:sp>
        <p:nvSpPr>
          <p:cNvPr id="4" name="Slide Number Placeholder 3"/>
          <p:cNvSpPr>
            <a:spLocks noGrp="1"/>
          </p:cNvSpPr>
          <p:nvPr>
            <p:ph type="sldNum" sz="quarter" idx="12"/>
          </p:nvPr>
        </p:nvSpPr>
        <p:spPr/>
        <p:txBody>
          <a:bodyPr/>
          <a:lstStyle/>
          <a:p>
            <a:fld id="{A839F4A7-500C-EC42-AE23-BEE4487EA55E}" type="slidenum">
              <a:rPr lang="en-US" smtClean="0"/>
              <a:t>298</a:t>
            </a:fld>
            <a:endParaRPr lang="en-US"/>
          </a:p>
        </p:txBody>
      </p:sp>
    </p:spTree>
    <p:extLst>
      <p:ext uri="{BB962C8B-B14F-4D97-AF65-F5344CB8AC3E}">
        <p14:creationId xmlns:p14="http://schemas.microsoft.com/office/powerpoint/2010/main" val="2529755405"/>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ourier New"/>
                <a:cs typeface="Courier New"/>
              </a:rPr>
              <a:t>window</a:t>
            </a:r>
            <a:r>
              <a:rPr lang="en-US"/>
              <a:t> Binding</a:t>
            </a:r>
          </a:p>
        </p:txBody>
      </p:sp>
      <p:sp>
        <p:nvSpPr>
          <p:cNvPr id="3" name="Text Placeholder 2"/>
          <p:cNvSpPr>
            <a:spLocks noGrp="1"/>
          </p:cNvSpPr>
          <p:nvPr>
            <p:ph type="body" idx="1"/>
          </p:nvPr>
        </p:nvSpPr>
        <p:spPr/>
        <p:txBody>
          <a:bodyPr>
            <a:normAutofit fontScale="92500" lnSpcReduction="10000"/>
          </a:bodyPr>
          <a:lstStyle/>
          <a:p>
            <a:r>
              <a:rPr lang="en-US" dirty="0"/>
              <a:t>What happens when no object is specified or implied</a:t>
            </a:r>
          </a:p>
          <a:p>
            <a:r>
              <a:rPr lang="en-US" dirty="0">
                <a:latin typeface="Courier New"/>
                <a:cs typeface="Courier New"/>
              </a:rPr>
              <a:t>this</a:t>
            </a:r>
            <a:r>
              <a:rPr lang="en-US" dirty="0"/>
              <a:t> defaults to the </a:t>
            </a:r>
            <a:r>
              <a:rPr lang="en-US" dirty="0">
                <a:latin typeface="Courier New"/>
                <a:cs typeface="Courier New"/>
              </a:rPr>
              <a:t>window</a:t>
            </a:r>
            <a:r>
              <a:rPr lang="en-US" dirty="0"/>
              <a:t> object</a:t>
            </a:r>
          </a:p>
          <a:p>
            <a:endParaRPr lang="en-US" dirty="0"/>
          </a:p>
          <a:p>
            <a:pPr marL="0" indent="0">
              <a:buNone/>
            </a:pPr>
            <a:r>
              <a:rPr lang="en-US" sz="2000" dirty="0">
                <a:latin typeface="Courier New"/>
                <a:cs typeface="Courier New"/>
              </a:rPr>
              <a:t>var </a:t>
            </a:r>
            <a:r>
              <a:rPr lang="en-US" sz="2000" dirty="0" err="1">
                <a:latin typeface="Courier New"/>
                <a:cs typeface="Courier New"/>
              </a:rPr>
              <a:t>logName</a:t>
            </a:r>
            <a:r>
              <a:rPr lang="en-US" sz="2000" dirty="0">
                <a:latin typeface="Courier New"/>
                <a:cs typeface="Courier New"/>
              </a:rPr>
              <a:t> = function() {</a:t>
            </a:r>
          </a:p>
          <a:p>
            <a:pPr marL="0" indent="0">
              <a:buNone/>
            </a:pPr>
            <a:r>
              <a:rPr lang="en-US" sz="2000" dirty="0">
                <a:latin typeface="Courier New"/>
                <a:cs typeface="Courier New"/>
              </a:rPr>
              <a:t>  console.log(</a:t>
            </a:r>
            <a:r>
              <a:rPr lang="en-US" sz="2000" dirty="0" err="1">
                <a:latin typeface="Courier New"/>
                <a:cs typeface="Courier New"/>
              </a:rPr>
              <a:t>this.name</a:t>
            </a:r>
            <a:r>
              <a:rPr lang="en-US" sz="2000" dirty="0">
                <a:latin typeface="Courier New"/>
                <a:cs typeface="Courier New"/>
              </a:rPr>
              <a:t>);</a:t>
            </a:r>
          </a:p>
          <a:p>
            <a:pPr marL="0" indent="0">
              <a:buNone/>
            </a:pPr>
            <a:r>
              <a:rPr lang="en-US" sz="2000" dirty="0">
                <a:latin typeface="Courier New"/>
                <a:cs typeface="Courier New"/>
              </a:rPr>
              <a:t>}</a:t>
            </a:r>
          </a:p>
          <a:p>
            <a:pPr marL="0" indent="0">
              <a:buNone/>
            </a:pPr>
            <a:r>
              <a:rPr lang="en-US" sz="2000" dirty="0">
                <a:latin typeface="Courier New"/>
                <a:cs typeface="Courier New"/>
              </a:rPr>
              <a:t>var author = {</a:t>
            </a:r>
          </a:p>
          <a:p>
            <a:pPr marL="0" indent="0">
              <a:buNone/>
            </a:pPr>
            <a:r>
              <a:rPr lang="en-US" sz="2000" dirty="0">
                <a:latin typeface="Courier New"/>
                <a:cs typeface="Courier New"/>
              </a:rPr>
              <a:t>  name: 'Chris',</a:t>
            </a:r>
          </a:p>
          <a:p>
            <a:pPr marL="0" indent="0">
              <a:buNone/>
            </a:pPr>
            <a:r>
              <a:rPr lang="en-US" sz="2000" dirty="0">
                <a:latin typeface="Courier New"/>
                <a:cs typeface="Courier New"/>
              </a:rPr>
              <a:t>  </a:t>
            </a:r>
            <a:r>
              <a:rPr lang="en-US" sz="2000" dirty="0" err="1">
                <a:latin typeface="Courier New"/>
                <a:cs typeface="Courier New"/>
              </a:rPr>
              <a:t>homeTown</a:t>
            </a:r>
            <a:r>
              <a:rPr lang="en-US" sz="2000" dirty="0">
                <a:latin typeface="Courier New"/>
                <a:cs typeface="Courier New"/>
              </a:rPr>
              <a:t>: 'Detroit"</a:t>
            </a:r>
          </a:p>
          <a:p>
            <a:pPr marL="0" indent="0">
              <a:buNone/>
            </a:pPr>
            <a:r>
              <a:rPr lang="en-US" sz="2000" dirty="0">
                <a:latin typeface="Courier New"/>
                <a:cs typeface="Courier New"/>
              </a:rPr>
              <a:t>}</a:t>
            </a:r>
          </a:p>
          <a:p>
            <a:pPr marL="0" indent="0">
              <a:buNone/>
            </a:pPr>
            <a:r>
              <a:rPr lang="en-US" sz="2000" dirty="0" err="1">
                <a:latin typeface="Courier New"/>
                <a:cs typeface="Courier New"/>
              </a:rPr>
              <a:t>logName</a:t>
            </a:r>
            <a:r>
              <a:rPr lang="en-US" sz="2000" dirty="0">
                <a:latin typeface="Courier New"/>
                <a:cs typeface="Courier New"/>
              </a:rPr>
              <a:t>(author); //undefined(error in 'strict' mode)</a:t>
            </a:r>
          </a:p>
          <a:p>
            <a:pPr marL="0" indent="0">
              <a:buNone/>
            </a:pPr>
            <a:r>
              <a:rPr lang="en-US" sz="2000" dirty="0" err="1">
                <a:latin typeface="Courier New"/>
                <a:cs typeface="Courier New"/>
              </a:rPr>
              <a:t>window.author</a:t>
            </a:r>
            <a:r>
              <a:rPr lang="en-US" sz="2000" dirty="0">
                <a:latin typeface="Courier New"/>
                <a:cs typeface="Courier New"/>
              </a:rPr>
              <a:t> = "Harry";</a:t>
            </a:r>
          </a:p>
          <a:p>
            <a:pPr marL="0" indent="0">
              <a:buNone/>
            </a:pPr>
            <a:r>
              <a:rPr lang="en-US" sz="2000" dirty="0" err="1">
                <a:latin typeface="Courier New"/>
                <a:cs typeface="Courier New"/>
              </a:rPr>
              <a:t>logName</a:t>
            </a:r>
            <a:r>
              <a:rPr lang="en-US" sz="2000" dirty="0">
                <a:latin typeface="Courier New"/>
                <a:cs typeface="Courier New"/>
              </a:rPr>
              <a:t>(author); // "Harry"</a:t>
            </a:r>
          </a:p>
          <a:p>
            <a:pPr marL="0" indent="0">
              <a:buNone/>
            </a:pPr>
            <a:endParaRPr lang="en-US" dirty="0">
              <a:latin typeface="Courier New"/>
              <a:cs typeface="Courier New"/>
            </a:endParaRPr>
          </a:p>
        </p:txBody>
      </p:sp>
      <p:sp>
        <p:nvSpPr>
          <p:cNvPr id="4" name="Slide Number Placeholder 3"/>
          <p:cNvSpPr>
            <a:spLocks noGrp="1"/>
          </p:cNvSpPr>
          <p:nvPr>
            <p:ph type="sldNum" sz="quarter" idx="12"/>
          </p:nvPr>
        </p:nvSpPr>
        <p:spPr/>
        <p:txBody>
          <a:bodyPr/>
          <a:lstStyle/>
          <a:p>
            <a:fld id="{A839F4A7-500C-EC42-AE23-BEE4487EA55E}" type="slidenum">
              <a:rPr lang="en-US" smtClean="0"/>
              <a:t>299</a:t>
            </a:fld>
            <a:endParaRPr lang="en-US"/>
          </a:p>
        </p:txBody>
      </p:sp>
    </p:spTree>
    <p:extLst>
      <p:ext uri="{BB962C8B-B14F-4D97-AF65-F5344CB8AC3E}">
        <p14:creationId xmlns:p14="http://schemas.microsoft.com/office/powerpoint/2010/main" val="4047550557"/>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a:latin typeface="Courier New"/>
                <a:cs typeface="Courier New"/>
              </a:rPr>
              <a:t>Array.map()</a:t>
            </a:r>
          </a:p>
        </p:txBody>
      </p:sp>
      <p:sp>
        <p:nvSpPr>
          <p:cNvPr id="3" name="Text Placeholder 2"/>
          <p:cNvSpPr>
            <a:spLocks noGrp="1"/>
          </p:cNvSpPr>
          <p:nvPr>
            <p:ph type="body" idx="1"/>
          </p:nvPr>
        </p:nvSpPr>
        <p:spPr/>
        <p:txBody>
          <a:bodyPr/>
          <a:lstStyle/>
          <a:p>
            <a:pPr marL="0" lvl="0" indent="0">
              <a:buNone/>
            </a:pPr>
            <a:r>
              <a:rPr lang="en-US" b="1" err="1">
                <a:latin typeface="Courier New" pitchFamily="49" charset="0"/>
              </a:rPr>
              <a:t>Array.map</a:t>
            </a:r>
            <a:r>
              <a:rPr lang="en-US" b="1">
                <a:latin typeface="Courier New" pitchFamily="49" charset="0"/>
              </a:rPr>
              <a:t>()</a:t>
            </a:r>
          </a:p>
          <a:p>
            <a:pPr lvl="1"/>
            <a:r>
              <a:rPr lang="en-US" dirty="0"/>
              <a:t>Creates a new array with the results of calling a provided function on every element in this array.</a:t>
            </a:r>
          </a:p>
          <a:p>
            <a:r>
              <a:rPr lang="en-US" dirty="0"/>
              <a:t>Syntax</a:t>
            </a:r>
          </a:p>
          <a:p>
            <a:pPr marL="0" lvl="1" indent="0">
              <a:buNone/>
            </a:pPr>
            <a:r>
              <a:rPr lang="en-US">
                <a:latin typeface="Courier New" pitchFamily="49" charset="0"/>
              </a:rPr>
              <a:t>var </a:t>
            </a:r>
            <a:r>
              <a:rPr lang="en-US" err="1">
                <a:latin typeface="Courier New" pitchFamily="49" charset="0"/>
              </a:rPr>
              <a:t>new_array</a:t>
            </a:r>
            <a:r>
              <a:rPr lang="en-US">
                <a:latin typeface="Courier New" pitchFamily="49" charset="0"/>
              </a:rPr>
              <a:t> = </a:t>
            </a:r>
            <a:r>
              <a:rPr lang="en-US" err="1">
                <a:latin typeface="Courier New" pitchFamily="49" charset="0"/>
              </a:rPr>
              <a:t>arr.map</a:t>
            </a:r>
            <a:r>
              <a:rPr lang="en-US">
                <a:latin typeface="Courier New" pitchFamily="49" charset="0"/>
              </a:rPr>
              <a:t>(callback)</a:t>
            </a:r>
          </a:p>
          <a:p>
            <a:r>
              <a:rPr lang="en-US" dirty="0"/>
              <a:t>Parameters passed to the callback</a:t>
            </a:r>
          </a:p>
          <a:p>
            <a:pPr marL="0" lvl="1" indent="0">
              <a:buNone/>
            </a:pPr>
            <a:r>
              <a:rPr lang="en-US" dirty="0" err="1">
                <a:latin typeface="Courier New"/>
                <a:cs typeface="Courier New"/>
              </a:rPr>
              <a:t>currentValue</a:t>
            </a:r>
            <a:endParaRPr lang="en-US">
              <a:latin typeface="Courier New"/>
              <a:cs typeface="Courier New"/>
            </a:endParaRPr>
          </a:p>
          <a:p>
            <a:pPr lvl="2"/>
            <a:r>
              <a:rPr lang="en-US" dirty="0"/>
              <a:t>The current element being processed</a:t>
            </a:r>
          </a:p>
          <a:p>
            <a:pPr marL="0" lvl="1" indent="0">
              <a:buNone/>
            </a:pPr>
            <a:r>
              <a:rPr lang="en-US" dirty="0">
                <a:latin typeface="Courier New"/>
                <a:cs typeface="Courier New"/>
              </a:rPr>
              <a:t>index</a:t>
            </a:r>
            <a:endParaRPr lang="en-US">
              <a:latin typeface="Courier New"/>
              <a:cs typeface="Courier New"/>
            </a:endParaRPr>
          </a:p>
          <a:p>
            <a:pPr lvl="2"/>
            <a:r>
              <a:rPr lang="en-US" dirty="0"/>
              <a:t>The index (number) of the current element</a:t>
            </a:r>
          </a:p>
          <a:p>
            <a:pPr marL="0" lvl="1" indent="0">
              <a:buNone/>
            </a:pPr>
            <a:r>
              <a:rPr lang="en-US" dirty="0">
                <a:latin typeface="Courier New"/>
                <a:cs typeface="Courier New"/>
              </a:rPr>
              <a:t>array</a:t>
            </a:r>
            <a:endParaRPr lang="en-US">
              <a:latin typeface="Courier New"/>
              <a:cs typeface="Courier New"/>
            </a:endParaRPr>
          </a:p>
          <a:p>
            <a:pPr lvl="2"/>
            <a:r>
              <a:rPr lang="en-US" dirty="0"/>
              <a:t>The array map was called upon</a:t>
            </a:r>
          </a:p>
          <a:p>
            <a:endParaRPr lang="en-US" dirty="0"/>
          </a:p>
        </p:txBody>
      </p:sp>
      <p:sp>
        <p:nvSpPr>
          <p:cNvPr id="4" name="Slide Number Placeholder 3"/>
          <p:cNvSpPr>
            <a:spLocks noGrp="1"/>
          </p:cNvSpPr>
          <p:nvPr>
            <p:ph type="sldNum" sz="quarter" idx="12"/>
          </p:nvPr>
        </p:nvSpPr>
        <p:spPr/>
        <p:txBody>
          <a:bodyPr/>
          <a:lstStyle/>
          <a:p>
            <a:fld id="{A839F4A7-500C-EC42-AE23-BEE4487EA55E}" type="slidenum">
              <a:rPr lang="en-US" smtClean="0"/>
              <a:t>300</a:t>
            </a:fld>
            <a:endParaRPr lang="en-US"/>
          </a:p>
        </p:txBody>
      </p:sp>
    </p:spTree>
    <p:extLst>
      <p:ext uri="{BB962C8B-B14F-4D97-AF65-F5344CB8AC3E}">
        <p14:creationId xmlns:p14="http://schemas.microsoft.com/office/powerpoint/2010/main" val="3676113357"/>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Promises</a:t>
            </a:r>
          </a:p>
        </p:txBody>
      </p:sp>
      <p:sp>
        <p:nvSpPr>
          <p:cNvPr id="3" name="Conten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6721A495-CE21-AE4A-AFC4-55FCCA1EB5E5}" type="slidenum">
              <a:rPr lang="en-US" smtClean="0"/>
              <a:t>301</a:t>
            </a:fld>
            <a:endParaRPr lang="en-US"/>
          </a:p>
        </p:txBody>
      </p:sp>
    </p:spTree>
    <p:extLst>
      <p:ext uri="{BB962C8B-B14F-4D97-AF65-F5344CB8AC3E}">
        <p14:creationId xmlns:p14="http://schemas.microsoft.com/office/powerpoint/2010/main" val="347218291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Are Promises?</a:t>
            </a:r>
          </a:p>
        </p:txBody>
      </p:sp>
      <p:sp>
        <p:nvSpPr>
          <p:cNvPr id="3" name="Content Placeholder 2"/>
          <p:cNvSpPr>
            <a:spLocks noGrp="1"/>
          </p:cNvSpPr>
          <p:nvPr>
            <p:ph idx="1"/>
          </p:nvPr>
        </p:nvSpPr>
        <p:spPr/>
        <p:txBody>
          <a:bodyPr/>
          <a:lstStyle/>
          <a:p>
            <a:r>
              <a:rPr lang="en-US" dirty="0"/>
              <a:t>An abstraction for asynchronous programming</a:t>
            </a:r>
          </a:p>
          <a:p>
            <a:r>
              <a:rPr lang="en-US" dirty="0"/>
              <a:t>Alternative to callbacks</a:t>
            </a:r>
          </a:p>
          <a:p>
            <a:r>
              <a:rPr lang="en-US" dirty="0"/>
              <a:t>A promise represents the result of an async operation</a:t>
            </a:r>
          </a:p>
          <a:p>
            <a:r>
              <a:rPr lang="en-US" dirty="0"/>
              <a:t>Is in one of three states</a:t>
            </a:r>
          </a:p>
          <a:p>
            <a:pPr lvl="1"/>
            <a:r>
              <a:rPr lang="en-US" dirty="0"/>
              <a:t>pending </a:t>
            </a:r>
            <a:r>
              <a:rPr lang="mr-IN" dirty="0"/>
              <a:t>–</a:t>
            </a:r>
            <a:r>
              <a:rPr lang="en-US" dirty="0"/>
              <a:t> the initial state of a promise</a:t>
            </a:r>
          </a:p>
          <a:p>
            <a:pPr lvl="1"/>
            <a:r>
              <a:rPr lang="en-US" dirty="0"/>
              <a:t>fulfilled </a:t>
            </a:r>
            <a:r>
              <a:rPr lang="mr-IN" dirty="0"/>
              <a:t>–</a:t>
            </a:r>
            <a:r>
              <a:rPr lang="en-US" dirty="0"/>
              <a:t> represents a successful operation</a:t>
            </a:r>
          </a:p>
          <a:p>
            <a:pPr lvl="1"/>
            <a:r>
              <a:rPr lang="en-US" dirty="0"/>
              <a:t>rejected </a:t>
            </a:r>
            <a:r>
              <a:rPr lang="mr-IN" dirty="0"/>
              <a:t>–</a:t>
            </a:r>
            <a:r>
              <a:rPr lang="en-US" dirty="0"/>
              <a:t> represents a failed operation</a:t>
            </a:r>
          </a:p>
        </p:txBody>
      </p:sp>
      <p:sp>
        <p:nvSpPr>
          <p:cNvPr id="4" name="Slide Number Placeholder 3"/>
          <p:cNvSpPr>
            <a:spLocks noGrp="1"/>
          </p:cNvSpPr>
          <p:nvPr>
            <p:ph type="sldNum" sz="quarter" idx="12"/>
          </p:nvPr>
        </p:nvSpPr>
        <p:spPr/>
        <p:txBody>
          <a:bodyPr/>
          <a:lstStyle/>
          <a:p>
            <a:fld id="{6721A495-CE21-AE4A-AFC4-55FCCA1EB5E5}" type="slidenum">
              <a:rPr lang="en-US" smtClean="0"/>
              <a:t>302</a:t>
            </a:fld>
            <a:endParaRPr lang="en-US"/>
          </a:p>
        </p:txBody>
      </p:sp>
    </p:spTree>
    <p:extLst>
      <p:ext uri="{BB962C8B-B14F-4D97-AF65-F5344CB8AC3E}">
        <p14:creationId xmlns:p14="http://schemas.microsoft.com/office/powerpoint/2010/main" val="1257877933"/>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Promises vs. Event Listeners</a:t>
            </a:r>
          </a:p>
        </p:txBody>
      </p:sp>
      <p:sp>
        <p:nvSpPr>
          <p:cNvPr id="3" name="Content Placeholder 2"/>
          <p:cNvSpPr>
            <a:spLocks noGrp="1"/>
          </p:cNvSpPr>
          <p:nvPr>
            <p:ph idx="1"/>
          </p:nvPr>
        </p:nvSpPr>
        <p:spPr/>
        <p:txBody>
          <a:bodyPr/>
          <a:lstStyle/>
          <a:p>
            <a:r>
              <a:rPr lang="en-US"/>
              <a:t>Event listeners are useful for things that can happen multiple times to a single object.</a:t>
            </a:r>
          </a:p>
          <a:p>
            <a:r>
              <a:rPr lang="en-US"/>
              <a:t>A promise can only succeed or fail once.</a:t>
            </a:r>
          </a:p>
          <a:p>
            <a:r>
              <a:rPr lang="en-US"/>
              <a:t>If a promise has succeeded or failed, you can react to it at any time.</a:t>
            </a:r>
          </a:p>
          <a:p>
            <a:pPr marL="0" lvl="1" indent="0">
              <a:buNone/>
            </a:pPr>
            <a:r>
              <a:rPr lang="en-US" err="1">
                <a:latin typeface="Courier New"/>
                <a:cs typeface="Courier New"/>
              </a:rPr>
              <a:t>readJSON</a:t>
            </a:r>
            <a:r>
              <a:rPr lang="en-US">
                <a:latin typeface="Courier New"/>
                <a:cs typeface="Courier New"/>
              </a:rPr>
              <a:t>(filename).then(</a:t>
            </a:r>
            <a:r>
              <a:rPr lang="en-US" err="1">
                <a:latin typeface="Courier New"/>
                <a:cs typeface="Courier New"/>
              </a:rPr>
              <a:t>success,failure</a:t>
            </a:r>
            <a:r>
              <a:rPr lang="en-US">
                <a:latin typeface="Courier New"/>
                <a:cs typeface="Courier New"/>
              </a:rPr>
              <a:t>);</a:t>
            </a:r>
          </a:p>
        </p:txBody>
      </p:sp>
      <p:sp>
        <p:nvSpPr>
          <p:cNvPr id="4" name="Slide Number Placeholder 3"/>
          <p:cNvSpPr>
            <a:spLocks noGrp="1"/>
          </p:cNvSpPr>
          <p:nvPr>
            <p:ph type="sldNum" sz="quarter" idx="12"/>
          </p:nvPr>
        </p:nvSpPr>
        <p:spPr/>
        <p:txBody>
          <a:bodyPr/>
          <a:lstStyle/>
          <a:p>
            <a:fld id="{6721A495-CE21-AE4A-AFC4-55FCCA1EB5E5}" type="slidenum">
              <a:rPr lang="en-US" smtClean="0"/>
              <a:t>303</a:t>
            </a:fld>
            <a:endParaRPr lang="en-US"/>
          </a:p>
        </p:txBody>
      </p:sp>
    </p:spTree>
    <p:extLst>
      <p:ext uri="{BB962C8B-B14F-4D97-AF65-F5344CB8AC3E}">
        <p14:creationId xmlns:p14="http://schemas.microsoft.com/office/powerpoint/2010/main" val="3977580649"/>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Use Promises?</a:t>
            </a:r>
          </a:p>
        </p:txBody>
      </p:sp>
      <p:sp>
        <p:nvSpPr>
          <p:cNvPr id="3" name="Content Placeholder 2"/>
          <p:cNvSpPr>
            <a:spLocks noGrp="1"/>
          </p:cNvSpPr>
          <p:nvPr>
            <p:ph idx="1"/>
          </p:nvPr>
        </p:nvSpPr>
        <p:spPr/>
        <p:txBody>
          <a:bodyPr/>
          <a:lstStyle/>
          <a:p>
            <a:r>
              <a:rPr lang="en-US" dirty="0"/>
              <a:t>Chain them together to transform values or run additional async actions</a:t>
            </a:r>
          </a:p>
          <a:p>
            <a:r>
              <a:rPr lang="en-US" dirty="0"/>
              <a:t>Cleaner code</a:t>
            </a:r>
          </a:p>
          <a:p>
            <a:pPr lvl="1"/>
            <a:r>
              <a:rPr lang="en-US" dirty="0"/>
              <a:t>Avoid problems associated with multiple callbacks</a:t>
            </a:r>
          </a:p>
          <a:p>
            <a:pPr lvl="2"/>
            <a:r>
              <a:rPr lang="en-US" dirty="0"/>
              <a:t>Callback Hell</a:t>
            </a:r>
          </a:p>
          <a:p>
            <a:pPr lvl="2"/>
            <a:r>
              <a:rPr lang="en-US" dirty="0"/>
              <a:t>Christmas Tree</a:t>
            </a:r>
          </a:p>
          <a:p>
            <a:pPr lvl="2"/>
            <a:r>
              <a:rPr lang="en-US" dirty="0"/>
              <a:t>Tower of Babel</a:t>
            </a:r>
          </a:p>
          <a:p>
            <a:pPr lvl="2"/>
            <a:r>
              <a:rPr lang="en-US" dirty="0" err="1"/>
              <a:t>Etc</a:t>
            </a:r>
            <a:endParaRPr lang="en-US" dirty="0"/>
          </a:p>
        </p:txBody>
      </p:sp>
      <p:sp>
        <p:nvSpPr>
          <p:cNvPr id="4" name="Slide Number Placeholder 3"/>
          <p:cNvSpPr>
            <a:spLocks noGrp="1"/>
          </p:cNvSpPr>
          <p:nvPr>
            <p:ph type="sldNum" sz="quarter" idx="12"/>
          </p:nvPr>
        </p:nvSpPr>
        <p:spPr/>
        <p:txBody>
          <a:bodyPr/>
          <a:lstStyle/>
          <a:p>
            <a:fld id="{6721A495-CE21-AE4A-AFC4-55FCCA1EB5E5}" type="slidenum">
              <a:rPr lang="en-US" smtClean="0"/>
              <a:t>304</a:t>
            </a:fld>
            <a:endParaRPr lang="en-US"/>
          </a:p>
        </p:txBody>
      </p:sp>
    </p:spTree>
    <p:extLst>
      <p:ext uri="{BB962C8B-B14F-4D97-AF65-F5344CB8AC3E}">
        <p14:creationId xmlns:p14="http://schemas.microsoft.com/office/powerpoint/2010/main" val="267094877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Demo: Callback</a:t>
            </a:r>
            <a:r>
              <a:rPr lang="en-US" baseline="0"/>
              <a:t> vs. Promise</a:t>
            </a:r>
            <a:endParaRPr lang="en-US"/>
          </a:p>
        </p:txBody>
      </p:sp>
      <p:sp>
        <p:nvSpPr>
          <p:cNvPr id="3" name="Content Placeholder 2"/>
          <p:cNvSpPr>
            <a:spLocks noGrp="1"/>
          </p:cNvSpPr>
          <p:nvPr>
            <p:ph idx="1"/>
          </p:nvPr>
        </p:nvSpPr>
        <p:spPr/>
        <p:txBody>
          <a:bodyPr>
            <a:normAutofit lnSpcReduction="10000"/>
          </a:bodyPr>
          <a:lstStyle/>
          <a:p>
            <a:r>
              <a:rPr lang="en-US"/>
              <a:t>Callback</a:t>
            </a:r>
          </a:p>
          <a:p>
            <a:pPr marL="0" lvl="1" indent="0">
              <a:buNone/>
            </a:pPr>
            <a:r>
              <a:rPr lang="en-US" err="1">
                <a:latin typeface="Courier New"/>
                <a:cs typeface="Courier New"/>
              </a:rPr>
              <a:t>fs.readFile</a:t>
            </a:r>
            <a:r>
              <a:rPr lang="en-US">
                <a:latin typeface="Courier New"/>
                <a:cs typeface="Courier New"/>
              </a:rPr>
              <a:t>('</a:t>
            </a:r>
            <a:r>
              <a:rPr lang="en-US" err="1">
                <a:latin typeface="Courier New"/>
                <a:cs typeface="Courier New"/>
              </a:rPr>
              <a:t>text.txt</a:t>
            </a:r>
            <a:r>
              <a:rPr lang="en-US">
                <a:latin typeface="Courier New"/>
                <a:cs typeface="Courier New"/>
              </a:rPr>
              <a:t>', function(err, file){</a:t>
            </a:r>
            <a:br>
              <a:rPr lang="en-US">
                <a:latin typeface="Courier New"/>
                <a:cs typeface="Courier New"/>
              </a:rPr>
            </a:br>
            <a:r>
              <a:rPr lang="en-US">
                <a:latin typeface="Courier New"/>
                <a:cs typeface="Courier New"/>
              </a:rPr>
              <a:t>    if (err){</a:t>
            </a:r>
            <a:br>
              <a:rPr lang="en-US">
                <a:latin typeface="Courier New"/>
                <a:cs typeface="Courier New"/>
              </a:rPr>
            </a:br>
            <a:r>
              <a:rPr lang="en-US">
                <a:latin typeface="Courier New"/>
                <a:cs typeface="Courier New"/>
              </a:rPr>
              <a:t>        </a:t>
            </a:r>
            <a:r>
              <a:rPr lang="en-US" i="1">
                <a:latin typeface="Courier New"/>
                <a:cs typeface="Courier New"/>
              </a:rPr>
              <a:t>//handle error</a:t>
            </a:r>
            <a:br>
              <a:rPr lang="en-US" i="1">
                <a:latin typeface="Courier New"/>
                <a:cs typeface="Courier New"/>
              </a:rPr>
            </a:br>
            <a:r>
              <a:rPr lang="en-US" i="1">
                <a:latin typeface="Courier New"/>
                <a:cs typeface="Courier New"/>
              </a:rPr>
              <a:t>    </a:t>
            </a:r>
            <a:r>
              <a:rPr lang="en-US">
                <a:latin typeface="Courier New"/>
                <a:cs typeface="Courier New"/>
              </a:rPr>
              <a:t>} else {</a:t>
            </a:r>
            <a:br>
              <a:rPr lang="en-US">
                <a:latin typeface="Courier New"/>
                <a:cs typeface="Courier New"/>
              </a:rPr>
            </a:br>
            <a:r>
              <a:rPr lang="en-US">
                <a:latin typeface="Courier New"/>
                <a:cs typeface="Courier New"/>
              </a:rPr>
              <a:t>        </a:t>
            </a:r>
            <a:r>
              <a:rPr lang="en-US" err="1">
                <a:latin typeface="Courier New"/>
                <a:cs typeface="Courier New"/>
              </a:rPr>
              <a:t>console.log</a:t>
            </a:r>
            <a:r>
              <a:rPr lang="en-US">
                <a:latin typeface="Courier New"/>
                <a:cs typeface="Courier New"/>
              </a:rPr>
              <a:t>(</a:t>
            </a:r>
            <a:r>
              <a:rPr lang="en-US" err="1">
                <a:latin typeface="Courier New"/>
                <a:cs typeface="Courier New"/>
              </a:rPr>
              <a:t>file.toString</a:t>
            </a:r>
            <a:r>
              <a:rPr lang="en-US">
                <a:latin typeface="Courier New"/>
                <a:cs typeface="Courier New"/>
              </a:rPr>
              <a:t>());</a:t>
            </a:r>
            <a:br>
              <a:rPr lang="en-US">
                <a:latin typeface="Courier New"/>
                <a:cs typeface="Courier New"/>
              </a:rPr>
            </a:br>
            <a:r>
              <a:rPr lang="en-US">
                <a:latin typeface="Courier New"/>
                <a:cs typeface="Courier New"/>
              </a:rPr>
              <a:t>    }</a:t>
            </a:r>
            <a:br>
              <a:rPr lang="en-US">
                <a:latin typeface="Courier New"/>
                <a:cs typeface="Courier New"/>
              </a:rPr>
            </a:br>
            <a:r>
              <a:rPr lang="en-US">
                <a:latin typeface="Courier New"/>
                <a:cs typeface="Courier New"/>
              </a:rPr>
              <a:t>});</a:t>
            </a:r>
          </a:p>
          <a:p>
            <a:r>
              <a:rPr lang="en-US"/>
              <a:t>Promise</a:t>
            </a:r>
          </a:p>
          <a:p>
            <a:pPr marL="0" lvl="1" indent="0">
              <a:buNone/>
            </a:pPr>
            <a:r>
              <a:rPr lang="en-US" err="1">
                <a:latin typeface="Courier New"/>
                <a:cs typeface="Courier New"/>
              </a:rPr>
              <a:t>readText</a:t>
            </a:r>
            <a:r>
              <a:rPr lang="en-US">
                <a:latin typeface="Courier New"/>
                <a:cs typeface="Courier New"/>
              </a:rPr>
              <a:t>('</a:t>
            </a:r>
            <a:r>
              <a:rPr lang="en-US" err="1">
                <a:latin typeface="Courier New"/>
                <a:cs typeface="Courier New"/>
              </a:rPr>
              <a:t>text.txt</a:t>
            </a:r>
            <a:r>
              <a:rPr lang="en-US">
                <a:latin typeface="Courier New"/>
                <a:cs typeface="Courier New"/>
              </a:rPr>
              <a:t>')</a:t>
            </a:r>
            <a:br>
              <a:rPr lang="en-US">
                <a:latin typeface="Courier New"/>
                <a:cs typeface="Courier New"/>
              </a:rPr>
            </a:br>
            <a:r>
              <a:rPr lang="en-US">
                <a:latin typeface="Courier New"/>
                <a:cs typeface="Courier New"/>
              </a:rPr>
              <a:t>    .then(function(data) {</a:t>
            </a:r>
            <a:br>
              <a:rPr lang="en-US">
                <a:latin typeface="Courier New"/>
                <a:cs typeface="Courier New"/>
              </a:rPr>
            </a:br>
            <a:r>
              <a:rPr lang="en-US">
                <a:latin typeface="Courier New"/>
                <a:cs typeface="Courier New"/>
              </a:rPr>
              <a:t>            </a:t>
            </a:r>
            <a:r>
              <a:rPr lang="en-US" err="1">
                <a:latin typeface="Courier New"/>
                <a:cs typeface="Courier New"/>
              </a:rPr>
              <a:t>console.log</a:t>
            </a:r>
            <a:r>
              <a:rPr lang="en-US">
                <a:latin typeface="Courier New"/>
                <a:cs typeface="Courier New"/>
              </a:rPr>
              <a:t>(</a:t>
            </a:r>
            <a:r>
              <a:rPr lang="en-US" err="1">
                <a:latin typeface="Courier New"/>
                <a:cs typeface="Courier New"/>
              </a:rPr>
              <a:t>data.toString</a:t>
            </a:r>
            <a:r>
              <a:rPr lang="en-US">
                <a:latin typeface="Courier New"/>
                <a:cs typeface="Courier New"/>
              </a:rPr>
              <a:t>());</a:t>
            </a:r>
            <a:br>
              <a:rPr lang="en-US">
                <a:latin typeface="Courier New"/>
                <a:cs typeface="Courier New"/>
              </a:rPr>
            </a:br>
            <a:r>
              <a:rPr lang="en-US">
                <a:latin typeface="Courier New"/>
                <a:cs typeface="Courier New"/>
              </a:rPr>
              <a:t>        }, </a:t>
            </a:r>
            <a:r>
              <a:rPr lang="en-US" err="1">
                <a:latin typeface="Courier New"/>
                <a:cs typeface="Courier New"/>
              </a:rPr>
              <a:t>console.error</a:t>
            </a:r>
            <a:br>
              <a:rPr lang="en-US">
                <a:latin typeface="Courier New"/>
                <a:cs typeface="Courier New"/>
              </a:rPr>
            </a:br>
            <a:r>
              <a:rPr lang="en-US">
                <a:latin typeface="Courier New"/>
                <a:cs typeface="Courier New"/>
              </a:rPr>
              <a:t>    );</a:t>
            </a:r>
          </a:p>
        </p:txBody>
      </p:sp>
      <p:sp>
        <p:nvSpPr>
          <p:cNvPr id="4" name="Slide Number Placeholder 3"/>
          <p:cNvSpPr>
            <a:spLocks noGrp="1"/>
          </p:cNvSpPr>
          <p:nvPr>
            <p:ph type="sldNum" sz="quarter" idx="12"/>
          </p:nvPr>
        </p:nvSpPr>
        <p:spPr/>
        <p:txBody>
          <a:bodyPr/>
          <a:lstStyle/>
          <a:p>
            <a:fld id="{6721A495-CE21-AE4A-AFC4-55FCCA1EB5E5}" type="slidenum">
              <a:rPr lang="en-US" smtClean="0"/>
              <a:t>305</a:t>
            </a:fld>
            <a:endParaRPr lang="en-US"/>
          </a:p>
        </p:txBody>
      </p:sp>
    </p:spTree>
    <p:extLst>
      <p:ext uri="{BB962C8B-B14F-4D97-AF65-F5344CB8AC3E}">
        <p14:creationId xmlns:p14="http://schemas.microsoft.com/office/powerpoint/2010/main" val="3296574520"/>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721A495-CE21-AE4A-AFC4-55FCCA1EB5E5}" type="slidenum">
              <a:rPr lang="en-US" smtClean="0"/>
              <a:t>306</a:t>
            </a:fld>
            <a:endParaRPr lang="en-US"/>
          </a:p>
        </p:txBody>
      </p:sp>
      <p:sp>
        <p:nvSpPr>
          <p:cNvPr id="5" name="Text Placeholder 4"/>
          <p:cNvSpPr>
            <a:spLocks noGrp="1"/>
          </p:cNvSpPr>
          <p:nvPr>
            <p:ph type="body" sz="quarter" idx="13"/>
          </p:nvPr>
        </p:nvSpPr>
        <p:spPr/>
        <p:txBody>
          <a:bodyPr>
            <a:normAutofit/>
          </a:bodyPr>
          <a:lstStyle/>
          <a:p>
            <a:pPr marL="0" indent="0">
              <a:buNone/>
            </a:pPr>
            <a:r>
              <a:rPr lang="en-US" sz="1600">
                <a:latin typeface="Courier New" pitchFamily="49" charset="0"/>
              </a:rPr>
              <a:t>const fs = require('fs');</a:t>
            </a:r>
          </a:p>
          <a:p>
            <a:endParaRPr lang="en-US" sz="1600" dirty="0"/>
          </a:p>
          <a:p>
            <a:pPr marL="0" indent="0">
              <a:buNone/>
            </a:pPr>
            <a:r>
              <a:rPr lang="en-US" sz="1600">
                <a:latin typeface="Courier New" pitchFamily="49" charset="0"/>
              </a:rPr>
              <a:t>function </a:t>
            </a:r>
            <a:r>
              <a:rPr lang="en-US" sz="1600" err="1">
                <a:latin typeface="Courier New" pitchFamily="49" charset="0"/>
              </a:rPr>
              <a:t>readFileAsync</a:t>
            </a:r>
            <a:r>
              <a:rPr lang="en-US" sz="1600">
                <a:latin typeface="Courier New" pitchFamily="49" charset="0"/>
              </a:rPr>
              <a:t> (file, encoding) {</a:t>
            </a:r>
            <a:br>
              <a:rPr lang="en-US" sz="1600" dirty="0"/>
            </a:br>
            <a:r>
              <a:rPr lang="en-US" sz="1600">
                <a:latin typeface="Courier New" pitchFamily="49" charset="0"/>
              </a:rPr>
              <a:t>    return new Promise(function (resolve, reject) {</a:t>
            </a:r>
            <a:br>
              <a:rPr lang="en-US" sz="1600" dirty="0"/>
            </a:br>
            <a:r>
              <a:rPr lang="en-US" sz="1600">
                <a:latin typeface="Courier New" pitchFamily="49" charset="0"/>
              </a:rPr>
              <a:t>        </a:t>
            </a:r>
            <a:r>
              <a:rPr lang="en-US" sz="1600" err="1">
                <a:latin typeface="Courier New" pitchFamily="49" charset="0"/>
              </a:rPr>
              <a:t>fs.readFile</a:t>
            </a:r>
            <a:r>
              <a:rPr lang="en-US" sz="1600">
                <a:latin typeface="Courier New" pitchFamily="49" charset="0"/>
              </a:rPr>
              <a:t>(file, encoding, function (err, data) {</a:t>
            </a:r>
            <a:br>
              <a:rPr lang="en-US" sz="1600" dirty="0"/>
            </a:br>
            <a:r>
              <a:rPr lang="en-US" sz="1600">
                <a:latin typeface="Courier New" pitchFamily="49" charset="0"/>
              </a:rPr>
              <a:t>            if (err) return reject(err);</a:t>
            </a:r>
            <a:br>
              <a:rPr lang="en-US" sz="1600" dirty="0"/>
            </a:br>
            <a:r>
              <a:rPr lang="en-US" sz="1600">
                <a:latin typeface="Courier New" pitchFamily="49" charset="0"/>
              </a:rPr>
              <a:t>            resolve(data); </a:t>
            </a:r>
            <a:br>
              <a:rPr lang="en-US" sz="1600" dirty="0"/>
            </a:br>
            <a:r>
              <a:rPr lang="en-US" sz="1600">
                <a:latin typeface="Courier New" pitchFamily="49" charset="0"/>
              </a:rPr>
              <a:t>        })</a:t>
            </a:r>
            <a:br>
              <a:rPr lang="en-US" sz="1600" dirty="0"/>
            </a:br>
            <a:r>
              <a:rPr lang="en-US" sz="1600">
                <a:latin typeface="Courier New" pitchFamily="49" charset="0"/>
              </a:rPr>
              <a:t>    })</a:t>
            </a:r>
            <a:br>
              <a:rPr lang="en-US" sz="1600" dirty="0"/>
            </a:br>
            <a:r>
              <a:rPr lang="en-US" sz="1600">
                <a:latin typeface="Courier New" pitchFamily="49" charset="0"/>
              </a:rPr>
              <a:t>}</a:t>
            </a:r>
          </a:p>
          <a:p>
            <a:endParaRPr lang="en-US" sz="1600" dirty="0"/>
          </a:p>
          <a:p>
            <a:pPr marL="0" indent="0">
              <a:buNone/>
            </a:pPr>
            <a:r>
              <a:rPr lang="en-US" err="1">
                <a:latin typeface="Courier New" pitchFamily="49" charset="0"/>
              </a:rPr>
              <a:t>readFileAsync</a:t>
            </a:r>
            <a:r>
              <a:rPr lang="en-US">
                <a:latin typeface="Courier New" pitchFamily="49" charset="0"/>
              </a:rPr>
              <a:t>('</a:t>
            </a:r>
            <a:r>
              <a:rPr lang="en-US" err="1">
                <a:latin typeface="Courier New" pitchFamily="49" charset="0"/>
              </a:rPr>
              <a:t>myfile.txt</a:t>
            </a:r>
            <a:r>
              <a:rPr lang="en-US">
                <a:latin typeface="Courier New" pitchFamily="49" charset="0"/>
              </a:rPr>
              <a:t>')</a:t>
            </a:r>
          </a:p>
          <a:p>
            <a:pPr marL="0" indent="0">
              <a:buNone/>
            </a:pPr>
            <a:r>
              <a:rPr lang="en-US">
                <a:latin typeface="Courier New" pitchFamily="49" charset="0"/>
              </a:rPr>
              <a:t>	.then(console.log, </a:t>
            </a:r>
            <a:r>
              <a:rPr lang="en-US" err="1">
                <a:latin typeface="Courier New" pitchFamily="49" charset="0"/>
              </a:rPr>
              <a:t>console.error</a:t>
            </a:r>
            <a:r>
              <a:rPr lang="en-US">
                <a:latin typeface="Courier New" pitchFamily="49" charset="0"/>
              </a:rPr>
              <a:t>);</a:t>
            </a:r>
          </a:p>
        </p:txBody>
      </p:sp>
      <p:sp>
        <p:nvSpPr>
          <p:cNvPr id="2" name="Title 1"/>
          <p:cNvSpPr>
            <a:spLocks noGrp="1"/>
          </p:cNvSpPr>
          <p:nvPr>
            <p:ph type="title"/>
          </p:nvPr>
        </p:nvSpPr>
        <p:spPr/>
        <p:txBody>
          <a:bodyPr/>
          <a:lstStyle/>
          <a:p>
            <a:r>
              <a:rPr lang="en-US"/>
              <a:t>Using</a:t>
            </a:r>
            <a:r>
              <a:rPr lang="en-US" baseline="0"/>
              <a:t> </a:t>
            </a:r>
            <a:r>
              <a:rPr lang="en-US"/>
              <a:t>Promises</a:t>
            </a:r>
          </a:p>
        </p:txBody>
      </p:sp>
    </p:spTree>
    <p:extLst>
      <p:ext uri="{BB962C8B-B14F-4D97-AF65-F5344CB8AC3E}">
        <p14:creationId xmlns:p14="http://schemas.microsoft.com/office/powerpoint/2010/main" val="367054854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FFFF67E-EC6A-B940-8DC7-BF9A5925C934}" type="slidenum">
              <a:rPr lang="en-US" smtClean="0"/>
              <a:t>307</a:t>
            </a:fld>
            <a:endParaRPr lang="en-US"/>
          </a:p>
        </p:txBody>
      </p:sp>
      <p:sp>
        <p:nvSpPr>
          <p:cNvPr id="3" name="Text Placeholder 2"/>
          <p:cNvSpPr>
            <a:spLocks noGrp="1"/>
          </p:cNvSpPr>
          <p:nvPr>
            <p:ph type="body" sz="quarter" idx="13"/>
          </p:nvPr>
        </p:nvSpPr>
        <p:spPr/>
        <p:txBody>
          <a:bodyPr>
            <a:noAutofit/>
          </a:bodyPr>
          <a:lstStyle/>
          <a:p>
            <a:r>
              <a:rPr lang="en-US" sz="1600" dirty="0">
                <a:latin typeface="+mn-lt"/>
              </a:rPr>
              <a:t>Simplifies using promises.</a:t>
            </a:r>
          </a:p>
          <a:p>
            <a:endParaRPr lang="en-US" sz="1600" dirty="0"/>
          </a:p>
          <a:p>
            <a:pPr marL="0" indent="0">
              <a:buNone/>
            </a:pPr>
            <a:r>
              <a:rPr lang="en-US" sz="1600">
                <a:latin typeface="Courier New" pitchFamily="49" charset="0"/>
              </a:rPr>
              <a:t>async function f() {</a:t>
            </a:r>
          </a:p>
          <a:p>
            <a:pPr marL="0" indent="0">
              <a:buNone/>
            </a:pPr>
            <a:r>
              <a:rPr lang="en-US" sz="1600">
                <a:latin typeface="Courier New" pitchFamily="49" charset="0"/>
              </a:rPr>
              <a:t>	return 1;</a:t>
            </a:r>
          </a:p>
          <a:p>
            <a:pPr marL="0" indent="0">
              <a:buNone/>
            </a:pPr>
            <a:r>
              <a:rPr lang="en-US" sz="1600">
                <a:latin typeface="Courier New" pitchFamily="49" charset="0"/>
              </a:rPr>
              <a:t>}</a:t>
            </a:r>
          </a:p>
          <a:p>
            <a:r>
              <a:rPr lang="en-US" sz="1600" dirty="0">
                <a:latin typeface="Calibri"/>
                <a:cs typeface="Calibri"/>
              </a:rPr>
              <a:t>An async function always returns a promise.</a:t>
            </a:r>
          </a:p>
          <a:p>
            <a:endParaRPr lang="en-US" sz="1600" dirty="0">
              <a:latin typeface="Calibri"/>
              <a:cs typeface="Calibri"/>
            </a:endParaRPr>
          </a:p>
          <a:p>
            <a:pPr marL="0" indent="0">
              <a:buNone/>
            </a:pPr>
            <a:r>
              <a:rPr lang="en-US" sz="1600">
                <a:latin typeface="Courier New" pitchFamily="49" charset="0"/>
              </a:rPr>
              <a:t>f().then(alert);</a:t>
            </a:r>
          </a:p>
          <a:p>
            <a:endParaRPr lang="en-US" sz="1600" dirty="0"/>
          </a:p>
          <a:p>
            <a:r>
              <a:rPr lang="en-US" sz="1600" dirty="0">
                <a:latin typeface="Calibri"/>
                <a:cs typeface="Calibri"/>
              </a:rPr>
              <a:t>You can use the await keyword inside an async function to wait until the promise resolves.</a:t>
            </a:r>
          </a:p>
          <a:p>
            <a:endParaRPr lang="en-US" sz="1600" dirty="0">
              <a:latin typeface="Calibri"/>
              <a:cs typeface="Calibri"/>
            </a:endParaRPr>
          </a:p>
          <a:p>
            <a:pPr marL="0" indent="0">
              <a:buNone/>
            </a:pPr>
            <a:r>
              <a:rPr lang="en-US" sz="1600">
                <a:latin typeface="Courier New" pitchFamily="49" charset="0"/>
              </a:rPr>
              <a:t>async function </a:t>
            </a:r>
            <a:r>
              <a:rPr lang="en-US" sz="1600" err="1">
                <a:latin typeface="Courier New" pitchFamily="49" charset="0"/>
              </a:rPr>
              <a:t>getUser</a:t>
            </a:r>
            <a:r>
              <a:rPr lang="en-US" sz="1600">
                <a:latin typeface="Courier New" pitchFamily="49" charset="0"/>
              </a:rPr>
              <a:t>() {</a:t>
            </a:r>
          </a:p>
          <a:p>
            <a:pPr marL="0" indent="0">
              <a:buNone/>
            </a:pPr>
            <a:r>
              <a:rPr lang="en-US" sz="1600">
                <a:latin typeface="Courier New" pitchFamily="49" charset="0"/>
              </a:rPr>
              <a:t>	let response = await fetch('http://</a:t>
            </a:r>
            <a:r>
              <a:rPr lang="en-US" sz="1600" err="1">
                <a:latin typeface="Courier New" pitchFamily="49" charset="0"/>
              </a:rPr>
              <a:t>someurl.com</a:t>
            </a:r>
            <a:r>
              <a:rPr lang="en-US" sz="1600">
                <a:latin typeface="Courier New" pitchFamily="49" charset="0"/>
              </a:rPr>
              <a:t>/</a:t>
            </a:r>
            <a:r>
              <a:rPr lang="en-US" sz="1600" err="1">
                <a:latin typeface="Courier New" pitchFamily="49" charset="0"/>
              </a:rPr>
              <a:t>user.json</a:t>
            </a:r>
            <a:r>
              <a:rPr lang="en-US" sz="1600">
                <a:latin typeface="Courier New" pitchFamily="49" charset="0"/>
              </a:rPr>
              <a:t>');</a:t>
            </a:r>
          </a:p>
          <a:p>
            <a:pPr marL="0" indent="0">
              <a:buNone/>
            </a:pPr>
            <a:r>
              <a:rPr lang="en-US" sz="1600">
                <a:latin typeface="Courier New" pitchFamily="49" charset="0"/>
              </a:rPr>
              <a:t>	let user = await </a:t>
            </a:r>
            <a:r>
              <a:rPr lang="en-US" sz="1600" err="1">
                <a:latin typeface="Courier New" pitchFamily="49" charset="0"/>
              </a:rPr>
              <a:t>response.json</a:t>
            </a:r>
            <a:r>
              <a:rPr lang="en-US" sz="1600">
                <a:latin typeface="Courier New" pitchFamily="49" charset="0"/>
              </a:rPr>
              <a:t>();</a:t>
            </a:r>
          </a:p>
          <a:p>
            <a:pPr marL="0" indent="0">
              <a:buNone/>
            </a:pPr>
            <a:r>
              <a:rPr lang="en-US" sz="1600">
                <a:latin typeface="Courier New" pitchFamily="49" charset="0"/>
              </a:rPr>
              <a:t>	return user;</a:t>
            </a:r>
          </a:p>
          <a:p>
            <a:pPr marL="0" indent="0">
              <a:buNone/>
            </a:pPr>
            <a:r>
              <a:rPr lang="en-US" sz="1600">
                <a:latin typeface="Courier New" pitchFamily="49" charset="0"/>
              </a:rPr>
              <a:t>}</a:t>
            </a:r>
          </a:p>
          <a:p>
            <a:endParaRPr lang="en-US" sz="1600" dirty="0">
              <a:latin typeface="Calibri"/>
              <a:cs typeface="Calibri"/>
            </a:endParaRPr>
          </a:p>
          <a:p>
            <a:endParaRPr lang="en-US" sz="1600" dirty="0">
              <a:latin typeface="Calibri"/>
              <a:cs typeface="Calibri"/>
            </a:endParaRPr>
          </a:p>
        </p:txBody>
      </p:sp>
      <p:sp>
        <p:nvSpPr>
          <p:cNvPr id="4" name="Title 3"/>
          <p:cNvSpPr>
            <a:spLocks noGrp="1"/>
          </p:cNvSpPr>
          <p:nvPr>
            <p:ph type="title"/>
          </p:nvPr>
        </p:nvSpPr>
        <p:spPr/>
        <p:txBody>
          <a:bodyPr/>
          <a:lstStyle/>
          <a:p>
            <a:r>
              <a:rPr lang="en-US" dirty="0"/>
              <a:t>Async / Await</a:t>
            </a:r>
          </a:p>
        </p:txBody>
      </p:sp>
    </p:spTree>
    <p:extLst>
      <p:ext uri="{BB962C8B-B14F-4D97-AF65-F5344CB8AC3E}">
        <p14:creationId xmlns:p14="http://schemas.microsoft.com/office/powerpoint/2010/main" val="263402134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Disclaimer and Copyright</a:t>
            </a:r>
          </a:p>
        </p:txBody>
      </p:sp>
      <p:sp>
        <p:nvSpPr>
          <p:cNvPr id="3" name="Text Placeholder 2"/>
          <p:cNvSpPr>
            <a:spLocks noGrp="1"/>
          </p:cNvSpPr>
          <p:nvPr>
            <p:ph type="body" idx="1"/>
          </p:nvPr>
        </p:nvSpPr>
        <p:spPr/>
        <p:txBody>
          <a:bodyPr/>
          <a:lstStyle/>
          <a:p>
            <a:pPr marL="0" indent="0">
              <a:buNone/>
            </a:pPr>
            <a:r>
              <a:rPr lang="en-US" sz="1100" b="1" dirty="0"/>
              <a:t>Disclaimer</a:t>
            </a:r>
          </a:p>
          <a:p>
            <a:r>
              <a:rPr lang="en-US" sz="1100" dirty="0"/>
              <a:t>WatzThis? takes care to ensure the accuracy and quality of this courseware and related courseware files. We cannot guarantee the accuracy of these materials. The courseware and related files are provided without any warranty whatsoever, including but not limited to implied warranties of merchantability or fitness for a particular purpose. Use of screenshots, product names and icons in the courseware are for editorial purposes only. No such use should be construed to imply sponsorship or endorsement of the courseware, nor any affiliation of such entity with WatzThis?.</a:t>
            </a:r>
          </a:p>
          <a:p>
            <a:pPr marL="0" indent="0">
              <a:buNone/>
            </a:pPr>
            <a:r>
              <a:rPr lang="en-US" sz="1100" b="1" dirty="0"/>
              <a:t>Third-Party Information</a:t>
            </a:r>
          </a:p>
          <a:p>
            <a:r>
              <a:rPr lang="en-US" sz="1100" dirty="0"/>
              <a:t>This courseware contains links to third-party web sites that are not under our control and we are not responsible for the content of any linked sites. If you access a third-party web site mentioned in this courseware, then you do so at your own risk. We provide these links only as a convenience, and the inclusion of the link does not imply that we endorse or accept responsibility for the content on those third-party web sites. Information in this courseware may change without notice and does not represent a commitment on the part of the authors and publishers.</a:t>
            </a:r>
          </a:p>
          <a:p>
            <a:pPr marL="0" indent="0">
              <a:buNone/>
            </a:pPr>
            <a:r>
              <a:rPr lang="en-US" sz="1100" b="1" dirty="0"/>
              <a:t>Copyright</a:t>
            </a:r>
          </a:p>
          <a:p>
            <a:r>
              <a:rPr lang="en-US" sz="1100" dirty="0"/>
              <a:t>Copyright 2026, WatzThis?. All Rights reserved. Screenshots used for illustrative purposes are the property of the software proprietor. This publication, or any part thereof, may not be reproduced or transmitted in any form by any means, electronic or mechanical, including photocopying, recording, storage in an information retrieval system, or otherwise, without express written permission of WatzThis, 567 Commercial St</a:t>
            </a:r>
            <a:r>
              <a:rPr lang="en-US" sz="1100"/>
              <a:t>, Astoria, OR 97103. </a:t>
            </a:r>
            <a:r>
              <a:rPr lang="en-US" sz="1100" dirty="0" err="1"/>
              <a:t>www.watzthis.com</a:t>
            </a:r>
            <a:endParaRPr lang="en-US" sz="1100" dirty="0"/>
          </a:p>
          <a:p>
            <a:pPr marL="0" indent="0">
              <a:buNone/>
            </a:pPr>
            <a:r>
              <a:rPr lang="en-US" sz="1100" b="1" dirty="0"/>
              <a:t>Help us improve our courseware</a:t>
            </a:r>
          </a:p>
          <a:p>
            <a:r>
              <a:rPr lang="en-US" sz="1100" dirty="0"/>
              <a:t>Please send your comments and suggestions via email to </a:t>
            </a:r>
            <a:r>
              <a:rPr lang="en-US" sz="1100" dirty="0" err="1"/>
              <a:t>info@watzthis.com</a:t>
            </a:r>
            <a:endParaRPr lang="en-US" sz="1100" dirty="0"/>
          </a:p>
        </p:txBody>
      </p:sp>
      <p:sp>
        <p:nvSpPr>
          <p:cNvPr id="4" name="Slide Number Placeholder 3"/>
          <p:cNvSpPr>
            <a:spLocks noGrp="1"/>
          </p:cNvSpPr>
          <p:nvPr>
            <p:ph type="sldNum" sz="quarter" idx="12"/>
          </p:nvPr>
        </p:nvSpPr>
        <p:spPr/>
        <p:txBody>
          <a:bodyPr/>
          <a:lstStyle/>
          <a:p>
            <a:fld id="{A839F4A7-500C-EC42-AE23-BEE4487EA55E}" type="slidenum">
              <a:rPr lang="en-US" smtClean="0"/>
              <a:t>308</a:t>
            </a:fld>
            <a:endParaRPr lang="en-US"/>
          </a:p>
        </p:txBody>
      </p:sp>
    </p:spTree>
    <p:extLst>
      <p:ext uri="{BB962C8B-B14F-4D97-AF65-F5344CB8AC3E}">
        <p14:creationId xmlns:p14="http://schemas.microsoft.com/office/powerpoint/2010/main" val="2961007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6707</TotalTime>
  <Words>17958</Words>
  <Application>Microsoft Macintosh PowerPoint</Application>
  <PresentationFormat>On-screen Show (4:3)</PresentationFormat>
  <Paragraphs>2923</Paragraphs>
  <Slides>308</Slides>
  <Notes>184</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308</vt:i4>
      </vt:variant>
    </vt:vector>
  </HeadingPairs>
  <TitlesOfParts>
    <vt:vector size="319" baseType="lpstr">
      <vt:lpstr>Aptos</vt:lpstr>
      <vt:lpstr>Arial</vt:lpstr>
      <vt:lpstr>Calibri</vt:lpstr>
      <vt:lpstr>Calibri Light</vt:lpstr>
      <vt:lpstr>Consolas</vt:lpstr>
      <vt:lpstr>Courier</vt:lpstr>
      <vt:lpstr>Courier New</vt:lpstr>
      <vt:lpstr>Lucida Grande</vt:lpstr>
      <vt:lpstr>Wingdings</vt:lpstr>
      <vt:lpstr>Wingdings 2</vt:lpstr>
      <vt:lpstr>Office Theme</vt:lpstr>
      <vt:lpstr>Professional Vue.js Development</vt:lpstr>
      <vt:lpstr>Introduction and Vue Quickstart</vt:lpstr>
      <vt:lpstr>Introduction </vt:lpstr>
      <vt:lpstr>About Me</vt:lpstr>
      <vt:lpstr>Introductions</vt:lpstr>
      <vt:lpstr>Daily Schedule (CMT)</vt:lpstr>
      <vt:lpstr>The Big Picture</vt:lpstr>
      <vt:lpstr>What's New in JavaScript (aka ECMAScript)?</vt:lpstr>
      <vt:lpstr>What is Vue.js?</vt:lpstr>
      <vt:lpstr>What is Reactivity?</vt:lpstr>
      <vt:lpstr>History of Vue.js</vt:lpstr>
      <vt:lpstr>What makes Vue different?</vt:lpstr>
      <vt:lpstr>Comparison of Framework File Sizes</vt:lpstr>
      <vt:lpstr>Vue vs React and Angular</vt:lpstr>
      <vt:lpstr>Demo: Vue.js Hello World</vt:lpstr>
      <vt:lpstr>Virtual DOM</vt:lpstr>
      <vt:lpstr>What Makes Vue Virtual DOM Different?</vt:lpstr>
      <vt:lpstr>Vue Versions</vt:lpstr>
      <vt:lpstr>What Vue 3 Changed</vt:lpstr>
      <vt:lpstr>Vue QuickStart</vt:lpstr>
      <vt:lpstr>Code Editors and IDEs</vt:lpstr>
      <vt:lpstr>Lab 01: Installing Visual Studio Code</vt:lpstr>
      <vt:lpstr>Vite</vt:lpstr>
      <vt:lpstr>Using create-vue</vt:lpstr>
      <vt:lpstr>Lab 02: Get Started with Vite</vt:lpstr>
      <vt:lpstr>Installing and Using the Vue DevTools</vt:lpstr>
      <vt:lpstr>Our Real-world Project: Conduit</vt:lpstr>
      <vt:lpstr>Single-File Components</vt:lpstr>
      <vt:lpstr>Lab 03: Your First Component</vt:lpstr>
      <vt:lpstr>Lab 04: Create More Components</vt:lpstr>
      <vt:lpstr>Lab 05: Testing Vue</vt:lpstr>
      <vt:lpstr>Node.js</vt:lpstr>
      <vt:lpstr>What is Node.js?</vt:lpstr>
      <vt:lpstr>How is Node.js Different?</vt:lpstr>
      <vt:lpstr>Event loop</vt:lpstr>
      <vt:lpstr>How is Node.js Different?</vt:lpstr>
      <vt:lpstr>Event Loop Phases</vt:lpstr>
      <vt:lpstr>Event Loop</vt:lpstr>
      <vt:lpstr>EventEmitter</vt:lpstr>
      <vt:lpstr>A Simple Node.js Example</vt:lpstr>
      <vt:lpstr>Modules Overview</vt:lpstr>
      <vt:lpstr>CommonJS Example</vt:lpstr>
      <vt:lpstr>ES Modules: import and export</vt:lpstr>
      <vt:lpstr>ES Modules in Node.js</vt:lpstr>
      <vt:lpstr>Front-end Node</vt:lpstr>
      <vt:lpstr>Lab 06 - Getting Started with Node.js</vt:lpstr>
      <vt:lpstr>Tooling </vt:lpstr>
      <vt:lpstr>Why Have Tooling? </vt:lpstr>
      <vt:lpstr>npm</vt:lpstr>
      <vt:lpstr>Other package managers</vt:lpstr>
      <vt:lpstr>Lab 07 – Initialize npm</vt:lpstr>
      <vt:lpstr>node_modules</vt:lpstr>
      <vt:lpstr>package.json</vt:lpstr>
      <vt:lpstr>npm install</vt:lpstr>
      <vt:lpstr>package.json</vt:lpstr>
      <vt:lpstr>Lab 08: Making a Web Server</vt:lpstr>
      <vt:lpstr>Demo / Code-along: Set up your own tooling</vt:lpstr>
      <vt:lpstr> Static Code Analysis</vt:lpstr>
      <vt:lpstr>Lint tools</vt:lpstr>
      <vt:lpstr>Configuring ESLint</vt:lpstr>
      <vt:lpstr>ESLint: What Can Be Configured?</vt:lpstr>
      <vt:lpstr>ESLint Rules</vt:lpstr>
      <vt:lpstr>Lab 09 - Automate Linting</vt:lpstr>
      <vt:lpstr>Transpilers</vt:lpstr>
      <vt:lpstr>Browser compat-table</vt:lpstr>
      <vt:lpstr>Babel and esbuild</vt:lpstr>
      <vt:lpstr>Transpiling Example</vt:lpstr>
      <vt:lpstr>Bundlers</vt:lpstr>
      <vt:lpstr>How Vite Works</vt:lpstr>
      <vt:lpstr> The Document Object Model</vt:lpstr>
      <vt:lpstr>What is the DOM?</vt:lpstr>
      <vt:lpstr>Understanding Nodes</vt:lpstr>
      <vt:lpstr>EventTarget</vt:lpstr>
      <vt:lpstr>DOM Events</vt:lpstr>
      <vt:lpstr>Other Events</vt:lpstr>
      <vt:lpstr>Element</vt:lpstr>
      <vt:lpstr>Manipulating HTML with the DOM</vt:lpstr>
      <vt:lpstr>Manipulating HTML with the DOM</vt:lpstr>
      <vt:lpstr>Manipulating HTML with JQuery</vt:lpstr>
      <vt:lpstr>Manipulating HTML with React</vt:lpstr>
      <vt:lpstr>Manipulating HTML With Vue.js</vt:lpstr>
      <vt:lpstr>Debugging JavaScript </vt:lpstr>
      <vt:lpstr>Browser Development Tools</vt:lpstr>
      <vt:lpstr>Installing and Using the Vue DevTools</vt:lpstr>
      <vt:lpstr>Lab 10: Manual In-Browser Testing and Debugging</vt:lpstr>
      <vt:lpstr>Getting Started With Vue.Js</vt:lpstr>
      <vt:lpstr>Basic Vue.Js Features</vt:lpstr>
      <vt:lpstr>Options API vs. Composition API</vt:lpstr>
      <vt:lpstr>Creating and Mounting an App</vt:lpstr>
      <vt:lpstr>&lt;script setup&gt;</vt:lpstr>
      <vt:lpstr>ref and computed</vt:lpstr>
      <vt:lpstr>Compiler Macros</vt:lpstr>
      <vt:lpstr>App-level Configuration</vt:lpstr>
      <vt:lpstr>Vue Template Syntax</vt:lpstr>
      <vt:lpstr>Vue Templates</vt:lpstr>
      <vt:lpstr>Using HTML in Templates</vt:lpstr>
      <vt:lpstr>Using JavaScript in Templates</vt:lpstr>
      <vt:lpstr>Vue.js Directives</vt:lpstr>
      <vt:lpstr>Directive Arguments</vt:lpstr>
      <vt:lpstr>Directive Modifiers</vt:lpstr>
      <vt:lpstr>Vue.js Default Directives</vt:lpstr>
      <vt:lpstr>Custom Directives</vt:lpstr>
      <vt:lpstr>Loops and Lists</vt:lpstr>
      <vt:lpstr>Using key</vt:lpstr>
      <vt:lpstr>Using v-for</vt:lpstr>
      <vt:lpstr>v-for with Arrays</vt:lpstr>
      <vt:lpstr>v-for with Objects</vt:lpstr>
      <vt:lpstr>Conditional Rendering</vt:lpstr>
      <vt:lpstr>v-if vs. v-show</vt:lpstr>
      <vt:lpstr>Lab 11: Static Vue View</vt:lpstr>
      <vt:lpstr>Binding HTML Classes</vt:lpstr>
      <vt:lpstr>Adding Styles Conditionally </vt:lpstr>
      <vt:lpstr>Binding Styles</vt:lpstr>
      <vt:lpstr>Outputting Raw HTML </vt:lpstr>
      <vt:lpstr>Lab 12: Styling Vue Components</vt:lpstr>
      <vt:lpstr>Computed Properties</vt:lpstr>
      <vt:lpstr>Computed Properties </vt:lpstr>
      <vt:lpstr>Benefits of Computed Properties</vt:lpstr>
      <vt:lpstr>Filtering / Sorting a List with a Computed Property </vt:lpstr>
      <vt:lpstr>Using Setters in Computed Properties </vt:lpstr>
      <vt:lpstr>Lab 13: Computed Properties</vt:lpstr>
      <vt:lpstr>Reactive State</vt:lpstr>
      <vt:lpstr>ref and reactive</vt:lpstr>
      <vt:lpstr>Vue.js Data Binding</vt:lpstr>
      <vt:lpstr>v-bind directive</vt:lpstr>
      <vt:lpstr>Value Binding</vt:lpstr>
      <vt:lpstr>2-way Binding</vt:lpstr>
      <vt:lpstr>v-model directive</vt:lpstr>
      <vt:lpstr>Working with Arrays</vt:lpstr>
      <vt:lpstr>Reactivity Caveats</vt:lpstr>
      <vt:lpstr>Destructuring and Reactivity</vt:lpstr>
      <vt:lpstr>v-bind shorthand</vt:lpstr>
      <vt:lpstr>Lab 14: Methods and State</vt:lpstr>
      <vt:lpstr>Event Handling</vt:lpstr>
      <vt:lpstr>Inline Event Handling</vt:lpstr>
      <vt:lpstr>Event Handling with Methods</vt:lpstr>
      <vt:lpstr>Event Modifiers </vt:lpstr>
      <vt:lpstr>v-on shorthand</vt:lpstr>
      <vt:lpstr>Listening to Child Component Events</vt:lpstr>
      <vt:lpstr>Emitting a Value With an Event</vt:lpstr>
      <vt:lpstr>Lab 15: Events</vt:lpstr>
      <vt:lpstr>Watchers</vt:lpstr>
      <vt:lpstr>watch and watchEffect</vt:lpstr>
      <vt:lpstr>Component Lifecycle</vt:lpstr>
      <vt:lpstr>Setup (replacing beforeCreate / created)</vt:lpstr>
      <vt:lpstr>onBeforeMount</vt:lpstr>
      <vt:lpstr>onMounted</vt:lpstr>
      <vt:lpstr>onBeforeUpdate</vt:lpstr>
      <vt:lpstr>onUpdated</vt:lpstr>
      <vt:lpstr>onBeforeUnmount</vt:lpstr>
      <vt:lpstr>onUnmounted</vt:lpstr>
      <vt:lpstr>Lifecycle Hooks in Practice</vt:lpstr>
      <vt:lpstr>Using Lifecycle Hooks</vt:lpstr>
      <vt:lpstr>Lab 16: Component Lifecycle</vt:lpstr>
      <vt:lpstr>Vue and Forms</vt:lpstr>
      <vt:lpstr>Input Bindings</vt:lpstr>
      <vt:lpstr>2-way Binding Pros and Cons</vt:lpstr>
      <vt:lpstr>Creating a Form with Checkboxes </vt:lpstr>
      <vt:lpstr>Creating a Form with Radio Buttons </vt:lpstr>
      <vt:lpstr>Creating a Form with a Select Element </vt:lpstr>
      <vt:lpstr>Input Modifiers</vt:lpstr>
      <vt:lpstr>Lab 17: Forms</vt:lpstr>
      <vt:lpstr>Vue Components </vt:lpstr>
      <vt:lpstr>What are Vue Components?</vt:lpstr>
      <vt:lpstr>Creating a Component</vt:lpstr>
      <vt:lpstr>Organizing and Reusing Components</vt:lpstr>
      <vt:lpstr>Naming Components</vt:lpstr>
      <vt:lpstr>Local Components</vt:lpstr>
      <vt:lpstr>Global Components</vt:lpstr>
      <vt:lpstr>Global vs. Local</vt:lpstr>
      <vt:lpstr>Props</vt:lpstr>
      <vt:lpstr>Passing Data</vt:lpstr>
      <vt:lpstr>Using Props</vt:lpstr>
      <vt:lpstr>Fragments: Multiple Root Elements</vt:lpstr>
      <vt:lpstr>Using v-model on Components</vt:lpstr>
      <vt:lpstr>defineModel</vt:lpstr>
      <vt:lpstr>Content Distribution with Slots </vt:lpstr>
      <vt:lpstr>Cool Things You Do With Slots</vt:lpstr>
      <vt:lpstr>Naming Slots</vt:lpstr>
      <vt:lpstr>Using Named Slots</vt:lpstr>
      <vt:lpstr>using slots</vt:lpstr>
      <vt:lpstr>More fun with slots</vt:lpstr>
      <vt:lpstr>Lab 18: Slots</vt:lpstr>
      <vt:lpstr>Loading Components Asynchronously</vt:lpstr>
      <vt:lpstr>Composables</vt:lpstr>
      <vt:lpstr>Composable Basics</vt:lpstr>
      <vt:lpstr>Why Composables Replace Mixins</vt:lpstr>
      <vt:lpstr>Writing a Composable</vt:lpstr>
      <vt:lpstr>Using a Composable</vt:lpstr>
      <vt:lpstr>Composable Conventions</vt:lpstr>
      <vt:lpstr>Community Composables</vt:lpstr>
      <vt:lpstr>Lab 19: Composables</vt:lpstr>
      <vt:lpstr>Using Pinia</vt:lpstr>
      <vt:lpstr>Why a Store?</vt:lpstr>
      <vt:lpstr>The Problem</vt:lpstr>
      <vt:lpstr>Pinia</vt:lpstr>
      <vt:lpstr>Pinia vs. Vuex</vt:lpstr>
      <vt:lpstr>Installing Pinia</vt:lpstr>
      <vt:lpstr>Defining a Store</vt:lpstr>
      <vt:lpstr>Setup Stores</vt:lpstr>
      <vt:lpstr>State</vt:lpstr>
      <vt:lpstr>Getters</vt:lpstr>
      <vt:lpstr>Using a Store in a Component</vt:lpstr>
      <vt:lpstr>storeToRefs</vt:lpstr>
      <vt:lpstr>Actions</vt:lpstr>
      <vt:lpstr>No Mutations</vt:lpstr>
      <vt:lpstr>Multiple Stores</vt:lpstr>
      <vt:lpstr>Pinia and the DevTools</vt:lpstr>
      <vt:lpstr>Persisting Store State</vt:lpstr>
      <vt:lpstr>Testing a Store</vt:lpstr>
      <vt:lpstr>Lab 20: Implementing Pinia</vt:lpstr>
      <vt:lpstr>Single-Page Applications </vt:lpstr>
      <vt:lpstr>Creating an SPA with Vue Router</vt:lpstr>
      <vt:lpstr>Vue Router: the Template</vt:lpstr>
      <vt:lpstr>Vue Router: the JavaScript</vt:lpstr>
      <vt:lpstr>Lab 21: Routing</vt:lpstr>
      <vt:lpstr>Lab 22: AJAX with Pinia</vt:lpstr>
      <vt:lpstr>Testing </vt:lpstr>
      <vt:lpstr> Test-Driven Development</vt:lpstr>
      <vt:lpstr>Goal of TDD</vt:lpstr>
      <vt:lpstr>The TDD Cycle</vt:lpstr>
      <vt:lpstr>TDD Steps</vt:lpstr>
      <vt:lpstr>Red</vt:lpstr>
      <vt:lpstr>Green</vt:lpstr>
      <vt:lpstr>Refactor</vt:lpstr>
      <vt:lpstr>Assertions</vt:lpstr>
      <vt:lpstr>JavaScript Testing Frameworks</vt:lpstr>
      <vt:lpstr>JS Exception Handling</vt:lpstr>
      <vt:lpstr>Vitest Overview</vt:lpstr>
      <vt:lpstr>Vitest</vt:lpstr>
      <vt:lpstr>How Vitest Works</vt:lpstr>
      <vt:lpstr>Test Suites</vt:lpstr>
      <vt:lpstr>Specs</vt:lpstr>
      <vt:lpstr>Expectations</vt:lpstr>
      <vt:lpstr>Matchers</vt:lpstr>
      <vt:lpstr>TDD vs. BDD</vt:lpstr>
      <vt:lpstr>TDD Example</vt:lpstr>
      <vt:lpstr>BDD Example</vt:lpstr>
      <vt:lpstr>Mocking</vt:lpstr>
      <vt:lpstr>Mock Function</vt:lpstr>
      <vt:lpstr>Mocking a Module</vt:lpstr>
      <vt:lpstr>Resetting Mocks</vt:lpstr>
      <vt:lpstr>Fake Timers</vt:lpstr>
      <vt:lpstr>Snapshot Testing</vt:lpstr>
      <vt:lpstr>Sample Snapshot Test</vt:lpstr>
      <vt:lpstr>Vue Test Utils</vt:lpstr>
      <vt:lpstr>mount</vt:lpstr>
      <vt:lpstr>shallowMount</vt:lpstr>
      <vt:lpstr>Lab 23: Testing with Vitest</vt:lpstr>
      <vt:lpstr>Testing in a Real Browser</vt:lpstr>
      <vt:lpstr>Browser and End-to-End Testing</vt:lpstr>
      <vt:lpstr>Transitions and Animations</vt:lpstr>
      <vt:lpstr>&lt;Transition&gt;</vt:lpstr>
      <vt:lpstr>How &lt;Transition&gt; works</vt:lpstr>
      <vt:lpstr>The transition classes</vt:lpstr>
      <vt:lpstr>Defining the CSS</vt:lpstr>
      <vt:lpstr>JavaScript hooks</vt:lpstr>
      <vt:lpstr>Using the JavaScript hooks</vt:lpstr>
      <vt:lpstr>Custom Transition Classes</vt:lpstr>
      <vt:lpstr>Custom Transition Classes Example</vt:lpstr>
      <vt:lpstr>Lab 24: Transitions and Animation</vt:lpstr>
      <vt:lpstr> ES2015 (ES6) and Beyond</vt:lpstr>
      <vt:lpstr>Variable Scoping with const and let</vt:lpstr>
      <vt:lpstr>let vs. var</vt:lpstr>
      <vt:lpstr>Block-scoped Functions</vt:lpstr>
      <vt:lpstr>Arrow Functions</vt:lpstr>
      <vt:lpstr>Arrow Function Parameters</vt:lpstr>
      <vt:lpstr>Arrow Functions (cont.)</vt:lpstr>
      <vt:lpstr>Default Parameter Handling</vt:lpstr>
      <vt:lpstr>Rest Parameter</vt:lpstr>
      <vt:lpstr>Spread Operator</vt:lpstr>
      <vt:lpstr>Template Literals</vt:lpstr>
      <vt:lpstr>Template Literals (cont)</vt:lpstr>
      <vt:lpstr>Enhanced Object Properties</vt:lpstr>
      <vt:lpstr>Enhanced Object Properties</vt:lpstr>
      <vt:lpstr>Method notation in  object property definitions</vt:lpstr>
      <vt:lpstr>Array Matching</vt:lpstr>
      <vt:lpstr>Object Matching</vt:lpstr>
      <vt:lpstr>Symbol Primitive</vt:lpstr>
      <vt:lpstr>User-defined Iterators</vt:lpstr>
      <vt:lpstr>For-Of Operator</vt:lpstr>
      <vt:lpstr>Creating and Consuming Generator Functions</vt:lpstr>
      <vt:lpstr>Class Definition</vt:lpstr>
      <vt:lpstr>Class Declaration</vt:lpstr>
      <vt:lpstr>Class Expressions</vt:lpstr>
      <vt:lpstr>Class Inheritance</vt:lpstr>
      <vt:lpstr>Beyond ES2015</vt:lpstr>
      <vt:lpstr>Advanced JavaScript Topics</vt:lpstr>
      <vt:lpstr>"use strict"</vt:lpstr>
      <vt:lpstr>Understanding this</vt:lpstr>
      <vt:lpstr>4 Rules of this</vt:lpstr>
      <vt:lpstr>What is this?</vt:lpstr>
      <vt:lpstr>Implicit Binding</vt:lpstr>
      <vt:lpstr>Explicit Binding</vt:lpstr>
      <vt:lpstr>Explicit Binding with .call</vt:lpstr>
      <vt:lpstr>Explicit binding with .apply</vt:lpstr>
      <vt:lpstr>Explicit Binding with .bind</vt:lpstr>
      <vt:lpstr>new Binding</vt:lpstr>
      <vt:lpstr>window Binding</vt:lpstr>
      <vt:lpstr>Array.map()</vt:lpstr>
      <vt:lpstr>Promises</vt:lpstr>
      <vt:lpstr>What Are Promises?</vt:lpstr>
      <vt:lpstr>Promises vs. Event Listeners</vt:lpstr>
      <vt:lpstr>Why Use Promises?</vt:lpstr>
      <vt:lpstr>Demo: Callback vs. Promise</vt:lpstr>
      <vt:lpstr>Using Promises</vt:lpstr>
      <vt:lpstr>Async / Await</vt:lpstr>
      <vt:lpstr>Disclaimer and 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Vue.js Development</dc:title>
  <dc:creator>Chris Minnick</dc:creator>
  <cp:lastModifiedBy>Chris Minnick</cp:lastModifiedBy>
  <cp:revision>249</cp:revision>
  <cp:lastPrinted>2019-03-04T18:37:08Z</cp:lastPrinted>
  <dcterms:created xsi:type="dcterms:W3CDTF">2019-01-24T15:24:40Z</dcterms:created>
  <dcterms:modified xsi:type="dcterms:W3CDTF">2026-10-08T21:22:04Z</dcterms:modified>
</cp:coreProperties>
</file>